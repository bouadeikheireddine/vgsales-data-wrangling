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Part des jeux notés</c:v>
                </c:pt>
              </c:strCache>
            </c:strRef>
          </c:tx>
          <c:spPr>
            <a:solidFill>
              <a:srgbClr val="2121DE"/>
            </a:solidFill>
          </c:spPr>
          <c:dPt>
            <c:idx val="0"/>
            <c:spPr>
              <a:solidFill>
                <a:srgbClr val="2121DE"/>
              </a:solidFill>
            </c:spPr>
          </c:dPt>
          <c:dPt>
            <c:idx val="1"/>
            <c:spPr>
              <a:solidFill>
                <a:srgbClr val="2121DE"/>
              </a:solidFill>
            </c:spPr>
          </c:dPt>
          <c:dPt>
            <c:idx val="2"/>
            <c:spPr>
              <a:solidFill>
                <a:srgbClr val="2121DE"/>
              </a:solidFill>
            </c:spPr>
          </c:dPt>
          <c:dPt>
            <c:idx val="3"/>
            <c:spPr>
              <a:solidFill>
                <a:srgbClr val="2121DE"/>
              </a:solidFill>
            </c:spPr>
          </c:dPt>
          <c:dPt>
            <c:idx val="4"/>
            <c:spPr>
              <a:solidFill>
                <a:srgbClr val="FFE600"/>
              </a:solidFill>
            </c:spPr>
          </c:dPt>
          <c:cat>
            <c:strRef>
              <c:f>Sheet1!$A$2:$A$6</c:f>
              <c:strCache>
                <c:ptCount val="5"/>
                <c:pt idx="0">
                  <c:v>20 % les
moins vendus</c:v>
                </c:pt>
                <c:pt idx="1">
                  <c:v>2e</c:v>
                </c:pt>
                <c:pt idx="2">
                  <c:v>3e</c:v>
                </c:pt>
                <c:pt idx="3">
                  <c:v>4e</c:v>
                </c:pt>
                <c:pt idx="4">
                  <c:v>20 % les
plus vendus</c:v>
                </c:pt>
              </c:strCache>
            </c:strRef>
          </c:cat>
          <c:val>
            <c:numRef>
              <c:f>Sheet1!$B$2:$B$6</c:f>
              <c:numCache>
                <c:formatCode>General</c:formatCode>
                <c:ptCount val="5"/>
                <c:pt idx="0">
                  <c:v>0.2988364972443356</c:v>
                </c:pt>
                <c:pt idx="1">
                  <c:v>0.426646248085758</c:v>
                </c:pt>
                <c:pt idx="2">
                  <c:v>0.505666156202144</c:v>
                </c:pt>
                <c:pt idx="3">
                  <c:v>0.5562021439509954</c:v>
                </c:pt>
                <c:pt idx="4">
                  <c:v>0.6548238897396631</c:v>
                </c:pt>
              </c:numCache>
            </c:numRef>
          </c:val>
        </c:ser>
        <c:dLbls>
          <c:numFmt formatCode="0%" sourceLinked="0"/>
          <c:txPr>
            <a:bodyPr/>
            <a:lstStyle/>
            <a:p>
              <a:pPr>
                <a:defRPr b="1" sz="1200">
                  <a:solidFill>
                    <a:srgbClr val="FFFFFF"/>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title>
          <c:tx>
            <c:rich>
              <a:bodyPr/>
              <a:lstStyle/>
              <a:p>
                <a:r>
                  <a:rPr sz="1200" b="0">
                    <a:solidFill>
                      <a:srgbClr val="7C7CAA"/>
                    </a:solidFill>
                    <a:latin typeface="Arial"/>
                  </a:rPr>
                  <a:t>Jeux classés par ventes mondiales, en 5 groupes de même taille</a:t>
                </a:r>
              </a:p>
            </c:rich>
          </c:tx>
          <c:layout/>
          <c:overlay val="0"/>
        </c:title>
        <c:majorTickMark val="out"/>
        <c:minorTickMark val="none"/>
        <c:tickLblPos val="nextTo"/>
        <c:spPr>
          <a:ln w="12700">
            <a:solidFill>
              <a:srgbClr val="2121DE"/>
            </a:solidFill>
          </a:ln>
        </c:spPr>
        <c:txPr>
          <a:bodyPr/>
          <a:lstStyle/>
          <a:p>
            <a:pPr>
              <a:defRPr sz="1100">
                <a:solidFill>
                  <a:srgbClr val="C4C4E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C4C4E4"/>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Ventes médianes (M)</c:v>
                </c:pt>
              </c:strCache>
            </c:strRef>
          </c:tx>
          <c:spPr>
            <a:solidFill>
              <a:srgbClr val="2121DE"/>
            </a:solidFill>
          </c:spPr>
          <c:dPt>
            <c:idx val="0"/>
            <c:spPr>
              <a:solidFill>
                <a:srgbClr val="2121DE"/>
              </a:solidFill>
            </c:spPr>
          </c:dPt>
          <c:dPt>
            <c:idx val="1"/>
            <c:spPr>
              <a:solidFill>
                <a:srgbClr val="2121DE"/>
              </a:solidFill>
            </c:spPr>
          </c:dPt>
          <c:dPt>
            <c:idx val="2"/>
            <c:spPr>
              <a:solidFill>
                <a:srgbClr val="2121DE"/>
              </a:solidFill>
            </c:spPr>
          </c:dPt>
          <c:dPt>
            <c:idx val="3"/>
            <c:spPr>
              <a:solidFill>
                <a:srgbClr val="2121DE"/>
              </a:solidFill>
            </c:spPr>
          </c:dPt>
          <c:dPt>
            <c:idx val="4"/>
            <c:spPr>
              <a:solidFill>
                <a:srgbClr val="2121DE"/>
              </a:solidFill>
            </c:spPr>
          </c:dPt>
          <c:dPt>
            <c:idx val="5"/>
            <c:spPr>
              <a:solidFill>
                <a:srgbClr val="FFE600"/>
              </a:solidFill>
            </c:spPr>
          </c:dPt>
          <c:cat>
            <c:strRef>
              <c:f>Sheet1!$A$2:$A$7</c:f>
              <c:strCache>
                <c:ptCount val="6"/>
                <c:pt idx="0">
                  <c:v>&lt; 50</c:v>
                </c:pt>
                <c:pt idx="1">
                  <c:v>50-59</c:v>
                </c:pt>
                <c:pt idx="2">
                  <c:v>60-69</c:v>
                </c:pt>
                <c:pt idx="3">
                  <c:v>70-79</c:v>
                </c:pt>
                <c:pt idx="4">
                  <c:v>80-89</c:v>
                </c:pt>
                <c:pt idx="5">
                  <c:v>90 et +</c:v>
                </c:pt>
              </c:strCache>
            </c:strRef>
          </c:cat>
          <c:val>
            <c:numRef>
              <c:f>Sheet1!$B$2:$B$7</c:f>
              <c:numCache>
                <c:formatCode>General</c:formatCode>
                <c:ptCount val="6"/>
                <c:pt idx="0">
                  <c:v>0.12</c:v>
                </c:pt>
                <c:pt idx="1">
                  <c:v>0.16</c:v>
                </c:pt>
                <c:pt idx="2">
                  <c:v>0.18</c:v>
                </c:pt>
                <c:pt idx="3">
                  <c:v>0.29</c:v>
                </c:pt>
                <c:pt idx="4">
                  <c:v>0.6</c:v>
                </c:pt>
                <c:pt idx="5">
                  <c:v>1.54</c:v>
                </c:pt>
              </c:numCache>
            </c:numRef>
          </c:val>
        </c:ser>
        <c:dLbls>
          <c:numFmt formatCode="0.00&quot; M&quot;" sourceLinked="0"/>
          <c:txPr>
            <a:bodyPr/>
            <a:lstStyle/>
            <a:p>
              <a:pPr>
                <a:defRPr b="1" sz="1200">
                  <a:solidFill>
                    <a:srgbClr val="FFFFFF"/>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title>
          <c:tx>
            <c:rich>
              <a:bodyPr/>
              <a:lstStyle/>
              <a:p>
                <a:r>
                  <a:rPr sz="1200" b="0">
                    <a:solidFill>
                      <a:srgbClr val="7C7CAA"/>
                    </a:solidFill>
                    <a:latin typeface="Arial"/>
                  </a:rPr>
                  <a:t>Note presse Metacritic (/100) · ventes mondiales médianes en millions</a:t>
                </a:r>
              </a:p>
            </c:rich>
          </c:tx>
          <c:layout/>
          <c:overlay val="0"/>
        </c:title>
        <c:majorTickMark val="out"/>
        <c:minorTickMark val="none"/>
        <c:tickLblPos val="nextTo"/>
        <c:spPr>
          <a:ln w="12700">
            <a:solidFill>
              <a:srgbClr val="2121DE"/>
            </a:solidFill>
          </a:ln>
        </c:spPr>
        <c:txPr>
          <a:bodyPr/>
          <a:lstStyle/>
          <a:p>
            <a:pPr>
              <a:defRPr sz="1100">
                <a:solidFill>
                  <a:srgbClr val="C4C4E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C4C4E4"/>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Presse</c:v>
                </c:pt>
              </c:strCache>
            </c:strRef>
          </c:tx>
          <c:spPr>
            <a:ln w="38100">
              <a:solidFill>
                <a:srgbClr val="00FFFF"/>
              </a:solidFill>
            </a:ln>
          </c:spPr>
          <c:marker>
            <c:symbol val="square"/>
            <c:size val="7"/>
            <c:spPr>
              <a:solidFill>
                <a:srgbClr val="00FFFF"/>
              </a:solidFill>
              <a:ln>
                <a:solidFill>
                  <a:srgbClr val="00FFFF"/>
                </a:solidFill>
              </a:ln>
            </c:spPr>
          </c:marker>
          <c:cat>
            <c:strRef>
              <c:f>Sheet1!$A$2:$A$18</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Sheet1!$B$2:$B$18</c:f>
              <c:numCache>
                <c:formatCode>General</c:formatCode>
                <c:ptCount val="17"/>
                <c:pt idx="0">
                  <c:v>69.28169014084507</c:v>
                </c:pt>
                <c:pt idx="1">
                  <c:v>71.44072948328268</c:v>
                </c:pt>
                <c:pt idx="2">
                  <c:v>69.1359375</c:v>
                </c:pt>
                <c:pt idx="3">
                  <c:v>70.18612521150592</c:v>
                </c:pt>
                <c:pt idx="4">
                  <c:v>69.42245989304813</c:v>
                </c:pt>
                <c:pt idx="5">
                  <c:v>68.74848484848485</c:v>
                </c:pt>
                <c:pt idx="6">
                  <c:v>67.39936608557845</c:v>
                </c:pt>
                <c:pt idx="7">
                  <c:v>66.06896551724138</c:v>
                </c:pt>
                <c:pt idx="8">
                  <c:v>65.8855172413793</c:v>
                </c:pt>
                <c:pt idx="9">
                  <c:v>67.59021406727828</c:v>
                </c:pt>
                <c:pt idx="10">
                  <c:v>67.57925636007828</c:v>
                </c:pt>
                <c:pt idx="11">
                  <c:v>68.66863905325444</c:v>
                </c:pt>
                <c:pt idx="12">
                  <c:v>72.88615384615385</c:v>
                </c:pt>
                <c:pt idx="13">
                  <c:v>71.26545454545455</c:v>
                </c:pt>
                <c:pt idx="14">
                  <c:v>71.06513409961686</c:v>
                </c:pt>
                <c:pt idx="15">
                  <c:v>72.8711111111111</c:v>
                </c:pt>
                <c:pt idx="16">
                  <c:v>73.15517241379311</c:v>
                </c:pt>
              </c:numCache>
            </c:numRef>
          </c:val>
          <c:smooth val="0"/>
        </c:ser>
        <c:ser>
          <c:idx val="1"/>
          <c:order val="1"/>
          <c:tx>
            <c:strRef>
              <c:f>Sheet1!$C$1</c:f>
              <c:strCache>
                <c:ptCount val="1"/>
                <c:pt idx="0">
                  <c:v>Joueurs (sur 100)</c:v>
                </c:pt>
              </c:strCache>
            </c:strRef>
          </c:tx>
          <c:spPr>
            <a:ln w="38100">
              <a:solidFill>
                <a:srgbClr val="FFB8FF"/>
              </a:solidFill>
            </a:ln>
          </c:spPr>
          <c:marker>
            <c:symbol val="square"/>
            <c:size val="7"/>
            <c:spPr>
              <a:solidFill>
                <a:srgbClr val="FFB8FF"/>
              </a:solidFill>
              <a:ln>
                <a:solidFill>
                  <a:srgbClr val="FFB8FF"/>
                </a:solidFill>
              </a:ln>
            </c:spPr>
          </c:marker>
          <c:cat>
            <c:strRef>
              <c:f>Sheet1!$A$2:$A$18</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Sheet1!$C$2:$C$18</c:f>
              <c:numCache>
                <c:formatCode>General</c:formatCode>
                <c:ptCount val="17"/>
                <c:pt idx="0">
                  <c:v>75.22641509433963</c:v>
                </c:pt>
                <c:pt idx="1">
                  <c:v>75.95384615384616</c:v>
                </c:pt>
                <c:pt idx="2">
                  <c:v>75.89075630252101</c:v>
                </c:pt>
                <c:pt idx="3">
                  <c:v>78.44721689059502</c:v>
                </c:pt>
                <c:pt idx="4">
                  <c:v>77.50306748466258</c:v>
                </c:pt>
                <c:pt idx="5">
                  <c:v>74.88566552901024</c:v>
                </c:pt>
                <c:pt idx="6">
                  <c:v>72.36363636363636</c:v>
                </c:pt>
                <c:pt idx="7">
                  <c:v>68.93996840442338</c:v>
                </c:pt>
                <c:pt idx="8">
                  <c:v>69.56137724550898</c:v>
                </c:pt>
                <c:pt idx="9">
                  <c:v>69.92857142857143</c:v>
                </c:pt>
                <c:pt idx="10">
                  <c:v>68.81932773109244</c:v>
                </c:pt>
                <c:pt idx="11">
                  <c:v>66.25</c:v>
                </c:pt>
                <c:pt idx="12">
                  <c:v>68.25438596491227</c:v>
                </c:pt>
                <c:pt idx="13">
                  <c:v>64.67647058823529</c:v>
                </c:pt>
                <c:pt idx="14">
                  <c:v>65.80243161094225</c:v>
                </c:pt>
                <c:pt idx="15">
                  <c:v>66.65993265993266</c:v>
                </c:pt>
                <c:pt idx="16">
                  <c:v>66.29770992366412</c:v>
                </c:pt>
              </c:numCache>
            </c:numRef>
          </c:val>
          <c:smooth val="0"/>
        </c:ser>
        <c:marker val="1"/>
        <c:smooth val="0"/>
        <c:axId val="2118791784"/>
        <c:axId val="2140495176"/>
      </c:lineChart>
      <c:catAx>
        <c:axId val="2118791784"/>
        <c:scaling>
          <c:orientation val="minMax"/>
        </c:scaling>
        <c:delete val="0"/>
        <c:axPos val="b"/>
        <c:title>
          <c:tx>
            <c:rich>
              <a:bodyPr/>
              <a:lstStyle/>
              <a:p>
                <a:r>
                  <a:rPr sz="1200" b="0">
                    <a:solidFill>
                      <a:srgbClr val="7C7CAA"/>
                    </a:solidFill>
                    <a:latin typeface="Arial"/>
                  </a:rPr>
                  <a:t>Note moyenne des jeux sortis chaque année (/100)</a:t>
                </a:r>
              </a:p>
            </c:rich>
          </c:tx>
          <c:layout/>
          <c:overlay val="0"/>
        </c:title>
        <c:majorTickMark val="out"/>
        <c:minorTickMark val="none"/>
        <c:tickLblPos val="nextTo"/>
        <c:spPr>
          <a:ln w="12700">
            <a:solidFill>
              <a:srgbClr val="2121DE"/>
            </a:solidFill>
          </a:ln>
        </c:spPr>
        <c:txPr>
          <a:bodyPr/>
          <a:lstStyle/>
          <a:p>
            <a:pPr>
              <a:defRPr sz="1000">
                <a:solidFill>
                  <a:srgbClr val="C4C4E4"/>
                </a:solidFill>
              </a:defRPr>
            </a:pPr>
          </a:p>
        </c:txPr>
        <c:crossAx val="2140495176"/>
        <c:crosses val="autoZero"/>
        <c:auto val="1"/>
        <c:lblAlgn val="ctr"/>
        <c:lblOffset val="100"/>
        <c:noMultiLvlLbl val="0"/>
      </c:catAx>
      <c:valAx>
        <c:axId val="2140495176"/>
        <c:scaling>
          <c:max val="80.0"/>
          <c:min val="62.0"/>
        </c:scaling>
        <c:delete val="0"/>
        <c:axPos val="l"/>
        <c:majorGridlines>
          <c:spPr>
            <a:ln w="9525">
              <a:solidFill>
                <a:srgbClr val="1A1A4A"/>
              </a:solidFill>
            </a:ln>
          </c:spPr>
        </c:majorGridlines>
        <c:majorTickMark val="out"/>
        <c:minorTickMark val="none"/>
        <c:tickLblPos val="nextTo"/>
        <c:spPr>
          <a:ln>
            <a:noFill/>
          </a:ln>
        </c:spPr>
        <c:txPr>
          <a:bodyPr/>
          <a:lstStyle/>
          <a:p>
            <a:pPr>
              <a:defRPr sz="1100">
                <a:solidFill>
                  <a:srgbClr val="7C7CAA"/>
                </a:solidFill>
              </a:defRPr>
            </a:pPr>
          </a:p>
        </c:txPr>
        <c:crossAx val="2118791784"/>
        <c:crosses val="autoZero"/>
      </c:valAx>
      <c:spPr>
        <a:noFill/>
        <a:ln>
          <a:noFill/>
        </a:ln>
      </c:spPr>
    </c:plotArea>
    <c:legend>
      <c:legendPos val="t"/>
      <c:layout/>
      <c:overlay val="0"/>
      <c:txPr>
        <a:bodyPr/>
        <a:lstStyle/>
        <a:p>
          <a:pPr>
            <a:defRPr sz="1200">
              <a:solidFill>
                <a:srgbClr val="C4C4E4"/>
              </a:solidFill>
            </a:defRPr>
          </a:pPr>
        </a:p>
      </c:txPr>
    </c:legend>
    <c:plotVisOnly val="1"/>
    <c:dispBlanksAs val="gap"/>
    <c:showDLblsOverMax val="0"/>
  </c:chart>
  <c:spPr>
    <a:noFill/>
    <a:ln>
      <a:noFill/>
    </a:ln>
  </c:spPr>
  <c:txPr>
    <a:bodyPr/>
    <a:lstStyle/>
    <a:p>
      <a:pPr>
        <a:defRPr sz="1100">
          <a:solidFill>
            <a:srgbClr val="C4C4E4"/>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Note presse moyenne</c:v>
                </c:pt>
              </c:strCache>
            </c:strRef>
          </c:tx>
          <c:spPr>
            <a:solidFill>
              <a:srgbClr val="FF2D2D"/>
            </a:solidFill>
          </c:spPr>
          <c:dPt>
            <c:idx val="0"/>
            <c:spPr>
              <a:solidFill>
                <a:srgbClr val="FF2D2D"/>
              </a:solidFill>
            </c:spPr>
          </c:dPt>
          <c:dPt>
            <c:idx val="1"/>
            <c:spPr>
              <a:solidFill>
                <a:srgbClr val="FF2D2D"/>
              </a:solidFill>
            </c:spPr>
          </c:dPt>
          <c:dPt>
            <c:idx val="2"/>
            <c:spPr>
              <a:solidFill>
                <a:srgbClr val="FF2D2D"/>
              </a:solidFill>
            </c:spPr>
          </c:dPt>
          <c:dPt>
            <c:idx val="3"/>
            <c:spPr>
              <a:solidFill>
                <a:srgbClr val="FF2D2D"/>
              </a:solidFill>
            </c:spPr>
          </c:dPt>
          <c:dPt>
            <c:idx val="4"/>
            <c:spPr>
              <a:solidFill>
                <a:srgbClr val="2121DE"/>
              </a:solidFill>
            </c:spPr>
          </c:dPt>
          <c:dPt>
            <c:idx val="5"/>
            <c:spPr>
              <a:solidFill>
                <a:srgbClr val="00DE00"/>
              </a:solidFill>
            </c:spPr>
          </c:dPt>
          <c:dPt>
            <c:idx val="6"/>
            <c:spPr>
              <a:solidFill>
                <a:srgbClr val="2121DE"/>
              </a:solidFill>
            </c:spPr>
          </c:dPt>
          <c:dPt>
            <c:idx val="7"/>
            <c:spPr>
              <a:solidFill>
                <a:srgbClr val="FF2D2D"/>
              </a:solidFill>
            </c:spPr>
          </c:dPt>
          <c:dPt>
            <c:idx val="8"/>
            <c:spPr>
              <a:solidFill>
                <a:srgbClr val="00DE00"/>
              </a:solidFill>
            </c:spPr>
          </c:dPt>
          <c:dPt>
            <c:idx val="9"/>
            <c:spPr>
              <a:solidFill>
                <a:srgbClr val="2121DE"/>
              </a:solidFill>
            </c:spPr>
          </c:dPt>
          <c:dPt>
            <c:idx val="10"/>
            <c:spPr>
              <a:solidFill>
                <a:srgbClr val="2121DE"/>
              </a:solidFill>
            </c:spPr>
          </c:dPt>
          <c:dPt>
            <c:idx val="11"/>
            <c:spPr>
              <a:solidFill>
                <a:srgbClr val="FF2D2D"/>
              </a:solidFill>
            </c:spPr>
          </c:dPt>
          <c:dPt>
            <c:idx val="12"/>
            <c:spPr>
              <a:solidFill>
                <a:srgbClr val="2121DE"/>
              </a:solidFill>
            </c:spPr>
          </c:dPt>
          <c:dPt>
            <c:idx val="13"/>
            <c:spPr>
              <a:solidFill>
                <a:srgbClr val="2121DE"/>
              </a:solidFill>
            </c:spPr>
          </c:dPt>
          <c:dPt>
            <c:idx val="14"/>
            <c:spPr>
              <a:solidFill>
                <a:srgbClr val="00DE00"/>
              </a:solidFill>
            </c:spPr>
          </c:dPt>
          <c:dPt>
            <c:idx val="15"/>
            <c:spPr>
              <a:solidFill>
                <a:srgbClr val="FFE600"/>
              </a:solidFill>
            </c:spPr>
          </c:dPt>
          <c:cat>
            <c:strRef>
              <c:f>Sheet1!$A$2:$A$17</c:f>
              <c:strCache>
                <c:ptCount val="16"/>
                <c:pt idx="0">
                  <c:v>Wii</c:v>
                </c:pt>
                <c:pt idx="1">
                  <c:v>Nintendo DS</c:v>
                </c:pt>
                <c:pt idx="2">
                  <c:v>Nintendo 3DS</c:v>
                </c:pt>
                <c:pt idx="3">
                  <c:v>Game Boy Advance</c:v>
                </c:pt>
                <c:pt idx="4">
                  <c:v>PSP</c:v>
                </c:pt>
                <c:pt idx="5">
                  <c:v>Xbox 360</c:v>
                </c:pt>
                <c:pt idx="6">
                  <c:v>PlayStation 2</c:v>
                </c:pt>
                <c:pt idx="7">
                  <c:v>GameCube</c:v>
                </c:pt>
                <c:pt idx="8">
                  <c:v>Xbox</c:v>
                </c:pt>
                <c:pt idx="9">
                  <c:v>PlayStation 3</c:v>
                </c:pt>
                <c:pt idx="10">
                  <c:v>PS Vita</c:v>
                </c:pt>
                <c:pt idx="11">
                  <c:v>Wii U</c:v>
                </c:pt>
                <c:pt idx="12">
                  <c:v>PlayStation</c:v>
                </c:pt>
                <c:pt idx="13">
                  <c:v>PlayStation 4</c:v>
                </c:pt>
                <c:pt idx="14">
                  <c:v>Xbox One</c:v>
                </c:pt>
                <c:pt idx="15">
                  <c:v>PC</c:v>
                </c:pt>
              </c:strCache>
            </c:strRef>
          </c:cat>
          <c:val>
            <c:numRef>
              <c:f>Sheet1!$B$2:$B$17</c:f>
              <c:numCache>
                <c:formatCode>General</c:formatCode>
                <c:ptCount val="16"/>
                <c:pt idx="0">
                  <c:v>62.832469775474955</c:v>
                </c:pt>
                <c:pt idx="1">
                  <c:v>63.78541374474053</c:v>
                </c:pt>
                <c:pt idx="2">
                  <c:v>67.17964071856288</c:v>
                </c:pt>
                <c:pt idx="3">
                  <c:v>67.29398148148148</c:v>
                </c:pt>
                <c:pt idx="4">
                  <c:v>67.42424242424242</c:v>
                </c:pt>
                <c:pt idx="5">
                  <c:v>68.66482300884955</c:v>
                </c:pt>
                <c:pt idx="6">
                  <c:v>68.75370226032736</c:v>
                </c:pt>
                <c:pt idx="7">
                  <c:v>69.58876404494382</c:v>
                </c:pt>
                <c:pt idx="8">
                  <c:v>69.93575418994413</c:v>
                </c:pt>
                <c:pt idx="9">
                  <c:v>70.38054187192118</c:v>
                </c:pt>
                <c:pt idx="10">
                  <c:v>70.73109243697479</c:v>
                </c:pt>
                <c:pt idx="11">
                  <c:v>70.73333333333333</c:v>
                </c:pt>
                <c:pt idx="12">
                  <c:v>71.58673469387755</c:v>
                </c:pt>
                <c:pt idx="13">
                  <c:v>72.09126984126983</c:v>
                </c:pt>
                <c:pt idx="14">
                  <c:v>73.32544378698225</c:v>
                </c:pt>
                <c:pt idx="15">
                  <c:v>75.91242937853107</c:v>
                </c:pt>
              </c:numCache>
            </c:numRef>
          </c:val>
        </c:ser>
        <c:dLbls>
          <c:numFmt formatCode="0.0" sourceLinked="0"/>
          <c:txPr>
            <a:bodyPr/>
            <a:lstStyle/>
            <a:p>
              <a:pPr>
                <a:defRPr b="1" sz="1200">
                  <a:solidFill>
                    <a:srgbClr val="FFFFF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w="12700">
            <a:solidFill>
              <a:srgbClr val="2121DE"/>
            </a:solidFill>
          </a:ln>
        </c:spPr>
        <c:txPr>
          <a:bodyPr/>
          <a:lstStyle/>
          <a:p>
            <a:pPr>
              <a:defRPr sz="1100">
                <a:solidFill>
                  <a:srgbClr val="C4C4E4"/>
                </a:solidFill>
              </a:defRPr>
            </a:pPr>
          </a:p>
        </c:txPr>
        <c:crossAx val="-2113994440"/>
        <c:crosses val="autoZero"/>
        <c:auto val="1"/>
        <c:lblAlgn val="ctr"/>
        <c:lblOffset val="100"/>
        <c:noMultiLvlLbl val="0"/>
      </c:catAx>
      <c:valAx>
        <c:axId val="-2113994440"/>
        <c:scaling>
          <c:max val="80.0"/>
          <c:min val="55.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C4C4E4"/>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Amérique du Nord</c:v>
                </c:pt>
              </c:strCache>
            </c:strRef>
          </c:tx>
          <c:spPr>
            <a:solidFill>
              <a:srgbClr val="00FFFF"/>
            </a:solidFill>
          </c:spPr>
          <c:dLbls>
            <c:numFmt formatCode="0%" sourceLinked="0"/>
            <c:txPr>
              <a:bodyPr/>
              <a:lstStyle/>
              <a:p>
                <a:pPr>
                  <a:defRPr b="1" sz="1200">
                    <a:solidFill>
                      <a:srgbClr val="000000"/>
                    </a:solidFill>
                  </a:defRPr>
                </a:pPr>
              </a:p>
            </c:txPr>
            <c:dLblPos val="ctr"/>
            <c:showLegendKey val="0"/>
            <c:showVal val="1"/>
            <c:showCatName val="0"/>
            <c:showSerName val="0"/>
            <c:showPercent val="0"/>
            <c:showBubbleSize val="0"/>
            <c:showLeaderLines val="1"/>
          </c:dLbls>
          <c:cat>
            <c:strRef>
              <c:f>Sheet1!$A$2:$A$7</c:f>
              <c:strCache>
                <c:ptCount val="6"/>
                <c:pt idx="0">
                  <c:v>&lt; 50</c:v>
                </c:pt>
                <c:pt idx="1">
                  <c:v>50-59</c:v>
                </c:pt>
                <c:pt idx="2">
                  <c:v>60-69</c:v>
                </c:pt>
                <c:pt idx="3">
                  <c:v>70-79</c:v>
                </c:pt>
                <c:pt idx="4">
                  <c:v>80-89</c:v>
                </c:pt>
                <c:pt idx="5">
                  <c:v>90 et +</c:v>
                </c:pt>
              </c:strCache>
            </c:strRef>
          </c:cat>
          <c:val>
            <c:numRef>
              <c:f>Sheet1!$B$2:$B$7</c:f>
              <c:numCache>
                <c:formatCode>General</c:formatCode>
                <c:ptCount val="6"/>
                <c:pt idx="0">
                  <c:v>0.6769045957250748</c:v>
                </c:pt>
                <c:pt idx="1">
                  <c:v>0.6123469274465059</c:v>
                </c:pt>
                <c:pt idx="2">
                  <c:v>0.5834621455829709</c:v>
                </c:pt>
                <c:pt idx="3">
                  <c:v>0.535541435289578</c:v>
                </c:pt>
                <c:pt idx="4">
                  <c:v>0.49971040244064807</c:v>
                </c:pt>
                <c:pt idx="5">
                  <c:v>0.4888111647884353</c:v>
                </c:pt>
              </c:numCache>
            </c:numRef>
          </c:val>
        </c:ser>
        <c:ser>
          <c:idx val="1"/>
          <c:order val="1"/>
          <c:tx>
            <c:strRef>
              <c:f>Sheet1!$C$1</c:f>
              <c:strCache>
                <c:ptCount val="1"/>
                <c:pt idx="0">
                  <c:v>Europe</c:v>
                </c:pt>
              </c:strCache>
            </c:strRef>
          </c:tx>
          <c:spPr>
            <a:solidFill>
              <a:srgbClr val="FFB8FF"/>
            </a:solidFill>
          </c:spPr>
          <c:dLbls>
            <c:numFmt formatCode="0%" sourceLinked="0"/>
            <c:txPr>
              <a:bodyPr/>
              <a:lstStyle/>
              <a:p>
                <a:pPr>
                  <a:defRPr b="1" sz="1200">
                    <a:solidFill>
                      <a:srgbClr val="000000"/>
                    </a:solidFill>
                  </a:defRPr>
                </a:pPr>
              </a:p>
            </c:txPr>
            <c:dLblPos val="ctr"/>
            <c:showLegendKey val="0"/>
            <c:showVal val="1"/>
            <c:showCatName val="0"/>
            <c:showSerName val="0"/>
            <c:showPercent val="0"/>
            <c:showBubbleSize val="0"/>
            <c:showLeaderLines val="1"/>
          </c:dLbls>
          <c:cat>
            <c:strRef>
              <c:f>Sheet1!$A$2:$A$7</c:f>
              <c:strCache>
                <c:ptCount val="6"/>
                <c:pt idx="0">
                  <c:v>&lt; 50</c:v>
                </c:pt>
                <c:pt idx="1">
                  <c:v>50-59</c:v>
                </c:pt>
                <c:pt idx="2">
                  <c:v>60-69</c:v>
                </c:pt>
                <c:pt idx="3">
                  <c:v>70-79</c:v>
                </c:pt>
                <c:pt idx="4">
                  <c:v>80-89</c:v>
                </c:pt>
                <c:pt idx="5">
                  <c:v>90 et +</c:v>
                </c:pt>
              </c:strCache>
            </c:strRef>
          </c:cat>
          <c:val>
            <c:numRef>
              <c:f>Sheet1!$C$2:$C$7</c:f>
              <c:numCache>
                <c:formatCode>General</c:formatCode>
                <c:ptCount val="6"/>
                <c:pt idx="0">
                  <c:v>0.22103624497417107</c:v>
                </c:pt>
                <c:pt idx="1">
                  <c:v>0.2566824882572547</c:v>
                </c:pt>
                <c:pt idx="2">
                  <c:v>0.2647314801314479</c:v>
                </c:pt>
                <c:pt idx="3">
                  <c:v>0.3041006194875513</c:v>
                </c:pt>
                <c:pt idx="4">
                  <c:v>0.3319045356719528</c:v>
                </c:pt>
                <c:pt idx="5">
                  <c:v>0.3399093609236836</c:v>
                </c:pt>
              </c:numCache>
            </c:numRef>
          </c:val>
        </c:ser>
        <c:ser>
          <c:idx val="2"/>
          <c:order val="2"/>
          <c:tx>
            <c:strRef>
              <c:f>Sheet1!$D$1</c:f>
              <c:strCache>
                <c:ptCount val="1"/>
                <c:pt idx="0">
                  <c:v>Japon</c:v>
                </c:pt>
              </c:strCache>
            </c:strRef>
          </c:tx>
          <c:spPr>
            <a:solidFill>
              <a:srgbClr val="FF2D2D"/>
            </a:solidFill>
          </c:spPr>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numFmt formatCode="0%" sourceLinked="0"/>
            <c:txPr>
              <a:bodyPr/>
              <a:lstStyle/>
              <a:p>
                <a:pPr>
                  <a:defRPr b="1" sz="1200">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&lt; 50</c:v>
                </c:pt>
                <c:pt idx="1">
                  <c:v>50-59</c:v>
                </c:pt>
                <c:pt idx="2">
                  <c:v>60-69</c:v>
                </c:pt>
                <c:pt idx="3">
                  <c:v>70-79</c:v>
                </c:pt>
                <c:pt idx="4">
                  <c:v>80-89</c:v>
                </c:pt>
                <c:pt idx="5">
                  <c:v>90 et +</c:v>
                </c:pt>
              </c:strCache>
            </c:strRef>
          </c:cat>
          <c:val>
            <c:numRef>
              <c:f>Sheet1!$D$2:$D$7</c:f>
              <c:numCache>
                <c:formatCode>General</c:formatCode>
                <c:ptCount val="6"/>
                <c:pt idx="0">
                  <c:v>0.030283980033322496</c:v>
                </c:pt>
                <c:pt idx="1">
                  <c:v>0.05301624341237303</c:v>
                </c:pt>
                <c:pt idx="2">
                  <c:v>0.07082219980174728</c:v>
                </c:pt>
                <c:pt idx="3">
                  <c:v>0.07392185819426475</c:v>
                </c:pt>
                <c:pt idx="4">
                  <c:v>0.07480244102535766</c:v>
                </c:pt>
                <c:pt idx="5">
                  <c:v>0.07232826013900713</c:v>
                </c:pt>
              </c:numCache>
            </c:numRef>
          </c:val>
        </c:ser>
        <c:ser>
          <c:idx val="3"/>
          <c:order val="3"/>
          <c:tx>
            <c:strRef>
              <c:f>Sheet1!$E$1</c:f>
              <c:strCache>
                <c:ptCount val="1"/>
                <c:pt idx="0">
                  <c:v>Reste du monde</c:v>
                </c:pt>
              </c:strCache>
            </c:strRef>
          </c:tx>
          <c:spPr>
            <a:solidFill>
              <a:srgbClr val="2E2E4A"/>
            </a:solidFill>
          </c:spPr>
          <c:dLbls>
            <c:numFmt formatCode="0%" sourceLinked="0"/>
            <c:txPr>
              <a:bodyPr/>
              <a:lstStyle/>
              <a:p>
                <a:pPr>
                  <a:defRPr b="1" sz="1200">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&lt; 50</c:v>
                </c:pt>
                <c:pt idx="1">
                  <c:v>50-59</c:v>
                </c:pt>
                <c:pt idx="2">
                  <c:v>60-69</c:v>
                </c:pt>
                <c:pt idx="3">
                  <c:v>70-79</c:v>
                </c:pt>
                <c:pt idx="4">
                  <c:v>80-89</c:v>
                </c:pt>
                <c:pt idx="5">
                  <c:v>90 et +</c:v>
                </c:pt>
              </c:strCache>
            </c:strRef>
          </c:cat>
          <c:val>
            <c:numRef>
              <c:f>Sheet1!$E$2:$E$7</c:f>
              <c:numCache>
                <c:formatCode>General</c:formatCode>
                <c:ptCount val="6"/>
                <c:pt idx="0">
                  <c:v>0.07177517926743157</c:v>
                </c:pt>
                <c:pt idx="1">
                  <c:v>0.07795434088386645</c:v>
                </c:pt>
                <c:pt idx="2">
                  <c:v>0.0809841744838339</c:v>
                </c:pt>
                <c:pt idx="3">
                  <c:v>0.08643608702860593</c:v>
                </c:pt>
                <c:pt idx="4">
                  <c:v>0.09358262086204144</c:v>
                </c:pt>
                <c:pt idx="5">
                  <c:v>0.09895121414887396</c:v>
                </c:pt>
              </c:numCache>
            </c:numRef>
          </c:val>
        </c:ser>
        <c:dLbls>
          <c:numFmt formatCode="0%" sourceLinked="0"/>
          <c:txPr>
            <a:bodyPr/>
            <a:lstStyle/>
            <a:p>
              <a:pPr>
                <a:defRPr b="1" sz="12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title>
          <c:tx>
            <c:rich>
              <a:bodyPr/>
              <a:lstStyle/>
              <a:p>
                <a:r>
                  <a:rPr sz="1200" b="0">
                    <a:solidFill>
                      <a:srgbClr val="7C7CAA"/>
                    </a:solidFill>
                    <a:latin typeface="Arial"/>
                  </a:rPr>
                  <a:t>Note presse Metacritic (/100) · part des ventes du jeu par région</a:t>
                </a:r>
              </a:p>
            </c:rich>
          </c:tx>
          <c:layout/>
          <c:overlay val="0"/>
        </c:title>
        <c:majorTickMark val="out"/>
        <c:minorTickMark val="none"/>
        <c:tickLblPos val="nextTo"/>
        <c:spPr>
          <a:ln w="12700">
            <a:solidFill>
              <a:srgbClr val="2121DE"/>
            </a:solidFill>
          </a:ln>
        </c:spPr>
        <c:txPr>
          <a:bodyPr/>
          <a:lstStyle/>
          <a:p>
            <a:pPr>
              <a:defRPr sz="1100">
                <a:solidFill>
                  <a:srgbClr val="C4C4E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spPr>
        <a:noFill/>
        <a:ln>
          <a:noFill/>
        </a:ln>
      </c:spPr>
    </c:plotArea>
    <c:legend>
      <c:legendPos val="t"/>
      <c:overlay val="0"/>
      <c:txPr>
        <a:bodyPr/>
        <a:lstStyle/>
        <a:p>
          <a:pPr>
            <a:defRPr sz="1200">
              <a:solidFill>
                <a:srgbClr val="C4C4E4"/>
              </a:solidFill>
            </a:defRPr>
          </a:pPr>
        </a:p>
      </c:txPr>
    </c:legend>
    <c:dispBlanksAs val="gap"/>
  </c:chart>
  <c:spPr>
    <a:noFill/>
    <a:ln>
      <a:noFill/>
    </a:ln>
  </c:spPr>
  <c:txPr>
    <a:bodyPr/>
    <a:lstStyle/>
    <a:p>
      <a:pPr>
        <a:defRPr sz="1100">
          <a:solidFill>
            <a:srgbClr val="C4C4E4"/>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Jours</c:v>
                </c:pt>
              </c:strCache>
            </c:strRef>
          </c:tx>
          <c:spPr>
            <a:solidFill>
              <a:srgbClr val="2121DE"/>
            </a:solidFill>
          </c:spPr>
          <c:dPt>
            <c:idx val="0"/>
            <c:spPr>
              <a:solidFill>
                <a:srgbClr val="2121DE"/>
              </a:solidFill>
            </c:spPr>
          </c:dPt>
          <c:dPt>
            <c:idx val="1"/>
            <c:spPr>
              <a:solidFill>
                <a:srgbClr val="2121DE"/>
              </a:solidFill>
            </c:spPr>
          </c:dPt>
          <c:dPt>
            <c:idx val="2"/>
            <c:spPr>
              <a:solidFill>
                <a:srgbClr val="FFE600"/>
              </a:solidFill>
            </c:spPr>
          </c:dPt>
          <c:dPt>
            <c:idx val="3"/>
            <c:spPr>
              <a:solidFill>
                <a:srgbClr val="2121DE"/>
              </a:solidFill>
            </c:spPr>
          </c:dPt>
          <c:dPt>
            <c:idx val="4"/>
            <c:spPr>
              <a:solidFill>
                <a:srgbClr val="2121DE"/>
              </a:solidFill>
            </c:spPr>
          </c:dPt>
          <c:dPt>
            <c:idx val="5"/>
            <c:spPr>
              <a:solidFill>
                <a:srgbClr val="2121DE"/>
              </a:solidFill>
            </c:spPr>
          </c:dPt>
          <c:dPt>
            <c:idx val="6"/>
            <c:spPr>
              <a:solidFill>
                <a:srgbClr val="2121DE"/>
              </a:solidFill>
            </c:spPr>
          </c:dPt>
          <c:dPt>
            <c:idx val="7"/>
            <c:spPr>
              <a:solidFill>
                <a:srgbClr val="2121DE"/>
              </a:solidFill>
            </c:spPr>
          </c:dPt>
          <c:cat>
            <c:strRef>
              <c:f>Sheet1!$A$2:$A$9</c:f>
              <c:strCache>
                <c:ptCount val="8"/>
                <c:pt idx="0">
                  <c:v>Recette</c:v>
                </c:pt>
                <c:pt idx="1">
                  <c:v>Documentation</c:v>
                </c:pt>
                <c:pt idx="2">
                  <c:v>Intégration à l'appli</c:v>
                </c:pt>
                <c:pt idx="3">
                  <c:v>Analyses croisées</c:v>
                </c:pt>
                <c:pt idx="4">
                  <c:v>Jointure et contrôles</c:v>
                </c:pt>
                <c:pt idx="5">
                  <c:v>EDA base 2</c:v>
                </c:pt>
                <c:pt idx="6">
                  <c:v>Nettoyage base 2</c:v>
                </c:pt>
                <c:pt idx="7">
                  <c:v>Recherche de la source</c:v>
                </c:pt>
              </c:strCache>
            </c:strRef>
          </c:cat>
          <c:val>
            <c:numRef>
              <c:f>Sheet1!$B$2:$B$9</c:f>
              <c:numCache>
                <c:formatCode>General</c:formatCode>
                <c:ptCount val="8"/>
                <c:pt idx="0">
                  <c:v>0.5</c:v>
                </c:pt>
                <c:pt idx="1">
                  <c:v>0.5</c:v>
                </c:pt>
                <c:pt idx="2">
                  <c:v>2.5</c:v>
                </c:pt>
                <c:pt idx="3">
                  <c:v>1.5</c:v>
                </c:pt>
                <c:pt idx="4">
                  <c:v>1</c:v>
                </c:pt>
                <c:pt idx="5">
                  <c:v>1.5</c:v>
                </c:pt>
                <c:pt idx="6">
                  <c:v>1.5</c:v>
                </c:pt>
                <c:pt idx="7">
                  <c:v>1</c:v>
                </c:pt>
              </c:numCache>
            </c:numRef>
          </c:val>
        </c:ser>
        <c:dLbls>
          <c:numFmt formatCode="0.0&quot; j&quot;" sourceLinked="0"/>
          <c:txPr>
            <a:bodyPr/>
            <a:lstStyle/>
            <a:p>
              <a:pPr>
                <a:defRPr b="1" sz="1200">
                  <a:solidFill>
                    <a:srgbClr val="FFFFFF"/>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w="12700">
            <a:solidFill>
              <a:srgbClr val="2121DE"/>
            </a:solidFill>
          </a:ln>
        </c:spPr>
        <c:txPr>
          <a:bodyPr/>
          <a:lstStyle/>
          <a:p>
            <a:pPr>
              <a:defRPr sz="1200">
                <a:solidFill>
                  <a:srgbClr val="C4C4E4"/>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C4C4E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passons à la deuxième partie du projet : la deuxième base de données demandée par le client, les notes Metacritic. La première base disait combien un jeu s'est vendu ; celle-ci dit ce que la presse et les joueurs en ont pensé.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parcours pour cette partie : la mission, c'est-à-dire la demande du client et la base choisie ; le nettoyage ; la jointure entre les deux bases ; quatre découvertes ; le Market Power Index revu avec la qualité ; et la démonstration de l'interface, qui montre les deux bases ensemble. En bonus, le prix de la prestation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1 : la 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client a regardé l'analyse des ventes et nous a demandé d'ajouter une deuxième base. Les ventes disent combien un jeu s'est vendu, mais pas s'il était bon. On a donc cherché une base qui mesure la qualité perçue : les notes Metacritic. La question devient : une bonne note fait-elle vendre ? La base compte 16 719 lignes et 16 colonnes, dont 6 nouvelles.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cette base ? Elle coche les quatre critères des consignes : elle parle de jeux vidéo sur la même période, elle a une clé commune avec notre base, elle apporte une information nouvelle et sa source est citable. Exemple avec GTA V sur PS3 : la base 1 disait 21 millions d'exemplaires ; la base 2 ajoute une note presse de 97 sur 100, une note joueurs de 8,2 sur 10, le studio Rockstar North et la classification M, pour adultes.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2 : le nettoyage. La base 2 a ses propres fantômes.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fantômes dans cette base. Un : 2 425 notes joueurs valent « tbd », to be determined : ce n'est pas une note, c'est une absence de note, on la met en valeur manquante. Deux : la moitié des notes presse manquent. On ne les invente pas : elles ne manquent pas au hasard, Metacritic ne note presque rien d'avant 2000. Trois : la source a confondu des remakes avec l'original, par exemple Need for Speed Most Wanted 2005 et 2012 avaient la même note ; on retire la note plutôt que d'en donner une fausse. Quatre : les mêmes doublons que dans la base 1. Point fort : avec les mêmes règles, on retrouve les mêmes chiffres, 114 fiches fusionnées dans les deux bases, ce qui valide notre nettoyage de la partie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 la jointure, le cœur de la demande du client.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relier les deux bases, il faut une clé. On utilise trois éléments : le nom normalisé, la plateforme et l'année. Normaliser, c'est mettre en minuscules et enlever la ponctuation, parce que les noms ne sont jamais écrits pareil. La plateforme, parce qu'un jeu n'a pas la même note sur PS3 et sur Wii. L'année, pour séparer un jeu de son remake. Résultat : 99.7% des jeux retrouvent leur fiche. C'est presque parfait parce que les deux bases viennent du même scraping. Les ventes diffèrent un peu entre les deux relevés, par exemple Wii Sports, donc on garde une seule source de vérité pour les ventes : la base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 relier n'est pas noter. Une fois reliés, seuls 49% des jeux ont une note presse. Mais ils pèsent 63% des ventes : les critiques testent d'abord les jeux attendus. On le voit sur le graphique : 30% des jeux les moins vendus sont notés, contre 65% des plus vendus. Toutes nos conclusions sur les notes portent donc sur les jeux visibles, sortis entre 2000 et 2016. C'est la principale limite à garder en tête.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4 : les découvertes.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découverte : une bonne note va avec de bonnes ventes. Un jeu noté 90 ou plus se vend en médiane 13 fois plus qu'un jeu noté moins de 50, et 62% de ces jeux dépassent le million, contre 4%. Mais attention, lien ne veut pas dire cause : les jeux attendus ont plus de budget marketing, plus de critiques et de meilleures notes. Et Nintendo prouve qu'on peut vendre sans la critique : Wii Play a 58 sur 100 et s'est vendu à 29 millions d'exemplaires.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découverte : la presse et les joueurs ont divorcé. Jusqu'en 2009, les joueurs notent plus haut que la presse. Vers 2010, les courbes se croisent et les joueurs deviennent plus sévères. Deux hypothèses : la nostalgie, car ceux qui notent aujourd'hui un vieux jeu sont ses fans ; et le review bombing, des campagnes de joueurs mécontents. Exemple : Call of Duty Modern Warfare 3, 88 pour la presse, 32 pour les joueurs sur plus de 5 000 votes. Les deux notes ne sont corrélées qu'à 0,58.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découverte : les ventes ne suivent pas la qualité. La Wii et la DS, les deux consoles qui se sont le plus vendues, sont les moins bien notées de toutes, autour de 63 sur 100. Ce n'est pas que Nintendo fait de mauvais jeux : Super Mario Galaxy est dans notre top 10. Ces consoles ont attiré un très grand nombre de petits jeux familiaux à bas prix, que la critique a mal notés. Le PC est la plateforme la mieux notée.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découverte : les régions ne réagissent pas pareil. Un jeu mal noté fait 68% de ses ventes en Amérique du Nord, contre 49% pour un jeu noté 90 et plus : le marché nord-américain absorbe les petits jeux mal notés. L'Europe est le marché le plus sensible aux notes, avec une corrélation de 0,37. Le Japon l'est le moins, 0,24 : Metacritic regroupe des critiques occidentales. Cela rejoint notre découverte de la partie 1 : le Japon est un monde à 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5 : on revient au boss de la partie 1, le Market Power Index, avec la qualité en plus.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ajoute à notre Market Power Index de la partie 1 une sixième composante : la qualité perçue, c'est-à-dire la note presse moyenne de l'éditeur, pondérée par ses ventes. Résultat : le podium ne bouge pas, Nintendo, EA et Sony restent devant. Mais la suite est redistribuée : les éditeurs premium montent, Bethesda et Microsoft gagnent trois places, Virgin six. Les éditeurs de volume reculent : THQ perd cinq places, Sega quatre. Message pour le client : il y a deux modèles, beaucoup de jeux moyens ou moins de jeux mais excellents. Prudence : pour les éditeurs trop peu notés, surtout japonais, on met une note neutre.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finale, sur les deux bases à la fois. Trois quêtes. Une : on clique sur GTA V : sa fiche montre son profil régional, issu de la base des ventes, et ses notes presse et joueurs, issues de Metacritic. Deux : page Market Power Index, on règle les poids des cinq composantes et le classement bouge ; puis on active « Inclure la qualité perçue » : Bethesda et Microsoft montent, THQ et Sega descendent. Trois : les filtres de la barre latérale s'appliquent à toutes les pages ; sur les années 80, la page Notes Metacritic montre le biais : presque aucune note. Lancer l'appli avant la présentation : python run_app.py.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 le prix de la prestation, avec un taux journalier de 450 euros hors taxes. L'analyse des ventes seule représente 16 jours, soit 7 200 euros. Avec la deuxième base, on ajoute 10 jours : chercher et qualifier la source, la nettoyer, l'explorer, la relier, croiser, intégrer à l'appli, documenter et vérifier qu'on n'a rien cassé. Total : 26 jours, 11 700 euros hors taxes, soit 62,5 % de plus. Pourquoi pas le double ? Parce qu'on réutilise beaucoup : les règles de nettoyage, le style des graphiques et l'architecture de l'appli.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Trois limites : les notes ne couvrent que la moitié des jeux, surtout récents et visibles ; un lien n'est pas une cause, le marketing peut expliquer à la fois la note et les ventes ; et Metacritic est occidental, le Japon est mal couvert. Trois recommandations au client : miser sur la qualité, car les jeux notés 80 et plus font 53% des ventes des jeux notés ; viser l'Europe pour les jeux premium ; et pour la suite, ajouter une source de ventes dématérialisées comme Steam, l'angle mort signalé dans la partie 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Nous sommes prêts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9_nous8584848.png"/><Relationship Id="rId12" Type="http://schemas.openxmlformats.org/officeDocument/2006/relationships/image" Target="../media/image10_nous85854154.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5_nous30306616.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13.gif"/><Relationship Id="rId27" Type="http://schemas.openxmlformats.org/officeDocument/2006/relationships/image" Target="../media/image7.gif"/><Relationship Id="rId28" Type="http://schemas.openxmlformats.org/officeDocument/2006/relationships/image" Target="../media/image8.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39.png"/><Relationship Id="rId12" Type="http://schemas.openxmlformats.org/officeDocument/2006/relationships/image" Target="../media/image1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13.gif"/><Relationship Id="rId12" Type="http://schemas.openxmlformats.org/officeDocument/2006/relationships/image" Target="../media/image7.gif"/><Relationship Id="rId13" Type="http://schemas.openxmlformats.org/officeDocument/2006/relationships/image" Target="../media/image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0.png"/><Relationship Id="rId4" Type="http://schemas.openxmlformats.org/officeDocument/2006/relationships/image" Target="../media/image47.png"/><Relationship Id="rId5" Type="http://schemas.openxmlformats.org/officeDocument/2006/relationships/image" Target="../media/image18.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13.gif"/><Relationship Id="rId11" Type="http://schemas.openxmlformats.org/officeDocument/2006/relationships/image" Target="../media/image7.gif"/><Relationship Id="rId12" Type="http://schemas.openxmlformats.org/officeDocument/2006/relationships/image" Target="../media/image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39.png"/><Relationship Id="rId12" Type="http://schemas.openxmlformats.org/officeDocument/2006/relationships/image" Target="../media/image1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1.png"/><Relationship Id="rId6" Type="http://schemas.openxmlformats.org/officeDocument/2006/relationships/image" Target="../media/image56.gif"/><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image" Target="../media/image61.gif"/><Relationship Id="rId12" Type="http://schemas.openxmlformats.org/officeDocument/2006/relationships/image" Target="../media/image62.png"/><Relationship Id="rId13" Type="http://schemas.openxmlformats.org/officeDocument/2006/relationships/image" Target="../media/image13.gif"/><Relationship Id="rId14" Type="http://schemas.openxmlformats.org/officeDocument/2006/relationships/image" Target="../media/image7.gif"/><Relationship Id="rId15" Type="http://schemas.openxmlformats.org/officeDocument/2006/relationships/image" Target="../media/image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39.png"/><Relationship Id="rId12" Type="http://schemas.openxmlformats.org/officeDocument/2006/relationships/image" Target="../media/image1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24.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13.gif"/><Relationship Id="rId14" Type="http://schemas.openxmlformats.org/officeDocument/2006/relationships/image" Target="../media/image7.gif"/><Relationship Id="rId15" Type="http://schemas.openxmlformats.org/officeDocument/2006/relationships/image" Target="../media/image8.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5.png"/><Relationship Id="rId4" Type="http://schemas.openxmlformats.org/officeDocument/2006/relationships/image" Target="../media/image74.png"/><Relationship Id="rId5" Type="http://schemas.openxmlformats.org/officeDocument/2006/relationships/image" Target="../media/image24.png"/><Relationship Id="rId6" Type="http://schemas.openxmlformats.org/officeDocument/2006/relationships/chart" Target="../charts/chart1.xml"/><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13.gif"/><Relationship Id="rId12" Type="http://schemas.openxmlformats.org/officeDocument/2006/relationships/image" Target="../media/image7.gif"/><Relationship Id="rId13" Type="http://schemas.openxmlformats.org/officeDocument/2006/relationships/image" Target="../media/image8.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39.png"/><Relationship Id="rId12" Type="http://schemas.openxmlformats.org/officeDocument/2006/relationships/image" Target="../media/image1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27.png"/><Relationship Id="rId6" Type="http://schemas.openxmlformats.org/officeDocument/2006/relationships/chart" Target="../charts/chart2.xml"/><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13.gif"/><Relationship Id="rId11" Type="http://schemas.openxmlformats.org/officeDocument/2006/relationships/image" Target="../media/image7.gif"/><Relationship Id="rId12"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27.png"/><Relationship Id="rId6" Type="http://schemas.openxmlformats.org/officeDocument/2006/relationships/chart" Target="../charts/chart3.xml"/><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13.gif"/><Relationship Id="rId10" Type="http://schemas.openxmlformats.org/officeDocument/2006/relationships/image" Target="../media/image7.gif"/><Relationship Id="rId11" Type="http://schemas.openxmlformats.org/officeDocument/2006/relationships/image" Target="../media/image8.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27.png"/><Relationship Id="rId6" Type="http://schemas.openxmlformats.org/officeDocument/2006/relationships/chart" Target="../charts/chart4.xml"/><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13.gif"/><Relationship Id="rId10" Type="http://schemas.openxmlformats.org/officeDocument/2006/relationships/image" Target="../media/image7.gif"/><Relationship Id="rId11" Type="http://schemas.openxmlformats.org/officeDocument/2006/relationships/image" Target="../media/image8.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27.png"/><Relationship Id="rId6" Type="http://schemas.openxmlformats.org/officeDocument/2006/relationships/chart" Target="../charts/chart5.xml"/><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13.gif"/><Relationship Id="rId10" Type="http://schemas.openxmlformats.org/officeDocument/2006/relationships/image" Target="../media/image7.gif"/><Relationship Id="rId11" Type="http://schemas.openxmlformats.org/officeDocument/2006/relationships/image" Target="../media/image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4.gif"/><Relationship Id="rId7" Type="http://schemas.openxmlformats.org/officeDocument/2006/relationships/image" Target="../media/image5.gif"/><Relationship Id="rId8" Type="http://schemas.openxmlformats.org/officeDocument/2006/relationships/image" Target="../media/image6.gif"/><Relationship Id="rId9" Type="http://schemas.openxmlformats.org/officeDocument/2006/relationships/image" Target="../media/image7.gif"/><Relationship Id="rId10" Type="http://schemas.openxmlformats.org/officeDocument/2006/relationships/image" Target="../media/image8.gif"/><Relationship Id="rId11" Type="http://schemas.openxmlformats.org/officeDocument/2006/relationships/image" Target="../media/image39.png"/><Relationship Id="rId12" Type="http://schemas.openxmlformats.org/officeDocument/2006/relationships/image" Target="../media/image1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30.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image" Target="../media/image107.png"/><Relationship Id="rId12" Type="http://schemas.openxmlformats.org/officeDocument/2006/relationships/image" Target="../media/image108.png"/><Relationship Id="rId13" Type="http://schemas.openxmlformats.org/officeDocument/2006/relationships/image" Target="../media/image109.png"/><Relationship Id="rId14" Type="http://schemas.openxmlformats.org/officeDocument/2006/relationships/image" Target="../media/image110.png"/><Relationship Id="rId15" Type="http://schemas.openxmlformats.org/officeDocument/2006/relationships/image" Target="../media/image111.png"/><Relationship Id="rId16" Type="http://schemas.openxmlformats.org/officeDocument/2006/relationships/image" Target="../media/image112.png"/><Relationship Id="rId17" Type="http://schemas.openxmlformats.org/officeDocument/2006/relationships/image" Target="../media/image113.png"/><Relationship Id="rId18" Type="http://schemas.openxmlformats.org/officeDocument/2006/relationships/image" Target="../media/image114.png"/><Relationship Id="rId19" Type="http://schemas.openxmlformats.org/officeDocument/2006/relationships/image" Target="../media/image115.png"/><Relationship Id="rId20" Type="http://schemas.openxmlformats.org/officeDocument/2006/relationships/image" Target="../media/image116.png"/><Relationship Id="rId21" Type="http://schemas.openxmlformats.org/officeDocument/2006/relationships/image" Target="../media/image117.png"/><Relationship Id="rId22" Type="http://schemas.openxmlformats.org/officeDocument/2006/relationships/image" Target="../media/image118.png"/><Relationship Id="rId23" Type="http://schemas.openxmlformats.org/officeDocument/2006/relationships/image" Target="../media/image119.png"/><Relationship Id="rId24" Type="http://schemas.openxmlformats.org/officeDocument/2006/relationships/image" Target="../media/image120.png"/><Relationship Id="rId25" Type="http://schemas.openxmlformats.org/officeDocument/2006/relationships/image" Target="../media/image121.png"/><Relationship Id="rId26" Type="http://schemas.openxmlformats.org/officeDocument/2006/relationships/image" Target="../media/image122.png"/><Relationship Id="rId27" Type="http://schemas.openxmlformats.org/officeDocument/2006/relationships/image" Target="../media/image123.png"/><Relationship Id="rId28" Type="http://schemas.openxmlformats.org/officeDocument/2006/relationships/image" Target="../media/image13.gif"/><Relationship Id="rId29" Type="http://schemas.openxmlformats.org/officeDocument/2006/relationships/image" Target="../media/image7.gif"/><Relationship Id="rId30" Type="http://schemas.openxmlformats.org/officeDocument/2006/relationships/image" Target="../media/image8.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6.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image" Target="../media/image130.png"/><Relationship Id="rId12" Type="http://schemas.openxmlformats.org/officeDocument/2006/relationships/image" Target="../media/image131.png"/><Relationship Id="rId13" Type="http://schemas.openxmlformats.org/officeDocument/2006/relationships/image" Target="../media/image132.png"/><Relationship Id="rId14" Type="http://schemas.openxmlformats.org/officeDocument/2006/relationships/image" Target="../media/image13.gif"/><Relationship Id="rId15" Type="http://schemas.openxmlformats.org/officeDocument/2006/relationships/image" Target="../media/image7.gif"/><Relationship Id="rId16" Type="http://schemas.openxmlformats.org/officeDocument/2006/relationships/image" Target="../media/image8.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35.png"/><Relationship Id="rId6" Type="http://schemas.openxmlformats.org/officeDocument/2006/relationships/image" Target="../media/image135.png"/><Relationship Id="rId7" Type="http://schemas.openxmlformats.org/officeDocument/2006/relationships/image" Target="../media/image136.png"/><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chart" Target="../charts/chart6.xml"/><Relationship Id="rId11" Type="http://schemas.openxmlformats.org/officeDocument/2006/relationships/image" Target="../media/image139.png"/><Relationship Id="rId12" Type="http://schemas.openxmlformats.org/officeDocument/2006/relationships/image" Target="../media/image13.gif"/><Relationship Id="rId13" Type="http://schemas.openxmlformats.org/officeDocument/2006/relationships/image" Target="../media/image7.gif"/><Relationship Id="rId14" Type="http://schemas.openxmlformats.org/officeDocument/2006/relationships/image" Target="../media/image8.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image" Target="../media/image35.png"/><Relationship Id="rId6" Type="http://schemas.openxmlformats.org/officeDocument/2006/relationships/image" Target="../media/image142.png"/><Relationship Id="rId7" Type="http://schemas.openxmlformats.org/officeDocument/2006/relationships/image" Target="../media/image77.png"/><Relationship Id="rId8" Type="http://schemas.openxmlformats.org/officeDocument/2006/relationships/image" Target="../media/image143.png"/><Relationship Id="rId9" Type="http://schemas.openxmlformats.org/officeDocument/2006/relationships/image" Target="../media/image48.png"/><Relationship Id="rId10" Type="http://schemas.openxmlformats.org/officeDocument/2006/relationships/image" Target="../media/image13.gif"/><Relationship Id="rId11" Type="http://schemas.openxmlformats.org/officeDocument/2006/relationships/image" Target="../media/image7.gif"/><Relationship Id="rId12" Type="http://schemas.openxmlformats.org/officeDocument/2006/relationships/image" Target="../media/image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4.gif"/><Relationship Id="rId6" Type="http://schemas.openxmlformats.org/officeDocument/2006/relationships/image" Target="../media/image5.gif"/><Relationship Id="rId7" Type="http://schemas.openxmlformats.org/officeDocument/2006/relationships/image" Target="../media/image6.gif"/><Relationship Id="rId8" Type="http://schemas.openxmlformats.org/officeDocument/2006/relationships/image" Target="../media/image7.gif"/><Relationship Id="rId9" Type="http://schemas.openxmlformats.org/officeDocument/2006/relationships/image" Target="../media/image8.gif"/><Relationship Id="rId10" Type="http://schemas.openxmlformats.org/officeDocument/2006/relationships/image" Target="../media/image13.gif"/><Relationship Id="rId11" Type="http://schemas.openxmlformats.org/officeDocument/2006/relationships/image" Target="../media/image146.png"/><Relationship Id="rId12" Type="http://schemas.openxmlformats.org/officeDocument/2006/relationships/image" Target="../media/image147.png"/><Relationship Id="rId13" Type="http://schemas.openxmlformats.org/officeDocument/2006/relationships/image" Target="../media/image148.png"/><Relationship Id="rId14" Type="http://schemas.openxmlformats.org/officeDocument/2006/relationships/image" Target="../media/image56.gif"/></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DATA WRANGLING · PROJET FINAL"/>
          <p:cNvPicPr>
            <a:picLocks noChangeAspect="1"/>
          </p:cNvPicPr>
          <p:nvPr/>
        </p:nvPicPr>
        <p:blipFill>
          <a:blip r:embed="rId3"/>
          <a:stretch>
            <a:fillRect/>
          </a:stretch>
        </p:blipFill>
        <p:spPr>
          <a:xfrm>
            <a:off x="3974439" y="530352"/>
            <a:ext cx="4242816" cy="146304"/>
          </a:xfrm>
          <a:prstGeom prst="rect">
            <a:avLst/>
          </a:prstGeom>
        </p:spPr>
      </p:pic>
      <p:pic>
        <p:nvPicPr>
          <p:cNvPr id="3" name="o2" descr="VENTES MONDIALES"/>
          <p:cNvPicPr>
            <a:picLocks noChangeAspect="1"/>
          </p:cNvPicPr>
          <p:nvPr/>
        </p:nvPicPr>
        <p:blipFill>
          <a:blip r:embed="rId4"/>
          <a:stretch>
            <a:fillRect/>
          </a:stretch>
        </p:blipFill>
        <p:spPr>
          <a:xfrm>
            <a:off x="2438247" y="960120"/>
            <a:ext cx="7315200" cy="457200"/>
          </a:xfrm>
          <a:prstGeom prst="rect">
            <a:avLst/>
          </a:prstGeom>
        </p:spPr>
      </p:pic>
      <p:pic>
        <p:nvPicPr>
          <p:cNvPr id="4" name="o3" descr="DE JEUX VIDEO"/>
          <p:cNvPicPr>
            <a:picLocks noChangeAspect="1"/>
          </p:cNvPicPr>
          <p:nvPr/>
        </p:nvPicPr>
        <p:blipFill>
          <a:blip r:embed="rId5"/>
          <a:stretch>
            <a:fillRect/>
          </a:stretch>
        </p:blipFill>
        <p:spPr>
          <a:xfrm>
            <a:off x="3124047" y="1600200"/>
            <a:ext cx="5943600" cy="457200"/>
          </a:xfrm>
          <a:prstGeom prst="rect">
            <a:avLst/>
          </a:prstGeom>
        </p:spPr>
      </p:pic>
      <p:sp>
        <p:nvSpPr>
          <p:cNvPr id="5" name="o4"/>
          <p:cNvSpPr txBox="1"/>
          <p:nvPr/>
        </p:nvSpPr>
        <p:spPr>
          <a:xfrm>
            <a:off x="1371600" y="2423160"/>
            <a:ext cx="9448495" cy="411480"/>
          </a:xfrm>
          <a:prstGeom prst="rect">
            <a:avLst/>
          </a:prstGeom>
          <a:noFill/>
        </p:spPr>
        <p:txBody>
          <a:bodyPr wrap="square" lIns="0" rIns="0" tIns="0" bIns="0" anchor="t">
            <a:spAutoFit/>
          </a:bodyPr>
          <a:lstStyle/>
          <a:p>
            <a:pPr algn="ctr"/>
            <a:r>
              <a:rPr sz="2000" b="0" i="0">
                <a:solidFill>
                  <a:srgbClr val="C4C4E4"/>
                </a:solidFill>
                <a:latin typeface="Arial"/>
              </a:rPr>
              <a:t>1980 – 2016  ·  16 719 jeux  ·  Partie 2 : la base Metacritic</a:t>
            </a:r>
          </a:p>
        </p:txBody>
      </p:sp>
      <p:pic>
        <p:nvPicPr>
          <p:cNvPr id="6" name="rangee_sprite" descr="image-1-8.gif"/>
          <p:cNvPicPr>
            <a:picLocks noChangeAspect="1"/>
          </p:cNvPicPr>
          <p:nvPr/>
        </p:nvPicPr>
        <p:blipFill>
          <a:blip r:embed="rId6"/>
          <a:stretch>
            <a:fillRect/>
          </a:stretch>
        </p:blipFill>
        <p:spPr>
          <a:xfrm>
            <a:off x="822960" y="3172968"/>
            <a:ext cx="420624" cy="420624"/>
          </a:xfrm>
          <a:prstGeom prst="rect">
            <a:avLst/>
          </a:prstGeom>
        </p:spPr>
      </p:pic>
      <p:pic>
        <p:nvPicPr>
          <p:cNvPr id="7" name="rangee_sprite" descr="image-1-7.gif"/>
          <p:cNvPicPr>
            <a:picLocks noChangeAspect="1"/>
          </p:cNvPicPr>
          <p:nvPr/>
        </p:nvPicPr>
        <p:blipFill>
          <a:blip r:embed="rId7"/>
          <a:stretch>
            <a:fillRect/>
          </a:stretch>
        </p:blipFill>
        <p:spPr>
          <a:xfrm>
            <a:off x="1371600" y="3172968"/>
            <a:ext cx="420624" cy="420624"/>
          </a:xfrm>
          <a:prstGeom prst="rect">
            <a:avLst/>
          </a:prstGeom>
        </p:spPr>
      </p:pic>
      <p:pic>
        <p:nvPicPr>
          <p:cNvPr id="8" name="rangee_sprite" descr="image-1-6.gif"/>
          <p:cNvPicPr>
            <a:picLocks noChangeAspect="1"/>
          </p:cNvPicPr>
          <p:nvPr/>
        </p:nvPicPr>
        <p:blipFill>
          <a:blip r:embed="rId8"/>
          <a:stretch>
            <a:fillRect/>
          </a:stretch>
        </p:blipFill>
        <p:spPr>
          <a:xfrm>
            <a:off x="1920240" y="3172968"/>
            <a:ext cx="420624" cy="420624"/>
          </a:xfrm>
          <a:prstGeom prst="rect">
            <a:avLst/>
          </a:prstGeom>
        </p:spPr>
      </p:pic>
      <p:pic>
        <p:nvPicPr>
          <p:cNvPr id="9" name="rangee_sprite" descr="image-1-15.gif"/>
          <p:cNvPicPr>
            <a:picLocks noChangeAspect="1"/>
          </p:cNvPicPr>
          <p:nvPr/>
        </p:nvPicPr>
        <p:blipFill>
          <a:blip r:embed="rId9"/>
          <a:stretch>
            <a:fillRect/>
          </a:stretch>
        </p:blipFill>
        <p:spPr>
          <a:xfrm>
            <a:off x="2468879" y="3172968"/>
            <a:ext cx="420624" cy="420624"/>
          </a:xfrm>
          <a:prstGeom prst="rect">
            <a:avLst/>
          </a:prstGeom>
        </p:spPr>
      </p:pic>
      <p:pic>
        <p:nvPicPr>
          <p:cNvPr id="10" name="rangee_pacman" descr="image-1-14.gif"/>
          <p:cNvPicPr>
            <a:picLocks noChangeAspect="1"/>
          </p:cNvPicPr>
          <p:nvPr/>
        </p:nvPicPr>
        <p:blipFill>
          <a:blip r:embed="rId10"/>
          <a:stretch>
            <a:fillRect/>
          </a:stretch>
        </p:blipFill>
        <p:spPr>
          <a:xfrm>
            <a:off x="3108960" y="3172968"/>
            <a:ext cx="420624" cy="420624"/>
          </a:xfrm>
          <a:prstGeom prst="rect">
            <a:avLst/>
          </a:prstGeom>
        </p:spPr>
      </p:pic>
      <p:sp>
        <p:nvSpPr>
          <p:cNvPr id="11" name="rangee_pastille"/>
          <p:cNvSpPr/>
          <p:nvPr/>
        </p:nvSpPr>
        <p:spPr>
          <a:xfrm>
            <a:off x="374904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ngee_pastille"/>
          <p:cNvSpPr/>
          <p:nvPr/>
        </p:nvSpPr>
        <p:spPr>
          <a:xfrm>
            <a:off x="411480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ngee_pastille"/>
          <p:cNvSpPr/>
          <p:nvPr/>
        </p:nvSpPr>
        <p:spPr>
          <a:xfrm>
            <a:off x="448056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ngee_pastille"/>
          <p:cNvSpPr/>
          <p:nvPr/>
        </p:nvSpPr>
        <p:spPr>
          <a:xfrm>
            <a:off x="484632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angee_pastille"/>
          <p:cNvSpPr/>
          <p:nvPr/>
        </p:nvSpPr>
        <p:spPr>
          <a:xfrm>
            <a:off x="521208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angee_pastille"/>
          <p:cNvSpPr/>
          <p:nvPr/>
        </p:nvSpPr>
        <p:spPr>
          <a:xfrm>
            <a:off x="557784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ngee_pastille"/>
          <p:cNvSpPr/>
          <p:nvPr/>
        </p:nvSpPr>
        <p:spPr>
          <a:xfrm>
            <a:off x="594360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angee_pastille"/>
          <p:cNvSpPr/>
          <p:nvPr/>
        </p:nvSpPr>
        <p:spPr>
          <a:xfrm>
            <a:off x="630936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angee_pastille"/>
          <p:cNvSpPr/>
          <p:nvPr/>
        </p:nvSpPr>
        <p:spPr>
          <a:xfrm>
            <a:off x="667512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ngee_pastille"/>
          <p:cNvSpPr/>
          <p:nvPr/>
        </p:nvSpPr>
        <p:spPr>
          <a:xfrm>
            <a:off x="704088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angee_pastille"/>
          <p:cNvSpPr/>
          <p:nvPr/>
        </p:nvSpPr>
        <p:spPr>
          <a:xfrm>
            <a:off x="740664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777240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813816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850392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886968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923544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9601200" y="334670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o27" descr="MODE COOP"/>
          <p:cNvPicPr>
            <a:picLocks noChangeAspect="1"/>
          </p:cNvPicPr>
          <p:nvPr/>
        </p:nvPicPr>
        <p:blipFill>
          <a:blip r:embed="rId11"/>
          <a:stretch>
            <a:fillRect/>
          </a:stretch>
        </p:blipFill>
        <p:spPr>
          <a:xfrm>
            <a:off x="5437479" y="4069080"/>
            <a:ext cx="1316736" cy="146304"/>
          </a:xfrm>
          <a:prstGeom prst="rect">
            <a:avLst/>
          </a:prstGeom>
        </p:spPr>
      </p:pic>
      <p:pic>
        <p:nvPicPr>
          <p:cNvPr id="29" name="o28" descr="1 EQUIPE · 2 BASES"/>
          <p:cNvPicPr>
            <a:picLocks noChangeAspect="1"/>
          </p:cNvPicPr>
          <p:nvPr/>
        </p:nvPicPr>
        <p:blipFill>
          <a:blip r:embed="rId12"/>
          <a:stretch>
            <a:fillRect/>
          </a:stretch>
        </p:blipFill>
        <p:spPr>
          <a:xfrm>
            <a:off x="3955008" y="4343400"/>
            <a:ext cx="4281678" cy="237744"/>
          </a:xfrm>
          <a:prstGeom prst="rect">
            <a:avLst/>
          </a:prstGeom>
        </p:spPr>
      </p:pic>
      <p:pic>
        <p:nvPicPr>
          <p:cNvPr id="30" name="o29" descr="CONTINUE ?"/>
          <p:cNvPicPr>
            <a:picLocks noChangeAspect="1"/>
          </p:cNvPicPr>
          <p:nvPr/>
        </p:nvPicPr>
        <p:blipFill>
          <a:blip r:embed="rId13"/>
          <a:stretch>
            <a:fillRect/>
          </a:stretch>
        </p:blipFill>
        <p:spPr>
          <a:xfrm>
            <a:off x="5181447" y="4892040"/>
            <a:ext cx="1828800" cy="182880"/>
          </a:xfrm>
          <a:prstGeom prst="rect">
            <a:avLst/>
          </a:prstGeom>
        </p:spPr>
      </p:pic>
      <p:pic>
        <p:nvPicPr>
          <p:cNvPr id="31" name="o30" descr="© 2026 PGE3 · 23 OCTOBRE"/>
          <p:cNvPicPr>
            <a:picLocks noChangeAspect="1"/>
          </p:cNvPicPr>
          <p:nvPr/>
        </p:nvPicPr>
        <p:blipFill>
          <a:blip r:embed="rId14"/>
          <a:stretch>
            <a:fillRect/>
          </a:stretch>
        </p:blipFill>
        <p:spPr>
          <a:xfrm>
            <a:off x="4559655" y="5440680"/>
            <a:ext cx="3072384" cy="128016"/>
          </a:xfrm>
          <a:prstGeom prst="rect">
            <a:avLst/>
          </a:prstGeom>
        </p:spPr>
      </p:pic>
      <p:pic>
        <p:nvPicPr>
          <p:cNvPr id="32" name="fin_pastille" descr="image-1-13.gif"/>
          <p:cNvPicPr>
            <a:picLocks noChangeAspect="1"/>
          </p:cNvPicPr>
          <p:nvPr/>
        </p:nvPicPr>
        <p:blipFill>
          <a:blip r:embed="rId15"/>
          <a:stretch>
            <a:fillRect/>
          </a:stretch>
        </p:blipFill>
        <p:spPr>
          <a:xfrm>
            <a:off x="11448288" y="6355080"/>
            <a:ext cx="182880" cy="182880"/>
          </a:xfrm>
          <a:prstGeom prst="rect">
            <a:avLst/>
          </a:prstGeom>
        </p:spPr>
      </p:pic>
      <p:pic>
        <p:nvPicPr>
          <p:cNvPr id="33" name="barre_fantome" descr="image-1-15.gif"/>
          <p:cNvPicPr>
            <a:picLocks noChangeAspect="1"/>
          </p:cNvPicPr>
          <p:nvPr/>
        </p:nvPicPr>
        <p:blipFill>
          <a:blip r:embed="rId9"/>
          <a:stretch>
            <a:fillRect/>
          </a:stretch>
        </p:blipFill>
        <p:spPr>
          <a:xfrm>
            <a:off x="118872" y="6291072"/>
            <a:ext cx="310896" cy="310896"/>
          </a:xfrm>
          <a:prstGeom prst="rect">
            <a:avLst/>
          </a:prstGeom>
        </p:spPr>
      </p:pic>
      <p:pic>
        <p:nvPicPr>
          <p:cNvPr id="34" name="barre_pacman" descr="image-1-14.gif"/>
          <p:cNvPicPr>
            <a:picLocks noChangeAspect="1"/>
          </p:cNvPicPr>
          <p:nvPr/>
        </p:nvPicPr>
        <p:blipFill>
          <a:blip r:embed="rId10"/>
          <a:stretch>
            <a:fillRect/>
          </a:stretch>
        </p:blipFill>
        <p:spPr>
          <a:xfrm>
            <a:off x="685800" y="6291072"/>
            <a:ext cx="310896" cy="310896"/>
          </a:xfrm>
          <a:prstGeom prst="rect">
            <a:avLst/>
          </a:prstGeom>
        </p:spPr>
      </p:pic>
      <p:sp>
        <p:nvSpPr>
          <p:cNvPr id="35" name="barre_pastille_1.25"/>
          <p:cNvSpPr/>
          <p:nvPr/>
        </p:nvSpPr>
        <p:spPr>
          <a:xfrm>
            <a:off x="1143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1.50"/>
          <p:cNvSpPr/>
          <p:nvPr/>
        </p:nvSpPr>
        <p:spPr>
          <a:xfrm>
            <a:off x="1371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1.75"/>
          <p:cNvSpPr/>
          <p:nvPr/>
        </p:nvSpPr>
        <p:spPr>
          <a:xfrm>
            <a:off x="1600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2.00"/>
          <p:cNvSpPr/>
          <p:nvPr/>
        </p:nvSpPr>
        <p:spPr>
          <a:xfrm>
            <a:off x="1828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2.25"/>
          <p:cNvSpPr/>
          <p:nvPr/>
        </p:nvSpPr>
        <p:spPr>
          <a:xfrm>
            <a:off x="2057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2.50"/>
          <p:cNvSpPr/>
          <p:nvPr/>
        </p:nvSpPr>
        <p:spPr>
          <a:xfrm>
            <a:off x="2286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2.75"/>
          <p:cNvSpPr/>
          <p:nvPr/>
        </p:nvSpPr>
        <p:spPr>
          <a:xfrm>
            <a:off x="2514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3.00"/>
          <p:cNvSpPr/>
          <p:nvPr/>
        </p:nvSpPr>
        <p:spPr>
          <a:xfrm>
            <a:off x="2743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3.25"/>
          <p:cNvSpPr/>
          <p:nvPr/>
        </p:nvSpPr>
        <p:spPr>
          <a:xfrm>
            <a:off x="2971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3.50"/>
          <p:cNvSpPr/>
          <p:nvPr/>
        </p:nvSpPr>
        <p:spPr>
          <a:xfrm>
            <a:off x="3200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3.75"/>
          <p:cNvSpPr/>
          <p:nvPr/>
        </p:nvSpPr>
        <p:spPr>
          <a:xfrm>
            <a:off x="3429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33"/>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34"/>
                                        </p:tgtEl>
                                        <p:attrNameLst>
                                          <p:attrName>ppt_x</p:attrName>
                                          <p:attrName>ppt_y</p:attrName>
                                        </p:attrNameLst>
                                      </p:cBhvr>
                                    </p:animMotion>
                                  </p:childTnLst>
                                </p:cTn>
                              </p:par>
                              <p:par>
                                <p:cTn id="9" presetID="1" presetClass="exit" presetSubtype="0" fill="hold" nodeType="withEffect">
                                  <p:stCondLst>
                                    <p:cond delay="333"/>
                                  </p:stCondLst>
                                  <p:childTnLst>
                                    <p:set>
                                      <p:cBhvr>
                                        <p:cTn id="10" dur="1" fill="hold">
                                          <p:stCondLst>
                                            <p:cond delay="0"/>
                                          </p:stCondLst>
                                        </p:cTn>
                                        <p:tgtEl>
                                          <p:spTgt spid="35"/>
                                        </p:tgtEl>
                                        <p:attrNameLst>
                                          <p:attrName>style.visibility</p:attrName>
                                        </p:attrNameLst>
                                      </p:cBhvr>
                                      <p:to>
                                        <p:strVal val="hidden"/>
                                      </p:to>
                                    </p:set>
                                  </p:childTnLst>
                                </p:cTn>
                              </p:par>
                              <p:par>
                                <p:cTn id="11" presetID="1" presetClass="exit" presetSubtype="0" fill="hold" nodeType="withEffect">
                                  <p:stCondLst>
                                    <p:cond delay="750"/>
                                  </p:stCondLst>
                                  <p:childTnLst>
                                    <p:set>
                                      <p:cBhvr>
                                        <p:cTn id="12" dur="1" fill="hold">
                                          <p:stCondLst>
                                            <p:cond delay="0"/>
                                          </p:stCondLst>
                                        </p:cTn>
                                        <p:tgtEl>
                                          <p:spTgt spid="36"/>
                                        </p:tgtEl>
                                        <p:attrNameLst>
                                          <p:attrName>style.visibility</p:attrName>
                                        </p:attrNameLst>
                                      </p:cBhvr>
                                      <p:to>
                                        <p:strVal val="hidden"/>
                                      </p:to>
                                    </p:set>
                                  </p:childTnLst>
                                </p:cTn>
                              </p:par>
                              <p:par>
                                <p:cTn id="13" presetID="0" presetClass="path" presetSubtype="0" fill="hold" nodeType="withEffect">
                                  <p:stCondLst>
                                    <p:cond delay="300"/>
                                  </p:stCondLst>
                                  <p:childTnLst>
                                    <p:animMotion origin="layout" path="M 0 0 L 0.55501 0 E" pathEditMode="relative" ptsTypes="">
                                      <p:cBhvr>
                                        <p:cTn id="14" dur="3000" fill="hold"/>
                                        <p:tgtEl>
                                          <p:spTgt spid="6"/>
                                        </p:tgtEl>
                                        <p:attrNameLst>
                                          <p:attrName>ppt_x</p:attrName>
                                          <p:attrName>ppt_y</p:attrName>
                                        </p:attrNameLst>
                                      </p:cBhvr>
                                    </p:animMotion>
                                  </p:childTnLst>
                                </p:cTn>
                              </p:par>
                              <p:par>
                                <p:cTn id="15" presetID="0" presetClass="path" presetSubtype="0" fill="hold" nodeType="withEffect">
                                  <p:stCondLst>
                                    <p:cond delay="300"/>
                                  </p:stCondLst>
                                  <p:childTnLst>
                                    <p:animMotion origin="layout" path="M 0 0 L 0.55501 0 E" pathEditMode="relative" ptsTypes="">
                                      <p:cBhvr>
                                        <p:cTn id="16" dur="3000" fill="hold"/>
                                        <p:tgtEl>
                                          <p:spTgt spid="7"/>
                                        </p:tgtEl>
                                        <p:attrNameLst>
                                          <p:attrName>ppt_x</p:attrName>
                                          <p:attrName>ppt_y</p:attrName>
                                        </p:attrNameLst>
                                      </p:cBhvr>
                                    </p:animMotion>
                                  </p:childTnLst>
                                </p:cTn>
                              </p:par>
                              <p:par>
                                <p:cTn id="17" presetID="0" presetClass="path" presetSubtype="0" fill="hold" nodeType="withEffect">
                                  <p:stCondLst>
                                    <p:cond delay="300"/>
                                  </p:stCondLst>
                                  <p:childTnLst>
                                    <p:animMotion origin="layout" path="M 0 0 L 0.55501 0 E" pathEditMode="relative" ptsTypes="">
                                      <p:cBhvr>
                                        <p:cTn id="18" dur="3000" fill="hold"/>
                                        <p:tgtEl>
                                          <p:spTgt spid="8"/>
                                        </p:tgtEl>
                                        <p:attrNameLst>
                                          <p:attrName>ppt_x</p:attrName>
                                          <p:attrName>ppt_y</p:attrName>
                                        </p:attrNameLst>
                                      </p:cBhvr>
                                    </p:animMotion>
                                  </p:childTnLst>
                                </p:cTn>
                              </p:par>
                              <p:par>
                                <p:cTn id="19" presetID="0" presetClass="path" presetSubtype="0" fill="hold" nodeType="withEffect">
                                  <p:stCondLst>
                                    <p:cond delay="300"/>
                                  </p:stCondLst>
                                  <p:childTnLst>
                                    <p:animMotion origin="layout" path="M 0 0 L 0.55501 0 E" pathEditMode="relative" ptsTypes="">
                                      <p:cBhvr>
                                        <p:cTn id="20" dur="3000" fill="hold"/>
                                        <p:tgtEl>
                                          <p:spTgt spid="9"/>
                                        </p:tgtEl>
                                        <p:attrNameLst>
                                          <p:attrName>ppt_x</p:attrName>
                                          <p:attrName>ppt_y</p:attrName>
                                        </p:attrNameLst>
                                      </p:cBhvr>
                                    </p:animMotion>
                                  </p:childTnLst>
                                </p:cTn>
                              </p:par>
                              <p:par>
                                <p:cTn id="21" presetID="0" presetClass="path" presetSubtype="0" fill="hold" nodeType="withEffect">
                                  <p:stCondLst>
                                    <p:cond delay="300"/>
                                  </p:stCondLst>
                                  <p:childTnLst>
                                    <p:animMotion origin="layout" path="M 0 0 L 0.55501 0 E" pathEditMode="relative" ptsTypes="">
                                      <p:cBhvr>
                                        <p:cTn id="22" dur="3000" fill="hold"/>
                                        <p:tgtEl>
                                          <p:spTgt spid="10"/>
                                        </p:tgtEl>
                                        <p:attrNameLst>
                                          <p:attrName>ppt_x</p:attrName>
                                          <p:attrName>ppt_y</p:attrName>
                                        </p:attrNameLst>
                                      </p:cBhvr>
                                    </p:animMotion>
                                  </p:childTnLst>
                                </p:cTn>
                              </p:par>
                              <p:par>
                                <p:cTn id="23" presetID="1" presetClass="exit" presetSubtype="0" fill="hold" nodeType="withEffect">
                                  <p:stCondLst>
                                    <p:cond delay="45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nodeType="withEffect">
                                  <p:stCondLst>
                                    <p:cond delay="612"/>
                                  </p:stCondLst>
                                  <p:childTnLst>
                                    <p:set>
                                      <p:cBhvr>
                                        <p:cTn id="26" dur="1" fill="hold">
                                          <p:stCondLst>
                                            <p:cond delay="0"/>
                                          </p:stCondLst>
                                        </p:cTn>
                                        <p:tgtEl>
                                          <p:spTgt spid="12"/>
                                        </p:tgtEl>
                                        <p:attrNameLst>
                                          <p:attrName>style.visibility</p:attrName>
                                        </p:attrNameLst>
                                      </p:cBhvr>
                                      <p:to>
                                        <p:strVal val="hidden"/>
                                      </p:to>
                                    </p:set>
                                  </p:childTnLst>
                                </p:cTn>
                              </p:par>
                              <p:par>
                                <p:cTn id="27" presetID="1" presetClass="exit" presetSubtype="0" fill="hold" nodeType="withEffect">
                                  <p:stCondLst>
                                    <p:cond delay="774"/>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xit" presetSubtype="0" fill="hold" nodeType="withEffect">
                                  <p:stCondLst>
                                    <p:cond delay="936"/>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nodeType="withEffect">
                                  <p:stCondLst>
                                    <p:cond delay="1099"/>
                                  </p:stCondLst>
                                  <p:childTnLst>
                                    <p:set>
                                      <p:cBhvr>
                                        <p:cTn id="32" dur="1" fill="hold">
                                          <p:stCondLst>
                                            <p:cond delay="0"/>
                                          </p:stCondLst>
                                        </p:cTn>
                                        <p:tgtEl>
                                          <p:spTgt spid="15"/>
                                        </p:tgtEl>
                                        <p:attrNameLst>
                                          <p:attrName>style.visibility</p:attrName>
                                        </p:attrNameLst>
                                      </p:cBhvr>
                                      <p:to>
                                        <p:strVal val="hidden"/>
                                      </p:to>
                                    </p:set>
                                  </p:childTnLst>
                                </p:cTn>
                              </p:par>
                              <p:par>
                                <p:cTn id="33" presetID="1" presetClass="exit" presetSubtype="0" fill="hold" nodeType="withEffect">
                                  <p:stCondLst>
                                    <p:cond delay="1261"/>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xit" presetSubtype="0" fill="hold" nodeType="withEffect">
                                  <p:stCondLst>
                                    <p:cond delay="1423"/>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xit" presetSubtype="0" fill="hold" nodeType="withEffect">
                                  <p:stCondLst>
                                    <p:cond delay="1585"/>
                                  </p:stCondLst>
                                  <p:childTnLst>
                                    <p:set>
                                      <p:cBhvr>
                                        <p:cTn id="38" dur="1" fill="hold">
                                          <p:stCondLst>
                                            <p:cond delay="0"/>
                                          </p:stCondLst>
                                        </p:cTn>
                                        <p:tgtEl>
                                          <p:spTgt spid="18"/>
                                        </p:tgtEl>
                                        <p:attrNameLst>
                                          <p:attrName>style.visibility</p:attrName>
                                        </p:attrNameLst>
                                      </p:cBhvr>
                                      <p:to>
                                        <p:strVal val="hidden"/>
                                      </p:to>
                                    </p:set>
                                  </p:childTnLst>
                                </p:cTn>
                              </p:par>
                              <p:par>
                                <p:cTn id="39" presetID="1" presetClass="exit" presetSubtype="0" fill="hold" nodeType="withEffect">
                                  <p:stCondLst>
                                    <p:cond delay="1747"/>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nodeType="withEffect">
                                  <p:stCondLst>
                                    <p:cond delay="1909"/>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nodeType="withEffect">
                                  <p:stCondLst>
                                    <p:cond delay="2072"/>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xit" presetSubtype="0" fill="hold" nodeType="withEffect">
                                  <p:stCondLst>
                                    <p:cond delay="2234"/>
                                  </p:stCondLst>
                                  <p:childTnLst>
                                    <p:set>
                                      <p:cBhvr>
                                        <p:cTn id="46" dur="1" fill="hold">
                                          <p:stCondLst>
                                            <p:cond delay="0"/>
                                          </p:stCondLst>
                                        </p:cTn>
                                        <p:tgtEl>
                                          <p:spTgt spid="22"/>
                                        </p:tgtEl>
                                        <p:attrNameLst>
                                          <p:attrName>style.visibility</p:attrName>
                                        </p:attrNameLst>
                                      </p:cBhvr>
                                      <p:to>
                                        <p:strVal val="hidden"/>
                                      </p:to>
                                    </p:set>
                                  </p:childTnLst>
                                </p:cTn>
                              </p:par>
                              <p:par>
                                <p:cTn id="47" presetID="1" presetClass="exit" presetSubtype="0" fill="hold" nodeType="withEffect">
                                  <p:stCondLst>
                                    <p:cond delay="2396"/>
                                  </p:stCondLst>
                                  <p:childTnLst>
                                    <p:set>
                                      <p:cBhvr>
                                        <p:cTn id="48" dur="1" fill="hold">
                                          <p:stCondLst>
                                            <p:cond delay="0"/>
                                          </p:stCondLst>
                                        </p:cTn>
                                        <p:tgtEl>
                                          <p:spTgt spid="23"/>
                                        </p:tgtEl>
                                        <p:attrNameLst>
                                          <p:attrName>style.visibility</p:attrName>
                                        </p:attrNameLst>
                                      </p:cBhvr>
                                      <p:to>
                                        <p:strVal val="hidden"/>
                                      </p:to>
                                    </p:set>
                                  </p:childTnLst>
                                </p:cTn>
                              </p:par>
                              <p:par>
                                <p:cTn id="49" presetID="1" presetClass="exit" presetSubtype="0" fill="hold" nodeType="withEffect">
                                  <p:stCondLst>
                                    <p:cond delay="2558"/>
                                  </p:stCondLst>
                                  <p:childTnLst>
                                    <p:set>
                                      <p:cBhvr>
                                        <p:cTn id="50" dur="1" fill="hold">
                                          <p:stCondLst>
                                            <p:cond delay="0"/>
                                          </p:stCondLst>
                                        </p:cTn>
                                        <p:tgtEl>
                                          <p:spTgt spid="24"/>
                                        </p:tgtEl>
                                        <p:attrNameLst>
                                          <p:attrName>style.visibility</p:attrName>
                                        </p:attrNameLst>
                                      </p:cBhvr>
                                      <p:to>
                                        <p:strVal val="hidden"/>
                                      </p:to>
                                    </p:set>
                                  </p:childTnLst>
                                </p:cTn>
                              </p:par>
                              <p:par>
                                <p:cTn id="51" presetID="1" presetClass="exit" presetSubtype="0" fill="hold" nodeType="withEffect">
                                  <p:stCondLst>
                                    <p:cond delay="2720"/>
                                  </p:stCondLst>
                                  <p:childTnLst>
                                    <p:set>
                                      <p:cBhvr>
                                        <p:cTn id="52" dur="1" fill="hold">
                                          <p:stCondLst>
                                            <p:cond delay="0"/>
                                          </p:stCondLst>
                                        </p:cTn>
                                        <p:tgtEl>
                                          <p:spTgt spid="25"/>
                                        </p:tgtEl>
                                        <p:attrNameLst>
                                          <p:attrName>style.visibility</p:attrName>
                                        </p:attrNameLst>
                                      </p:cBhvr>
                                      <p:to>
                                        <p:strVal val="hidden"/>
                                      </p:to>
                                    </p:set>
                                  </p:childTnLst>
                                </p:cTn>
                              </p:par>
                              <p:par>
                                <p:cTn id="53" presetID="1" presetClass="exit" presetSubtype="0" fill="hold" nodeType="withEffect">
                                  <p:stCondLst>
                                    <p:cond delay="2882"/>
                                  </p:stCondLst>
                                  <p:childTnLst>
                                    <p:set>
                                      <p:cBhvr>
                                        <p:cTn id="54" dur="1" fill="hold">
                                          <p:stCondLst>
                                            <p:cond delay="0"/>
                                          </p:stCondLst>
                                        </p:cTn>
                                        <p:tgtEl>
                                          <p:spTgt spid="26"/>
                                        </p:tgtEl>
                                        <p:attrNameLst>
                                          <p:attrName>style.visibility</p:attrName>
                                        </p:attrNameLst>
                                      </p:cBhvr>
                                      <p:to>
                                        <p:strVal val="hidden"/>
                                      </p:to>
                                    </p:set>
                                  </p:childTnLst>
                                </p:cTn>
                              </p:par>
                              <p:par>
                                <p:cTn id="55" presetID="1" presetClass="exit" presetSubtype="0" fill="hold" nodeType="withEffect">
                                  <p:stCondLst>
                                    <p:cond delay="3045"/>
                                  </p:stCondLst>
                                  <p:childTnLst>
                                    <p:set>
                                      <p:cBhvr>
                                        <p:cTn id="56"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MENU → CHOISIS TON NIVEAU"/>
          <p:cNvPicPr>
            <a:picLocks noChangeAspect="1"/>
          </p:cNvPicPr>
          <p:nvPr/>
        </p:nvPicPr>
        <p:blipFill>
          <a:blip r:embed="rId3"/>
          <a:stretch>
            <a:fillRect/>
          </a:stretch>
        </p:blipFill>
        <p:spPr>
          <a:xfrm>
            <a:off x="548640" y="411480"/>
            <a:ext cx="3657600" cy="146304"/>
          </a:xfrm>
          <a:prstGeom prst="rect">
            <a:avLst/>
          </a:prstGeom>
        </p:spPr>
      </p:pic>
      <p:pic>
        <p:nvPicPr>
          <p:cNvPr id="3" name="o2" descr="Notre parcours"/>
          <p:cNvPicPr>
            <a:picLocks noChangeAspect="1"/>
          </p:cNvPicPr>
          <p:nvPr/>
        </p:nvPicPr>
        <p:blipFill>
          <a:blip r:embed="rId4"/>
          <a:stretch>
            <a:fillRect/>
          </a:stretch>
        </p:blipFill>
        <p:spPr>
          <a:xfrm>
            <a:off x="548640" y="777240"/>
            <a:ext cx="3840480" cy="274320"/>
          </a:xfrm>
          <a:prstGeom prst="rect">
            <a:avLst/>
          </a:prstGeom>
        </p:spPr>
      </p:pic>
      <p:pic>
        <p:nvPicPr>
          <p:cNvPr id="4" name="o3" descr="icone_etoile.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o6" descr="LEVEL 1"/>
          <p:cNvPicPr>
            <a:picLocks noChangeAspect="1"/>
          </p:cNvPicPr>
          <p:nvPr/>
        </p:nvPicPr>
        <p:blipFill>
          <a:blip r:embed="rId6"/>
          <a:stretch>
            <a:fillRect/>
          </a:stretch>
        </p:blipFill>
        <p:spPr>
          <a:xfrm>
            <a:off x="896111" y="1920240"/>
            <a:ext cx="1024128" cy="146304"/>
          </a:xfrm>
          <a:prstGeom prst="rect">
            <a:avLst/>
          </a:prstGeom>
        </p:spPr>
      </p:pic>
      <p:pic>
        <p:nvPicPr>
          <p:cNvPr id="8" name="o7" descr="image-2-7.png"/>
          <p:cNvPicPr>
            <a:picLocks noChangeAspect="1"/>
          </p:cNvPicPr>
          <p:nvPr/>
        </p:nvPicPr>
        <p:blipFill>
          <a:blip r:embed="rId7"/>
          <a:stretch>
            <a:fillRect/>
          </a:stretch>
        </p:blipFill>
        <p:spPr>
          <a:xfrm>
            <a:off x="1042416" y="2286000"/>
            <a:ext cx="731520" cy="731520"/>
          </a:xfrm>
          <a:prstGeom prst="rect">
            <a:avLst/>
          </a:prstGeom>
        </p:spPr>
      </p:pic>
      <p:pic>
        <p:nvPicPr>
          <p:cNvPr id="9" name="o8" descr="MISSION"/>
          <p:cNvPicPr>
            <a:picLocks noChangeAspect="1"/>
          </p:cNvPicPr>
          <p:nvPr/>
        </p:nvPicPr>
        <p:blipFill>
          <a:blip r:embed="rId8"/>
          <a:stretch>
            <a:fillRect/>
          </a:stretch>
        </p:blipFill>
        <p:spPr>
          <a:xfrm>
            <a:off x="864107" y="3246120"/>
            <a:ext cx="1088136" cy="155448"/>
          </a:xfrm>
          <a:prstGeom prst="rect">
            <a:avLst/>
          </a:prstGeom>
        </p:spPr>
      </p:pic>
      <p:sp>
        <p:nvSpPr>
          <p:cNvPr id="10" name="o9"/>
          <p:cNvSpPr txBox="1"/>
          <p:nvPr/>
        </p:nvSpPr>
        <p:spPr>
          <a:xfrm>
            <a:off x="640080"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La 2e source</a:t>
            </a:r>
          </a:p>
        </p:txBody>
      </p:sp>
      <p:sp>
        <p:nvSpPr>
          <p:cNvPr id="11" name="o10"/>
          <p:cNvSpPr/>
          <p:nvPr/>
        </p:nvSpPr>
        <p:spPr>
          <a:xfrm>
            <a:off x="2423160"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11"/>
          <p:cNvSpPr/>
          <p:nvPr/>
        </p:nvSpPr>
        <p:spPr>
          <a:xfrm>
            <a:off x="2491740"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o12" descr="LEVEL 2"/>
          <p:cNvPicPr>
            <a:picLocks noChangeAspect="1"/>
          </p:cNvPicPr>
          <p:nvPr/>
        </p:nvPicPr>
        <p:blipFill>
          <a:blip r:embed="rId9"/>
          <a:stretch>
            <a:fillRect/>
          </a:stretch>
        </p:blipFill>
        <p:spPr>
          <a:xfrm>
            <a:off x="2770632" y="1920240"/>
            <a:ext cx="1024128" cy="146304"/>
          </a:xfrm>
          <a:prstGeom prst="rect">
            <a:avLst/>
          </a:prstGeom>
        </p:spPr>
      </p:pic>
      <p:pic>
        <p:nvPicPr>
          <p:cNvPr id="14" name="o13" descr="image-2-10.png"/>
          <p:cNvPicPr>
            <a:picLocks noChangeAspect="1"/>
          </p:cNvPicPr>
          <p:nvPr/>
        </p:nvPicPr>
        <p:blipFill>
          <a:blip r:embed="rId10"/>
          <a:stretch>
            <a:fillRect/>
          </a:stretch>
        </p:blipFill>
        <p:spPr>
          <a:xfrm>
            <a:off x="2916936" y="2286000"/>
            <a:ext cx="731520" cy="731520"/>
          </a:xfrm>
          <a:prstGeom prst="rect">
            <a:avLst/>
          </a:prstGeom>
        </p:spPr>
      </p:pic>
      <p:pic>
        <p:nvPicPr>
          <p:cNvPr id="15" name="o14" descr="NETTOYAGE"/>
          <p:cNvPicPr>
            <a:picLocks noChangeAspect="1"/>
          </p:cNvPicPr>
          <p:nvPr/>
        </p:nvPicPr>
        <p:blipFill>
          <a:blip r:embed="rId11"/>
          <a:stretch>
            <a:fillRect/>
          </a:stretch>
        </p:blipFill>
        <p:spPr>
          <a:xfrm>
            <a:off x="2583179" y="3246120"/>
            <a:ext cx="1399032" cy="155448"/>
          </a:xfrm>
          <a:prstGeom prst="rect">
            <a:avLst/>
          </a:prstGeom>
        </p:spPr>
      </p:pic>
      <p:sp>
        <p:nvSpPr>
          <p:cNvPr id="16" name="o15"/>
          <p:cNvSpPr txBox="1"/>
          <p:nvPr/>
        </p:nvSpPr>
        <p:spPr>
          <a:xfrm>
            <a:off x="2514600"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Nouveaux fantômes</a:t>
            </a:r>
          </a:p>
        </p:txBody>
      </p:sp>
      <p:sp>
        <p:nvSpPr>
          <p:cNvPr id="17" name="o16"/>
          <p:cNvSpPr/>
          <p:nvPr/>
        </p:nvSpPr>
        <p:spPr>
          <a:xfrm>
            <a:off x="4297679"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17"/>
          <p:cNvSpPr/>
          <p:nvPr/>
        </p:nvSpPr>
        <p:spPr>
          <a:xfrm>
            <a:off x="4366259"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o18" descr="LEVEL 3"/>
          <p:cNvPicPr>
            <a:picLocks noChangeAspect="1"/>
          </p:cNvPicPr>
          <p:nvPr/>
        </p:nvPicPr>
        <p:blipFill>
          <a:blip r:embed="rId12"/>
          <a:stretch>
            <a:fillRect/>
          </a:stretch>
        </p:blipFill>
        <p:spPr>
          <a:xfrm>
            <a:off x="4645151" y="1920240"/>
            <a:ext cx="1024128" cy="146304"/>
          </a:xfrm>
          <a:prstGeom prst="rect">
            <a:avLst/>
          </a:prstGeom>
        </p:spPr>
      </p:pic>
      <p:pic>
        <p:nvPicPr>
          <p:cNvPr id="20" name="o19" descr="image-2-13.png"/>
          <p:cNvPicPr>
            <a:picLocks noChangeAspect="1"/>
          </p:cNvPicPr>
          <p:nvPr/>
        </p:nvPicPr>
        <p:blipFill>
          <a:blip r:embed="rId13"/>
          <a:stretch>
            <a:fillRect/>
          </a:stretch>
        </p:blipFill>
        <p:spPr>
          <a:xfrm>
            <a:off x="4791455" y="2286000"/>
            <a:ext cx="731520" cy="731520"/>
          </a:xfrm>
          <a:prstGeom prst="rect">
            <a:avLst/>
          </a:prstGeom>
        </p:spPr>
      </p:pic>
      <p:pic>
        <p:nvPicPr>
          <p:cNvPr id="21" name="o20" descr="JOINTURE"/>
          <p:cNvPicPr>
            <a:picLocks noChangeAspect="1"/>
          </p:cNvPicPr>
          <p:nvPr/>
        </p:nvPicPr>
        <p:blipFill>
          <a:blip r:embed="rId14"/>
          <a:stretch>
            <a:fillRect/>
          </a:stretch>
        </p:blipFill>
        <p:spPr>
          <a:xfrm>
            <a:off x="4535423" y="3246120"/>
            <a:ext cx="1243584" cy="155448"/>
          </a:xfrm>
          <a:prstGeom prst="rect">
            <a:avLst/>
          </a:prstGeom>
        </p:spPr>
      </p:pic>
      <p:sp>
        <p:nvSpPr>
          <p:cNvPr id="22" name="o21"/>
          <p:cNvSpPr txBox="1"/>
          <p:nvPr/>
        </p:nvSpPr>
        <p:spPr>
          <a:xfrm>
            <a:off x="4389119"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Relier 2 bases</a:t>
            </a:r>
          </a:p>
        </p:txBody>
      </p:sp>
      <p:sp>
        <p:nvSpPr>
          <p:cNvPr id="23" name="o22"/>
          <p:cNvSpPr/>
          <p:nvPr/>
        </p:nvSpPr>
        <p:spPr>
          <a:xfrm>
            <a:off x="6172199"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23"/>
          <p:cNvSpPr/>
          <p:nvPr/>
        </p:nvSpPr>
        <p:spPr>
          <a:xfrm>
            <a:off x="6240779"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o24" descr="LEVEL 4"/>
          <p:cNvPicPr>
            <a:picLocks noChangeAspect="1"/>
          </p:cNvPicPr>
          <p:nvPr/>
        </p:nvPicPr>
        <p:blipFill>
          <a:blip r:embed="rId15"/>
          <a:stretch>
            <a:fillRect/>
          </a:stretch>
        </p:blipFill>
        <p:spPr>
          <a:xfrm>
            <a:off x="6519671" y="1920240"/>
            <a:ext cx="1024128" cy="146304"/>
          </a:xfrm>
          <a:prstGeom prst="rect">
            <a:avLst/>
          </a:prstGeom>
        </p:spPr>
      </p:pic>
      <p:pic>
        <p:nvPicPr>
          <p:cNvPr id="26" name="o25" descr="image-10-3.png"/>
          <p:cNvPicPr>
            <a:picLocks noChangeAspect="1"/>
          </p:cNvPicPr>
          <p:nvPr/>
        </p:nvPicPr>
        <p:blipFill>
          <a:blip r:embed="rId16"/>
          <a:stretch>
            <a:fillRect/>
          </a:stretch>
        </p:blipFill>
        <p:spPr>
          <a:xfrm>
            <a:off x="6665975" y="2286000"/>
            <a:ext cx="731520" cy="731520"/>
          </a:xfrm>
          <a:prstGeom prst="rect">
            <a:avLst/>
          </a:prstGeom>
        </p:spPr>
      </p:pic>
      <p:pic>
        <p:nvPicPr>
          <p:cNvPr id="27" name="o26" descr="INSIGHTS"/>
          <p:cNvPicPr>
            <a:picLocks noChangeAspect="1"/>
          </p:cNvPicPr>
          <p:nvPr/>
        </p:nvPicPr>
        <p:blipFill>
          <a:blip r:embed="rId17"/>
          <a:stretch>
            <a:fillRect/>
          </a:stretch>
        </p:blipFill>
        <p:spPr>
          <a:xfrm>
            <a:off x="6409943" y="3246120"/>
            <a:ext cx="1243584" cy="155448"/>
          </a:xfrm>
          <a:prstGeom prst="rect">
            <a:avLst/>
          </a:prstGeom>
        </p:spPr>
      </p:pic>
      <p:sp>
        <p:nvSpPr>
          <p:cNvPr id="28" name="o27"/>
          <p:cNvSpPr txBox="1"/>
          <p:nvPr/>
        </p:nvSpPr>
        <p:spPr>
          <a:xfrm>
            <a:off x="6263639"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4 découvertes</a:t>
            </a:r>
          </a:p>
        </p:txBody>
      </p:sp>
      <p:sp>
        <p:nvSpPr>
          <p:cNvPr id="29" name="o28"/>
          <p:cNvSpPr/>
          <p:nvPr/>
        </p:nvSpPr>
        <p:spPr>
          <a:xfrm>
            <a:off x="8046719"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29"/>
          <p:cNvSpPr/>
          <p:nvPr/>
        </p:nvSpPr>
        <p:spPr>
          <a:xfrm>
            <a:off x="8115299"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o30" descr="LEVEL 5"/>
          <p:cNvPicPr>
            <a:picLocks noChangeAspect="1"/>
          </p:cNvPicPr>
          <p:nvPr/>
        </p:nvPicPr>
        <p:blipFill>
          <a:blip r:embed="rId18"/>
          <a:stretch>
            <a:fillRect/>
          </a:stretch>
        </p:blipFill>
        <p:spPr>
          <a:xfrm>
            <a:off x="8394192" y="1920240"/>
            <a:ext cx="1024128" cy="146304"/>
          </a:xfrm>
          <a:prstGeom prst="rect">
            <a:avLst/>
          </a:prstGeom>
        </p:spPr>
      </p:pic>
      <p:pic>
        <p:nvPicPr>
          <p:cNvPr id="32" name="o31" descr="image-14-1.png"/>
          <p:cNvPicPr>
            <a:picLocks noChangeAspect="1"/>
          </p:cNvPicPr>
          <p:nvPr/>
        </p:nvPicPr>
        <p:blipFill>
          <a:blip r:embed="rId19"/>
          <a:stretch>
            <a:fillRect/>
          </a:stretch>
        </p:blipFill>
        <p:spPr>
          <a:xfrm>
            <a:off x="8540496" y="2286000"/>
            <a:ext cx="731520" cy="731520"/>
          </a:xfrm>
          <a:prstGeom prst="rect">
            <a:avLst/>
          </a:prstGeom>
        </p:spPr>
      </p:pic>
      <p:pic>
        <p:nvPicPr>
          <p:cNvPr id="33" name="o32" descr="BOSS"/>
          <p:cNvPicPr>
            <a:picLocks noChangeAspect="1"/>
          </p:cNvPicPr>
          <p:nvPr/>
        </p:nvPicPr>
        <p:blipFill>
          <a:blip r:embed="rId20"/>
          <a:stretch>
            <a:fillRect/>
          </a:stretch>
        </p:blipFill>
        <p:spPr>
          <a:xfrm>
            <a:off x="8595359" y="3246120"/>
            <a:ext cx="621792" cy="155448"/>
          </a:xfrm>
          <a:prstGeom prst="rect">
            <a:avLst/>
          </a:prstGeom>
        </p:spPr>
      </p:pic>
      <p:sp>
        <p:nvSpPr>
          <p:cNvPr id="34" name="o33"/>
          <p:cNvSpPr txBox="1"/>
          <p:nvPr/>
        </p:nvSpPr>
        <p:spPr>
          <a:xfrm>
            <a:off x="8138159"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MPI + qualité</a:t>
            </a:r>
          </a:p>
        </p:txBody>
      </p:sp>
      <p:sp>
        <p:nvSpPr>
          <p:cNvPr id="35" name="o34"/>
          <p:cNvSpPr/>
          <p:nvPr/>
        </p:nvSpPr>
        <p:spPr>
          <a:xfrm>
            <a:off x="9921240" y="1691640"/>
            <a:ext cx="1719072" cy="2944368"/>
          </a:xfrm>
          <a:prstGeom prst="roundRect">
            <a:avLst>
              <a:gd name="adj" fmla="val 744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35"/>
          <p:cNvSpPr/>
          <p:nvPr/>
        </p:nvSpPr>
        <p:spPr>
          <a:xfrm>
            <a:off x="9989819" y="1760220"/>
            <a:ext cx="1581912" cy="2807208"/>
          </a:xfrm>
          <a:prstGeom prst="roundRect">
            <a:avLst>
              <a:gd name="adj" fmla="val 3757"/>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o36" descr="LEVEL 6"/>
          <p:cNvPicPr>
            <a:picLocks noChangeAspect="1"/>
          </p:cNvPicPr>
          <p:nvPr/>
        </p:nvPicPr>
        <p:blipFill>
          <a:blip r:embed="rId21"/>
          <a:stretch>
            <a:fillRect/>
          </a:stretch>
        </p:blipFill>
        <p:spPr>
          <a:xfrm>
            <a:off x="10268712" y="1920240"/>
            <a:ext cx="1024128" cy="146304"/>
          </a:xfrm>
          <a:prstGeom prst="rect">
            <a:avLst/>
          </a:prstGeom>
        </p:spPr>
      </p:pic>
      <p:pic>
        <p:nvPicPr>
          <p:cNvPr id="38" name="o37" descr="image-16-1.png"/>
          <p:cNvPicPr>
            <a:picLocks noChangeAspect="1"/>
          </p:cNvPicPr>
          <p:nvPr/>
        </p:nvPicPr>
        <p:blipFill>
          <a:blip r:embed="rId22"/>
          <a:stretch>
            <a:fillRect/>
          </a:stretch>
        </p:blipFill>
        <p:spPr>
          <a:xfrm>
            <a:off x="10415016" y="2286000"/>
            <a:ext cx="731520" cy="731520"/>
          </a:xfrm>
          <a:prstGeom prst="rect">
            <a:avLst/>
          </a:prstGeom>
        </p:spPr>
      </p:pic>
      <p:pic>
        <p:nvPicPr>
          <p:cNvPr id="39" name="o38" descr="LIVE DEMO"/>
          <p:cNvPicPr>
            <a:picLocks noChangeAspect="1"/>
          </p:cNvPicPr>
          <p:nvPr/>
        </p:nvPicPr>
        <p:blipFill>
          <a:blip r:embed="rId23"/>
          <a:stretch>
            <a:fillRect/>
          </a:stretch>
        </p:blipFill>
        <p:spPr>
          <a:xfrm>
            <a:off x="10081260" y="3246120"/>
            <a:ext cx="1399032" cy="155448"/>
          </a:xfrm>
          <a:prstGeom prst="rect">
            <a:avLst/>
          </a:prstGeom>
        </p:spPr>
      </p:pic>
      <p:sp>
        <p:nvSpPr>
          <p:cNvPr id="40" name="o39"/>
          <p:cNvSpPr txBox="1"/>
          <p:nvPr/>
        </p:nvSpPr>
        <p:spPr>
          <a:xfrm>
            <a:off x="10012680" y="3703320"/>
            <a:ext cx="1536192" cy="548640"/>
          </a:xfrm>
          <a:prstGeom prst="rect">
            <a:avLst/>
          </a:prstGeom>
          <a:noFill/>
        </p:spPr>
        <p:txBody>
          <a:bodyPr wrap="square" lIns="0" rIns="0" tIns="0" bIns="0" anchor="t">
            <a:spAutoFit/>
          </a:bodyPr>
          <a:lstStyle/>
          <a:p>
            <a:pPr algn="ctr"/>
            <a:r>
              <a:rPr sz="1300" b="0" i="0">
                <a:solidFill>
                  <a:srgbClr val="C4C4E4"/>
                </a:solidFill>
                <a:latin typeface="Arial"/>
              </a:rPr>
              <a:t>Les 2 bases</a:t>
            </a:r>
          </a:p>
        </p:txBody>
      </p:sp>
      <p:sp>
        <p:nvSpPr>
          <p:cNvPr id="41" name="o40"/>
          <p:cNvSpPr/>
          <p:nvPr/>
        </p:nvSpPr>
        <p:spPr>
          <a:xfrm>
            <a:off x="548640" y="4983480"/>
            <a:ext cx="11091672" cy="795528"/>
          </a:xfrm>
          <a:prstGeom prst="roundRect">
            <a:avLst>
              <a:gd name="adj" fmla="val 16091"/>
            </a:avLst>
          </a:prstGeom>
          <a:solidFill>
            <a:srgbClr val="000000"/>
          </a:solidFill>
          <a:ln w="28575">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41"/>
          <p:cNvSpPr/>
          <p:nvPr/>
        </p:nvSpPr>
        <p:spPr>
          <a:xfrm>
            <a:off x="617219" y="5052060"/>
            <a:ext cx="10954512" cy="658368"/>
          </a:xfrm>
          <a:prstGeom prst="roundRect">
            <a:avLst>
              <a:gd name="adj" fmla="val 9027"/>
            </a:avLst>
          </a:prstGeom>
          <a:noFill/>
          <a:ln w="12700">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o42" descr="image-17-12.png"/>
          <p:cNvPicPr>
            <a:picLocks noChangeAspect="1"/>
          </p:cNvPicPr>
          <p:nvPr/>
        </p:nvPicPr>
        <p:blipFill>
          <a:blip r:embed="rId24"/>
          <a:stretch>
            <a:fillRect/>
          </a:stretch>
        </p:blipFill>
        <p:spPr>
          <a:xfrm>
            <a:off x="868680" y="5120640"/>
            <a:ext cx="502920" cy="502920"/>
          </a:xfrm>
          <a:prstGeom prst="rect">
            <a:avLst/>
          </a:prstGeom>
        </p:spPr>
      </p:pic>
      <p:pic>
        <p:nvPicPr>
          <p:cNvPr id="44" name="o43" descr="BONUS"/>
          <p:cNvPicPr>
            <a:picLocks noChangeAspect="1"/>
          </p:cNvPicPr>
          <p:nvPr/>
        </p:nvPicPr>
        <p:blipFill>
          <a:blip r:embed="rId25"/>
          <a:stretch>
            <a:fillRect/>
          </a:stretch>
        </p:blipFill>
        <p:spPr>
          <a:xfrm>
            <a:off x="1554480" y="5294376"/>
            <a:ext cx="777240" cy="155448"/>
          </a:xfrm>
          <a:prstGeom prst="rect">
            <a:avLst/>
          </a:prstGeom>
        </p:spPr>
      </p:pic>
      <p:sp>
        <p:nvSpPr>
          <p:cNvPr id="45" name="o44"/>
          <p:cNvSpPr txBox="1"/>
          <p:nvPr/>
        </p:nvSpPr>
        <p:spPr>
          <a:xfrm>
            <a:off x="2514600" y="5248656"/>
            <a:ext cx="8778240" cy="292608"/>
          </a:xfrm>
          <a:prstGeom prst="rect">
            <a:avLst/>
          </a:prstGeom>
          <a:noFill/>
        </p:spPr>
        <p:txBody>
          <a:bodyPr wrap="square" lIns="0" rIns="0" tIns="0" bIns="0" anchor="t">
            <a:spAutoFit/>
          </a:bodyPr>
          <a:lstStyle/>
          <a:p>
            <a:pPr algn="l"/>
            <a:r>
              <a:rPr sz="1600" b="0" i="0">
                <a:solidFill>
                  <a:srgbClr val="C4C4E4"/>
                </a:solidFill>
                <a:latin typeface="Arial"/>
              </a:rPr>
              <a:t>Le prix de la prestation avant / après, puis les limites et nos recommandations au client</a:t>
            </a:r>
          </a:p>
        </p:txBody>
      </p:sp>
      <p:pic>
        <p:nvPicPr>
          <p:cNvPr id="46" name="fin_pastille" descr="image-1-13.gif"/>
          <p:cNvPicPr>
            <a:picLocks noChangeAspect="1"/>
          </p:cNvPicPr>
          <p:nvPr/>
        </p:nvPicPr>
        <p:blipFill>
          <a:blip r:embed="rId26"/>
          <a:stretch>
            <a:fillRect/>
          </a:stretch>
        </p:blipFill>
        <p:spPr>
          <a:xfrm>
            <a:off x="11448288" y="6355080"/>
            <a:ext cx="182880" cy="182880"/>
          </a:xfrm>
          <a:prstGeom prst="rect">
            <a:avLst/>
          </a:prstGeom>
        </p:spPr>
      </p:pic>
      <p:pic>
        <p:nvPicPr>
          <p:cNvPr id="47" name="barre_fantome" descr="image-1-15.gif"/>
          <p:cNvPicPr>
            <a:picLocks noChangeAspect="1"/>
          </p:cNvPicPr>
          <p:nvPr/>
        </p:nvPicPr>
        <p:blipFill>
          <a:blip r:embed="rId27"/>
          <a:stretch>
            <a:fillRect/>
          </a:stretch>
        </p:blipFill>
        <p:spPr>
          <a:xfrm>
            <a:off x="612648" y="6291072"/>
            <a:ext cx="310896" cy="310896"/>
          </a:xfrm>
          <a:prstGeom prst="rect">
            <a:avLst/>
          </a:prstGeom>
        </p:spPr>
      </p:pic>
      <p:pic>
        <p:nvPicPr>
          <p:cNvPr id="48" name="barre_pacman" descr="image-1-14.gif"/>
          <p:cNvPicPr>
            <a:picLocks noChangeAspect="1"/>
          </p:cNvPicPr>
          <p:nvPr/>
        </p:nvPicPr>
        <p:blipFill>
          <a:blip r:embed="rId28"/>
          <a:stretch>
            <a:fillRect/>
          </a:stretch>
        </p:blipFill>
        <p:spPr>
          <a:xfrm>
            <a:off x="1179576" y="6291072"/>
            <a:ext cx="310896" cy="310896"/>
          </a:xfrm>
          <a:prstGeom prst="rect">
            <a:avLst/>
          </a:prstGeom>
        </p:spPr>
      </p:pic>
      <p:sp>
        <p:nvSpPr>
          <p:cNvPr id="49" name="barre_pastille_1.75"/>
          <p:cNvSpPr/>
          <p:nvPr/>
        </p:nvSpPr>
        <p:spPr>
          <a:xfrm>
            <a:off x="1600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2.00"/>
          <p:cNvSpPr/>
          <p:nvPr/>
        </p:nvSpPr>
        <p:spPr>
          <a:xfrm>
            <a:off x="1828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2.25"/>
          <p:cNvSpPr/>
          <p:nvPr/>
        </p:nvSpPr>
        <p:spPr>
          <a:xfrm>
            <a:off x="2057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2.50"/>
          <p:cNvSpPr/>
          <p:nvPr/>
        </p:nvSpPr>
        <p:spPr>
          <a:xfrm>
            <a:off x="2286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2.75"/>
          <p:cNvSpPr/>
          <p:nvPr/>
        </p:nvSpPr>
        <p:spPr>
          <a:xfrm>
            <a:off x="2514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3.00"/>
          <p:cNvSpPr/>
          <p:nvPr/>
        </p:nvSpPr>
        <p:spPr>
          <a:xfrm>
            <a:off x="2743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3.25"/>
          <p:cNvSpPr/>
          <p:nvPr/>
        </p:nvSpPr>
        <p:spPr>
          <a:xfrm>
            <a:off x="2971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3.50"/>
          <p:cNvSpPr/>
          <p:nvPr/>
        </p:nvSpPr>
        <p:spPr>
          <a:xfrm>
            <a:off x="3200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3.75"/>
          <p:cNvSpPr/>
          <p:nvPr/>
        </p:nvSpPr>
        <p:spPr>
          <a:xfrm>
            <a:off x="3429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7"/>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8"/>
                                        </p:tgtEl>
                                        <p:attrNameLst>
                                          <p:attrName>ppt_x</p:attrName>
                                          <p:attrName>ppt_y</p:attrName>
                                        </p:attrNameLst>
                                      </p:cBhvr>
                                    </p:animMotion>
                                  </p:childTnLst>
                                </p:cTn>
                              </p:par>
                              <p:par>
                                <p:cTn id="9" presetID="1" presetClass="exit" presetSubtype="0" fill="hold" nodeType="withEffect">
                                  <p:stCondLst>
                                    <p:cond delay="267"/>
                                  </p:stCondLst>
                                  <p:childTnLst>
                                    <p:set>
                                      <p:cBhvr>
                                        <p:cTn id="10" dur="1" fill="hold">
                                          <p:stCondLst>
                                            <p:cond delay="0"/>
                                          </p:stCondLst>
                                        </p:cTn>
                                        <p:tgtEl>
                                          <p:spTgt spid="49"/>
                                        </p:tgtEl>
                                        <p:attrNameLst>
                                          <p:attrName>style.visibility</p:attrName>
                                        </p:attrNameLst>
                                      </p:cBhvr>
                                      <p:to>
                                        <p:strVal val="hidden"/>
                                      </p:to>
                                    </p:set>
                                  </p:childTnLst>
                                </p:cTn>
                              </p:par>
                              <p:par>
                                <p:cTn id="11" presetID="1" presetClass="exit" presetSubtype="0" fill="hold" nodeType="withEffect">
                                  <p:stCondLst>
                                    <p:cond delay="683"/>
                                  </p:stCondLst>
                                  <p:childTnLst>
                                    <p:set>
                                      <p:cBhvr>
                                        <p:cTn id="12" dur="1" fill="hold">
                                          <p:stCondLst>
                                            <p:cond delay="0"/>
                                          </p:stCondLst>
                                        </p:cTn>
                                        <p:tgtEl>
                                          <p:spTgt spid="50"/>
                                        </p:tgtEl>
                                        <p:attrNameLst>
                                          <p:attrName>style.visibility</p:attrName>
                                        </p:attrNameLst>
                                      </p:cBhvr>
                                      <p:to>
                                        <p:strVal val="hidden"/>
                                      </p:to>
                                    </p:set>
                                  </p:childTnLst>
                                </p:cTn>
                              </p:par>
                              <p:par>
                                <p:cTn id="13" presetID="10" presetClass="entr" presetSubtype="0" fill="hold" nodeType="withEffect">
                                  <p:stCondLst>
                                    <p:cond delay="1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1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1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1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1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1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3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33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33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3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33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33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51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5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51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51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51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nodeType="withEffect">
                                  <p:stCondLst>
                                    <p:cond delay="51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69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nodeType="withEffect">
                                  <p:stCondLst>
                                    <p:cond delay="69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nodeType="withEffect">
                                  <p:stCondLst>
                                    <p:cond delay="69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69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nodeType="withEffect">
                                  <p:stCondLst>
                                    <p:cond delay="69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nodeType="withEffect">
                                  <p:stCondLst>
                                    <p:cond delay="69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nodeType="withEffect">
                                  <p:stCondLst>
                                    <p:cond delay="87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par>
                                <p:cTn id="88" presetID="10" presetClass="entr" presetSubtype="0" fill="hold" nodeType="withEffect">
                                  <p:stCondLst>
                                    <p:cond delay="87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00"/>
                                        <p:tgtEl>
                                          <p:spTgt spid="30"/>
                                        </p:tgtEl>
                                      </p:cBhvr>
                                    </p:animEffect>
                                  </p:childTnLst>
                                </p:cTn>
                              </p:par>
                              <p:par>
                                <p:cTn id="91" presetID="10" presetClass="entr" presetSubtype="0" fill="hold" nodeType="withEffect">
                                  <p:stCondLst>
                                    <p:cond delay="87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00"/>
                                        <p:tgtEl>
                                          <p:spTgt spid="31"/>
                                        </p:tgtEl>
                                      </p:cBhvr>
                                    </p:animEffect>
                                  </p:childTnLst>
                                </p:cTn>
                              </p:par>
                              <p:par>
                                <p:cTn id="94" presetID="10" presetClass="entr" presetSubtype="0" fill="hold" nodeType="withEffect">
                                  <p:stCondLst>
                                    <p:cond delay="87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00"/>
                                        <p:tgtEl>
                                          <p:spTgt spid="32"/>
                                        </p:tgtEl>
                                      </p:cBhvr>
                                    </p:animEffect>
                                  </p:childTnLst>
                                </p:cTn>
                              </p:par>
                              <p:par>
                                <p:cTn id="97" presetID="10" presetClass="entr" presetSubtype="0" fill="hold" nodeType="withEffect">
                                  <p:stCondLst>
                                    <p:cond delay="87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00"/>
                                        <p:tgtEl>
                                          <p:spTgt spid="33"/>
                                        </p:tgtEl>
                                      </p:cBhvr>
                                    </p:animEffect>
                                  </p:childTnLst>
                                </p:cTn>
                              </p:par>
                              <p:par>
                                <p:cTn id="100" presetID="10" presetClass="entr" presetSubtype="0" fill="hold" nodeType="withEffect">
                                  <p:stCondLst>
                                    <p:cond delay="87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00"/>
                                        <p:tgtEl>
                                          <p:spTgt spid="34"/>
                                        </p:tgtEl>
                                      </p:cBhvr>
                                    </p:animEffect>
                                  </p:childTnLst>
                                </p:cTn>
                              </p:par>
                              <p:par>
                                <p:cTn id="103" presetID="10" presetClass="entr" presetSubtype="0" fill="hold" nodeType="withEffect">
                                  <p:stCondLst>
                                    <p:cond delay="10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nodeType="withEffect">
                                  <p:stCondLst>
                                    <p:cond delay="105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00"/>
                                        <p:tgtEl>
                                          <p:spTgt spid="36"/>
                                        </p:tgtEl>
                                      </p:cBhvr>
                                    </p:animEffect>
                                  </p:childTnLst>
                                </p:cTn>
                              </p:par>
                              <p:par>
                                <p:cTn id="109" presetID="10" presetClass="entr" presetSubtype="0" fill="hold" nodeType="withEffect">
                                  <p:stCondLst>
                                    <p:cond delay="105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00"/>
                                        <p:tgtEl>
                                          <p:spTgt spid="37"/>
                                        </p:tgtEl>
                                      </p:cBhvr>
                                    </p:animEffect>
                                  </p:childTnLst>
                                </p:cTn>
                              </p:par>
                              <p:par>
                                <p:cTn id="112" presetID="10" presetClass="entr" presetSubtype="0" fill="hold" nodeType="withEffect">
                                  <p:stCondLst>
                                    <p:cond delay="105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400"/>
                                        <p:tgtEl>
                                          <p:spTgt spid="38"/>
                                        </p:tgtEl>
                                      </p:cBhvr>
                                    </p:animEffect>
                                  </p:childTnLst>
                                </p:cTn>
                              </p:par>
                              <p:par>
                                <p:cTn id="115" presetID="10" presetClass="entr" presetSubtype="0" fill="hold" nodeType="withEffect">
                                  <p:stCondLst>
                                    <p:cond delay="105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00"/>
                                        <p:tgtEl>
                                          <p:spTgt spid="39"/>
                                        </p:tgtEl>
                                      </p:cBhvr>
                                    </p:animEffect>
                                  </p:childTnLst>
                                </p:cTn>
                              </p:par>
                              <p:par>
                                <p:cTn id="118" presetID="10" presetClass="entr" presetSubtype="0" fill="hold" nodeType="withEffect">
                                  <p:stCondLst>
                                    <p:cond delay="105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00"/>
                                        <p:tgtEl>
                                          <p:spTgt spid="40"/>
                                        </p:tgtEl>
                                      </p:cBhvr>
                                    </p:animEffect>
                                  </p:childTnLst>
                                </p:cTn>
                              </p:par>
                              <p:par>
                                <p:cTn id="121" presetID="10" presetClass="entr" presetSubtype="0" fill="hold" nodeType="withEffect">
                                  <p:stCondLst>
                                    <p:cond delay="140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00"/>
                                        <p:tgtEl>
                                          <p:spTgt spid="41"/>
                                        </p:tgtEl>
                                      </p:cBhvr>
                                    </p:animEffect>
                                  </p:childTnLst>
                                </p:cTn>
                              </p:par>
                              <p:par>
                                <p:cTn id="124" presetID="10" presetClass="entr" presetSubtype="0" fill="hold" nodeType="withEffect">
                                  <p:stCondLst>
                                    <p:cond delay="140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00"/>
                                        <p:tgtEl>
                                          <p:spTgt spid="42"/>
                                        </p:tgtEl>
                                      </p:cBhvr>
                                    </p:animEffect>
                                  </p:childTnLst>
                                </p:cTn>
                              </p:par>
                              <p:par>
                                <p:cTn id="127" presetID="10" presetClass="entr" presetSubtype="0" fill="hold" nodeType="withEffect">
                                  <p:stCondLst>
                                    <p:cond delay="140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400"/>
                                        <p:tgtEl>
                                          <p:spTgt spid="43"/>
                                        </p:tgtEl>
                                      </p:cBhvr>
                                    </p:animEffect>
                                  </p:childTnLst>
                                </p:cTn>
                              </p:par>
                              <p:par>
                                <p:cTn id="130" presetID="10" presetClass="entr" presetSubtype="0" fill="hold" nodeType="withEffect">
                                  <p:stCondLst>
                                    <p:cond delay="1400"/>
                                  </p:stCondLst>
                                  <p:childTnLst>
                                    <p:set>
                                      <p:cBhvr>
                                        <p:cTn id="131" dur="1" fill="hold">
                                          <p:stCondLst>
                                            <p:cond delay="0"/>
                                          </p:stCondLst>
                                        </p:cTn>
                                        <p:tgtEl>
                                          <p:spTgt spid="44"/>
                                        </p:tgtEl>
                                        <p:attrNameLst>
                                          <p:attrName>style.visibility</p:attrName>
                                        </p:attrNameLst>
                                      </p:cBhvr>
                                      <p:to>
                                        <p:strVal val="visible"/>
                                      </p:to>
                                    </p:set>
                                    <p:animEffect transition="in" filter="fade">
                                      <p:cBhvr>
                                        <p:cTn id="132" dur="400"/>
                                        <p:tgtEl>
                                          <p:spTgt spid="44"/>
                                        </p:tgtEl>
                                      </p:cBhvr>
                                    </p:animEffect>
                                  </p:childTnLst>
                                </p:cTn>
                              </p:par>
                              <p:par>
                                <p:cTn id="133" presetID="10" presetClass="entr" presetSubtype="0" fill="hold" nodeType="withEffect">
                                  <p:stCondLst>
                                    <p:cond delay="140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7"/>
          <p:cNvSpPr/>
          <p:nvPr/>
        </p:nvSpPr>
        <p:spPr>
          <a:xfrm>
            <a:off x="868680"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8"/>
          <p:cNvSpPr/>
          <p:nvPr/>
        </p:nvSpPr>
        <p:spPr>
          <a:xfrm>
            <a:off x="937259"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9"/>
          <p:cNvSpPr/>
          <p:nvPr/>
        </p:nvSpPr>
        <p:spPr>
          <a:xfrm>
            <a:off x="9768535"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9837115"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image-2-7.png"/>
          <p:cNvPicPr>
            <a:picLocks noChangeAspect="1"/>
          </p:cNvPicPr>
          <p:nvPr/>
        </p:nvPicPr>
        <p:blipFill>
          <a:blip r:embed="rId3"/>
          <a:stretch>
            <a:fillRect/>
          </a:stretch>
        </p:blipFill>
        <p:spPr>
          <a:xfrm>
            <a:off x="5684824" y="777240"/>
            <a:ext cx="822960" cy="822960"/>
          </a:xfrm>
          <a:prstGeom prst="rect">
            <a:avLst/>
          </a:prstGeom>
        </p:spPr>
      </p:pic>
      <p:pic>
        <p:nvPicPr>
          <p:cNvPr id="13" name="o12" descr="LEVEL 1"/>
          <p:cNvPicPr>
            <a:picLocks noChangeAspect="1"/>
          </p:cNvPicPr>
          <p:nvPr/>
        </p:nvPicPr>
        <p:blipFill>
          <a:blip r:embed="rId4"/>
          <a:stretch>
            <a:fillRect/>
          </a:stretch>
        </p:blipFill>
        <p:spPr>
          <a:xfrm>
            <a:off x="5263743" y="1828800"/>
            <a:ext cx="1664208" cy="237744"/>
          </a:xfrm>
          <a:prstGeom prst="rect">
            <a:avLst/>
          </a:prstGeom>
        </p:spPr>
      </p:pic>
      <p:pic>
        <p:nvPicPr>
          <p:cNvPr id="14" name="o13" descr="MISSION"/>
          <p:cNvPicPr>
            <a:picLocks noChangeAspect="1"/>
          </p:cNvPicPr>
          <p:nvPr/>
        </p:nvPicPr>
        <p:blipFill>
          <a:blip r:embed="rId5"/>
          <a:stretch>
            <a:fillRect/>
          </a:stretch>
        </p:blipFill>
        <p:spPr>
          <a:xfrm>
            <a:off x="4303623" y="2331720"/>
            <a:ext cx="3584448" cy="512064"/>
          </a:xfrm>
          <a:prstGeom prst="rect">
            <a:avLst/>
          </a:prstGeom>
        </p:spPr>
      </p:pic>
      <p:sp>
        <p:nvSpPr>
          <p:cNvPr id="15" name="o14"/>
          <p:cNvSpPr txBox="1"/>
          <p:nvPr/>
        </p:nvSpPr>
        <p:spPr>
          <a:xfrm>
            <a:off x="1371600" y="3108960"/>
            <a:ext cx="9448495" cy="411480"/>
          </a:xfrm>
          <a:prstGeom prst="rect">
            <a:avLst/>
          </a:prstGeom>
          <a:noFill/>
        </p:spPr>
        <p:txBody>
          <a:bodyPr wrap="square" lIns="0" rIns="0" tIns="0" bIns="0" anchor="t">
            <a:spAutoFit/>
          </a:bodyPr>
          <a:lstStyle/>
          <a:p>
            <a:pPr algn="ctr"/>
            <a:r>
              <a:rPr sz="2000" b="0" i="0">
                <a:solidFill>
                  <a:srgbClr val="C4C4E4"/>
                </a:solidFill>
                <a:latin typeface="Arial"/>
              </a:rPr>
              <a:t>Pourquoi une deuxième source ?</a:t>
            </a:r>
          </a:p>
        </p:txBody>
      </p:sp>
      <p:pic>
        <p:nvPicPr>
          <p:cNvPr id="16" name="rangee_sprite" descr="image-1-8.gif"/>
          <p:cNvPicPr>
            <a:picLocks noChangeAspect="1"/>
          </p:cNvPicPr>
          <p:nvPr/>
        </p:nvPicPr>
        <p:blipFill>
          <a:blip r:embed="rId6"/>
          <a:stretch>
            <a:fillRect/>
          </a:stretch>
        </p:blipFill>
        <p:spPr>
          <a:xfrm>
            <a:off x="704088" y="3950208"/>
            <a:ext cx="420624" cy="420624"/>
          </a:xfrm>
          <a:prstGeom prst="rect">
            <a:avLst/>
          </a:prstGeom>
        </p:spPr>
      </p:pic>
      <p:pic>
        <p:nvPicPr>
          <p:cNvPr id="17" name="rangee_sprite" descr="image-1-7.gif"/>
          <p:cNvPicPr>
            <a:picLocks noChangeAspect="1"/>
          </p:cNvPicPr>
          <p:nvPr/>
        </p:nvPicPr>
        <p:blipFill>
          <a:blip r:embed="rId7"/>
          <a:stretch>
            <a:fillRect/>
          </a:stretch>
        </p:blipFill>
        <p:spPr>
          <a:xfrm>
            <a:off x="1252728" y="3950208"/>
            <a:ext cx="420624" cy="420624"/>
          </a:xfrm>
          <a:prstGeom prst="rect">
            <a:avLst/>
          </a:prstGeom>
        </p:spPr>
      </p:pic>
      <p:pic>
        <p:nvPicPr>
          <p:cNvPr id="18" name="rangee_sprite" descr="image-1-6.gif"/>
          <p:cNvPicPr>
            <a:picLocks noChangeAspect="1"/>
          </p:cNvPicPr>
          <p:nvPr/>
        </p:nvPicPr>
        <p:blipFill>
          <a:blip r:embed="rId8"/>
          <a:stretch>
            <a:fillRect/>
          </a:stretch>
        </p:blipFill>
        <p:spPr>
          <a:xfrm>
            <a:off x="1801368" y="3950208"/>
            <a:ext cx="420624" cy="420624"/>
          </a:xfrm>
          <a:prstGeom prst="rect">
            <a:avLst/>
          </a:prstGeom>
        </p:spPr>
      </p:pic>
      <p:pic>
        <p:nvPicPr>
          <p:cNvPr id="19" name="rangee_sprite" descr="image-1-15.gif"/>
          <p:cNvPicPr>
            <a:picLocks noChangeAspect="1"/>
          </p:cNvPicPr>
          <p:nvPr/>
        </p:nvPicPr>
        <p:blipFill>
          <a:blip r:embed="rId9"/>
          <a:stretch>
            <a:fillRect/>
          </a:stretch>
        </p:blipFill>
        <p:spPr>
          <a:xfrm>
            <a:off x="2350008" y="3950208"/>
            <a:ext cx="420624" cy="420624"/>
          </a:xfrm>
          <a:prstGeom prst="rect">
            <a:avLst/>
          </a:prstGeom>
        </p:spPr>
      </p:pic>
      <p:pic>
        <p:nvPicPr>
          <p:cNvPr id="20" name="rangee_pacman" descr="image-1-14.gif"/>
          <p:cNvPicPr>
            <a:picLocks noChangeAspect="1"/>
          </p:cNvPicPr>
          <p:nvPr/>
        </p:nvPicPr>
        <p:blipFill>
          <a:blip r:embed="rId10"/>
          <a:stretch>
            <a:fillRect/>
          </a:stretch>
        </p:blipFill>
        <p:spPr>
          <a:xfrm>
            <a:off x="2990088" y="3950208"/>
            <a:ext cx="420624" cy="420624"/>
          </a:xfrm>
          <a:prstGeom prst="rect">
            <a:avLst/>
          </a:prstGeom>
        </p:spPr>
      </p:pic>
      <p:sp>
        <p:nvSpPr>
          <p:cNvPr id="21" name="rangee_pastille"/>
          <p:cNvSpPr/>
          <p:nvPr/>
        </p:nvSpPr>
        <p:spPr>
          <a:xfrm>
            <a:off x="36301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39959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43616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47274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50932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54589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58247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ee_pastille"/>
          <p:cNvSpPr/>
          <p:nvPr/>
        </p:nvSpPr>
        <p:spPr>
          <a:xfrm>
            <a:off x="61904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angee_pastille"/>
          <p:cNvSpPr/>
          <p:nvPr/>
        </p:nvSpPr>
        <p:spPr>
          <a:xfrm>
            <a:off x="65562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ngee_pastille"/>
          <p:cNvSpPr/>
          <p:nvPr/>
        </p:nvSpPr>
        <p:spPr>
          <a:xfrm>
            <a:off x="69220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ngee_pastille"/>
          <p:cNvSpPr/>
          <p:nvPr/>
        </p:nvSpPr>
        <p:spPr>
          <a:xfrm>
            <a:off x="72877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angee_pastille"/>
          <p:cNvSpPr/>
          <p:nvPr/>
        </p:nvSpPr>
        <p:spPr>
          <a:xfrm>
            <a:off x="76535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angee_pastille"/>
          <p:cNvSpPr/>
          <p:nvPr/>
        </p:nvSpPr>
        <p:spPr>
          <a:xfrm>
            <a:off x="80192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ee_pastille"/>
          <p:cNvSpPr/>
          <p:nvPr/>
        </p:nvSpPr>
        <p:spPr>
          <a:xfrm>
            <a:off x="83850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angee_pastille"/>
          <p:cNvSpPr/>
          <p:nvPr/>
        </p:nvSpPr>
        <p:spPr>
          <a:xfrm>
            <a:off x="87508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angee_pastille"/>
          <p:cNvSpPr/>
          <p:nvPr/>
        </p:nvSpPr>
        <p:spPr>
          <a:xfrm>
            <a:off x="91165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angee_pastille"/>
          <p:cNvSpPr/>
          <p:nvPr/>
        </p:nvSpPr>
        <p:spPr>
          <a:xfrm>
            <a:off x="94823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ady" descr="READY!"/>
          <p:cNvPicPr>
            <a:picLocks noChangeAspect="1"/>
          </p:cNvPicPr>
          <p:nvPr/>
        </p:nvPicPr>
        <p:blipFill>
          <a:blip r:embed="rId11"/>
          <a:stretch>
            <a:fillRect/>
          </a:stretch>
        </p:blipFill>
        <p:spPr>
          <a:xfrm>
            <a:off x="5492343" y="4617720"/>
            <a:ext cx="1207008" cy="201168"/>
          </a:xfrm>
          <a:prstGeom prst="rect">
            <a:avLst/>
          </a:prstGeom>
        </p:spPr>
      </p:pic>
      <p:pic>
        <p:nvPicPr>
          <p:cNvPr id="39"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9"/>
          <a:stretch>
            <a:fillRect/>
          </a:stretch>
        </p:blipFill>
        <p:spPr>
          <a:xfrm>
            <a:off x="1106424" y="6291072"/>
            <a:ext cx="310896" cy="310896"/>
          </a:xfrm>
          <a:prstGeom prst="rect">
            <a:avLst/>
          </a:prstGeom>
        </p:spPr>
      </p:pic>
      <p:pic>
        <p:nvPicPr>
          <p:cNvPr id="41" name="barre_pacman" descr="image-1-14.gif"/>
          <p:cNvPicPr>
            <a:picLocks noChangeAspect="1"/>
          </p:cNvPicPr>
          <p:nvPr/>
        </p:nvPicPr>
        <p:blipFill>
          <a:blip r:embed="rId10"/>
          <a:stretch>
            <a:fillRect/>
          </a:stretch>
        </p:blipFill>
        <p:spPr>
          <a:xfrm>
            <a:off x="1673352" y="6291072"/>
            <a:ext cx="310896" cy="310896"/>
          </a:xfrm>
          <a:prstGeom prst="rect">
            <a:avLst/>
          </a:prstGeom>
        </p:spPr>
      </p:pic>
      <p:sp>
        <p:nvSpPr>
          <p:cNvPr id="42" name="barre_pastille_2.25"/>
          <p:cNvSpPr/>
          <p:nvPr/>
        </p:nvSpPr>
        <p:spPr>
          <a:xfrm>
            <a:off x="2057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2.50"/>
          <p:cNvSpPr/>
          <p:nvPr/>
        </p:nvSpPr>
        <p:spPr>
          <a:xfrm>
            <a:off x="2286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2.75"/>
          <p:cNvSpPr/>
          <p:nvPr/>
        </p:nvSpPr>
        <p:spPr>
          <a:xfrm>
            <a:off x="2514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3.00"/>
          <p:cNvSpPr/>
          <p:nvPr/>
        </p:nvSpPr>
        <p:spPr>
          <a:xfrm>
            <a:off x="2743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3.25"/>
          <p:cNvSpPr/>
          <p:nvPr/>
        </p:nvSpPr>
        <p:spPr>
          <a:xfrm>
            <a:off x="2971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3.50"/>
          <p:cNvSpPr/>
          <p:nvPr/>
        </p:nvSpPr>
        <p:spPr>
          <a:xfrm>
            <a:off x="3200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3.75"/>
          <p:cNvSpPr/>
          <p:nvPr/>
        </p:nvSpPr>
        <p:spPr>
          <a:xfrm>
            <a:off x="3429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200"/>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617"/>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38"/>
                                        </p:tgtEl>
                                        <p:attrNameLst>
                                          <p:attrName>style.visibility</p:attrName>
                                        </p:attrNameLst>
                                      </p:cBhvr>
                                      <p:to>
                                        <p:strVal val="hidden"/>
                                      </p:to>
                                    </p:set>
                                  </p:childTnLst>
                                </p:cTn>
                              </p:par>
                              <p:par>
                                <p:cTn id="15" presetID="0" presetClass="path" presetSubtype="0" fill="hold" nodeType="withEffect">
                                  <p:stCondLst>
                                    <p:cond delay="900"/>
                                  </p:stCondLst>
                                  <p:childTnLst>
                                    <p:animMotion origin="layout" path="M 0 0 L 0.57001 0 E" pathEditMode="relative" ptsTypes="">
                                      <p:cBhvr>
                                        <p:cTn id="16" dur="2600" fill="hold"/>
                                        <p:tgtEl>
                                          <p:spTgt spid="16"/>
                                        </p:tgtEl>
                                        <p:attrNameLst>
                                          <p:attrName>ppt_x</p:attrName>
                                          <p:attrName>ppt_y</p:attrName>
                                        </p:attrNameLst>
                                      </p:cBhvr>
                                    </p:animMotion>
                                  </p:childTnLst>
                                </p:cTn>
                              </p:par>
                              <p:par>
                                <p:cTn id="17" presetID="0" presetClass="path" presetSubtype="0" fill="hold" nodeType="withEffect">
                                  <p:stCondLst>
                                    <p:cond delay="900"/>
                                  </p:stCondLst>
                                  <p:childTnLst>
                                    <p:animMotion origin="layout" path="M 0 0 L 0.57001 0 E" pathEditMode="relative" ptsTypes="">
                                      <p:cBhvr>
                                        <p:cTn id="18" dur="2600" fill="hold"/>
                                        <p:tgtEl>
                                          <p:spTgt spid="17"/>
                                        </p:tgtEl>
                                        <p:attrNameLst>
                                          <p:attrName>ppt_x</p:attrName>
                                          <p:attrName>ppt_y</p:attrName>
                                        </p:attrNameLst>
                                      </p:cBhvr>
                                    </p:animMotion>
                                  </p:childTnLst>
                                </p:cTn>
                              </p:par>
                              <p:par>
                                <p:cTn id="19" presetID="0" presetClass="path" presetSubtype="0" fill="hold" nodeType="withEffect">
                                  <p:stCondLst>
                                    <p:cond delay="900"/>
                                  </p:stCondLst>
                                  <p:childTnLst>
                                    <p:animMotion origin="layout" path="M 0 0 L 0.57001 0 E" pathEditMode="relative" ptsTypes="">
                                      <p:cBhvr>
                                        <p:cTn id="20" dur="2600" fill="hold"/>
                                        <p:tgtEl>
                                          <p:spTgt spid="18"/>
                                        </p:tgtEl>
                                        <p:attrNameLst>
                                          <p:attrName>ppt_x</p:attrName>
                                          <p:attrName>ppt_y</p:attrName>
                                        </p:attrNameLst>
                                      </p:cBhvr>
                                    </p:animMotion>
                                  </p:childTnLst>
                                </p:cTn>
                              </p:par>
                              <p:par>
                                <p:cTn id="21" presetID="0" presetClass="path" presetSubtype="0" fill="hold" nodeType="withEffect">
                                  <p:stCondLst>
                                    <p:cond delay="900"/>
                                  </p:stCondLst>
                                  <p:childTnLst>
                                    <p:animMotion origin="layout" path="M 0 0 L 0.57001 0 E" pathEditMode="relative" ptsTypes="">
                                      <p:cBhvr>
                                        <p:cTn id="22" dur="2600" fill="hold"/>
                                        <p:tgtEl>
                                          <p:spTgt spid="19"/>
                                        </p:tgtEl>
                                        <p:attrNameLst>
                                          <p:attrName>ppt_x</p:attrName>
                                          <p:attrName>ppt_y</p:attrName>
                                        </p:attrNameLst>
                                      </p:cBhvr>
                                    </p:animMotion>
                                  </p:childTnLst>
                                </p:cTn>
                              </p:par>
                              <p:par>
                                <p:cTn id="23" presetID="0" presetClass="path" presetSubtype="0" fill="hold" nodeType="withEffect">
                                  <p:stCondLst>
                                    <p:cond delay="900"/>
                                  </p:stCondLst>
                                  <p:childTnLst>
                                    <p:animMotion origin="layout" path="M 0 0 L 0.57001 0 E" pathEditMode="relative" ptsTypes="">
                                      <p:cBhvr>
                                        <p:cTn id="24" dur="2600" fill="hold"/>
                                        <p:tgtEl>
                                          <p:spTgt spid="20"/>
                                        </p:tgtEl>
                                        <p:attrNameLst>
                                          <p:attrName>ppt_x</p:attrName>
                                          <p:attrName>ppt_y</p:attrName>
                                        </p:attrNameLst>
                                      </p:cBhvr>
                                    </p:animMotion>
                                  </p:childTnLst>
                                </p:cTn>
                              </p:par>
                              <p:par>
                                <p:cTn id="25" presetID="1" presetClass="exit" presetSubtype="0" fill="hold" nodeType="withEffect">
                                  <p:stCondLst>
                                    <p:cond delay="1027"/>
                                  </p:stCondLst>
                                  <p:childTnLst>
                                    <p:set>
                                      <p:cBhvr>
                                        <p:cTn id="26" dur="1" fill="hold">
                                          <p:stCondLst>
                                            <p:cond delay="0"/>
                                          </p:stCondLst>
                                        </p:cTn>
                                        <p:tgtEl>
                                          <p:spTgt spid="21"/>
                                        </p:tgtEl>
                                        <p:attrNameLst>
                                          <p:attrName>style.visibility</p:attrName>
                                        </p:attrNameLst>
                                      </p:cBhvr>
                                      <p:to>
                                        <p:strVal val="hidden"/>
                                      </p:to>
                                    </p:set>
                                  </p:childTnLst>
                                </p:cTn>
                              </p:par>
                              <p:par>
                                <p:cTn id="27" presetID="1" presetClass="exit" presetSubtype="0" fill="hold" nodeType="withEffect">
                                  <p:stCondLst>
                                    <p:cond delay="1163"/>
                                  </p:stCondLst>
                                  <p:childTnLst>
                                    <p:set>
                                      <p:cBhvr>
                                        <p:cTn id="28" dur="1" fill="hold">
                                          <p:stCondLst>
                                            <p:cond delay="0"/>
                                          </p:stCondLst>
                                        </p:cTn>
                                        <p:tgtEl>
                                          <p:spTgt spid="22"/>
                                        </p:tgtEl>
                                        <p:attrNameLst>
                                          <p:attrName>style.visibility</p:attrName>
                                        </p:attrNameLst>
                                      </p:cBhvr>
                                      <p:to>
                                        <p:strVal val="hidden"/>
                                      </p:to>
                                    </p:set>
                                  </p:childTnLst>
                                </p:cTn>
                              </p:par>
                              <p:par>
                                <p:cTn id="29" presetID="1" presetClass="exit" presetSubtype="0" fill="hold" nodeType="withEffect">
                                  <p:stCondLst>
                                    <p:cond delay="130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1437"/>
                                  </p:stCondLst>
                                  <p:childTnLst>
                                    <p:set>
                                      <p:cBhvr>
                                        <p:cTn id="32" dur="1" fill="hold">
                                          <p:stCondLst>
                                            <p:cond delay="0"/>
                                          </p:stCondLst>
                                        </p:cTn>
                                        <p:tgtEl>
                                          <p:spTgt spid="24"/>
                                        </p:tgtEl>
                                        <p:attrNameLst>
                                          <p:attrName>style.visibility</p:attrName>
                                        </p:attrNameLst>
                                      </p:cBhvr>
                                      <p:to>
                                        <p:strVal val="hidden"/>
                                      </p:to>
                                    </p:set>
                                  </p:childTnLst>
                                </p:cTn>
                              </p:par>
                              <p:par>
                                <p:cTn id="33" presetID="1" presetClass="exit" presetSubtype="0" fill="hold" nodeType="withEffect">
                                  <p:stCondLst>
                                    <p:cond delay="1574"/>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1711"/>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1848"/>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1984"/>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nodeType="withEffect">
                                  <p:stCondLst>
                                    <p:cond delay="2121"/>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nodeType="withEffect">
                                  <p:stCondLst>
                                    <p:cond delay="2258"/>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nodeType="withEffect">
                                  <p:stCondLst>
                                    <p:cond delay="2395"/>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xit" presetSubtype="0" fill="hold" nodeType="withEffect">
                                  <p:stCondLst>
                                    <p:cond delay="2532"/>
                                  </p:stCondLst>
                                  <p:childTnLst>
                                    <p:set>
                                      <p:cBhvr>
                                        <p:cTn id="48" dur="1" fill="hold">
                                          <p:stCondLst>
                                            <p:cond delay="0"/>
                                          </p:stCondLst>
                                        </p:cTn>
                                        <p:tgtEl>
                                          <p:spTgt spid="32"/>
                                        </p:tgtEl>
                                        <p:attrNameLst>
                                          <p:attrName>style.visibility</p:attrName>
                                        </p:attrNameLst>
                                      </p:cBhvr>
                                      <p:to>
                                        <p:strVal val="hidden"/>
                                      </p:to>
                                    </p:set>
                                  </p:childTnLst>
                                </p:cTn>
                              </p:par>
                              <p:par>
                                <p:cTn id="49" presetID="1" presetClass="exit" presetSubtype="0" fill="hold" nodeType="withEffect">
                                  <p:stCondLst>
                                    <p:cond delay="2669"/>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2806"/>
                                  </p:stCondLst>
                                  <p:childTnLst>
                                    <p:set>
                                      <p:cBhvr>
                                        <p:cTn id="52" dur="1" fill="hold">
                                          <p:stCondLst>
                                            <p:cond delay="0"/>
                                          </p:stCondLst>
                                        </p:cTn>
                                        <p:tgtEl>
                                          <p:spTgt spid="34"/>
                                        </p:tgtEl>
                                        <p:attrNameLst>
                                          <p:attrName>style.visibility</p:attrName>
                                        </p:attrNameLst>
                                      </p:cBhvr>
                                      <p:to>
                                        <p:strVal val="hidden"/>
                                      </p:to>
                                    </p:set>
                                  </p:childTnLst>
                                </p:cTn>
                              </p:par>
                              <p:par>
                                <p:cTn id="53" presetID="1" presetClass="exit" presetSubtype="0" fill="hold" nodeType="withEffect">
                                  <p:stCondLst>
                                    <p:cond delay="2942"/>
                                  </p:stCondLst>
                                  <p:childTnLst>
                                    <p:set>
                                      <p:cBhvr>
                                        <p:cTn id="54" dur="1" fill="hold">
                                          <p:stCondLst>
                                            <p:cond delay="0"/>
                                          </p:stCondLst>
                                        </p:cTn>
                                        <p:tgtEl>
                                          <p:spTgt spid="35"/>
                                        </p:tgtEl>
                                        <p:attrNameLst>
                                          <p:attrName>style.visibility</p:attrName>
                                        </p:attrNameLst>
                                      </p:cBhvr>
                                      <p:to>
                                        <p:strVal val="hidden"/>
                                      </p:to>
                                    </p:set>
                                  </p:childTnLst>
                                </p:cTn>
                              </p:par>
                              <p:par>
                                <p:cTn id="55" presetID="1" presetClass="exit" presetSubtype="0" fill="hold" nodeType="withEffect">
                                  <p:stCondLst>
                                    <p:cond delay="3079"/>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nodeType="withEffect">
                                  <p:stCondLst>
                                    <p:cond delay="3216"/>
                                  </p:stCondLst>
                                  <p:childTnLst>
                                    <p:set>
                                      <p:cBhvr>
                                        <p:cTn id="5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1 → MISSION"/>
          <p:cNvPicPr>
            <a:picLocks noChangeAspect="1"/>
          </p:cNvPicPr>
          <p:nvPr/>
        </p:nvPicPr>
        <p:blipFill>
          <a:blip r:embed="rId3"/>
          <a:stretch>
            <a:fillRect/>
          </a:stretch>
        </p:blipFill>
        <p:spPr>
          <a:xfrm>
            <a:off x="548640" y="411480"/>
            <a:ext cx="2487168" cy="146304"/>
          </a:xfrm>
          <a:prstGeom prst="rect">
            <a:avLst/>
          </a:prstGeom>
        </p:spPr>
      </p:pic>
      <p:pic>
        <p:nvPicPr>
          <p:cNvPr id="3" name="o2" descr="La demande du client"/>
          <p:cNvPicPr>
            <a:picLocks noChangeAspect="1"/>
          </p:cNvPicPr>
          <p:nvPr/>
        </p:nvPicPr>
        <p:blipFill>
          <a:blip r:embed="rId4"/>
          <a:stretch>
            <a:fillRect/>
          </a:stretch>
        </p:blipFill>
        <p:spPr>
          <a:xfrm>
            <a:off x="548640" y="777240"/>
            <a:ext cx="5486400" cy="274320"/>
          </a:xfrm>
          <a:prstGeom prst="rect">
            <a:avLst/>
          </a:prstGeom>
        </p:spPr>
      </p:pic>
      <p:pic>
        <p:nvPicPr>
          <p:cNvPr id="4" name="o3" descr="image-2-7.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91640"/>
            <a:ext cx="3566160" cy="502920"/>
          </a:xfrm>
          <a:prstGeom prst="roundRect">
            <a:avLst>
              <a:gd name="adj" fmla="val 25454"/>
            </a:avLst>
          </a:prstGeom>
          <a:solidFill>
            <a:srgbClr val="000000"/>
          </a:solidFill>
          <a:ln w="28575">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760220"/>
            <a:ext cx="3429000" cy="365760"/>
          </a:xfrm>
          <a:prstGeom prst="roundRect">
            <a:avLst>
              <a:gd name="adj" fmla="val 16250"/>
            </a:avLst>
          </a:prstGeom>
          <a:noFill/>
          <a:ln w="12700">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o6" descr="QUETE : 2E SOURCE"/>
          <p:cNvPicPr>
            <a:picLocks noChangeAspect="1"/>
          </p:cNvPicPr>
          <p:nvPr/>
        </p:nvPicPr>
        <p:blipFill>
          <a:blip r:embed="rId6"/>
          <a:stretch>
            <a:fillRect/>
          </a:stretch>
        </p:blipFill>
        <p:spPr>
          <a:xfrm>
            <a:off x="1088136" y="1874519"/>
            <a:ext cx="2487168" cy="146304"/>
          </a:xfrm>
          <a:prstGeom prst="rect">
            <a:avLst/>
          </a:prstGeom>
        </p:spPr>
      </p:pic>
      <p:sp>
        <p:nvSpPr>
          <p:cNvPr id="8" name="o7"/>
          <p:cNvSpPr txBox="1"/>
          <p:nvPr/>
        </p:nvSpPr>
        <p:spPr>
          <a:xfrm>
            <a:off x="548640" y="2560320"/>
            <a:ext cx="5669280" cy="1188720"/>
          </a:xfrm>
          <a:prstGeom prst="rect">
            <a:avLst/>
          </a:prstGeom>
          <a:noFill/>
        </p:spPr>
        <p:txBody>
          <a:bodyPr wrap="square" lIns="0" rIns="0" tIns="0" bIns="0" anchor="t">
            <a:spAutoFit/>
          </a:bodyPr>
          <a:lstStyle/>
          <a:p>
            <a:pPr algn="l"/>
            <a:r>
              <a:rPr sz="3400" b="1" i="0">
                <a:solidFill>
                  <a:srgbClr val="FFFFFF"/>
                </a:solidFill>
                <a:latin typeface="Arial"/>
              </a:rPr>
              <a:t>Une bonne note fait-elle </a:t>
            </a:r>
            <a:r>
              <a:rPr sz="3400" b="1" i="0">
                <a:solidFill>
                  <a:srgbClr val="FFE600"/>
                </a:solidFill>
                <a:latin typeface="Arial"/>
              </a:rPr>
              <a:t>vendre</a:t>
            </a:r>
            <a:r>
              <a:rPr sz="3400" b="1" i="0">
                <a:solidFill>
                  <a:srgbClr val="FFFFFF"/>
                </a:solidFill>
                <a:latin typeface="Arial"/>
              </a:rPr>
              <a:t> ?</a:t>
            </a:r>
          </a:p>
        </p:txBody>
      </p:sp>
      <p:sp>
        <p:nvSpPr>
          <p:cNvPr id="9" name="o8"/>
          <p:cNvSpPr txBox="1"/>
          <p:nvPr/>
        </p:nvSpPr>
        <p:spPr>
          <a:xfrm>
            <a:off x="548640" y="3886200"/>
            <a:ext cx="5486400" cy="914400"/>
          </a:xfrm>
          <a:prstGeom prst="rect">
            <a:avLst/>
          </a:prstGeom>
          <a:noFill/>
        </p:spPr>
        <p:txBody>
          <a:bodyPr wrap="square" lIns="0" rIns="0" tIns="0" bIns="0" anchor="t">
            <a:spAutoFit/>
          </a:bodyPr>
          <a:lstStyle/>
          <a:p>
            <a:pPr algn="l"/>
            <a:r>
              <a:rPr sz="1800" b="0" i="0">
                <a:solidFill>
                  <a:srgbClr val="C4C4E4"/>
                </a:solidFill>
                <a:latin typeface="Arial"/>
              </a:rPr>
              <a:t>Les ventes disent combien un jeu s'est vendu, pas s'il était bon. La deuxième base apporte l'avis de la presse et des joueurs sur chaque jeu.</a:t>
            </a:r>
          </a:p>
        </p:txBody>
      </p:sp>
      <p:sp>
        <p:nvSpPr>
          <p:cNvPr id="10" name="o9"/>
          <p:cNvSpPr txBox="1"/>
          <p:nvPr/>
        </p:nvSpPr>
        <p:spPr>
          <a:xfrm>
            <a:off x="548640" y="5074920"/>
            <a:ext cx="5486400" cy="457200"/>
          </a:xfrm>
          <a:prstGeom prst="rect">
            <a:avLst/>
          </a:prstGeom>
          <a:noFill/>
        </p:spPr>
        <p:txBody>
          <a:bodyPr wrap="square" lIns="0" rIns="0" tIns="0" bIns="0" anchor="t">
            <a:spAutoFit/>
          </a:bodyPr>
          <a:lstStyle/>
          <a:p>
            <a:pPr algn="l"/>
            <a:r>
              <a:rPr sz="1100" b="0" i="0">
                <a:solidFill>
                  <a:srgbClr val="7C7CAA"/>
                </a:solidFill>
                <a:latin typeface="Arial"/>
              </a:rPr>
              <a:t>Source : Video Game Sales with Ratings (Kaggle, rush4ratio) · scraping Metacritic du 22/12/2016 · licence non précisée, usage pédagogique</a:t>
            </a:r>
          </a:p>
        </p:txBody>
      </p:sp>
      <p:sp>
        <p:nvSpPr>
          <p:cNvPr id="11" name="o10"/>
          <p:cNvSpPr/>
          <p:nvPr/>
        </p:nvSpPr>
        <p:spPr>
          <a:xfrm>
            <a:off x="6446520" y="1691640"/>
            <a:ext cx="2423160" cy="1828800"/>
          </a:xfrm>
          <a:prstGeom prst="roundRect">
            <a:avLst>
              <a:gd name="adj" fmla="val 7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11"/>
          <p:cNvSpPr/>
          <p:nvPr/>
        </p:nvSpPr>
        <p:spPr>
          <a:xfrm>
            <a:off x="6515100" y="1760220"/>
            <a:ext cx="2286000" cy="1691640"/>
          </a:xfrm>
          <a:prstGeom prst="roundRect">
            <a:avLst>
              <a:gd name="adj" fmla="val 3513"/>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o12" descr="16 719"/>
          <p:cNvPicPr>
            <a:picLocks noChangeAspect="1"/>
          </p:cNvPicPr>
          <p:nvPr/>
        </p:nvPicPr>
        <p:blipFill>
          <a:blip r:embed="rId7"/>
          <a:stretch>
            <a:fillRect/>
          </a:stretch>
        </p:blipFill>
        <p:spPr>
          <a:xfrm>
            <a:off x="6720840" y="1965960"/>
            <a:ext cx="1975104" cy="329184"/>
          </a:xfrm>
          <a:prstGeom prst="rect">
            <a:avLst/>
          </a:prstGeom>
        </p:spPr>
      </p:pic>
      <p:sp>
        <p:nvSpPr>
          <p:cNvPr id="14" name="o13"/>
          <p:cNvSpPr txBox="1"/>
          <p:nvPr/>
        </p:nvSpPr>
        <p:spPr>
          <a:xfrm>
            <a:off x="6720840" y="2523744"/>
            <a:ext cx="1874519" cy="859536"/>
          </a:xfrm>
          <a:prstGeom prst="rect">
            <a:avLst/>
          </a:prstGeom>
          <a:noFill/>
        </p:spPr>
        <p:txBody>
          <a:bodyPr wrap="square" lIns="0" rIns="0" tIns="0" bIns="0" anchor="t">
            <a:spAutoFit/>
          </a:bodyPr>
          <a:lstStyle/>
          <a:p>
            <a:pPr algn="l"/>
            <a:r>
              <a:rPr sz="1400" b="0" i="0">
                <a:solidFill>
                  <a:srgbClr val="C4C4E4"/>
                </a:solidFill>
                <a:latin typeface="Arial"/>
              </a:rPr>
              <a:t>lignes : un jeu sur une plateforme, comme vgsales</a:t>
            </a:r>
          </a:p>
        </p:txBody>
      </p:sp>
      <p:sp>
        <p:nvSpPr>
          <p:cNvPr id="15" name="o14"/>
          <p:cNvSpPr/>
          <p:nvPr/>
        </p:nvSpPr>
        <p:spPr>
          <a:xfrm>
            <a:off x="9043416" y="1691640"/>
            <a:ext cx="2423160" cy="1828800"/>
          </a:xfrm>
          <a:prstGeom prst="roundRect">
            <a:avLst>
              <a:gd name="adj" fmla="val 7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15"/>
          <p:cNvSpPr/>
          <p:nvPr/>
        </p:nvSpPr>
        <p:spPr>
          <a:xfrm>
            <a:off x="9111996" y="1760220"/>
            <a:ext cx="2286000" cy="1691640"/>
          </a:xfrm>
          <a:prstGeom prst="roundRect">
            <a:avLst>
              <a:gd name="adj" fmla="val 3513"/>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o16" descr="6"/>
          <p:cNvPicPr>
            <a:picLocks noChangeAspect="1"/>
          </p:cNvPicPr>
          <p:nvPr/>
        </p:nvPicPr>
        <p:blipFill>
          <a:blip r:embed="rId8"/>
          <a:stretch>
            <a:fillRect/>
          </a:stretch>
        </p:blipFill>
        <p:spPr>
          <a:xfrm>
            <a:off x="9317736" y="1965960"/>
            <a:ext cx="329184" cy="329184"/>
          </a:xfrm>
          <a:prstGeom prst="rect">
            <a:avLst/>
          </a:prstGeom>
        </p:spPr>
      </p:pic>
      <p:sp>
        <p:nvSpPr>
          <p:cNvPr id="18" name="o17"/>
          <p:cNvSpPr txBox="1"/>
          <p:nvPr/>
        </p:nvSpPr>
        <p:spPr>
          <a:xfrm>
            <a:off x="9317736" y="2523744"/>
            <a:ext cx="1874519" cy="859536"/>
          </a:xfrm>
          <a:prstGeom prst="rect">
            <a:avLst/>
          </a:prstGeom>
          <a:noFill/>
        </p:spPr>
        <p:txBody>
          <a:bodyPr wrap="square" lIns="0" rIns="0" tIns="0" bIns="0" anchor="t">
            <a:spAutoFit/>
          </a:bodyPr>
          <a:lstStyle/>
          <a:p>
            <a:pPr algn="l"/>
            <a:r>
              <a:rPr sz="1400" b="0" i="0">
                <a:solidFill>
                  <a:srgbClr val="C4C4E4"/>
                </a:solidFill>
                <a:latin typeface="Arial"/>
              </a:rPr>
              <a:t>colonnes nouvelles : notes, nombre d'avis, studio, âge</a:t>
            </a:r>
          </a:p>
        </p:txBody>
      </p:sp>
      <p:sp>
        <p:nvSpPr>
          <p:cNvPr id="19" name="o18"/>
          <p:cNvSpPr/>
          <p:nvPr/>
        </p:nvSpPr>
        <p:spPr>
          <a:xfrm>
            <a:off x="6446520" y="3749039"/>
            <a:ext cx="2423160" cy="1828800"/>
          </a:xfrm>
          <a:prstGeom prst="roundRect">
            <a:avLst>
              <a:gd name="adj" fmla="val 7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19"/>
          <p:cNvSpPr/>
          <p:nvPr/>
        </p:nvSpPr>
        <p:spPr>
          <a:xfrm>
            <a:off x="6515100" y="3817620"/>
            <a:ext cx="2286000" cy="1691640"/>
          </a:xfrm>
          <a:prstGeom prst="roundRect">
            <a:avLst>
              <a:gd name="adj" fmla="val 3513"/>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o20" descr="51%"/>
          <p:cNvPicPr>
            <a:picLocks noChangeAspect="1"/>
          </p:cNvPicPr>
          <p:nvPr/>
        </p:nvPicPr>
        <p:blipFill>
          <a:blip r:embed="rId9"/>
          <a:stretch>
            <a:fillRect/>
          </a:stretch>
        </p:blipFill>
        <p:spPr>
          <a:xfrm>
            <a:off x="6720840" y="4023359"/>
            <a:ext cx="987552" cy="329184"/>
          </a:xfrm>
          <a:prstGeom prst="rect">
            <a:avLst/>
          </a:prstGeom>
        </p:spPr>
      </p:pic>
      <p:sp>
        <p:nvSpPr>
          <p:cNvPr id="22" name="o21"/>
          <p:cNvSpPr txBox="1"/>
          <p:nvPr/>
        </p:nvSpPr>
        <p:spPr>
          <a:xfrm>
            <a:off x="6720840" y="4581144"/>
            <a:ext cx="1874519" cy="859536"/>
          </a:xfrm>
          <a:prstGeom prst="rect">
            <a:avLst/>
          </a:prstGeom>
          <a:noFill/>
        </p:spPr>
        <p:txBody>
          <a:bodyPr wrap="square" lIns="0" rIns="0" tIns="0" bIns="0" anchor="t">
            <a:spAutoFit/>
          </a:bodyPr>
          <a:lstStyle/>
          <a:p>
            <a:pPr algn="l"/>
            <a:r>
              <a:rPr sz="1400" b="0" i="0">
                <a:solidFill>
                  <a:srgbClr val="C4C4E4"/>
                </a:solidFill>
                <a:latin typeface="Arial"/>
              </a:rPr>
              <a:t>de notes presse manquantes dans le brut</a:t>
            </a:r>
          </a:p>
        </p:txBody>
      </p:sp>
      <p:sp>
        <p:nvSpPr>
          <p:cNvPr id="23" name="o22"/>
          <p:cNvSpPr/>
          <p:nvPr/>
        </p:nvSpPr>
        <p:spPr>
          <a:xfrm>
            <a:off x="9043416" y="3749039"/>
            <a:ext cx="2423160" cy="1828800"/>
          </a:xfrm>
          <a:prstGeom prst="roundRect">
            <a:avLst>
              <a:gd name="adj" fmla="val 7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23"/>
          <p:cNvSpPr/>
          <p:nvPr/>
        </p:nvSpPr>
        <p:spPr>
          <a:xfrm>
            <a:off x="9111996" y="3817620"/>
            <a:ext cx="2286000" cy="1691640"/>
          </a:xfrm>
          <a:prstGeom prst="roundRect">
            <a:avLst>
              <a:gd name="adj" fmla="val 3513"/>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o24" descr="99,7%"/>
          <p:cNvPicPr>
            <a:picLocks noChangeAspect="1"/>
          </p:cNvPicPr>
          <p:nvPr/>
        </p:nvPicPr>
        <p:blipFill>
          <a:blip r:embed="rId10"/>
          <a:stretch>
            <a:fillRect/>
          </a:stretch>
        </p:blipFill>
        <p:spPr>
          <a:xfrm>
            <a:off x="9317736" y="4023359"/>
            <a:ext cx="1645919" cy="329184"/>
          </a:xfrm>
          <a:prstGeom prst="rect">
            <a:avLst/>
          </a:prstGeom>
        </p:spPr>
      </p:pic>
      <p:sp>
        <p:nvSpPr>
          <p:cNvPr id="26" name="o25"/>
          <p:cNvSpPr txBox="1"/>
          <p:nvPr/>
        </p:nvSpPr>
        <p:spPr>
          <a:xfrm>
            <a:off x="9317736" y="4581144"/>
            <a:ext cx="1874519" cy="859536"/>
          </a:xfrm>
          <a:prstGeom prst="rect">
            <a:avLst/>
          </a:prstGeom>
          <a:noFill/>
        </p:spPr>
        <p:txBody>
          <a:bodyPr wrap="square" lIns="0" rIns="0" tIns="0" bIns="0" anchor="t">
            <a:spAutoFit/>
          </a:bodyPr>
          <a:lstStyle/>
          <a:p>
            <a:pPr algn="l"/>
            <a:r>
              <a:rPr sz="1400" b="0" i="0">
                <a:solidFill>
                  <a:srgbClr val="C4C4E4"/>
                </a:solidFill>
                <a:latin typeface="Arial"/>
              </a:rPr>
              <a:t>des jeux de vgsales retrouvés dans Metacritic</a:t>
            </a:r>
          </a:p>
        </p:txBody>
      </p:sp>
      <p:pic>
        <p:nvPicPr>
          <p:cNvPr id="27" name="fin_pastille" descr="image-1-13.gif"/>
          <p:cNvPicPr>
            <a:picLocks noChangeAspect="1"/>
          </p:cNvPicPr>
          <p:nvPr/>
        </p:nvPicPr>
        <p:blipFill>
          <a:blip r:embed="rId11"/>
          <a:stretch>
            <a:fillRect/>
          </a:stretch>
        </p:blipFill>
        <p:spPr>
          <a:xfrm>
            <a:off x="11448288" y="6355080"/>
            <a:ext cx="182880" cy="182880"/>
          </a:xfrm>
          <a:prstGeom prst="rect">
            <a:avLst/>
          </a:prstGeom>
        </p:spPr>
      </p:pic>
      <p:pic>
        <p:nvPicPr>
          <p:cNvPr id="28" name="barre_fantome" descr="image-1-15.gif"/>
          <p:cNvPicPr>
            <a:picLocks noChangeAspect="1"/>
          </p:cNvPicPr>
          <p:nvPr/>
        </p:nvPicPr>
        <p:blipFill>
          <a:blip r:embed="rId12"/>
          <a:stretch>
            <a:fillRect/>
          </a:stretch>
        </p:blipFill>
        <p:spPr>
          <a:xfrm>
            <a:off x="1600200" y="6291072"/>
            <a:ext cx="310896" cy="310896"/>
          </a:xfrm>
          <a:prstGeom prst="rect">
            <a:avLst/>
          </a:prstGeom>
        </p:spPr>
      </p:pic>
      <p:pic>
        <p:nvPicPr>
          <p:cNvPr id="29" name="barre_pacman" descr="image-1-14.gif"/>
          <p:cNvPicPr>
            <a:picLocks noChangeAspect="1"/>
          </p:cNvPicPr>
          <p:nvPr/>
        </p:nvPicPr>
        <p:blipFill>
          <a:blip r:embed="rId13"/>
          <a:stretch>
            <a:fillRect/>
          </a:stretch>
        </p:blipFill>
        <p:spPr>
          <a:xfrm>
            <a:off x="2167128" y="6291072"/>
            <a:ext cx="310896" cy="310896"/>
          </a:xfrm>
          <a:prstGeom prst="rect">
            <a:avLst/>
          </a:prstGeom>
        </p:spPr>
      </p:pic>
      <p:sp>
        <p:nvSpPr>
          <p:cNvPr id="30" name="barre_pastille_2.75"/>
          <p:cNvSpPr/>
          <p:nvPr/>
        </p:nvSpPr>
        <p:spPr>
          <a:xfrm>
            <a:off x="2514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3.00"/>
          <p:cNvSpPr/>
          <p:nvPr/>
        </p:nvSpPr>
        <p:spPr>
          <a:xfrm>
            <a:off x="2743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re_pastille_3.25"/>
          <p:cNvSpPr/>
          <p:nvPr/>
        </p:nvSpPr>
        <p:spPr>
          <a:xfrm>
            <a:off x="2971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3.50"/>
          <p:cNvSpPr/>
          <p:nvPr/>
        </p:nvSpPr>
        <p:spPr>
          <a:xfrm>
            <a:off x="3200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3.75"/>
          <p:cNvSpPr/>
          <p:nvPr/>
        </p:nvSpPr>
        <p:spPr>
          <a:xfrm>
            <a:off x="3429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28"/>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29"/>
                                        </p:tgtEl>
                                        <p:attrNameLst>
                                          <p:attrName>ppt_x</p:attrName>
                                          <p:attrName>ppt_y</p:attrName>
                                        </p:attrNameLst>
                                      </p:cBhvr>
                                    </p:animMotion>
                                  </p:childTnLst>
                                </p:cTn>
                              </p:par>
                              <p:par>
                                <p:cTn id="9" presetID="1" presetClass="exit" presetSubtype="0" fill="hold" nodeType="withEffect">
                                  <p:stCondLst>
                                    <p:cond delay="133"/>
                                  </p:stCondLst>
                                  <p:childTnLst>
                                    <p:set>
                                      <p:cBhvr>
                                        <p:cTn id="10" dur="1" fill="hold">
                                          <p:stCondLst>
                                            <p:cond delay="0"/>
                                          </p:stCondLst>
                                        </p:cTn>
                                        <p:tgtEl>
                                          <p:spTgt spid="30"/>
                                        </p:tgtEl>
                                        <p:attrNameLst>
                                          <p:attrName>style.visibility</p:attrName>
                                        </p:attrNameLst>
                                      </p:cBhvr>
                                      <p:to>
                                        <p:strVal val="hidden"/>
                                      </p:to>
                                    </p:set>
                                  </p:childTnLst>
                                </p:cTn>
                              </p:par>
                              <p:par>
                                <p:cTn id="11" presetID="1" presetClass="exit" presetSubtype="0" fill="hold" nodeType="withEffect">
                                  <p:stCondLst>
                                    <p:cond delay="550"/>
                                  </p:stCondLst>
                                  <p:childTnLst>
                                    <p:set>
                                      <p:cBhvr>
                                        <p:cTn id="12" dur="1" fill="hold">
                                          <p:stCondLst>
                                            <p:cond delay="0"/>
                                          </p:stCondLst>
                                        </p:cTn>
                                        <p:tgtEl>
                                          <p:spTgt spid="31"/>
                                        </p:tgtEl>
                                        <p:attrNameLst>
                                          <p:attrName>style.visibility</p:attrName>
                                        </p:attrNameLst>
                                      </p:cBhvr>
                                      <p:to>
                                        <p:strVal val="hidden"/>
                                      </p:to>
                                    </p:set>
                                  </p:childTnLst>
                                </p:cTn>
                              </p:par>
                              <p:par>
                                <p:cTn id="13" presetID="10" presetClass="entr" presetSubtype="0" fill="hold" nodeType="withEffect">
                                  <p:stCondLst>
                                    <p:cond delay="2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par>
                                <p:cTn id="16" presetID="10" presetClass="entr" presetSubtype="0" fill="hold" nodeType="withEffect">
                                  <p:stCondLst>
                                    <p:cond delay="20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nodeType="withEffect">
                                  <p:stCondLst>
                                    <p:cond delay="20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nodeType="withEffect">
                                  <p:stCondLst>
                                    <p:cond delay="2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nodeType="withEffect">
                                  <p:stCondLst>
                                    <p:cond delay="4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nodeType="withEffect">
                                  <p:stCondLst>
                                    <p:cond delay="40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par>
                                <p:cTn id="34" presetID="10" presetClass="entr" presetSubtype="0" fill="hold" nodeType="withEffect">
                                  <p:stCondLst>
                                    <p:cond delay="40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par>
                                <p:cTn id="37" presetID="10" presetClass="entr" presetSubtype="0" fill="hold" nodeType="withEffect">
                                  <p:stCondLst>
                                    <p:cond delay="60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00"/>
                                        <p:tgtEl>
                                          <p:spTgt spid="19"/>
                                        </p:tgtEl>
                                      </p:cBhvr>
                                    </p:animEffect>
                                  </p:childTnLst>
                                </p:cTn>
                              </p:par>
                              <p:par>
                                <p:cTn id="40" presetID="10" presetClass="entr" presetSubtype="0" fill="hold" nodeType="withEffect">
                                  <p:stCondLst>
                                    <p:cond delay="6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10" presetClass="entr" presetSubtype="0" fill="hold" nodeType="withEffect">
                                  <p:stCondLst>
                                    <p:cond delay="60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00"/>
                                        <p:tgtEl>
                                          <p:spTgt spid="21"/>
                                        </p:tgtEl>
                                      </p:cBhvr>
                                    </p:animEffect>
                                  </p:childTnLst>
                                </p:cTn>
                              </p:par>
                              <p:par>
                                <p:cTn id="46" presetID="10" presetClass="entr" presetSubtype="0" fill="hold" nodeType="withEffect">
                                  <p:stCondLst>
                                    <p:cond delay="6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00"/>
                                        <p:tgtEl>
                                          <p:spTgt spid="22"/>
                                        </p:tgtEl>
                                      </p:cBhvr>
                                    </p:animEffect>
                                  </p:childTnLst>
                                </p:cTn>
                              </p:par>
                              <p:par>
                                <p:cTn id="49" presetID="10" presetClass="entr" presetSubtype="0" fill="hold" nodeType="withEffect">
                                  <p:stCondLst>
                                    <p:cond delay="80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nodeType="withEffect">
                                  <p:stCondLst>
                                    <p:cond delay="80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nodeType="withEffect">
                                  <p:stCondLst>
                                    <p:cond delay="80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par>
                                <p:cTn id="58" presetID="10" presetClass="entr" presetSubtype="0" fill="hold" nodeType="withEffect">
                                  <p:stCondLst>
                                    <p:cond delay="80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1 → MISSION"/>
          <p:cNvPicPr>
            <a:picLocks noChangeAspect="1"/>
          </p:cNvPicPr>
          <p:nvPr/>
        </p:nvPicPr>
        <p:blipFill>
          <a:blip r:embed="rId3"/>
          <a:stretch>
            <a:fillRect/>
          </a:stretch>
        </p:blipFill>
        <p:spPr>
          <a:xfrm>
            <a:off x="548640" y="411480"/>
            <a:ext cx="2487168" cy="146304"/>
          </a:xfrm>
          <a:prstGeom prst="rect">
            <a:avLst/>
          </a:prstGeom>
        </p:spPr>
      </p:pic>
      <p:pic>
        <p:nvPicPr>
          <p:cNvPr id="3" name="o2" descr="Pourquoi cette base ?"/>
          <p:cNvPicPr>
            <a:picLocks noChangeAspect="1"/>
          </p:cNvPicPr>
          <p:nvPr/>
        </p:nvPicPr>
        <p:blipFill>
          <a:blip r:embed="rId4"/>
          <a:stretch>
            <a:fillRect/>
          </a:stretch>
        </p:blipFill>
        <p:spPr>
          <a:xfrm>
            <a:off x="548640" y="777240"/>
            <a:ext cx="5760720" cy="274320"/>
          </a:xfrm>
          <a:prstGeom prst="rect">
            <a:avLst/>
          </a:prstGeom>
        </p:spPr>
      </p:pic>
      <p:pic>
        <p:nvPicPr>
          <p:cNvPr id="4" name="o3" descr="image-2-7.png"/>
          <p:cNvPicPr>
            <a:picLocks noChangeAspect="1"/>
          </p:cNvPicPr>
          <p:nvPr/>
        </p:nvPicPr>
        <p:blipFill>
          <a:blip r:embed="rId5"/>
          <a:stretch>
            <a:fillRect/>
          </a:stretch>
        </p:blipFill>
        <p:spPr>
          <a:xfrm>
            <a:off x="11073384" y="365760"/>
            <a:ext cx="566928" cy="566928"/>
          </a:xfrm>
          <a:prstGeom prst="rect">
            <a:avLst/>
          </a:prstGeom>
        </p:spPr>
      </p:pic>
      <p:pic>
        <p:nvPicPr>
          <p:cNvPr id="5" name="o4" descr="image-6-17.png"/>
          <p:cNvPicPr>
            <a:picLocks noChangeAspect="1"/>
          </p:cNvPicPr>
          <p:nvPr/>
        </p:nvPicPr>
        <p:blipFill>
          <a:blip r:embed="rId6"/>
          <a:stretch>
            <a:fillRect/>
          </a:stretch>
        </p:blipFill>
        <p:spPr>
          <a:xfrm>
            <a:off x="594360" y="1783080"/>
            <a:ext cx="502920" cy="502920"/>
          </a:xfrm>
          <a:prstGeom prst="rect">
            <a:avLst/>
          </a:prstGeom>
        </p:spPr>
      </p:pic>
      <p:sp>
        <p:nvSpPr>
          <p:cNvPr id="6" name="o5"/>
          <p:cNvSpPr txBox="1"/>
          <p:nvPr/>
        </p:nvSpPr>
        <p:spPr>
          <a:xfrm>
            <a:off x="1325880" y="1764792"/>
            <a:ext cx="4480560" cy="365760"/>
          </a:xfrm>
          <a:prstGeom prst="rect">
            <a:avLst/>
          </a:prstGeom>
          <a:noFill/>
        </p:spPr>
        <p:txBody>
          <a:bodyPr wrap="square" lIns="0" rIns="0" tIns="0" bIns="0" anchor="t">
            <a:spAutoFit/>
          </a:bodyPr>
          <a:lstStyle/>
          <a:p>
            <a:pPr algn="l"/>
            <a:r>
              <a:rPr sz="2000" b="1" i="0">
                <a:solidFill>
                  <a:srgbClr val="FFFFFF"/>
                </a:solidFill>
                <a:latin typeface="Arial"/>
              </a:rPr>
              <a:t>Jeux vidéo, 1980-2016</a:t>
            </a:r>
          </a:p>
        </p:txBody>
      </p:sp>
      <p:sp>
        <p:nvSpPr>
          <p:cNvPr id="7" name="o6"/>
          <p:cNvSpPr txBox="1"/>
          <p:nvPr/>
        </p:nvSpPr>
        <p:spPr>
          <a:xfrm>
            <a:off x="1325880" y="2167128"/>
            <a:ext cx="4480560" cy="320040"/>
          </a:xfrm>
          <a:prstGeom prst="rect">
            <a:avLst/>
          </a:prstGeom>
          <a:noFill/>
        </p:spPr>
        <p:txBody>
          <a:bodyPr wrap="square" lIns="0" rIns="0" tIns="0" bIns="0" anchor="t">
            <a:spAutoFit/>
          </a:bodyPr>
          <a:lstStyle/>
          <a:p>
            <a:pPr algn="l"/>
            <a:r>
              <a:rPr sz="1500" b="0" i="0">
                <a:solidFill>
                  <a:srgbClr val="C4C4E4"/>
                </a:solidFill>
                <a:latin typeface="Arial"/>
              </a:rPr>
              <a:t>la même période que nos ventes</a:t>
            </a:r>
          </a:p>
        </p:txBody>
      </p:sp>
      <p:pic>
        <p:nvPicPr>
          <p:cNvPr id="8" name="o7" descr="image-6-17.png"/>
          <p:cNvPicPr>
            <a:picLocks noChangeAspect="1"/>
          </p:cNvPicPr>
          <p:nvPr/>
        </p:nvPicPr>
        <p:blipFill>
          <a:blip r:embed="rId6"/>
          <a:stretch>
            <a:fillRect/>
          </a:stretch>
        </p:blipFill>
        <p:spPr>
          <a:xfrm>
            <a:off x="594360" y="2807208"/>
            <a:ext cx="502920" cy="502920"/>
          </a:xfrm>
          <a:prstGeom prst="rect">
            <a:avLst/>
          </a:prstGeom>
        </p:spPr>
      </p:pic>
      <p:sp>
        <p:nvSpPr>
          <p:cNvPr id="9" name="o8"/>
          <p:cNvSpPr txBox="1"/>
          <p:nvPr/>
        </p:nvSpPr>
        <p:spPr>
          <a:xfrm>
            <a:off x="1325880" y="2788920"/>
            <a:ext cx="4480560" cy="365760"/>
          </a:xfrm>
          <a:prstGeom prst="rect">
            <a:avLst/>
          </a:prstGeom>
          <a:noFill/>
        </p:spPr>
        <p:txBody>
          <a:bodyPr wrap="square" lIns="0" rIns="0" tIns="0" bIns="0" anchor="t">
            <a:spAutoFit/>
          </a:bodyPr>
          <a:lstStyle/>
          <a:p>
            <a:pPr algn="l"/>
            <a:r>
              <a:rPr sz="2000" b="1" i="0">
                <a:solidFill>
                  <a:srgbClr val="FFFFFF"/>
                </a:solidFill>
                <a:latin typeface="Arial"/>
              </a:rPr>
              <a:t>Une clé commune</a:t>
            </a:r>
          </a:p>
        </p:txBody>
      </p:sp>
      <p:sp>
        <p:nvSpPr>
          <p:cNvPr id="10" name="o9"/>
          <p:cNvSpPr txBox="1"/>
          <p:nvPr/>
        </p:nvSpPr>
        <p:spPr>
          <a:xfrm>
            <a:off x="1325880" y="3191256"/>
            <a:ext cx="4480560" cy="320040"/>
          </a:xfrm>
          <a:prstGeom prst="rect">
            <a:avLst/>
          </a:prstGeom>
          <a:noFill/>
        </p:spPr>
        <p:txBody>
          <a:bodyPr wrap="square" lIns="0" rIns="0" tIns="0" bIns="0" anchor="t">
            <a:spAutoFit/>
          </a:bodyPr>
          <a:lstStyle/>
          <a:p>
            <a:pPr algn="l"/>
            <a:r>
              <a:rPr sz="1500" b="0" i="0">
                <a:solidFill>
                  <a:srgbClr val="C4C4E4"/>
                </a:solidFill>
                <a:latin typeface="Arial"/>
              </a:rPr>
              <a:t>nom + plateforme + année</a:t>
            </a:r>
          </a:p>
        </p:txBody>
      </p:sp>
      <p:pic>
        <p:nvPicPr>
          <p:cNvPr id="11" name="o10" descr="image-6-17.png"/>
          <p:cNvPicPr>
            <a:picLocks noChangeAspect="1"/>
          </p:cNvPicPr>
          <p:nvPr/>
        </p:nvPicPr>
        <p:blipFill>
          <a:blip r:embed="rId6"/>
          <a:stretch>
            <a:fillRect/>
          </a:stretch>
        </p:blipFill>
        <p:spPr>
          <a:xfrm>
            <a:off x="594360" y="3831336"/>
            <a:ext cx="502920" cy="502920"/>
          </a:xfrm>
          <a:prstGeom prst="rect">
            <a:avLst/>
          </a:prstGeom>
        </p:spPr>
      </p:pic>
      <p:sp>
        <p:nvSpPr>
          <p:cNvPr id="12" name="o11"/>
          <p:cNvSpPr txBox="1"/>
          <p:nvPr/>
        </p:nvSpPr>
        <p:spPr>
          <a:xfrm>
            <a:off x="1325880" y="3813048"/>
            <a:ext cx="4480560" cy="365760"/>
          </a:xfrm>
          <a:prstGeom prst="rect">
            <a:avLst/>
          </a:prstGeom>
          <a:noFill/>
        </p:spPr>
        <p:txBody>
          <a:bodyPr wrap="square" lIns="0" rIns="0" tIns="0" bIns="0" anchor="t">
            <a:spAutoFit/>
          </a:bodyPr>
          <a:lstStyle/>
          <a:p>
            <a:pPr algn="l"/>
            <a:r>
              <a:rPr sz="2000" b="1" i="0">
                <a:solidFill>
                  <a:srgbClr val="FFFFFF"/>
                </a:solidFill>
                <a:latin typeface="Arial"/>
              </a:rPr>
              <a:t>Une information nouvelle</a:t>
            </a:r>
          </a:p>
        </p:txBody>
      </p:sp>
      <p:sp>
        <p:nvSpPr>
          <p:cNvPr id="13" name="o12"/>
          <p:cNvSpPr txBox="1"/>
          <p:nvPr/>
        </p:nvSpPr>
        <p:spPr>
          <a:xfrm>
            <a:off x="1325880" y="4215384"/>
            <a:ext cx="4480560" cy="320040"/>
          </a:xfrm>
          <a:prstGeom prst="rect">
            <a:avLst/>
          </a:prstGeom>
          <a:noFill/>
        </p:spPr>
        <p:txBody>
          <a:bodyPr wrap="square" lIns="0" rIns="0" tIns="0" bIns="0" anchor="t">
            <a:spAutoFit/>
          </a:bodyPr>
          <a:lstStyle/>
          <a:p>
            <a:pPr algn="l"/>
            <a:r>
              <a:rPr sz="1500" b="0" i="0">
                <a:solidFill>
                  <a:srgbClr val="C4C4E4"/>
                </a:solidFill>
                <a:latin typeface="Arial"/>
              </a:rPr>
              <a:t>notes, studio, classification d'âge</a:t>
            </a:r>
          </a:p>
        </p:txBody>
      </p:sp>
      <p:pic>
        <p:nvPicPr>
          <p:cNvPr id="14" name="o13" descr="image-6-17.png"/>
          <p:cNvPicPr>
            <a:picLocks noChangeAspect="1"/>
          </p:cNvPicPr>
          <p:nvPr/>
        </p:nvPicPr>
        <p:blipFill>
          <a:blip r:embed="rId6"/>
          <a:stretch>
            <a:fillRect/>
          </a:stretch>
        </p:blipFill>
        <p:spPr>
          <a:xfrm>
            <a:off x="594360" y="4855464"/>
            <a:ext cx="502920" cy="502920"/>
          </a:xfrm>
          <a:prstGeom prst="rect">
            <a:avLst/>
          </a:prstGeom>
        </p:spPr>
      </p:pic>
      <p:sp>
        <p:nvSpPr>
          <p:cNvPr id="15" name="o14"/>
          <p:cNvSpPr txBox="1"/>
          <p:nvPr/>
        </p:nvSpPr>
        <p:spPr>
          <a:xfrm>
            <a:off x="1325880" y="4837176"/>
            <a:ext cx="4480560" cy="365760"/>
          </a:xfrm>
          <a:prstGeom prst="rect">
            <a:avLst/>
          </a:prstGeom>
          <a:noFill/>
        </p:spPr>
        <p:txBody>
          <a:bodyPr wrap="square" lIns="0" rIns="0" tIns="0" bIns="0" anchor="t">
            <a:spAutoFit/>
          </a:bodyPr>
          <a:lstStyle/>
          <a:p>
            <a:pPr algn="l"/>
            <a:r>
              <a:rPr sz="2000" b="1" i="0">
                <a:solidFill>
                  <a:srgbClr val="FFFFFF"/>
                </a:solidFill>
                <a:latin typeface="Arial"/>
              </a:rPr>
              <a:t>Une source citable</a:t>
            </a:r>
          </a:p>
        </p:txBody>
      </p:sp>
      <p:sp>
        <p:nvSpPr>
          <p:cNvPr id="16" name="o15"/>
          <p:cNvSpPr txBox="1"/>
          <p:nvPr/>
        </p:nvSpPr>
        <p:spPr>
          <a:xfrm>
            <a:off x="1325880" y="5239512"/>
            <a:ext cx="4480560" cy="320040"/>
          </a:xfrm>
          <a:prstGeom prst="rect">
            <a:avLst/>
          </a:prstGeom>
          <a:noFill/>
        </p:spPr>
        <p:txBody>
          <a:bodyPr wrap="square" lIns="0" rIns="0" tIns="0" bIns="0" anchor="t">
            <a:spAutoFit/>
          </a:bodyPr>
          <a:lstStyle/>
          <a:p>
            <a:pPr algn="l"/>
            <a:r>
              <a:rPr sz="1500" b="0" i="0">
                <a:solidFill>
                  <a:srgbClr val="C4C4E4"/>
                </a:solidFill>
                <a:latin typeface="Arial"/>
              </a:rPr>
              <a:t>Kaggle, scraping daté du 22/12/2016</a:t>
            </a:r>
          </a:p>
        </p:txBody>
      </p:sp>
      <p:sp>
        <p:nvSpPr>
          <p:cNvPr id="17" name="o16"/>
          <p:cNvSpPr/>
          <p:nvPr/>
        </p:nvSpPr>
        <p:spPr>
          <a:xfrm>
            <a:off x="6309360" y="1691640"/>
            <a:ext cx="5330952" cy="4343400"/>
          </a:xfrm>
          <a:prstGeom prst="roundRect">
            <a:avLst>
              <a:gd name="adj" fmla="val 2947"/>
            </a:avLst>
          </a:prstGeom>
          <a:solidFill>
            <a:srgbClr val="000000"/>
          </a:solidFill>
          <a:ln w="28575">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17"/>
          <p:cNvSpPr/>
          <p:nvPr/>
        </p:nvSpPr>
        <p:spPr>
          <a:xfrm>
            <a:off x="6377940" y="1760220"/>
            <a:ext cx="5193792" cy="4206240"/>
          </a:xfrm>
          <a:prstGeom prst="roundRect">
            <a:avLst>
              <a:gd name="adj" fmla="val 1413"/>
            </a:avLst>
          </a:prstGeom>
          <a:noFill/>
          <a:ln w="12700">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o18" descr="FICHE DE JEU"/>
          <p:cNvPicPr>
            <a:picLocks noChangeAspect="1"/>
          </p:cNvPicPr>
          <p:nvPr/>
        </p:nvPicPr>
        <p:blipFill>
          <a:blip r:embed="rId7"/>
          <a:stretch>
            <a:fillRect/>
          </a:stretch>
        </p:blipFill>
        <p:spPr>
          <a:xfrm>
            <a:off x="6629400" y="1965960"/>
            <a:ext cx="1755648" cy="146304"/>
          </a:xfrm>
          <a:prstGeom prst="rect">
            <a:avLst/>
          </a:prstGeom>
        </p:spPr>
      </p:pic>
      <p:sp>
        <p:nvSpPr>
          <p:cNvPr id="20" name="o19"/>
          <p:cNvSpPr txBox="1"/>
          <p:nvPr/>
        </p:nvSpPr>
        <p:spPr>
          <a:xfrm>
            <a:off x="6629400" y="2286000"/>
            <a:ext cx="4754880" cy="365760"/>
          </a:xfrm>
          <a:prstGeom prst="rect">
            <a:avLst/>
          </a:prstGeom>
          <a:noFill/>
        </p:spPr>
        <p:txBody>
          <a:bodyPr wrap="square" lIns="0" rIns="0" tIns="0" bIns="0" anchor="t">
            <a:spAutoFit/>
          </a:bodyPr>
          <a:lstStyle/>
          <a:p>
            <a:pPr algn="l"/>
            <a:r>
              <a:rPr sz="2000" b="1" i="0">
                <a:solidFill>
                  <a:srgbClr val="FFFFFF"/>
                </a:solidFill>
                <a:latin typeface="Arial"/>
              </a:rPr>
              <a:t>Grand Theft Auto V · PS3 · 2013</a:t>
            </a:r>
          </a:p>
        </p:txBody>
      </p:sp>
      <p:pic>
        <p:nvPicPr>
          <p:cNvPr id="21" name="o20" descr="BASE 1"/>
          <p:cNvPicPr>
            <a:picLocks noChangeAspect="1"/>
          </p:cNvPicPr>
          <p:nvPr/>
        </p:nvPicPr>
        <p:blipFill>
          <a:blip r:embed="rId8"/>
          <a:stretch>
            <a:fillRect/>
          </a:stretch>
        </p:blipFill>
        <p:spPr>
          <a:xfrm>
            <a:off x="6629400" y="2990088"/>
            <a:ext cx="713232" cy="118872"/>
          </a:xfrm>
          <a:prstGeom prst="rect">
            <a:avLst/>
          </a:prstGeom>
        </p:spPr>
      </p:pic>
      <p:sp>
        <p:nvSpPr>
          <p:cNvPr id="22" name="o21"/>
          <p:cNvSpPr txBox="1"/>
          <p:nvPr/>
        </p:nvSpPr>
        <p:spPr>
          <a:xfrm>
            <a:off x="7589520" y="2926080"/>
            <a:ext cx="1554480" cy="365760"/>
          </a:xfrm>
          <a:prstGeom prst="rect">
            <a:avLst/>
          </a:prstGeom>
          <a:noFill/>
        </p:spPr>
        <p:txBody>
          <a:bodyPr wrap="square" lIns="0" rIns="0" tIns="0" bIns="0" anchor="t">
            <a:spAutoFit/>
          </a:bodyPr>
          <a:lstStyle/>
          <a:p>
            <a:pPr algn="l"/>
            <a:r>
              <a:rPr sz="1500" b="0" i="0">
                <a:solidFill>
                  <a:srgbClr val="C4C4E4"/>
                </a:solidFill>
                <a:latin typeface="Arial"/>
              </a:rPr>
              <a:t>ventes</a:t>
            </a:r>
          </a:p>
        </p:txBody>
      </p:sp>
      <p:sp>
        <p:nvSpPr>
          <p:cNvPr id="23" name="o22"/>
          <p:cNvSpPr txBox="1"/>
          <p:nvPr/>
        </p:nvSpPr>
        <p:spPr>
          <a:xfrm>
            <a:off x="9144000" y="2926080"/>
            <a:ext cx="2286000" cy="365760"/>
          </a:xfrm>
          <a:prstGeom prst="rect">
            <a:avLst/>
          </a:prstGeom>
          <a:noFill/>
        </p:spPr>
        <p:txBody>
          <a:bodyPr wrap="square" lIns="0" rIns="0" tIns="0" bIns="0" anchor="t">
            <a:spAutoFit/>
          </a:bodyPr>
          <a:lstStyle/>
          <a:p>
            <a:pPr algn="l"/>
            <a:r>
              <a:rPr sz="1600" b="1" i="0">
                <a:solidFill>
                  <a:srgbClr val="00FFFF"/>
                </a:solidFill>
                <a:latin typeface="Arial"/>
              </a:rPr>
              <a:t>21,40 M</a:t>
            </a:r>
          </a:p>
        </p:txBody>
      </p:sp>
      <p:pic>
        <p:nvPicPr>
          <p:cNvPr id="24" name="o23" descr="BASE 2"/>
          <p:cNvPicPr>
            <a:picLocks noChangeAspect="1"/>
          </p:cNvPicPr>
          <p:nvPr/>
        </p:nvPicPr>
        <p:blipFill>
          <a:blip r:embed="rId9"/>
          <a:stretch>
            <a:fillRect/>
          </a:stretch>
        </p:blipFill>
        <p:spPr>
          <a:xfrm>
            <a:off x="6629400" y="3557016"/>
            <a:ext cx="713232" cy="118872"/>
          </a:xfrm>
          <a:prstGeom prst="rect">
            <a:avLst/>
          </a:prstGeom>
        </p:spPr>
      </p:pic>
      <p:sp>
        <p:nvSpPr>
          <p:cNvPr id="25" name="o24"/>
          <p:cNvSpPr txBox="1"/>
          <p:nvPr/>
        </p:nvSpPr>
        <p:spPr>
          <a:xfrm>
            <a:off x="7589520" y="3493008"/>
            <a:ext cx="1554480" cy="365760"/>
          </a:xfrm>
          <a:prstGeom prst="rect">
            <a:avLst/>
          </a:prstGeom>
          <a:noFill/>
        </p:spPr>
        <p:txBody>
          <a:bodyPr wrap="square" lIns="0" rIns="0" tIns="0" bIns="0" anchor="t">
            <a:spAutoFit/>
          </a:bodyPr>
          <a:lstStyle/>
          <a:p>
            <a:pPr algn="l"/>
            <a:r>
              <a:rPr sz="1500" b="0" i="0">
                <a:solidFill>
                  <a:srgbClr val="C4C4E4"/>
                </a:solidFill>
                <a:latin typeface="Arial"/>
              </a:rPr>
              <a:t>note presse</a:t>
            </a:r>
          </a:p>
        </p:txBody>
      </p:sp>
      <p:sp>
        <p:nvSpPr>
          <p:cNvPr id="26" name="o25"/>
          <p:cNvSpPr txBox="1"/>
          <p:nvPr/>
        </p:nvSpPr>
        <p:spPr>
          <a:xfrm>
            <a:off x="9144000" y="3493008"/>
            <a:ext cx="2286000" cy="365760"/>
          </a:xfrm>
          <a:prstGeom prst="rect">
            <a:avLst/>
          </a:prstGeom>
          <a:noFill/>
        </p:spPr>
        <p:txBody>
          <a:bodyPr wrap="square" lIns="0" rIns="0" tIns="0" bIns="0" anchor="t">
            <a:spAutoFit/>
          </a:bodyPr>
          <a:lstStyle/>
          <a:p>
            <a:pPr algn="l"/>
            <a:r>
              <a:rPr sz="1600" b="1" i="0">
                <a:solidFill>
                  <a:srgbClr val="FFE600"/>
                </a:solidFill>
                <a:latin typeface="Arial"/>
              </a:rPr>
              <a:t>97/100</a:t>
            </a:r>
          </a:p>
        </p:txBody>
      </p:sp>
      <p:pic>
        <p:nvPicPr>
          <p:cNvPr id="27" name="o26" descr="BASE 2"/>
          <p:cNvPicPr>
            <a:picLocks noChangeAspect="1"/>
          </p:cNvPicPr>
          <p:nvPr/>
        </p:nvPicPr>
        <p:blipFill>
          <a:blip r:embed="rId9"/>
          <a:stretch>
            <a:fillRect/>
          </a:stretch>
        </p:blipFill>
        <p:spPr>
          <a:xfrm>
            <a:off x="6629400" y="4123944"/>
            <a:ext cx="713232" cy="118872"/>
          </a:xfrm>
          <a:prstGeom prst="rect">
            <a:avLst/>
          </a:prstGeom>
        </p:spPr>
      </p:pic>
      <p:sp>
        <p:nvSpPr>
          <p:cNvPr id="28" name="o27"/>
          <p:cNvSpPr txBox="1"/>
          <p:nvPr/>
        </p:nvSpPr>
        <p:spPr>
          <a:xfrm>
            <a:off x="7589520" y="4059936"/>
            <a:ext cx="1554480" cy="365760"/>
          </a:xfrm>
          <a:prstGeom prst="rect">
            <a:avLst/>
          </a:prstGeom>
          <a:noFill/>
        </p:spPr>
        <p:txBody>
          <a:bodyPr wrap="square" lIns="0" rIns="0" tIns="0" bIns="0" anchor="t">
            <a:spAutoFit/>
          </a:bodyPr>
          <a:lstStyle/>
          <a:p>
            <a:pPr algn="l"/>
            <a:r>
              <a:rPr sz="1500" b="0" i="0">
                <a:solidFill>
                  <a:srgbClr val="C4C4E4"/>
                </a:solidFill>
                <a:latin typeface="Arial"/>
              </a:rPr>
              <a:t>note joueurs</a:t>
            </a:r>
          </a:p>
        </p:txBody>
      </p:sp>
      <p:sp>
        <p:nvSpPr>
          <p:cNvPr id="29" name="o28"/>
          <p:cNvSpPr txBox="1"/>
          <p:nvPr/>
        </p:nvSpPr>
        <p:spPr>
          <a:xfrm>
            <a:off x="9144000" y="4059936"/>
            <a:ext cx="2286000" cy="365760"/>
          </a:xfrm>
          <a:prstGeom prst="rect">
            <a:avLst/>
          </a:prstGeom>
          <a:noFill/>
        </p:spPr>
        <p:txBody>
          <a:bodyPr wrap="square" lIns="0" rIns="0" tIns="0" bIns="0" anchor="t">
            <a:spAutoFit/>
          </a:bodyPr>
          <a:lstStyle/>
          <a:p>
            <a:pPr algn="l"/>
            <a:r>
              <a:rPr sz="1600" b="1" i="0">
                <a:solidFill>
                  <a:srgbClr val="FFB8FF"/>
                </a:solidFill>
                <a:latin typeface="Arial"/>
              </a:rPr>
              <a:t>8,2/10</a:t>
            </a:r>
          </a:p>
        </p:txBody>
      </p:sp>
      <p:pic>
        <p:nvPicPr>
          <p:cNvPr id="30" name="o29" descr="BASE 2"/>
          <p:cNvPicPr>
            <a:picLocks noChangeAspect="1"/>
          </p:cNvPicPr>
          <p:nvPr/>
        </p:nvPicPr>
        <p:blipFill>
          <a:blip r:embed="rId9"/>
          <a:stretch>
            <a:fillRect/>
          </a:stretch>
        </p:blipFill>
        <p:spPr>
          <a:xfrm>
            <a:off x="6629400" y="4690872"/>
            <a:ext cx="713232" cy="118872"/>
          </a:xfrm>
          <a:prstGeom prst="rect">
            <a:avLst/>
          </a:prstGeom>
        </p:spPr>
      </p:pic>
      <p:sp>
        <p:nvSpPr>
          <p:cNvPr id="31" name="o30"/>
          <p:cNvSpPr txBox="1"/>
          <p:nvPr/>
        </p:nvSpPr>
        <p:spPr>
          <a:xfrm>
            <a:off x="7589520" y="4626864"/>
            <a:ext cx="1554480" cy="365760"/>
          </a:xfrm>
          <a:prstGeom prst="rect">
            <a:avLst/>
          </a:prstGeom>
          <a:noFill/>
        </p:spPr>
        <p:txBody>
          <a:bodyPr wrap="square" lIns="0" rIns="0" tIns="0" bIns="0" anchor="t">
            <a:spAutoFit/>
          </a:bodyPr>
          <a:lstStyle/>
          <a:p>
            <a:pPr algn="l"/>
            <a:r>
              <a:rPr sz="1500" b="0" i="0">
                <a:solidFill>
                  <a:srgbClr val="C4C4E4"/>
                </a:solidFill>
                <a:latin typeface="Arial"/>
              </a:rPr>
              <a:t>studio</a:t>
            </a:r>
          </a:p>
        </p:txBody>
      </p:sp>
      <p:sp>
        <p:nvSpPr>
          <p:cNvPr id="32" name="o31"/>
          <p:cNvSpPr txBox="1"/>
          <p:nvPr/>
        </p:nvSpPr>
        <p:spPr>
          <a:xfrm>
            <a:off x="9144000" y="4626864"/>
            <a:ext cx="2286000" cy="365760"/>
          </a:xfrm>
          <a:prstGeom prst="rect">
            <a:avLst/>
          </a:prstGeom>
          <a:noFill/>
        </p:spPr>
        <p:txBody>
          <a:bodyPr wrap="square" lIns="0" rIns="0" tIns="0" bIns="0" anchor="t">
            <a:spAutoFit/>
          </a:bodyPr>
          <a:lstStyle/>
          <a:p>
            <a:pPr algn="l"/>
            <a:r>
              <a:rPr sz="1600" b="1" i="0">
                <a:solidFill>
                  <a:srgbClr val="FFB852"/>
                </a:solidFill>
                <a:latin typeface="Arial"/>
              </a:rPr>
              <a:t>Rockstar North</a:t>
            </a:r>
          </a:p>
        </p:txBody>
      </p:sp>
      <p:pic>
        <p:nvPicPr>
          <p:cNvPr id="33" name="o32" descr="BASE 2"/>
          <p:cNvPicPr>
            <a:picLocks noChangeAspect="1"/>
          </p:cNvPicPr>
          <p:nvPr/>
        </p:nvPicPr>
        <p:blipFill>
          <a:blip r:embed="rId9"/>
          <a:stretch>
            <a:fillRect/>
          </a:stretch>
        </p:blipFill>
        <p:spPr>
          <a:xfrm>
            <a:off x="6629400" y="5257800"/>
            <a:ext cx="713232" cy="118872"/>
          </a:xfrm>
          <a:prstGeom prst="rect">
            <a:avLst/>
          </a:prstGeom>
        </p:spPr>
      </p:pic>
      <p:sp>
        <p:nvSpPr>
          <p:cNvPr id="34" name="o33"/>
          <p:cNvSpPr txBox="1"/>
          <p:nvPr/>
        </p:nvSpPr>
        <p:spPr>
          <a:xfrm>
            <a:off x="7589520" y="5193792"/>
            <a:ext cx="1554480" cy="365760"/>
          </a:xfrm>
          <a:prstGeom prst="rect">
            <a:avLst/>
          </a:prstGeom>
          <a:noFill/>
        </p:spPr>
        <p:txBody>
          <a:bodyPr wrap="square" lIns="0" rIns="0" tIns="0" bIns="0" anchor="t">
            <a:spAutoFit/>
          </a:bodyPr>
          <a:lstStyle/>
          <a:p>
            <a:pPr algn="l"/>
            <a:r>
              <a:rPr sz="1500" b="0" i="0">
                <a:solidFill>
                  <a:srgbClr val="C4C4E4"/>
                </a:solidFill>
                <a:latin typeface="Arial"/>
              </a:rPr>
              <a:t>âge (ESRB)</a:t>
            </a:r>
          </a:p>
        </p:txBody>
      </p:sp>
      <p:sp>
        <p:nvSpPr>
          <p:cNvPr id="35" name="o34"/>
          <p:cNvSpPr txBox="1"/>
          <p:nvPr/>
        </p:nvSpPr>
        <p:spPr>
          <a:xfrm>
            <a:off x="9144000" y="5193792"/>
            <a:ext cx="2286000" cy="365760"/>
          </a:xfrm>
          <a:prstGeom prst="rect">
            <a:avLst/>
          </a:prstGeom>
          <a:noFill/>
        </p:spPr>
        <p:txBody>
          <a:bodyPr wrap="square" lIns="0" rIns="0" tIns="0" bIns="0" anchor="t">
            <a:spAutoFit/>
          </a:bodyPr>
          <a:lstStyle/>
          <a:p>
            <a:pPr algn="l"/>
            <a:r>
              <a:rPr sz="1600" b="1" i="0">
                <a:solidFill>
                  <a:srgbClr val="FFB852"/>
                </a:solidFill>
                <a:latin typeface="Arial"/>
              </a:rPr>
              <a:t>M : Adultes (17+)</a:t>
            </a:r>
          </a:p>
        </p:txBody>
      </p:sp>
      <p:pic>
        <p:nvPicPr>
          <p:cNvPr id="36" name="fin_pastille" descr="image-1-13.gif"/>
          <p:cNvPicPr>
            <a:picLocks noChangeAspect="1"/>
          </p:cNvPicPr>
          <p:nvPr/>
        </p:nvPicPr>
        <p:blipFill>
          <a:blip r:embed="rId10"/>
          <a:stretch>
            <a:fillRect/>
          </a:stretch>
        </p:blipFill>
        <p:spPr>
          <a:xfrm>
            <a:off x="11448288" y="6355080"/>
            <a:ext cx="182880" cy="182880"/>
          </a:xfrm>
          <a:prstGeom prst="rect">
            <a:avLst/>
          </a:prstGeom>
        </p:spPr>
      </p:pic>
      <p:pic>
        <p:nvPicPr>
          <p:cNvPr id="37" name="barre_fantome" descr="image-1-15.gif"/>
          <p:cNvPicPr>
            <a:picLocks noChangeAspect="1"/>
          </p:cNvPicPr>
          <p:nvPr/>
        </p:nvPicPr>
        <p:blipFill>
          <a:blip r:embed="rId11"/>
          <a:stretch>
            <a:fillRect/>
          </a:stretch>
        </p:blipFill>
        <p:spPr>
          <a:xfrm>
            <a:off x="2093976" y="6291072"/>
            <a:ext cx="310896" cy="310896"/>
          </a:xfrm>
          <a:prstGeom prst="rect">
            <a:avLst/>
          </a:prstGeom>
        </p:spPr>
      </p:pic>
      <p:pic>
        <p:nvPicPr>
          <p:cNvPr id="38" name="barre_pacman" descr="image-1-14.gif"/>
          <p:cNvPicPr>
            <a:picLocks noChangeAspect="1"/>
          </p:cNvPicPr>
          <p:nvPr/>
        </p:nvPicPr>
        <p:blipFill>
          <a:blip r:embed="rId12"/>
          <a:stretch>
            <a:fillRect/>
          </a:stretch>
        </p:blipFill>
        <p:spPr>
          <a:xfrm>
            <a:off x="2660904" y="6291072"/>
            <a:ext cx="310896" cy="310896"/>
          </a:xfrm>
          <a:prstGeom prst="rect">
            <a:avLst/>
          </a:prstGeom>
        </p:spPr>
      </p:pic>
      <p:sp>
        <p:nvSpPr>
          <p:cNvPr id="39" name="barre_pastille_3.25"/>
          <p:cNvSpPr/>
          <p:nvPr/>
        </p:nvSpPr>
        <p:spPr>
          <a:xfrm>
            <a:off x="2971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3.50"/>
          <p:cNvSpPr/>
          <p:nvPr/>
        </p:nvSpPr>
        <p:spPr>
          <a:xfrm>
            <a:off x="3200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3.75"/>
          <p:cNvSpPr/>
          <p:nvPr/>
        </p:nvSpPr>
        <p:spPr>
          <a:xfrm>
            <a:off x="3429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37"/>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38"/>
                                        </p:tgtEl>
                                        <p:attrNameLst>
                                          <p:attrName>ppt_x</p:attrName>
                                          <p:attrName>ppt_y</p:attrName>
                                        </p:attrNameLst>
                                      </p:cBhvr>
                                    </p:animMotion>
                                  </p:childTnLst>
                                </p:cTn>
                              </p:par>
                              <p:par>
                                <p:cTn id="9" presetID="1" presetClass="exit" presetSubtype="0" fill="hold" nodeType="withEffect">
                                  <p:stCondLst>
                                    <p:cond delay="67"/>
                                  </p:stCondLst>
                                  <p:childTnLst>
                                    <p:set>
                                      <p:cBhvr>
                                        <p:cTn id="10" dur="1" fill="hold">
                                          <p:stCondLst>
                                            <p:cond delay="0"/>
                                          </p:stCondLst>
                                        </p:cTn>
                                        <p:tgtEl>
                                          <p:spTgt spid="39"/>
                                        </p:tgtEl>
                                        <p:attrNameLst>
                                          <p:attrName>style.visibility</p:attrName>
                                        </p:attrNameLst>
                                      </p:cBhvr>
                                      <p:to>
                                        <p:strVal val="hidden"/>
                                      </p:to>
                                    </p:set>
                                  </p:childTnLst>
                                </p:cTn>
                              </p:par>
                              <p:par>
                                <p:cTn id="11" presetID="1" presetClass="exit" presetSubtype="0" fill="hold" nodeType="withEffect">
                                  <p:stCondLst>
                                    <p:cond delay="483"/>
                                  </p:stCondLst>
                                  <p:childTnLst>
                                    <p:set>
                                      <p:cBhvr>
                                        <p:cTn id="12" dur="1" fill="hold">
                                          <p:stCondLst>
                                            <p:cond delay="0"/>
                                          </p:stCondLst>
                                        </p:cTn>
                                        <p:tgtEl>
                                          <p:spTgt spid="40"/>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41"/>
                                        </p:tgtEl>
                                        <p:attrNameLst>
                                          <p:attrName>style.visibility</p:attrName>
                                        </p:attrNameLst>
                                      </p:cBhvr>
                                      <p:to>
                                        <p:strVal val="hidden"/>
                                      </p:to>
                                    </p:set>
                                  </p:childTnLst>
                                </p:cTn>
                              </p:par>
                              <p:par>
                                <p:cTn id="15" presetID="10" presetClass="entr" presetSubtype="0" fill="hold" nodeType="withEffect">
                                  <p:stCondLst>
                                    <p:cond delay="2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par>
                                <p:cTn id="18" presetID="10" presetClass="entr" presetSubtype="0" fill="hold" nodeType="withEffect">
                                  <p:stCondLst>
                                    <p:cond delay="2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00"/>
                                        <p:tgtEl>
                                          <p:spTgt spid="6"/>
                                        </p:tgtEl>
                                      </p:cBhvr>
                                    </p:animEffect>
                                  </p:childTnLst>
                                </p:cTn>
                              </p:par>
                              <p:par>
                                <p:cTn id="21" presetID="10" presetClass="entr" presetSubtype="0" fill="hold" nodeType="withEffect">
                                  <p:stCondLst>
                                    <p:cond delay="2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00"/>
                                        <p:tgtEl>
                                          <p:spTgt spid="7"/>
                                        </p:tgtEl>
                                      </p:cBhvr>
                                    </p:animEffect>
                                  </p:childTnLst>
                                </p:cTn>
                              </p:par>
                              <p:par>
                                <p:cTn id="24" presetID="10" presetClass="entr" presetSubtype="0" fill="hold" nodeType="withEffect">
                                  <p:stCondLst>
                                    <p:cond delay="4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nodeType="withEffect">
                                  <p:stCondLst>
                                    <p:cond delay="4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nodeType="withEffect">
                                  <p:stCondLst>
                                    <p:cond delay="4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10" presetClass="entr" presetSubtype="0" fill="hold" nodeType="withEffect">
                                  <p:stCondLst>
                                    <p:cond delay="6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childTnLst>
                                </p:cTn>
                              </p:par>
                              <p:par>
                                <p:cTn id="36" presetID="10" presetClass="entr" presetSubtype="0" fill="hold" nodeType="withEffect">
                                  <p:stCondLst>
                                    <p:cond delay="6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par>
                                <p:cTn id="39" presetID="10" presetClass="entr" presetSubtype="0" fill="hold" nodeType="withEffect">
                                  <p:stCondLst>
                                    <p:cond delay="6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00"/>
                                        <p:tgtEl>
                                          <p:spTgt spid="13"/>
                                        </p:tgtEl>
                                      </p:cBhvr>
                                    </p:animEffect>
                                  </p:childTnLst>
                                </p:cTn>
                              </p:par>
                              <p:par>
                                <p:cTn id="42" presetID="10" presetClass="entr" presetSubtype="0" fill="hold" nodeType="withEffect">
                                  <p:stCondLst>
                                    <p:cond delay="8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par>
                                <p:cTn id="45" presetID="10" presetClass="entr" presetSubtype="0" fill="hold" nodeType="withEffect">
                                  <p:stCondLst>
                                    <p:cond delay="8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00"/>
                                        <p:tgtEl>
                                          <p:spTgt spid="15"/>
                                        </p:tgtEl>
                                      </p:cBhvr>
                                    </p:animEffect>
                                  </p:childTnLst>
                                </p:cTn>
                              </p:par>
                              <p:par>
                                <p:cTn id="48" presetID="10" presetClass="entr" presetSubtype="0" fill="hold" nodeType="withEffect">
                                  <p:stCondLst>
                                    <p:cond delay="8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1" presetID="10" presetClass="entr" presetSubtype="0" fill="hold" nodeType="withEffect">
                                  <p:stCondLst>
                                    <p:cond delay="110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nodeType="withEffect">
                                  <p:stCondLst>
                                    <p:cond delay="110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par>
                                <p:cTn id="57" presetID="10" presetClass="entr" presetSubtype="0" fill="hold" nodeType="withEffect">
                                  <p:stCondLst>
                                    <p:cond delay="110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childTnLst>
                                </p:cTn>
                              </p:par>
                              <p:par>
                                <p:cTn id="60" presetID="10" presetClass="entr" presetSubtype="0" fill="hold" nodeType="withEffect">
                                  <p:stCondLst>
                                    <p:cond delay="110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childTnLst>
                                </p:cTn>
                              </p:par>
                              <p:par>
                                <p:cTn id="63" presetID="10" presetClass="entr" presetSubtype="0" fill="hold" nodeType="withEffect">
                                  <p:stCondLst>
                                    <p:cond delay="130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par>
                                <p:cTn id="66" presetID="10" presetClass="entr" presetSubtype="0" fill="hold" nodeType="withEffect">
                                  <p:stCondLst>
                                    <p:cond delay="130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par>
                                <p:cTn id="69" presetID="10" presetClass="entr" presetSubtype="0" fill="hold" nodeType="withEffect">
                                  <p:stCondLst>
                                    <p:cond delay="130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nodeType="withEffect">
                                  <p:stCondLst>
                                    <p:cond delay="145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nodeType="withEffect">
                                  <p:stCondLst>
                                    <p:cond delay="145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nodeType="withEffect">
                                  <p:stCondLst>
                                    <p:cond delay="145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nodeType="withEffect">
                                  <p:stCondLst>
                                    <p:cond delay="160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nodeType="withEffect">
                                  <p:stCondLst>
                                    <p:cond delay="160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par>
                                <p:cTn id="87" presetID="10" presetClass="entr" presetSubtype="0" fill="hold" nodeType="withEffect">
                                  <p:stCondLst>
                                    <p:cond delay="160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400"/>
                                        <p:tgtEl>
                                          <p:spTgt spid="29"/>
                                        </p:tgtEl>
                                      </p:cBhvr>
                                    </p:animEffect>
                                  </p:childTnLst>
                                </p:cTn>
                              </p:par>
                              <p:par>
                                <p:cTn id="90" presetID="10" presetClass="entr" presetSubtype="0" fill="hold" nodeType="withEffect">
                                  <p:stCondLst>
                                    <p:cond delay="175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nodeType="withEffect">
                                  <p:stCondLst>
                                    <p:cond delay="175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nodeType="withEffect">
                                  <p:stCondLst>
                                    <p:cond delay="175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nodeType="withEffect">
                                  <p:stCondLst>
                                    <p:cond delay="190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nodeType="withEffect">
                                  <p:stCondLst>
                                    <p:cond delay="190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par>
                                <p:cTn id="105" presetID="10" presetClass="entr" presetSubtype="0" fill="hold" nodeType="withEffect">
                                  <p:stCondLst>
                                    <p:cond delay="190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7"/>
          <p:cNvSpPr/>
          <p:nvPr/>
        </p:nvSpPr>
        <p:spPr>
          <a:xfrm>
            <a:off x="868680"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8"/>
          <p:cNvSpPr/>
          <p:nvPr/>
        </p:nvSpPr>
        <p:spPr>
          <a:xfrm>
            <a:off x="937259"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9"/>
          <p:cNvSpPr/>
          <p:nvPr/>
        </p:nvSpPr>
        <p:spPr>
          <a:xfrm>
            <a:off x="9768535"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9837115"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image-2-10.png"/>
          <p:cNvPicPr>
            <a:picLocks noChangeAspect="1"/>
          </p:cNvPicPr>
          <p:nvPr/>
        </p:nvPicPr>
        <p:blipFill>
          <a:blip r:embed="rId3"/>
          <a:stretch>
            <a:fillRect/>
          </a:stretch>
        </p:blipFill>
        <p:spPr>
          <a:xfrm>
            <a:off x="5684824" y="777240"/>
            <a:ext cx="822960" cy="822960"/>
          </a:xfrm>
          <a:prstGeom prst="rect">
            <a:avLst/>
          </a:prstGeom>
        </p:spPr>
      </p:pic>
      <p:pic>
        <p:nvPicPr>
          <p:cNvPr id="13" name="o12" descr="LEVEL 2"/>
          <p:cNvPicPr>
            <a:picLocks noChangeAspect="1"/>
          </p:cNvPicPr>
          <p:nvPr/>
        </p:nvPicPr>
        <p:blipFill>
          <a:blip r:embed="rId4"/>
          <a:stretch>
            <a:fillRect/>
          </a:stretch>
        </p:blipFill>
        <p:spPr>
          <a:xfrm>
            <a:off x="5263743" y="1828800"/>
            <a:ext cx="1664208" cy="237744"/>
          </a:xfrm>
          <a:prstGeom prst="rect">
            <a:avLst/>
          </a:prstGeom>
        </p:spPr>
      </p:pic>
      <p:pic>
        <p:nvPicPr>
          <p:cNvPr id="14" name="o13" descr="NETTOYAGE"/>
          <p:cNvPicPr>
            <a:picLocks noChangeAspect="1"/>
          </p:cNvPicPr>
          <p:nvPr/>
        </p:nvPicPr>
        <p:blipFill>
          <a:blip r:embed="rId5"/>
          <a:stretch>
            <a:fillRect/>
          </a:stretch>
        </p:blipFill>
        <p:spPr>
          <a:xfrm>
            <a:off x="3791559" y="2331720"/>
            <a:ext cx="4608576" cy="512064"/>
          </a:xfrm>
          <a:prstGeom prst="rect">
            <a:avLst/>
          </a:prstGeom>
        </p:spPr>
      </p:pic>
      <p:sp>
        <p:nvSpPr>
          <p:cNvPr id="15" name="o14"/>
          <p:cNvSpPr txBox="1"/>
          <p:nvPr/>
        </p:nvSpPr>
        <p:spPr>
          <a:xfrm>
            <a:off x="1371600" y="3108960"/>
            <a:ext cx="9448495" cy="411480"/>
          </a:xfrm>
          <a:prstGeom prst="rect">
            <a:avLst/>
          </a:prstGeom>
          <a:noFill/>
        </p:spPr>
        <p:txBody>
          <a:bodyPr wrap="square" lIns="0" rIns="0" tIns="0" bIns="0" anchor="t">
            <a:spAutoFit/>
          </a:bodyPr>
          <a:lstStyle/>
          <a:p>
            <a:pPr algn="ctr"/>
            <a:r>
              <a:rPr sz="2000" b="0" i="0">
                <a:solidFill>
                  <a:srgbClr val="C4C4E4"/>
                </a:solidFill>
                <a:latin typeface="Arial"/>
              </a:rPr>
              <a:t>Les nouveaux fantômes de la base 2</a:t>
            </a:r>
          </a:p>
        </p:txBody>
      </p:sp>
      <p:pic>
        <p:nvPicPr>
          <p:cNvPr id="16" name="rangee_sprite" descr="image-1-8.gif"/>
          <p:cNvPicPr>
            <a:picLocks noChangeAspect="1"/>
          </p:cNvPicPr>
          <p:nvPr/>
        </p:nvPicPr>
        <p:blipFill>
          <a:blip r:embed="rId6"/>
          <a:stretch>
            <a:fillRect/>
          </a:stretch>
        </p:blipFill>
        <p:spPr>
          <a:xfrm>
            <a:off x="704088" y="3950208"/>
            <a:ext cx="420624" cy="420624"/>
          </a:xfrm>
          <a:prstGeom prst="rect">
            <a:avLst/>
          </a:prstGeom>
        </p:spPr>
      </p:pic>
      <p:pic>
        <p:nvPicPr>
          <p:cNvPr id="17" name="rangee_sprite" descr="image-1-7.gif"/>
          <p:cNvPicPr>
            <a:picLocks noChangeAspect="1"/>
          </p:cNvPicPr>
          <p:nvPr/>
        </p:nvPicPr>
        <p:blipFill>
          <a:blip r:embed="rId7"/>
          <a:stretch>
            <a:fillRect/>
          </a:stretch>
        </p:blipFill>
        <p:spPr>
          <a:xfrm>
            <a:off x="1252728" y="3950208"/>
            <a:ext cx="420624" cy="420624"/>
          </a:xfrm>
          <a:prstGeom prst="rect">
            <a:avLst/>
          </a:prstGeom>
        </p:spPr>
      </p:pic>
      <p:pic>
        <p:nvPicPr>
          <p:cNvPr id="18" name="rangee_sprite" descr="image-1-6.gif"/>
          <p:cNvPicPr>
            <a:picLocks noChangeAspect="1"/>
          </p:cNvPicPr>
          <p:nvPr/>
        </p:nvPicPr>
        <p:blipFill>
          <a:blip r:embed="rId8"/>
          <a:stretch>
            <a:fillRect/>
          </a:stretch>
        </p:blipFill>
        <p:spPr>
          <a:xfrm>
            <a:off x="1801368" y="3950208"/>
            <a:ext cx="420624" cy="420624"/>
          </a:xfrm>
          <a:prstGeom prst="rect">
            <a:avLst/>
          </a:prstGeom>
        </p:spPr>
      </p:pic>
      <p:pic>
        <p:nvPicPr>
          <p:cNvPr id="19" name="rangee_sprite" descr="image-1-15.gif"/>
          <p:cNvPicPr>
            <a:picLocks noChangeAspect="1"/>
          </p:cNvPicPr>
          <p:nvPr/>
        </p:nvPicPr>
        <p:blipFill>
          <a:blip r:embed="rId9"/>
          <a:stretch>
            <a:fillRect/>
          </a:stretch>
        </p:blipFill>
        <p:spPr>
          <a:xfrm>
            <a:off x="2350008" y="3950208"/>
            <a:ext cx="420624" cy="420624"/>
          </a:xfrm>
          <a:prstGeom prst="rect">
            <a:avLst/>
          </a:prstGeom>
        </p:spPr>
      </p:pic>
      <p:pic>
        <p:nvPicPr>
          <p:cNvPr id="20" name="rangee_pacman" descr="image-1-14.gif"/>
          <p:cNvPicPr>
            <a:picLocks noChangeAspect="1"/>
          </p:cNvPicPr>
          <p:nvPr/>
        </p:nvPicPr>
        <p:blipFill>
          <a:blip r:embed="rId10"/>
          <a:stretch>
            <a:fillRect/>
          </a:stretch>
        </p:blipFill>
        <p:spPr>
          <a:xfrm>
            <a:off x="2990088" y="3950208"/>
            <a:ext cx="420624" cy="420624"/>
          </a:xfrm>
          <a:prstGeom prst="rect">
            <a:avLst/>
          </a:prstGeom>
        </p:spPr>
      </p:pic>
      <p:sp>
        <p:nvSpPr>
          <p:cNvPr id="21" name="rangee_pastille"/>
          <p:cNvSpPr/>
          <p:nvPr/>
        </p:nvSpPr>
        <p:spPr>
          <a:xfrm>
            <a:off x="36301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39959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43616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47274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50932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54589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58247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ee_pastille"/>
          <p:cNvSpPr/>
          <p:nvPr/>
        </p:nvSpPr>
        <p:spPr>
          <a:xfrm>
            <a:off x="61904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angee_pastille"/>
          <p:cNvSpPr/>
          <p:nvPr/>
        </p:nvSpPr>
        <p:spPr>
          <a:xfrm>
            <a:off x="65562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ngee_pastille"/>
          <p:cNvSpPr/>
          <p:nvPr/>
        </p:nvSpPr>
        <p:spPr>
          <a:xfrm>
            <a:off x="69220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ngee_pastille"/>
          <p:cNvSpPr/>
          <p:nvPr/>
        </p:nvSpPr>
        <p:spPr>
          <a:xfrm>
            <a:off x="72877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angee_pastille"/>
          <p:cNvSpPr/>
          <p:nvPr/>
        </p:nvSpPr>
        <p:spPr>
          <a:xfrm>
            <a:off x="76535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angee_pastille"/>
          <p:cNvSpPr/>
          <p:nvPr/>
        </p:nvSpPr>
        <p:spPr>
          <a:xfrm>
            <a:off x="80192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ee_pastille"/>
          <p:cNvSpPr/>
          <p:nvPr/>
        </p:nvSpPr>
        <p:spPr>
          <a:xfrm>
            <a:off x="83850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angee_pastille"/>
          <p:cNvSpPr/>
          <p:nvPr/>
        </p:nvSpPr>
        <p:spPr>
          <a:xfrm>
            <a:off x="87508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angee_pastille"/>
          <p:cNvSpPr/>
          <p:nvPr/>
        </p:nvSpPr>
        <p:spPr>
          <a:xfrm>
            <a:off x="91165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angee_pastille"/>
          <p:cNvSpPr/>
          <p:nvPr/>
        </p:nvSpPr>
        <p:spPr>
          <a:xfrm>
            <a:off x="94823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ady" descr="READY!"/>
          <p:cNvPicPr>
            <a:picLocks noChangeAspect="1"/>
          </p:cNvPicPr>
          <p:nvPr/>
        </p:nvPicPr>
        <p:blipFill>
          <a:blip r:embed="rId11"/>
          <a:stretch>
            <a:fillRect/>
          </a:stretch>
        </p:blipFill>
        <p:spPr>
          <a:xfrm>
            <a:off x="5492343" y="4617720"/>
            <a:ext cx="1207008" cy="201168"/>
          </a:xfrm>
          <a:prstGeom prst="rect">
            <a:avLst/>
          </a:prstGeom>
        </p:spPr>
      </p:pic>
      <p:pic>
        <p:nvPicPr>
          <p:cNvPr id="39"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9"/>
          <a:stretch>
            <a:fillRect/>
          </a:stretch>
        </p:blipFill>
        <p:spPr>
          <a:xfrm>
            <a:off x="2587752" y="6291072"/>
            <a:ext cx="310896" cy="310896"/>
          </a:xfrm>
          <a:prstGeom prst="rect">
            <a:avLst/>
          </a:prstGeom>
        </p:spPr>
      </p:pic>
      <p:pic>
        <p:nvPicPr>
          <p:cNvPr id="41" name="barre_pacman" descr="image-1-14.gif"/>
          <p:cNvPicPr>
            <a:picLocks noChangeAspect="1"/>
          </p:cNvPicPr>
          <p:nvPr/>
        </p:nvPicPr>
        <p:blipFill>
          <a:blip r:embed="rId10"/>
          <a:stretch>
            <a:fillRect/>
          </a:stretch>
        </p:blipFill>
        <p:spPr>
          <a:xfrm>
            <a:off x="3154680" y="6291072"/>
            <a:ext cx="310896" cy="310896"/>
          </a:xfrm>
          <a:prstGeom prst="rect">
            <a:avLst/>
          </a:prstGeom>
        </p:spPr>
      </p:pic>
      <p:sp>
        <p:nvSpPr>
          <p:cNvPr id="42" name="barre_pastille_4.00"/>
          <p:cNvSpPr/>
          <p:nvPr/>
        </p:nvSpPr>
        <p:spPr>
          <a:xfrm>
            <a:off x="3657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4.25"/>
          <p:cNvSpPr/>
          <p:nvPr/>
        </p:nvSpPr>
        <p:spPr>
          <a:xfrm>
            <a:off x="3886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417"/>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833"/>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38"/>
                                        </p:tgtEl>
                                        <p:attrNameLst>
                                          <p:attrName>style.visibility</p:attrName>
                                        </p:attrNameLst>
                                      </p:cBhvr>
                                      <p:to>
                                        <p:strVal val="hidden"/>
                                      </p:to>
                                    </p:set>
                                  </p:childTnLst>
                                </p:cTn>
                              </p:par>
                              <p:par>
                                <p:cTn id="15" presetID="0" presetClass="path" presetSubtype="0" fill="hold" nodeType="withEffect">
                                  <p:stCondLst>
                                    <p:cond delay="900"/>
                                  </p:stCondLst>
                                  <p:childTnLst>
                                    <p:animMotion origin="layout" path="M 0 0 L 0.57001 0 E" pathEditMode="relative" ptsTypes="">
                                      <p:cBhvr>
                                        <p:cTn id="16" dur="2600" fill="hold"/>
                                        <p:tgtEl>
                                          <p:spTgt spid="16"/>
                                        </p:tgtEl>
                                        <p:attrNameLst>
                                          <p:attrName>ppt_x</p:attrName>
                                          <p:attrName>ppt_y</p:attrName>
                                        </p:attrNameLst>
                                      </p:cBhvr>
                                    </p:animMotion>
                                  </p:childTnLst>
                                </p:cTn>
                              </p:par>
                              <p:par>
                                <p:cTn id="17" presetID="0" presetClass="path" presetSubtype="0" fill="hold" nodeType="withEffect">
                                  <p:stCondLst>
                                    <p:cond delay="900"/>
                                  </p:stCondLst>
                                  <p:childTnLst>
                                    <p:animMotion origin="layout" path="M 0 0 L 0.57001 0 E" pathEditMode="relative" ptsTypes="">
                                      <p:cBhvr>
                                        <p:cTn id="18" dur="2600" fill="hold"/>
                                        <p:tgtEl>
                                          <p:spTgt spid="17"/>
                                        </p:tgtEl>
                                        <p:attrNameLst>
                                          <p:attrName>ppt_x</p:attrName>
                                          <p:attrName>ppt_y</p:attrName>
                                        </p:attrNameLst>
                                      </p:cBhvr>
                                    </p:animMotion>
                                  </p:childTnLst>
                                </p:cTn>
                              </p:par>
                              <p:par>
                                <p:cTn id="19" presetID="0" presetClass="path" presetSubtype="0" fill="hold" nodeType="withEffect">
                                  <p:stCondLst>
                                    <p:cond delay="900"/>
                                  </p:stCondLst>
                                  <p:childTnLst>
                                    <p:animMotion origin="layout" path="M 0 0 L 0.57001 0 E" pathEditMode="relative" ptsTypes="">
                                      <p:cBhvr>
                                        <p:cTn id="20" dur="2600" fill="hold"/>
                                        <p:tgtEl>
                                          <p:spTgt spid="18"/>
                                        </p:tgtEl>
                                        <p:attrNameLst>
                                          <p:attrName>ppt_x</p:attrName>
                                          <p:attrName>ppt_y</p:attrName>
                                        </p:attrNameLst>
                                      </p:cBhvr>
                                    </p:animMotion>
                                  </p:childTnLst>
                                </p:cTn>
                              </p:par>
                              <p:par>
                                <p:cTn id="21" presetID="0" presetClass="path" presetSubtype="0" fill="hold" nodeType="withEffect">
                                  <p:stCondLst>
                                    <p:cond delay="900"/>
                                  </p:stCondLst>
                                  <p:childTnLst>
                                    <p:animMotion origin="layout" path="M 0 0 L 0.57001 0 E" pathEditMode="relative" ptsTypes="">
                                      <p:cBhvr>
                                        <p:cTn id="22" dur="2600" fill="hold"/>
                                        <p:tgtEl>
                                          <p:spTgt spid="19"/>
                                        </p:tgtEl>
                                        <p:attrNameLst>
                                          <p:attrName>ppt_x</p:attrName>
                                          <p:attrName>ppt_y</p:attrName>
                                        </p:attrNameLst>
                                      </p:cBhvr>
                                    </p:animMotion>
                                  </p:childTnLst>
                                </p:cTn>
                              </p:par>
                              <p:par>
                                <p:cTn id="23" presetID="0" presetClass="path" presetSubtype="0" fill="hold" nodeType="withEffect">
                                  <p:stCondLst>
                                    <p:cond delay="900"/>
                                  </p:stCondLst>
                                  <p:childTnLst>
                                    <p:animMotion origin="layout" path="M 0 0 L 0.57001 0 E" pathEditMode="relative" ptsTypes="">
                                      <p:cBhvr>
                                        <p:cTn id="24" dur="2600" fill="hold"/>
                                        <p:tgtEl>
                                          <p:spTgt spid="20"/>
                                        </p:tgtEl>
                                        <p:attrNameLst>
                                          <p:attrName>ppt_x</p:attrName>
                                          <p:attrName>ppt_y</p:attrName>
                                        </p:attrNameLst>
                                      </p:cBhvr>
                                    </p:animMotion>
                                  </p:childTnLst>
                                </p:cTn>
                              </p:par>
                              <p:par>
                                <p:cTn id="25" presetID="1" presetClass="exit" presetSubtype="0" fill="hold" nodeType="withEffect">
                                  <p:stCondLst>
                                    <p:cond delay="1027"/>
                                  </p:stCondLst>
                                  <p:childTnLst>
                                    <p:set>
                                      <p:cBhvr>
                                        <p:cTn id="26" dur="1" fill="hold">
                                          <p:stCondLst>
                                            <p:cond delay="0"/>
                                          </p:stCondLst>
                                        </p:cTn>
                                        <p:tgtEl>
                                          <p:spTgt spid="21"/>
                                        </p:tgtEl>
                                        <p:attrNameLst>
                                          <p:attrName>style.visibility</p:attrName>
                                        </p:attrNameLst>
                                      </p:cBhvr>
                                      <p:to>
                                        <p:strVal val="hidden"/>
                                      </p:to>
                                    </p:set>
                                  </p:childTnLst>
                                </p:cTn>
                              </p:par>
                              <p:par>
                                <p:cTn id="27" presetID="1" presetClass="exit" presetSubtype="0" fill="hold" nodeType="withEffect">
                                  <p:stCondLst>
                                    <p:cond delay="1163"/>
                                  </p:stCondLst>
                                  <p:childTnLst>
                                    <p:set>
                                      <p:cBhvr>
                                        <p:cTn id="28" dur="1" fill="hold">
                                          <p:stCondLst>
                                            <p:cond delay="0"/>
                                          </p:stCondLst>
                                        </p:cTn>
                                        <p:tgtEl>
                                          <p:spTgt spid="22"/>
                                        </p:tgtEl>
                                        <p:attrNameLst>
                                          <p:attrName>style.visibility</p:attrName>
                                        </p:attrNameLst>
                                      </p:cBhvr>
                                      <p:to>
                                        <p:strVal val="hidden"/>
                                      </p:to>
                                    </p:set>
                                  </p:childTnLst>
                                </p:cTn>
                              </p:par>
                              <p:par>
                                <p:cTn id="29" presetID="1" presetClass="exit" presetSubtype="0" fill="hold" nodeType="withEffect">
                                  <p:stCondLst>
                                    <p:cond delay="130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1437"/>
                                  </p:stCondLst>
                                  <p:childTnLst>
                                    <p:set>
                                      <p:cBhvr>
                                        <p:cTn id="32" dur="1" fill="hold">
                                          <p:stCondLst>
                                            <p:cond delay="0"/>
                                          </p:stCondLst>
                                        </p:cTn>
                                        <p:tgtEl>
                                          <p:spTgt spid="24"/>
                                        </p:tgtEl>
                                        <p:attrNameLst>
                                          <p:attrName>style.visibility</p:attrName>
                                        </p:attrNameLst>
                                      </p:cBhvr>
                                      <p:to>
                                        <p:strVal val="hidden"/>
                                      </p:to>
                                    </p:set>
                                  </p:childTnLst>
                                </p:cTn>
                              </p:par>
                              <p:par>
                                <p:cTn id="33" presetID="1" presetClass="exit" presetSubtype="0" fill="hold" nodeType="withEffect">
                                  <p:stCondLst>
                                    <p:cond delay="1574"/>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1711"/>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1848"/>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1984"/>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nodeType="withEffect">
                                  <p:stCondLst>
                                    <p:cond delay="2121"/>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nodeType="withEffect">
                                  <p:stCondLst>
                                    <p:cond delay="2258"/>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nodeType="withEffect">
                                  <p:stCondLst>
                                    <p:cond delay="2395"/>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xit" presetSubtype="0" fill="hold" nodeType="withEffect">
                                  <p:stCondLst>
                                    <p:cond delay="2532"/>
                                  </p:stCondLst>
                                  <p:childTnLst>
                                    <p:set>
                                      <p:cBhvr>
                                        <p:cTn id="48" dur="1" fill="hold">
                                          <p:stCondLst>
                                            <p:cond delay="0"/>
                                          </p:stCondLst>
                                        </p:cTn>
                                        <p:tgtEl>
                                          <p:spTgt spid="32"/>
                                        </p:tgtEl>
                                        <p:attrNameLst>
                                          <p:attrName>style.visibility</p:attrName>
                                        </p:attrNameLst>
                                      </p:cBhvr>
                                      <p:to>
                                        <p:strVal val="hidden"/>
                                      </p:to>
                                    </p:set>
                                  </p:childTnLst>
                                </p:cTn>
                              </p:par>
                              <p:par>
                                <p:cTn id="49" presetID="1" presetClass="exit" presetSubtype="0" fill="hold" nodeType="withEffect">
                                  <p:stCondLst>
                                    <p:cond delay="2669"/>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2806"/>
                                  </p:stCondLst>
                                  <p:childTnLst>
                                    <p:set>
                                      <p:cBhvr>
                                        <p:cTn id="52" dur="1" fill="hold">
                                          <p:stCondLst>
                                            <p:cond delay="0"/>
                                          </p:stCondLst>
                                        </p:cTn>
                                        <p:tgtEl>
                                          <p:spTgt spid="34"/>
                                        </p:tgtEl>
                                        <p:attrNameLst>
                                          <p:attrName>style.visibility</p:attrName>
                                        </p:attrNameLst>
                                      </p:cBhvr>
                                      <p:to>
                                        <p:strVal val="hidden"/>
                                      </p:to>
                                    </p:set>
                                  </p:childTnLst>
                                </p:cTn>
                              </p:par>
                              <p:par>
                                <p:cTn id="53" presetID="1" presetClass="exit" presetSubtype="0" fill="hold" nodeType="withEffect">
                                  <p:stCondLst>
                                    <p:cond delay="2942"/>
                                  </p:stCondLst>
                                  <p:childTnLst>
                                    <p:set>
                                      <p:cBhvr>
                                        <p:cTn id="54" dur="1" fill="hold">
                                          <p:stCondLst>
                                            <p:cond delay="0"/>
                                          </p:stCondLst>
                                        </p:cTn>
                                        <p:tgtEl>
                                          <p:spTgt spid="35"/>
                                        </p:tgtEl>
                                        <p:attrNameLst>
                                          <p:attrName>style.visibility</p:attrName>
                                        </p:attrNameLst>
                                      </p:cBhvr>
                                      <p:to>
                                        <p:strVal val="hidden"/>
                                      </p:to>
                                    </p:set>
                                  </p:childTnLst>
                                </p:cTn>
                              </p:par>
                              <p:par>
                                <p:cTn id="55" presetID="1" presetClass="exit" presetSubtype="0" fill="hold" nodeType="withEffect">
                                  <p:stCondLst>
                                    <p:cond delay="3079"/>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nodeType="withEffect">
                                  <p:stCondLst>
                                    <p:cond delay="3216"/>
                                  </p:stCondLst>
                                  <p:childTnLst>
                                    <p:set>
                                      <p:cBhvr>
                                        <p:cTn id="5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2 → NETTOYAGE"/>
          <p:cNvPicPr>
            <a:picLocks noChangeAspect="1"/>
          </p:cNvPicPr>
          <p:nvPr/>
        </p:nvPicPr>
        <p:blipFill>
          <a:blip r:embed="rId3"/>
          <a:stretch>
            <a:fillRect/>
          </a:stretch>
        </p:blipFill>
        <p:spPr>
          <a:xfrm>
            <a:off x="548640" y="411480"/>
            <a:ext cx="2779776" cy="146304"/>
          </a:xfrm>
          <a:prstGeom prst="rect">
            <a:avLst/>
          </a:prstGeom>
        </p:spPr>
      </p:pic>
      <p:pic>
        <p:nvPicPr>
          <p:cNvPr id="3" name="o2" descr="4 nouveaux fantômes"/>
          <p:cNvPicPr>
            <a:picLocks noChangeAspect="1"/>
          </p:cNvPicPr>
          <p:nvPr/>
        </p:nvPicPr>
        <p:blipFill>
          <a:blip r:embed="rId4"/>
          <a:stretch>
            <a:fillRect/>
          </a:stretch>
        </p:blipFill>
        <p:spPr>
          <a:xfrm>
            <a:off x="548640" y="777240"/>
            <a:ext cx="5212080" cy="274320"/>
          </a:xfrm>
          <a:prstGeom prst="rect">
            <a:avLst/>
          </a:prstGeom>
        </p:spPr>
      </p:pic>
      <p:pic>
        <p:nvPicPr>
          <p:cNvPr id="4" name="o3" descr="image-2-10.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45920"/>
            <a:ext cx="3200400" cy="1874519"/>
          </a:xfrm>
          <a:prstGeom prst="roundRect">
            <a:avLst>
              <a:gd name="adj" fmla="val 6829"/>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714500"/>
            <a:ext cx="3063240" cy="1737360"/>
          </a:xfrm>
          <a:prstGeom prst="roundRect">
            <a:avLst>
              <a:gd name="adj" fmla="val 342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carte_peur_0" descr="image-17-7.gif"/>
          <p:cNvPicPr>
            <a:picLocks noChangeAspect="1"/>
          </p:cNvPicPr>
          <p:nvPr/>
        </p:nvPicPr>
        <p:blipFill>
          <a:blip r:embed="rId6"/>
          <a:stretch>
            <a:fillRect/>
          </a:stretch>
        </p:blipFill>
        <p:spPr>
          <a:xfrm>
            <a:off x="795528" y="1892808"/>
            <a:ext cx="512064" cy="512064"/>
          </a:xfrm>
          <a:prstGeom prst="rect">
            <a:avLst/>
          </a:prstGeom>
        </p:spPr>
      </p:pic>
      <p:pic>
        <p:nvPicPr>
          <p:cNvPr id="8" name="carte_yeux_0" descr="image-17-7.gif"/>
          <p:cNvPicPr>
            <a:picLocks noChangeAspect="1"/>
          </p:cNvPicPr>
          <p:nvPr/>
        </p:nvPicPr>
        <p:blipFill>
          <a:blip r:embed="rId6"/>
          <a:stretch>
            <a:fillRect/>
          </a:stretch>
        </p:blipFill>
        <p:spPr>
          <a:xfrm>
            <a:off x="795528" y="1892808"/>
            <a:ext cx="512064" cy="512064"/>
          </a:xfrm>
          <a:prstGeom prst="rect">
            <a:avLst/>
          </a:prstGeom>
        </p:spPr>
      </p:pic>
      <p:pic>
        <p:nvPicPr>
          <p:cNvPr id="9" name="o8" descr="2 425"/>
          <p:cNvPicPr>
            <a:picLocks noChangeAspect="1"/>
          </p:cNvPicPr>
          <p:nvPr/>
        </p:nvPicPr>
        <p:blipFill>
          <a:blip r:embed="rId7"/>
          <a:stretch>
            <a:fillRect/>
          </a:stretch>
        </p:blipFill>
        <p:spPr>
          <a:xfrm>
            <a:off x="1508760" y="1892808"/>
            <a:ext cx="1280160" cy="256032"/>
          </a:xfrm>
          <a:prstGeom prst="rect">
            <a:avLst/>
          </a:prstGeom>
        </p:spPr>
      </p:pic>
      <p:sp>
        <p:nvSpPr>
          <p:cNvPr id="10" name="o9"/>
          <p:cNvSpPr txBox="1"/>
          <p:nvPr/>
        </p:nvSpPr>
        <p:spPr>
          <a:xfrm>
            <a:off x="1508760" y="2249424"/>
            <a:ext cx="2103120" cy="320040"/>
          </a:xfrm>
          <a:prstGeom prst="rect">
            <a:avLst/>
          </a:prstGeom>
          <a:noFill/>
        </p:spPr>
        <p:txBody>
          <a:bodyPr wrap="square" lIns="0" rIns="0" tIns="0" bIns="0" anchor="t">
            <a:spAutoFit/>
          </a:bodyPr>
          <a:lstStyle/>
          <a:p>
            <a:pPr algn="l"/>
            <a:r>
              <a:rPr sz="1600" b="1" i="0">
                <a:solidFill>
                  <a:srgbClr val="FFFFFF"/>
                </a:solidFill>
                <a:latin typeface="Arial"/>
              </a:rPr>
              <a:t>notes « tbd »</a:t>
            </a:r>
          </a:p>
        </p:txBody>
      </p:sp>
      <p:sp>
        <p:nvSpPr>
          <p:cNvPr id="11" name="o10"/>
          <p:cNvSpPr txBox="1"/>
          <p:nvPr/>
        </p:nvSpPr>
        <p:spPr>
          <a:xfrm>
            <a:off x="795528" y="2670048"/>
            <a:ext cx="2743200" cy="731520"/>
          </a:xfrm>
          <a:prstGeom prst="rect">
            <a:avLst/>
          </a:prstGeom>
          <a:noFill/>
        </p:spPr>
        <p:txBody>
          <a:bodyPr wrap="square" lIns="0" rIns="0" tIns="0" bIns="0" anchor="t">
            <a:spAutoFit/>
          </a:bodyPr>
          <a:lstStyle/>
          <a:p>
            <a:pPr algn="l"/>
            <a:r>
              <a:rPr sz="1400" b="0" i="0">
                <a:solidFill>
                  <a:srgbClr val="C4C4E4"/>
                </a:solidFill>
                <a:latin typeface="Arial"/>
              </a:rPr>
              <a:t>pas une note mais pas assez de votes : valeur manquante</a:t>
            </a:r>
          </a:p>
        </p:txBody>
      </p:sp>
      <p:sp>
        <p:nvSpPr>
          <p:cNvPr id="12" name="o11"/>
          <p:cNvSpPr/>
          <p:nvPr/>
        </p:nvSpPr>
        <p:spPr>
          <a:xfrm>
            <a:off x="3968496" y="1645920"/>
            <a:ext cx="3200400" cy="1874519"/>
          </a:xfrm>
          <a:prstGeom prst="roundRect">
            <a:avLst>
              <a:gd name="adj" fmla="val 6829"/>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12"/>
          <p:cNvSpPr/>
          <p:nvPr/>
        </p:nvSpPr>
        <p:spPr>
          <a:xfrm>
            <a:off x="4037076" y="1714500"/>
            <a:ext cx="3063240" cy="1737360"/>
          </a:xfrm>
          <a:prstGeom prst="roundRect">
            <a:avLst>
              <a:gd name="adj" fmla="val 342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carte_peur_1" descr="image-17-7.gif"/>
          <p:cNvPicPr>
            <a:picLocks noChangeAspect="1"/>
          </p:cNvPicPr>
          <p:nvPr/>
        </p:nvPicPr>
        <p:blipFill>
          <a:blip r:embed="rId6"/>
          <a:stretch>
            <a:fillRect/>
          </a:stretch>
        </p:blipFill>
        <p:spPr>
          <a:xfrm>
            <a:off x="4215383" y="1892808"/>
            <a:ext cx="512064" cy="512064"/>
          </a:xfrm>
          <a:prstGeom prst="rect">
            <a:avLst/>
          </a:prstGeom>
        </p:spPr>
      </p:pic>
      <p:pic>
        <p:nvPicPr>
          <p:cNvPr id="15" name="carte_yeux_1" descr="image-17-7.gif"/>
          <p:cNvPicPr>
            <a:picLocks noChangeAspect="1"/>
          </p:cNvPicPr>
          <p:nvPr/>
        </p:nvPicPr>
        <p:blipFill>
          <a:blip r:embed="rId6"/>
          <a:stretch>
            <a:fillRect/>
          </a:stretch>
        </p:blipFill>
        <p:spPr>
          <a:xfrm>
            <a:off x="4215383" y="1892808"/>
            <a:ext cx="512064" cy="512064"/>
          </a:xfrm>
          <a:prstGeom prst="rect">
            <a:avLst/>
          </a:prstGeom>
        </p:spPr>
      </p:pic>
      <p:pic>
        <p:nvPicPr>
          <p:cNvPr id="16" name="o15" descr="51%"/>
          <p:cNvPicPr>
            <a:picLocks noChangeAspect="1"/>
          </p:cNvPicPr>
          <p:nvPr/>
        </p:nvPicPr>
        <p:blipFill>
          <a:blip r:embed="rId8"/>
          <a:stretch>
            <a:fillRect/>
          </a:stretch>
        </p:blipFill>
        <p:spPr>
          <a:xfrm>
            <a:off x="4928616" y="1892808"/>
            <a:ext cx="768096" cy="256032"/>
          </a:xfrm>
          <a:prstGeom prst="rect">
            <a:avLst/>
          </a:prstGeom>
        </p:spPr>
      </p:pic>
      <p:sp>
        <p:nvSpPr>
          <p:cNvPr id="17" name="o16"/>
          <p:cNvSpPr txBox="1"/>
          <p:nvPr/>
        </p:nvSpPr>
        <p:spPr>
          <a:xfrm>
            <a:off x="4928616" y="2249424"/>
            <a:ext cx="2103120" cy="320040"/>
          </a:xfrm>
          <a:prstGeom prst="rect">
            <a:avLst/>
          </a:prstGeom>
          <a:noFill/>
        </p:spPr>
        <p:txBody>
          <a:bodyPr wrap="square" lIns="0" rIns="0" tIns="0" bIns="0" anchor="t">
            <a:spAutoFit/>
          </a:bodyPr>
          <a:lstStyle/>
          <a:p>
            <a:pPr algn="l"/>
            <a:r>
              <a:rPr sz="1600" b="1" i="0">
                <a:solidFill>
                  <a:srgbClr val="FFFFFF"/>
                </a:solidFill>
                <a:latin typeface="Arial"/>
              </a:rPr>
              <a:t>sans note presse</a:t>
            </a:r>
          </a:p>
        </p:txBody>
      </p:sp>
      <p:sp>
        <p:nvSpPr>
          <p:cNvPr id="18" name="o17"/>
          <p:cNvSpPr txBox="1"/>
          <p:nvPr/>
        </p:nvSpPr>
        <p:spPr>
          <a:xfrm>
            <a:off x="4215383" y="2670048"/>
            <a:ext cx="2743200" cy="731520"/>
          </a:xfrm>
          <a:prstGeom prst="rect">
            <a:avLst/>
          </a:prstGeom>
          <a:noFill/>
        </p:spPr>
        <p:txBody>
          <a:bodyPr wrap="square" lIns="0" rIns="0" tIns="0" bIns="0" anchor="t">
            <a:spAutoFit/>
          </a:bodyPr>
          <a:lstStyle/>
          <a:p>
            <a:pPr algn="l"/>
            <a:r>
              <a:rPr sz="1400" b="0" i="0">
                <a:solidFill>
                  <a:srgbClr val="C4C4E4"/>
                </a:solidFill>
                <a:latin typeface="Arial"/>
              </a:rPr>
              <a:t>non imputées : quasi aucune note avant 2000</a:t>
            </a:r>
          </a:p>
        </p:txBody>
      </p:sp>
      <p:sp>
        <p:nvSpPr>
          <p:cNvPr id="19" name="o18"/>
          <p:cNvSpPr/>
          <p:nvPr/>
        </p:nvSpPr>
        <p:spPr>
          <a:xfrm>
            <a:off x="548640" y="3712463"/>
            <a:ext cx="3200400" cy="1874519"/>
          </a:xfrm>
          <a:prstGeom prst="roundRect">
            <a:avLst>
              <a:gd name="adj" fmla="val 6829"/>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19"/>
          <p:cNvSpPr/>
          <p:nvPr/>
        </p:nvSpPr>
        <p:spPr>
          <a:xfrm>
            <a:off x="617219" y="3781044"/>
            <a:ext cx="3063240" cy="1737360"/>
          </a:xfrm>
          <a:prstGeom prst="roundRect">
            <a:avLst>
              <a:gd name="adj" fmla="val 342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carte_peur_2" descr="image-17-7.gif"/>
          <p:cNvPicPr>
            <a:picLocks noChangeAspect="1"/>
          </p:cNvPicPr>
          <p:nvPr/>
        </p:nvPicPr>
        <p:blipFill>
          <a:blip r:embed="rId6"/>
          <a:stretch>
            <a:fillRect/>
          </a:stretch>
        </p:blipFill>
        <p:spPr>
          <a:xfrm>
            <a:off x="795528" y="3959352"/>
            <a:ext cx="512064" cy="512064"/>
          </a:xfrm>
          <a:prstGeom prst="rect">
            <a:avLst/>
          </a:prstGeom>
        </p:spPr>
      </p:pic>
      <p:pic>
        <p:nvPicPr>
          <p:cNvPr id="22" name="carte_yeux_2" descr="image-17-7.gif"/>
          <p:cNvPicPr>
            <a:picLocks noChangeAspect="1"/>
          </p:cNvPicPr>
          <p:nvPr/>
        </p:nvPicPr>
        <p:blipFill>
          <a:blip r:embed="rId6"/>
          <a:stretch>
            <a:fillRect/>
          </a:stretch>
        </p:blipFill>
        <p:spPr>
          <a:xfrm>
            <a:off x="795528" y="3959352"/>
            <a:ext cx="512064" cy="512064"/>
          </a:xfrm>
          <a:prstGeom prst="rect">
            <a:avLst/>
          </a:prstGeom>
        </p:spPr>
      </p:pic>
      <p:pic>
        <p:nvPicPr>
          <p:cNvPr id="23" name="o22" descr="6"/>
          <p:cNvPicPr>
            <a:picLocks noChangeAspect="1"/>
          </p:cNvPicPr>
          <p:nvPr/>
        </p:nvPicPr>
        <p:blipFill>
          <a:blip r:embed="rId9"/>
          <a:stretch>
            <a:fillRect/>
          </a:stretch>
        </p:blipFill>
        <p:spPr>
          <a:xfrm>
            <a:off x="1508760" y="3959352"/>
            <a:ext cx="256032" cy="256032"/>
          </a:xfrm>
          <a:prstGeom prst="rect">
            <a:avLst/>
          </a:prstGeom>
        </p:spPr>
      </p:pic>
      <p:sp>
        <p:nvSpPr>
          <p:cNvPr id="24" name="o23"/>
          <p:cNvSpPr txBox="1"/>
          <p:nvPr/>
        </p:nvSpPr>
        <p:spPr>
          <a:xfrm>
            <a:off x="1508760" y="4315968"/>
            <a:ext cx="2103120" cy="320040"/>
          </a:xfrm>
          <a:prstGeom prst="rect">
            <a:avLst/>
          </a:prstGeom>
          <a:noFill/>
        </p:spPr>
        <p:txBody>
          <a:bodyPr wrap="square" lIns="0" rIns="0" tIns="0" bIns="0" anchor="t">
            <a:spAutoFit/>
          </a:bodyPr>
          <a:lstStyle/>
          <a:p>
            <a:pPr algn="l"/>
            <a:r>
              <a:rPr sz="1600" b="1" i="0">
                <a:solidFill>
                  <a:srgbClr val="FFFFFF"/>
                </a:solidFill>
                <a:latin typeface="Arial"/>
              </a:rPr>
              <a:t>remakes mal notés</a:t>
            </a:r>
          </a:p>
        </p:txBody>
      </p:sp>
      <p:sp>
        <p:nvSpPr>
          <p:cNvPr id="25" name="o24"/>
          <p:cNvSpPr txBox="1"/>
          <p:nvPr/>
        </p:nvSpPr>
        <p:spPr>
          <a:xfrm>
            <a:off x="795528" y="4736592"/>
            <a:ext cx="2743200" cy="731520"/>
          </a:xfrm>
          <a:prstGeom prst="rect">
            <a:avLst/>
          </a:prstGeom>
          <a:noFill/>
        </p:spPr>
        <p:txBody>
          <a:bodyPr wrap="square" lIns="0" rIns="0" tIns="0" bIns="0" anchor="t">
            <a:spAutoFit/>
          </a:bodyPr>
          <a:lstStyle/>
          <a:p>
            <a:pPr algn="l"/>
            <a:r>
              <a:rPr sz="1400" b="0" i="0">
                <a:solidFill>
                  <a:srgbClr val="C4C4E4"/>
                </a:solidFill>
                <a:latin typeface="Arial"/>
              </a:rPr>
              <a:t>NFS Most Wanted 2005 = 2012 : note retirée plutôt que fausse</a:t>
            </a:r>
          </a:p>
        </p:txBody>
      </p:sp>
      <p:sp>
        <p:nvSpPr>
          <p:cNvPr id="26" name="o25"/>
          <p:cNvSpPr/>
          <p:nvPr/>
        </p:nvSpPr>
        <p:spPr>
          <a:xfrm>
            <a:off x="3968496" y="3712463"/>
            <a:ext cx="3200400" cy="1874519"/>
          </a:xfrm>
          <a:prstGeom prst="roundRect">
            <a:avLst>
              <a:gd name="adj" fmla="val 6829"/>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26"/>
          <p:cNvSpPr/>
          <p:nvPr/>
        </p:nvSpPr>
        <p:spPr>
          <a:xfrm>
            <a:off x="4037076" y="3781044"/>
            <a:ext cx="3063240" cy="1737360"/>
          </a:xfrm>
          <a:prstGeom prst="roundRect">
            <a:avLst>
              <a:gd name="adj" fmla="val 342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carte_peur_3" descr="image-17-7.gif"/>
          <p:cNvPicPr>
            <a:picLocks noChangeAspect="1"/>
          </p:cNvPicPr>
          <p:nvPr/>
        </p:nvPicPr>
        <p:blipFill>
          <a:blip r:embed="rId6"/>
          <a:stretch>
            <a:fillRect/>
          </a:stretch>
        </p:blipFill>
        <p:spPr>
          <a:xfrm>
            <a:off x="4215383" y="3959352"/>
            <a:ext cx="512064" cy="512064"/>
          </a:xfrm>
          <a:prstGeom prst="rect">
            <a:avLst/>
          </a:prstGeom>
        </p:spPr>
      </p:pic>
      <p:pic>
        <p:nvPicPr>
          <p:cNvPr id="29" name="carte_yeux_3" descr="image-17-7.gif"/>
          <p:cNvPicPr>
            <a:picLocks noChangeAspect="1"/>
          </p:cNvPicPr>
          <p:nvPr/>
        </p:nvPicPr>
        <p:blipFill>
          <a:blip r:embed="rId6"/>
          <a:stretch>
            <a:fillRect/>
          </a:stretch>
        </p:blipFill>
        <p:spPr>
          <a:xfrm>
            <a:off x="4215383" y="3959352"/>
            <a:ext cx="512064" cy="512064"/>
          </a:xfrm>
          <a:prstGeom prst="rect">
            <a:avLst/>
          </a:prstGeom>
        </p:spPr>
      </p:pic>
      <p:pic>
        <p:nvPicPr>
          <p:cNvPr id="30" name="o29" descr="114"/>
          <p:cNvPicPr>
            <a:picLocks noChangeAspect="1"/>
          </p:cNvPicPr>
          <p:nvPr/>
        </p:nvPicPr>
        <p:blipFill>
          <a:blip r:embed="rId10"/>
          <a:stretch>
            <a:fillRect/>
          </a:stretch>
        </p:blipFill>
        <p:spPr>
          <a:xfrm>
            <a:off x="4928616" y="3959352"/>
            <a:ext cx="768096" cy="256032"/>
          </a:xfrm>
          <a:prstGeom prst="rect">
            <a:avLst/>
          </a:prstGeom>
        </p:spPr>
      </p:pic>
      <p:sp>
        <p:nvSpPr>
          <p:cNvPr id="31" name="o30"/>
          <p:cNvSpPr txBox="1"/>
          <p:nvPr/>
        </p:nvSpPr>
        <p:spPr>
          <a:xfrm>
            <a:off x="4928616" y="4315968"/>
            <a:ext cx="2103120" cy="320040"/>
          </a:xfrm>
          <a:prstGeom prst="rect">
            <a:avLst/>
          </a:prstGeom>
          <a:noFill/>
        </p:spPr>
        <p:txBody>
          <a:bodyPr wrap="square" lIns="0" rIns="0" tIns="0" bIns="0" anchor="t">
            <a:spAutoFit/>
          </a:bodyPr>
          <a:lstStyle/>
          <a:p>
            <a:pPr algn="l"/>
            <a:r>
              <a:rPr sz="1600" b="1" i="0">
                <a:solidFill>
                  <a:srgbClr val="FFFFFF"/>
                </a:solidFill>
                <a:latin typeface="Arial"/>
              </a:rPr>
              <a:t>fiches fusionnées</a:t>
            </a:r>
          </a:p>
        </p:txBody>
      </p:sp>
      <p:sp>
        <p:nvSpPr>
          <p:cNvPr id="32" name="o31"/>
          <p:cNvSpPr txBox="1"/>
          <p:nvPr/>
        </p:nvSpPr>
        <p:spPr>
          <a:xfrm>
            <a:off x="4215383" y="4736592"/>
            <a:ext cx="2743200" cy="731520"/>
          </a:xfrm>
          <a:prstGeom prst="rect">
            <a:avLst/>
          </a:prstGeom>
          <a:noFill/>
        </p:spPr>
        <p:txBody>
          <a:bodyPr wrap="square" lIns="0" rIns="0" tIns="0" bIns="0" anchor="t">
            <a:spAutoFit/>
          </a:bodyPr>
          <a:lstStyle/>
          <a:p>
            <a:pPr algn="l"/>
            <a:r>
              <a:rPr sz="1400" b="0" i="0">
                <a:solidFill>
                  <a:srgbClr val="C4C4E4"/>
                </a:solidFill>
                <a:latin typeface="Arial"/>
              </a:rPr>
              <a:t>mêmes règles que la base 1 : mêmes chiffres</a:t>
            </a:r>
          </a:p>
        </p:txBody>
      </p:sp>
      <p:pic>
        <p:nvPicPr>
          <p:cNvPr id="33" name="o32" descr="image-8-19.gif"/>
          <p:cNvPicPr>
            <a:picLocks noChangeAspect="1"/>
          </p:cNvPicPr>
          <p:nvPr/>
        </p:nvPicPr>
        <p:blipFill>
          <a:blip r:embed="rId11"/>
          <a:stretch>
            <a:fillRect/>
          </a:stretch>
        </p:blipFill>
        <p:spPr>
          <a:xfrm>
            <a:off x="8732520" y="1645920"/>
            <a:ext cx="1143000" cy="1143000"/>
          </a:xfrm>
          <a:prstGeom prst="rect">
            <a:avLst/>
          </a:prstGeom>
        </p:spPr>
      </p:pic>
      <p:pic>
        <p:nvPicPr>
          <p:cNvPr id="34" name="o33" descr="16 447"/>
          <p:cNvPicPr>
            <a:picLocks noChangeAspect="1"/>
          </p:cNvPicPr>
          <p:nvPr/>
        </p:nvPicPr>
        <p:blipFill>
          <a:blip r:embed="rId12"/>
          <a:stretch>
            <a:fillRect/>
          </a:stretch>
        </p:blipFill>
        <p:spPr>
          <a:xfrm>
            <a:off x="8494776" y="3154680"/>
            <a:ext cx="2304288" cy="384048"/>
          </a:xfrm>
          <a:prstGeom prst="rect">
            <a:avLst/>
          </a:prstGeom>
        </p:spPr>
      </p:pic>
      <p:sp>
        <p:nvSpPr>
          <p:cNvPr id="35" name="o34"/>
          <p:cNvSpPr txBox="1"/>
          <p:nvPr/>
        </p:nvSpPr>
        <p:spPr>
          <a:xfrm>
            <a:off x="7680960" y="3675887"/>
            <a:ext cx="3931920" cy="320040"/>
          </a:xfrm>
          <a:prstGeom prst="rect">
            <a:avLst/>
          </a:prstGeom>
          <a:noFill/>
        </p:spPr>
        <p:txBody>
          <a:bodyPr wrap="square" lIns="0" rIns="0" tIns="0" bIns="0" anchor="t">
            <a:spAutoFit/>
          </a:bodyPr>
          <a:lstStyle/>
          <a:p>
            <a:pPr algn="ctr"/>
            <a:r>
              <a:rPr sz="1600" b="0" i="0">
                <a:solidFill>
                  <a:srgbClr val="C4C4E4"/>
                </a:solidFill>
                <a:latin typeface="Arial"/>
              </a:rPr>
              <a:t>jeux propres</a:t>
            </a:r>
          </a:p>
        </p:txBody>
      </p:sp>
      <p:sp>
        <p:nvSpPr>
          <p:cNvPr id="36" name="o35"/>
          <p:cNvSpPr txBox="1"/>
          <p:nvPr/>
        </p:nvSpPr>
        <p:spPr>
          <a:xfrm>
            <a:off x="7680960" y="4160520"/>
            <a:ext cx="3931920" cy="365760"/>
          </a:xfrm>
          <a:prstGeom prst="rect">
            <a:avLst/>
          </a:prstGeom>
          <a:noFill/>
        </p:spPr>
        <p:txBody>
          <a:bodyPr wrap="square" lIns="0" rIns="0" tIns="0" bIns="0" anchor="t">
            <a:spAutoFit/>
          </a:bodyPr>
          <a:lstStyle/>
          <a:p>
            <a:pPr algn="ctr"/>
            <a:r>
              <a:rPr sz="2000" b="1" i="0">
                <a:solidFill>
                  <a:srgbClr val="FFFFFF"/>
                </a:solidFill>
                <a:latin typeface="Arial"/>
              </a:rPr>
              <a:t>16 719 → 16 447 lignes</a:t>
            </a:r>
          </a:p>
        </p:txBody>
      </p:sp>
      <p:sp>
        <p:nvSpPr>
          <p:cNvPr id="37" name="o36"/>
          <p:cNvSpPr txBox="1"/>
          <p:nvPr/>
        </p:nvSpPr>
        <p:spPr>
          <a:xfrm>
            <a:off x="7680960" y="4617720"/>
            <a:ext cx="3931920" cy="320040"/>
          </a:xfrm>
          <a:prstGeom prst="rect">
            <a:avLst/>
          </a:prstGeom>
          <a:noFill/>
        </p:spPr>
        <p:txBody>
          <a:bodyPr wrap="square" lIns="0" rIns="0" tIns="0" bIns="0" anchor="t">
            <a:spAutoFit/>
          </a:bodyPr>
          <a:lstStyle/>
          <a:p>
            <a:pPr algn="ctr"/>
            <a:r>
              <a:rPr sz="1300" b="0" i="0">
                <a:solidFill>
                  <a:srgbClr val="C4C4E4"/>
                </a:solidFill>
                <a:latin typeface="Arial"/>
              </a:rPr>
              <a:t>8 061 notes presse · 7 528 notes joueurs</a:t>
            </a:r>
          </a:p>
        </p:txBody>
      </p:sp>
      <p:sp>
        <p:nvSpPr>
          <p:cNvPr id="38" name="o37"/>
          <p:cNvSpPr txBox="1"/>
          <p:nvPr/>
        </p:nvSpPr>
        <p:spPr>
          <a:xfrm>
            <a:off x="7680960" y="5120640"/>
            <a:ext cx="3931920" cy="548640"/>
          </a:xfrm>
          <a:prstGeom prst="rect">
            <a:avLst/>
          </a:prstGeom>
          <a:noFill/>
        </p:spPr>
        <p:txBody>
          <a:bodyPr wrap="square" lIns="0" rIns="0" tIns="0" bIns="0" anchor="t">
            <a:spAutoFit/>
          </a:bodyPr>
          <a:lstStyle/>
          <a:p>
            <a:pPr algn="ctr"/>
            <a:r>
              <a:rPr sz="1400" b="0" i="1">
                <a:solidFill>
                  <a:srgbClr val="7C7CAA"/>
                </a:solidFill>
                <a:latin typeface="Arial"/>
              </a:rPr>
              <a:t>Mêmes règles, mêmes chiffres : le nettoyage de la base 1 est validé</a:t>
            </a:r>
          </a:p>
        </p:txBody>
      </p:sp>
      <p:pic>
        <p:nvPicPr>
          <p:cNvPr id="39" name="fin_pastille" descr="image-1-13.gif"/>
          <p:cNvPicPr>
            <a:picLocks noChangeAspect="1"/>
          </p:cNvPicPr>
          <p:nvPr/>
        </p:nvPicPr>
        <p:blipFill>
          <a:blip r:embed="rId13"/>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14"/>
          <a:stretch>
            <a:fillRect/>
          </a:stretch>
        </p:blipFill>
        <p:spPr>
          <a:xfrm>
            <a:off x="3081528" y="6291072"/>
            <a:ext cx="310896" cy="310896"/>
          </a:xfrm>
          <a:prstGeom prst="rect">
            <a:avLst/>
          </a:prstGeom>
        </p:spPr>
      </p:pic>
      <p:pic>
        <p:nvPicPr>
          <p:cNvPr id="41" name="barre_pacman" descr="image-1-14.gif"/>
          <p:cNvPicPr>
            <a:picLocks noChangeAspect="1"/>
          </p:cNvPicPr>
          <p:nvPr/>
        </p:nvPicPr>
        <p:blipFill>
          <a:blip r:embed="rId15"/>
          <a:stretch>
            <a:fillRect/>
          </a:stretch>
        </p:blipFill>
        <p:spPr>
          <a:xfrm>
            <a:off x="3648456" y="6291072"/>
            <a:ext cx="310896" cy="310896"/>
          </a:xfrm>
          <a:prstGeom prst="rect">
            <a:avLst/>
          </a:prstGeom>
        </p:spPr>
      </p:pic>
      <p:sp>
        <p:nvSpPr>
          <p:cNvPr id="42" name="barre_pastille_4.50"/>
          <p:cNvSpPr/>
          <p:nvPr/>
        </p:nvSpPr>
        <p:spPr>
          <a:xfrm>
            <a:off x="4114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4.75"/>
          <p:cNvSpPr/>
          <p:nvPr/>
        </p:nvSpPr>
        <p:spPr>
          <a:xfrm>
            <a:off x="4343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350"/>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767"/>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160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ntr" presetSubtype="0" fill="hold" nodeType="withEffect">
                                  <p:stCondLst>
                                    <p:cond delay="160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nodeType="withEffect">
                                  <p:stCondLst>
                                    <p:cond delay="1950"/>
                                  </p:stCondLst>
                                  <p:childTnLst>
                                    <p:set>
                                      <p:cBhvr>
                                        <p:cTn id="18" dur="1" fill="hold">
                                          <p:stCondLst>
                                            <p:cond delay="0"/>
                                          </p:stCondLst>
                                        </p:cTn>
                                        <p:tgtEl>
                                          <p:spTgt spid="14"/>
                                        </p:tgtEl>
                                        <p:attrNameLst>
                                          <p:attrName>style.visibility</p:attrName>
                                        </p:attrNameLst>
                                      </p:cBhvr>
                                      <p:to>
                                        <p:strVal val="hidden"/>
                                      </p:to>
                                    </p:set>
                                  </p:childTnLst>
                                </p:cTn>
                              </p:par>
                              <p:par>
                                <p:cTn id="19" presetID="1" presetClass="entr" presetSubtype="0" fill="hold" nodeType="withEffect">
                                  <p:stCondLst>
                                    <p:cond delay="195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xit" presetSubtype="0" fill="hold" nodeType="withEffect">
                                  <p:stCondLst>
                                    <p:cond delay="2300"/>
                                  </p:stCondLst>
                                  <p:childTnLst>
                                    <p:set>
                                      <p:cBhvr>
                                        <p:cTn id="22" dur="1" fill="hold">
                                          <p:stCondLst>
                                            <p:cond delay="0"/>
                                          </p:stCondLst>
                                        </p:cTn>
                                        <p:tgtEl>
                                          <p:spTgt spid="21"/>
                                        </p:tgtEl>
                                        <p:attrNameLst>
                                          <p:attrName>style.visibility</p:attrName>
                                        </p:attrNameLst>
                                      </p:cBhvr>
                                      <p:to>
                                        <p:strVal val="hidden"/>
                                      </p:to>
                                    </p:set>
                                  </p:childTnLst>
                                </p:cTn>
                              </p:par>
                              <p:par>
                                <p:cTn id="23" presetID="1" presetClass="entr" presetSubtype="0" fill="hold" nodeType="withEffect">
                                  <p:stCondLst>
                                    <p:cond delay="230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xit" presetSubtype="0" fill="hold" nodeType="withEffect">
                                  <p:stCondLst>
                                    <p:cond delay="2650"/>
                                  </p:stCondLst>
                                  <p:childTnLst>
                                    <p:set>
                                      <p:cBhvr>
                                        <p:cTn id="26" dur="1" fill="hold">
                                          <p:stCondLst>
                                            <p:cond delay="0"/>
                                          </p:stCondLst>
                                        </p:cTn>
                                        <p:tgtEl>
                                          <p:spTgt spid="28"/>
                                        </p:tgtEl>
                                        <p:attrNameLst>
                                          <p:attrName>style.visibility</p:attrName>
                                        </p:attrNameLst>
                                      </p:cBhvr>
                                      <p:to>
                                        <p:strVal val="hidden"/>
                                      </p:to>
                                    </p:set>
                                  </p:childTnLst>
                                </p:cTn>
                              </p:par>
                              <p:par>
                                <p:cTn id="27" presetID="1" presetClass="entr" presetSubtype="0" fill="hold" nodeType="withEffect">
                                  <p:stCondLst>
                                    <p:cond delay="2650"/>
                                  </p:stCondLst>
                                  <p:childTnLst>
                                    <p:set>
                                      <p:cBhvr>
                                        <p:cTn id="28" dur="1" fill="hold">
                                          <p:stCondLst>
                                            <p:cond delay="0"/>
                                          </p:stCondLst>
                                        </p:cTn>
                                        <p:tgtEl>
                                          <p:spTgt spid="29"/>
                                        </p:tgtEl>
                                        <p:attrNameLst>
                                          <p:attrName>style.visibility</p:attrName>
                                        </p:attrNameLst>
                                      </p:cBhvr>
                                      <p:to>
                                        <p:strVal val="visible"/>
                                      </p:to>
                                    </p:set>
                                  </p:childTnLst>
                                </p:cTn>
                              </p:par>
                              <p:par>
                                <p:cTn id="29" presetID="10" presetClass="entr" presetSubtype="0" fill="hold" nodeType="withEffect">
                                  <p:stCondLst>
                                    <p:cond delay="15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400"/>
                                        <p:tgtEl>
                                          <p:spTgt spid="5"/>
                                        </p:tgtEl>
                                      </p:cBhvr>
                                    </p:animEffect>
                                  </p:childTnLst>
                                </p:cTn>
                              </p:par>
                              <p:par>
                                <p:cTn id="32" presetID="10" presetClass="entr" presetSubtype="0" fill="hold" nodeType="withEffect">
                                  <p:stCondLst>
                                    <p:cond delay="15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400"/>
                                        <p:tgtEl>
                                          <p:spTgt spid="6"/>
                                        </p:tgtEl>
                                      </p:cBhvr>
                                    </p:animEffect>
                                  </p:childTnLst>
                                </p:cTn>
                              </p:par>
                              <p:par>
                                <p:cTn id="35" presetID="10" presetClass="entr" presetSubtype="0" fill="hold" nodeType="withEffect">
                                  <p:stCondLst>
                                    <p:cond delay="15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400"/>
                                        <p:tgtEl>
                                          <p:spTgt spid="7"/>
                                        </p:tgtEl>
                                      </p:cBhvr>
                                    </p:animEffect>
                                  </p:childTnLst>
                                </p:cTn>
                              </p:par>
                              <p:par>
                                <p:cTn id="38" presetID="10" presetClass="entr" presetSubtype="0" fill="hold" nodeType="withEffect">
                                  <p:stCondLst>
                                    <p:cond delay="15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400"/>
                                        <p:tgtEl>
                                          <p:spTgt spid="9"/>
                                        </p:tgtEl>
                                      </p:cBhvr>
                                    </p:animEffect>
                                  </p:childTnLst>
                                </p:cTn>
                              </p:par>
                              <p:par>
                                <p:cTn id="41" presetID="10" presetClass="entr" presetSubtype="0" fill="hold" nodeType="withEffect">
                                  <p:stCondLst>
                                    <p:cond delay="1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400"/>
                                        <p:tgtEl>
                                          <p:spTgt spid="10"/>
                                        </p:tgtEl>
                                      </p:cBhvr>
                                    </p:animEffect>
                                  </p:childTnLst>
                                </p:cTn>
                              </p:par>
                              <p:par>
                                <p:cTn id="44" presetID="10" presetClass="entr" presetSubtype="0" fill="hold" nodeType="withEffect">
                                  <p:stCondLst>
                                    <p:cond delay="15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00"/>
                                        <p:tgtEl>
                                          <p:spTgt spid="11"/>
                                        </p:tgtEl>
                                      </p:cBhvr>
                                    </p:animEffect>
                                  </p:childTnLst>
                                </p:cTn>
                              </p:par>
                              <p:par>
                                <p:cTn id="47" presetID="10" presetClass="entr" presetSubtype="0" fill="hold" nodeType="withEffect">
                                  <p:stCondLst>
                                    <p:cond delay="33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00"/>
                                        <p:tgtEl>
                                          <p:spTgt spid="12"/>
                                        </p:tgtEl>
                                      </p:cBhvr>
                                    </p:animEffect>
                                  </p:childTnLst>
                                </p:cTn>
                              </p:par>
                              <p:par>
                                <p:cTn id="50" presetID="10" presetClass="entr" presetSubtype="0" fill="hold" nodeType="withEffect">
                                  <p:stCondLst>
                                    <p:cond delay="3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00"/>
                                        <p:tgtEl>
                                          <p:spTgt spid="13"/>
                                        </p:tgtEl>
                                      </p:cBhvr>
                                    </p:animEffect>
                                  </p:childTnLst>
                                </p:cTn>
                              </p:par>
                              <p:par>
                                <p:cTn id="53" presetID="10" presetClass="entr" presetSubtype="0" fill="hold" nodeType="withEffect">
                                  <p:stCondLst>
                                    <p:cond delay="33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00"/>
                                        <p:tgtEl>
                                          <p:spTgt spid="14"/>
                                        </p:tgtEl>
                                      </p:cBhvr>
                                    </p:animEffect>
                                  </p:childTnLst>
                                </p:cTn>
                              </p:par>
                              <p:par>
                                <p:cTn id="56" presetID="10" presetClass="entr" presetSubtype="0" fill="hold" nodeType="withEffect">
                                  <p:stCondLst>
                                    <p:cond delay="33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00"/>
                                        <p:tgtEl>
                                          <p:spTgt spid="16"/>
                                        </p:tgtEl>
                                      </p:cBhvr>
                                    </p:animEffect>
                                  </p:childTnLst>
                                </p:cTn>
                              </p:par>
                              <p:par>
                                <p:cTn id="59" presetID="10" presetClass="entr" presetSubtype="0" fill="hold" nodeType="withEffect">
                                  <p:stCondLst>
                                    <p:cond delay="33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400"/>
                                        <p:tgtEl>
                                          <p:spTgt spid="17"/>
                                        </p:tgtEl>
                                      </p:cBhvr>
                                    </p:animEffect>
                                  </p:childTnLst>
                                </p:cTn>
                              </p:par>
                              <p:par>
                                <p:cTn id="62" presetID="10" presetClass="entr" presetSubtype="0" fill="hold" nodeType="withEffect">
                                  <p:stCondLst>
                                    <p:cond delay="33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00"/>
                                        <p:tgtEl>
                                          <p:spTgt spid="18"/>
                                        </p:tgtEl>
                                      </p:cBhvr>
                                    </p:animEffect>
                                  </p:childTnLst>
                                </p:cTn>
                              </p:par>
                              <p:par>
                                <p:cTn id="65" presetID="10" presetClass="entr" presetSubtype="0" fill="hold" nodeType="withEffect">
                                  <p:stCondLst>
                                    <p:cond delay="51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00"/>
                                        <p:tgtEl>
                                          <p:spTgt spid="19"/>
                                        </p:tgtEl>
                                      </p:cBhvr>
                                    </p:animEffect>
                                  </p:childTnLst>
                                </p:cTn>
                              </p:par>
                              <p:par>
                                <p:cTn id="68" presetID="10" presetClass="entr" presetSubtype="0" fill="hold" nodeType="withEffect">
                                  <p:stCondLst>
                                    <p:cond delay="51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400"/>
                                        <p:tgtEl>
                                          <p:spTgt spid="20"/>
                                        </p:tgtEl>
                                      </p:cBhvr>
                                    </p:animEffect>
                                  </p:childTnLst>
                                </p:cTn>
                              </p:par>
                              <p:par>
                                <p:cTn id="71" presetID="10" presetClass="entr" presetSubtype="0" fill="hold" nodeType="withEffect">
                                  <p:stCondLst>
                                    <p:cond delay="51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00"/>
                                        <p:tgtEl>
                                          <p:spTgt spid="21"/>
                                        </p:tgtEl>
                                      </p:cBhvr>
                                    </p:animEffect>
                                  </p:childTnLst>
                                </p:cTn>
                              </p:par>
                              <p:par>
                                <p:cTn id="74" presetID="10" presetClass="entr" presetSubtype="0" fill="hold" nodeType="withEffect">
                                  <p:stCondLst>
                                    <p:cond delay="51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00"/>
                                        <p:tgtEl>
                                          <p:spTgt spid="23"/>
                                        </p:tgtEl>
                                      </p:cBhvr>
                                    </p:animEffect>
                                  </p:childTnLst>
                                </p:cTn>
                              </p:par>
                              <p:par>
                                <p:cTn id="77" presetID="10" presetClass="entr" presetSubtype="0" fill="hold" nodeType="withEffect">
                                  <p:stCondLst>
                                    <p:cond delay="51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00"/>
                                        <p:tgtEl>
                                          <p:spTgt spid="24"/>
                                        </p:tgtEl>
                                      </p:cBhvr>
                                    </p:animEffect>
                                  </p:childTnLst>
                                </p:cTn>
                              </p:par>
                              <p:par>
                                <p:cTn id="80" presetID="10" presetClass="entr" presetSubtype="0" fill="hold" nodeType="withEffect">
                                  <p:stCondLst>
                                    <p:cond delay="51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400"/>
                                        <p:tgtEl>
                                          <p:spTgt spid="25"/>
                                        </p:tgtEl>
                                      </p:cBhvr>
                                    </p:animEffect>
                                  </p:childTnLst>
                                </p:cTn>
                              </p:par>
                              <p:par>
                                <p:cTn id="83" presetID="10" presetClass="entr" presetSubtype="0" fill="hold" nodeType="withEffect">
                                  <p:stCondLst>
                                    <p:cond delay="69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400"/>
                                        <p:tgtEl>
                                          <p:spTgt spid="26"/>
                                        </p:tgtEl>
                                      </p:cBhvr>
                                    </p:animEffect>
                                  </p:childTnLst>
                                </p:cTn>
                              </p:par>
                              <p:par>
                                <p:cTn id="86" presetID="10" presetClass="entr" presetSubtype="0" fill="hold" nodeType="withEffect">
                                  <p:stCondLst>
                                    <p:cond delay="69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400"/>
                                        <p:tgtEl>
                                          <p:spTgt spid="27"/>
                                        </p:tgtEl>
                                      </p:cBhvr>
                                    </p:animEffect>
                                  </p:childTnLst>
                                </p:cTn>
                              </p:par>
                              <p:par>
                                <p:cTn id="89" presetID="10" presetClass="entr" presetSubtype="0" fill="hold" nodeType="withEffect">
                                  <p:stCondLst>
                                    <p:cond delay="69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400"/>
                                        <p:tgtEl>
                                          <p:spTgt spid="28"/>
                                        </p:tgtEl>
                                      </p:cBhvr>
                                    </p:animEffect>
                                  </p:childTnLst>
                                </p:cTn>
                              </p:par>
                              <p:par>
                                <p:cTn id="92" presetID="10" presetClass="entr" presetSubtype="0" fill="hold" nodeType="withEffect">
                                  <p:stCondLst>
                                    <p:cond delay="69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400"/>
                                        <p:tgtEl>
                                          <p:spTgt spid="30"/>
                                        </p:tgtEl>
                                      </p:cBhvr>
                                    </p:animEffect>
                                  </p:childTnLst>
                                </p:cTn>
                              </p:par>
                              <p:par>
                                <p:cTn id="95" presetID="10" presetClass="entr" presetSubtype="0" fill="hold" nodeType="withEffect">
                                  <p:stCondLst>
                                    <p:cond delay="69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400"/>
                                        <p:tgtEl>
                                          <p:spTgt spid="31"/>
                                        </p:tgtEl>
                                      </p:cBhvr>
                                    </p:animEffect>
                                  </p:childTnLst>
                                </p:cTn>
                              </p:par>
                              <p:par>
                                <p:cTn id="98" presetID="10" presetClass="entr" presetSubtype="0" fill="hold" nodeType="withEffect">
                                  <p:stCondLst>
                                    <p:cond delay="69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400"/>
                                        <p:tgtEl>
                                          <p:spTgt spid="32"/>
                                        </p:tgtEl>
                                      </p:cBhvr>
                                    </p:animEffect>
                                  </p:childTnLst>
                                </p:cTn>
                              </p:par>
                              <p:par>
                                <p:cTn id="101" presetID="10" presetClass="entr" presetSubtype="0" fill="hold" nodeType="withEffect">
                                  <p:stCondLst>
                                    <p:cond delay="100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400"/>
                                        <p:tgtEl>
                                          <p:spTgt spid="33"/>
                                        </p:tgtEl>
                                      </p:cBhvr>
                                    </p:animEffect>
                                  </p:childTnLst>
                                </p:cTn>
                              </p:par>
                              <p:par>
                                <p:cTn id="104" presetID="10" presetClass="entr" presetSubtype="0" fill="hold" nodeType="withEffect">
                                  <p:stCondLst>
                                    <p:cond delay="100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400"/>
                                        <p:tgtEl>
                                          <p:spTgt spid="34"/>
                                        </p:tgtEl>
                                      </p:cBhvr>
                                    </p:animEffect>
                                  </p:childTnLst>
                                </p:cTn>
                              </p:par>
                              <p:par>
                                <p:cTn id="107" presetID="10" presetClass="entr" presetSubtype="0" fill="hold" nodeType="withEffect">
                                  <p:stCondLst>
                                    <p:cond delay="100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400"/>
                                        <p:tgtEl>
                                          <p:spTgt spid="35"/>
                                        </p:tgtEl>
                                      </p:cBhvr>
                                    </p:animEffect>
                                  </p:childTnLst>
                                </p:cTn>
                              </p:par>
                              <p:par>
                                <p:cTn id="110" presetID="10" presetClass="entr" presetSubtype="0" fill="hold" nodeType="withEffect">
                                  <p:stCondLst>
                                    <p:cond delay="100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00"/>
                                        <p:tgtEl>
                                          <p:spTgt spid="36"/>
                                        </p:tgtEl>
                                      </p:cBhvr>
                                    </p:animEffect>
                                  </p:childTnLst>
                                </p:cTn>
                              </p:par>
                              <p:par>
                                <p:cTn id="113" presetID="10" presetClass="entr" presetSubtype="0" fill="hold" nodeType="withEffect">
                                  <p:stCondLst>
                                    <p:cond delay="100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400"/>
                                        <p:tgtEl>
                                          <p:spTgt spid="37"/>
                                        </p:tgtEl>
                                      </p:cBhvr>
                                    </p:animEffect>
                                  </p:childTnLst>
                                </p:cTn>
                              </p:par>
                              <p:par>
                                <p:cTn id="116" presetID="10" presetClass="entr" presetSubtype="0" fill="hold" nodeType="withEffect">
                                  <p:stCondLst>
                                    <p:cond delay="100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7"/>
          <p:cNvSpPr/>
          <p:nvPr/>
        </p:nvSpPr>
        <p:spPr>
          <a:xfrm>
            <a:off x="868680"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8"/>
          <p:cNvSpPr/>
          <p:nvPr/>
        </p:nvSpPr>
        <p:spPr>
          <a:xfrm>
            <a:off x="937259"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9"/>
          <p:cNvSpPr/>
          <p:nvPr/>
        </p:nvSpPr>
        <p:spPr>
          <a:xfrm>
            <a:off x="9768535"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9837115"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image-2-13.png"/>
          <p:cNvPicPr>
            <a:picLocks noChangeAspect="1"/>
          </p:cNvPicPr>
          <p:nvPr/>
        </p:nvPicPr>
        <p:blipFill>
          <a:blip r:embed="rId3"/>
          <a:stretch>
            <a:fillRect/>
          </a:stretch>
        </p:blipFill>
        <p:spPr>
          <a:xfrm>
            <a:off x="5684824" y="777240"/>
            <a:ext cx="822960" cy="822960"/>
          </a:xfrm>
          <a:prstGeom prst="rect">
            <a:avLst/>
          </a:prstGeom>
        </p:spPr>
      </p:pic>
      <p:pic>
        <p:nvPicPr>
          <p:cNvPr id="13" name="o12" descr="LEVEL 3"/>
          <p:cNvPicPr>
            <a:picLocks noChangeAspect="1"/>
          </p:cNvPicPr>
          <p:nvPr/>
        </p:nvPicPr>
        <p:blipFill>
          <a:blip r:embed="rId4"/>
          <a:stretch>
            <a:fillRect/>
          </a:stretch>
        </p:blipFill>
        <p:spPr>
          <a:xfrm>
            <a:off x="5263743" y="1828800"/>
            <a:ext cx="1664208" cy="237744"/>
          </a:xfrm>
          <a:prstGeom prst="rect">
            <a:avLst/>
          </a:prstGeom>
        </p:spPr>
      </p:pic>
      <p:pic>
        <p:nvPicPr>
          <p:cNvPr id="14" name="o13" descr="JOINTURE"/>
          <p:cNvPicPr>
            <a:picLocks noChangeAspect="1"/>
          </p:cNvPicPr>
          <p:nvPr/>
        </p:nvPicPr>
        <p:blipFill>
          <a:blip r:embed="rId5"/>
          <a:stretch>
            <a:fillRect/>
          </a:stretch>
        </p:blipFill>
        <p:spPr>
          <a:xfrm>
            <a:off x="4047591" y="2331720"/>
            <a:ext cx="4096512" cy="512064"/>
          </a:xfrm>
          <a:prstGeom prst="rect">
            <a:avLst/>
          </a:prstGeom>
        </p:spPr>
      </p:pic>
      <p:sp>
        <p:nvSpPr>
          <p:cNvPr id="15" name="o14"/>
          <p:cNvSpPr txBox="1"/>
          <p:nvPr/>
        </p:nvSpPr>
        <p:spPr>
          <a:xfrm>
            <a:off x="1371600" y="3108960"/>
            <a:ext cx="9448495" cy="411480"/>
          </a:xfrm>
          <a:prstGeom prst="rect">
            <a:avLst/>
          </a:prstGeom>
          <a:noFill/>
        </p:spPr>
        <p:txBody>
          <a:bodyPr wrap="square" lIns="0" rIns="0" tIns="0" bIns="0" anchor="t">
            <a:spAutoFit/>
          </a:bodyPr>
          <a:lstStyle/>
          <a:p>
            <a:pPr algn="ctr"/>
            <a:r>
              <a:rPr sz="2000" b="0" i="0">
                <a:solidFill>
                  <a:srgbClr val="C4C4E4"/>
                </a:solidFill>
                <a:latin typeface="Arial"/>
              </a:rPr>
              <a:t>Relier les ventes et les notes</a:t>
            </a:r>
          </a:p>
        </p:txBody>
      </p:sp>
      <p:pic>
        <p:nvPicPr>
          <p:cNvPr id="16" name="rangee_sprite" descr="image-1-8.gif"/>
          <p:cNvPicPr>
            <a:picLocks noChangeAspect="1"/>
          </p:cNvPicPr>
          <p:nvPr/>
        </p:nvPicPr>
        <p:blipFill>
          <a:blip r:embed="rId6"/>
          <a:stretch>
            <a:fillRect/>
          </a:stretch>
        </p:blipFill>
        <p:spPr>
          <a:xfrm>
            <a:off x="704088" y="3950208"/>
            <a:ext cx="420624" cy="420624"/>
          </a:xfrm>
          <a:prstGeom prst="rect">
            <a:avLst/>
          </a:prstGeom>
        </p:spPr>
      </p:pic>
      <p:pic>
        <p:nvPicPr>
          <p:cNvPr id="17" name="rangee_sprite" descr="image-1-7.gif"/>
          <p:cNvPicPr>
            <a:picLocks noChangeAspect="1"/>
          </p:cNvPicPr>
          <p:nvPr/>
        </p:nvPicPr>
        <p:blipFill>
          <a:blip r:embed="rId7"/>
          <a:stretch>
            <a:fillRect/>
          </a:stretch>
        </p:blipFill>
        <p:spPr>
          <a:xfrm>
            <a:off x="1252728" y="3950208"/>
            <a:ext cx="420624" cy="420624"/>
          </a:xfrm>
          <a:prstGeom prst="rect">
            <a:avLst/>
          </a:prstGeom>
        </p:spPr>
      </p:pic>
      <p:pic>
        <p:nvPicPr>
          <p:cNvPr id="18" name="rangee_sprite" descr="image-1-6.gif"/>
          <p:cNvPicPr>
            <a:picLocks noChangeAspect="1"/>
          </p:cNvPicPr>
          <p:nvPr/>
        </p:nvPicPr>
        <p:blipFill>
          <a:blip r:embed="rId8"/>
          <a:stretch>
            <a:fillRect/>
          </a:stretch>
        </p:blipFill>
        <p:spPr>
          <a:xfrm>
            <a:off x="1801368" y="3950208"/>
            <a:ext cx="420624" cy="420624"/>
          </a:xfrm>
          <a:prstGeom prst="rect">
            <a:avLst/>
          </a:prstGeom>
        </p:spPr>
      </p:pic>
      <p:pic>
        <p:nvPicPr>
          <p:cNvPr id="19" name="rangee_sprite" descr="image-1-15.gif"/>
          <p:cNvPicPr>
            <a:picLocks noChangeAspect="1"/>
          </p:cNvPicPr>
          <p:nvPr/>
        </p:nvPicPr>
        <p:blipFill>
          <a:blip r:embed="rId9"/>
          <a:stretch>
            <a:fillRect/>
          </a:stretch>
        </p:blipFill>
        <p:spPr>
          <a:xfrm>
            <a:off x="2350008" y="3950208"/>
            <a:ext cx="420624" cy="420624"/>
          </a:xfrm>
          <a:prstGeom prst="rect">
            <a:avLst/>
          </a:prstGeom>
        </p:spPr>
      </p:pic>
      <p:pic>
        <p:nvPicPr>
          <p:cNvPr id="20" name="rangee_pacman" descr="image-1-14.gif"/>
          <p:cNvPicPr>
            <a:picLocks noChangeAspect="1"/>
          </p:cNvPicPr>
          <p:nvPr/>
        </p:nvPicPr>
        <p:blipFill>
          <a:blip r:embed="rId10"/>
          <a:stretch>
            <a:fillRect/>
          </a:stretch>
        </p:blipFill>
        <p:spPr>
          <a:xfrm>
            <a:off x="2990088" y="3950208"/>
            <a:ext cx="420624" cy="420624"/>
          </a:xfrm>
          <a:prstGeom prst="rect">
            <a:avLst/>
          </a:prstGeom>
        </p:spPr>
      </p:pic>
      <p:sp>
        <p:nvSpPr>
          <p:cNvPr id="21" name="rangee_pastille"/>
          <p:cNvSpPr/>
          <p:nvPr/>
        </p:nvSpPr>
        <p:spPr>
          <a:xfrm>
            <a:off x="36301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39959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43616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47274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50932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54589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58247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ee_pastille"/>
          <p:cNvSpPr/>
          <p:nvPr/>
        </p:nvSpPr>
        <p:spPr>
          <a:xfrm>
            <a:off x="61904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angee_pastille"/>
          <p:cNvSpPr/>
          <p:nvPr/>
        </p:nvSpPr>
        <p:spPr>
          <a:xfrm>
            <a:off x="65562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ngee_pastille"/>
          <p:cNvSpPr/>
          <p:nvPr/>
        </p:nvSpPr>
        <p:spPr>
          <a:xfrm>
            <a:off x="69220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ngee_pastille"/>
          <p:cNvSpPr/>
          <p:nvPr/>
        </p:nvSpPr>
        <p:spPr>
          <a:xfrm>
            <a:off x="72877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angee_pastille"/>
          <p:cNvSpPr/>
          <p:nvPr/>
        </p:nvSpPr>
        <p:spPr>
          <a:xfrm>
            <a:off x="76535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angee_pastille"/>
          <p:cNvSpPr/>
          <p:nvPr/>
        </p:nvSpPr>
        <p:spPr>
          <a:xfrm>
            <a:off x="80192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ee_pastille"/>
          <p:cNvSpPr/>
          <p:nvPr/>
        </p:nvSpPr>
        <p:spPr>
          <a:xfrm>
            <a:off x="83850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angee_pastille"/>
          <p:cNvSpPr/>
          <p:nvPr/>
        </p:nvSpPr>
        <p:spPr>
          <a:xfrm>
            <a:off x="87508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angee_pastille"/>
          <p:cNvSpPr/>
          <p:nvPr/>
        </p:nvSpPr>
        <p:spPr>
          <a:xfrm>
            <a:off x="91165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angee_pastille"/>
          <p:cNvSpPr/>
          <p:nvPr/>
        </p:nvSpPr>
        <p:spPr>
          <a:xfrm>
            <a:off x="94823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ady" descr="READY!"/>
          <p:cNvPicPr>
            <a:picLocks noChangeAspect="1"/>
          </p:cNvPicPr>
          <p:nvPr/>
        </p:nvPicPr>
        <p:blipFill>
          <a:blip r:embed="rId11"/>
          <a:stretch>
            <a:fillRect/>
          </a:stretch>
        </p:blipFill>
        <p:spPr>
          <a:xfrm>
            <a:off x="5492343" y="4617720"/>
            <a:ext cx="1207008" cy="201168"/>
          </a:xfrm>
          <a:prstGeom prst="rect">
            <a:avLst/>
          </a:prstGeom>
        </p:spPr>
      </p:pic>
      <p:pic>
        <p:nvPicPr>
          <p:cNvPr id="39"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9"/>
          <a:stretch>
            <a:fillRect/>
          </a:stretch>
        </p:blipFill>
        <p:spPr>
          <a:xfrm>
            <a:off x="3575304" y="6291072"/>
            <a:ext cx="310896" cy="310896"/>
          </a:xfrm>
          <a:prstGeom prst="rect">
            <a:avLst/>
          </a:prstGeom>
        </p:spPr>
      </p:pic>
      <p:pic>
        <p:nvPicPr>
          <p:cNvPr id="41" name="barre_pacman" descr="image-1-14.gif"/>
          <p:cNvPicPr>
            <a:picLocks noChangeAspect="1"/>
          </p:cNvPicPr>
          <p:nvPr/>
        </p:nvPicPr>
        <p:blipFill>
          <a:blip r:embed="rId10"/>
          <a:stretch>
            <a:fillRect/>
          </a:stretch>
        </p:blipFill>
        <p:spPr>
          <a:xfrm>
            <a:off x="4142232" y="6291072"/>
            <a:ext cx="310896" cy="310896"/>
          </a:xfrm>
          <a:prstGeom prst="rect">
            <a:avLst/>
          </a:prstGeom>
        </p:spPr>
      </p:pic>
      <p:sp>
        <p:nvSpPr>
          <p:cNvPr id="42" name="barre_pastille_5.00"/>
          <p:cNvSpPr/>
          <p:nvPr/>
        </p:nvSpPr>
        <p:spPr>
          <a:xfrm>
            <a:off x="4572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5.25"/>
          <p:cNvSpPr/>
          <p:nvPr/>
        </p:nvSpPr>
        <p:spPr>
          <a:xfrm>
            <a:off x="4800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283"/>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700"/>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38"/>
                                        </p:tgtEl>
                                        <p:attrNameLst>
                                          <p:attrName>style.visibility</p:attrName>
                                        </p:attrNameLst>
                                      </p:cBhvr>
                                      <p:to>
                                        <p:strVal val="hidden"/>
                                      </p:to>
                                    </p:set>
                                  </p:childTnLst>
                                </p:cTn>
                              </p:par>
                              <p:par>
                                <p:cTn id="15" presetID="0" presetClass="path" presetSubtype="0" fill="hold" nodeType="withEffect">
                                  <p:stCondLst>
                                    <p:cond delay="900"/>
                                  </p:stCondLst>
                                  <p:childTnLst>
                                    <p:animMotion origin="layout" path="M 0 0 L 0.57001 0 E" pathEditMode="relative" ptsTypes="">
                                      <p:cBhvr>
                                        <p:cTn id="16" dur="2600" fill="hold"/>
                                        <p:tgtEl>
                                          <p:spTgt spid="16"/>
                                        </p:tgtEl>
                                        <p:attrNameLst>
                                          <p:attrName>ppt_x</p:attrName>
                                          <p:attrName>ppt_y</p:attrName>
                                        </p:attrNameLst>
                                      </p:cBhvr>
                                    </p:animMotion>
                                  </p:childTnLst>
                                </p:cTn>
                              </p:par>
                              <p:par>
                                <p:cTn id="17" presetID="0" presetClass="path" presetSubtype="0" fill="hold" nodeType="withEffect">
                                  <p:stCondLst>
                                    <p:cond delay="900"/>
                                  </p:stCondLst>
                                  <p:childTnLst>
                                    <p:animMotion origin="layout" path="M 0 0 L 0.57001 0 E" pathEditMode="relative" ptsTypes="">
                                      <p:cBhvr>
                                        <p:cTn id="18" dur="2600" fill="hold"/>
                                        <p:tgtEl>
                                          <p:spTgt spid="17"/>
                                        </p:tgtEl>
                                        <p:attrNameLst>
                                          <p:attrName>ppt_x</p:attrName>
                                          <p:attrName>ppt_y</p:attrName>
                                        </p:attrNameLst>
                                      </p:cBhvr>
                                    </p:animMotion>
                                  </p:childTnLst>
                                </p:cTn>
                              </p:par>
                              <p:par>
                                <p:cTn id="19" presetID="0" presetClass="path" presetSubtype="0" fill="hold" nodeType="withEffect">
                                  <p:stCondLst>
                                    <p:cond delay="900"/>
                                  </p:stCondLst>
                                  <p:childTnLst>
                                    <p:animMotion origin="layout" path="M 0 0 L 0.57001 0 E" pathEditMode="relative" ptsTypes="">
                                      <p:cBhvr>
                                        <p:cTn id="20" dur="2600" fill="hold"/>
                                        <p:tgtEl>
                                          <p:spTgt spid="18"/>
                                        </p:tgtEl>
                                        <p:attrNameLst>
                                          <p:attrName>ppt_x</p:attrName>
                                          <p:attrName>ppt_y</p:attrName>
                                        </p:attrNameLst>
                                      </p:cBhvr>
                                    </p:animMotion>
                                  </p:childTnLst>
                                </p:cTn>
                              </p:par>
                              <p:par>
                                <p:cTn id="21" presetID="0" presetClass="path" presetSubtype="0" fill="hold" nodeType="withEffect">
                                  <p:stCondLst>
                                    <p:cond delay="900"/>
                                  </p:stCondLst>
                                  <p:childTnLst>
                                    <p:animMotion origin="layout" path="M 0 0 L 0.57001 0 E" pathEditMode="relative" ptsTypes="">
                                      <p:cBhvr>
                                        <p:cTn id="22" dur="2600" fill="hold"/>
                                        <p:tgtEl>
                                          <p:spTgt spid="19"/>
                                        </p:tgtEl>
                                        <p:attrNameLst>
                                          <p:attrName>ppt_x</p:attrName>
                                          <p:attrName>ppt_y</p:attrName>
                                        </p:attrNameLst>
                                      </p:cBhvr>
                                    </p:animMotion>
                                  </p:childTnLst>
                                </p:cTn>
                              </p:par>
                              <p:par>
                                <p:cTn id="23" presetID="0" presetClass="path" presetSubtype="0" fill="hold" nodeType="withEffect">
                                  <p:stCondLst>
                                    <p:cond delay="900"/>
                                  </p:stCondLst>
                                  <p:childTnLst>
                                    <p:animMotion origin="layout" path="M 0 0 L 0.57001 0 E" pathEditMode="relative" ptsTypes="">
                                      <p:cBhvr>
                                        <p:cTn id="24" dur="2600" fill="hold"/>
                                        <p:tgtEl>
                                          <p:spTgt spid="20"/>
                                        </p:tgtEl>
                                        <p:attrNameLst>
                                          <p:attrName>ppt_x</p:attrName>
                                          <p:attrName>ppt_y</p:attrName>
                                        </p:attrNameLst>
                                      </p:cBhvr>
                                    </p:animMotion>
                                  </p:childTnLst>
                                </p:cTn>
                              </p:par>
                              <p:par>
                                <p:cTn id="25" presetID="1" presetClass="exit" presetSubtype="0" fill="hold" nodeType="withEffect">
                                  <p:stCondLst>
                                    <p:cond delay="1027"/>
                                  </p:stCondLst>
                                  <p:childTnLst>
                                    <p:set>
                                      <p:cBhvr>
                                        <p:cTn id="26" dur="1" fill="hold">
                                          <p:stCondLst>
                                            <p:cond delay="0"/>
                                          </p:stCondLst>
                                        </p:cTn>
                                        <p:tgtEl>
                                          <p:spTgt spid="21"/>
                                        </p:tgtEl>
                                        <p:attrNameLst>
                                          <p:attrName>style.visibility</p:attrName>
                                        </p:attrNameLst>
                                      </p:cBhvr>
                                      <p:to>
                                        <p:strVal val="hidden"/>
                                      </p:to>
                                    </p:set>
                                  </p:childTnLst>
                                </p:cTn>
                              </p:par>
                              <p:par>
                                <p:cTn id="27" presetID="1" presetClass="exit" presetSubtype="0" fill="hold" nodeType="withEffect">
                                  <p:stCondLst>
                                    <p:cond delay="1163"/>
                                  </p:stCondLst>
                                  <p:childTnLst>
                                    <p:set>
                                      <p:cBhvr>
                                        <p:cTn id="28" dur="1" fill="hold">
                                          <p:stCondLst>
                                            <p:cond delay="0"/>
                                          </p:stCondLst>
                                        </p:cTn>
                                        <p:tgtEl>
                                          <p:spTgt spid="22"/>
                                        </p:tgtEl>
                                        <p:attrNameLst>
                                          <p:attrName>style.visibility</p:attrName>
                                        </p:attrNameLst>
                                      </p:cBhvr>
                                      <p:to>
                                        <p:strVal val="hidden"/>
                                      </p:to>
                                    </p:set>
                                  </p:childTnLst>
                                </p:cTn>
                              </p:par>
                              <p:par>
                                <p:cTn id="29" presetID="1" presetClass="exit" presetSubtype="0" fill="hold" nodeType="withEffect">
                                  <p:stCondLst>
                                    <p:cond delay="130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1437"/>
                                  </p:stCondLst>
                                  <p:childTnLst>
                                    <p:set>
                                      <p:cBhvr>
                                        <p:cTn id="32" dur="1" fill="hold">
                                          <p:stCondLst>
                                            <p:cond delay="0"/>
                                          </p:stCondLst>
                                        </p:cTn>
                                        <p:tgtEl>
                                          <p:spTgt spid="24"/>
                                        </p:tgtEl>
                                        <p:attrNameLst>
                                          <p:attrName>style.visibility</p:attrName>
                                        </p:attrNameLst>
                                      </p:cBhvr>
                                      <p:to>
                                        <p:strVal val="hidden"/>
                                      </p:to>
                                    </p:set>
                                  </p:childTnLst>
                                </p:cTn>
                              </p:par>
                              <p:par>
                                <p:cTn id="33" presetID="1" presetClass="exit" presetSubtype="0" fill="hold" nodeType="withEffect">
                                  <p:stCondLst>
                                    <p:cond delay="1574"/>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1711"/>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1848"/>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1984"/>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nodeType="withEffect">
                                  <p:stCondLst>
                                    <p:cond delay="2121"/>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nodeType="withEffect">
                                  <p:stCondLst>
                                    <p:cond delay="2258"/>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nodeType="withEffect">
                                  <p:stCondLst>
                                    <p:cond delay="2395"/>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xit" presetSubtype="0" fill="hold" nodeType="withEffect">
                                  <p:stCondLst>
                                    <p:cond delay="2532"/>
                                  </p:stCondLst>
                                  <p:childTnLst>
                                    <p:set>
                                      <p:cBhvr>
                                        <p:cTn id="48" dur="1" fill="hold">
                                          <p:stCondLst>
                                            <p:cond delay="0"/>
                                          </p:stCondLst>
                                        </p:cTn>
                                        <p:tgtEl>
                                          <p:spTgt spid="32"/>
                                        </p:tgtEl>
                                        <p:attrNameLst>
                                          <p:attrName>style.visibility</p:attrName>
                                        </p:attrNameLst>
                                      </p:cBhvr>
                                      <p:to>
                                        <p:strVal val="hidden"/>
                                      </p:to>
                                    </p:set>
                                  </p:childTnLst>
                                </p:cTn>
                              </p:par>
                              <p:par>
                                <p:cTn id="49" presetID="1" presetClass="exit" presetSubtype="0" fill="hold" nodeType="withEffect">
                                  <p:stCondLst>
                                    <p:cond delay="2669"/>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2806"/>
                                  </p:stCondLst>
                                  <p:childTnLst>
                                    <p:set>
                                      <p:cBhvr>
                                        <p:cTn id="52" dur="1" fill="hold">
                                          <p:stCondLst>
                                            <p:cond delay="0"/>
                                          </p:stCondLst>
                                        </p:cTn>
                                        <p:tgtEl>
                                          <p:spTgt spid="34"/>
                                        </p:tgtEl>
                                        <p:attrNameLst>
                                          <p:attrName>style.visibility</p:attrName>
                                        </p:attrNameLst>
                                      </p:cBhvr>
                                      <p:to>
                                        <p:strVal val="hidden"/>
                                      </p:to>
                                    </p:set>
                                  </p:childTnLst>
                                </p:cTn>
                              </p:par>
                              <p:par>
                                <p:cTn id="53" presetID="1" presetClass="exit" presetSubtype="0" fill="hold" nodeType="withEffect">
                                  <p:stCondLst>
                                    <p:cond delay="2942"/>
                                  </p:stCondLst>
                                  <p:childTnLst>
                                    <p:set>
                                      <p:cBhvr>
                                        <p:cTn id="54" dur="1" fill="hold">
                                          <p:stCondLst>
                                            <p:cond delay="0"/>
                                          </p:stCondLst>
                                        </p:cTn>
                                        <p:tgtEl>
                                          <p:spTgt spid="35"/>
                                        </p:tgtEl>
                                        <p:attrNameLst>
                                          <p:attrName>style.visibility</p:attrName>
                                        </p:attrNameLst>
                                      </p:cBhvr>
                                      <p:to>
                                        <p:strVal val="hidden"/>
                                      </p:to>
                                    </p:set>
                                  </p:childTnLst>
                                </p:cTn>
                              </p:par>
                              <p:par>
                                <p:cTn id="55" presetID="1" presetClass="exit" presetSubtype="0" fill="hold" nodeType="withEffect">
                                  <p:stCondLst>
                                    <p:cond delay="3079"/>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nodeType="withEffect">
                                  <p:stCondLst>
                                    <p:cond delay="3216"/>
                                  </p:stCondLst>
                                  <p:childTnLst>
                                    <p:set>
                                      <p:cBhvr>
                                        <p:cTn id="5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3 → JOINTURE"/>
          <p:cNvPicPr>
            <a:picLocks noChangeAspect="1"/>
          </p:cNvPicPr>
          <p:nvPr/>
        </p:nvPicPr>
        <p:blipFill>
          <a:blip r:embed="rId3"/>
          <a:stretch>
            <a:fillRect/>
          </a:stretch>
        </p:blipFill>
        <p:spPr>
          <a:xfrm>
            <a:off x="548640" y="411480"/>
            <a:ext cx="2633472" cy="146304"/>
          </a:xfrm>
          <a:prstGeom prst="rect">
            <a:avLst/>
          </a:prstGeom>
        </p:spPr>
      </p:pic>
      <p:pic>
        <p:nvPicPr>
          <p:cNvPr id="3" name="o2" descr="Une clé pour relier deux bases"/>
          <p:cNvPicPr>
            <a:picLocks noChangeAspect="1"/>
          </p:cNvPicPr>
          <p:nvPr/>
        </p:nvPicPr>
        <p:blipFill>
          <a:blip r:embed="rId4"/>
          <a:stretch>
            <a:fillRect/>
          </a:stretch>
        </p:blipFill>
        <p:spPr>
          <a:xfrm>
            <a:off x="548640" y="777240"/>
            <a:ext cx="8229600" cy="274320"/>
          </a:xfrm>
          <a:prstGeom prst="rect">
            <a:avLst/>
          </a:prstGeom>
        </p:spPr>
      </p:pic>
      <p:pic>
        <p:nvPicPr>
          <p:cNvPr id="4" name="o3" descr="image-2-13.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45920"/>
            <a:ext cx="4023360" cy="1783080"/>
          </a:xfrm>
          <a:prstGeom prst="roundRect">
            <a:avLst>
              <a:gd name="adj" fmla="val 7179"/>
            </a:avLst>
          </a:prstGeom>
          <a:solidFill>
            <a:srgbClr val="000000"/>
          </a:solidFill>
          <a:ln w="28575">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714500"/>
            <a:ext cx="3886200" cy="1645920"/>
          </a:xfrm>
          <a:prstGeom prst="roundRect">
            <a:avLst>
              <a:gd name="adj" fmla="val 3611"/>
            </a:avLst>
          </a:prstGeom>
          <a:noFill/>
          <a:ln w="12700">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o6" descr="NOM NORMALISE"/>
          <p:cNvPicPr>
            <a:picLocks noChangeAspect="1"/>
          </p:cNvPicPr>
          <p:nvPr/>
        </p:nvPicPr>
        <p:blipFill>
          <a:blip r:embed="rId6"/>
          <a:stretch>
            <a:fillRect/>
          </a:stretch>
        </p:blipFill>
        <p:spPr>
          <a:xfrm>
            <a:off x="822959" y="1892807"/>
            <a:ext cx="1783080" cy="137160"/>
          </a:xfrm>
          <a:prstGeom prst="rect">
            <a:avLst/>
          </a:prstGeom>
        </p:spPr>
      </p:pic>
      <p:sp>
        <p:nvSpPr>
          <p:cNvPr id="8" name="o7"/>
          <p:cNvSpPr txBox="1"/>
          <p:nvPr/>
        </p:nvSpPr>
        <p:spPr>
          <a:xfrm>
            <a:off x="822959" y="2240280"/>
            <a:ext cx="3474720" cy="365760"/>
          </a:xfrm>
          <a:prstGeom prst="rect">
            <a:avLst/>
          </a:prstGeom>
          <a:noFill/>
        </p:spPr>
        <p:txBody>
          <a:bodyPr wrap="square" lIns="0" rIns="0" tIns="0" bIns="0" anchor="t">
            <a:spAutoFit/>
          </a:bodyPr>
          <a:lstStyle/>
          <a:p>
            <a:pPr algn="l"/>
            <a:r>
              <a:rPr sz="1600" b="0" i="0">
                <a:solidFill>
                  <a:srgbClr val="FFFFFF"/>
                </a:solidFill>
                <a:latin typeface="Arial"/>
              </a:rPr>
              <a:t>WWE SmackDown! vs. RAW 2006</a:t>
            </a:r>
          </a:p>
        </p:txBody>
      </p:sp>
      <p:sp>
        <p:nvSpPr>
          <p:cNvPr id="9" name="o8"/>
          <p:cNvSpPr txBox="1"/>
          <p:nvPr/>
        </p:nvSpPr>
        <p:spPr>
          <a:xfrm>
            <a:off x="822959" y="2560320"/>
            <a:ext cx="3474720" cy="274320"/>
          </a:xfrm>
          <a:prstGeom prst="rect">
            <a:avLst/>
          </a:prstGeom>
          <a:noFill/>
        </p:spPr>
        <p:txBody>
          <a:bodyPr wrap="square" lIns="0" rIns="0" tIns="0" bIns="0" anchor="t">
            <a:spAutoFit/>
          </a:bodyPr>
          <a:lstStyle/>
          <a:p>
            <a:pPr algn="l"/>
            <a:r>
              <a:rPr sz="1400" b="0" i="0">
                <a:solidFill>
                  <a:srgbClr val="7C7CAA"/>
                </a:solidFill>
                <a:latin typeface="Arial"/>
              </a:rPr>
              <a:t>↓</a:t>
            </a:r>
          </a:p>
        </p:txBody>
      </p:sp>
      <p:sp>
        <p:nvSpPr>
          <p:cNvPr id="10" name="o9"/>
          <p:cNvSpPr txBox="1"/>
          <p:nvPr/>
        </p:nvSpPr>
        <p:spPr>
          <a:xfrm>
            <a:off x="822959" y="2834640"/>
            <a:ext cx="3474720" cy="365760"/>
          </a:xfrm>
          <a:prstGeom prst="rect">
            <a:avLst/>
          </a:prstGeom>
          <a:noFill/>
        </p:spPr>
        <p:txBody>
          <a:bodyPr wrap="square" lIns="0" rIns="0" tIns="0" bIns="0" anchor="t">
            <a:spAutoFit/>
          </a:bodyPr>
          <a:lstStyle/>
          <a:p>
            <a:pPr algn="l"/>
            <a:r>
              <a:rPr sz="1600" b="1" i="0">
                <a:solidFill>
                  <a:srgbClr val="00FFFF"/>
                </a:solidFill>
                <a:latin typeface="Courier New"/>
              </a:rPr>
              <a:t>wwesmackdownvsraw2006</a:t>
            </a:r>
          </a:p>
        </p:txBody>
      </p:sp>
      <p:sp>
        <p:nvSpPr>
          <p:cNvPr id="11" name="o10"/>
          <p:cNvSpPr txBox="1"/>
          <p:nvPr/>
        </p:nvSpPr>
        <p:spPr>
          <a:xfrm>
            <a:off x="4572000" y="2286000"/>
            <a:ext cx="228600" cy="457200"/>
          </a:xfrm>
          <a:prstGeom prst="rect">
            <a:avLst/>
          </a:prstGeom>
          <a:noFill/>
        </p:spPr>
        <p:txBody>
          <a:bodyPr wrap="square" lIns="0" rIns="0" tIns="0" bIns="0" anchor="t">
            <a:spAutoFit/>
          </a:bodyPr>
          <a:lstStyle/>
          <a:p>
            <a:pPr algn="ctr"/>
            <a:r>
              <a:rPr sz="2400" b="1" i="0">
                <a:solidFill>
                  <a:srgbClr val="FFE600"/>
                </a:solidFill>
                <a:latin typeface="Arial"/>
              </a:rPr>
              <a:t>+</a:t>
            </a:r>
          </a:p>
        </p:txBody>
      </p:sp>
      <p:sp>
        <p:nvSpPr>
          <p:cNvPr id="12" name="o11"/>
          <p:cNvSpPr/>
          <p:nvPr/>
        </p:nvSpPr>
        <p:spPr>
          <a:xfrm>
            <a:off x="4800600" y="1645920"/>
            <a:ext cx="2103120" cy="1783080"/>
          </a:xfrm>
          <a:prstGeom prst="roundRect">
            <a:avLst>
              <a:gd name="adj" fmla="val 7179"/>
            </a:avLst>
          </a:prstGeom>
          <a:solidFill>
            <a:srgbClr val="000000"/>
          </a:solidFill>
          <a:ln w="28575">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12"/>
          <p:cNvSpPr/>
          <p:nvPr/>
        </p:nvSpPr>
        <p:spPr>
          <a:xfrm>
            <a:off x="4869180" y="1714500"/>
            <a:ext cx="1965960" cy="1645920"/>
          </a:xfrm>
          <a:prstGeom prst="roundRect">
            <a:avLst>
              <a:gd name="adj" fmla="val 3611"/>
            </a:avLst>
          </a:prstGeom>
          <a:noFill/>
          <a:ln w="12700">
            <a:solidFill>
              <a:srgbClr val="FF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o13" descr="PLATEFORME"/>
          <p:cNvPicPr>
            <a:picLocks noChangeAspect="1"/>
          </p:cNvPicPr>
          <p:nvPr/>
        </p:nvPicPr>
        <p:blipFill>
          <a:blip r:embed="rId7"/>
          <a:stretch>
            <a:fillRect/>
          </a:stretch>
        </p:blipFill>
        <p:spPr>
          <a:xfrm>
            <a:off x="5074920" y="1892807"/>
            <a:ext cx="1371600" cy="137160"/>
          </a:xfrm>
          <a:prstGeom prst="rect">
            <a:avLst/>
          </a:prstGeom>
        </p:spPr>
      </p:pic>
      <p:sp>
        <p:nvSpPr>
          <p:cNvPr id="15" name="o14"/>
          <p:cNvSpPr txBox="1"/>
          <p:nvPr/>
        </p:nvSpPr>
        <p:spPr>
          <a:xfrm>
            <a:off x="5074920" y="2240280"/>
            <a:ext cx="1554479" cy="365760"/>
          </a:xfrm>
          <a:prstGeom prst="rect">
            <a:avLst/>
          </a:prstGeom>
          <a:noFill/>
        </p:spPr>
        <p:txBody>
          <a:bodyPr wrap="square" lIns="0" rIns="0" tIns="0" bIns="0" anchor="t">
            <a:spAutoFit/>
          </a:bodyPr>
          <a:lstStyle/>
          <a:p>
            <a:pPr algn="l"/>
            <a:r>
              <a:rPr sz="1600" b="0" i="0">
                <a:solidFill>
                  <a:srgbClr val="FFFFFF"/>
                </a:solidFill>
                <a:latin typeface="Arial"/>
              </a:rPr>
              <a:t>PS2</a:t>
            </a:r>
          </a:p>
        </p:txBody>
      </p:sp>
      <p:sp>
        <p:nvSpPr>
          <p:cNvPr id="16" name="o15"/>
          <p:cNvSpPr txBox="1"/>
          <p:nvPr/>
        </p:nvSpPr>
        <p:spPr>
          <a:xfrm>
            <a:off x="5074920" y="2560320"/>
            <a:ext cx="1554479" cy="274320"/>
          </a:xfrm>
          <a:prstGeom prst="rect">
            <a:avLst/>
          </a:prstGeom>
          <a:noFill/>
        </p:spPr>
        <p:txBody>
          <a:bodyPr wrap="square" lIns="0" rIns="0" tIns="0" bIns="0" anchor="t">
            <a:spAutoFit/>
          </a:bodyPr>
          <a:lstStyle/>
          <a:p>
            <a:pPr algn="l"/>
            <a:r>
              <a:rPr sz="1400" b="0" i="0">
                <a:solidFill>
                  <a:srgbClr val="7C7CAA"/>
                </a:solidFill>
                <a:latin typeface="Arial"/>
              </a:rPr>
              <a:t>↓</a:t>
            </a:r>
          </a:p>
        </p:txBody>
      </p:sp>
      <p:sp>
        <p:nvSpPr>
          <p:cNvPr id="17" name="o16"/>
          <p:cNvSpPr txBox="1"/>
          <p:nvPr/>
        </p:nvSpPr>
        <p:spPr>
          <a:xfrm>
            <a:off x="5074920" y="2834640"/>
            <a:ext cx="1554479" cy="365760"/>
          </a:xfrm>
          <a:prstGeom prst="rect">
            <a:avLst/>
          </a:prstGeom>
          <a:noFill/>
        </p:spPr>
        <p:txBody>
          <a:bodyPr wrap="square" lIns="0" rIns="0" tIns="0" bIns="0" anchor="t">
            <a:spAutoFit/>
          </a:bodyPr>
          <a:lstStyle/>
          <a:p>
            <a:pPr algn="l"/>
            <a:r>
              <a:rPr sz="1600" b="1" i="0">
                <a:solidFill>
                  <a:srgbClr val="FFB8FF"/>
                </a:solidFill>
                <a:latin typeface="Courier New"/>
              </a:rPr>
              <a:t>PS2</a:t>
            </a:r>
          </a:p>
        </p:txBody>
      </p:sp>
      <p:sp>
        <p:nvSpPr>
          <p:cNvPr id="18" name="o17"/>
          <p:cNvSpPr txBox="1"/>
          <p:nvPr/>
        </p:nvSpPr>
        <p:spPr>
          <a:xfrm>
            <a:off x="6903720" y="2286000"/>
            <a:ext cx="228600" cy="457200"/>
          </a:xfrm>
          <a:prstGeom prst="rect">
            <a:avLst/>
          </a:prstGeom>
          <a:noFill/>
        </p:spPr>
        <p:txBody>
          <a:bodyPr wrap="square" lIns="0" rIns="0" tIns="0" bIns="0" anchor="t">
            <a:spAutoFit/>
          </a:bodyPr>
          <a:lstStyle/>
          <a:p>
            <a:pPr algn="ctr"/>
            <a:r>
              <a:rPr sz="2400" b="1" i="0">
                <a:solidFill>
                  <a:srgbClr val="FFE600"/>
                </a:solidFill>
                <a:latin typeface="Arial"/>
              </a:rPr>
              <a:t>+</a:t>
            </a:r>
          </a:p>
        </p:txBody>
      </p:sp>
      <p:sp>
        <p:nvSpPr>
          <p:cNvPr id="19" name="o18"/>
          <p:cNvSpPr/>
          <p:nvPr/>
        </p:nvSpPr>
        <p:spPr>
          <a:xfrm>
            <a:off x="7132320" y="1645920"/>
            <a:ext cx="2103120" cy="1783080"/>
          </a:xfrm>
          <a:prstGeom prst="roundRect">
            <a:avLst>
              <a:gd name="adj" fmla="val 7179"/>
            </a:avLst>
          </a:prstGeom>
          <a:solidFill>
            <a:srgbClr val="000000"/>
          </a:solidFill>
          <a:ln w="28575">
            <a:solidFill>
              <a:srgbClr val="FFB85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19"/>
          <p:cNvSpPr/>
          <p:nvPr/>
        </p:nvSpPr>
        <p:spPr>
          <a:xfrm>
            <a:off x="7200900" y="1714500"/>
            <a:ext cx="1965960" cy="1645920"/>
          </a:xfrm>
          <a:prstGeom prst="roundRect">
            <a:avLst>
              <a:gd name="adj" fmla="val 3611"/>
            </a:avLst>
          </a:prstGeom>
          <a:noFill/>
          <a:ln w="12700">
            <a:solidFill>
              <a:srgbClr val="FFB85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o20" descr="ANNEE"/>
          <p:cNvPicPr>
            <a:picLocks noChangeAspect="1"/>
          </p:cNvPicPr>
          <p:nvPr/>
        </p:nvPicPr>
        <p:blipFill>
          <a:blip r:embed="rId8"/>
          <a:stretch>
            <a:fillRect/>
          </a:stretch>
        </p:blipFill>
        <p:spPr>
          <a:xfrm>
            <a:off x="7406640" y="1892807"/>
            <a:ext cx="685800" cy="137160"/>
          </a:xfrm>
          <a:prstGeom prst="rect">
            <a:avLst/>
          </a:prstGeom>
        </p:spPr>
      </p:pic>
      <p:sp>
        <p:nvSpPr>
          <p:cNvPr id="22" name="o21"/>
          <p:cNvSpPr txBox="1"/>
          <p:nvPr/>
        </p:nvSpPr>
        <p:spPr>
          <a:xfrm>
            <a:off x="7406640" y="2240280"/>
            <a:ext cx="1554479" cy="365760"/>
          </a:xfrm>
          <a:prstGeom prst="rect">
            <a:avLst/>
          </a:prstGeom>
          <a:noFill/>
        </p:spPr>
        <p:txBody>
          <a:bodyPr wrap="square" lIns="0" rIns="0" tIns="0" bIns="0" anchor="t">
            <a:spAutoFit/>
          </a:bodyPr>
          <a:lstStyle/>
          <a:p>
            <a:pPr algn="l"/>
            <a:r>
              <a:rPr sz="1600" b="0" i="0">
                <a:solidFill>
                  <a:srgbClr val="FFFFFF"/>
                </a:solidFill>
                <a:latin typeface="Arial"/>
              </a:rPr>
              <a:t>2005</a:t>
            </a:r>
          </a:p>
        </p:txBody>
      </p:sp>
      <p:sp>
        <p:nvSpPr>
          <p:cNvPr id="23" name="o22"/>
          <p:cNvSpPr txBox="1"/>
          <p:nvPr/>
        </p:nvSpPr>
        <p:spPr>
          <a:xfrm>
            <a:off x="7406640" y="2560320"/>
            <a:ext cx="1554479" cy="274320"/>
          </a:xfrm>
          <a:prstGeom prst="rect">
            <a:avLst/>
          </a:prstGeom>
          <a:noFill/>
        </p:spPr>
        <p:txBody>
          <a:bodyPr wrap="square" lIns="0" rIns="0" tIns="0" bIns="0" anchor="t">
            <a:spAutoFit/>
          </a:bodyPr>
          <a:lstStyle/>
          <a:p>
            <a:pPr algn="l"/>
            <a:r>
              <a:rPr sz="1400" b="0" i="0">
                <a:solidFill>
                  <a:srgbClr val="7C7CAA"/>
                </a:solidFill>
                <a:latin typeface="Arial"/>
              </a:rPr>
              <a:t>↓</a:t>
            </a:r>
          </a:p>
        </p:txBody>
      </p:sp>
      <p:sp>
        <p:nvSpPr>
          <p:cNvPr id="24" name="o23"/>
          <p:cNvSpPr txBox="1"/>
          <p:nvPr/>
        </p:nvSpPr>
        <p:spPr>
          <a:xfrm>
            <a:off x="7406640" y="2834640"/>
            <a:ext cx="1554479" cy="365760"/>
          </a:xfrm>
          <a:prstGeom prst="rect">
            <a:avLst/>
          </a:prstGeom>
          <a:noFill/>
        </p:spPr>
        <p:txBody>
          <a:bodyPr wrap="square" lIns="0" rIns="0" tIns="0" bIns="0" anchor="t">
            <a:spAutoFit/>
          </a:bodyPr>
          <a:lstStyle/>
          <a:p>
            <a:pPr algn="l"/>
            <a:r>
              <a:rPr sz="1600" b="1" i="0">
                <a:solidFill>
                  <a:srgbClr val="FFB852"/>
                </a:solidFill>
                <a:latin typeface="Courier New"/>
              </a:rPr>
              <a:t>2005</a:t>
            </a:r>
          </a:p>
        </p:txBody>
      </p:sp>
      <p:pic>
        <p:nvPicPr>
          <p:cNvPr id="25" name="o24" descr="icone_chaine.png"/>
          <p:cNvPicPr>
            <a:picLocks noChangeAspect="1"/>
          </p:cNvPicPr>
          <p:nvPr/>
        </p:nvPicPr>
        <p:blipFill>
          <a:blip r:embed="rId9"/>
          <a:stretch>
            <a:fillRect/>
          </a:stretch>
        </p:blipFill>
        <p:spPr>
          <a:xfrm>
            <a:off x="10104120" y="1874519"/>
            <a:ext cx="1280160" cy="1280160"/>
          </a:xfrm>
          <a:prstGeom prst="rect">
            <a:avLst/>
          </a:prstGeom>
        </p:spPr>
      </p:pic>
      <p:sp>
        <p:nvSpPr>
          <p:cNvPr id="26" name="o25"/>
          <p:cNvSpPr/>
          <p:nvPr/>
        </p:nvSpPr>
        <p:spPr>
          <a:xfrm>
            <a:off x="548640" y="3703320"/>
            <a:ext cx="3566160" cy="2331720"/>
          </a:xfrm>
          <a:prstGeom prst="roundRect">
            <a:avLst>
              <a:gd name="adj" fmla="val 549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26"/>
          <p:cNvSpPr/>
          <p:nvPr/>
        </p:nvSpPr>
        <p:spPr>
          <a:xfrm>
            <a:off x="617219" y="3771900"/>
            <a:ext cx="3429000" cy="2194560"/>
          </a:xfrm>
          <a:prstGeom prst="roundRect">
            <a:avLst>
              <a:gd name="adj" fmla="val 2708"/>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o27" descr="99,7%"/>
          <p:cNvPicPr>
            <a:picLocks noChangeAspect="1"/>
          </p:cNvPicPr>
          <p:nvPr/>
        </p:nvPicPr>
        <p:blipFill>
          <a:blip r:embed="rId10"/>
          <a:stretch>
            <a:fillRect/>
          </a:stretch>
        </p:blipFill>
        <p:spPr>
          <a:xfrm>
            <a:off x="822959" y="3977639"/>
            <a:ext cx="1828800" cy="365760"/>
          </a:xfrm>
          <a:prstGeom prst="rect">
            <a:avLst/>
          </a:prstGeom>
        </p:spPr>
      </p:pic>
      <p:sp>
        <p:nvSpPr>
          <p:cNvPr id="29" name="o28"/>
          <p:cNvSpPr txBox="1"/>
          <p:nvPr/>
        </p:nvSpPr>
        <p:spPr>
          <a:xfrm>
            <a:off x="822959" y="4572000"/>
            <a:ext cx="3017520" cy="1325880"/>
          </a:xfrm>
          <a:prstGeom prst="rect">
            <a:avLst/>
          </a:prstGeom>
          <a:noFill/>
        </p:spPr>
        <p:txBody>
          <a:bodyPr wrap="square" lIns="0" rIns="0" tIns="0" bIns="0" anchor="t">
            <a:spAutoFit/>
          </a:bodyPr>
          <a:lstStyle/>
          <a:p>
            <a:pPr algn="l"/>
            <a:r>
              <a:rPr sz="1500" b="0" i="0">
                <a:solidFill>
                  <a:srgbClr val="C4C4E4"/>
                </a:solidFill>
                <a:latin typeface="Arial"/>
              </a:rPr>
              <a:t>des jeux de vgsales retrouvent leur fiche Metacritic</a:t>
            </a:r>
          </a:p>
        </p:txBody>
      </p:sp>
      <p:sp>
        <p:nvSpPr>
          <p:cNvPr id="30" name="o29"/>
          <p:cNvSpPr/>
          <p:nvPr/>
        </p:nvSpPr>
        <p:spPr>
          <a:xfrm>
            <a:off x="4306824" y="3703320"/>
            <a:ext cx="3566160" cy="2331720"/>
          </a:xfrm>
          <a:prstGeom prst="roundRect">
            <a:avLst>
              <a:gd name="adj" fmla="val 549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30"/>
          <p:cNvSpPr/>
          <p:nvPr/>
        </p:nvSpPr>
        <p:spPr>
          <a:xfrm>
            <a:off x="4375404" y="3771900"/>
            <a:ext cx="3429000" cy="2194560"/>
          </a:xfrm>
          <a:prstGeom prst="roundRect">
            <a:avLst>
              <a:gd name="adj" fmla="val 2708"/>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o31" descr="44"/>
          <p:cNvPicPr>
            <a:picLocks noChangeAspect="1"/>
          </p:cNvPicPr>
          <p:nvPr/>
        </p:nvPicPr>
        <p:blipFill>
          <a:blip r:embed="rId11"/>
          <a:stretch>
            <a:fillRect/>
          </a:stretch>
        </p:blipFill>
        <p:spPr>
          <a:xfrm>
            <a:off x="4581144" y="3977639"/>
            <a:ext cx="731520" cy="365760"/>
          </a:xfrm>
          <a:prstGeom prst="rect">
            <a:avLst/>
          </a:prstGeom>
        </p:spPr>
      </p:pic>
      <p:sp>
        <p:nvSpPr>
          <p:cNvPr id="33" name="o32"/>
          <p:cNvSpPr txBox="1"/>
          <p:nvPr/>
        </p:nvSpPr>
        <p:spPr>
          <a:xfrm>
            <a:off x="4581144" y="4572000"/>
            <a:ext cx="3017520" cy="1325880"/>
          </a:xfrm>
          <a:prstGeom prst="rect">
            <a:avLst/>
          </a:prstGeom>
          <a:noFill/>
        </p:spPr>
        <p:txBody>
          <a:bodyPr wrap="square" lIns="0" rIns="0" tIns="0" bIns="0" anchor="t">
            <a:spAutoFit/>
          </a:bodyPr>
          <a:lstStyle/>
          <a:p>
            <a:pPr algn="l"/>
            <a:r>
              <a:rPr sz="1500" b="0" i="0">
                <a:solidFill>
                  <a:srgbClr val="C4C4E4"/>
                </a:solidFill>
                <a:latin typeface="Arial"/>
              </a:rPr>
              <a:t>jeux sans partenaire : 0,56 M de ventes, négligeable</a:t>
            </a:r>
          </a:p>
        </p:txBody>
      </p:sp>
      <p:sp>
        <p:nvSpPr>
          <p:cNvPr id="34" name="o33"/>
          <p:cNvSpPr/>
          <p:nvPr/>
        </p:nvSpPr>
        <p:spPr>
          <a:xfrm>
            <a:off x="8065008" y="3703320"/>
            <a:ext cx="3566160" cy="2331720"/>
          </a:xfrm>
          <a:prstGeom prst="roundRect">
            <a:avLst>
              <a:gd name="adj" fmla="val 549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34"/>
          <p:cNvSpPr/>
          <p:nvPr/>
        </p:nvSpPr>
        <p:spPr>
          <a:xfrm>
            <a:off x="8133588" y="3771900"/>
            <a:ext cx="3429000" cy="2194560"/>
          </a:xfrm>
          <a:prstGeom prst="roundRect">
            <a:avLst>
              <a:gd name="adj" fmla="val 2708"/>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o35" descr="186"/>
          <p:cNvPicPr>
            <a:picLocks noChangeAspect="1"/>
          </p:cNvPicPr>
          <p:nvPr/>
        </p:nvPicPr>
        <p:blipFill>
          <a:blip r:embed="rId12"/>
          <a:stretch>
            <a:fillRect/>
          </a:stretch>
        </p:blipFill>
        <p:spPr>
          <a:xfrm>
            <a:off x="8339328" y="3977639"/>
            <a:ext cx="1097280" cy="365760"/>
          </a:xfrm>
          <a:prstGeom prst="rect">
            <a:avLst/>
          </a:prstGeom>
        </p:spPr>
      </p:pic>
      <p:sp>
        <p:nvSpPr>
          <p:cNvPr id="37" name="o36"/>
          <p:cNvSpPr txBox="1"/>
          <p:nvPr/>
        </p:nvSpPr>
        <p:spPr>
          <a:xfrm>
            <a:off x="8339328" y="4572000"/>
            <a:ext cx="3017520" cy="1325880"/>
          </a:xfrm>
          <a:prstGeom prst="rect">
            <a:avLst/>
          </a:prstGeom>
          <a:noFill/>
        </p:spPr>
        <p:txBody>
          <a:bodyPr wrap="square" lIns="0" rIns="0" tIns="0" bIns="0" anchor="t">
            <a:spAutoFit/>
          </a:bodyPr>
          <a:lstStyle/>
          <a:p>
            <a:pPr algn="l"/>
            <a:r>
              <a:rPr sz="1500" b="0" i="0">
                <a:solidFill>
                  <a:srgbClr val="C4C4E4"/>
                </a:solidFill>
                <a:latin typeface="Arial"/>
              </a:rPr>
              <a:t>jeux aux ventes différentes entre les relevés : les ventes viennent toujours de la base 1</a:t>
            </a:r>
          </a:p>
        </p:txBody>
      </p:sp>
      <p:pic>
        <p:nvPicPr>
          <p:cNvPr id="38" name="fin_pastille" descr="image-1-13.gif"/>
          <p:cNvPicPr>
            <a:picLocks noChangeAspect="1"/>
          </p:cNvPicPr>
          <p:nvPr/>
        </p:nvPicPr>
        <p:blipFill>
          <a:blip r:embed="rId13"/>
          <a:stretch>
            <a:fillRect/>
          </a:stretch>
        </p:blipFill>
        <p:spPr>
          <a:xfrm>
            <a:off x="11448288" y="6355080"/>
            <a:ext cx="182880" cy="182880"/>
          </a:xfrm>
          <a:prstGeom prst="rect">
            <a:avLst/>
          </a:prstGeom>
        </p:spPr>
      </p:pic>
      <p:pic>
        <p:nvPicPr>
          <p:cNvPr id="39" name="barre_fantome" descr="image-1-15.gif"/>
          <p:cNvPicPr>
            <a:picLocks noChangeAspect="1"/>
          </p:cNvPicPr>
          <p:nvPr/>
        </p:nvPicPr>
        <p:blipFill>
          <a:blip r:embed="rId14"/>
          <a:stretch>
            <a:fillRect/>
          </a:stretch>
        </p:blipFill>
        <p:spPr>
          <a:xfrm>
            <a:off x="4069080" y="6291072"/>
            <a:ext cx="310896" cy="310896"/>
          </a:xfrm>
          <a:prstGeom prst="rect">
            <a:avLst/>
          </a:prstGeom>
        </p:spPr>
      </p:pic>
      <p:pic>
        <p:nvPicPr>
          <p:cNvPr id="40" name="barre_pacman" descr="image-1-14.gif"/>
          <p:cNvPicPr>
            <a:picLocks noChangeAspect="1"/>
          </p:cNvPicPr>
          <p:nvPr/>
        </p:nvPicPr>
        <p:blipFill>
          <a:blip r:embed="rId15"/>
          <a:stretch>
            <a:fillRect/>
          </a:stretch>
        </p:blipFill>
        <p:spPr>
          <a:xfrm>
            <a:off x="4636008" y="6291072"/>
            <a:ext cx="310896" cy="310896"/>
          </a:xfrm>
          <a:prstGeom prst="rect">
            <a:avLst/>
          </a:prstGeom>
        </p:spPr>
      </p:pic>
      <p:sp>
        <p:nvSpPr>
          <p:cNvPr id="41" name="barre_pastille_5.50"/>
          <p:cNvSpPr/>
          <p:nvPr/>
        </p:nvSpPr>
        <p:spPr>
          <a:xfrm>
            <a:off x="5029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5.75"/>
          <p:cNvSpPr/>
          <p:nvPr/>
        </p:nvSpPr>
        <p:spPr>
          <a:xfrm>
            <a:off x="5257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39"/>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0"/>
                                        </p:tgtEl>
                                        <p:attrNameLst>
                                          <p:attrName>ppt_x</p:attrName>
                                          <p:attrName>ppt_y</p:attrName>
                                        </p:attrNameLst>
                                      </p:cBhvr>
                                    </p:animMotion>
                                  </p:childTnLst>
                                </p:cTn>
                              </p:par>
                              <p:par>
                                <p:cTn id="9" presetID="1" presetClass="exit" presetSubtype="0" fill="hold" nodeType="withEffect">
                                  <p:stCondLst>
                                    <p:cond delay="217"/>
                                  </p:stCondLst>
                                  <p:childTnLst>
                                    <p:set>
                                      <p:cBhvr>
                                        <p:cTn id="10" dur="1" fill="hold">
                                          <p:stCondLst>
                                            <p:cond delay="0"/>
                                          </p:stCondLst>
                                        </p:cTn>
                                        <p:tgtEl>
                                          <p:spTgt spid="41"/>
                                        </p:tgtEl>
                                        <p:attrNameLst>
                                          <p:attrName>style.visibility</p:attrName>
                                        </p:attrNameLst>
                                      </p:cBhvr>
                                      <p:to>
                                        <p:strVal val="hidden"/>
                                      </p:to>
                                    </p:set>
                                  </p:childTnLst>
                                </p:cTn>
                              </p:par>
                              <p:par>
                                <p:cTn id="11" presetID="1" presetClass="exit" presetSubtype="0" fill="hold" nodeType="withEffect">
                                  <p:stCondLst>
                                    <p:cond delay="633"/>
                                  </p:stCondLst>
                                  <p:childTnLst>
                                    <p:set>
                                      <p:cBhvr>
                                        <p:cTn id="12" dur="1" fill="hold">
                                          <p:stCondLst>
                                            <p:cond delay="0"/>
                                          </p:stCondLst>
                                        </p:cTn>
                                        <p:tgtEl>
                                          <p:spTgt spid="42"/>
                                        </p:tgtEl>
                                        <p:attrNameLst>
                                          <p:attrName>style.visibility</p:attrName>
                                        </p:attrNameLst>
                                      </p:cBhvr>
                                      <p:to>
                                        <p:strVal val="hidden"/>
                                      </p:to>
                                    </p:set>
                                  </p:childTnLst>
                                </p:cTn>
                              </p:par>
                              <p:par>
                                <p:cTn id="13" presetID="10" presetClass="entr" presetSubtype="0" fill="hold" nodeType="withEffect">
                                  <p:stCondLst>
                                    <p:cond delay="1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1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1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1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1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1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3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33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33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3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33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33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33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5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51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51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51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nodeType="withEffect">
                                  <p:stCondLst>
                                    <p:cond delay="51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51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nodeType="withEffect">
                                  <p:stCondLst>
                                    <p:cond delay="51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nodeType="withEffect">
                                  <p:stCondLst>
                                    <p:cond delay="69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100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nodeType="withEffect">
                                  <p:stCondLst>
                                    <p:cond delay="100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nodeType="withEffect">
                                  <p:stCondLst>
                                    <p:cond delay="100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nodeType="withEffect">
                                  <p:stCondLst>
                                    <p:cond delay="100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par>
                                <p:cTn id="88" presetID="10" presetClass="entr" presetSubtype="0" fill="hold" nodeType="withEffect">
                                  <p:stCondLst>
                                    <p:cond delay="120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00"/>
                                        <p:tgtEl>
                                          <p:spTgt spid="30"/>
                                        </p:tgtEl>
                                      </p:cBhvr>
                                    </p:animEffect>
                                  </p:childTnLst>
                                </p:cTn>
                              </p:par>
                              <p:par>
                                <p:cTn id="91" presetID="10" presetClass="entr" presetSubtype="0" fill="hold" nodeType="withEffect">
                                  <p:stCondLst>
                                    <p:cond delay="120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00"/>
                                        <p:tgtEl>
                                          <p:spTgt spid="31"/>
                                        </p:tgtEl>
                                      </p:cBhvr>
                                    </p:animEffect>
                                  </p:childTnLst>
                                </p:cTn>
                              </p:par>
                              <p:par>
                                <p:cTn id="94" presetID="10" presetClass="entr" presetSubtype="0" fill="hold" nodeType="withEffect">
                                  <p:stCondLst>
                                    <p:cond delay="120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00"/>
                                        <p:tgtEl>
                                          <p:spTgt spid="32"/>
                                        </p:tgtEl>
                                      </p:cBhvr>
                                    </p:animEffect>
                                  </p:childTnLst>
                                </p:cTn>
                              </p:par>
                              <p:par>
                                <p:cTn id="97" presetID="10" presetClass="entr" presetSubtype="0" fill="hold" nodeType="withEffect">
                                  <p:stCondLst>
                                    <p:cond delay="120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00"/>
                                        <p:tgtEl>
                                          <p:spTgt spid="33"/>
                                        </p:tgtEl>
                                      </p:cBhvr>
                                    </p:animEffect>
                                  </p:childTnLst>
                                </p:cTn>
                              </p:par>
                              <p:par>
                                <p:cTn id="100" presetID="10" presetClass="entr" presetSubtype="0" fill="hold" nodeType="withEffect">
                                  <p:stCondLst>
                                    <p:cond delay="140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00"/>
                                        <p:tgtEl>
                                          <p:spTgt spid="34"/>
                                        </p:tgtEl>
                                      </p:cBhvr>
                                    </p:animEffect>
                                  </p:childTnLst>
                                </p:cTn>
                              </p:par>
                              <p:par>
                                <p:cTn id="103" presetID="10" presetClass="entr" presetSubtype="0" fill="hold" nodeType="withEffect">
                                  <p:stCondLst>
                                    <p:cond delay="140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nodeType="withEffect">
                                  <p:stCondLst>
                                    <p:cond delay="140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00"/>
                                        <p:tgtEl>
                                          <p:spTgt spid="36"/>
                                        </p:tgtEl>
                                      </p:cBhvr>
                                    </p:animEffect>
                                  </p:childTnLst>
                                </p:cTn>
                              </p:par>
                              <p:par>
                                <p:cTn id="109" presetID="10" presetClass="entr" presetSubtype="0" fill="hold" nodeType="withEffect">
                                  <p:stCondLst>
                                    <p:cond delay="140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3 → JOINTURE"/>
          <p:cNvPicPr>
            <a:picLocks noChangeAspect="1"/>
          </p:cNvPicPr>
          <p:nvPr/>
        </p:nvPicPr>
        <p:blipFill>
          <a:blip r:embed="rId3"/>
          <a:stretch>
            <a:fillRect/>
          </a:stretch>
        </p:blipFill>
        <p:spPr>
          <a:xfrm>
            <a:off x="548640" y="411480"/>
            <a:ext cx="2633472" cy="146304"/>
          </a:xfrm>
          <a:prstGeom prst="rect">
            <a:avLst/>
          </a:prstGeom>
        </p:spPr>
      </p:pic>
      <p:pic>
        <p:nvPicPr>
          <p:cNvPr id="3" name="o2" descr="Relié ≠ noté : le biais"/>
          <p:cNvPicPr>
            <a:picLocks noChangeAspect="1"/>
          </p:cNvPicPr>
          <p:nvPr/>
        </p:nvPicPr>
        <p:blipFill>
          <a:blip r:embed="rId4"/>
          <a:stretch>
            <a:fillRect/>
          </a:stretch>
        </p:blipFill>
        <p:spPr>
          <a:xfrm>
            <a:off x="548640" y="777240"/>
            <a:ext cx="6309359" cy="274320"/>
          </a:xfrm>
          <a:prstGeom prst="rect">
            <a:avLst/>
          </a:prstGeom>
        </p:spPr>
      </p:pic>
      <p:pic>
        <p:nvPicPr>
          <p:cNvPr id="4" name="o3" descr="image-2-13.png"/>
          <p:cNvPicPr>
            <a:picLocks noChangeAspect="1"/>
          </p:cNvPicPr>
          <p:nvPr/>
        </p:nvPicPr>
        <p:blipFill>
          <a:blip r:embed="rId5"/>
          <a:stretch>
            <a:fillRect/>
          </a:stretch>
        </p:blipFill>
        <p:spPr>
          <a:xfrm>
            <a:off x="11073384" y="365760"/>
            <a:ext cx="566928" cy="566928"/>
          </a:xfrm>
          <a:prstGeom prst="rect">
            <a:avLst/>
          </a:prstGeom>
        </p:spPr>
      </p:pic>
      <p:graphicFrame>
        <p:nvGraphicFramePr>
          <p:cNvPr id="5" name="o4"/>
          <p:cNvGraphicFramePr>
            <a:graphicFrameLocks noGrp="1"/>
          </p:cNvGraphicFramePr>
          <p:nvPr/>
        </p:nvGraphicFramePr>
        <p:xfrm>
          <a:off x="457200" y="1600200"/>
          <a:ext cx="7315200" cy="4434840"/>
        </p:xfrm>
        <a:graphic>
          <a:graphicData uri="http://schemas.openxmlformats.org/drawingml/2006/chart">
            <c:chart xmlns:c="http://schemas.openxmlformats.org/drawingml/2006/chart" r:id="rId6"/>
          </a:graphicData>
        </a:graphic>
      </p:graphicFrame>
      <p:sp>
        <p:nvSpPr>
          <p:cNvPr id="6" name="o5"/>
          <p:cNvSpPr/>
          <p:nvPr/>
        </p:nvSpPr>
        <p:spPr>
          <a:xfrm>
            <a:off x="8183879" y="1691640"/>
            <a:ext cx="3456432" cy="2468880"/>
          </a:xfrm>
          <a:prstGeom prst="roundRect">
            <a:avLst>
              <a:gd name="adj" fmla="val 5185"/>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8252459" y="1760220"/>
            <a:ext cx="3319272" cy="2331720"/>
          </a:xfrm>
          <a:prstGeom prst="roundRect">
            <a:avLst>
              <a:gd name="adj" fmla="val 2549"/>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49%"/>
          <p:cNvPicPr>
            <a:picLocks noChangeAspect="1"/>
          </p:cNvPicPr>
          <p:nvPr/>
        </p:nvPicPr>
        <p:blipFill>
          <a:blip r:embed="rId7"/>
          <a:stretch>
            <a:fillRect/>
          </a:stretch>
        </p:blipFill>
        <p:spPr>
          <a:xfrm>
            <a:off x="8503920" y="2011680"/>
            <a:ext cx="1152144" cy="384048"/>
          </a:xfrm>
          <a:prstGeom prst="rect">
            <a:avLst/>
          </a:prstGeom>
        </p:spPr>
      </p:pic>
      <p:sp>
        <p:nvSpPr>
          <p:cNvPr id="9" name="o8"/>
          <p:cNvSpPr txBox="1"/>
          <p:nvPr/>
        </p:nvSpPr>
        <p:spPr>
          <a:xfrm>
            <a:off x="9747504" y="2011680"/>
            <a:ext cx="1737360" cy="384048"/>
          </a:xfrm>
          <a:prstGeom prst="rect">
            <a:avLst/>
          </a:prstGeom>
          <a:noFill/>
        </p:spPr>
        <p:txBody>
          <a:bodyPr wrap="square" lIns="0" rIns="0" tIns="0" bIns="0" anchor="ctr">
            <a:spAutoFit/>
          </a:bodyPr>
          <a:lstStyle/>
          <a:p>
            <a:pPr algn="l"/>
            <a:r>
              <a:rPr sz="1800" b="0" i="0">
                <a:solidFill>
                  <a:srgbClr val="C4C4E4"/>
                </a:solidFill>
                <a:latin typeface="Arial"/>
              </a:rPr>
              <a:t>des jeux notés</a:t>
            </a:r>
          </a:p>
        </p:txBody>
      </p:sp>
      <p:sp>
        <p:nvSpPr>
          <p:cNvPr id="10" name="o9"/>
          <p:cNvSpPr txBox="1"/>
          <p:nvPr/>
        </p:nvSpPr>
        <p:spPr>
          <a:xfrm>
            <a:off x="8503920" y="2606040"/>
            <a:ext cx="2743200" cy="320040"/>
          </a:xfrm>
          <a:prstGeom prst="rect">
            <a:avLst/>
          </a:prstGeom>
          <a:noFill/>
        </p:spPr>
        <p:txBody>
          <a:bodyPr wrap="square" lIns="0" rIns="0" tIns="0" bIns="0" anchor="t">
            <a:spAutoFit/>
          </a:bodyPr>
          <a:lstStyle/>
          <a:p>
            <a:pPr algn="l"/>
            <a:r>
              <a:rPr sz="1600" b="0" i="0">
                <a:solidFill>
                  <a:srgbClr val="7C7CAA"/>
                </a:solidFill>
                <a:latin typeface="Arial"/>
              </a:rPr>
              <a:t>mais</a:t>
            </a:r>
          </a:p>
        </p:txBody>
      </p:sp>
      <p:pic>
        <p:nvPicPr>
          <p:cNvPr id="11" name="o10" descr="63%"/>
          <p:cNvPicPr>
            <a:picLocks noChangeAspect="1"/>
          </p:cNvPicPr>
          <p:nvPr/>
        </p:nvPicPr>
        <p:blipFill>
          <a:blip r:embed="rId8"/>
          <a:stretch>
            <a:fillRect/>
          </a:stretch>
        </p:blipFill>
        <p:spPr>
          <a:xfrm>
            <a:off x="8503920" y="3063240"/>
            <a:ext cx="1152144" cy="384048"/>
          </a:xfrm>
          <a:prstGeom prst="rect">
            <a:avLst/>
          </a:prstGeom>
        </p:spPr>
      </p:pic>
      <p:sp>
        <p:nvSpPr>
          <p:cNvPr id="12" name="o11"/>
          <p:cNvSpPr txBox="1"/>
          <p:nvPr/>
        </p:nvSpPr>
        <p:spPr>
          <a:xfrm>
            <a:off x="9747504" y="3063240"/>
            <a:ext cx="1737360" cy="384048"/>
          </a:xfrm>
          <a:prstGeom prst="rect">
            <a:avLst/>
          </a:prstGeom>
          <a:noFill/>
        </p:spPr>
        <p:txBody>
          <a:bodyPr wrap="square" lIns="0" rIns="0" tIns="0" bIns="0" anchor="ctr">
            <a:spAutoFit/>
          </a:bodyPr>
          <a:lstStyle/>
          <a:p>
            <a:pPr algn="l"/>
            <a:r>
              <a:rPr sz="1800" b="0" i="0">
                <a:solidFill>
                  <a:srgbClr val="C4C4E4"/>
                </a:solidFill>
                <a:latin typeface="Arial"/>
              </a:rPr>
              <a:t>des ventes</a:t>
            </a:r>
          </a:p>
        </p:txBody>
      </p:sp>
      <p:sp>
        <p:nvSpPr>
          <p:cNvPr id="13" name="o12"/>
          <p:cNvSpPr/>
          <p:nvPr/>
        </p:nvSpPr>
        <p:spPr>
          <a:xfrm>
            <a:off x="8183879" y="4389120"/>
            <a:ext cx="3456432" cy="1645920"/>
          </a:xfrm>
          <a:prstGeom prst="roundRect">
            <a:avLst>
              <a:gd name="adj" fmla="val 7777"/>
            </a:avLst>
          </a:prstGeom>
          <a:solidFill>
            <a:srgbClr val="000000"/>
          </a:solidFill>
          <a:ln w="28575">
            <a:solidFill>
              <a:srgbClr val="FFB85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13"/>
          <p:cNvSpPr/>
          <p:nvPr/>
        </p:nvSpPr>
        <p:spPr>
          <a:xfrm>
            <a:off x="8252459" y="4457700"/>
            <a:ext cx="3319272" cy="1508760"/>
          </a:xfrm>
          <a:prstGeom prst="roundRect">
            <a:avLst>
              <a:gd name="adj" fmla="val 3939"/>
            </a:avLst>
          </a:prstGeom>
          <a:noFill/>
          <a:ln w="12700">
            <a:solidFill>
              <a:srgbClr val="FFB85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o14" descr="image-11-9.png"/>
          <p:cNvPicPr>
            <a:picLocks noChangeAspect="1"/>
          </p:cNvPicPr>
          <p:nvPr/>
        </p:nvPicPr>
        <p:blipFill>
          <a:blip r:embed="rId9"/>
          <a:stretch>
            <a:fillRect/>
          </a:stretch>
        </p:blipFill>
        <p:spPr>
          <a:xfrm>
            <a:off x="8476488" y="4645152"/>
            <a:ext cx="347472" cy="347472"/>
          </a:xfrm>
          <a:prstGeom prst="rect">
            <a:avLst/>
          </a:prstGeom>
        </p:spPr>
      </p:pic>
      <p:pic>
        <p:nvPicPr>
          <p:cNvPr id="16" name="o15" descr="BIAIS"/>
          <p:cNvPicPr>
            <a:picLocks noChangeAspect="1"/>
          </p:cNvPicPr>
          <p:nvPr/>
        </p:nvPicPr>
        <p:blipFill>
          <a:blip r:embed="rId10"/>
          <a:stretch>
            <a:fillRect/>
          </a:stretch>
        </p:blipFill>
        <p:spPr>
          <a:xfrm>
            <a:off x="8961120" y="4727448"/>
            <a:ext cx="685800" cy="137160"/>
          </a:xfrm>
          <a:prstGeom prst="rect">
            <a:avLst/>
          </a:prstGeom>
        </p:spPr>
      </p:pic>
      <p:sp>
        <p:nvSpPr>
          <p:cNvPr id="17" name="o16"/>
          <p:cNvSpPr txBox="1"/>
          <p:nvPr/>
        </p:nvSpPr>
        <p:spPr>
          <a:xfrm>
            <a:off x="8476488" y="5120640"/>
            <a:ext cx="2971800" cy="777240"/>
          </a:xfrm>
          <a:prstGeom prst="rect">
            <a:avLst/>
          </a:prstGeom>
          <a:noFill/>
        </p:spPr>
        <p:txBody>
          <a:bodyPr wrap="square" lIns="0" rIns="0" tIns="0" bIns="0" anchor="t">
            <a:spAutoFit/>
          </a:bodyPr>
          <a:lstStyle/>
          <a:p>
            <a:pPr algn="l"/>
            <a:r>
              <a:rPr sz="1400" b="0" i="0">
                <a:solidFill>
                  <a:srgbClr val="C4C4E4"/>
                </a:solidFill>
                <a:latin typeface="Arial"/>
              </a:rPr>
              <a:t>Les notes décrivent surtout les jeux visibles, sortis entre 2000 et 2016</a:t>
            </a:r>
          </a:p>
        </p:txBody>
      </p:sp>
      <p:pic>
        <p:nvPicPr>
          <p:cNvPr id="18" name="fin_pastille" descr="image-1-13.gif"/>
          <p:cNvPicPr>
            <a:picLocks noChangeAspect="1"/>
          </p:cNvPicPr>
          <p:nvPr/>
        </p:nvPicPr>
        <p:blipFill>
          <a:blip r:embed="rId11"/>
          <a:stretch>
            <a:fillRect/>
          </a:stretch>
        </p:blipFill>
        <p:spPr>
          <a:xfrm>
            <a:off x="11448288" y="6355080"/>
            <a:ext cx="182880" cy="182880"/>
          </a:xfrm>
          <a:prstGeom prst="rect">
            <a:avLst/>
          </a:prstGeom>
        </p:spPr>
      </p:pic>
      <p:pic>
        <p:nvPicPr>
          <p:cNvPr id="19" name="barre_fantome" descr="image-1-15.gif"/>
          <p:cNvPicPr>
            <a:picLocks noChangeAspect="1"/>
          </p:cNvPicPr>
          <p:nvPr/>
        </p:nvPicPr>
        <p:blipFill>
          <a:blip r:embed="rId12"/>
          <a:stretch>
            <a:fillRect/>
          </a:stretch>
        </p:blipFill>
        <p:spPr>
          <a:xfrm>
            <a:off x="4562856" y="6291072"/>
            <a:ext cx="310896" cy="310896"/>
          </a:xfrm>
          <a:prstGeom prst="rect">
            <a:avLst/>
          </a:prstGeom>
        </p:spPr>
      </p:pic>
      <p:pic>
        <p:nvPicPr>
          <p:cNvPr id="20" name="barre_pacman" descr="image-1-14.gif"/>
          <p:cNvPicPr>
            <a:picLocks noChangeAspect="1"/>
          </p:cNvPicPr>
          <p:nvPr/>
        </p:nvPicPr>
        <p:blipFill>
          <a:blip r:embed="rId13"/>
          <a:stretch>
            <a:fillRect/>
          </a:stretch>
        </p:blipFill>
        <p:spPr>
          <a:xfrm>
            <a:off x="5129784" y="6291072"/>
            <a:ext cx="310896" cy="310896"/>
          </a:xfrm>
          <a:prstGeom prst="rect">
            <a:avLst/>
          </a:prstGeom>
        </p:spPr>
      </p:pic>
      <p:sp>
        <p:nvSpPr>
          <p:cNvPr id="21" name="barre_pastille_6.00"/>
          <p:cNvSpPr/>
          <p:nvPr/>
        </p:nvSpPr>
        <p:spPr>
          <a:xfrm>
            <a:off x="5486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re_pastille_6.25"/>
          <p:cNvSpPr/>
          <p:nvPr/>
        </p:nvSpPr>
        <p:spPr>
          <a:xfrm>
            <a:off x="5715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19"/>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20"/>
                                        </p:tgtEl>
                                        <p:attrNameLst>
                                          <p:attrName>ppt_x</p:attrName>
                                          <p:attrName>ppt_y</p:attrName>
                                        </p:attrNameLst>
                                      </p:cBhvr>
                                    </p:animMotion>
                                  </p:childTnLst>
                                </p:cTn>
                              </p:par>
                              <p:par>
                                <p:cTn id="9" presetID="1" presetClass="exit" presetSubtype="0" fill="hold" nodeType="withEffect">
                                  <p:stCondLst>
                                    <p:cond delay="150"/>
                                  </p:stCondLst>
                                  <p:childTnLst>
                                    <p:set>
                                      <p:cBhvr>
                                        <p:cTn id="10" dur="1" fill="hold">
                                          <p:stCondLst>
                                            <p:cond delay="0"/>
                                          </p:stCondLst>
                                        </p:cTn>
                                        <p:tgtEl>
                                          <p:spTgt spid="21"/>
                                        </p:tgtEl>
                                        <p:attrNameLst>
                                          <p:attrName>style.visibility</p:attrName>
                                        </p:attrNameLst>
                                      </p:cBhvr>
                                      <p:to>
                                        <p:strVal val="hidden"/>
                                      </p:to>
                                    </p:set>
                                  </p:childTnLst>
                                </p:cTn>
                              </p:par>
                              <p:par>
                                <p:cTn id="11" presetID="1" presetClass="exit" presetSubtype="0" fill="hold" nodeType="withEffect">
                                  <p:stCondLst>
                                    <p:cond delay="567"/>
                                  </p:stCondLst>
                                  <p:childTnLst>
                                    <p:set>
                                      <p:cBhvr>
                                        <p:cTn id="12" dur="1" fill="hold">
                                          <p:stCondLst>
                                            <p:cond delay="0"/>
                                          </p:stCondLst>
                                        </p:cTn>
                                        <p:tgtEl>
                                          <p:spTgt spid="22"/>
                                        </p:tgtEl>
                                        <p:attrNameLst>
                                          <p:attrName>style.visibility</p:attrName>
                                        </p:attrNameLst>
                                      </p:cBhvr>
                                      <p:to>
                                        <p:strVal val="hidden"/>
                                      </p:to>
                                    </p:set>
                                  </p:childTnLst>
                                </p:cTn>
                              </p:par>
                              <p:par>
                                <p:cTn id="13" presetID="10" presetClass="entr" presetSubtype="0" fill="hold" nodeType="with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6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9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9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1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1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12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12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12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7"/>
          <p:cNvSpPr/>
          <p:nvPr/>
        </p:nvSpPr>
        <p:spPr>
          <a:xfrm>
            <a:off x="868680"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8"/>
          <p:cNvSpPr/>
          <p:nvPr/>
        </p:nvSpPr>
        <p:spPr>
          <a:xfrm>
            <a:off x="937259"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9"/>
          <p:cNvSpPr/>
          <p:nvPr/>
        </p:nvSpPr>
        <p:spPr>
          <a:xfrm>
            <a:off x="9768535"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9837115"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image-10-3.png"/>
          <p:cNvPicPr>
            <a:picLocks noChangeAspect="1"/>
          </p:cNvPicPr>
          <p:nvPr/>
        </p:nvPicPr>
        <p:blipFill>
          <a:blip r:embed="rId3"/>
          <a:stretch>
            <a:fillRect/>
          </a:stretch>
        </p:blipFill>
        <p:spPr>
          <a:xfrm>
            <a:off x="5684824" y="777240"/>
            <a:ext cx="822960" cy="822960"/>
          </a:xfrm>
          <a:prstGeom prst="rect">
            <a:avLst/>
          </a:prstGeom>
        </p:spPr>
      </p:pic>
      <p:pic>
        <p:nvPicPr>
          <p:cNvPr id="13" name="o12" descr="LEVEL 4"/>
          <p:cNvPicPr>
            <a:picLocks noChangeAspect="1"/>
          </p:cNvPicPr>
          <p:nvPr/>
        </p:nvPicPr>
        <p:blipFill>
          <a:blip r:embed="rId4"/>
          <a:stretch>
            <a:fillRect/>
          </a:stretch>
        </p:blipFill>
        <p:spPr>
          <a:xfrm>
            <a:off x="5263743" y="1828800"/>
            <a:ext cx="1664208" cy="237744"/>
          </a:xfrm>
          <a:prstGeom prst="rect">
            <a:avLst/>
          </a:prstGeom>
        </p:spPr>
      </p:pic>
      <p:pic>
        <p:nvPicPr>
          <p:cNvPr id="14" name="o13" descr="INSIGHTS"/>
          <p:cNvPicPr>
            <a:picLocks noChangeAspect="1"/>
          </p:cNvPicPr>
          <p:nvPr/>
        </p:nvPicPr>
        <p:blipFill>
          <a:blip r:embed="rId5"/>
          <a:stretch>
            <a:fillRect/>
          </a:stretch>
        </p:blipFill>
        <p:spPr>
          <a:xfrm>
            <a:off x="4047591" y="2331720"/>
            <a:ext cx="4096512" cy="512064"/>
          </a:xfrm>
          <a:prstGeom prst="rect">
            <a:avLst/>
          </a:prstGeom>
        </p:spPr>
      </p:pic>
      <p:sp>
        <p:nvSpPr>
          <p:cNvPr id="15" name="o14"/>
          <p:cNvSpPr txBox="1"/>
          <p:nvPr/>
        </p:nvSpPr>
        <p:spPr>
          <a:xfrm>
            <a:off x="1371600" y="3108960"/>
            <a:ext cx="9448495" cy="411480"/>
          </a:xfrm>
          <a:prstGeom prst="rect">
            <a:avLst/>
          </a:prstGeom>
          <a:noFill/>
        </p:spPr>
        <p:txBody>
          <a:bodyPr wrap="square" lIns="0" rIns="0" tIns="0" bIns="0" anchor="t">
            <a:spAutoFit/>
          </a:bodyPr>
          <a:lstStyle/>
          <a:p>
            <a:pPr algn="ctr"/>
            <a:r>
              <a:rPr sz="2000" b="0" i="0">
                <a:solidFill>
                  <a:srgbClr val="C4C4E4"/>
                </a:solidFill>
                <a:latin typeface="Arial"/>
              </a:rPr>
              <a:t>4 découvertes en croisant notes et ventes</a:t>
            </a:r>
          </a:p>
        </p:txBody>
      </p:sp>
      <p:pic>
        <p:nvPicPr>
          <p:cNvPr id="16" name="rangee_sprite" descr="image-1-8.gif"/>
          <p:cNvPicPr>
            <a:picLocks noChangeAspect="1"/>
          </p:cNvPicPr>
          <p:nvPr/>
        </p:nvPicPr>
        <p:blipFill>
          <a:blip r:embed="rId6"/>
          <a:stretch>
            <a:fillRect/>
          </a:stretch>
        </p:blipFill>
        <p:spPr>
          <a:xfrm>
            <a:off x="704088" y="3950208"/>
            <a:ext cx="420624" cy="420624"/>
          </a:xfrm>
          <a:prstGeom prst="rect">
            <a:avLst/>
          </a:prstGeom>
        </p:spPr>
      </p:pic>
      <p:pic>
        <p:nvPicPr>
          <p:cNvPr id="17" name="rangee_sprite" descr="image-1-7.gif"/>
          <p:cNvPicPr>
            <a:picLocks noChangeAspect="1"/>
          </p:cNvPicPr>
          <p:nvPr/>
        </p:nvPicPr>
        <p:blipFill>
          <a:blip r:embed="rId7"/>
          <a:stretch>
            <a:fillRect/>
          </a:stretch>
        </p:blipFill>
        <p:spPr>
          <a:xfrm>
            <a:off x="1252728" y="3950208"/>
            <a:ext cx="420624" cy="420624"/>
          </a:xfrm>
          <a:prstGeom prst="rect">
            <a:avLst/>
          </a:prstGeom>
        </p:spPr>
      </p:pic>
      <p:pic>
        <p:nvPicPr>
          <p:cNvPr id="18" name="rangee_sprite" descr="image-1-6.gif"/>
          <p:cNvPicPr>
            <a:picLocks noChangeAspect="1"/>
          </p:cNvPicPr>
          <p:nvPr/>
        </p:nvPicPr>
        <p:blipFill>
          <a:blip r:embed="rId8"/>
          <a:stretch>
            <a:fillRect/>
          </a:stretch>
        </p:blipFill>
        <p:spPr>
          <a:xfrm>
            <a:off x="1801368" y="3950208"/>
            <a:ext cx="420624" cy="420624"/>
          </a:xfrm>
          <a:prstGeom prst="rect">
            <a:avLst/>
          </a:prstGeom>
        </p:spPr>
      </p:pic>
      <p:pic>
        <p:nvPicPr>
          <p:cNvPr id="19" name="rangee_sprite" descr="image-1-15.gif"/>
          <p:cNvPicPr>
            <a:picLocks noChangeAspect="1"/>
          </p:cNvPicPr>
          <p:nvPr/>
        </p:nvPicPr>
        <p:blipFill>
          <a:blip r:embed="rId9"/>
          <a:stretch>
            <a:fillRect/>
          </a:stretch>
        </p:blipFill>
        <p:spPr>
          <a:xfrm>
            <a:off x="2350008" y="3950208"/>
            <a:ext cx="420624" cy="420624"/>
          </a:xfrm>
          <a:prstGeom prst="rect">
            <a:avLst/>
          </a:prstGeom>
        </p:spPr>
      </p:pic>
      <p:pic>
        <p:nvPicPr>
          <p:cNvPr id="20" name="rangee_pacman" descr="image-1-14.gif"/>
          <p:cNvPicPr>
            <a:picLocks noChangeAspect="1"/>
          </p:cNvPicPr>
          <p:nvPr/>
        </p:nvPicPr>
        <p:blipFill>
          <a:blip r:embed="rId10"/>
          <a:stretch>
            <a:fillRect/>
          </a:stretch>
        </p:blipFill>
        <p:spPr>
          <a:xfrm>
            <a:off x="2990088" y="3950208"/>
            <a:ext cx="420624" cy="420624"/>
          </a:xfrm>
          <a:prstGeom prst="rect">
            <a:avLst/>
          </a:prstGeom>
        </p:spPr>
      </p:pic>
      <p:sp>
        <p:nvSpPr>
          <p:cNvPr id="21" name="rangee_pastille"/>
          <p:cNvSpPr/>
          <p:nvPr/>
        </p:nvSpPr>
        <p:spPr>
          <a:xfrm>
            <a:off x="36301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39959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43616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47274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50932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54589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58247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ee_pastille"/>
          <p:cNvSpPr/>
          <p:nvPr/>
        </p:nvSpPr>
        <p:spPr>
          <a:xfrm>
            <a:off x="61904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angee_pastille"/>
          <p:cNvSpPr/>
          <p:nvPr/>
        </p:nvSpPr>
        <p:spPr>
          <a:xfrm>
            <a:off x="65562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ngee_pastille"/>
          <p:cNvSpPr/>
          <p:nvPr/>
        </p:nvSpPr>
        <p:spPr>
          <a:xfrm>
            <a:off x="69220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ngee_pastille"/>
          <p:cNvSpPr/>
          <p:nvPr/>
        </p:nvSpPr>
        <p:spPr>
          <a:xfrm>
            <a:off x="72877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angee_pastille"/>
          <p:cNvSpPr/>
          <p:nvPr/>
        </p:nvSpPr>
        <p:spPr>
          <a:xfrm>
            <a:off x="76535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angee_pastille"/>
          <p:cNvSpPr/>
          <p:nvPr/>
        </p:nvSpPr>
        <p:spPr>
          <a:xfrm>
            <a:off x="80192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ee_pastille"/>
          <p:cNvSpPr/>
          <p:nvPr/>
        </p:nvSpPr>
        <p:spPr>
          <a:xfrm>
            <a:off x="83850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angee_pastille"/>
          <p:cNvSpPr/>
          <p:nvPr/>
        </p:nvSpPr>
        <p:spPr>
          <a:xfrm>
            <a:off x="87508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angee_pastille"/>
          <p:cNvSpPr/>
          <p:nvPr/>
        </p:nvSpPr>
        <p:spPr>
          <a:xfrm>
            <a:off x="91165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angee_pastille"/>
          <p:cNvSpPr/>
          <p:nvPr/>
        </p:nvSpPr>
        <p:spPr>
          <a:xfrm>
            <a:off x="94823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ady" descr="READY!"/>
          <p:cNvPicPr>
            <a:picLocks noChangeAspect="1"/>
          </p:cNvPicPr>
          <p:nvPr/>
        </p:nvPicPr>
        <p:blipFill>
          <a:blip r:embed="rId11"/>
          <a:stretch>
            <a:fillRect/>
          </a:stretch>
        </p:blipFill>
        <p:spPr>
          <a:xfrm>
            <a:off x="5492343" y="4617720"/>
            <a:ext cx="1207008" cy="201168"/>
          </a:xfrm>
          <a:prstGeom prst="rect">
            <a:avLst/>
          </a:prstGeom>
        </p:spPr>
      </p:pic>
      <p:pic>
        <p:nvPicPr>
          <p:cNvPr id="39"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9"/>
          <a:stretch>
            <a:fillRect/>
          </a:stretch>
        </p:blipFill>
        <p:spPr>
          <a:xfrm>
            <a:off x="5056632" y="6291072"/>
            <a:ext cx="310896" cy="310896"/>
          </a:xfrm>
          <a:prstGeom prst="rect">
            <a:avLst/>
          </a:prstGeom>
        </p:spPr>
      </p:pic>
      <p:pic>
        <p:nvPicPr>
          <p:cNvPr id="41" name="barre_pacman" descr="image-1-14.gif"/>
          <p:cNvPicPr>
            <a:picLocks noChangeAspect="1"/>
          </p:cNvPicPr>
          <p:nvPr/>
        </p:nvPicPr>
        <p:blipFill>
          <a:blip r:embed="rId10"/>
          <a:stretch>
            <a:fillRect/>
          </a:stretch>
        </p:blipFill>
        <p:spPr>
          <a:xfrm>
            <a:off x="5623560" y="6291072"/>
            <a:ext cx="310896" cy="310896"/>
          </a:xfrm>
          <a:prstGeom prst="rect">
            <a:avLst/>
          </a:prstGeom>
        </p:spPr>
      </p:pic>
      <p:sp>
        <p:nvSpPr>
          <p:cNvPr id="42" name="barre_pastille_6.50"/>
          <p:cNvSpPr/>
          <p:nvPr/>
        </p:nvSpPr>
        <p:spPr>
          <a:xfrm>
            <a:off x="5943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6.75"/>
          <p:cNvSpPr/>
          <p:nvPr/>
        </p:nvSpPr>
        <p:spPr>
          <a:xfrm>
            <a:off x="6172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83"/>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500"/>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38"/>
                                        </p:tgtEl>
                                        <p:attrNameLst>
                                          <p:attrName>style.visibility</p:attrName>
                                        </p:attrNameLst>
                                      </p:cBhvr>
                                      <p:to>
                                        <p:strVal val="hidden"/>
                                      </p:to>
                                    </p:set>
                                  </p:childTnLst>
                                </p:cTn>
                              </p:par>
                              <p:par>
                                <p:cTn id="15" presetID="0" presetClass="path" presetSubtype="0" fill="hold" nodeType="withEffect">
                                  <p:stCondLst>
                                    <p:cond delay="900"/>
                                  </p:stCondLst>
                                  <p:childTnLst>
                                    <p:animMotion origin="layout" path="M 0 0 L 0.57001 0 E" pathEditMode="relative" ptsTypes="">
                                      <p:cBhvr>
                                        <p:cTn id="16" dur="2600" fill="hold"/>
                                        <p:tgtEl>
                                          <p:spTgt spid="16"/>
                                        </p:tgtEl>
                                        <p:attrNameLst>
                                          <p:attrName>ppt_x</p:attrName>
                                          <p:attrName>ppt_y</p:attrName>
                                        </p:attrNameLst>
                                      </p:cBhvr>
                                    </p:animMotion>
                                  </p:childTnLst>
                                </p:cTn>
                              </p:par>
                              <p:par>
                                <p:cTn id="17" presetID="0" presetClass="path" presetSubtype="0" fill="hold" nodeType="withEffect">
                                  <p:stCondLst>
                                    <p:cond delay="900"/>
                                  </p:stCondLst>
                                  <p:childTnLst>
                                    <p:animMotion origin="layout" path="M 0 0 L 0.57001 0 E" pathEditMode="relative" ptsTypes="">
                                      <p:cBhvr>
                                        <p:cTn id="18" dur="2600" fill="hold"/>
                                        <p:tgtEl>
                                          <p:spTgt spid="17"/>
                                        </p:tgtEl>
                                        <p:attrNameLst>
                                          <p:attrName>ppt_x</p:attrName>
                                          <p:attrName>ppt_y</p:attrName>
                                        </p:attrNameLst>
                                      </p:cBhvr>
                                    </p:animMotion>
                                  </p:childTnLst>
                                </p:cTn>
                              </p:par>
                              <p:par>
                                <p:cTn id="19" presetID="0" presetClass="path" presetSubtype="0" fill="hold" nodeType="withEffect">
                                  <p:stCondLst>
                                    <p:cond delay="900"/>
                                  </p:stCondLst>
                                  <p:childTnLst>
                                    <p:animMotion origin="layout" path="M 0 0 L 0.57001 0 E" pathEditMode="relative" ptsTypes="">
                                      <p:cBhvr>
                                        <p:cTn id="20" dur="2600" fill="hold"/>
                                        <p:tgtEl>
                                          <p:spTgt spid="18"/>
                                        </p:tgtEl>
                                        <p:attrNameLst>
                                          <p:attrName>ppt_x</p:attrName>
                                          <p:attrName>ppt_y</p:attrName>
                                        </p:attrNameLst>
                                      </p:cBhvr>
                                    </p:animMotion>
                                  </p:childTnLst>
                                </p:cTn>
                              </p:par>
                              <p:par>
                                <p:cTn id="21" presetID="0" presetClass="path" presetSubtype="0" fill="hold" nodeType="withEffect">
                                  <p:stCondLst>
                                    <p:cond delay="900"/>
                                  </p:stCondLst>
                                  <p:childTnLst>
                                    <p:animMotion origin="layout" path="M 0 0 L 0.57001 0 E" pathEditMode="relative" ptsTypes="">
                                      <p:cBhvr>
                                        <p:cTn id="22" dur="2600" fill="hold"/>
                                        <p:tgtEl>
                                          <p:spTgt spid="19"/>
                                        </p:tgtEl>
                                        <p:attrNameLst>
                                          <p:attrName>ppt_x</p:attrName>
                                          <p:attrName>ppt_y</p:attrName>
                                        </p:attrNameLst>
                                      </p:cBhvr>
                                    </p:animMotion>
                                  </p:childTnLst>
                                </p:cTn>
                              </p:par>
                              <p:par>
                                <p:cTn id="23" presetID="0" presetClass="path" presetSubtype="0" fill="hold" nodeType="withEffect">
                                  <p:stCondLst>
                                    <p:cond delay="900"/>
                                  </p:stCondLst>
                                  <p:childTnLst>
                                    <p:animMotion origin="layout" path="M 0 0 L 0.57001 0 E" pathEditMode="relative" ptsTypes="">
                                      <p:cBhvr>
                                        <p:cTn id="24" dur="2600" fill="hold"/>
                                        <p:tgtEl>
                                          <p:spTgt spid="20"/>
                                        </p:tgtEl>
                                        <p:attrNameLst>
                                          <p:attrName>ppt_x</p:attrName>
                                          <p:attrName>ppt_y</p:attrName>
                                        </p:attrNameLst>
                                      </p:cBhvr>
                                    </p:animMotion>
                                  </p:childTnLst>
                                </p:cTn>
                              </p:par>
                              <p:par>
                                <p:cTn id="25" presetID="1" presetClass="exit" presetSubtype="0" fill="hold" nodeType="withEffect">
                                  <p:stCondLst>
                                    <p:cond delay="1027"/>
                                  </p:stCondLst>
                                  <p:childTnLst>
                                    <p:set>
                                      <p:cBhvr>
                                        <p:cTn id="26" dur="1" fill="hold">
                                          <p:stCondLst>
                                            <p:cond delay="0"/>
                                          </p:stCondLst>
                                        </p:cTn>
                                        <p:tgtEl>
                                          <p:spTgt spid="21"/>
                                        </p:tgtEl>
                                        <p:attrNameLst>
                                          <p:attrName>style.visibility</p:attrName>
                                        </p:attrNameLst>
                                      </p:cBhvr>
                                      <p:to>
                                        <p:strVal val="hidden"/>
                                      </p:to>
                                    </p:set>
                                  </p:childTnLst>
                                </p:cTn>
                              </p:par>
                              <p:par>
                                <p:cTn id="27" presetID="1" presetClass="exit" presetSubtype="0" fill="hold" nodeType="withEffect">
                                  <p:stCondLst>
                                    <p:cond delay="1163"/>
                                  </p:stCondLst>
                                  <p:childTnLst>
                                    <p:set>
                                      <p:cBhvr>
                                        <p:cTn id="28" dur="1" fill="hold">
                                          <p:stCondLst>
                                            <p:cond delay="0"/>
                                          </p:stCondLst>
                                        </p:cTn>
                                        <p:tgtEl>
                                          <p:spTgt spid="22"/>
                                        </p:tgtEl>
                                        <p:attrNameLst>
                                          <p:attrName>style.visibility</p:attrName>
                                        </p:attrNameLst>
                                      </p:cBhvr>
                                      <p:to>
                                        <p:strVal val="hidden"/>
                                      </p:to>
                                    </p:set>
                                  </p:childTnLst>
                                </p:cTn>
                              </p:par>
                              <p:par>
                                <p:cTn id="29" presetID="1" presetClass="exit" presetSubtype="0" fill="hold" nodeType="withEffect">
                                  <p:stCondLst>
                                    <p:cond delay="130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1437"/>
                                  </p:stCondLst>
                                  <p:childTnLst>
                                    <p:set>
                                      <p:cBhvr>
                                        <p:cTn id="32" dur="1" fill="hold">
                                          <p:stCondLst>
                                            <p:cond delay="0"/>
                                          </p:stCondLst>
                                        </p:cTn>
                                        <p:tgtEl>
                                          <p:spTgt spid="24"/>
                                        </p:tgtEl>
                                        <p:attrNameLst>
                                          <p:attrName>style.visibility</p:attrName>
                                        </p:attrNameLst>
                                      </p:cBhvr>
                                      <p:to>
                                        <p:strVal val="hidden"/>
                                      </p:to>
                                    </p:set>
                                  </p:childTnLst>
                                </p:cTn>
                              </p:par>
                              <p:par>
                                <p:cTn id="33" presetID="1" presetClass="exit" presetSubtype="0" fill="hold" nodeType="withEffect">
                                  <p:stCondLst>
                                    <p:cond delay="1574"/>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1711"/>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1848"/>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1984"/>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nodeType="withEffect">
                                  <p:stCondLst>
                                    <p:cond delay="2121"/>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nodeType="withEffect">
                                  <p:stCondLst>
                                    <p:cond delay="2258"/>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nodeType="withEffect">
                                  <p:stCondLst>
                                    <p:cond delay="2395"/>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xit" presetSubtype="0" fill="hold" nodeType="withEffect">
                                  <p:stCondLst>
                                    <p:cond delay="2532"/>
                                  </p:stCondLst>
                                  <p:childTnLst>
                                    <p:set>
                                      <p:cBhvr>
                                        <p:cTn id="48" dur="1" fill="hold">
                                          <p:stCondLst>
                                            <p:cond delay="0"/>
                                          </p:stCondLst>
                                        </p:cTn>
                                        <p:tgtEl>
                                          <p:spTgt spid="32"/>
                                        </p:tgtEl>
                                        <p:attrNameLst>
                                          <p:attrName>style.visibility</p:attrName>
                                        </p:attrNameLst>
                                      </p:cBhvr>
                                      <p:to>
                                        <p:strVal val="hidden"/>
                                      </p:to>
                                    </p:set>
                                  </p:childTnLst>
                                </p:cTn>
                              </p:par>
                              <p:par>
                                <p:cTn id="49" presetID="1" presetClass="exit" presetSubtype="0" fill="hold" nodeType="withEffect">
                                  <p:stCondLst>
                                    <p:cond delay="2669"/>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2806"/>
                                  </p:stCondLst>
                                  <p:childTnLst>
                                    <p:set>
                                      <p:cBhvr>
                                        <p:cTn id="52" dur="1" fill="hold">
                                          <p:stCondLst>
                                            <p:cond delay="0"/>
                                          </p:stCondLst>
                                        </p:cTn>
                                        <p:tgtEl>
                                          <p:spTgt spid="34"/>
                                        </p:tgtEl>
                                        <p:attrNameLst>
                                          <p:attrName>style.visibility</p:attrName>
                                        </p:attrNameLst>
                                      </p:cBhvr>
                                      <p:to>
                                        <p:strVal val="hidden"/>
                                      </p:to>
                                    </p:set>
                                  </p:childTnLst>
                                </p:cTn>
                              </p:par>
                              <p:par>
                                <p:cTn id="53" presetID="1" presetClass="exit" presetSubtype="0" fill="hold" nodeType="withEffect">
                                  <p:stCondLst>
                                    <p:cond delay="2942"/>
                                  </p:stCondLst>
                                  <p:childTnLst>
                                    <p:set>
                                      <p:cBhvr>
                                        <p:cTn id="54" dur="1" fill="hold">
                                          <p:stCondLst>
                                            <p:cond delay="0"/>
                                          </p:stCondLst>
                                        </p:cTn>
                                        <p:tgtEl>
                                          <p:spTgt spid="35"/>
                                        </p:tgtEl>
                                        <p:attrNameLst>
                                          <p:attrName>style.visibility</p:attrName>
                                        </p:attrNameLst>
                                      </p:cBhvr>
                                      <p:to>
                                        <p:strVal val="hidden"/>
                                      </p:to>
                                    </p:set>
                                  </p:childTnLst>
                                </p:cTn>
                              </p:par>
                              <p:par>
                                <p:cTn id="55" presetID="1" presetClass="exit" presetSubtype="0" fill="hold" nodeType="withEffect">
                                  <p:stCondLst>
                                    <p:cond delay="3079"/>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nodeType="withEffect">
                                  <p:stCondLst>
                                    <p:cond delay="3216"/>
                                  </p:stCondLst>
                                  <p:childTnLst>
                                    <p:set>
                                      <p:cBhvr>
                                        <p:cTn id="5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4 → INSIGHT 1/4"/>
          <p:cNvPicPr>
            <a:picLocks noChangeAspect="1"/>
          </p:cNvPicPr>
          <p:nvPr/>
        </p:nvPicPr>
        <p:blipFill>
          <a:blip r:embed="rId3"/>
          <a:stretch>
            <a:fillRect/>
          </a:stretch>
        </p:blipFill>
        <p:spPr>
          <a:xfrm>
            <a:off x="548640" y="411480"/>
            <a:ext cx="3072384" cy="146304"/>
          </a:xfrm>
          <a:prstGeom prst="rect">
            <a:avLst/>
          </a:prstGeom>
        </p:spPr>
      </p:pic>
      <p:pic>
        <p:nvPicPr>
          <p:cNvPr id="3" name="o2" descr="Bien noté = bien vendu ?"/>
          <p:cNvPicPr>
            <a:picLocks noChangeAspect="1"/>
          </p:cNvPicPr>
          <p:nvPr/>
        </p:nvPicPr>
        <p:blipFill>
          <a:blip r:embed="rId4"/>
          <a:stretch>
            <a:fillRect/>
          </a:stretch>
        </p:blipFill>
        <p:spPr>
          <a:xfrm>
            <a:off x="548640" y="777240"/>
            <a:ext cx="6583679" cy="274320"/>
          </a:xfrm>
          <a:prstGeom prst="rect">
            <a:avLst/>
          </a:prstGeom>
        </p:spPr>
      </p:pic>
      <p:pic>
        <p:nvPicPr>
          <p:cNvPr id="4" name="o3" descr="image-10-3.png"/>
          <p:cNvPicPr>
            <a:picLocks noChangeAspect="1"/>
          </p:cNvPicPr>
          <p:nvPr/>
        </p:nvPicPr>
        <p:blipFill>
          <a:blip r:embed="rId5"/>
          <a:stretch>
            <a:fillRect/>
          </a:stretch>
        </p:blipFill>
        <p:spPr>
          <a:xfrm>
            <a:off x="11073384" y="365760"/>
            <a:ext cx="566928" cy="566928"/>
          </a:xfrm>
          <a:prstGeom prst="rect">
            <a:avLst/>
          </a:prstGeom>
        </p:spPr>
      </p:pic>
      <p:graphicFrame>
        <p:nvGraphicFramePr>
          <p:cNvPr id="5" name="o4"/>
          <p:cNvGraphicFramePr>
            <a:graphicFrameLocks noGrp="1"/>
          </p:cNvGraphicFramePr>
          <p:nvPr/>
        </p:nvGraphicFramePr>
        <p:xfrm>
          <a:off x="457200" y="1600200"/>
          <a:ext cx="7315200" cy="4434840"/>
        </p:xfrm>
        <a:graphic>
          <a:graphicData uri="http://schemas.openxmlformats.org/drawingml/2006/chart">
            <c:chart xmlns:c="http://schemas.openxmlformats.org/drawingml/2006/chart" r:id="rId6"/>
          </a:graphicData>
        </a:graphic>
      </p:graphicFrame>
      <p:sp>
        <p:nvSpPr>
          <p:cNvPr id="6" name="o5"/>
          <p:cNvSpPr/>
          <p:nvPr/>
        </p:nvSpPr>
        <p:spPr>
          <a:xfrm>
            <a:off x="8183879" y="1691640"/>
            <a:ext cx="3456432" cy="2468880"/>
          </a:xfrm>
          <a:prstGeom prst="roundRect">
            <a:avLst>
              <a:gd name="adj" fmla="val 5185"/>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8252459" y="1760220"/>
            <a:ext cx="3319272" cy="2331720"/>
          </a:xfrm>
          <a:prstGeom prst="roundRect">
            <a:avLst>
              <a:gd name="adj" fmla="val 2549"/>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13"/>
          <p:cNvPicPr>
            <a:picLocks noChangeAspect="1"/>
          </p:cNvPicPr>
          <p:nvPr/>
        </p:nvPicPr>
        <p:blipFill>
          <a:blip r:embed="rId7"/>
          <a:stretch>
            <a:fillRect/>
          </a:stretch>
        </p:blipFill>
        <p:spPr>
          <a:xfrm>
            <a:off x="8503920" y="2011680"/>
            <a:ext cx="1152144" cy="384048"/>
          </a:xfrm>
          <a:prstGeom prst="rect">
            <a:avLst/>
          </a:prstGeom>
        </p:spPr>
      </p:pic>
      <p:sp>
        <p:nvSpPr>
          <p:cNvPr id="9" name="o8"/>
          <p:cNvSpPr txBox="1"/>
          <p:nvPr/>
        </p:nvSpPr>
        <p:spPr>
          <a:xfrm>
            <a:off x="8503920" y="2578608"/>
            <a:ext cx="2926080" cy="640080"/>
          </a:xfrm>
          <a:prstGeom prst="rect">
            <a:avLst/>
          </a:prstGeom>
          <a:noFill/>
        </p:spPr>
        <p:txBody>
          <a:bodyPr wrap="square" lIns="0" rIns="0" tIns="0" bIns="0" anchor="t">
            <a:spAutoFit/>
          </a:bodyPr>
          <a:lstStyle/>
          <a:p>
            <a:pPr algn="l"/>
            <a:r>
              <a:rPr sz="1500" b="0" i="0">
                <a:solidFill>
                  <a:srgbClr val="C4C4E4"/>
                </a:solidFill>
                <a:latin typeface="Arial"/>
              </a:rPr>
              <a:t>de ventes médianes : 90 et + face à moins de 50</a:t>
            </a:r>
          </a:p>
        </p:txBody>
      </p:sp>
      <p:pic>
        <p:nvPicPr>
          <p:cNvPr id="10" name="o9" descr="4%→62%"/>
          <p:cNvPicPr>
            <a:picLocks noChangeAspect="1"/>
          </p:cNvPicPr>
          <p:nvPr/>
        </p:nvPicPr>
        <p:blipFill>
          <a:blip r:embed="rId8"/>
          <a:stretch>
            <a:fillRect/>
          </a:stretch>
        </p:blipFill>
        <p:spPr>
          <a:xfrm>
            <a:off x="8503920" y="3291840"/>
            <a:ext cx="1645919" cy="274320"/>
          </a:xfrm>
          <a:prstGeom prst="rect">
            <a:avLst/>
          </a:prstGeom>
        </p:spPr>
      </p:pic>
      <p:sp>
        <p:nvSpPr>
          <p:cNvPr id="11" name="o10"/>
          <p:cNvSpPr txBox="1"/>
          <p:nvPr/>
        </p:nvSpPr>
        <p:spPr>
          <a:xfrm>
            <a:off x="8503920" y="3657600"/>
            <a:ext cx="2926080" cy="320040"/>
          </a:xfrm>
          <a:prstGeom prst="rect">
            <a:avLst/>
          </a:prstGeom>
          <a:noFill/>
        </p:spPr>
        <p:txBody>
          <a:bodyPr wrap="square" lIns="0" rIns="0" tIns="0" bIns="0" anchor="t">
            <a:spAutoFit/>
          </a:bodyPr>
          <a:lstStyle/>
          <a:p>
            <a:pPr algn="l"/>
            <a:r>
              <a:rPr sz="1500" b="0" i="0">
                <a:solidFill>
                  <a:srgbClr val="C4C4E4"/>
                </a:solidFill>
                <a:latin typeface="Arial"/>
              </a:rPr>
              <a:t>de jeux à plus d'1 M</a:t>
            </a:r>
          </a:p>
        </p:txBody>
      </p:sp>
      <p:sp>
        <p:nvSpPr>
          <p:cNvPr id="12" name="o11"/>
          <p:cNvSpPr/>
          <p:nvPr/>
        </p:nvSpPr>
        <p:spPr>
          <a:xfrm>
            <a:off x="8183879" y="4389120"/>
            <a:ext cx="3456432" cy="1645920"/>
          </a:xfrm>
          <a:prstGeom prst="roundRect">
            <a:avLst>
              <a:gd name="adj" fmla="val 7777"/>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12"/>
          <p:cNvSpPr/>
          <p:nvPr/>
        </p:nvSpPr>
        <p:spPr>
          <a:xfrm>
            <a:off x="8252459" y="4457700"/>
            <a:ext cx="3319272" cy="1508760"/>
          </a:xfrm>
          <a:prstGeom prst="roundRect">
            <a:avLst>
              <a:gd name="adj" fmla="val 3939"/>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o13" descr="PIEGE"/>
          <p:cNvPicPr>
            <a:picLocks noChangeAspect="1"/>
          </p:cNvPicPr>
          <p:nvPr/>
        </p:nvPicPr>
        <p:blipFill>
          <a:blip r:embed="rId9"/>
          <a:stretch>
            <a:fillRect/>
          </a:stretch>
        </p:blipFill>
        <p:spPr>
          <a:xfrm>
            <a:off x="8503920" y="4617720"/>
            <a:ext cx="685800" cy="137160"/>
          </a:xfrm>
          <a:prstGeom prst="rect">
            <a:avLst/>
          </a:prstGeom>
        </p:spPr>
      </p:pic>
      <p:sp>
        <p:nvSpPr>
          <p:cNvPr id="15" name="o14"/>
          <p:cNvSpPr txBox="1"/>
          <p:nvPr/>
        </p:nvSpPr>
        <p:spPr>
          <a:xfrm>
            <a:off x="8503920" y="4846320"/>
            <a:ext cx="2926080" cy="365760"/>
          </a:xfrm>
          <a:prstGeom prst="rect">
            <a:avLst/>
          </a:prstGeom>
          <a:noFill/>
        </p:spPr>
        <p:txBody>
          <a:bodyPr wrap="square" lIns="0" rIns="0" tIns="0" bIns="0" anchor="t">
            <a:spAutoFit/>
          </a:bodyPr>
          <a:lstStyle/>
          <a:p>
            <a:pPr algn="l"/>
            <a:r>
              <a:rPr sz="2000" b="1" i="0">
                <a:solidFill>
                  <a:srgbClr val="FFFFFF"/>
                </a:solidFill>
                <a:latin typeface="Arial"/>
              </a:rPr>
              <a:t>Lien ≠ cause</a:t>
            </a:r>
          </a:p>
        </p:txBody>
      </p:sp>
      <p:sp>
        <p:nvSpPr>
          <p:cNvPr id="16" name="o15"/>
          <p:cNvSpPr txBox="1"/>
          <p:nvPr/>
        </p:nvSpPr>
        <p:spPr>
          <a:xfrm>
            <a:off x="8503920" y="5303520"/>
            <a:ext cx="2926080" cy="548640"/>
          </a:xfrm>
          <a:prstGeom prst="rect">
            <a:avLst/>
          </a:prstGeom>
          <a:noFill/>
        </p:spPr>
        <p:txBody>
          <a:bodyPr wrap="square" lIns="0" rIns="0" tIns="0" bIns="0" anchor="t">
            <a:spAutoFit/>
          </a:bodyPr>
          <a:lstStyle/>
          <a:p>
            <a:pPr algn="l"/>
            <a:r>
              <a:rPr sz="1400" b="0" i="0">
                <a:solidFill>
                  <a:srgbClr val="C4C4E4"/>
                </a:solidFill>
                <a:latin typeface="Arial"/>
              </a:rPr>
              <a:t>Wii Play : 58/100 et 29 M d'exemplaires</a:t>
            </a:r>
          </a:p>
        </p:txBody>
      </p:sp>
      <p:pic>
        <p:nvPicPr>
          <p:cNvPr id="17" name="fin_pastille" descr="image-1-13.gif"/>
          <p:cNvPicPr>
            <a:picLocks noChangeAspect="1"/>
          </p:cNvPicPr>
          <p:nvPr/>
        </p:nvPicPr>
        <p:blipFill>
          <a:blip r:embed="rId10"/>
          <a:stretch>
            <a:fillRect/>
          </a:stretch>
        </p:blipFill>
        <p:spPr>
          <a:xfrm>
            <a:off x="11448288" y="6355080"/>
            <a:ext cx="182880" cy="182880"/>
          </a:xfrm>
          <a:prstGeom prst="rect">
            <a:avLst/>
          </a:prstGeom>
        </p:spPr>
      </p:pic>
      <p:pic>
        <p:nvPicPr>
          <p:cNvPr id="18" name="barre_fantome" descr="image-1-15.gif"/>
          <p:cNvPicPr>
            <a:picLocks noChangeAspect="1"/>
          </p:cNvPicPr>
          <p:nvPr/>
        </p:nvPicPr>
        <p:blipFill>
          <a:blip r:embed="rId11"/>
          <a:stretch>
            <a:fillRect/>
          </a:stretch>
        </p:blipFill>
        <p:spPr>
          <a:xfrm>
            <a:off x="5550408" y="6291072"/>
            <a:ext cx="310896" cy="310896"/>
          </a:xfrm>
          <a:prstGeom prst="rect">
            <a:avLst/>
          </a:prstGeom>
        </p:spPr>
      </p:pic>
      <p:pic>
        <p:nvPicPr>
          <p:cNvPr id="19" name="barre_pacman" descr="image-1-14.gif"/>
          <p:cNvPicPr>
            <a:picLocks noChangeAspect="1"/>
          </p:cNvPicPr>
          <p:nvPr/>
        </p:nvPicPr>
        <p:blipFill>
          <a:blip r:embed="rId12"/>
          <a:stretch>
            <a:fillRect/>
          </a:stretch>
        </p:blipFill>
        <p:spPr>
          <a:xfrm>
            <a:off x="6117336" y="6291072"/>
            <a:ext cx="310896" cy="310896"/>
          </a:xfrm>
          <a:prstGeom prst="rect">
            <a:avLst/>
          </a:prstGeom>
        </p:spPr>
      </p:pic>
      <p:sp>
        <p:nvSpPr>
          <p:cNvPr id="20" name="barre_pastille_7.00"/>
          <p:cNvSpPr/>
          <p:nvPr/>
        </p:nvSpPr>
        <p:spPr>
          <a:xfrm>
            <a:off x="6400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re_pastille_7.25"/>
          <p:cNvSpPr/>
          <p:nvPr/>
        </p:nvSpPr>
        <p:spPr>
          <a:xfrm>
            <a:off x="6629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re_pastille_7.50"/>
          <p:cNvSpPr/>
          <p:nvPr/>
        </p:nvSpPr>
        <p:spPr>
          <a:xfrm>
            <a:off x="6858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18"/>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19"/>
                                        </p:tgtEl>
                                        <p:attrNameLst>
                                          <p:attrName>ppt_x</p:attrName>
                                          <p:attrName>ppt_y</p:attrName>
                                        </p:attrNameLst>
                                      </p:cBhvr>
                                    </p:animMotion>
                                  </p:childTnLst>
                                </p:cTn>
                              </p:par>
                              <p:par>
                                <p:cTn id="9" presetID="1" presetClass="exit" presetSubtype="0" fill="hold" nodeType="withEffect">
                                  <p:stCondLst>
                                    <p:cond delay="17"/>
                                  </p:stCondLst>
                                  <p:childTnLst>
                                    <p:set>
                                      <p:cBhvr>
                                        <p:cTn id="10" dur="1" fill="hold">
                                          <p:stCondLst>
                                            <p:cond delay="0"/>
                                          </p:stCondLst>
                                        </p:cTn>
                                        <p:tgtEl>
                                          <p:spTgt spid="20"/>
                                        </p:tgtEl>
                                        <p:attrNameLst>
                                          <p:attrName>style.visibility</p:attrName>
                                        </p:attrNameLst>
                                      </p:cBhvr>
                                      <p:to>
                                        <p:strVal val="hidden"/>
                                      </p:to>
                                    </p:set>
                                  </p:childTnLst>
                                </p:cTn>
                              </p:par>
                              <p:par>
                                <p:cTn id="11" presetID="1" presetClass="exit" presetSubtype="0" fill="hold" nodeType="withEffect">
                                  <p:stCondLst>
                                    <p:cond delay="433"/>
                                  </p:stCondLst>
                                  <p:childTnLst>
                                    <p:set>
                                      <p:cBhvr>
                                        <p:cTn id="12" dur="1" fill="hold">
                                          <p:stCondLst>
                                            <p:cond delay="0"/>
                                          </p:stCondLst>
                                        </p:cTn>
                                        <p:tgtEl>
                                          <p:spTgt spid="21"/>
                                        </p:tgtEl>
                                        <p:attrNameLst>
                                          <p:attrName>style.visibility</p:attrName>
                                        </p:attrNameLst>
                                      </p:cBhvr>
                                      <p:to>
                                        <p:strVal val="hidden"/>
                                      </p:to>
                                    </p:set>
                                  </p:childTnLst>
                                </p:cTn>
                              </p:par>
                              <p:par>
                                <p:cTn id="13" presetID="1" presetClass="exit" presetSubtype="0" fill="hold" nodeType="withEffect">
                                  <p:stCondLst>
                                    <p:cond delay="850"/>
                                  </p:stCondLst>
                                  <p:childTnLst>
                                    <p:set>
                                      <p:cBhvr>
                                        <p:cTn id="14" dur="1" fill="hold">
                                          <p:stCondLst>
                                            <p:cond delay="0"/>
                                          </p:stCondLst>
                                        </p:cTn>
                                        <p:tgtEl>
                                          <p:spTgt spid="22"/>
                                        </p:tgtEl>
                                        <p:attrNameLst>
                                          <p:attrName>style.visibility</p:attrName>
                                        </p:attrNameLst>
                                      </p:cBhvr>
                                      <p:to>
                                        <p:strVal val="hidden"/>
                                      </p:to>
                                    </p:set>
                                  </p:childTnLst>
                                </p:cTn>
                              </p:par>
                              <p:par>
                                <p:cTn id="15" presetID="10" presetClass="entr" presetSubtype="0" fill="hold" nodeType="withEffect">
                                  <p:stCondLst>
                                    <p:cond delay="1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par>
                                <p:cTn id="18" presetID="10" presetClass="entr" presetSubtype="0" fill="hold" nodeType="withEffect">
                                  <p:stCondLst>
                                    <p:cond delay="6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00"/>
                                        <p:tgtEl>
                                          <p:spTgt spid="6"/>
                                        </p:tgtEl>
                                      </p:cBhvr>
                                    </p:animEffect>
                                  </p:childTnLst>
                                </p:cTn>
                              </p:par>
                              <p:par>
                                <p:cTn id="21" presetID="10" presetClass="entr" presetSubtype="0" fill="hold" nodeType="withEffect">
                                  <p:stCondLst>
                                    <p:cond delay="6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00"/>
                                        <p:tgtEl>
                                          <p:spTgt spid="7"/>
                                        </p:tgtEl>
                                      </p:cBhvr>
                                    </p:animEffect>
                                  </p:childTnLst>
                                </p:cTn>
                              </p:par>
                              <p:par>
                                <p:cTn id="24" presetID="10" presetClass="entr" presetSubtype="0" fill="hold" nodeType="withEffect">
                                  <p:stCondLst>
                                    <p:cond delay="6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nodeType="withEffect">
                                  <p:stCondLst>
                                    <p:cond delay="6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nodeType="withEffect">
                                  <p:stCondLst>
                                    <p:cond delay="9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10" presetClass="entr" presetSubtype="0" fill="hold" nodeType="withEffect">
                                  <p:stCondLst>
                                    <p:cond delay="9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par>
                                <p:cTn id="39" presetID="10" presetClass="entr" presetSubtype="0" fill="hold" nodeType="withEffect">
                                  <p:stCondLst>
                                    <p:cond delay="12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00"/>
                                        <p:tgtEl>
                                          <p:spTgt spid="13"/>
                                        </p:tgtEl>
                                      </p:cBhvr>
                                    </p:animEffect>
                                  </p:childTnLst>
                                </p:cTn>
                              </p:par>
                              <p:par>
                                <p:cTn id="42" presetID="10" presetClass="entr" presetSubtype="0" fill="hold" nodeType="withEffect">
                                  <p:stCondLst>
                                    <p:cond delay="12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par>
                                <p:cTn id="45" presetID="10" presetClass="entr" presetSubtype="0" fill="hold" nodeType="withEffect">
                                  <p:stCondLst>
                                    <p:cond delay="12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00"/>
                                        <p:tgtEl>
                                          <p:spTgt spid="15"/>
                                        </p:tgtEl>
                                      </p:cBhvr>
                                    </p:animEffect>
                                  </p:childTnLst>
                                </p:cTn>
                              </p:par>
                              <p:par>
                                <p:cTn id="48" presetID="10" presetClass="entr" presetSubtype="0" fill="hold" nodeType="withEffect">
                                  <p:stCondLst>
                                    <p:cond delay="12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4 → INSIGHT 2/4"/>
          <p:cNvPicPr>
            <a:picLocks noChangeAspect="1"/>
          </p:cNvPicPr>
          <p:nvPr/>
        </p:nvPicPr>
        <p:blipFill>
          <a:blip r:embed="rId3"/>
          <a:stretch>
            <a:fillRect/>
          </a:stretch>
        </p:blipFill>
        <p:spPr>
          <a:xfrm>
            <a:off x="548640" y="411480"/>
            <a:ext cx="3072384" cy="146304"/>
          </a:xfrm>
          <a:prstGeom prst="rect">
            <a:avLst/>
          </a:prstGeom>
        </p:spPr>
      </p:pic>
      <p:pic>
        <p:nvPicPr>
          <p:cNvPr id="3" name="o2" descr="Presse et joueurs divorcent"/>
          <p:cNvPicPr>
            <a:picLocks noChangeAspect="1"/>
          </p:cNvPicPr>
          <p:nvPr/>
        </p:nvPicPr>
        <p:blipFill>
          <a:blip r:embed="rId4"/>
          <a:stretch>
            <a:fillRect/>
          </a:stretch>
        </p:blipFill>
        <p:spPr>
          <a:xfrm>
            <a:off x="548640" y="777240"/>
            <a:ext cx="7406640" cy="274320"/>
          </a:xfrm>
          <a:prstGeom prst="rect">
            <a:avLst/>
          </a:prstGeom>
        </p:spPr>
      </p:pic>
      <p:pic>
        <p:nvPicPr>
          <p:cNvPr id="4" name="o3" descr="image-10-3.png"/>
          <p:cNvPicPr>
            <a:picLocks noChangeAspect="1"/>
          </p:cNvPicPr>
          <p:nvPr/>
        </p:nvPicPr>
        <p:blipFill>
          <a:blip r:embed="rId5"/>
          <a:stretch>
            <a:fillRect/>
          </a:stretch>
        </p:blipFill>
        <p:spPr>
          <a:xfrm>
            <a:off x="11073384" y="365760"/>
            <a:ext cx="566928" cy="566928"/>
          </a:xfrm>
          <a:prstGeom prst="rect">
            <a:avLst/>
          </a:prstGeom>
        </p:spPr>
      </p:pic>
      <p:graphicFrame>
        <p:nvGraphicFramePr>
          <p:cNvPr id="5" name="o4"/>
          <p:cNvGraphicFramePr>
            <a:graphicFrameLocks noGrp="1"/>
          </p:cNvGraphicFramePr>
          <p:nvPr/>
        </p:nvGraphicFramePr>
        <p:xfrm>
          <a:off x="457200" y="1600200"/>
          <a:ext cx="7315200" cy="4434840"/>
        </p:xfrm>
        <a:graphic>
          <a:graphicData uri="http://schemas.openxmlformats.org/drawingml/2006/chart">
            <c:chart xmlns:c="http://schemas.openxmlformats.org/drawingml/2006/chart" r:id="rId6"/>
          </a:graphicData>
        </a:graphic>
      </p:graphicFrame>
      <p:sp>
        <p:nvSpPr>
          <p:cNvPr id="6" name="o5"/>
          <p:cNvSpPr/>
          <p:nvPr/>
        </p:nvSpPr>
        <p:spPr>
          <a:xfrm>
            <a:off x="8183879" y="1691640"/>
            <a:ext cx="3456432" cy="1965960"/>
          </a:xfrm>
          <a:prstGeom prst="roundRect">
            <a:avLst>
              <a:gd name="adj" fmla="val 6511"/>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8252459" y="1760220"/>
            <a:ext cx="3319272" cy="1828800"/>
          </a:xfrm>
          <a:prstGeom prst="roundRect">
            <a:avLst>
              <a:gd name="adj" fmla="val 3250"/>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 2010"/>
          <p:cNvPicPr>
            <a:picLocks noChangeAspect="1"/>
          </p:cNvPicPr>
          <p:nvPr/>
        </p:nvPicPr>
        <p:blipFill>
          <a:blip r:embed="rId7"/>
          <a:stretch>
            <a:fillRect/>
          </a:stretch>
        </p:blipFill>
        <p:spPr>
          <a:xfrm>
            <a:off x="8503920" y="2011680"/>
            <a:ext cx="1975104" cy="329184"/>
          </a:xfrm>
          <a:prstGeom prst="rect">
            <a:avLst/>
          </a:prstGeom>
        </p:spPr>
      </p:pic>
      <p:sp>
        <p:nvSpPr>
          <p:cNvPr id="9" name="o8"/>
          <p:cNvSpPr txBox="1"/>
          <p:nvPr/>
        </p:nvSpPr>
        <p:spPr>
          <a:xfrm>
            <a:off x="8503920" y="2560320"/>
            <a:ext cx="2926080" cy="822960"/>
          </a:xfrm>
          <a:prstGeom prst="rect">
            <a:avLst/>
          </a:prstGeom>
          <a:noFill/>
        </p:spPr>
        <p:txBody>
          <a:bodyPr wrap="square" lIns="0" rIns="0" tIns="0" bIns="0" anchor="t">
            <a:spAutoFit/>
          </a:bodyPr>
          <a:lstStyle/>
          <a:p>
            <a:pPr algn="l"/>
            <a:r>
              <a:rPr sz="1500" b="0" i="0">
                <a:solidFill>
                  <a:srgbClr val="C4C4E4"/>
                </a:solidFill>
                <a:latin typeface="Arial"/>
              </a:rPr>
              <a:t>les joueurs deviennent plus sévères que la presse</a:t>
            </a:r>
          </a:p>
        </p:txBody>
      </p:sp>
      <p:sp>
        <p:nvSpPr>
          <p:cNvPr id="10" name="o9"/>
          <p:cNvSpPr/>
          <p:nvPr/>
        </p:nvSpPr>
        <p:spPr>
          <a:xfrm>
            <a:off x="8183879" y="3886200"/>
            <a:ext cx="3456432" cy="2148840"/>
          </a:xfrm>
          <a:prstGeom prst="roundRect">
            <a:avLst>
              <a:gd name="adj" fmla="val 5957"/>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8252459" y="3954780"/>
            <a:ext cx="3319272" cy="2011680"/>
          </a:xfrm>
          <a:prstGeom prst="roundRect">
            <a:avLst>
              <a:gd name="adj" fmla="val 2954"/>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88 VS 32"/>
          <p:cNvPicPr>
            <a:picLocks noChangeAspect="1"/>
          </p:cNvPicPr>
          <p:nvPr/>
        </p:nvPicPr>
        <p:blipFill>
          <a:blip r:embed="rId8"/>
          <a:stretch>
            <a:fillRect/>
          </a:stretch>
        </p:blipFill>
        <p:spPr>
          <a:xfrm>
            <a:off x="8503920" y="4160520"/>
            <a:ext cx="2194560" cy="274320"/>
          </a:xfrm>
          <a:prstGeom prst="rect">
            <a:avLst/>
          </a:prstGeom>
        </p:spPr>
      </p:pic>
      <p:sp>
        <p:nvSpPr>
          <p:cNvPr id="13" name="o12"/>
          <p:cNvSpPr txBox="1"/>
          <p:nvPr/>
        </p:nvSpPr>
        <p:spPr>
          <a:xfrm>
            <a:off x="8503920" y="4572000"/>
            <a:ext cx="2926080" cy="731520"/>
          </a:xfrm>
          <a:prstGeom prst="rect">
            <a:avLst/>
          </a:prstGeom>
          <a:noFill/>
        </p:spPr>
        <p:txBody>
          <a:bodyPr wrap="square" lIns="0" rIns="0" tIns="0" bIns="0" anchor="t">
            <a:spAutoFit/>
          </a:bodyPr>
          <a:lstStyle/>
          <a:p>
            <a:pPr algn="l"/>
            <a:r>
              <a:rPr sz="1400" b="0" i="0">
                <a:solidFill>
                  <a:srgbClr val="C4C4E4"/>
                </a:solidFill>
                <a:latin typeface="Arial"/>
              </a:rPr>
              <a:t>Call of Duty MW3 (2011) : presse contre joueurs, sur plus de 5 000 votes</a:t>
            </a:r>
          </a:p>
        </p:txBody>
      </p:sp>
      <p:sp>
        <p:nvSpPr>
          <p:cNvPr id="14" name="o13"/>
          <p:cNvSpPr txBox="1"/>
          <p:nvPr/>
        </p:nvSpPr>
        <p:spPr>
          <a:xfrm>
            <a:off x="8503920" y="5440680"/>
            <a:ext cx="2926080" cy="320040"/>
          </a:xfrm>
          <a:prstGeom prst="rect">
            <a:avLst/>
          </a:prstGeom>
          <a:noFill/>
        </p:spPr>
        <p:txBody>
          <a:bodyPr wrap="square" lIns="0" rIns="0" tIns="0" bIns="0" anchor="t">
            <a:spAutoFit/>
          </a:bodyPr>
          <a:lstStyle/>
          <a:p>
            <a:pPr algn="l"/>
            <a:r>
              <a:rPr sz="1300" b="0" i="0">
                <a:solidFill>
                  <a:srgbClr val="7C7CAA"/>
                </a:solidFill>
                <a:latin typeface="Arial"/>
              </a:rPr>
              <a:t>corrélation presse / joueurs : 0,58</a:t>
            </a:r>
          </a:p>
        </p:txBody>
      </p:sp>
      <p:pic>
        <p:nvPicPr>
          <p:cNvPr id="15" name="fin_pastille" descr="image-1-13.gif"/>
          <p:cNvPicPr>
            <a:picLocks noChangeAspect="1"/>
          </p:cNvPicPr>
          <p:nvPr/>
        </p:nvPicPr>
        <p:blipFill>
          <a:blip r:embed="rId9"/>
          <a:stretch>
            <a:fillRect/>
          </a:stretch>
        </p:blipFill>
        <p:spPr>
          <a:xfrm>
            <a:off x="11448288" y="6355080"/>
            <a:ext cx="182880" cy="182880"/>
          </a:xfrm>
          <a:prstGeom prst="rect">
            <a:avLst/>
          </a:prstGeom>
        </p:spPr>
      </p:pic>
      <p:pic>
        <p:nvPicPr>
          <p:cNvPr id="16" name="barre_fantome" descr="image-1-15.gif"/>
          <p:cNvPicPr>
            <a:picLocks noChangeAspect="1"/>
          </p:cNvPicPr>
          <p:nvPr/>
        </p:nvPicPr>
        <p:blipFill>
          <a:blip r:embed="rId10"/>
          <a:stretch>
            <a:fillRect/>
          </a:stretch>
        </p:blipFill>
        <p:spPr>
          <a:xfrm>
            <a:off x="6044184" y="6291072"/>
            <a:ext cx="310896" cy="310896"/>
          </a:xfrm>
          <a:prstGeom prst="rect">
            <a:avLst/>
          </a:prstGeom>
        </p:spPr>
      </p:pic>
      <p:pic>
        <p:nvPicPr>
          <p:cNvPr id="17" name="barre_pacman" descr="image-1-14.gif"/>
          <p:cNvPicPr>
            <a:picLocks noChangeAspect="1"/>
          </p:cNvPicPr>
          <p:nvPr/>
        </p:nvPicPr>
        <p:blipFill>
          <a:blip r:embed="rId11"/>
          <a:stretch>
            <a:fillRect/>
          </a:stretch>
        </p:blipFill>
        <p:spPr>
          <a:xfrm>
            <a:off x="6611112" y="6291072"/>
            <a:ext cx="310896" cy="310896"/>
          </a:xfrm>
          <a:prstGeom prst="rect">
            <a:avLst/>
          </a:prstGeom>
        </p:spPr>
      </p:pic>
      <p:sp>
        <p:nvSpPr>
          <p:cNvPr id="18" name="barre_pastille_7.75"/>
          <p:cNvSpPr/>
          <p:nvPr/>
        </p:nvSpPr>
        <p:spPr>
          <a:xfrm>
            <a:off x="7086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re_pastille_8.00"/>
          <p:cNvSpPr/>
          <p:nvPr/>
        </p:nvSpPr>
        <p:spPr>
          <a:xfrm>
            <a:off x="7315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16"/>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17"/>
                                        </p:tgtEl>
                                        <p:attrNameLst>
                                          <p:attrName>ppt_x</p:attrName>
                                          <p:attrName>ppt_y</p:attrName>
                                        </p:attrNameLst>
                                      </p:cBhvr>
                                    </p:animMotion>
                                  </p:childTnLst>
                                </p:cTn>
                              </p:par>
                              <p:par>
                                <p:cTn id="9" presetID="1" presetClass="exit" presetSubtype="0" fill="hold" nodeType="withEffect">
                                  <p:stCondLst>
                                    <p:cond delay="367"/>
                                  </p:stCondLst>
                                  <p:childTnLst>
                                    <p:set>
                                      <p:cBhvr>
                                        <p:cTn id="10" dur="1" fill="hold">
                                          <p:stCondLst>
                                            <p:cond delay="0"/>
                                          </p:stCondLst>
                                        </p:cTn>
                                        <p:tgtEl>
                                          <p:spTgt spid="18"/>
                                        </p:tgtEl>
                                        <p:attrNameLst>
                                          <p:attrName>style.visibility</p:attrName>
                                        </p:attrNameLst>
                                      </p:cBhvr>
                                      <p:to>
                                        <p:strVal val="hidden"/>
                                      </p:to>
                                    </p:set>
                                  </p:childTnLst>
                                </p:cTn>
                              </p:par>
                              <p:par>
                                <p:cTn id="11" presetID="1" presetClass="exit" presetSubtype="0" fill="hold" nodeType="withEffect">
                                  <p:stCondLst>
                                    <p:cond delay="783"/>
                                  </p:stCondLst>
                                  <p:childTnLst>
                                    <p:set>
                                      <p:cBhvr>
                                        <p:cTn id="12" dur="1" fill="hold">
                                          <p:stCondLst>
                                            <p:cond delay="0"/>
                                          </p:stCondLst>
                                        </p:cTn>
                                        <p:tgtEl>
                                          <p:spTgt spid="19"/>
                                        </p:tgtEl>
                                        <p:attrNameLst>
                                          <p:attrName>style.visibility</p:attrName>
                                        </p:attrNameLst>
                                      </p:cBhvr>
                                      <p:to>
                                        <p:strVal val="hidden"/>
                                      </p:to>
                                    </p:set>
                                  </p:childTnLst>
                                </p:cTn>
                              </p:par>
                              <p:par>
                                <p:cTn id="13" presetID="10" presetClass="entr" presetSubtype="0" fill="hold" nodeType="with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6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12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12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1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1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4 → INSIGHT 3/4"/>
          <p:cNvPicPr>
            <a:picLocks noChangeAspect="1"/>
          </p:cNvPicPr>
          <p:nvPr/>
        </p:nvPicPr>
        <p:blipFill>
          <a:blip r:embed="rId3"/>
          <a:stretch>
            <a:fillRect/>
          </a:stretch>
        </p:blipFill>
        <p:spPr>
          <a:xfrm>
            <a:off x="548640" y="411480"/>
            <a:ext cx="3072384" cy="146304"/>
          </a:xfrm>
          <a:prstGeom prst="rect">
            <a:avLst/>
          </a:prstGeom>
        </p:spPr>
      </p:pic>
      <p:pic>
        <p:nvPicPr>
          <p:cNvPr id="3" name="o2" descr="Wii et DS : vendues, pas notées"/>
          <p:cNvPicPr>
            <a:picLocks noChangeAspect="1"/>
          </p:cNvPicPr>
          <p:nvPr/>
        </p:nvPicPr>
        <p:blipFill>
          <a:blip r:embed="rId4"/>
          <a:stretch>
            <a:fillRect/>
          </a:stretch>
        </p:blipFill>
        <p:spPr>
          <a:xfrm>
            <a:off x="548640" y="777240"/>
            <a:ext cx="8503919" cy="274320"/>
          </a:xfrm>
          <a:prstGeom prst="rect">
            <a:avLst/>
          </a:prstGeom>
        </p:spPr>
      </p:pic>
      <p:pic>
        <p:nvPicPr>
          <p:cNvPr id="4" name="o3" descr="image-10-3.png"/>
          <p:cNvPicPr>
            <a:picLocks noChangeAspect="1"/>
          </p:cNvPicPr>
          <p:nvPr/>
        </p:nvPicPr>
        <p:blipFill>
          <a:blip r:embed="rId5"/>
          <a:stretch>
            <a:fillRect/>
          </a:stretch>
        </p:blipFill>
        <p:spPr>
          <a:xfrm>
            <a:off x="11073384" y="365760"/>
            <a:ext cx="566928" cy="566928"/>
          </a:xfrm>
          <a:prstGeom prst="rect">
            <a:avLst/>
          </a:prstGeom>
        </p:spPr>
      </p:pic>
      <p:graphicFrame>
        <p:nvGraphicFramePr>
          <p:cNvPr id="5" name="o4"/>
          <p:cNvGraphicFramePr>
            <a:graphicFrameLocks noGrp="1"/>
          </p:cNvGraphicFramePr>
          <p:nvPr/>
        </p:nvGraphicFramePr>
        <p:xfrm>
          <a:off x="457200" y="1554480"/>
          <a:ext cx="7315200" cy="4297680"/>
        </p:xfrm>
        <a:graphic>
          <a:graphicData uri="http://schemas.openxmlformats.org/drawingml/2006/chart">
            <c:chart xmlns:c="http://schemas.openxmlformats.org/drawingml/2006/chart" r:id="rId6"/>
          </a:graphicData>
        </a:graphic>
      </p:graphicFrame>
      <p:sp>
        <p:nvSpPr>
          <p:cNvPr id="6" name="o5"/>
          <p:cNvSpPr/>
          <p:nvPr/>
        </p:nvSpPr>
        <p:spPr>
          <a:xfrm>
            <a:off x="8183879" y="1691640"/>
            <a:ext cx="3456432" cy="2377440"/>
          </a:xfrm>
          <a:prstGeom prst="roundRect">
            <a:avLst>
              <a:gd name="adj" fmla="val 5384"/>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8252459" y="1760220"/>
            <a:ext cx="3319272" cy="2240280"/>
          </a:xfrm>
          <a:prstGeom prst="roundRect">
            <a:avLst>
              <a:gd name="adj" fmla="val 2653"/>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62,8"/>
          <p:cNvPicPr>
            <a:picLocks noChangeAspect="1"/>
          </p:cNvPicPr>
          <p:nvPr/>
        </p:nvPicPr>
        <p:blipFill>
          <a:blip r:embed="rId7"/>
          <a:stretch>
            <a:fillRect/>
          </a:stretch>
        </p:blipFill>
        <p:spPr>
          <a:xfrm>
            <a:off x="8503920" y="2011680"/>
            <a:ext cx="1536192" cy="384048"/>
          </a:xfrm>
          <a:prstGeom prst="rect">
            <a:avLst/>
          </a:prstGeom>
        </p:spPr>
      </p:pic>
      <p:sp>
        <p:nvSpPr>
          <p:cNvPr id="9" name="o8"/>
          <p:cNvSpPr txBox="1"/>
          <p:nvPr/>
        </p:nvSpPr>
        <p:spPr>
          <a:xfrm>
            <a:off x="8503920" y="2578608"/>
            <a:ext cx="2926080" cy="548640"/>
          </a:xfrm>
          <a:prstGeom prst="rect">
            <a:avLst/>
          </a:prstGeom>
          <a:noFill/>
        </p:spPr>
        <p:txBody>
          <a:bodyPr wrap="square" lIns="0" rIns="0" tIns="0" bIns="0" anchor="t">
            <a:spAutoFit/>
          </a:bodyPr>
          <a:lstStyle/>
          <a:p>
            <a:pPr algn="l"/>
            <a:r>
              <a:rPr sz="1500" b="0" i="0">
                <a:solidFill>
                  <a:srgbClr val="C4C4E4"/>
                </a:solidFill>
                <a:latin typeface="Arial"/>
              </a:rPr>
              <a:t>note moyenne des jeux Wii, la plus basse</a:t>
            </a:r>
          </a:p>
        </p:txBody>
      </p:sp>
      <p:pic>
        <p:nvPicPr>
          <p:cNvPr id="10" name="o9" descr="75,9"/>
          <p:cNvPicPr>
            <a:picLocks noChangeAspect="1"/>
          </p:cNvPicPr>
          <p:nvPr/>
        </p:nvPicPr>
        <p:blipFill>
          <a:blip r:embed="rId8"/>
          <a:stretch>
            <a:fillRect/>
          </a:stretch>
        </p:blipFill>
        <p:spPr>
          <a:xfrm>
            <a:off x="8503920" y="3200400"/>
            <a:ext cx="1097280" cy="274320"/>
          </a:xfrm>
          <a:prstGeom prst="rect">
            <a:avLst/>
          </a:prstGeom>
        </p:spPr>
      </p:pic>
      <p:sp>
        <p:nvSpPr>
          <p:cNvPr id="11" name="o10"/>
          <p:cNvSpPr txBox="1"/>
          <p:nvPr/>
        </p:nvSpPr>
        <p:spPr>
          <a:xfrm>
            <a:off x="9829800" y="3182112"/>
            <a:ext cx="1645920" cy="320040"/>
          </a:xfrm>
          <a:prstGeom prst="rect">
            <a:avLst/>
          </a:prstGeom>
          <a:noFill/>
        </p:spPr>
        <p:txBody>
          <a:bodyPr wrap="square" lIns="0" rIns="0" tIns="0" bIns="0" anchor="ctr">
            <a:spAutoFit/>
          </a:bodyPr>
          <a:lstStyle/>
          <a:p>
            <a:pPr algn="l"/>
            <a:r>
              <a:rPr sz="1500" b="0" i="0">
                <a:solidFill>
                  <a:srgbClr val="C4C4E4"/>
                </a:solidFill>
                <a:latin typeface="Arial"/>
              </a:rPr>
              <a:t>pour le PC</a:t>
            </a:r>
          </a:p>
        </p:txBody>
      </p:sp>
      <p:sp>
        <p:nvSpPr>
          <p:cNvPr id="12" name="o11"/>
          <p:cNvSpPr/>
          <p:nvPr/>
        </p:nvSpPr>
        <p:spPr>
          <a:xfrm>
            <a:off x="8183879" y="4297680"/>
            <a:ext cx="3456432" cy="1737360"/>
          </a:xfrm>
          <a:prstGeom prst="roundRect">
            <a:avLst>
              <a:gd name="adj" fmla="val 7368"/>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12"/>
          <p:cNvSpPr/>
          <p:nvPr/>
        </p:nvSpPr>
        <p:spPr>
          <a:xfrm>
            <a:off x="8252459" y="4366260"/>
            <a:ext cx="3319272" cy="1600200"/>
          </a:xfrm>
          <a:prstGeom prst="roundRect">
            <a:avLst>
              <a:gd name="adj" fmla="val 3714"/>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13"/>
          <p:cNvSpPr txBox="1"/>
          <p:nvPr/>
        </p:nvSpPr>
        <p:spPr>
          <a:xfrm>
            <a:off x="8503920" y="4544568"/>
            <a:ext cx="2926080" cy="365760"/>
          </a:xfrm>
          <a:prstGeom prst="rect">
            <a:avLst/>
          </a:prstGeom>
          <a:noFill/>
        </p:spPr>
        <p:txBody>
          <a:bodyPr wrap="square" lIns="0" rIns="0" tIns="0" bIns="0" anchor="t">
            <a:spAutoFit/>
          </a:bodyPr>
          <a:lstStyle/>
          <a:p>
            <a:pPr algn="l"/>
            <a:r>
              <a:rPr sz="2000" b="1" i="0">
                <a:solidFill>
                  <a:srgbClr val="FFFFFF"/>
                </a:solidFill>
                <a:latin typeface="Arial"/>
              </a:rPr>
              <a:t>Ventes ≠ qualité</a:t>
            </a:r>
          </a:p>
        </p:txBody>
      </p:sp>
      <p:sp>
        <p:nvSpPr>
          <p:cNvPr id="15" name="o14"/>
          <p:cNvSpPr txBox="1"/>
          <p:nvPr/>
        </p:nvSpPr>
        <p:spPr>
          <a:xfrm>
            <a:off x="8503920" y="4983480"/>
            <a:ext cx="2926080" cy="822960"/>
          </a:xfrm>
          <a:prstGeom prst="rect">
            <a:avLst/>
          </a:prstGeom>
          <a:noFill/>
        </p:spPr>
        <p:txBody>
          <a:bodyPr wrap="square" lIns="0" rIns="0" tIns="0" bIns="0" anchor="t">
            <a:spAutoFit/>
          </a:bodyPr>
          <a:lstStyle/>
          <a:p>
            <a:pPr algn="l"/>
            <a:r>
              <a:rPr sz="1400" b="0" i="0">
                <a:solidFill>
                  <a:srgbClr val="C4C4E4"/>
                </a:solidFill>
                <a:latin typeface="Arial"/>
              </a:rPr>
              <a:t>beaucoup de petits jeux familiaux à bas prix, mal notés</a:t>
            </a:r>
          </a:p>
        </p:txBody>
      </p:sp>
      <p:sp>
        <p:nvSpPr>
          <p:cNvPr id="16" name="o15"/>
          <p:cNvSpPr/>
          <p:nvPr/>
        </p:nvSpPr>
        <p:spPr>
          <a:xfrm>
            <a:off x="1737360" y="5943600"/>
            <a:ext cx="128016" cy="128016"/>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16"/>
          <p:cNvSpPr txBox="1"/>
          <p:nvPr/>
        </p:nvSpPr>
        <p:spPr>
          <a:xfrm>
            <a:off x="1938528" y="5870448"/>
            <a:ext cx="1188720" cy="274320"/>
          </a:xfrm>
          <a:prstGeom prst="rect">
            <a:avLst/>
          </a:prstGeom>
          <a:noFill/>
        </p:spPr>
        <p:txBody>
          <a:bodyPr wrap="square" lIns="0" rIns="0" tIns="0" bIns="0" anchor="ctr">
            <a:spAutoFit/>
          </a:bodyPr>
          <a:lstStyle/>
          <a:p>
            <a:pPr algn="l"/>
            <a:r>
              <a:rPr sz="1200" b="0" i="0">
                <a:solidFill>
                  <a:srgbClr val="C4C4E4"/>
                </a:solidFill>
                <a:latin typeface="Arial"/>
              </a:rPr>
              <a:t>Nintendo</a:t>
            </a:r>
          </a:p>
        </p:txBody>
      </p:sp>
      <p:sp>
        <p:nvSpPr>
          <p:cNvPr id="18" name="o17"/>
          <p:cNvSpPr/>
          <p:nvPr/>
        </p:nvSpPr>
        <p:spPr>
          <a:xfrm>
            <a:off x="3200400" y="5943600"/>
            <a:ext cx="128016" cy="128016"/>
          </a:xfrm>
          <a:prstGeom prst="rect">
            <a:avLst/>
          </a:prstGeom>
          <a:solidFill>
            <a:srgbClr val="212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18"/>
          <p:cNvSpPr txBox="1"/>
          <p:nvPr/>
        </p:nvSpPr>
        <p:spPr>
          <a:xfrm>
            <a:off x="3401568" y="5870448"/>
            <a:ext cx="1188720" cy="274320"/>
          </a:xfrm>
          <a:prstGeom prst="rect">
            <a:avLst/>
          </a:prstGeom>
          <a:noFill/>
        </p:spPr>
        <p:txBody>
          <a:bodyPr wrap="square" lIns="0" rIns="0" tIns="0" bIns="0" anchor="ctr">
            <a:spAutoFit/>
          </a:bodyPr>
          <a:lstStyle/>
          <a:p>
            <a:pPr algn="l"/>
            <a:r>
              <a:rPr sz="1200" b="0" i="0">
                <a:solidFill>
                  <a:srgbClr val="C4C4E4"/>
                </a:solidFill>
                <a:latin typeface="Arial"/>
              </a:rPr>
              <a:t>Sony</a:t>
            </a:r>
          </a:p>
        </p:txBody>
      </p:sp>
      <p:sp>
        <p:nvSpPr>
          <p:cNvPr id="20" name="o19"/>
          <p:cNvSpPr/>
          <p:nvPr/>
        </p:nvSpPr>
        <p:spPr>
          <a:xfrm>
            <a:off x="4663440" y="5943600"/>
            <a:ext cx="128016" cy="128016"/>
          </a:xfrm>
          <a:prstGeom prst="rect">
            <a:avLst/>
          </a:prstGeom>
          <a:solidFill>
            <a:srgbClr val="00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20"/>
          <p:cNvSpPr txBox="1"/>
          <p:nvPr/>
        </p:nvSpPr>
        <p:spPr>
          <a:xfrm>
            <a:off x="4864608" y="5870448"/>
            <a:ext cx="1188720" cy="274320"/>
          </a:xfrm>
          <a:prstGeom prst="rect">
            <a:avLst/>
          </a:prstGeom>
          <a:noFill/>
        </p:spPr>
        <p:txBody>
          <a:bodyPr wrap="square" lIns="0" rIns="0" tIns="0" bIns="0" anchor="ctr">
            <a:spAutoFit/>
          </a:bodyPr>
          <a:lstStyle/>
          <a:p>
            <a:pPr algn="l"/>
            <a:r>
              <a:rPr sz="1200" b="0" i="0">
                <a:solidFill>
                  <a:srgbClr val="C4C4E4"/>
                </a:solidFill>
                <a:latin typeface="Arial"/>
              </a:rPr>
              <a:t>Microsoft</a:t>
            </a:r>
          </a:p>
        </p:txBody>
      </p:sp>
      <p:sp>
        <p:nvSpPr>
          <p:cNvPr id="22" name="o21"/>
          <p:cNvSpPr/>
          <p:nvPr/>
        </p:nvSpPr>
        <p:spPr>
          <a:xfrm>
            <a:off x="6126480" y="5943600"/>
            <a:ext cx="128016" cy="128016"/>
          </a:xfrm>
          <a:prstGeom prst="rect">
            <a:avLst/>
          </a:prstGeom>
          <a:solidFill>
            <a:srgbClr val="FF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22"/>
          <p:cNvSpPr txBox="1"/>
          <p:nvPr/>
        </p:nvSpPr>
        <p:spPr>
          <a:xfrm>
            <a:off x="6327648" y="5870448"/>
            <a:ext cx="1188720" cy="274320"/>
          </a:xfrm>
          <a:prstGeom prst="rect">
            <a:avLst/>
          </a:prstGeom>
          <a:noFill/>
        </p:spPr>
        <p:txBody>
          <a:bodyPr wrap="square" lIns="0" rIns="0" tIns="0" bIns="0" anchor="ctr">
            <a:spAutoFit/>
          </a:bodyPr>
          <a:lstStyle/>
          <a:p>
            <a:pPr algn="l"/>
            <a:r>
              <a:rPr sz="1200" b="0" i="0">
                <a:solidFill>
                  <a:srgbClr val="C4C4E4"/>
                </a:solidFill>
                <a:latin typeface="Arial"/>
              </a:rPr>
              <a:t>PC</a:t>
            </a:r>
          </a:p>
        </p:txBody>
      </p:sp>
      <p:pic>
        <p:nvPicPr>
          <p:cNvPr id="24" name="fin_pastille" descr="image-1-13.gif"/>
          <p:cNvPicPr>
            <a:picLocks noChangeAspect="1"/>
          </p:cNvPicPr>
          <p:nvPr/>
        </p:nvPicPr>
        <p:blipFill>
          <a:blip r:embed="rId9"/>
          <a:stretch>
            <a:fillRect/>
          </a:stretch>
        </p:blipFill>
        <p:spPr>
          <a:xfrm>
            <a:off x="11448288" y="6355080"/>
            <a:ext cx="182880" cy="182880"/>
          </a:xfrm>
          <a:prstGeom prst="rect">
            <a:avLst/>
          </a:prstGeom>
        </p:spPr>
      </p:pic>
      <p:pic>
        <p:nvPicPr>
          <p:cNvPr id="25" name="barre_fantome" descr="image-1-15.gif"/>
          <p:cNvPicPr>
            <a:picLocks noChangeAspect="1"/>
          </p:cNvPicPr>
          <p:nvPr/>
        </p:nvPicPr>
        <p:blipFill>
          <a:blip r:embed="rId10"/>
          <a:stretch>
            <a:fillRect/>
          </a:stretch>
        </p:blipFill>
        <p:spPr>
          <a:xfrm>
            <a:off x="6537960" y="6291072"/>
            <a:ext cx="310896" cy="310896"/>
          </a:xfrm>
          <a:prstGeom prst="rect">
            <a:avLst/>
          </a:prstGeom>
        </p:spPr>
      </p:pic>
      <p:pic>
        <p:nvPicPr>
          <p:cNvPr id="26" name="barre_pacman" descr="image-1-14.gif"/>
          <p:cNvPicPr>
            <a:picLocks noChangeAspect="1"/>
          </p:cNvPicPr>
          <p:nvPr/>
        </p:nvPicPr>
        <p:blipFill>
          <a:blip r:embed="rId11"/>
          <a:stretch>
            <a:fillRect/>
          </a:stretch>
        </p:blipFill>
        <p:spPr>
          <a:xfrm>
            <a:off x="7104888" y="6291072"/>
            <a:ext cx="310896" cy="310896"/>
          </a:xfrm>
          <a:prstGeom prst="rect">
            <a:avLst/>
          </a:prstGeom>
        </p:spPr>
      </p:pic>
      <p:sp>
        <p:nvSpPr>
          <p:cNvPr id="27" name="barre_pastille_8.25"/>
          <p:cNvSpPr/>
          <p:nvPr/>
        </p:nvSpPr>
        <p:spPr>
          <a:xfrm>
            <a:off x="7543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re_pastille_8.50"/>
          <p:cNvSpPr/>
          <p:nvPr/>
        </p:nvSpPr>
        <p:spPr>
          <a:xfrm>
            <a:off x="7772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25"/>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26"/>
                                        </p:tgtEl>
                                        <p:attrNameLst>
                                          <p:attrName>ppt_x</p:attrName>
                                          <p:attrName>ppt_y</p:attrName>
                                        </p:attrNameLst>
                                      </p:cBhvr>
                                    </p:animMotion>
                                  </p:childTnLst>
                                </p:cTn>
                              </p:par>
                              <p:par>
                                <p:cTn id="9" presetID="1" presetClass="exit" presetSubtype="0" fill="hold" nodeType="withEffect">
                                  <p:stCondLst>
                                    <p:cond delay="300"/>
                                  </p:stCondLst>
                                  <p:childTnLst>
                                    <p:set>
                                      <p:cBhvr>
                                        <p:cTn id="10" dur="1" fill="hold">
                                          <p:stCondLst>
                                            <p:cond delay="0"/>
                                          </p:stCondLst>
                                        </p:cTn>
                                        <p:tgtEl>
                                          <p:spTgt spid="27"/>
                                        </p:tgtEl>
                                        <p:attrNameLst>
                                          <p:attrName>style.visibility</p:attrName>
                                        </p:attrNameLst>
                                      </p:cBhvr>
                                      <p:to>
                                        <p:strVal val="hidden"/>
                                      </p:to>
                                    </p:set>
                                  </p:childTnLst>
                                </p:cTn>
                              </p:par>
                              <p:par>
                                <p:cTn id="11" presetID="1" presetClass="exit" presetSubtype="0" fill="hold" nodeType="withEffect">
                                  <p:stCondLst>
                                    <p:cond delay="717"/>
                                  </p:stCondLst>
                                  <p:childTnLst>
                                    <p:set>
                                      <p:cBhvr>
                                        <p:cTn id="12" dur="1" fill="hold">
                                          <p:stCondLst>
                                            <p:cond delay="0"/>
                                          </p:stCondLst>
                                        </p:cTn>
                                        <p:tgtEl>
                                          <p:spTgt spid="28"/>
                                        </p:tgtEl>
                                        <p:attrNameLst>
                                          <p:attrName>style.visibility</p:attrName>
                                        </p:attrNameLst>
                                      </p:cBhvr>
                                      <p:to>
                                        <p:strVal val="hidden"/>
                                      </p:to>
                                    </p:set>
                                  </p:childTnLst>
                                </p:cTn>
                              </p:par>
                              <p:par>
                                <p:cTn id="13" presetID="10" presetClass="entr" presetSubtype="0" fill="hold" nodeType="with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6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9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9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1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1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12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1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1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1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1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1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10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nodeType="withEffect">
                                  <p:stCondLst>
                                    <p:cond delay="10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10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4 → INSIGHT 4/4"/>
          <p:cNvPicPr>
            <a:picLocks noChangeAspect="1"/>
          </p:cNvPicPr>
          <p:nvPr/>
        </p:nvPicPr>
        <p:blipFill>
          <a:blip r:embed="rId3"/>
          <a:stretch>
            <a:fillRect/>
          </a:stretch>
        </p:blipFill>
        <p:spPr>
          <a:xfrm>
            <a:off x="548640" y="411480"/>
            <a:ext cx="3072384" cy="146304"/>
          </a:xfrm>
          <a:prstGeom prst="rect">
            <a:avLst/>
          </a:prstGeom>
        </p:spPr>
      </p:pic>
      <p:pic>
        <p:nvPicPr>
          <p:cNvPr id="3" name="o2" descr="L'Europe écoute la critique"/>
          <p:cNvPicPr>
            <a:picLocks noChangeAspect="1"/>
          </p:cNvPicPr>
          <p:nvPr/>
        </p:nvPicPr>
        <p:blipFill>
          <a:blip r:embed="rId4"/>
          <a:stretch>
            <a:fillRect/>
          </a:stretch>
        </p:blipFill>
        <p:spPr>
          <a:xfrm>
            <a:off x="548640" y="777240"/>
            <a:ext cx="7406640" cy="274320"/>
          </a:xfrm>
          <a:prstGeom prst="rect">
            <a:avLst/>
          </a:prstGeom>
        </p:spPr>
      </p:pic>
      <p:pic>
        <p:nvPicPr>
          <p:cNvPr id="4" name="o3" descr="image-10-3.png"/>
          <p:cNvPicPr>
            <a:picLocks noChangeAspect="1"/>
          </p:cNvPicPr>
          <p:nvPr/>
        </p:nvPicPr>
        <p:blipFill>
          <a:blip r:embed="rId5"/>
          <a:stretch>
            <a:fillRect/>
          </a:stretch>
        </p:blipFill>
        <p:spPr>
          <a:xfrm>
            <a:off x="11073384" y="365760"/>
            <a:ext cx="566928" cy="566928"/>
          </a:xfrm>
          <a:prstGeom prst="rect">
            <a:avLst/>
          </a:prstGeom>
        </p:spPr>
      </p:pic>
      <p:graphicFrame>
        <p:nvGraphicFramePr>
          <p:cNvPr id="5" name="o4"/>
          <p:cNvGraphicFramePr>
            <a:graphicFrameLocks noGrp="1"/>
          </p:cNvGraphicFramePr>
          <p:nvPr/>
        </p:nvGraphicFramePr>
        <p:xfrm>
          <a:off x="457200" y="1600200"/>
          <a:ext cx="7315200" cy="4434840"/>
        </p:xfrm>
        <a:graphic>
          <a:graphicData uri="http://schemas.openxmlformats.org/drawingml/2006/chart">
            <c:chart xmlns:c="http://schemas.openxmlformats.org/drawingml/2006/chart" r:id="rId6"/>
          </a:graphicData>
        </a:graphic>
      </p:graphicFrame>
      <p:sp>
        <p:nvSpPr>
          <p:cNvPr id="6" name="o5"/>
          <p:cNvSpPr/>
          <p:nvPr/>
        </p:nvSpPr>
        <p:spPr>
          <a:xfrm>
            <a:off x="8183879" y="1691640"/>
            <a:ext cx="3456432" cy="2103120"/>
          </a:xfrm>
          <a:prstGeom prst="roundRect">
            <a:avLst>
              <a:gd name="adj" fmla="val 6086"/>
            </a:avLst>
          </a:prstGeom>
          <a:solidFill>
            <a:srgbClr val="000000"/>
          </a:solidFill>
          <a:ln w="28575">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8252459" y="1760220"/>
            <a:ext cx="3319272" cy="1965960"/>
          </a:xfrm>
          <a:prstGeom prst="roundRect">
            <a:avLst>
              <a:gd name="adj" fmla="val 3023"/>
            </a:avLst>
          </a:prstGeom>
          <a:noFill/>
          <a:ln w="12700">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AMERIQUE DU NORD"/>
          <p:cNvPicPr>
            <a:picLocks noChangeAspect="1"/>
          </p:cNvPicPr>
          <p:nvPr/>
        </p:nvPicPr>
        <p:blipFill>
          <a:blip r:embed="rId7"/>
          <a:stretch>
            <a:fillRect/>
          </a:stretch>
        </p:blipFill>
        <p:spPr>
          <a:xfrm>
            <a:off x="8503920" y="1965960"/>
            <a:ext cx="1901952" cy="118872"/>
          </a:xfrm>
          <a:prstGeom prst="rect">
            <a:avLst/>
          </a:prstGeom>
        </p:spPr>
      </p:pic>
      <p:pic>
        <p:nvPicPr>
          <p:cNvPr id="9" name="o8" descr="68%→49%"/>
          <p:cNvPicPr>
            <a:picLocks noChangeAspect="1"/>
          </p:cNvPicPr>
          <p:nvPr/>
        </p:nvPicPr>
        <p:blipFill>
          <a:blip r:embed="rId8"/>
          <a:stretch>
            <a:fillRect/>
          </a:stretch>
        </p:blipFill>
        <p:spPr>
          <a:xfrm>
            <a:off x="8503920" y="2286000"/>
            <a:ext cx="2304288" cy="329184"/>
          </a:xfrm>
          <a:prstGeom prst="rect">
            <a:avLst/>
          </a:prstGeom>
        </p:spPr>
      </p:pic>
      <p:sp>
        <p:nvSpPr>
          <p:cNvPr id="10" name="o9"/>
          <p:cNvSpPr txBox="1"/>
          <p:nvPr/>
        </p:nvSpPr>
        <p:spPr>
          <a:xfrm>
            <a:off x="8503920" y="2788920"/>
            <a:ext cx="2926080" cy="731520"/>
          </a:xfrm>
          <a:prstGeom prst="rect">
            <a:avLst/>
          </a:prstGeom>
          <a:noFill/>
        </p:spPr>
        <p:txBody>
          <a:bodyPr wrap="square" lIns="0" rIns="0" tIns="0" bIns="0" anchor="t">
            <a:spAutoFit/>
          </a:bodyPr>
          <a:lstStyle/>
          <a:p>
            <a:pPr algn="l"/>
            <a:r>
              <a:rPr sz="1500" b="0" i="0">
                <a:solidFill>
                  <a:srgbClr val="C4C4E4"/>
                </a:solidFill>
                <a:latin typeface="Arial"/>
              </a:rPr>
              <a:t>des ventes d'un jeu noté moins de 50, puis 90 et +</a:t>
            </a:r>
          </a:p>
        </p:txBody>
      </p:sp>
      <p:sp>
        <p:nvSpPr>
          <p:cNvPr id="11" name="o10"/>
          <p:cNvSpPr/>
          <p:nvPr/>
        </p:nvSpPr>
        <p:spPr>
          <a:xfrm>
            <a:off x="8183879" y="3977639"/>
            <a:ext cx="3456432" cy="2057400"/>
          </a:xfrm>
          <a:prstGeom prst="roundRect">
            <a:avLst>
              <a:gd name="adj" fmla="val 6222"/>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11"/>
          <p:cNvSpPr/>
          <p:nvPr/>
        </p:nvSpPr>
        <p:spPr>
          <a:xfrm>
            <a:off x="8252459" y="4046220"/>
            <a:ext cx="3319272" cy="1920240"/>
          </a:xfrm>
          <a:prstGeom prst="roundRect">
            <a:avLst>
              <a:gd name="adj" fmla="val 3095"/>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12"/>
          <p:cNvSpPr txBox="1"/>
          <p:nvPr/>
        </p:nvSpPr>
        <p:spPr>
          <a:xfrm>
            <a:off x="8503920" y="4206240"/>
            <a:ext cx="2926080" cy="1737360"/>
          </a:xfrm>
          <a:prstGeom prst="rect">
            <a:avLst/>
          </a:prstGeom>
          <a:noFill/>
        </p:spPr>
        <p:txBody>
          <a:bodyPr wrap="square" lIns="0" rIns="0" tIns="0" bIns="0" anchor="t">
            <a:spAutoFit/>
          </a:bodyPr>
          <a:lstStyle/>
          <a:p>
            <a:pPr algn="l">
              <a:spcAft>
                <a:spcPts val="400"/>
              </a:spcAft>
            </a:pPr>
            <a:r>
              <a:rPr sz="1500" b="1" i="0">
                <a:solidFill>
                  <a:srgbClr val="FFB8FF"/>
                </a:solidFill>
                <a:latin typeface="Arial"/>
              </a:rPr>
              <a:t>Europe </a:t>
            </a:r>
            <a:r>
              <a:rPr sz="1500" b="1" i="0">
                <a:solidFill>
                  <a:srgbClr val="FFFFFF"/>
                </a:solidFill>
                <a:latin typeface="Arial"/>
              </a:rPr>
              <a:t>0,37</a:t>
            </a:r>
          </a:p>
          <a:p>
            <a:pPr algn="l">
              <a:spcAft>
                <a:spcPts val="400"/>
              </a:spcAft>
            </a:pPr>
            <a:r>
              <a:rPr sz="1500" b="0" i="0">
                <a:solidFill>
                  <a:srgbClr val="C4C4E4"/>
                </a:solidFill>
                <a:latin typeface="Arial"/>
              </a:rPr>
              <a:t>le marché le plus sensible aux notes</a:t>
            </a:r>
          </a:p>
          <a:p>
            <a:pPr algn="l">
              <a:spcAft>
                <a:spcPts val="400"/>
              </a:spcAft>
            </a:pPr>
            <a:r>
              <a:rPr sz="1500" b="1" i="0">
                <a:solidFill>
                  <a:srgbClr val="FF2D2D"/>
                </a:solidFill>
                <a:latin typeface="Arial"/>
              </a:rPr>
              <a:t>Japon </a:t>
            </a:r>
            <a:r>
              <a:rPr sz="1500" b="1" i="0">
                <a:solidFill>
                  <a:srgbClr val="FFFFFF"/>
                </a:solidFill>
                <a:latin typeface="Arial"/>
              </a:rPr>
              <a:t>0,24</a:t>
            </a:r>
          </a:p>
          <a:p>
            <a:pPr algn="l">
              <a:spcAft>
                <a:spcPts val="400"/>
              </a:spcAft>
            </a:pPr>
            <a:r>
              <a:rPr sz="1500" b="0" i="0">
                <a:solidFill>
                  <a:srgbClr val="C4C4E4"/>
                </a:solidFill>
                <a:latin typeface="Arial"/>
              </a:rPr>
              <a:t>Metacritic = critiques occidentales</a:t>
            </a:r>
          </a:p>
        </p:txBody>
      </p:sp>
      <p:pic>
        <p:nvPicPr>
          <p:cNvPr id="14" name="fin_pastille" descr="image-1-13.gif"/>
          <p:cNvPicPr>
            <a:picLocks noChangeAspect="1"/>
          </p:cNvPicPr>
          <p:nvPr/>
        </p:nvPicPr>
        <p:blipFill>
          <a:blip r:embed="rId9"/>
          <a:stretch>
            <a:fillRect/>
          </a:stretch>
        </p:blipFill>
        <p:spPr>
          <a:xfrm>
            <a:off x="11448288" y="6355080"/>
            <a:ext cx="182880" cy="182880"/>
          </a:xfrm>
          <a:prstGeom prst="rect">
            <a:avLst/>
          </a:prstGeom>
        </p:spPr>
      </p:pic>
      <p:pic>
        <p:nvPicPr>
          <p:cNvPr id="15" name="barre_fantome" descr="image-1-15.gif"/>
          <p:cNvPicPr>
            <a:picLocks noChangeAspect="1"/>
          </p:cNvPicPr>
          <p:nvPr/>
        </p:nvPicPr>
        <p:blipFill>
          <a:blip r:embed="rId10"/>
          <a:stretch>
            <a:fillRect/>
          </a:stretch>
        </p:blipFill>
        <p:spPr>
          <a:xfrm>
            <a:off x="7031736" y="6291072"/>
            <a:ext cx="310896" cy="310896"/>
          </a:xfrm>
          <a:prstGeom prst="rect">
            <a:avLst/>
          </a:prstGeom>
        </p:spPr>
      </p:pic>
      <p:pic>
        <p:nvPicPr>
          <p:cNvPr id="16" name="barre_pacman" descr="image-1-14.gif"/>
          <p:cNvPicPr>
            <a:picLocks noChangeAspect="1"/>
          </p:cNvPicPr>
          <p:nvPr/>
        </p:nvPicPr>
        <p:blipFill>
          <a:blip r:embed="rId11"/>
          <a:stretch>
            <a:fillRect/>
          </a:stretch>
        </p:blipFill>
        <p:spPr>
          <a:xfrm>
            <a:off x="7598664" y="6291072"/>
            <a:ext cx="310896" cy="310896"/>
          </a:xfrm>
          <a:prstGeom prst="rect">
            <a:avLst/>
          </a:prstGeom>
        </p:spPr>
      </p:pic>
      <p:sp>
        <p:nvSpPr>
          <p:cNvPr id="17" name="barre_pastille_8.75"/>
          <p:cNvSpPr/>
          <p:nvPr/>
        </p:nvSpPr>
        <p:spPr>
          <a:xfrm>
            <a:off x="8001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rre_pastille_9.00"/>
          <p:cNvSpPr/>
          <p:nvPr/>
        </p:nvSpPr>
        <p:spPr>
          <a:xfrm>
            <a:off x="8229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15"/>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16"/>
                                        </p:tgtEl>
                                        <p:attrNameLst>
                                          <p:attrName>ppt_x</p:attrName>
                                          <p:attrName>ppt_y</p:attrName>
                                        </p:attrNameLst>
                                      </p:cBhvr>
                                    </p:animMotion>
                                  </p:childTnLst>
                                </p:cTn>
                              </p:par>
                              <p:par>
                                <p:cTn id="9" presetID="1" presetClass="exit" presetSubtype="0" fill="hold" nodeType="withEffect">
                                  <p:stCondLst>
                                    <p:cond delay="233"/>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xit" presetSubtype="0" fill="hold" nodeType="withEffect">
                                  <p:stCondLst>
                                    <p:cond delay="650"/>
                                  </p:stCondLst>
                                  <p:childTnLst>
                                    <p:set>
                                      <p:cBhvr>
                                        <p:cTn id="12" dur="1" fill="hold">
                                          <p:stCondLst>
                                            <p:cond delay="0"/>
                                          </p:stCondLst>
                                        </p:cTn>
                                        <p:tgtEl>
                                          <p:spTgt spid="18"/>
                                        </p:tgtEl>
                                        <p:attrNameLst>
                                          <p:attrName>style.visibility</p:attrName>
                                        </p:attrNameLst>
                                      </p:cBhvr>
                                      <p:to>
                                        <p:strVal val="hidden"/>
                                      </p:to>
                                    </p:set>
                                  </p:childTnLst>
                                </p:cTn>
                              </p:par>
                              <p:par>
                                <p:cTn id="13" presetID="10" presetClass="entr" presetSubtype="0" fill="hold" nodeType="with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6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12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1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7"/>
          <p:cNvSpPr/>
          <p:nvPr/>
        </p:nvSpPr>
        <p:spPr>
          <a:xfrm>
            <a:off x="868680"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8"/>
          <p:cNvSpPr/>
          <p:nvPr/>
        </p:nvSpPr>
        <p:spPr>
          <a:xfrm>
            <a:off x="937259"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9"/>
          <p:cNvSpPr/>
          <p:nvPr/>
        </p:nvSpPr>
        <p:spPr>
          <a:xfrm>
            <a:off x="9768535" y="507492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9837115" y="514350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image-14-1.png"/>
          <p:cNvPicPr>
            <a:picLocks noChangeAspect="1"/>
          </p:cNvPicPr>
          <p:nvPr/>
        </p:nvPicPr>
        <p:blipFill>
          <a:blip r:embed="rId3"/>
          <a:stretch>
            <a:fillRect/>
          </a:stretch>
        </p:blipFill>
        <p:spPr>
          <a:xfrm>
            <a:off x="5684824" y="777240"/>
            <a:ext cx="822960" cy="822960"/>
          </a:xfrm>
          <a:prstGeom prst="rect">
            <a:avLst/>
          </a:prstGeom>
        </p:spPr>
      </p:pic>
      <p:pic>
        <p:nvPicPr>
          <p:cNvPr id="13" name="o12" descr="LEVEL 5"/>
          <p:cNvPicPr>
            <a:picLocks noChangeAspect="1"/>
          </p:cNvPicPr>
          <p:nvPr/>
        </p:nvPicPr>
        <p:blipFill>
          <a:blip r:embed="rId4"/>
          <a:stretch>
            <a:fillRect/>
          </a:stretch>
        </p:blipFill>
        <p:spPr>
          <a:xfrm>
            <a:off x="5263743" y="1828800"/>
            <a:ext cx="1664208" cy="237744"/>
          </a:xfrm>
          <a:prstGeom prst="rect">
            <a:avLst/>
          </a:prstGeom>
        </p:spPr>
      </p:pic>
      <p:pic>
        <p:nvPicPr>
          <p:cNvPr id="14" name="o13" descr="BOSS"/>
          <p:cNvPicPr>
            <a:picLocks noChangeAspect="1"/>
          </p:cNvPicPr>
          <p:nvPr/>
        </p:nvPicPr>
        <p:blipFill>
          <a:blip r:embed="rId5"/>
          <a:stretch>
            <a:fillRect/>
          </a:stretch>
        </p:blipFill>
        <p:spPr>
          <a:xfrm>
            <a:off x="5071719" y="2331720"/>
            <a:ext cx="2048256" cy="512064"/>
          </a:xfrm>
          <a:prstGeom prst="rect">
            <a:avLst/>
          </a:prstGeom>
        </p:spPr>
      </p:pic>
      <p:sp>
        <p:nvSpPr>
          <p:cNvPr id="15" name="o14"/>
          <p:cNvSpPr txBox="1"/>
          <p:nvPr/>
        </p:nvSpPr>
        <p:spPr>
          <a:xfrm>
            <a:off x="1371600" y="3108960"/>
            <a:ext cx="9448495" cy="411480"/>
          </a:xfrm>
          <a:prstGeom prst="rect">
            <a:avLst/>
          </a:prstGeom>
          <a:noFill/>
        </p:spPr>
        <p:txBody>
          <a:bodyPr wrap="square" lIns="0" rIns="0" tIns="0" bIns="0" anchor="t">
            <a:spAutoFit/>
          </a:bodyPr>
          <a:lstStyle/>
          <a:p>
            <a:pPr algn="ctr"/>
            <a:r>
              <a:rPr sz="2000" b="0" i="0">
                <a:solidFill>
                  <a:srgbClr val="C4C4E4"/>
                </a:solidFill>
                <a:latin typeface="Arial"/>
              </a:rPr>
              <a:t>Le Market Power Index, version 2</a:t>
            </a:r>
          </a:p>
        </p:txBody>
      </p:sp>
      <p:pic>
        <p:nvPicPr>
          <p:cNvPr id="16" name="rangee_sprite" descr="image-1-8.gif"/>
          <p:cNvPicPr>
            <a:picLocks noChangeAspect="1"/>
          </p:cNvPicPr>
          <p:nvPr/>
        </p:nvPicPr>
        <p:blipFill>
          <a:blip r:embed="rId6"/>
          <a:stretch>
            <a:fillRect/>
          </a:stretch>
        </p:blipFill>
        <p:spPr>
          <a:xfrm>
            <a:off x="704088" y="3950208"/>
            <a:ext cx="420624" cy="420624"/>
          </a:xfrm>
          <a:prstGeom prst="rect">
            <a:avLst/>
          </a:prstGeom>
        </p:spPr>
      </p:pic>
      <p:pic>
        <p:nvPicPr>
          <p:cNvPr id="17" name="rangee_sprite" descr="image-1-7.gif"/>
          <p:cNvPicPr>
            <a:picLocks noChangeAspect="1"/>
          </p:cNvPicPr>
          <p:nvPr/>
        </p:nvPicPr>
        <p:blipFill>
          <a:blip r:embed="rId7"/>
          <a:stretch>
            <a:fillRect/>
          </a:stretch>
        </p:blipFill>
        <p:spPr>
          <a:xfrm>
            <a:off x="1252728" y="3950208"/>
            <a:ext cx="420624" cy="420624"/>
          </a:xfrm>
          <a:prstGeom prst="rect">
            <a:avLst/>
          </a:prstGeom>
        </p:spPr>
      </p:pic>
      <p:pic>
        <p:nvPicPr>
          <p:cNvPr id="18" name="rangee_sprite" descr="image-1-6.gif"/>
          <p:cNvPicPr>
            <a:picLocks noChangeAspect="1"/>
          </p:cNvPicPr>
          <p:nvPr/>
        </p:nvPicPr>
        <p:blipFill>
          <a:blip r:embed="rId8"/>
          <a:stretch>
            <a:fillRect/>
          </a:stretch>
        </p:blipFill>
        <p:spPr>
          <a:xfrm>
            <a:off x="1801368" y="3950208"/>
            <a:ext cx="420624" cy="420624"/>
          </a:xfrm>
          <a:prstGeom prst="rect">
            <a:avLst/>
          </a:prstGeom>
        </p:spPr>
      </p:pic>
      <p:pic>
        <p:nvPicPr>
          <p:cNvPr id="19" name="rangee_sprite" descr="image-1-15.gif"/>
          <p:cNvPicPr>
            <a:picLocks noChangeAspect="1"/>
          </p:cNvPicPr>
          <p:nvPr/>
        </p:nvPicPr>
        <p:blipFill>
          <a:blip r:embed="rId9"/>
          <a:stretch>
            <a:fillRect/>
          </a:stretch>
        </p:blipFill>
        <p:spPr>
          <a:xfrm>
            <a:off x="2350008" y="3950208"/>
            <a:ext cx="420624" cy="420624"/>
          </a:xfrm>
          <a:prstGeom prst="rect">
            <a:avLst/>
          </a:prstGeom>
        </p:spPr>
      </p:pic>
      <p:pic>
        <p:nvPicPr>
          <p:cNvPr id="20" name="rangee_pacman" descr="image-1-14.gif"/>
          <p:cNvPicPr>
            <a:picLocks noChangeAspect="1"/>
          </p:cNvPicPr>
          <p:nvPr/>
        </p:nvPicPr>
        <p:blipFill>
          <a:blip r:embed="rId10"/>
          <a:stretch>
            <a:fillRect/>
          </a:stretch>
        </p:blipFill>
        <p:spPr>
          <a:xfrm>
            <a:off x="2990088" y="3950208"/>
            <a:ext cx="420624" cy="420624"/>
          </a:xfrm>
          <a:prstGeom prst="rect">
            <a:avLst/>
          </a:prstGeom>
        </p:spPr>
      </p:pic>
      <p:sp>
        <p:nvSpPr>
          <p:cNvPr id="21" name="rangee_pastille"/>
          <p:cNvSpPr/>
          <p:nvPr/>
        </p:nvSpPr>
        <p:spPr>
          <a:xfrm>
            <a:off x="36301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ee_pastille"/>
          <p:cNvSpPr/>
          <p:nvPr/>
        </p:nvSpPr>
        <p:spPr>
          <a:xfrm>
            <a:off x="39959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ngee_pastille"/>
          <p:cNvSpPr/>
          <p:nvPr/>
        </p:nvSpPr>
        <p:spPr>
          <a:xfrm>
            <a:off x="43616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ngee_pastille"/>
          <p:cNvSpPr/>
          <p:nvPr/>
        </p:nvSpPr>
        <p:spPr>
          <a:xfrm>
            <a:off x="47274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ngee_pastille"/>
          <p:cNvSpPr/>
          <p:nvPr/>
        </p:nvSpPr>
        <p:spPr>
          <a:xfrm>
            <a:off x="50932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ngee_pastille"/>
          <p:cNvSpPr/>
          <p:nvPr/>
        </p:nvSpPr>
        <p:spPr>
          <a:xfrm>
            <a:off x="54589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angee_pastille"/>
          <p:cNvSpPr/>
          <p:nvPr/>
        </p:nvSpPr>
        <p:spPr>
          <a:xfrm>
            <a:off x="58247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ee_pastille"/>
          <p:cNvSpPr/>
          <p:nvPr/>
        </p:nvSpPr>
        <p:spPr>
          <a:xfrm>
            <a:off x="61904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angee_pastille"/>
          <p:cNvSpPr/>
          <p:nvPr/>
        </p:nvSpPr>
        <p:spPr>
          <a:xfrm>
            <a:off x="65562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ngee_pastille"/>
          <p:cNvSpPr/>
          <p:nvPr/>
        </p:nvSpPr>
        <p:spPr>
          <a:xfrm>
            <a:off x="69220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angee_pastille"/>
          <p:cNvSpPr/>
          <p:nvPr/>
        </p:nvSpPr>
        <p:spPr>
          <a:xfrm>
            <a:off x="72877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angee_pastille"/>
          <p:cNvSpPr/>
          <p:nvPr/>
        </p:nvSpPr>
        <p:spPr>
          <a:xfrm>
            <a:off x="76535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angee_pastille"/>
          <p:cNvSpPr/>
          <p:nvPr/>
        </p:nvSpPr>
        <p:spPr>
          <a:xfrm>
            <a:off x="801928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ee_pastille"/>
          <p:cNvSpPr/>
          <p:nvPr/>
        </p:nvSpPr>
        <p:spPr>
          <a:xfrm>
            <a:off x="838504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angee_pastille"/>
          <p:cNvSpPr/>
          <p:nvPr/>
        </p:nvSpPr>
        <p:spPr>
          <a:xfrm>
            <a:off x="875080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angee_pastille"/>
          <p:cNvSpPr/>
          <p:nvPr/>
        </p:nvSpPr>
        <p:spPr>
          <a:xfrm>
            <a:off x="911656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angee_pastille"/>
          <p:cNvSpPr/>
          <p:nvPr/>
        </p:nvSpPr>
        <p:spPr>
          <a:xfrm>
            <a:off x="9482328" y="4123944"/>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ady" descr="READY!"/>
          <p:cNvPicPr>
            <a:picLocks noChangeAspect="1"/>
          </p:cNvPicPr>
          <p:nvPr/>
        </p:nvPicPr>
        <p:blipFill>
          <a:blip r:embed="rId11"/>
          <a:stretch>
            <a:fillRect/>
          </a:stretch>
        </p:blipFill>
        <p:spPr>
          <a:xfrm>
            <a:off x="5492343" y="4617720"/>
            <a:ext cx="1207008" cy="201168"/>
          </a:xfrm>
          <a:prstGeom prst="rect">
            <a:avLst/>
          </a:prstGeom>
        </p:spPr>
      </p:pic>
      <p:pic>
        <p:nvPicPr>
          <p:cNvPr id="39"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40" name="barre_fantome" descr="image-1-15.gif"/>
          <p:cNvPicPr>
            <a:picLocks noChangeAspect="1"/>
          </p:cNvPicPr>
          <p:nvPr/>
        </p:nvPicPr>
        <p:blipFill>
          <a:blip r:embed="rId9"/>
          <a:stretch>
            <a:fillRect/>
          </a:stretch>
        </p:blipFill>
        <p:spPr>
          <a:xfrm>
            <a:off x="7525512" y="6291072"/>
            <a:ext cx="310896" cy="310896"/>
          </a:xfrm>
          <a:prstGeom prst="rect">
            <a:avLst/>
          </a:prstGeom>
        </p:spPr>
      </p:pic>
      <p:pic>
        <p:nvPicPr>
          <p:cNvPr id="41" name="barre_pacman" descr="image-1-14.gif"/>
          <p:cNvPicPr>
            <a:picLocks noChangeAspect="1"/>
          </p:cNvPicPr>
          <p:nvPr/>
        </p:nvPicPr>
        <p:blipFill>
          <a:blip r:embed="rId10"/>
          <a:stretch>
            <a:fillRect/>
          </a:stretch>
        </p:blipFill>
        <p:spPr>
          <a:xfrm>
            <a:off x="8092440" y="6291072"/>
            <a:ext cx="310896" cy="310896"/>
          </a:xfrm>
          <a:prstGeom prst="rect">
            <a:avLst/>
          </a:prstGeom>
        </p:spPr>
      </p:pic>
      <p:sp>
        <p:nvSpPr>
          <p:cNvPr id="42" name="barre_pastille_9.25"/>
          <p:cNvSpPr/>
          <p:nvPr/>
        </p:nvSpPr>
        <p:spPr>
          <a:xfrm>
            <a:off x="8458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9.50"/>
          <p:cNvSpPr/>
          <p:nvPr/>
        </p:nvSpPr>
        <p:spPr>
          <a:xfrm>
            <a:off x="8686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4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41"/>
                                        </p:tgtEl>
                                        <p:attrNameLst>
                                          <p:attrName>ppt_x</p:attrName>
                                          <p:attrName>ppt_y</p:attrName>
                                        </p:attrNameLst>
                                      </p:cBhvr>
                                    </p:animMotion>
                                  </p:childTnLst>
                                </p:cTn>
                              </p:par>
                              <p:par>
                                <p:cTn id="9" presetID="1" presetClass="exit" presetSubtype="0" fill="hold" nodeType="withEffect">
                                  <p:stCondLst>
                                    <p:cond delay="167"/>
                                  </p:stCondLst>
                                  <p:childTnLst>
                                    <p:set>
                                      <p:cBhvr>
                                        <p:cTn id="10" dur="1" fill="hold">
                                          <p:stCondLst>
                                            <p:cond delay="0"/>
                                          </p:stCondLst>
                                        </p:cTn>
                                        <p:tgtEl>
                                          <p:spTgt spid="42"/>
                                        </p:tgtEl>
                                        <p:attrNameLst>
                                          <p:attrName>style.visibility</p:attrName>
                                        </p:attrNameLst>
                                      </p:cBhvr>
                                      <p:to>
                                        <p:strVal val="hidden"/>
                                      </p:to>
                                    </p:set>
                                  </p:childTnLst>
                                </p:cTn>
                              </p:par>
                              <p:par>
                                <p:cTn id="11" presetID="1" presetClass="exit" presetSubtype="0" fill="hold" nodeType="withEffect">
                                  <p:stCondLst>
                                    <p:cond delay="583"/>
                                  </p:stCondLst>
                                  <p:childTnLst>
                                    <p:set>
                                      <p:cBhvr>
                                        <p:cTn id="12" dur="1" fill="hold">
                                          <p:stCondLst>
                                            <p:cond delay="0"/>
                                          </p:stCondLst>
                                        </p:cTn>
                                        <p:tgtEl>
                                          <p:spTgt spid="43"/>
                                        </p:tgtEl>
                                        <p:attrNameLst>
                                          <p:attrName>style.visibility</p:attrName>
                                        </p:attrNameLst>
                                      </p:cBhvr>
                                      <p:to>
                                        <p:strVal val="hidden"/>
                                      </p:to>
                                    </p:set>
                                  </p:childTnLst>
                                </p:cTn>
                              </p:par>
                              <p:par>
                                <p:cTn id="13" presetID="1" presetClass="exit" presetSubtype="0" fill="hold" nodeType="withEffect">
                                  <p:stCondLst>
                                    <p:cond delay="900"/>
                                  </p:stCondLst>
                                  <p:childTnLst>
                                    <p:set>
                                      <p:cBhvr>
                                        <p:cTn id="14" dur="1" fill="hold">
                                          <p:stCondLst>
                                            <p:cond delay="0"/>
                                          </p:stCondLst>
                                        </p:cTn>
                                        <p:tgtEl>
                                          <p:spTgt spid="38"/>
                                        </p:tgtEl>
                                        <p:attrNameLst>
                                          <p:attrName>style.visibility</p:attrName>
                                        </p:attrNameLst>
                                      </p:cBhvr>
                                      <p:to>
                                        <p:strVal val="hidden"/>
                                      </p:to>
                                    </p:set>
                                  </p:childTnLst>
                                </p:cTn>
                              </p:par>
                              <p:par>
                                <p:cTn id="15" presetID="0" presetClass="path" presetSubtype="0" fill="hold" nodeType="withEffect">
                                  <p:stCondLst>
                                    <p:cond delay="900"/>
                                  </p:stCondLst>
                                  <p:childTnLst>
                                    <p:animMotion origin="layout" path="M 0 0 L 0.57001 0 E" pathEditMode="relative" ptsTypes="">
                                      <p:cBhvr>
                                        <p:cTn id="16" dur="2600" fill="hold"/>
                                        <p:tgtEl>
                                          <p:spTgt spid="16"/>
                                        </p:tgtEl>
                                        <p:attrNameLst>
                                          <p:attrName>ppt_x</p:attrName>
                                          <p:attrName>ppt_y</p:attrName>
                                        </p:attrNameLst>
                                      </p:cBhvr>
                                    </p:animMotion>
                                  </p:childTnLst>
                                </p:cTn>
                              </p:par>
                              <p:par>
                                <p:cTn id="17" presetID="0" presetClass="path" presetSubtype="0" fill="hold" nodeType="withEffect">
                                  <p:stCondLst>
                                    <p:cond delay="900"/>
                                  </p:stCondLst>
                                  <p:childTnLst>
                                    <p:animMotion origin="layout" path="M 0 0 L 0.57001 0 E" pathEditMode="relative" ptsTypes="">
                                      <p:cBhvr>
                                        <p:cTn id="18" dur="2600" fill="hold"/>
                                        <p:tgtEl>
                                          <p:spTgt spid="17"/>
                                        </p:tgtEl>
                                        <p:attrNameLst>
                                          <p:attrName>ppt_x</p:attrName>
                                          <p:attrName>ppt_y</p:attrName>
                                        </p:attrNameLst>
                                      </p:cBhvr>
                                    </p:animMotion>
                                  </p:childTnLst>
                                </p:cTn>
                              </p:par>
                              <p:par>
                                <p:cTn id="19" presetID="0" presetClass="path" presetSubtype="0" fill="hold" nodeType="withEffect">
                                  <p:stCondLst>
                                    <p:cond delay="900"/>
                                  </p:stCondLst>
                                  <p:childTnLst>
                                    <p:animMotion origin="layout" path="M 0 0 L 0.57001 0 E" pathEditMode="relative" ptsTypes="">
                                      <p:cBhvr>
                                        <p:cTn id="20" dur="2600" fill="hold"/>
                                        <p:tgtEl>
                                          <p:spTgt spid="18"/>
                                        </p:tgtEl>
                                        <p:attrNameLst>
                                          <p:attrName>ppt_x</p:attrName>
                                          <p:attrName>ppt_y</p:attrName>
                                        </p:attrNameLst>
                                      </p:cBhvr>
                                    </p:animMotion>
                                  </p:childTnLst>
                                </p:cTn>
                              </p:par>
                              <p:par>
                                <p:cTn id="21" presetID="0" presetClass="path" presetSubtype="0" fill="hold" nodeType="withEffect">
                                  <p:stCondLst>
                                    <p:cond delay="900"/>
                                  </p:stCondLst>
                                  <p:childTnLst>
                                    <p:animMotion origin="layout" path="M 0 0 L 0.57001 0 E" pathEditMode="relative" ptsTypes="">
                                      <p:cBhvr>
                                        <p:cTn id="22" dur="2600" fill="hold"/>
                                        <p:tgtEl>
                                          <p:spTgt spid="19"/>
                                        </p:tgtEl>
                                        <p:attrNameLst>
                                          <p:attrName>ppt_x</p:attrName>
                                          <p:attrName>ppt_y</p:attrName>
                                        </p:attrNameLst>
                                      </p:cBhvr>
                                    </p:animMotion>
                                  </p:childTnLst>
                                </p:cTn>
                              </p:par>
                              <p:par>
                                <p:cTn id="23" presetID="0" presetClass="path" presetSubtype="0" fill="hold" nodeType="withEffect">
                                  <p:stCondLst>
                                    <p:cond delay="900"/>
                                  </p:stCondLst>
                                  <p:childTnLst>
                                    <p:animMotion origin="layout" path="M 0 0 L 0.57001 0 E" pathEditMode="relative" ptsTypes="">
                                      <p:cBhvr>
                                        <p:cTn id="24" dur="2600" fill="hold"/>
                                        <p:tgtEl>
                                          <p:spTgt spid="20"/>
                                        </p:tgtEl>
                                        <p:attrNameLst>
                                          <p:attrName>ppt_x</p:attrName>
                                          <p:attrName>ppt_y</p:attrName>
                                        </p:attrNameLst>
                                      </p:cBhvr>
                                    </p:animMotion>
                                  </p:childTnLst>
                                </p:cTn>
                              </p:par>
                              <p:par>
                                <p:cTn id="25" presetID="1" presetClass="exit" presetSubtype="0" fill="hold" nodeType="withEffect">
                                  <p:stCondLst>
                                    <p:cond delay="1027"/>
                                  </p:stCondLst>
                                  <p:childTnLst>
                                    <p:set>
                                      <p:cBhvr>
                                        <p:cTn id="26" dur="1" fill="hold">
                                          <p:stCondLst>
                                            <p:cond delay="0"/>
                                          </p:stCondLst>
                                        </p:cTn>
                                        <p:tgtEl>
                                          <p:spTgt spid="21"/>
                                        </p:tgtEl>
                                        <p:attrNameLst>
                                          <p:attrName>style.visibility</p:attrName>
                                        </p:attrNameLst>
                                      </p:cBhvr>
                                      <p:to>
                                        <p:strVal val="hidden"/>
                                      </p:to>
                                    </p:set>
                                  </p:childTnLst>
                                </p:cTn>
                              </p:par>
                              <p:par>
                                <p:cTn id="27" presetID="1" presetClass="exit" presetSubtype="0" fill="hold" nodeType="withEffect">
                                  <p:stCondLst>
                                    <p:cond delay="1163"/>
                                  </p:stCondLst>
                                  <p:childTnLst>
                                    <p:set>
                                      <p:cBhvr>
                                        <p:cTn id="28" dur="1" fill="hold">
                                          <p:stCondLst>
                                            <p:cond delay="0"/>
                                          </p:stCondLst>
                                        </p:cTn>
                                        <p:tgtEl>
                                          <p:spTgt spid="22"/>
                                        </p:tgtEl>
                                        <p:attrNameLst>
                                          <p:attrName>style.visibility</p:attrName>
                                        </p:attrNameLst>
                                      </p:cBhvr>
                                      <p:to>
                                        <p:strVal val="hidden"/>
                                      </p:to>
                                    </p:set>
                                  </p:childTnLst>
                                </p:cTn>
                              </p:par>
                              <p:par>
                                <p:cTn id="29" presetID="1" presetClass="exit" presetSubtype="0" fill="hold" nodeType="withEffect">
                                  <p:stCondLst>
                                    <p:cond delay="130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1437"/>
                                  </p:stCondLst>
                                  <p:childTnLst>
                                    <p:set>
                                      <p:cBhvr>
                                        <p:cTn id="32" dur="1" fill="hold">
                                          <p:stCondLst>
                                            <p:cond delay="0"/>
                                          </p:stCondLst>
                                        </p:cTn>
                                        <p:tgtEl>
                                          <p:spTgt spid="24"/>
                                        </p:tgtEl>
                                        <p:attrNameLst>
                                          <p:attrName>style.visibility</p:attrName>
                                        </p:attrNameLst>
                                      </p:cBhvr>
                                      <p:to>
                                        <p:strVal val="hidden"/>
                                      </p:to>
                                    </p:set>
                                  </p:childTnLst>
                                </p:cTn>
                              </p:par>
                              <p:par>
                                <p:cTn id="33" presetID="1" presetClass="exit" presetSubtype="0" fill="hold" nodeType="withEffect">
                                  <p:stCondLst>
                                    <p:cond delay="1574"/>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1711"/>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1848"/>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1984"/>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nodeType="withEffect">
                                  <p:stCondLst>
                                    <p:cond delay="2121"/>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nodeType="withEffect">
                                  <p:stCondLst>
                                    <p:cond delay="2258"/>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nodeType="withEffect">
                                  <p:stCondLst>
                                    <p:cond delay="2395"/>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xit" presetSubtype="0" fill="hold" nodeType="withEffect">
                                  <p:stCondLst>
                                    <p:cond delay="2532"/>
                                  </p:stCondLst>
                                  <p:childTnLst>
                                    <p:set>
                                      <p:cBhvr>
                                        <p:cTn id="48" dur="1" fill="hold">
                                          <p:stCondLst>
                                            <p:cond delay="0"/>
                                          </p:stCondLst>
                                        </p:cTn>
                                        <p:tgtEl>
                                          <p:spTgt spid="32"/>
                                        </p:tgtEl>
                                        <p:attrNameLst>
                                          <p:attrName>style.visibility</p:attrName>
                                        </p:attrNameLst>
                                      </p:cBhvr>
                                      <p:to>
                                        <p:strVal val="hidden"/>
                                      </p:to>
                                    </p:set>
                                  </p:childTnLst>
                                </p:cTn>
                              </p:par>
                              <p:par>
                                <p:cTn id="49" presetID="1" presetClass="exit" presetSubtype="0" fill="hold" nodeType="withEffect">
                                  <p:stCondLst>
                                    <p:cond delay="2669"/>
                                  </p:stCondLst>
                                  <p:childTnLst>
                                    <p:set>
                                      <p:cBhvr>
                                        <p:cTn id="50" dur="1" fill="hold">
                                          <p:stCondLst>
                                            <p:cond delay="0"/>
                                          </p:stCondLst>
                                        </p:cTn>
                                        <p:tgtEl>
                                          <p:spTgt spid="33"/>
                                        </p:tgtEl>
                                        <p:attrNameLst>
                                          <p:attrName>style.visibility</p:attrName>
                                        </p:attrNameLst>
                                      </p:cBhvr>
                                      <p:to>
                                        <p:strVal val="hidden"/>
                                      </p:to>
                                    </p:set>
                                  </p:childTnLst>
                                </p:cTn>
                              </p:par>
                              <p:par>
                                <p:cTn id="51" presetID="1" presetClass="exit" presetSubtype="0" fill="hold" nodeType="withEffect">
                                  <p:stCondLst>
                                    <p:cond delay="2806"/>
                                  </p:stCondLst>
                                  <p:childTnLst>
                                    <p:set>
                                      <p:cBhvr>
                                        <p:cTn id="52" dur="1" fill="hold">
                                          <p:stCondLst>
                                            <p:cond delay="0"/>
                                          </p:stCondLst>
                                        </p:cTn>
                                        <p:tgtEl>
                                          <p:spTgt spid="34"/>
                                        </p:tgtEl>
                                        <p:attrNameLst>
                                          <p:attrName>style.visibility</p:attrName>
                                        </p:attrNameLst>
                                      </p:cBhvr>
                                      <p:to>
                                        <p:strVal val="hidden"/>
                                      </p:to>
                                    </p:set>
                                  </p:childTnLst>
                                </p:cTn>
                              </p:par>
                              <p:par>
                                <p:cTn id="53" presetID="1" presetClass="exit" presetSubtype="0" fill="hold" nodeType="withEffect">
                                  <p:stCondLst>
                                    <p:cond delay="2942"/>
                                  </p:stCondLst>
                                  <p:childTnLst>
                                    <p:set>
                                      <p:cBhvr>
                                        <p:cTn id="54" dur="1" fill="hold">
                                          <p:stCondLst>
                                            <p:cond delay="0"/>
                                          </p:stCondLst>
                                        </p:cTn>
                                        <p:tgtEl>
                                          <p:spTgt spid="35"/>
                                        </p:tgtEl>
                                        <p:attrNameLst>
                                          <p:attrName>style.visibility</p:attrName>
                                        </p:attrNameLst>
                                      </p:cBhvr>
                                      <p:to>
                                        <p:strVal val="hidden"/>
                                      </p:to>
                                    </p:set>
                                  </p:childTnLst>
                                </p:cTn>
                              </p:par>
                              <p:par>
                                <p:cTn id="55" presetID="1" presetClass="exit" presetSubtype="0" fill="hold" nodeType="withEffect">
                                  <p:stCondLst>
                                    <p:cond delay="3079"/>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nodeType="withEffect">
                                  <p:stCondLst>
                                    <p:cond delay="3216"/>
                                  </p:stCondLst>
                                  <p:childTnLst>
                                    <p:set>
                                      <p:cBhvr>
                                        <p:cTn id="5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LEVEL 5 → MARKET POWER INDEX"/>
          <p:cNvPicPr>
            <a:picLocks noChangeAspect="1"/>
          </p:cNvPicPr>
          <p:nvPr/>
        </p:nvPicPr>
        <p:blipFill>
          <a:blip r:embed="rId3"/>
          <a:stretch>
            <a:fillRect/>
          </a:stretch>
        </p:blipFill>
        <p:spPr>
          <a:xfrm>
            <a:off x="548640" y="411480"/>
            <a:ext cx="4096512" cy="146304"/>
          </a:xfrm>
          <a:prstGeom prst="rect">
            <a:avLst/>
          </a:prstGeom>
        </p:spPr>
      </p:pic>
      <p:pic>
        <p:nvPicPr>
          <p:cNvPr id="3" name="o2" descr="La qualité reclasse les éditeurs"/>
          <p:cNvPicPr>
            <a:picLocks noChangeAspect="1"/>
          </p:cNvPicPr>
          <p:nvPr/>
        </p:nvPicPr>
        <p:blipFill>
          <a:blip r:embed="rId4"/>
          <a:stretch>
            <a:fillRect/>
          </a:stretch>
        </p:blipFill>
        <p:spPr>
          <a:xfrm>
            <a:off x="548640" y="777240"/>
            <a:ext cx="8778240" cy="274320"/>
          </a:xfrm>
          <a:prstGeom prst="rect">
            <a:avLst/>
          </a:prstGeom>
        </p:spPr>
      </p:pic>
      <p:pic>
        <p:nvPicPr>
          <p:cNvPr id="4" name="o3" descr="image-14-1.png"/>
          <p:cNvPicPr>
            <a:picLocks noChangeAspect="1"/>
          </p:cNvPicPr>
          <p:nvPr/>
        </p:nvPicPr>
        <p:blipFill>
          <a:blip r:embed="rId5"/>
          <a:stretch>
            <a:fillRect/>
          </a:stretch>
        </p:blipFill>
        <p:spPr>
          <a:xfrm>
            <a:off x="11073384" y="365760"/>
            <a:ext cx="566928" cy="566928"/>
          </a:xfrm>
          <a:prstGeom prst="rect">
            <a:avLst/>
          </a:prstGeom>
        </p:spPr>
      </p:pic>
      <p:pic>
        <p:nvPicPr>
          <p:cNvPr id="5" name="o4" descr="RANG"/>
          <p:cNvPicPr>
            <a:picLocks noChangeAspect="1"/>
          </p:cNvPicPr>
          <p:nvPr/>
        </p:nvPicPr>
        <p:blipFill>
          <a:blip r:embed="rId6"/>
          <a:stretch>
            <a:fillRect/>
          </a:stretch>
        </p:blipFill>
        <p:spPr>
          <a:xfrm>
            <a:off x="548640" y="1572768"/>
            <a:ext cx="475488" cy="118872"/>
          </a:xfrm>
          <a:prstGeom prst="rect">
            <a:avLst/>
          </a:prstGeom>
        </p:spPr>
      </p:pic>
      <p:pic>
        <p:nvPicPr>
          <p:cNvPr id="6" name="o5" descr="AVANT"/>
          <p:cNvPicPr>
            <a:picLocks noChangeAspect="1"/>
          </p:cNvPicPr>
          <p:nvPr/>
        </p:nvPicPr>
        <p:blipFill>
          <a:blip r:embed="rId7"/>
          <a:stretch>
            <a:fillRect/>
          </a:stretch>
        </p:blipFill>
        <p:spPr>
          <a:xfrm>
            <a:off x="4983480" y="1572768"/>
            <a:ext cx="594360" cy="118872"/>
          </a:xfrm>
          <a:prstGeom prst="rect">
            <a:avLst/>
          </a:prstGeom>
        </p:spPr>
      </p:pic>
      <p:pic>
        <p:nvPicPr>
          <p:cNvPr id="7" name="o6" descr="QUALITE"/>
          <p:cNvPicPr>
            <a:picLocks noChangeAspect="1"/>
          </p:cNvPicPr>
          <p:nvPr/>
        </p:nvPicPr>
        <p:blipFill>
          <a:blip r:embed="rId8"/>
          <a:stretch>
            <a:fillRect/>
          </a:stretch>
        </p:blipFill>
        <p:spPr>
          <a:xfrm>
            <a:off x="6263640" y="1572768"/>
            <a:ext cx="832104" cy="118872"/>
          </a:xfrm>
          <a:prstGeom prst="rect">
            <a:avLst/>
          </a:prstGeom>
        </p:spPr>
      </p:pic>
      <p:pic>
        <p:nvPicPr>
          <p:cNvPr id="8" name="o7" descr=" 1"/>
          <p:cNvPicPr>
            <a:picLocks noChangeAspect="1"/>
          </p:cNvPicPr>
          <p:nvPr/>
        </p:nvPicPr>
        <p:blipFill>
          <a:blip r:embed="rId9"/>
          <a:stretch>
            <a:fillRect/>
          </a:stretch>
        </p:blipFill>
        <p:spPr>
          <a:xfrm>
            <a:off x="548640" y="1920239"/>
            <a:ext cx="365760" cy="182880"/>
          </a:xfrm>
          <a:prstGeom prst="rect">
            <a:avLst/>
          </a:prstGeom>
        </p:spPr>
      </p:pic>
      <p:sp>
        <p:nvSpPr>
          <p:cNvPr id="9" name="o8"/>
          <p:cNvSpPr txBox="1"/>
          <p:nvPr/>
        </p:nvSpPr>
        <p:spPr>
          <a:xfrm>
            <a:off x="1097280" y="1874519"/>
            <a:ext cx="3017520" cy="292608"/>
          </a:xfrm>
          <a:prstGeom prst="rect">
            <a:avLst/>
          </a:prstGeom>
          <a:noFill/>
        </p:spPr>
        <p:txBody>
          <a:bodyPr wrap="square" lIns="0" rIns="0" tIns="0" bIns="0" anchor="t">
            <a:spAutoFit/>
          </a:bodyPr>
          <a:lstStyle/>
          <a:p>
            <a:pPr algn="l"/>
            <a:r>
              <a:rPr sz="1500" b="1" i="0">
                <a:solidFill>
                  <a:srgbClr val="FFE600"/>
                </a:solidFill>
                <a:latin typeface="Arial"/>
              </a:rPr>
              <a:t>Nintendo</a:t>
            </a:r>
          </a:p>
        </p:txBody>
      </p:sp>
      <p:pic>
        <p:nvPicPr>
          <p:cNvPr id="10" name="o9" descr="="/>
          <p:cNvPicPr>
            <a:picLocks noChangeAspect="1"/>
          </p:cNvPicPr>
          <p:nvPr/>
        </p:nvPicPr>
        <p:blipFill>
          <a:blip r:embed="rId10"/>
          <a:stretch>
            <a:fillRect/>
          </a:stretch>
        </p:blipFill>
        <p:spPr>
          <a:xfrm>
            <a:off x="4114800" y="1929384"/>
            <a:ext cx="164592" cy="164592"/>
          </a:xfrm>
          <a:prstGeom prst="rect">
            <a:avLst/>
          </a:prstGeom>
        </p:spPr>
      </p:pic>
      <p:sp>
        <p:nvSpPr>
          <p:cNvPr id="11" name="o10"/>
          <p:cNvSpPr txBox="1"/>
          <p:nvPr/>
        </p:nvSpPr>
        <p:spPr>
          <a:xfrm>
            <a:off x="4983480" y="1874519"/>
            <a:ext cx="731520" cy="292608"/>
          </a:xfrm>
          <a:prstGeom prst="rect">
            <a:avLst/>
          </a:prstGeom>
          <a:noFill/>
        </p:spPr>
        <p:txBody>
          <a:bodyPr wrap="square" lIns="0" rIns="0" tIns="0" bIns="0" anchor="t">
            <a:spAutoFit/>
          </a:bodyPr>
          <a:lstStyle/>
          <a:p>
            <a:pPr algn="l"/>
            <a:r>
              <a:rPr sz="1400" b="0" i="0">
                <a:solidFill>
                  <a:srgbClr val="7C7CAA"/>
                </a:solidFill>
                <a:latin typeface="Arial"/>
              </a:rPr>
              <a:t>1e</a:t>
            </a:r>
          </a:p>
        </p:txBody>
      </p:sp>
      <p:sp>
        <p:nvSpPr>
          <p:cNvPr id="12" name="o11"/>
          <p:cNvSpPr txBox="1"/>
          <p:nvPr/>
        </p:nvSpPr>
        <p:spPr>
          <a:xfrm>
            <a:off x="6263640" y="1874519"/>
            <a:ext cx="822960" cy="292608"/>
          </a:xfrm>
          <a:prstGeom prst="rect">
            <a:avLst/>
          </a:prstGeom>
          <a:noFill/>
        </p:spPr>
        <p:txBody>
          <a:bodyPr wrap="square" lIns="0" rIns="0" tIns="0" bIns="0" anchor="t">
            <a:spAutoFit/>
          </a:bodyPr>
          <a:lstStyle/>
          <a:p>
            <a:pPr algn="l"/>
            <a:r>
              <a:rPr sz="1400" b="0" i="0">
                <a:solidFill>
                  <a:srgbClr val="C4C4E4"/>
                </a:solidFill>
                <a:latin typeface="Arial"/>
              </a:rPr>
              <a:t>79,9</a:t>
            </a:r>
          </a:p>
        </p:txBody>
      </p:sp>
      <p:pic>
        <p:nvPicPr>
          <p:cNvPr id="13" name="o12" descr=" 2"/>
          <p:cNvPicPr>
            <a:picLocks noChangeAspect="1"/>
          </p:cNvPicPr>
          <p:nvPr/>
        </p:nvPicPr>
        <p:blipFill>
          <a:blip r:embed="rId11"/>
          <a:stretch>
            <a:fillRect/>
          </a:stretch>
        </p:blipFill>
        <p:spPr>
          <a:xfrm>
            <a:off x="548640" y="2304287"/>
            <a:ext cx="365760" cy="182880"/>
          </a:xfrm>
          <a:prstGeom prst="rect">
            <a:avLst/>
          </a:prstGeom>
        </p:spPr>
      </p:pic>
      <p:sp>
        <p:nvSpPr>
          <p:cNvPr id="14" name="o13"/>
          <p:cNvSpPr txBox="1"/>
          <p:nvPr/>
        </p:nvSpPr>
        <p:spPr>
          <a:xfrm>
            <a:off x="1097280" y="2258568"/>
            <a:ext cx="3017520" cy="292608"/>
          </a:xfrm>
          <a:prstGeom prst="rect">
            <a:avLst/>
          </a:prstGeom>
          <a:noFill/>
        </p:spPr>
        <p:txBody>
          <a:bodyPr wrap="square" lIns="0" rIns="0" tIns="0" bIns="0" anchor="t">
            <a:spAutoFit/>
          </a:bodyPr>
          <a:lstStyle/>
          <a:p>
            <a:pPr algn="l"/>
            <a:r>
              <a:rPr sz="1500" b="1" i="0">
                <a:solidFill>
                  <a:srgbClr val="FFE600"/>
                </a:solidFill>
                <a:latin typeface="Arial"/>
              </a:rPr>
              <a:t>Electronic Arts</a:t>
            </a:r>
          </a:p>
        </p:txBody>
      </p:sp>
      <p:pic>
        <p:nvPicPr>
          <p:cNvPr id="15" name="o14" descr="="/>
          <p:cNvPicPr>
            <a:picLocks noChangeAspect="1"/>
          </p:cNvPicPr>
          <p:nvPr/>
        </p:nvPicPr>
        <p:blipFill>
          <a:blip r:embed="rId10"/>
          <a:stretch>
            <a:fillRect/>
          </a:stretch>
        </p:blipFill>
        <p:spPr>
          <a:xfrm>
            <a:off x="4114800" y="2313432"/>
            <a:ext cx="164592" cy="164592"/>
          </a:xfrm>
          <a:prstGeom prst="rect">
            <a:avLst/>
          </a:prstGeom>
        </p:spPr>
      </p:pic>
      <p:sp>
        <p:nvSpPr>
          <p:cNvPr id="16" name="o15"/>
          <p:cNvSpPr txBox="1"/>
          <p:nvPr/>
        </p:nvSpPr>
        <p:spPr>
          <a:xfrm>
            <a:off x="4983480" y="2258568"/>
            <a:ext cx="731520" cy="292608"/>
          </a:xfrm>
          <a:prstGeom prst="rect">
            <a:avLst/>
          </a:prstGeom>
          <a:noFill/>
        </p:spPr>
        <p:txBody>
          <a:bodyPr wrap="square" lIns="0" rIns="0" tIns="0" bIns="0" anchor="t">
            <a:spAutoFit/>
          </a:bodyPr>
          <a:lstStyle/>
          <a:p>
            <a:pPr algn="l"/>
            <a:r>
              <a:rPr sz="1400" b="0" i="0">
                <a:solidFill>
                  <a:srgbClr val="7C7CAA"/>
                </a:solidFill>
                <a:latin typeface="Arial"/>
              </a:rPr>
              <a:t>2e</a:t>
            </a:r>
          </a:p>
        </p:txBody>
      </p:sp>
      <p:sp>
        <p:nvSpPr>
          <p:cNvPr id="17" name="o16"/>
          <p:cNvSpPr txBox="1"/>
          <p:nvPr/>
        </p:nvSpPr>
        <p:spPr>
          <a:xfrm>
            <a:off x="6263640" y="2258568"/>
            <a:ext cx="822960" cy="292608"/>
          </a:xfrm>
          <a:prstGeom prst="rect">
            <a:avLst/>
          </a:prstGeom>
          <a:noFill/>
        </p:spPr>
        <p:txBody>
          <a:bodyPr wrap="square" lIns="0" rIns="0" tIns="0" bIns="0" anchor="t">
            <a:spAutoFit/>
          </a:bodyPr>
          <a:lstStyle/>
          <a:p>
            <a:pPr algn="l"/>
            <a:r>
              <a:rPr sz="1400" b="0" i="0">
                <a:solidFill>
                  <a:srgbClr val="C4C4E4"/>
                </a:solidFill>
                <a:latin typeface="Arial"/>
              </a:rPr>
              <a:t>79,2</a:t>
            </a:r>
          </a:p>
        </p:txBody>
      </p:sp>
      <p:pic>
        <p:nvPicPr>
          <p:cNvPr id="18" name="o17" descr=" 3"/>
          <p:cNvPicPr>
            <a:picLocks noChangeAspect="1"/>
          </p:cNvPicPr>
          <p:nvPr/>
        </p:nvPicPr>
        <p:blipFill>
          <a:blip r:embed="rId12"/>
          <a:stretch>
            <a:fillRect/>
          </a:stretch>
        </p:blipFill>
        <p:spPr>
          <a:xfrm>
            <a:off x="548640" y="2688335"/>
            <a:ext cx="365760" cy="182880"/>
          </a:xfrm>
          <a:prstGeom prst="rect">
            <a:avLst/>
          </a:prstGeom>
        </p:spPr>
      </p:pic>
      <p:sp>
        <p:nvSpPr>
          <p:cNvPr id="19" name="o18"/>
          <p:cNvSpPr txBox="1"/>
          <p:nvPr/>
        </p:nvSpPr>
        <p:spPr>
          <a:xfrm>
            <a:off x="1097280" y="2642615"/>
            <a:ext cx="3017520" cy="292608"/>
          </a:xfrm>
          <a:prstGeom prst="rect">
            <a:avLst/>
          </a:prstGeom>
          <a:noFill/>
        </p:spPr>
        <p:txBody>
          <a:bodyPr wrap="square" lIns="0" rIns="0" tIns="0" bIns="0" anchor="t">
            <a:spAutoFit/>
          </a:bodyPr>
          <a:lstStyle/>
          <a:p>
            <a:pPr algn="l"/>
            <a:r>
              <a:rPr sz="1500" b="1" i="0">
                <a:solidFill>
                  <a:srgbClr val="FFE600"/>
                </a:solidFill>
                <a:latin typeface="Arial"/>
              </a:rPr>
              <a:t>Sony</a:t>
            </a:r>
          </a:p>
        </p:txBody>
      </p:sp>
      <p:pic>
        <p:nvPicPr>
          <p:cNvPr id="20" name="o19" descr="="/>
          <p:cNvPicPr>
            <a:picLocks noChangeAspect="1"/>
          </p:cNvPicPr>
          <p:nvPr/>
        </p:nvPicPr>
        <p:blipFill>
          <a:blip r:embed="rId10"/>
          <a:stretch>
            <a:fillRect/>
          </a:stretch>
        </p:blipFill>
        <p:spPr>
          <a:xfrm>
            <a:off x="4114800" y="2697479"/>
            <a:ext cx="164592" cy="164592"/>
          </a:xfrm>
          <a:prstGeom prst="rect">
            <a:avLst/>
          </a:prstGeom>
        </p:spPr>
      </p:pic>
      <p:sp>
        <p:nvSpPr>
          <p:cNvPr id="21" name="o20"/>
          <p:cNvSpPr txBox="1"/>
          <p:nvPr/>
        </p:nvSpPr>
        <p:spPr>
          <a:xfrm>
            <a:off x="4983480" y="2642615"/>
            <a:ext cx="731520" cy="292608"/>
          </a:xfrm>
          <a:prstGeom prst="rect">
            <a:avLst/>
          </a:prstGeom>
          <a:noFill/>
        </p:spPr>
        <p:txBody>
          <a:bodyPr wrap="square" lIns="0" rIns="0" tIns="0" bIns="0" anchor="t">
            <a:spAutoFit/>
          </a:bodyPr>
          <a:lstStyle/>
          <a:p>
            <a:pPr algn="l"/>
            <a:r>
              <a:rPr sz="1400" b="0" i="0">
                <a:solidFill>
                  <a:srgbClr val="7C7CAA"/>
                </a:solidFill>
                <a:latin typeface="Arial"/>
              </a:rPr>
              <a:t>3e</a:t>
            </a:r>
          </a:p>
        </p:txBody>
      </p:sp>
      <p:sp>
        <p:nvSpPr>
          <p:cNvPr id="22" name="o21"/>
          <p:cNvSpPr txBox="1"/>
          <p:nvPr/>
        </p:nvSpPr>
        <p:spPr>
          <a:xfrm>
            <a:off x="6263640" y="2642615"/>
            <a:ext cx="822960" cy="292608"/>
          </a:xfrm>
          <a:prstGeom prst="rect">
            <a:avLst/>
          </a:prstGeom>
          <a:noFill/>
        </p:spPr>
        <p:txBody>
          <a:bodyPr wrap="square" lIns="0" rIns="0" tIns="0" bIns="0" anchor="t">
            <a:spAutoFit/>
          </a:bodyPr>
          <a:lstStyle/>
          <a:p>
            <a:pPr algn="l"/>
            <a:r>
              <a:rPr sz="1400" b="0" i="0">
                <a:solidFill>
                  <a:srgbClr val="C4C4E4"/>
                </a:solidFill>
                <a:latin typeface="Arial"/>
              </a:rPr>
              <a:t>83,5</a:t>
            </a:r>
          </a:p>
        </p:txBody>
      </p:sp>
      <p:pic>
        <p:nvPicPr>
          <p:cNvPr id="23" name="o22" descr=" 4"/>
          <p:cNvPicPr>
            <a:picLocks noChangeAspect="1"/>
          </p:cNvPicPr>
          <p:nvPr/>
        </p:nvPicPr>
        <p:blipFill>
          <a:blip r:embed="rId13"/>
          <a:stretch>
            <a:fillRect/>
          </a:stretch>
        </p:blipFill>
        <p:spPr>
          <a:xfrm>
            <a:off x="548640" y="3072383"/>
            <a:ext cx="365760" cy="182880"/>
          </a:xfrm>
          <a:prstGeom prst="rect">
            <a:avLst/>
          </a:prstGeom>
        </p:spPr>
      </p:pic>
      <p:sp>
        <p:nvSpPr>
          <p:cNvPr id="24" name="o23"/>
          <p:cNvSpPr txBox="1"/>
          <p:nvPr/>
        </p:nvSpPr>
        <p:spPr>
          <a:xfrm>
            <a:off x="1097280" y="3026663"/>
            <a:ext cx="3017520" cy="292608"/>
          </a:xfrm>
          <a:prstGeom prst="rect">
            <a:avLst/>
          </a:prstGeom>
          <a:noFill/>
        </p:spPr>
        <p:txBody>
          <a:bodyPr wrap="square" lIns="0" rIns="0" tIns="0" bIns="0" anchor="t">
            <a:spAutoFit/>
          </a:bodyPr>
          <a:lstStyle/>
          <a:p>
            <a:pPr algn="l"/>
            <a:r>
              <a:rPr sz="1500" b="0" i="0">
                <a:solidFill>
                  <a:srgbClr val="FFFFFF"/>
                </a:solidFill>
                <a:latin typeface="Arial"/>
              </a:rPr>
              <a:t>Activision</a:t>
            </a:r>
          </a:p>
        </p:txBody>
      </p:sp>
      <p:pic>
        <p:nvPicPr>
          <p:cNvPr id="25" name="o24" descr="="/>
          <p:cNvPicPr>
            <a:picLocks noChangeAspect="1"/>
          </p:cNvPicPr>
          <p:nvPr/>
        </p:nvPicPr>
        <p:blipFill>
          <a:blip r:embed="rId10"/>
          <a:stretch>
            <a:fillRect/>
          </a:stretch>
        </p:blipFill>
        <p:spPr>
          <a:xfrm>
            <a:off x="4114800" y="3081527"/>
            <a:ext cx="164592" cy="164592"/>
          </a:xfrm>
          <a:prstGeom prst="rect">
            <a:avLst/>
          </a:prstGeom>
        </p:spPr>
      </p:pic>
      <p:sp>
        <p:nvSpPr>
          <p:cNvPr id="26" name="o25"/>
          <p:cNvSpPr txBox="1"/>
          <p:nvPr/>
        </p:nvSpPr>
        <p:spPr>
          <a:xfrm>
            <a:off x="4983480" y="3026663"/>
            <a:ext cx="731520" cy="292608"/>
          </a:xfrm>
          <a:prstGeom prst="rect">
            <a:avLst/>
          </a:prstGeom>
          <a:noFill/>
        </p:spPr>
        <p:txBody>
          <a:bodyPr wrap="square" lIns="0" rIns="0" tIns="0" bIns="0" anchor="t">
            <a:spAutoFit/>
          </a:bodyPr>
          <a:lstStyle/>
          <a:p>
            <a:pPr algn="l"/>
            <a:r>
              <a:rPr sz="1400" b="0" i="0">
                <a:solidFill>
                  <a:srgbClr val="7C7CAA"/>
                </a:solidFill>
                <a:latin typeface="Arial"/>
              </a:rPr>
              <a:t>4e</a:t>
            </a:r>
          </a:p>
        </p:txBody>
      </p:sp>
      <p:sp>
        <p:nvSpPr>
          <p:cNvPr id="27" name="o26"/>
          <p:cNvSpPr txBox="1"/>
          <p:nvPr/>
        </p:nvSpPr>
        <p:spPr>
          <a:xfrm>
            <a:off x="6263640" y="3026663"/>
            <a:ext cx="822960" cy="292608"/>
          </a:xfrm>
          <a:prstGeom prst="rect">
            <a:avLst/>
          </a:prstGeom>
          <a:noFill/>
        </p:spPr>
        <p:txBody>
          <a:bodyPr wrap="square" lIns="0" rIns="0" tIns="0" bIns="0" anchor="t">
            <a:spAutoFit/>
          </a:bodyPr>
          <a:lstStyle/>
          <a:p>
            <a:pPr algn="l"/>
            <a:r>
              <a:rPr sz="1400" b="0" i="0">
                <a:solidFill>
                  <a:srgbClr val="C4C4E4"/>
                </a:solidFill>
                <a:latin typeface="Arial"/>
              </a:rPr>
              <a:t>79,9</a:t>
            </a:r>
          </a:p>
        </p:txBody>
      </p:sp>
      <p:pic>
        <p:nvPicPr>
          <p:cNvPr id="28" name="o27" descr=" 5"/>
          <p:cNvPicPr>
            <a:picLocks noChangeAspect="1"/>
          </p:cNvPicPr>
          <p:nvPr/>
        </p:nvPicPr>
        <p:blipFill>
          <a:blip r:embed="rId14"/>
          <a:stretch>
            <a:fillRect/>
          </a:stretch>
        </p:blipFill>
        <p:spPr>
          <a:xfrm>
            <a:off x="548640" y="3456431"/>
            <a:ext cx="365760" cy="182880"/>
          </a:xfrm>
          <a:prstGeom prst="rect">
            <a:avLst/>
          </a:prstGeom>
        </p:spPr>
      </p:pic>
      <p:sp>
        <p:nvSpPr>
          <p:cNvPr id="29" name="o28"/>
          <p:cNvSpPr txBox="1"/>
          <p:nvPr/>
        </p:nvSpPr>
        <p:spPr>
          <a:xfrm>
            <a:off x="1097280" y="3410711"/>
            <a:ext cx="3017520" cy="292608"/>
          </a:xfrm>
          <a:prstGeom prst="rect">
            <a:avLst/>
          </a:prstGeom>
          <a:noFill/>
        </p:spPr>
        <p:txBody>
          <a:bodyPr wrap="square" lIns="0" rIns="0" tIns="0" bIns="0" anchor="t">
            <a:spAutoFit/>
          </a:bodyPr>
          <a:lstStyle/>
          <a:p>
            <a:pPr algn="l"/>
            <a:r>
              <a:rPr sz="1500" b="0" i="0">
                <a:solidFill>
                  <a:srgbClr val="FFFFFF"/>
                </a:solidFill>
                <a:latin typeface="Arial"/>
              </a:rPr>
              <a:t>Take-Two</a:t>
            </a:r>
          </a:p>
        </p:txBody>
      </p:sp>
      <p:pic>
        <p:nvPicPr>
          <p:cNvPr id="30" name="o29" descr="▲1"/>
          <p:cNvPicPr>
            <a:picLocks noChangeAspect="1"/>
          </p:cNvPicPr>
          <p:nvPr/>
        </p:nvPicPr>
        <p:blipFill>
          <a:blip r:embed="rId15"/>
          <a:stretch>
            <a:fillRect/>
          </a:stretch>
        </p:blipFill>
        <p:spPr>
          <a:xfrm>
            <a:off x="4114800" y="3465575"/>
            <a:ext cx="329184" cy="164592"/>
          </a:xfrm>
          <a:prstGeom prst="rect">
            <a:avLst/>
          </a:prstGeom>
        </p:spPr>
      </p:pic>
      <p:sp>
        <p:nvSpPr>
          <p:cNvPr id="31" name="o30"/>
          <p:cNvSpPr txBox="1"/>
          <p:nvPr/>
        </p:nvSpPr>
        <p:spPr>
          <a:xfrm>
            <a:off x="4983480" y="3410711"/>
            <a:ext cx="731520" cy="292608"/>
          </a:xfrm>
          <a:prstGeom prst="rect">
            <a:avLst/>
          </a:prstGeom>
          <a:noFill/>
        </p:spPr>
        <p:txBody>
          <a:bodyPr wrap="square" lIns="0" rIns="0" tIns="0" bIns="0" anchor="t">
            <a:spAutoFit/>
          </a:bodyPr>
          <a:lstStyle/>
          <a:p>
            <a:pPr algn="l"/>
            <a:r>
              <a:rPr sz="1400" b="0" i="0">
                <a:solidFill>
                  <a:srgbClr val="7C7CAA"/>
                </a:solidFill>
                <a:latin typeface="Arial"/>
              </a:rPr>
              <a:t>6e</a:t>
            </a:r>
          </a:p>
        </p:txBody>
      </p:sp>
      <p:sp>
        <p:nvSpPr>
          <p:cNvPr id="32" name="o31"/>
          <p:cNvSpPr txBox="1"/>
          <p:nvPr/>
        </p:nvSpPr>
        <p:spPr>
          <a:xfrm>
            <a:off x="6263640" y="3410711"/>
            <a:ext cx="822960" cy="292608"/>
          </a:xfrm>
          <a:prstGeom prst="rect">
            <a:avLst/>
          </a:prstGeom>
          <a:noFill/>
        </p:spPr>
        <p:txBody>
          <a:bodyPr wrap="square" lIns="0" rIns="0" tIns="0" bIns="0" anchor="t">
            <a:spAutoFit/>
          </a:bodyPr>
          <a:lstStyle/>
          <a:p>
            <a:pPr algn="l"/>
            <a:r>
              <a:rPr sz="1400" b="0" i="0">
                <a:solidFill>
                  <a:srgbClr val="C4C4E4"/>
                </a:solidFill>
                <a:latin typeface="Arial"/>
              </a:rPr>
              <a:t>86,5</a:t>
            </a:r>
          </a:p>
        </p:txBody>
      </p:sp>
      <p:pic>
        <p:nvPicPr>
          <p:cNvPr id="33" name="o32" descr=" 6"/>
          <p:cNvPicPr>
            <a:picLocks noChangeAspect="1"/>
          </p:cNvPicPr>
          <p:nvPr/>
        </p:nvPicPr>
        <p:blipFill>
          <a:blip r:embed="rId16"/>
          <a:stretch>
            <a:fillRect/>
          </a:stretch>
        </p:blipFill>
        <p:spPr>
          <a:xfrm>
            <a:off x="548640" y="3840480"/>
            <a:ext cx="365760" cy="182880"/>
          </a:xfrm>
          <a:prstGeom prst="rect">
            <a:avLst/>
          </a:prstGeom>
        </p:spPr>
      </p:pic>
      <p:sp>
        <p:nvSpPr>
          <p:cNvPr id="34" name="o33"/>
          <p:cNvSpPr txBox="1"/>
          <p:nvPr/>
        </p:nvSpPr>
        <p:spPr>
          <a:xfrm>
            <a:off x="1097280" y="3794760"/>
            <a:ext cx="3017520" cy="292608"/>
          </a:xfrm>
          <a:prstGeom prst="rect">
            <a:avLst/>
          </a:prstGeom>
          <a:noFill/>
        </p:spPr>
        <p:txBody>
          <a:bodyPr wrap="square" lIns="0" rIns="0" tIns="0" bIns="0" anchor="t">
            <a:spAutoFit/>
          </a:bodyPr>
          <a:lstStyle/>
          <a:p>
            <a:pPr algn="l"/>
            <a:r>
              <a:rPr sz="1500" b="0" i="0">
                <a:solidFill>
                  <a:srgbClr val="FFFFFF"/>
                </a:solidFill>
                <a:latin typeface="Arial"/>
              </a:rPr>
              <a:t>Bethesda</a:t>
            </a:r>
          </a:p>
        </p:txBody>
      </p:sp>
      <p:pic>
        <p:nvPicPr>
          <p:cNvPr id="35" name="o34" descr="▲3"/>
          <p:cNvPicPr>
            <a:picLocks noChangeAspect="1"/>
          </p:cNvPicPr>
          <p:nvPr/>
        </p:nvPicPr>
        <p:blipFill>
          <a:blip r:embed="rId17"/>
          <a:stretch>
            <a:fillRect/>
          </a:stretch>
        </p:blipFill>
        <p:spPr>
          <a:xfrm>
            <a:off x="4114800" y="3849624"/>
            <a:ext cx="329184" cy="164592"/>
          </a:xfrm>
          <a:prstGeom prst="rect">
            <a:avLst/>
          </a:prstGeom>
        </p:spPr>
      </p:pic>
      <p:sp>
        <p:nvSpPr>
          <p:cNvPr id="36" name="o35"/>
          <p:cNvSpPr txBox="1"/>
          <p:nvPr/>
        </p:nvSpPr>
        <p:spPr>
          <a:xfrm>
            <a:off x="4983480" y="3794760"/>
            <a:ext cx="731520" cy="292608"/>
          </a:xfrm>
          <a:prstGeom prst="rect">
            <a:avLst/>
          </a:prstGeom>
          <a:noFill/>
        </p:spPr>
        <p:txBody>
          <a:bodyPr wrap="square" lIns="0" rIns="0" tIns="0" bIns="0" anchor="t">
            <a:spAutoFit/>
          </a:bodyPr>
          <a:lstStyle/>
          <a:p>
            <a:pPr algn="l"/>
            <a:r>
              <a:rPr sz="1400" b="0" i="0">
                <a:solidFill>
                  <a:srgbClr val="7C7CAA"/>
                </a:solidFill>
                <a:latin typeface="Arial"/>
              </a:rPr>
              <a:t>9e</a:t>
            </a:r>
          </a:p>
        </p:txBody>
      </p:sp>
      <p:sp>
        <p:nvSpPr>
          <p:cNvPr id="37" name="o36"/>
          <p:cNvSpPr txBox="1"/>
          <p:nvPr/>
        </p:nvSpPr>
        <p:spPr>
          <a:xfrm>
            <a:off x="6263640" y="3794760"/>
            <a:ext cx="822960" cy="292608"/>
          </a:xfrm>
          <a:prstGeom prst="rect">
            <a:avLst/>
          </a:prstGeom>
          <a:noFill/>
        </p:spPr>
        <p:txBody>
          <a:bodyPr wrap="square" lIns="0" rIns="0" tIns="0" bIns="0" anchor="t">
            <a:spAutoFit/>
          </a:bodyPr>
          <a:lstStyle/>
          <a:p>
            <a:pPr algn="l"/>
            <a:r>
              <a:rPr sz="1400" b="0" i="0">
                <a:solidFill>
                  <a:srgbClr val="C4C4E4"/>
                </a:solidFill>
                <a:latin typeface="Arial"/>
              </a:rPr>
              <a:t>85,7</a:t>
            </a:r>
          </a:p>
        </p:txBody>
      </p:sp>
      <p:pic>
        <p:nvPicPr>
          <p:cNvPr id="38" name="o37" descr=" 7"/>
          <p:cNvPicPr>
            <a:picLocks noChangeAspect="1"/>
          </p:cNvPicPr>
          <p:nvPr/>
        </p:nvPicPr>
        <p:blipFill>
          <a:blip r:embed="rId18"/>
          <a:stretch>
            <a:fillRect/>
          </a:stretch>
        </p:blipFill>
        <p:spPr>
          <a:xfrm>
            <a:off x="548640" y="4224528"/>
            <a:ext cx="365760" cy="182880"/>
          </a:xfrm>
          <a:prstGeom prst="rect">
            <a:avLst/>
          </a:prstGeom>
        </p:spPr>
      </p:pic>
      <p:sp>
        <p:nvSpPr>
          <p:cNvPr id="39" name="o38"/>
          <p:cNvSpPr txBox="1"/>
          <p:nvPr/>
        </p:nvSpPr>
        <p:spPr>
          <a:xfrm>
            <a:off x="1097280" y="4178808"/>
            <a:ext cx="3017520" cy="292608"/>
          </a:xfrm>
          <a:prstGeom prst="rect">
            <a:avLst/>
          </a:prstGeom>
          <a:noFill/>
        </p:spPr>
        <p:txBody>
          <a:bodyPr wrap="square" lIns="0" rIns="0" tIns="0" bIns="0" anchor="t">
            <a:spAutoFit/>
          </a:bodyPr>
          <a:lstStyle/>
          <a:p>
            <a:pPr algn="l"/>
            <a:r>
              <a:rPr sz="1500" b="0" i="0">
                <a:solidFill>
                  <a:srgbClr val="FFFFFF"/>
                </a:solidFill>
                <a:latin typeface="Arial"/>
              </a:rPr>
              <a:t>Microsoft</a:t>
            </a:r>
          </a:p>
        </p:txBody>
      </p:sp>
      <p:pic>
        <p:nvPicPr>
          <p:cNvPr id="40" name="o39" descr="▲3"/>
          <p:cNvPicPr>
            <a:picLocks noChangeAspect="1"/>
          </p:cNvPicPr>
          <p:nvPr/>
        </p:nvPicPr>
        <p:blipFill>
          <a:blip r:embed="rId17"/>
          <a:stretch>
            <a:fillRect/>
          </a:stretch>
        </p:blipFill>
        <p:spPr>
          <a:xfrm>
            <a:off x="4114800" y="4233672"/>
            <a:ext cx="329184" cy="164592"/>
          </a:xfrm>
          <a:prstGeom prst="rect">
            <a:avLst/>
          </a:prstGeom>
        </p:spPr>
      </p:pic>
      <p:sp>
        <p:nvSpPr>
          <p:cNvPr id="41" name="o40"/>
          <p:cNvSpPr txBox="1"/>
          <p:nvPr/>
        </p:nvSpPr>
        <p:spPr>
          <a:xfrm>
            <a:off x="4983480" y="4178808"/>
            <a:ext cx="731520" cy="292608"/>
          </a:xfrm>
          <a:prstGeom prst="rect">
            <a:avLst/>
          </a:prstGeom>
          <a:noFill/>
        </p:spPr>
        <p:txBody>
          <a:bodyPr wrap="square" lIns="0" rIns="0" tIns="0" bIns="0" anchor="t">
            <a:spAutoFit/>
          </a:bodyPr>
          <a:lstStyle/>
          <a:p>
            <a:pPr algn="l"/>
            <a:r>
              <a:rPr sz="1400" b="0" i="0">
                <a:solidFill>
                  <a:srgbClr val="7C7CAA"/>
                </a:solidFill>
                <a:latin typeface="Arial"/>
              </a:rPr>
              <a:t>10e</a:t>
            </a:r>
          </a:p>
        </p:txBody>
      </p:sp>
      <p:sp>
        <p:nvSpPr>
          <p:cNvPr id="42" name="o41"/>
          <p:cNvSpPr txBox="1"/>
          <p:nvPr/>
        </p:nvSpPr>
        <p:spPr>
          <a:xfrm>
            <a:off x="6263640" y="4178808"/>
            <a:ext cx="822960" cy="292608"/>
          </a:xfrm>
          <a:prstGeom prst="rect">
            <a:avLst/>
          </a:prstGeom>
          <a:noFill/>
        </p:spPr>
        <p:txBody>
          <a:bodyPr wrap="square" lIns="0" rIns="0" tIns="0" bIns="0" anchor="t">
            <a:spAutoFit/>
          </a:bodyPr>
          <a:lstStyle/>
          <a:p>
            <a:pPr algn="l"/>
            <a:r>
              <a:rPr sz="1400" b="0" i="0">
                <a:solidFill>
                  <a:srgbClr val="C4C4E4"/>
                </a:solidFill>
                <a:latin typeface="Arial"/>
              </a:rPr>
              <a:t>82,0</a:t>
            </a:r>
          </a:p>
        </p:txBody>
      </p:sp>
      <p:pic>
        <p:nvPicPr>
          <p:cNvPr id="43" name="o42" descr=" 8"/>
          <p:cNvPicPr>
            <a:picLocks noChangeAspect="1"/>
          </p:cNvPicPr>
          <p:nvPr/>
        </p:nvPicPr>
        <p:blipFill>
          <a:blip r:embed="rId19"/>
          <a:stretch>
            <a:fillRect/>
          </a:stretch>
        </p:blipFill>
        <p:spPr>
          <a:xfrm>
            <a:off x="548640" y="4608576"/>
            <a:ext cx="365760" cy="182880"/>
          </a:xfrm>
          <a:prstGeom prst="rect">
            <a:avLst/>
          </a:prstGeom>
        </p:spPr>
      </p:pic>
      <p:sp>
        <p:nvSpPr>
          <p:cNvPr id="44" name="o43"/>
          <p:cNvSpPr txBox="1"/>
          <p:nvPr/>
        </p:nvSpPr>
        <p:spPr>
          <a:xfrm>
            <a:off x="1097280" y="4562856"/>
            <a:ext cx="3017520" cy="292608"/>
          </a:xfrm>
          <a:prstGeom prst="rect">
            <a:avLst/>
          </a:prstGeom>
          <a:noFill/>
        </p:spPr>
        <p:txBody>
          <a:bodyPr wrap="square" lIns="0" rIns="0" tIns="0" bIns="0" anchor="t">
            <a:spAutoFit/>
          </a:bodyPr>
          <a:lstStyle/>
          <a:p>
            <a:pPr algn="l"/>
            <a:r>
              <a:rPr sz="1500" b="0" i="0">
                <a:solidFill>
                  <a:srgbClr val="FFFFFF"/>
                </a:solidFill>
                <a:latin typeface="Arial"/>
              </a:rPr>
              <a:t>Virgin</a:t>
            </a:r>
          </a:p>
        </p:txBody>
      </p:sp>
      <p:pic>
        <p:nvPicPr>
          <p:cNvPr id="45" name="o44" descr="▲6"/>
          <p:cNvPicPr>
            <a:picLocks noChangeAspect="1"/>
          </p:cNvPicPr>
          <p:nvPr/>
        </p:nvPicPr>
        <p:blipFill>
          <a:blip r:embed="rId20"/>
          <a:stretch>
            <a:fillRect/>
          </a:stretch>
        </p:blipFill>
        <p:spPr>
          <a:xfrm>
            <a:off x="4114800" y="4617720"/>
            <a:ext cx="329184" cy="164592"/>
          </a:xfrm>
          <a:prstGeom prst="rect">
            <a:avLst/>
          </a:prstGeom>
        </p:spPr>
      </p:pic>
      <p:sp>
        <p:nvSpPr>
          <p:cNvPr id="46" name="o45"/>
          <p:cNvSpPr txBox="1"/>
          <p:nvPr/>
        </p:nvSpPr>
        <p:spPr>
          <a:xfrm>
            <a:off x="4983480" y="4562856"/>
            <a:ext cx="731520" cy="292608"/>
          </a:xfrm>
          <a:prstGeom prst="rect">
            <a:avLst/>
          </a:prstGeom>
          <a:noFill/>
        </p:spPr>
        <p:txBody>
          <a:bodyPr wrap="square" lIns="0" rIns="0" tIns="0" bIns="0" anchor="t">
            <a:spAutoFit/>
          </a:bodyPr>
          <a:lstStyle/>
          <a:p>
            <a:pPr algn="l"/>
            <a:r>
              <a:rPr sz="1400" b="0" i="0">
                <a:solidFill>
                  <a:srgbClr val="7C7CAA"/>
                </a:solidFill>
                <a:latin typeface="Arial"/>
              </a:rPr>
              <a:t>14e</a:t>
            </a:r>
          </a:p>
        </p:txBody>
      </p:sp>
      <p:sp>
        <p:nvSpPr>
          <p:cNvPr id="47" name="o46"/>
          <p:cNvSpPr txBox="1"/>
          <p:nvPr/>
        </p:nvSpPr>
        <p:spPr>
          <a:xfrm>
            <a:off x="6263640" y="4562856"/>
            <a:ext cx="822960" cy="292608"/>
          </a:xfrm>
          <a:prstGeom prst="rect">
            <a:avLst/>
          </a:prstGeom>
          <a:noFill/>
        </p:spPr>
        <p:txBody>
          <a:bodyPr wrap="square" lIns="0" rIns="0" tIns="0" bIns="0" anchor="t">
            <a:spAutoFit/>
          </a:bodyPr>
          <a:lstStyle/>
          <a:p>
            <a:pPr algn="l"/>
            <a:r>
              <a:rPr sz="1400" b="0" i="0">
                <a:solidFill>
                  <a:srgbClr val="C4C4E4"/>
                </a:solidFill>
                <a:latin typeface="Arial"/>
              </a:rPr>
              <a:t>86,8</a:t>
            </a:r>
          </a:p>
        </p:txBody>
      </p:sp>
      <p:pic>
        <p:nvPicPr>
          <p:cNvPr id="48" name="o47" descr=" 9"/>
          <p:cNvPicPr>
            <a:picLocks noChangeAspect="1"/>
          </p:cNvPicPr>
          <p:nvPr/>
        </p:nvPicPr>
        <p:blipFill>
          <a:blip r:embed="rId21"/>
          <a:stretch>
            <a:fillRect/>
          </a:stretch>
        </p:blipFill>
        <p:spPr>
          <a:xfrm>
            <a:off x="548640" y="4992624"/>
            <a:ext cx="365760" cy="182880"/>
          </a:xfrm>
          <a:prstGeom prst="rect">
            <a:avLst/>
          </a:prstGeom>
        </p:spPr>
      </p:pic>
      <p:sp>
        <p:nvSpPr>
          <p:cNvPr id="49" name="o48"/>
          <p:cNvSpPr txBox="1"/>
          <p:nvPr/>
        </p:nvSpPr>
        <p:spPr>
          <a:xfrm>
            <a:off x="1097280" y="4946904"/>
            <a:ext cx="3017520" cy="292608"/>
          </a:xfrm>
          <a:prstGeom prst="rect">
            <a:avLst/>
          </a:prstGeom>
          <a:noFill/>
        </p:spPr>
        <p:txBody>
          <a:bodyPr wrap="square" lIns="0" rIns="0" tIns="0" bIns="0" anchor="t">
            <a:spAutoFit/>
          </a:bodyPr>
          <a:lstStyle/>
          <a:p>
            <a:pPr algn="l"/>
            <a:r>
              <a:rPr sz="1500" b="0" i="0">
                <a:solidFill>
                  <a:srgbClr val="FFFFFF"/>
                </a:solidFill>
                <a:latin typeface="Arial"/>
              </a:rPr>
              <a:t>Ubisoft</a:t>
            </a:r>
          </a:p>
        </p:txBody>
      </p:sp>
      <p:pic>
        <p:nvPicPr>
          <p:cNvPr id="50" name="o49" descr="▼1"/>
          <p:cNvPicPr>
            <a:picLocks noChangeAspect="1"/>
          </p:cNvPicPr>
          <p:nvPr/>
        </p:nvPicPr>
        <p:blipFill>
          <a:blip r:embed="rId22"/>
          <a:stretch>
            <a:fillRect/>
          </a:stretch>
        </p:blipFill>
        <p:spPr>
          <a:xfrm>
            <a:off x="4114800" y="5001768"/>
            <a:ext cx="329184" cy="164592"/>
          </a:xfrm>
          <a:prstGeom prst="rect">
            <a:avLst/>
          </a:prstGeom>
        </p:spPr>
      </p:pic>
      <p:sp>
        <p:nvSpPr>
          <p:cNvPr id="51" name="o50"/>
          <p:cNvSpPr txBox="1"/>
          <p:nvPr/>
        </p:nvSpPr>
        <p:spPr>
          <a:xfrm>
            <a:off x="4983480" y="4946904"/>
            <a:ext cx="731520" cy="292608"/>
          </a:xfrm>
          <a:prstGeom prst="rect">
            <a:avLst/>
          </a:prstGeom>
          <a:noFill/>
        </p:spPr>
        <p:txBody>
          <a:bodyPr wrap="square" lIns="0" rIns="0" tIns="0" bIns="0" anchor="t">
            <a:spAutoFit/>
          </a:bodyPr>
          <a:lstStyle/>
          <a:p>
            <a:pPr algn="l"/>
            <a:r>
              <a:rPr sz="1400" b="0" i="0">
                <a:solidFill>
                  <a:srgbClr val="7C7CAA"/>
                </a:solidFill>
                <a:latin typeface="Arial"/>
              </a:rPr>
              <a:t>8e</a:t>
            </a:r>
          </a:p>
        </p:txBody>
      </p:sp>
      <p:sp>
        <p:nvSpPr>
          <p:cNvPr id="52" name="o51"/>
          <p:cNvSpPr txBox="1"/>
          <p:nvPr/>
        </p:nvSpPr>
        <p:spPr>
          <a:xfrm>
            <a:off x="6263640" y="4946904"/>
            <a:ext cx="822960" cy="292608"/>
          </a:xfrm>
          <a:prstGeom prst="rect">
            <a:avLst/>
          </a:prstGeom>
          <a:noFill/>
        </p:spPr>
        <p:txBody>
          <a:bodyPr wrap="square" lIns="0" rIns="0" tIns="0" bIns="0" anchor="t">
            <a:spAutoFit/>
          </a:bodyPr>
          <a:lstStyle/>
          <a:p>
            <a:pPr algn="l"/>
            <a:r>
              <a:rPr sz="1400" b="0" i="0">
                <a:solidFill>
                  <a:srgbClr val="C4C4E4"/>
                </a:solidFill>
                <a:latin typeface="Arial"/>
              </a:rPr>
              <a:t>75,6</a:t>
            </a:r>
          </a:p>
        </p:txBody>
      </p:sp>
      <p:pic>
        <p:nvPicPr>
          <p:cNvPr id="53" name="o52" descr="10"/>
          <p:cNvPicPr>
            <a:picLocks noChangeAspect="1"/>
          </p:cNvPicPr>
          <p:nvPr/>
        </p:nvPicPr>
        <p:blipFill>
          <a:blip r:embed="rId23"/>
          <a:stretch>
            <a:fillRect/>
          </a:stretch>
        </p:blipFill>
        <p:spPr>
          <a:xfrm>
            <a:off x="548640" y="5376672"/>
            <a:ext cx="365760" cy="182880"/>
          </a:xfrm>
          <a:prstGeom prst="rect">
            <a:avLst/>
          </a:prstGeom>
        </p:spPr>
      </p:pic>
      <p:sp>
        <p:nvSpPr>
          <p:cNvPr id="54" name="o53"/>
          <p:cNvSpPr txBox="1"/>
          <p:nvPr/>
        </p:nvSpPr>
        <p:spPr>
          <a:xfrm>
            <a:off x="1097280" y="5330952"/>
            <a:ext cx="3017520" cy="292608"/>
          </a:xfrm>
          <a:prstGeom prst="rect">
            <a:avLst/>
          </a:prstGeom>
          <a:noFill/>
        </p:spPr>
        <p:txBody>
          <a:bodyPr wrap="square" lIns="0" rIns="0" tIns="0" bIns="0" anchor="t">
            <a:spAutoFit/>
          </a:bodyPr>
          <a:lstStyle/>
          <a:p>
            <a:pPr algn="l"/>
            <a:r>
              <a:rPr sz="1500" b="0" i="0">
                <a:solidFill>
                  <a:srgbClr val="FFFFFF"/>
                </a:solidFill>
                <a:latin typeface="Arial"/>
              </a:rPr>
              <a:t>THQ</a:t>
            </a:r>
          </a:p>
        </p:txBody>
      </p:sp>
      <p:pic>
        <p:nvPicPr>
          <p:cNvPr id="55" name="o54" descr="▼5"/>
          <p:cNvPicPr>
            <a:picLocks noChangeAspect="1"/>
          </p:cNvPicPr>
          <p:nvPr/>
        </p:nvPicPr>
        <p:blipFill>
          <a:blip r:embed="rId24"/>
          <a:stretch>
            <a:fillRect/>
          </a:stretch>
        </p:blipFill>
        <p:spPr>
          <a:xfrm>
            <a:off x="4114800" y="5385816"/>
            <a:ext cx="329184" cy="164592"/>
          </a:xfrm>
          <a:prstGeom prst="rect">
            <a:avLst/>
          </a:prstGeom>
        </p:spPr>
      </p:pic>
      <p:sp>
        <p:nvSpPr>
          <p:cNvPr id="56" name="o55"/>
          <p:cNvSpPr txBox="1"/>
          <p:nvPr/>
        </p:nvSpPr>
        <p:spPr>
          <a:xfrm>
            <a:off x="4983480" y="5330952"/>
            <a:ext cx="731520" cy="292608"/>
          </a:xfrm>
          <a:prstGeom prst="rect">
            <a:avLst/>
          </a:prstGeom>
          <a:noFill/>
        </p:spPr>
        <p:txBody>
          <a:bodyPr wrap="square" lIns="0" rIns="0" tIns="0" bIns="0" anchor="t">
            <a:spAutoFit/>
          </a:bodyPr>
          <a:lstStyle/>
          <a:p>
            <a:pPr algn="l"/>
            <a:r>
              <a:rPr sz="1400" b="0" i="0">
                <a:solidFill>
                  <a:srgbClr val="7C7CAA"/>
                </a:solidFill>
                <a:latin typeface="Arial"/>
              </a:rPr>
              <a:t>5e</a:t>
            </a:r>
          </a:p>
        </p:txBody>
      </p:sp>
      <p:sp>
        <p:nvSpPr>
          <p:cNvPr id="57" name="o56"/>
          <p:cNvSpPr txBox="1"/>
          <p:nvPr/>
        </p:nvSpPr>
        <p:spPr>
          <a:xfrm>
            <a:off x="6263640" y="5330952"/>
            <a:ext cx="822960" cy="292608"/>
          </a:xfrm>
          <a:prstGeom prst="rect">
            <a:avLst/>
          </a:prstGeom>
          <a:noFill/>
        </p:spPr>
        <p:txBody>
          <a:bodyPr wrap="square" lIns="0" rIns="0" tIns="0" bIns="0" anchor="t">
            <a:spAutoFit/>
          </a:bodyPr>
          <a:lstStyle/>
          <a:p>
            <a:pPr algn="l"/>
            <a:r>
              <a:rPr sz="1400" b="0" i="0">
                <a:solidFill>
                  <a:srgbClr val="C4C4E4"/>
                </a:solidFill>
                <a:latin typeface="Arial"/>
              </a:rPr>
              <a:t>69,7</a:t>
            </a:r>
          </a:p>
        </p:txBody>
      </p:sp>
      <p:pic>
        <p:nvPicPr>
          <p:cNvPr id="58" name="o57" descr="11"/>
          <p:cNvPicPr>
            <a:picLocks noChangeAspect="1"/>
          </p:cNvPicPr>
          <p:nvPr/>
        </p:nvPicPr>
        <p:blipFill>
          <a:blip r:embed="rId25"/>
          <a:stretch>
            <a:fillRect/>
          </a:stretch>
        </p:blipFill>
        <p:spPr>
          <a:xfrm>
            <a:off x="548640" y="5760720"/>
            <a:ext cx="365760" cy="182880"/>
          </a:xfrm>
          <a:prstGeom prst="rect">
            <a:avLst/>
          </a:prstGeom>
        </p:spPr>
      </p:pic>
      <p:sp>
        <p:nvSpPr>
          <p:cNvPr id="59" name="o58"/>
          <p:cNvSpPr txBox="1"/>
          <p:nvPr/>
        </p:nvSpPr>
        <p:spPr>
          <a:xfrm>
            <a:off x="1097280" y="5715000"/>
            <a:ext cx="3017520" cy="292608"/>
          </a:xfrm>
          <a:prstGeom prst="rect">
            <a:avLst/>
          </a:prstGeom>
          <a:noFill/>
        </p:spPr>
        <p:txBody>
          <a:bodyPr wrap="square" lIns="0" rIns="0" tIns="0" bIns="0" anchor="t">
            <a:spAutoFit/>
          </a:bodyPr>
          <a:lstStyle/>
          <a:p>
            <a:pPr algn="l"/>
            <a:r>
              <a:rPr sz="1500" b="0" i="0">
                <a:solidFill>
                  <a:srgbClr val="FFFFFF"/>
                </a:solidFill>
                <a:latin typeface="Arial"/>
              </a:rPr>
              <a:t>Sega</a:t>
            </a:r>
          </a:p>
        </p:txBody>
      </p:sp>
      <p:pic>
        <p:nvPicPr>
          <p:cNvPr id="60" name="o59" descr="▼4"/>
          <p:cNvPicPr>
            <a:picLocks noChangeAspect="1"/>
          </p:cNvPicPr>
          <p:nvPr/>
        </p:nvPicPr>
        <p:blipFill>
          <a:blip r:embed="rId26"/>
          <a:stretch>
            <a:fillRect/>
          </a:stretch>
        </p:blipFill>
        <p:spPr>
          <a:xfrm>
            <a:off x="4114800" y="5769864"/>
            <a:ext cx="329184" cy="164592"/>
          </a:xfrm>
          <a:prstGeom prst="rect">
            <a:avLst/>
          </a:prstGeom>
        </p:spPr>
      </p:pic>
      <p:sp>
        <p:nvSpPr>
          <p:cNvPr id="61" name="o60"/>
          <p:cNvSpPr txBox="1"/>
          <p:nvPr/>
        </p:nvSpPr>
        <p:spPr>
          <a:xfrm>
            <a:off x="4983480" y="5715000"/>
            <a:ext cx="731520" cy="292608"/>
          </a:xfrm>
          <a:prstGeom prst="rect">
            <a:avLst/>
          </a:prstGeom>
          <a:noFill/>
        </p:spPr>
        <p:txBody>
          <a:bodyPr wrap="square" lIns="0" rIns="0" tIns="0" bIns="0" anchor="t">
            <a:spAutoFit/>
          </a:bodyPr>
          <a:lstStyle/>
          <a:p>
            <a:pPr algn="l"/>
            <a:r>
              <a:rPr sz="1400" b="0" i="0">
                <a:solidFill>
                  <a:srgbClr val="7C7CAA"/>
                </a:solidFill>
                <a:latin typeface="Arial"/>
              </a:rPr>
              <a:t>7e</a:t>
            </a:r>
          </a:p>
        </p:txBody>
      </p:sp>
      <p:sp>
        <p:nvSpPr>
          <p:cNvPr id="62" name="o61"/>
          <p:cNvSpPr txBox="1"/>
          <p:nvPr/>
        </p:nvSpPr>
        <p:spPr>
          <a:xfrm>
            <a:off x="6263640" y="5715000"/>
            <a:ext cx="822960" cy="292608"/>
          </a:xfrm>
          <a:prstGeom prst="rect">
            <a:avLst/>
          </a:prstGeom>
          <a:noFill/>
        </p:spPr>
        <p:txBody>
          <a:bodyPr wrap="square" lIns="0" rIns="0" tIns="0" bIns="0" anchor="t">
            <a:spAutoFit/>
          </a:bodyPr>
          <a:lstStyle/>
          <a:p>
            <a:pPr algn="l"/>
            <a:r>
              <a:rPr sz="1400" b="0" i="0">
                <a:solidFill>
                  <a:srgbClr val="C4C4E4"/>
                </a:solidFill>
                <a:latin typeface="Arial"/>
              </a:rPr>
              <a:t>71,8</a:t>
            </a:r>
          </a:p>
        </p:txBody>
      </p:sp>
      <p:sp>
        <p:nvSpPr>
          <p:cNvPr id="63" name="o62"/>
          <p:cNvSpPr/>
          <p:nvPr/>
        </p:nvSpPr>
        <p:spPr>
          <a:xfrm>
            <a:off x="7589520" y="1600200"/>
            <a:ext cx="4050791" cy="4434840"/>
          </a:xfrm>
          <a:prstGeom prst="roundRect">
            <a:avLst>
              <a:gd name="adj" fmla="val 3160"/>
            </a:avLst>
          </a:prstGeom>
          <a:solidFill>
            <a:srgbClr val="000000"/>
          </a:solidFill>
          <a:ln w="28575">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63"/>
          <p:cNvSpPr/>
          <p:nvPr/>
        </p:nvSpPr>
        <p:spPr>
          <a:xfrm>
            <a:off x="7658100" y="1668780"/>
            <a:ext cx="3913631" cy="4297679"/>
          </a:xfrm>
          <a:prstGeom prst="roundRect">
            <a:avLst>
              <a:gd name="adj" fmla="val 1518"/>
            </a:avLst>
          </a:prstGeom>
          <a:noFill/>
          <a:ln w="12700">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5" name="o64" descr="image-14-1.png"/>
          <p:cNvPicPr>
            <a:picLocks noChangeAspect="1"/>
          </p:cNvPicPr>
          <p:nvPr/>
        </p:nvPicPr>
        <p:blipFill>
          <a:blip r:embed="rId5"/>
          <a:stretch>
            <a:fillRect/>
          </a:stretch>
        </p:blipFill>
        <p:spPr>
          <a:xfrm>
            <a:off x="7882127" y="1874519"/>
            <a:ext cx="502920" cy="502920"/>
          </a:xfrm>
          <a:prstGeom prst="rect">
            <a:avLst/>
          </a:prstGeom>
        </p:spPr>
      </p:pic>
      <p:pic>
        <p:nvPicPr>
          <p:cNvPr id="66" name="o65" descr="MPI 2.0"/>
          <p:cNvPicPr>
            <a:picLocks noChangeAspect="1"/>
          </p:cNvPicPr>
          <p:nvPr/>
        </p:nvPicPr>
        <p:blipFill>
          <a:blip r:embed="rId27"/>
          <a:stretch>
            <a:fillRect/>
          </a:stretch>
        </p:blipFill>
        <p:spPr>
          <a:xfrm>
            <a:off x="8549640" y="2011680"/>
            <a:ext cx="1664208" cy="237744"/>
          </a:xfrm>
          <a:prstGeom prst="rect">
            <a:avLst/>
          </a:prstGeom>
        </p:spPr>
      </p:pic>
      <p:sp>
        <p:nvSpPr>
          <p:cNvPr id="67" name="o66"/>
          <p:cNvSpPr txBox="1"/>
          <p:nvPr/>
        </p:nvSpPr>
        <p:spPr>
          <a:xfrm>
            <a:off x="7882127" y="2560320"/>
            <a:ext cx="3474720" cy="731520"/>
          </a:xfrm>
          <a:prstGeom prst="rect">
            <a:avLst/>
          </a:prstGeom>
          <a:noFill/>
        </p:spPr>
        <p:txBody>
          <a:bodyPr wrap="square" lIns="0" rIns="0" tIns="0" bIns="0" anchor="t">
            <a:spAutoFit/>
          </a:bodyPr>
          <a:lstStyle/>
          <a:p>
            <a:pPr algn="l"/>
            <a:r>
              <a:rPr sz="1400" b="0" i="0">
                <a:solidFill>
                  <a:srgbClr val="C4C4E4"/>
                </a:solidFill>
                <a:latin typeface="Arial"/>
              </a:rPr>
              <a:t>5 composantes de la partie 1 + la qualité perçue (note presse pondérée par les ventes)</a:t>
            </a:r>
          </a:p>
        </p:txBody>
      </p:sp>
      <p:sp>
        <p:nvSpPr>
          <p:cNvPr id="68" name="o67"/>
          <p:cNvSpPr txBox="1"/>
          <p:nvPr/>
        </p:nvSpPr>
        <p:spPr>
          <a:xfrm>
            <a:off x="7882127" y="3429000"/>
            <a:ext cx="3474720" cy="1371600"/>
          </a:xfrm>
          <a:prstGeom prst="rect">
            <a:avLst/>
          </a:prstGeom>
          <a:noFill/>
        </p:spPr>
        <p:txBody>
          <a:bodyPr wrap="square" lIns="0" rIns="0" tIns="0" bIns="0" anchor="t">
            <a:spAutoFit/>
          </a:bodyPr>
          <a:lstStyle/>
          <a:p>
            <a:pPr algn="l">
              <a:spcAft>
                <a:spcPts val="600"/>
              </a:spcAft>
            </a:pPr>
            <a:r>
              <a:rPr sz="1700" b="1" i="0">
                <a:solidFill>
                  <a:srgbClr val="FFFFFF"/>
                </a:solidFill>
                <a:latin typeface="Arial"/>
              </a:rPr>
              <a:t>Top 3 inchangé</a:t>
            </a:r>
          </a:p>
          <a:p>
            <a:pPr algn="l">
              <a:spcAft>
                <a:spcPts val="600"/>
              </a:spcAft>
            </a:pPr>
            <a:r>
              <a:rPr sz="1500" b="1" i="0">
                <a:solidFill>
                  <a:srgbClr val="00DE00"/>
                </a:solidFill>
                <a:latin typeface="Arial"/>
              </a:rPr>
              <a:t>▲ Premium : </a:t>
            </a:r>
            <a:r>
              <a:rPr sz="1500" b="0" i="0">
                <a:solidFill>
                  <a:srgbClr val="C4C4E4"/>
                </a:solidFill>
                <a:latin typeface="Arial"/>
              </a:rPr>
              <a:t>Bethesda, Microsoft, Virgin</a:t>
            </a:r>
          </a:p>
          <a:p>
            <a:pPr algn="l">
              <a:spcAft>
                <a:spcPts val="600"/>
              </a:spcAft>
            </a:pPr>
            <a:r>
              <a:rPr sz="1500" b="1" i="0">
                <a:solidFill>
                  <a:srgbClr val="FF2D2D"/>
                </a:solidFill>
                <a:latin typeface="Arial"/>
              </a:rPr>
              <a:t>▼ Volume : </a:t>
            </a:r>
            <a:r>
              <a:rPr sz="1500" b="0" i="0">
                <a:solidFill>
                  <a:srgbClr val="C4C4E4"/>
                </a:solidFill>
                <a:latin typeface="Arial"/>
              </a:rPr>
              <a:t>THQ, Sega</a:t>
            </a:r>
          </a:p>
        </p:txBody>
      </p:sp>
      <p:sp>
        <p:nvSpPr>
          <p:cNvPr id="69" name="o68"/>
          <p:cNvSpPr txBox="1"/>
          <p:nvPr/>
        </p:nvSpPr>
        <p:spPr>
          <a:xfrm>
            <a:off x="7882127" y="4983480"/>
            <a:ext cx="3474720" cy="822960"/>
          </a:xfrm>
          <a:prstGeom prst="rect">
            <a:avLst/>
          </a:prstGeom>
          <a:noFill/>
        </p:spPr>
        <p:txBody>
          <a:bodyPr wrap="square" lIns="0" rIns="0" tIns="0" bIns="0" anchor="t">
            <a:spAutoFit/>
          </a:bodyPr>
          <a:lstStyle/>
          <a:p>
            <a:pPr algn="l"/>
            <a:r>
              <a:rPr sz="1400" b="0" i="0">
                <a:solidFill>
                  <a:srgbClr val="FFE600"/>
                </a:solidFill>
                <a:latin typeface="Arial"/>
              </a:rPr>
              <a:t>Deux modèles : beaucoup de jeux moyens, ou moins de jeux mais excellents</a:t>
            </a:r>
          </a:p>
        </p:txBody>
      </p:sp>
      <p:pic>
        <p:nvPicPr>
          <p:cNvPr id="70" name="fin_pastille" descr="image-1-13.gif"/>
          <p:cNvPicPr>
            <a:picLocks noChangeAspect="1"/>
          </p:cNvPicPr>
          <p:nvPr/>
        </p:nvPicPr>
        <p:blipFill>
          <a:blip r:embed="rId28"/>
          <a:stretch>
            <a:fillRect/>
          </a:stretch>
        </p:blipFill>
        <p:spPr>
          <a:xfrm>
            <a:off x="11448288" y="6355080"/>
            <a:ext cx="182880" cy="182880"/>
          </a:xfrm>
          <a:prstGeom prst="rect">
            <a:avLst/>
          </a:prstGeom>
        </p:spPr>
      </p:pic>
      <p:pic>
        <p:nvPicPr>
          <p:cNvPr id="71" name="barre_fantome" descr="image-1-15.gif"/>
          <p:cNvPicPr>
            <a:picLocks noChangeAspect="1"/>
          </p:cNvPicPr>
          <p:nvPr/>
        </p:nvPicPr>
        <p:blipFill>
          <a:blip r:embed="rId29"/>
          <a:stretch>
            <a:fillRect/>
          </a:stretch>
        </p:blipFill>
        <p:spPr>
          <a:xfrm>
            <a:off x="8019288" y="6291072"/>
            <a:ext cx="310896" cy="310896"/>
          </a:xfrm>
          <a:prstGeom prst="rect">
            <a:avLst/>
          </a:prstGeom>
        </p:spPr>
      </p:pic>
      <p:pic>
        <p:nvPicPr>
          <p:cNvPr id="72" name="barre_pacman" descr="image-1-14.gif"/>
          <p:cNvPicPr>
            <a:picLocks noChangeAspect="1"/>
          </p:cNvPicPr>
          <p:nvPr/>
        </p:nvPicPr>
        <p:blipFill>
          <a:blip r:embed="rId30"/>
          <a:stretch>
            <a:fillRect/>
          </a:stretch>
        </p:blipFill>
        <p:spPr>
          <a:xfrm>
            <a:off x="8586216" y="6291072"/>
            <a:ext cx="310896" cy="310896"/>
          </a:xfrm>
          <a:prstGeom prst="rect">
            <a:avLst/>
          </a:prstGeom>
        </p:spPr>
      </p:pic>
      <p:sp>
        <p:nvSpPr>
          <p:cNvPr id="73" name="barre_pastille_9.75"/>
          <p:cNvSpPr/>
          <p:nvPr/>
        </p:nvSpPr>
        <p:spPr>
          <a:xfrm>
            <a:off x="8915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rre_pastille_10.00"/>
          <p:cNvSpPr/>
          <p:nvPr/>
        </p:nvSpPr>
        <p:spPr>
          <a:xfrm>
            <a:off x="9144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71"/>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72"/>
                                        </p:tgtEl>
                                        <p:attrNameLst>
                                          <p:attrName>ppt_x</p:attrName>
                                          <p:attrName>ppt_y</p:attrName>
                                        </p:attrNameLst>
                                      </p:cBhvr>
                                    </p:animMotion>
                                  </p:childTnLst>
                                </p:cTn>
                              </p:par>
                              <p:par>
                                <p:cTn id="9" presetID="1" presetClass="exit" presetSubtype="0" fill="hold" nodeType="withEffect">
                                  <p:stCondLst>
                                    <p:cond delay="100"/>
                                  </p:stCondLst>
                                  <p:childTnLst>
                                    <p:set>
                                      <p:cBhvr>
                                        <p:cTn id="10" dur="1" fill="hold">
                                          <p:stCondLst>
                                            <p:cond delay="0"/>
                                          </p:stCondLst>
                                        </p:cTn>
                                        <p:tgtEl>
                                          <p:spTgt spid="73"/>
                                        </p:tgtEl>
                                        <p:attrNameLst>
                                          <p:attrName>style.visibility</p:attrName>
                                        </p:attrNameLst>
                                      </p:cBhvr>
                                      <p:to>
                                        <p:strVal val="hidden"/>
                                      </p:to>
                                    </p:set>
                                  </p:childTnLst>
                                </p:cTn>
                              </p:par>
                              <p:par>
                                <p:cTn id="11" presetID="1" presetClass="exit" presetSubtype="0" fill="hold" nodeType="withEffect">
                                  <p:stCondLst>
                                    <p:cond delay="517"/>
                                  </p:stCondLst>
                                  <p:childTnLst>
                                    <p:set>
                                      <p:cBhvr>
                                        <p:cTn id="12" dur="1" fill="hold">
                                          <p:stCondLst>
                                            <p:cond delay="0"/>
                                          </p:stCondLst>
                                        </p:cTn>
                                        <p:tgtEl>
                                          <p:spTgt spid="74"/>
                                        </p:tgtEl>
                                        <p:attrNameLst>
                                          <p:attrName>style.visibility</p:attrName>
                                        </p:attrNameLst>
                                      </p:cBhvr>
                                      <p:to>
                                        <p:strVal val="hidden"/>
                                      </p:to>
                                    </p:set>
                                  </p:childTnLst>
                                </p:cTn>
                              </p:par>
                              <p:par>
                                <p:cTn id="13" presetID="10" presetClass="entr" presetSubtype="0" fill="hold" nodeType="with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1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1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1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1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1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15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1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2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2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25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25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2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35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35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35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35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nodeType="withEffect">
                                  <p:stCondLst>
                                    <p:cond delay="35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45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nodeType="withEffect">
                                  <p:stCondLst>
                                    <p:cond delay="45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nodeType="withEffect">
                                  <p:stCondLst>
                                    <p:cond delay="45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45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nodeType="withEffect">
                                  <p:stCondLst>
                                    <p:cond delay="45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nodeType="withEffect">
                                  <p:stCondLst>
                                    <p:cond delay="55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nodeType="withEffect">
                                  <p:stCondLst>
                                    <p:cond delay="55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par>
                                <p:cTn id="88" presetID="10" presetClass="entr" presetSubtype="0" fill="hold" nodeType="withEffect">
                                  <p:stCondLst>
                                    <p:cond delay="55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00"/>
                                        <p:tgtEl>
                                          <p:spTgt spid="30"/>
                                        </p:tgtEl>
                                      </p:cBhvr>
                                    </p:animEffect>
                                  </p:childTnLst>
                                </p:cTn>
                              </p:par>
                              <p:par>
                                <p:cTn id="91" presetID="10" presetClass="entr" presetSubtype="0" fill="hold" nodeType="withEffect">
                                  <p:stCondLst>
                                    <p:cond delay="55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00"/>
                                        <p:tgtEl>
                                          <p:spTgt spid="31"/>
                                        </p:tgtEl>
                                      </p:cBhvr>
                                    </p:animEffect>
                                  </p:childTnLst>
                                </p:cTn>
                              </p:par>
                              <p:par>
                                <p:cTn id="94" presetID="10" presetClass="entr" presetSubtype="0" fill="hold" nodeType="withEffect">
                                  <p:stCondLst>
                                    <p:cond delay="55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00"/>
                                        <p:tgtEl>
                                          <p:spTgt spid="32"/>
                                        </p:tgtEl>
                                      </p:cBhvr>
                                    </p:animEffect>
                                  </p:childTnLst>
                                </p:cTn>
                              </p:par>
                              <p:par>
                                <p:cTn id="97" presetID="10" presetClass="entr" presetSubtype="0" fill="hold" nodeType="withEffect">
                                  <p:stCondLst>
                                    <p:cond delay="65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00"/>
                                        <p:tgtEl>
                                          <p:spTgt spid="33"/>
                                        </p:tgtEl>
                                      </p:cBhvr>
                                    </p:animEffect>
                                  </p:childTnLst>
                                </p:cTn>
                              </p:par>
                              <p:par>
                                <p:cTn id="100" presetID="10" presetClass="entr" presetSubtype="0" fill="hold" nodeType="withEffect">
                                  <p:stCondLst>
                                    <p:cond delay="65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00"/>
                                        <p:tgtEl>
                                          <p:spTgt spid="34"/>
                                        </p:tgtEl>
                                      </p:cBhvr>
                                    </p:animEffect>
                                  </p:childTnLst>
                                </p:cTn>
                              </p:par>
                              <p:par>
                                <p:cTn id="103" presetID="10" presetClass="entr" presetSubtype="0" fill="hold" nodeType="withEffect">
                                  <p:stCondLst>
                                    <p:cond delay="6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nodeType="withEffect">
                                  <p:stCondLst>
                                    <p:cond delay="65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00"/>
                                        <p:tgtEl>
                                          <p:spTgt spid="36"/>
                                        </p:tgtEl>
                                      </p:cBhvr>
                                    </p:animEffect>
                                  </p:childTnLst>
                                </p:cTn>
                              </p:par>
                              <p:par>
                                <p:cTn id="109" presetID="10" presetClass="entr" presetSubtype="0" fill="hold" nodeType="withEffect">
                                  <p:stCondLst>
                                    <p:cond delay="65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00"/>
                                        <p:tgtEl>
                                          <p:spTgt spid="37"/>
                                        </p:tgtEl>
                                      </p:cBhvr>
                                    </p:animEffect>
                                  </p:childTnLst>
                                </p:cTn>
                              </p:par>
                              <p:par>
                                <p:cTn id="112" presetID="10" presetClass="entr" presetSubtype="0" fill="hold" nodeType="withEffect">
                                  <p:stCondLst>
                                    <p:cond delay="75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400"/>
                                        <p:tgtEl>
                                          <p:spTgt spid="38"/>
                                        </p:tgtEl>
                                      </p:cBhvr>
                                    </p:animEffect>
                                  </p:childTnLst>
                                </p:cTn>
                              </p:par>
                              <p:par>
                                <p:cTn id="115" presetID="10" presetClass="entr" presetSubtype="0" fill="hold" nodeType="withEffect">
                                  <p:stCondLst>
                                    <p:cond delay="75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00"/>
                                        <p:tgtEl>
                                          <p:spTgt spid="39"/>
                                        </p:tgtEl>
                                      </p:cBhvr>
                                    </p:animEffect>
                                  </p:childTnLst>
                                </p:cTn>
                              </p:par>
                              <p:par>
                                <p:cTn id="118" presetID="10" presetClass="entr" presetSubtype="0" fill="hold" nodeType="withEffect">
                                  <p:stCondLst>
                                    <p:cond delay="75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00"/>
                                        <p:tgtEl>
                                          <p:spTgt spid="40"/>
                                        </p:tgtEl>
                                      </p:cBhvr>
                                    </p:animEffect>
                                  </p:childTnLst>
                                </p:cTn>
                              </p:par>
                              <p:par>
                                <p:cTn id="121" presetID="10" presetClass="entr" presetSubtype="0" fill="hold" nodeType="withEffect">
                                  <p:stCondLst>
                                    <p:cond delay="75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00"/>
                                        <p:tgtEl>
                                          <p:spTgt spid="41"/>
                                        </p:tgtEl>
                                      </p:cBhvr>
                                    </p:animEffect>
                                  </p:childTnLst>
                                </p:cTn>
                              </p:par>
                              <p:par>
                                <p:cTn id="124" presetID="10" presetClass="entr" presetSubtype="0" fill="hold" nodeType="withEffect">
                                  <p:stCondLst>
                                    <p:cond delay="75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00"/>
                                        <p:tgtEl>
                                          <p:spTgt spid="42"/>
                                        </p:tgtEl>
                                      </p:cBhvr>
                                    </p:animEffect>
                                  </p:childTnLst>
                                </p:cTn>
                              </p:par>
                              <p:par>
                                <p:cTn id="127" presetID="10" presetClass="entr" presetSubtype="0" fill="hold" nodeType="withEffect">
                                  <p:stCondLst>
                                    <p:cond delay="85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400"/>
                                        <p:tgtEl>
                                          <p:spTgt spid="43"/>
                                        </p:tgtEl>
                                      </p:cBhvr>
                                    </p:animEffect>
                                  </p:childTnLst>
                                </p:cTn>
                              </p:par>
                              <p:par>
                                <p:cTn id="130" presetID="10" presetClass="entr" presetSubtype="0" fill="hold" nodeType="withEffect">
                                  <p:stCondLst>
                                    <p:cond delay="850"/>
                                  </p:stCondLst>
                                  <p:childTnLst>
                                    <p:set>
                                      <p:cBhvr>
                                        <p:cTn id="131" dur="1" fill="hold">
                                          <p:stCondLst>
                                            <p:cond delay="0"/>
                                          </p:stCondLst>
                                        </p:cTn>
                                        <p:tgtEl>
                                          <p:spTgt spid="44"/>
                                        </p:tgtEl>
                                        <p:attrNameLst>
                                          <p:attrName>style.visibility</p:attrName>
                                        </p:attrNameLst>
                                      </p:cBhvr>
                                      <p:to>
                                        <p:strVal val="visible"/>
                                      </p:to>
                                    </p:set>
                                    <p:animEffect transition="in" filter="fade">
                                      <p:cBhvr>
                                        <p:cTn id="132" dur="400"/>
                                        <p:tgtEl>
                                          <p:spTgt spid="44"/>
                                        </p:tgtEl>
                                      </p:cBhvr>
                                    </p:animEffect>
                                  </p:childTnLst>
                                </p:cTn>
                              </p:par>
                              <p:par>
                                <p:cTn id="133" presetID="10" presetClass="entr" presetSubtype="0" fill="hold" nodeType="withEffect">
                                  <p:stCondLst>
                                    <p:cond delay="85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00"/>
                                        <p:tgtEl>
                                          <p:spTgt spid="45"/>
                                        </p:tgtEl>
                                      </p:cBhvr>
                                    </p:animEffect>
                                  </p:childTnLst>
                                </p:cTn>
                              </p:par>
                              <p:par>
                                <p:cTn id="136" presetID="10" presetClass="entr" presetSubtype="0" fill="hold" nodeType="withEffect">
                                  <p:stCondLst>
                                    <p:cond delay="85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400"/>
                                        <p:tgtEl>
                                          <p:spTgt spid="46"/>
                                        </p:tgtEl>
                                      </p:cBhvr>
                                    </p:animEffect>
                                  </p:childTnLst>
                                </p:cTn>
                              </p:par>
                              <p:par>
                                <p:cTn id="139" presetID="10" presetClass="entr" presetSubtype="0" fill="hold" nodeType="withEffect">
                                  <p:stCondLst>
                                    <p:cond delay="850"/>
                                  </p:stCondLst>
                                  <p:childTnLst>
                                    <p:set>
                                      <p:cBhvr>
                                        <p:cTn id="140" dur="1" fill="hold">
                                          <p:stCondLst>
                                            <p:cond delay="0"/>
                                          </p:stCondLst>
                                        </p:cTn>
                                        <p:tgtEl>
                                          <p:spTgt spid="47"/>
                                        </p:tgtEl>
                                        <p:attrNameLst>
                                          <p:attrName>style.visibility</p:attrName>
                                        </p:attrNameLst>
                                      </p:cBhvr>
                                      <p:to>
                                        <p:strVal val="visible"/>
                                      </p:to>
                                    </p:set>
                                    <p:animEffect transition="in" filter="fade">
                                      <p:cBhvr>
                                        <p:cTn id="141" dur="400"/>
                                        <p:tgtEl>
                                          <p:spTgt spid="47"/>
                                        </p:tgtEl>
                                      </p:cBhvr>
                                    </p:animEffect>
                                  </p:childTnLst>
                                </p:cTn>
                              </p:par>
                              <p:par>
                                <p:cTn id="142" presetID="10" presetClass="entr" presetSubtype="0" fill="hold" nodeType="withEffect">
                                  <p:stCondLst>
                                    <p:cond delay="950"/>
                                  </p:stCondLst>
                                  <p:childTnLst>
                                    <p:set>
                                      <p:cBhvr>
                                        <p:cTn id="143" dur="1" fill="hold">
                                          <p:stCondLst>
                                            <p:cond delay="0"/>
                                          </p:stCondLst>
                                        </p:cTn>
                                        <p:tgtEl>
                                          <p:spTgt spid="48"/>
                                        </p:tgtEl>
                                        <p:attrNameLst>
                                          <p:attrName>style.visibility</p:attrName>
                                        </p:attrNameLst>
                                      </p:cBhvr>
                                      <p:to>
                                        <p:strVal val="visible"/>
                                      </p:to>
                                    </p:set>
                                    <p:animEffect transition="in" filter="fade">
                                      <p:cBhvr>
                                        <p:cTn id="144" dur="400"/>
                                        <p:tgtEl>
                                          <p:spTgt spid="48"/>
                                        </p:tgtEl>
                                      </p:cBhvr>
                                    </p:animEffect>
                                  </p:childTnLst>
                                </p:cTn>
                              </p:par>
                              <p:par>
                                <p:cTn id="145" presetID="10" presetClass="entr" presetSubtype="0" fill="hold" nodeType="withEffect">
                                  <p:stCondLst>
                                    <p:cond delay="950"/>
                                  </p:stCondLst>
                                  <p:childTnLst>
                                    <p:set>
                                      <p:cBhvr>
                                        <p:cTn id="146" dur="1" fill="hold">
                                          <p:stCondLst>
                                            <p:cond delay="0"/>
                                          </p:stCondLst>
                                        </p:cTn>
                                        <p:tgtEl>
                                          <p:spTgt spid="49"/>
                                        </p:tgtEl>
                                        <p:attrNameLst>
                                          <p:attrName>style.visibility</p:attrName>
                                        </p:attrNameLst>
                                      </p:cBhvr>
                                      <p:to>
                                        <p:strVal val="visible"/>
                                      </p:to>
                                    </p:set>
                                    <p:animEffect transition="in" filter="fade">
                                      <p:cBhvr>
                                        <p:cTn id="147" dur="400"/>
                                        <p:tgtEl>
                                          <p:spTgt spid="49"/>
                                        </p:tgtEl>
                                      </p:cBhvr>
                                    </p:animEffect>
                                  </p:childTnLst>
                                </p:cTn>
                              </p:par>
                              <p:par>
                                <p:cTn id="148" presetID="10" presetClass="entr" presetSubtype="0" fill="hold" nodeType="withEffect">
                                  <p:stCondLst>
                                    <p:cond delay="950"/>
                                  </p:stCondLst>
                                  <p:childTnLst>
                                    <p:set>
                                      <p:cBhvr>
                                        <p:cTn id="149" dur="1" fill="hold">
                                          <p:stCondLst>
                                            <p:cond delay="0"/>
                                          </p:stCondLst>
                                        </p:cTn>
                                        <p:tgtEl>
                                          <p:spTgt spid="50"/>
                                        </p:tgtEl>
                                        <p:attrNameLst>
                                          <p:attrName>style.visibility</p:attrName>
                                        </p:attrNameLst>
                                      </p:cBhvr>
                                      <p:to>
                                        <p:strVal val="visible"/>
                                      </p:to>
                                    </p:set>
                                    <p:animEffect transition="in" filter="fade">
                                      <p:cBhvr>
                                        <p:cTn id="150" dur="400"/>
                                        <p:tgtEl>
                                          <p:spTgt spid="50"/>
                                        </p:tgtEl>
                                      </p:cBhvr>
                                    </p:animEffect>
                                  </p:childTnLst>
                                </p:cTn>
                              </p:par>
                              <p:par>
                                <p:cTn id="151" presetID="10" presetClass="entr" presetSubtype="0" fill="hold" nodeType="withEffect">
                                  <p:stCondLst>
                                    <p:cond delay="950"/>
                                  </p:stCondLst>
                                  <p:childTnLst>
                                    <p:set>
                                      <p:cBhvr>
                                        <p:cTn id="152" dur="1" fill="hold">
                                          <p:stCondLst>
                                            <p:cond delay="0"/>
                                          </p:stCondLst>
                                        </p:cTn>
                                        <p:tgtEl>
                                          <p:spTgt spid="51"/>
                                        </p:tgtEl>
                                        <p:attrNameLst>
                                          <p:attrName>style.visibility</p:attrName>
                                        </p:attrNameLst>
                                      </p:cBhvr>
                                      <p:to>
                                        <p:strVal val="visible"/>
                                      </p:to>
                                    </p:set>
                                    <p:animEffect transition="in" filter="fade">
                                      <p:cBhvr>
                                        <p:cTn id="153" dur="400"/>
                                        <p:tgtEl>
                                          <p:spTgt spid="51"/>
                                        </p:tgtEl>
                                      </p:cBhvr>
                                    </p:animEffect>
                                  </p:childTnLst>
                                </p:cTn>
                              </p:par>
                              <p:par>
                                <p:cTn id="154" presetID="10" presetClass="entr" presetSubtype="0" fill="hold" nodeType="withEffect">
                                  <p:stCondLst>
                                    <p:cond delay="950"/>
                                  </p:stCondLst>
                                  <p:childTnLst>
                                    <p:set>
                                      <p:cBhvr>
                                        <p:cTn id="155" dur="1" fill="hold">
                                          <p:stCondLst>
                                            <p:cond delay="0"/>
                                          </p:stCondLst>
                                        </p:cTn>
                                        <p:tgtEl>
                                          <p:spTgt spid="52"/>
                                        </p:tgtEl>
                                        <p:attrNameLst>
                                          <p:attrName>style.visibility</p:attrName>
                                        </p:attrNameLst>
                                      </p:cBhvr>
                                      <p:to>
                                        <p:strVal val="visible"/>
                                      </p:to>
                                    </p:set>
                                    <p:animEffect transition="in" filter="fade">
                                      <p:cBhvr>
                                        <p:cTn id="156" dur="400"/>
                                        <p:tgtEl>
                                          <p:spTgt spid="52"/>
                                        </p:tgtEl>
                                      </p:cBhvr>
                                    </p:animEffect>
                                  </p:childTnLst>
                                </p:cTn>
                              </p:par>
                              <p:par>
                                <p:cTn id="157" presetID="10" presetClass="entr" presetSubtype="0" fill="hold" nodeType="withEffect">
                                  <p:stCondLst>
                                    <p:cond delay="1050"/>
                                  </p:stCondLst>
                                  <p:childTnLst>
                                    <p:set>
                                      <p:cBhvr>
                                        <p:cTn id="158" dur="1" fill="hold">
                                          <p:stCondLst>
                                            <p:cond delay="0"/>
                                          </p:stCondLst>
                                        </p:cTn>
                                        <p:tgtEl>
                                          <p:spTgt spid="53"/>
                                        </p:tgtEl>
                                        <p:attrNameLst>
                                          <p:attrName>style.visibility</p:attrName>
                                        </p:attrNameLst>
                                      </p:cBhvr>
                                      <p:to>
                                        <p:strVal val="visible"/>
                                      </p:to>
                                    </p:set>
                                    <p:animEffect transition="in" filter="fade">
                                      <p:cBhvr>
                                        <p:cTn id="159" dur="400"/>
                                        <p:tgtEl>
                                          <p:spTgt spid="53"/>
                                        </p:tgtEl>
                                      </p:cBhvr>
                                    </p:animEffect>
                                  </p:childTnLst>
                                </p:cTn>
                              </p:par>
                              <p:par>
                                <p:cTn id="160" presetID="10" presetClass="entr" presetSubtype="0" fill="hold" nodeType="withEffect">
                                  <p:stCondLst>
                                    <p:cond delay="1050"/>
                                  </p:stCondLst>
                                  <p:childTnLst>
                                    <p:set>
                                      <p:cBhvr>
                                        <p:cTn id="161" dur="1" fill="hold">
                                          <p:stCondLst>
                                            <p:cond delay="0"/>
                                          </p:stCondLst>
                                        </p:cTn>
                                        <p:tgtEl>
                                          <p:spTgt spid="54"/>
                                        </p:tgtEl>
                                        <p:attrNameLst>
                                          <p:attrName>style.visibility</p:attrName>
                                        </p:attrNameLst>
                                      </p:cBhvr>
                                      <p:to>
                                        <p:strVal val="visible"/>
                                      </p:to>
                                    </p:set>
                                    <p:animEffect transition="in" filter="fade">
                                      <p:cBhvr>
                                        <p:cTn id="162" dur="400"/>
                                        <p:tgtEl>
                                          <p:spTgt spid="54"/>
                                        </p:tgtEl>
                                      </p:cBhvr>
                                    </p:animEffect>
                                  </p:childTnLst>
                                </p:cTn>
                              </p:par>
                              <p:par>
                                <p:cTn id="163" presetID="10" presetClass="entr" presetSubtype="0" fill="hold" nodeType="withEffect">
                                  <p:stCondLst>
                                    <p:cond delay="1050"/>
                                  </p:stCondLst>
                                  <p:childTnLst>
                                    <p:set>
                                      <p:cBhvr>
                                        <p:cTn id="164" dur="1" fill="hold">
                                          <p:stCondLst>
                                            <p:cond delay="0"/>
                                          </p:stCondLst>
                                        </p:cTn>
                                        <p:tgtEl>
                                          <p:spTgt spid="55"/>
                                        </p:tgtEl>
                                        <p:attrNameLst>
                                          <p:attrName>style.visibility</p:attrName>
                                        </p:attrNameLst>
                                      </p:cBhvr>
                                      <p:to>
                                        <p:strVal val="visible"/>
                                      </p:to>
                                    </p:set>
                                    <p:animEffect transition="in" filter="fade">
                                      <p:cBhvr>
                                        <p:cTn id="165" dur="400"/>
                                        <p:tgtEl>
                                          <p:spTgt spid="55"/>
                                        </p:tgtEl>
                                      </p:cBhvr>
                                    </p:animEffect>
                                  </p:childTnLst>
                                </p:cTn>
                              </p:par>
                              <p:par>
                                <p:cTn id="166" presetID="10" presetClass="entr" presetSubtype="0" fill="hold" nodeType="withEffect">
                                  <p:stCondLst>
                                    <p:cond delay="1050"/>
                                  </p:stCondLst>
                                  <p:childTnLst>
                                    <p:set>
                                      <p:cBhvr>
                                        <p:cTn id="167" dur="1" fill="hold">
                                          <p:stCondLst>
                                            <p:cond delay="0"/>
                                          </p:stCondLst>
                                        </p:cTn>
                                        <p:tgtEl>
                                          <p:spTgt spid="56"/>
                                        </p:tgtEl>
                                        <p:attrNameLst>
                                          <p:attrName>style.visibility</p:attrName>
                                        </p:attrNameLst>
                                      </p:cBhvr>
                                      <p:to>
                                        <p:strVal val="visible"/>
                                      </p:to>
                                    </p:set>
                                    <p:animEffect transition="in" filter="fade">
                                      <p:cBhvr>
                                        <p:cTn id="168" dur="400"/>
                                        <p:tgtEl>
                                          <p:spTgt spid="56"/>
                                        </p:tgtEl>
                                      </p:cBhvr>
                                    </p:animEffect>
                                  </p:childTnLst>
                                </p:cTn>
                              </p:par>
                              <p:par>
                                <p:cTn id="169" presetID="10" presetClass="entr" presetSubtype="0" fill="hold" nodeType="withEffect">
                                  <p:stCondLst>
                                    <p:cond delay="1050"/>
                                  </p:stCondLst>
                                  <p:childTnLst>
                                    <p:set>
                                      <p:cBhvr>
                                        <p:cTn id="170" dur="1" fill="hold">
                                          <p:stCondLst>
                                            <p:cond delay="0"/>
                                          </p:stCondLst>
                                        </p:cTn>
                                        <p:tgtEl>
                                          <p:spTgt spid="57"/>
                                        </p:tgtEl>
                                        <p:attrNameLst>
                                          <p:attrName>style.visibility</p:attrName>
                                        </p:attrNameLst>
                                      </p:cBhvr>
                                      <p:to>
                                        <p:strVal val="visible"/>
                                      </p:to>
                                    </p:set>
                                    <p:animEffect transition="in" filter="fade">
                                      <p:cBhvr>
                                        <p:cTn id="171" dur="400"/>
                                        <p:tgtEl>
                                          <p:spTgt spid="57"/>
                                        </p:tgtEl>
                                      </p:cBhvr>
                                    </p:animEffect>
                                  </p:childTnLst>
                                </p:cTn>
                              </p:par>
                              <p:par>
                                <p:cTn id="172" presetID="10" presetClass="entr" presetSubtype="0" fill="hold" nodeType="withEffect">
                                  <p:stCondLst>
                                    <p:cond delay="1150"/>
                                  </p:stCondLst>
                                  <p:childTnLst>
                                    <p:set>
                                      <p:cBhvr>
                                        <p:cTn id="173" dur="1" fill="hold">
                                          <p:stCondLst>
                                            <p:cond delay="0"/>
                                          </p:stCondLst>
                                        </p:cTn>
                                        <p:tgtEl>
                                          <p:spTgt spid="58"/>
                                        </p:tgtEl>
                                        <p:attrNameLst>
                                          <p:attrName>style.visibility</p:attrName>
                                        </p:attrNameLst>
                                      </p:cBhvr>
                                      <p:to>
                                        <p:strVal val="visible"/>
                                      </p:to>
                                    </p:set>
                                    <p:animEffect transition="in" filter="fade">
                                      <p:cBhvr>
                                        <p:cTn id="174" dur="400"/>
                                        <p:tgtEl>
                                          <p:spTgt spid="58"/>
                                        </p:tgtEl>
                                      </p:cBhvr>
                                    </p:animEffect>
                                  </p:childTnLst>
                                </p:cTn>
                              </p:par>
                              <p:par>
                                <p:cTn id="175" presetID="10" presetClass="entr" presetSubtype="0" fill="hold" nodeType="withEffect">
                                  <p:stCondLst>
                                    <p:cond delay="1150"/>
                                  </p:stCondLst>
                                  <p:childTnLst>
                                    <p:set>
                                      <p:cBhvr>
                                        <p:cTn id="176" dur="1" fill="hold">
                                          <p:stCondLst>
                                            <p:cond delay="0"/>
                                          </p:stCondLst>
                                        </p:cTn>
                                        <p:tgtEl>
                                          <p:spTgt spid="59"/>
                                        </p:tgtEl>
                                        <p:attrNameLst>
                                          <p:attrName>style.visibility</p:attrName>
                                        </p:attrNameLst>
                                      </p:cBhvr>
                                      <p:to>
                                        <p:strVal val="visible"/>
                                      </p:to>
                                    </p:set>
                                    <p:animEffect transition="in" filter="fade">
                                      <p:cBhvr>
                                        <p:cTn id="177" dur="400"/>
                                        <p:tgtEl>
                                          <p:spTgt spid="59"/>
                                        </p:tgtEl>
                                      </p:cBhvr>
                                    </p:animEffect>
                                  </p:childTnLst>
                                </p:cTn>
                              </p:par>
                              <p:par>
                                <p:cTn id="178" presetID="10" presetClass="entr" presetSubtype="0" fill="hold" nodeType="withEffect">
                                  <p:stCondLst>
                                    <p:cond delay="1150"/>
                                  </p:stCondLst>
                                  <p:childTnLst>
                                    <p:set>
                                      <p:cBhvr>
                                        <p:cTn id="179" dur="1" fill="hold">
                                          <p:stCondLst>
                                            <p:cond delay="0"/>
                                          </p:stCondLst>
                                        </p:cTn>
                                        <p:tgtEl>
                                          <p:spTgt spid="60"/>
                                        </p:tgtEl>
                                        <p:attrNameLst>
                                          <p:attrName>style.visibility</p:attrName>
                                        </p:attrNameLst>
                                      </p:cBhvr>
                                      <p:to>
                                        <p:strVal val="visible"/>
                                      </p:to>
                                    </p:set>
                                    <p:animEffect transition="in" filter="fade">
                                      <p:cBhvr>
                                        <p:cTn id="180" dur="400"/>
                                        <p:tgtEl>
                                          <p:spTgt spid="60"/>
                                        </p:tgtEl>
                                      </p:cBhvr>
                                    </p:animEffect>
                                  </p:childTnLst>
                                </p:cTn>
                              </p:par>
                              <p:par>
                                <p:cTn id="181" presetID="10" presetClass="entr" presetSubtype="0" fill="hold" nodeType="withEffect">
                                  <p:stCondLst>
                                    <p:cond delay="1150"/>
                                  </p:stCondLst>
                                  <p:childTnLst>
                                    <p:set>
                                      <p:cBhvr>
                                        <p:cTn id="182" dur="1" fill="hold">
                                          <p:stCondLst>
                                            <p:cond delay="0"/>
                                          </p:stCondLst>
                                        </p:cTn>
                                        <p:tgtEl>
                                          <p:spTgt spid="61"/>
                                        </p:tgtEl>
                                        <p:attrNameLst>
                                          <p:attrName>style.visibility</p:attrName>
                                        </p:attrNameLst>
                                      </p:cBhvr>
                                      <p:to>
                                        <p:strVal val="visible"/>
                                      </p:to>
                                    </p:set>
                                    <p:animEffect transition="in" filter="fade">
                                      <p:cBhvr>
                                        <p:cTn id="183" dur="400"/>
                                        <p:tgtEl>
                                          <p:spTgt spid="61"/>
                                        </p:tgtEl>
                                      </p:cBhvr>
                                    </p:animEffect>
                                  </p:childTnLst>
                                </p:cTn>
                              </p:par>
                              <p:par>
                                <p:cTn id="184" presetID="10" presetClass="entr" presetSubtype="0" fill="hold" nodeType="withEffect">
                                  <p:stCondLst>
                                    <p:cond delay="1150"/>
                                  </p:stCondLst>
                                  <p:childTnLst>
                                    <p:set>
                                      <p:cBhvr>
                                        <p:cTn id="185" dur="1" fill="hold">
                                          <p:stCondLst>
                                            <p:cond delay="0"/>
                                          </p:stCondLst>
                                        </p:cTn>
                                        <p:tgtEl>
                                          <p:spTgt spid="62"/>
                                        </p:tgtEl>
                                        <p:attrNameLst>
                                          <p:attrName>style.visibility</p:attrName>
                                        </p:attrNameLst>
                                      </p:cBhvr>
                                      <p:to>
                                        <p:strVal val="visible"/>
                                      </p:to>
                                    </p:set>
                                    <p:animEffect transition="in" filter="fade">
                                      <p:cBhvr>
                                        <p:cTn id="186" dur="400"/>
                                        <p:tgtEl>
                                          <p:spTgt spid="62"/>
                                        </p:tgtEl>
                                      </p:cBhvr>
                                    </p:animEffect>
                                  </p:childTnLst>
                                </p:cTn>
                              </p:par>
                              <p:par>
                                <p:cTn id="187" presetID="10" presetClass="entr" presetSubtype="0" fill="hold" nodeType="withEffect">
                                  <p:stCondLst>
                                    <p:cond delay="1400"/>
                                  </p:stCondLst>
                                  <p:childTnLst>
                                    <p:set>
                                      <p:cBhvr>
                                        <p:cTn id="188" dur="1" fill="hold">
                                          <p:stCondLst>
                                            <p:cond delay="0"/>
                                          </p:stCondLst>
                                        </p:cTn>
                                        <p:tgtEl>
                                          <p:spTgt spid="63"/>
                                        </p:tgtEl>
                                        <p:attrNameLst>
                                          <p:attrName>style.visibility</p:attrName>
                                        </p:attrNameLst>
                                      </p:cBhvr>
                                      <p:to>
                                        <p:strVal val="visible"/>
                                      </p:to>
                                    </p:set>
                                    <p:animEffect transition="in" filter="fade">
                                      <p:cBhvr>
                                        <p:cTn id="189" dur="400"/>
                                        <p:tgtEl>
                                          <p:spTgt spid="63"/>
                                        </p:tgtEl>
                                      </p:cBhvr>
                                    </p:animEffect>
                                  </p:childTnLst>
                                </p:cTn>
                              </p:par>
                              <p:par>
                                <p:cTn id="190" presetID="10" presetClass="entr" presetSubtype="0" fill="hold" nodeType="withEffect">
                                  <p:stCondLst>
                                    <p:cond delay="1400"/>
                                  </p:stCondLst>
                                  <p:childTnLst>
                                    <p:set>
                                      <p:cBhvr>
                                        <p:cTn id="191" dur="1" fill="hold">
                                          <p:stCondLst>
                                            <p:cond delay="0"/>
                                          </p:stCondLst>
                                        </p:cTn>
                                        <p:tgtEl>
                                          <p:spTgt spid="64"/>
                                        </p:tgtEl>
                                        <p:attrNameLst>
                                          <p:attrName>style.visibility</p:attrName>
                                        </p:attrNameLst>
                                      </p:cBhvr>
                                      <p:to>
                                        <p:strVal val="visible"/>
                                      </p:to>
                                    </p:set>
                                    <p:animEffect transition="in" filter="fade">
                                      <p:cBhvr>
                                        <p:cTn id="192" dur="400"/>
                                        <p:tgtEl>
                                          <p:spTgt spid="64"/>
                                        </p:tgtEl>
                                      </p:cBhvr>
                                    </p:animEffect>
                                  </p:childTnLst>
                                </p:cTn>
                              </p:par>
                              <p:par>
                                <p:cTn id="193" presetID="10" presetClass="entr" presetSubtype="0" fill="hold" nodeType="withEffect">
                                  <p:stCondLst>
                                    <p:cond delay="1400"/>
                                  </p:stCondLst>
                                  <p:childTnLst>
                                    <p:set>
                                      <p:cBhvr>
                                        <p:cTn id="194" dur="1" fill="hold">
                                          <p:stCondLst>
                                            <p:cond delay="0"/>
                                          </p:stCondLst>
                                        </p:cTn>
                                        <p:tgtEl>
                                          <p:spTgt spid="65"/>
                                        </p:tgtEl>
                                        <p:attrNameLst>
                                          <p:attrName>style.visibility</p:attrName>
                                        </p:attrNameLst>
                                      </p:cBhvr>
                                      <p:to>
                                        <p:strVal val="visible"/>
                                      </p:to>
                                    </p:set>
                                    <p:animEffect transition="in" filter="fade">
                                      <p:cBhvr>
                                        <p:cTn id="195" dur="400"/>
                                        <p:tgtEl>
                                          <p:spTgt spid="65"/>
                                        </p:tgtEl>
                                      </p:cBhvr>
                                    </p:animEffect>
                                  </p:childTnLst>
                                </p:cTn>
                              </p:par>
                              <p:par>
                                <p:cTn id="196" presetID="10" presetClass="entr" presetSubtype="0" fill="hold" nodeType="withEffect">
                                  <p:stCondLst>
                                    <p:cond delay="1400"/>
                                  </p:stCondLst>
                                  <p:childTnLst>
                                    <p:set>
                                      <p:cBhvr>
                                        <p:cTn id="197" dur="1" fill="hold">
                                          <p:stCondLst>
                                            <p:cond delay="0"/>
                                          </p:stCondLst>
                                        </p:cTn>
                                        <p:tgtEl>
                                          <p:spTgt spid="66"/>
                                        </p:tgtEl>
                                        <p:attrNameLst>
                                          <p:attrName>style.visibility</p:attrName>
                                        </p:attrNameLst>
                                      </p:cBhvr>
                                      <p:to>
                                        <p:strVal val="visible"/>
                                      </p:to>
                                    </p:set>
                                    <p:animEffect transition="in" filter="fade">
                                      <p:cBhvr>
                                        <p:cTn id="198" dur="400"/>
                                        <p:tgtEl>
                                          <p:spTgt spid="66"/>
                                        </p:tgtEl>
                                      </p:cBhvr>
                                    </p:animEffect>
                                  </p:childTnLst>
                                </p:cTn>
                              </p:par>
                              <p:par>
                                <p:cTn id="199" presetID="10" presetClass="entr" presetSubtype="0" fill="hold" nodeType="withEffect">
                                  <p:stCondLst>
                                    <p:cond delay="1400"/>
                                  </p:stCondLst>
                                  <p:childTnLst>
                                    <p:set>
                                      <p:cBhvr>
                                        <p:cTn id="200" dur="1" fill="hold">
                                          <p:stCondLst>
                                            <p:cond delay="0"/>
                                          </p:stCondLst>
                                        </p:cTn>
                                        <p:tgtEl>
                                          <p:spTgt spid="67"/>
                                        </p:tgtEl>
                                        <p:attrNameLst>
                                          <p:attrName>style.visibility</p:attrName>
                                        </p:attrNameLst>
                                      </p:cBhvr>
                                      <p:to>
                                        <p:strVal val="visible"/>
                                      </p:to>
                                    </p:set>
                                    <p:animEffect transition="in" filter="fade">
                                      <p:cBhvr>
                                        <p:cTn id="201" dur="400"/>
                                        <p:tgtEl>
                                          <p:spTgt spid="67"/>
                                        </p:tgtEl>
                                      </p:cBhvr>
                                    </p:animEffect>
                                  </p:childTnLst>
                                </p:cTn>
                              </p:par>
                              <p:par>
                                <p:cTn id="202" presetID="10" presetClass="entr" presetSubtype="0" fill="hold" nodeType="withEffect">
                                  <p:stCondLst>
                                    <p:cond delay="1700"/>
                                  </p:stCondLst>
                                  <p:childTnLst>
                                    <p:set>
                                      <p:cBhvr>
                                        <p:cTn id="203" dur="1" fill="hold">
                                          <p:stCondLst>
                                            <p:cond delay="0"/>
                                          </p:stCondLst>
                                        </p:cTn>
                                        <p:tgtEl>
                                          <p:spTgt spid="68"/>
                                        </p:tgtEl>
                                        <p:attrNameLst>
                                          <p:attrName>style.visibility</p:attrName>
                                        </p:attrNameLst>
                                      </p:cBhvr>
                                      <p:to>
                                        <p:strVal val="visible"/>
                                      </p:to>
                                    </p:set>
                                    <p:animEffect transition="in" filter="fade">
                                      <p:cBhvr>
                                        <p:cTn id="204" dur="400"/>
                                        <p:tgtEl>
                                          <p:spTgt spid="68"/>
                                        </p:tgtEl>
                                      </p:cBhvr>
                                    </p:animEffect>
                                  </p:childTnLst>
                                </p:cTn>
                              </p:par>
                              <p:par>
                                <p:cTn id="205" presetID="10" presetClass="entr" presetSubtype="0" fill="hold" nodeType="withEffect">
                                  <p:stCondLst>
                                    <p:cond delay="2000"/>
                                  </p:stCondLst>
                                  <p:childTnLst>
                                    <p:set>
                                      <p:cBhvr>
                                        <p:cTn id="206" dur="1" fill="hold">
                                          <p:stCondLst>
                                            <p:cond delay="0"/>
                                          </p:stCondLst>
                                        </p:cTn>
                                        <p:tgtEl>
                                          <p:spTgt spid="69"/>
                                        </p:tgtEl>
                                        <p:attrNameLst>
                                          <p:attrName>style.visibility</p:attrName>
                                        </p:attrNameLst>
                                      </p:cBhvr>
                                      <p:to>
                                        <p:strVal val="visible"/>
                                      </p:to>
                                    </p:set>
                                    <p:animEffect transition="in" filter="fade">
                                      <p:cBhvr>
                                        <p:cTn id="207"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1"/>
          <p:cNvSpPr/>
          <p:nvPr/>
        </p:nvSpPr>
        <p:spPr>
          <a:xfrm>
            <a:off x="274320" y="228600"/>
            <a:ext cx="11643055" cy="5897880"/>
          </a:xfrm>
          <a:prstGeom prst="roundRect">
            <a:avLst>
              <a:gd name="adj" fmla="val 217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2"/>
          <p:cNvSpPr/>
          <p:nvPr/>
        </p:nvSpPr>
        <p:spPr>
          <a:xfrm>
            <a:off x="342900" y="297180"/>
            <a:ext cx="11505895" cy="5760720"/>
          </a:xfrm>
          <a:prstGeom prst="roundRect">
            <a:avLst>
              <a:gd name="adj" fmla="val 103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3"/>
          <p:cNvSpPr/>
          <p:nvPr/>
        </p:nvSpPr>
        <p:spPr>
          <a:xfrm>
            <a:off x="868680"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4"/>
          <p:cNvSpPr/>
          <p:nvPr/>
        </p:nvSpPr>
        <p:spPr>
          <a:xfrm>
            <a:off x="937259"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9768535" y="822960"/>
            <a:ext cx="1554480" cy="457200"/>
          </a:xfrm>
          <a:prstGeom prst="roundRect">
            <a:avLst>
              <a:gd name="adj" fmla="val 28000"/>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6"/>
          <p:cNvSpPr/>
          <p:nvPr/>
        </p:nvSpPr>
        <p:spPr>
          <a:xfrm>
            <a:off x="9837115" y="891540"/>
            <a:ext cx="1417320" cy="320040"/>
          </a:xfrm>
          <a:prstGeom prst="roundRect">
            <a:avLst>
              <a:gd name="adj" fmla="val 18571"/>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o7" descr="image-16-1.png"/>
          <p:cNvPicPr>
            <a:picLocks noChangeAspect="1"/>
          </p:cNvPicPr>
          <p:nvPr/>
        </p:nvPicPr>
        <p:blipFill>
          <a:blip r:embed="rId3"/>
          <a:stretch>
            <a:fillRect/>
          </a:stretch>
        </p:blipFill>
        <p:spPr>
          <a:xfrm>
            <a:off x="1051560" y="1463040"/>
            <a:ext cx="548640" cy="548640"/>
          </a:xfrm>
          <a:prstGeom prst="rect">
            <a:avLst/>
          </a:prstGeom>
        </p:spPr>
      </p:pic>
      <p:pic>
        <p:nvPicPr>
          <p:cNvPr id="9" name="o8" descr="LEVEL 6"/>
          <p:cNvPicPr>
            <a:picLocks noChangeAspect="1"/>
          </p:cNvPicPr>
          <p:nvPr/>
        </p:nvPicPr>
        <p:blipFill>
          <a:blip r:embed="rId4"/>
          <a:stretch>
            <a:fillRect/>
          </a:stretch>
        </p:blipFill>
        <p:spPr>
          <a:xfrm>
            <a:off x="1737360" y="1691640"/>
            <a:ext cx="1664208" cy="237744"/>
          </a:xfrm>
          <a:prstGeom prst="rect">
            <a:avLst/>
          </a:prstGeom>
        </p:spPr>
      </p:pic>
      <p:pic>
        <p:nvPicPr>
          <p:cNvPr id="10" name="o9" descr="LIVE"/>
          <p:cNvPicPr>
            <a:picLocks noChangeAspect="1"/>
          </p:cNvPicPr>
          <p:nvPr/>
        </p:nvPicPr>
        <p:blipFill>
          <a:blip r:embed="rId5"/>
          <a:stretch>
            <a:fillRect/>
          </a:stretch>
        </p:blipFill>
        <p:spPr>
          <a:xfrm>
            <a:off x="1051560" y="2286000"/>
            <a:ext cx="2743200" cy="685800"/>
          </a:xfrm>
          <a:prstGeom prst="rect">
            <a:avLst/>
          </a:prstGeom>
        </p:spPr>
      </p:pic>
      <p:pic>
        <p:nvPicPr>
          <p:cNvPr id="11" name="o10" descr="DEMO"/>
          <p:cNvPicPr>
            <a:picLocks noChangeAspect="1"/>
          </p:cNvPicPr>
          <p:nvPr/>
        </p:nvPicPr>
        <p:blipFill>
          <a:blip r:embed="rId6"/>
          <a:stretch>
            <a:fillRect/>
          </a:stretch>
        </p:blipFill>
        <p:spPr>
          <a:xfrm>
            <a:off x="1051560" y="3108960"/>
            <a:ext cx="2743200" cy="685800"/>
          </a:xfrm>
          <a:prstGeom prst="rect">
            <a:avLst/>
          </a:prstGeom>
        </p:spPr>
      </p:pic>
      <p:pic>
        <p:nvPicPr>
          <p:cNvPr id="12" name="o11" descr="INSERT COIN"/>
          <p:cNvPicPr>
            <a:picLocks noChangeAspect="1"/>
          </p:cNvPicPr>
          <p:nvPr/>
        </p:nvPicPr>
        <p:blipFill>
          <a:blip r:embed="rId7"/>
          <a:stretch>
            <a:fillRect/>
          </a:stretch>
        </p:blipFill>
        <p:spPr>
          <a:xfrm>
            <a:off x="1051560" y="4023360"/>
            <a:ext cx="2212848" cy="201168"/>
          </a:xfrm>
          <a:prstGeom prst="rect">
            <a:avLst/>
          </a:prstGeom>
        </p:spPr>
      </p:pic>
      <p:sp>
        <p:nvSpPr>
          <p:cNvPr id="13" name="o12"/>
          <p:cNvSpPr txBox="1"/>
          <p:nvPr/>
        </p:nvSpPr>
        <p:spPr>
          <a:xfrm>
            <a:off x="1051560" y="4434840"/>
            <a:ext cx="4572000" cy="365760"/>
          </a:xfrm>
          <a:prstGeom prst="rect">
            <a:avLst/>
          </a:prstGeom>
          <a:noFill/>
        </p:spPr>
        <p:txBody>
          <a:bodyPr wrap="square" lIns="0" rIns="0" tIns="0" bIns="0" anchor="t">
            <a:spAutoFit/>
          </a:bodyPr>
          <a:lstStyle/>
          <a:p>
            <a:pPr algn="l"/>
            <a:r>
              <a:rPr sz="2000" b="0" i="0">
                <a:solidFill>
                  <a:srgbClr val="C4C4E4"/>
                </a:solidFill>
                <a:latin typeface="Arial"/>
              </a:rPr>
              <a:t>Streamlit · 9 pages · les 2 bases</a:t>
            </a:r>
          </a:p>
        </p:txBody>
      </p:sp>
      <p:sp>
        <p:nvSpPr>
          <p:cNvPr id="14" name="o13"/>
          <p:cNvSpPr txBox="1"/>
          <p:nvPr/>
        </p:nvSpPr>
        <p:spPr>
          <a:xfrm>
            <a:off x="1051560" y="4937760"/>
            <a:ext cx="4572000" cy="320040"/>
          </a:xfrm>
          <a:prstGeom prst="rect">
            <a:avLst/>
          </a:prstGeom>
          <a:noFill/>
        </p:spPr>
        <p:txBody>
          <a:bodyPr wrap="square" lIns="0" rIns="0" tIns="0" bIns="0" anchor="t">
            <a:spAutoFit/>
          </a:bodyPr>
          <a:lstStyle/>
          <a:p>
            <a:pPr algn="l"/>
            <a:r>
              <a:rPr sz="1400" b="1" i="0">
                <a:solidFill>
                  <a:srgbClr val="00FFFF"/>
                </a:solidFill>
                <a:latin typeface="Courier New"/>
              </a:rPr>
              <a:t>python run_app.py  →  localhost:8501</a:t>
            </a:r>
          </a:p>
        </p:txBody>
      </p:sp>
      <p:sp>
        <p:nvSpPr>
          <p:cNvPr id="15" name="o14"/>
          <p:cNvSpPr/>
          <p:nvPr/>
        </p:nvSpPr>
        <p:spPr>
          <a:xfrm>
            <a:off x="6263640" y="1463040"/>
            <a:ext cx="4937760" cy="1005840"/>
          </a:xfrm>
          <a:prstGeom prst="roundRect">
            <a:avLst>
              <a:gd name="adj" fmla="val 12727"/>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15"/>
          <p:cNvSpPr/>
          <p:nvPr/>
        </p:nvSpPr>
        <p:spPr>
          <a:xfrm>
            <a:off x="6332220" y="1531620"/>
            <a:ext cx="4800600" cy="868680"/>
          </a:xfrm>
          <a:prstGeom prst="roundRect">
            <a:avLst>
              <a:gd name="adj" fmla="val 6842"/>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o16" descr="icone_etoile.png"/>
          <p:cNvPicPr>
            <a:picLocks noChangeAspect="1"/>
          </p:cNvPicPr>
          <p:nvPr/>
        </p:nvPicPr>
        <p:blipFill>
          <a:blip r:embed="rId8"/>
          <a:stretch>
            <a:fillRect/>
          </a:stretch>
        </p:blipFill>
        <p:spPr>
          <a:xfrm>
            <a:off x="6537960" y="1737360"/>
            <a:ext cx="457200" cy="457200"/>
          </a:xfrm>
          <a:prstGeom prst="rect">
            <a:avLst/>
          </a:prstGeom>
        </p:spPr>
      </p:pic>
      <p:pic>
        <p:nvPicPr>
          <p:cNvPr id="18" name="o17" descr="QUETE 1"/>
          <p:cNvPicPr>
            <a:picLocks noChangeAspect="1"/>
          </p:cNvPicPr>
          <p:nvPr/>
        </p:nvPicPr>
        <p:blipFill>
          <a:blip r:embed="rId9"/>
          <a:stretch>
            <a:fillRect/>
          </a:stretch>
        </p:blipFill>
        <p:spPr>
          <a:xfrm>
            <a:off x="7223760" y="1618488"/>
            <a:ext cx="832104" cy="118872"/>
          </a:xfrm>
          <a:prstGeom prst="rect">
            <a:avLst/>
          </a:prstGeom>
        </p:spPr>
      </p:pic>
      <p:sp>
        <p:nvSpPr>
          <p:cNvPr id="19" name="o18"/>
          <p:cNvSpPr txBox="1"/>
          <p:nvPr/>
        </p:nvSpPr>
        <p:spPr>
          <a:xfrm>
            <a:off x="7223760" y="1810512"/>
            <a:ext cx="3840480" cy="320040"/>
          </a:xfrm>
          <a:prstGeom prst="rect">
            <a:avLst/>
          </a:prstGeom>
          <a:noFill/>
        </p:spPr>
        <p:txBody>
          <a:bodyPr wrap="square" lIns="0" rIns="0" tIns="0" bIns="0" anchor="t">
            <a:spAutoFit/>
          </a:bodyPr>
          <a:lstStyle/>
          <a:p>
            <a:pPr algn="l"/>
            <a:r>
              <a:rPr sz="1700" b="1" i="0">
                <a:solidFill>
                  <a:srgbClr val="FFFFFF"/>
                </a:solidFill>
                <a:latin typeface="Arial"/>
              </a:rPr>
              <a:t>Cliquer sur un jeu : GTA V</a:t>
            </a:r>
          </a:p>
        </p:txBody>
      </p:sp>
      <p:sp>
        <p:nvSpPr>
          <p:cNvPr id="20" name="o19"/>
          <p:cNvSpPr txBox="1"/>
          <p:nvPr/>
        </p:nvSpPr>
        <p:spPr>
          <a:xfrm>
            <a:off x="7223760" y="2121408"/>
            <a:ext cx="3886200" cy="274320"/>
          </a:xfrm>
          <a:prstGeom prst="rect">
            <a:avLst/>
          </a:prstGeom>
          <a:noFill/>
        </p:spPr>
        <p:txBody>
          <a:bodyPr wrap="square" lIns="0" rIns="0" tIns="0" bIns="0" anchor="t">
            <a:spAutoFit/>
          </a:bodyPr>
          <a:lstStyle/>
          <a:p>
            <a:pPr algn="l"/>
            <a:r>
              <a:rPr sz="1200" b="0" i="0">
                <a:solidFill>
                  <a:srgbClr val="C4C4E4"/>
                </a:solidFill>
                <a:latin typeface="Arial"/>
              </a:rPr>
              <a:t>profil régional (base 1) + notes presse et joueurs (base 2)</a:t>
            </a:r>
          </a:p>
        </p:txBody>
      </p:sp>
      <p:sp>
        <p:nvSpPr>
          <p:cNvPr id="21" name="o20"/>
          <p:cNvSpPr/>
          <p:nvPr/>
        </p:nvSpPr>
        <p:spPr>
          <a:xfrm>
            <a:off x="6263640" y="2651760"/>
            <a:ext cx="4937760" cy="1005840"/>
          </a:xfrm>
          <a:prstGeom prst="roundRect">
            <a:avLst>
              <a:gd name="adj" fmla="val 12727"/>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21"/>
          <p:cNvSpPr/>
          <p:nvPr/>
        </p:nvSpPr>
        <p:spPr>
          <a:xfrm>
            <a:off x="6332220" y="2720340"/>
            <a:ext cx="4800600" cy="868680"/>
          </a:xfrm>
          <a:prstGeom prst="roundRect">
            <a:avLst>
              <a:gd name="adj" fmla="val 6842"/>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o22" descr="image-16-6.png"/>
          <p:cNvPicPr>
            <a:picLocks noChangeAspect="1"/>
          </p:cNvPicPr>
          <p:nvPr/>
        </p:nvPicPr>
        <p:blipFill>
          <a:blip r:embed="rId10"/>
          <a:stretch>
            <a:fillRect/>
          </a:stretch>
        </p:blipFill>
        <p:spPr>
          <a:xfrm>
            <a:off x="6537960" y="2926080"/>
            <a:ext cx="457200" cy="457200"/>
          </a:xfrm>
          <a:prstGeom prst="rect">
            <a:avLst/>
          </a:prstGeom>
        </p:spPr>
      </p:pic>
      <p:pic>
        <p:nvPicPr>
          <p:cNvPr id="24" name="o23" descr="QUETE 2"/>
          <p:cNvPicPr>
            <a:picLocks noChangeAspect="1"/>
          </p:cNvPicPr>
          <p:nvPr/>
        </p:nvPicPr>
        <p:blipFill>
          <a:blip r:embed="rId11"/>
          <a:stretch>
            <a:fillRect/>
          </a:stretch>
        </p:blipFill>
        <p:spPr>
          <a:xfrm>
            <a:off x="7223760" y="2807208"/>
            <a:ext cx="832104" cy="118872"/>
          </a:xfrm>
          <a:prstGeom prst="rect">
            <a:avLst/>
          </a:prstGeom>
        </p:spPr>
      </p:pic>
      <p:sp>
        <p:nvSpPr>
          <p:cNvPr id="25" name="o24"/>
          <p:cNvSpPr txBox="1"/>
          <p:nvPr/>
        </p:nvSpPr>
        <p:spPr>
          <a:xfrm>
            <a:off x="7223760" y="2999232"/>
            <a:ext cx="3840480" cy="320040"/>
          </a:xfrm>
          <a:prstGeom prst="rect">
            <a:avLst/>
          </a:prstGeom>
          <a:noFill/>
        </p:spPr>
        <p:txBody>
          <a:bodyPr wrap="square" lIns="0" rIns="0" tIns="0" bIns="0" anchor="t">
            <a:spAutoFit/>
          </a:bodyPr>
          <a:lstStyle/>
          <a:p>
            <a:pPr algn="l"/>
            <a:r>
              <a:rPr sz="1700" b="1" i="0">
                <a:solidFill>
                  <a:srgbClr val="FFFFFF"/>
                </a:solidFill>
                <a:latin typeface="Arial"/>
              </a:rPr>
              <a:t>Régler les poids du MPI</a:t>
            </a:r>
          </a:p>
        </p:txBody>
      </p:sp>
      <p:sp>
        <p:nvSpPr>
          <p:cNvPr id="26" name="o25"/>
          <p:cNvSpPr txBox="1"/>
          <p:nvPr/>
        </p:nvSpPr>
        <p:spPr>
          <a:xfrm>
            <a:off x="7223760" y="3310128"/>
            <a:ext cx="3886200" cy="274320"/>
          </a:xfrm>
          <a:prstGeom prst="rect">
            <a:avLst/>
          </a:prstGeom>
          <a:noFill/>
        </p:spPr>
        <p:txBody>
          <a:bodyPr wrap="square" lIns="0" rIns="0" tIns="0" bIns="0" anchor="t">
            <a:spAutoFit/>
          </a:bodyPr>
          <a:lstStyle/>
          <a:p>
            <a:pPr algn="l"/>
            <a:r>
              <a:rPr sz="1200" b="0" i="0">
                <a:solidFill>
                  <a:srgbClr val="C4C4E4"/>
                </a:solidFill>
                <a:latin typeface="Arial"/>
              </a:rPr>
              <a:t>puis la qualité perçue : Bethesda et Microsoft montent</a:t>
            </a:r>
          </a:p>
        </p:txBody>
      </p:sp>
      <p:sp>
        <p:nvSpPr>
          <p:cNvPr id="27" name="o26"/>
          <p:cNvSpPr/>
          <p:nvPr/>
        </p:nvSpPr>
        <p:spPr>
          <a:xfrm>
            <a:off x="6263640" y="3840480"/>
            <a:ext cx="4937760" cy="1005840"/>
          </a:xfrm>
          <a:prstGeom prst="roundRect">
            <a:avLst>
              <a:gd name="adj" fmla="val 12727"/>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27"/>
          <p:cNvSpPr/>
          <p:nvPr/>
        </p:nvSpPr>
        <p:spPr>
          <a:xfrm>
            <a:off x="6332220" y="3909060"/>
            <a:ext cx="4800600" cy="868680"/>
          </a:xfrm>
          <a:prstGeom prst="roundRect">
            <a:avLst>
              <a:gd name="adj" fmla="val 6842"/>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o28" descr="image-16-10.png"/>
          <p:cNvPicPr>
            <a:picLocks noChangeAspect="1"/>
          </p:cNvPicPr>
          <p:nvPr/>
        </p:nvPicPr>
        <p:blipFill>
          <a:blip r:embed="rId12"/>
          <a:stretch>
            <a:fillRect/>
          </a:stretch>
        </p:blipFill>
        <p:spPr>
          <a:xfrm>
            <a:off x="6537960" y="4114800"/>
            <a:ext cx="457200" cy="457200"/>
          </a:xfrm>
          <a:prstGeom prst="rect">
            <a:avLst/>
          </a:prstGeom>
        </p:spPr>
      </p:pic>
      <p:pic>
        <p:nvPicPr>
          <p:cNvPr id="30" name="o29" descr="QUETE 3"/>
          <p:cNvPicPr>
            <a:picLocks noChangeAspect="1"/>
          </p:cNvPicPr>
          <p:nvPr/>
        </p:nvPicPr>
        <p:blipFill>
          <a:blip r:embed="rId13"/>
          <a:stretch>
            <a:fillRect/>
          </a:stretch>
        </p:blipFill>
        <p:spPr>
          <a:xfrm>
            <a:off x="7223760" y="3995928"/>
            <a:ext cx="832104" cy="118872"/>
          </a:xfrm>
          <a:prstGeom prst="rect">
            <a:avLst/>
          </a:prstGeom>
        </p:spPr>
      </p:pic>
      <p:sp>
        <p:nvSpPr>
          <p:cNvPr id="31" name="o30"/>
          <p:cNvSpPr txBox="1"/>
          <p:nvPr/>
        </p:nvSpPr>
        <p:spPr>
          <a:xfrm>
            <a:off x="7223760" y="4187952"/>
            <a:ext cx="3840480" cy="320040"/>
          </a:xfrm>
          <a:prstGeom prst="rect">
            <a:avLst/>
          </a:prstGeom>
          <a:noFill/>
        </p:spPr>
        <p:txBody>
          <a:bodyPr wrap="square" lIns="0" rIns="0" tIns="0" bIns="0" anchor="t">
            <a:spAutoFit/>
          </a:bodyPr>
          <a:lstStyle/>
          <a:p>
            <a:pPr algn="l"/>
            <a:r>
              <a:rPr sz="1700" b="1" i="0">
                <a:solidFill>
                  <a:srgbClr val="FFFFFF"/>
                </a:solidFill>
                <a:latin typeface="Arial"/>
              </a:rPr>
              <a:t>Filtrer période, genre, constructeur</a:t>
            </a:r>
          </a:p>
        </p:txBody>
      </p:sp>
      <p:sp>
        <p:nvSpPr>
          <p:cNvPr id="32" name="o31"/>
          <p:cNvSpPr txBox="1"/>
          <p:nvPr/>
        </p:nvSpPr>
        <p:spPr>
          <a:xfrm>
            <a:off x="7223760" y="4498848"/>
            <a:ext cx="3886200" cy="274320"/>
          </a:xfrm>
          <a:prstGeom prst="rect">
            <a:avLst/>
          </a:prstGeom>
          <a:noFill/>
        </p:spPr>
        <p:txBody>
          <a:bodyPr wrap="square" lIns="0" rIns="0" tIns="0" bIns="0" anchor="t">
            <a:spAutoFit/>
          </a:bodyPr>
          <a:lstStyle/>
          <a:p>
            <a:pPr algn="l"/>
            <a:r>
              <a:rPr sz="1200" b="0" i="0">
                <a:solidFill>
                  <a:srgbClr val="C4C4E4"/>
                </a:solidFill>
                <a:latin typeface="Arial"/>
              </a:rPr>
              <a:t>toutes les pages suivent · années 80 : le biais Metacritic</a:t>
            </a:r>
          </a:p>
        </p:txBody>
      </p:sp>
      <p:pic>
        <p:nvPicPr>
          <p:cNvPr id="33" name="fin_pastille" descr="image-1-13.gif"/>
          <p:cNvPicPr>
            <a:picLocks noChangeAspect="1"/>
          </p:cNvPicPr>
          <p:nvPr/>
        </p:nvPicPr>
        <p:blipFill>
          <a:blip r:embed="rId14"/>
          <a:stretch>
            <a:fillRect/>
          </a:stretch>
        </p:blipFill>
        <p:spPr>
          <a:xfrm>
            <a:off x="11448288" y="6355080"/>
            <a:ext cx="182880" cy="182880"/>
          </a:xfrm>
          <a:prstGeom prst="rect">
            <a:avLst/>
          </a:prstGeom>
        </p:spPr>
      </p:pic>
      <p:pic>
        <p:nvPicPr>
          <p:cNvPr id="34" name="barre_fantome" descr="image-1-15.gif"/>
          <p:cNvPicPr>
            <a:picLocks noChangeAspect="1"/>
          </p:cNvPicPr>
          <p:nvPr/>
        </p:nvPicPr>
        <p:blipFill>
          <a:blip r:embed="rId15"/>
          <a:stretch>
            <a:fillRect/>
          </a:stretch>
        </p:blipFill>
        <p:spPr>
          <a:xfrm>
            <a:off x="8513064" y="6291072"/>
            <a:ext cx="310896" cy="310896"/>
          </a:xfrm>
          <a:prstGeom prst="rect">
            <a:avLst/>
          </a:prstGeom>
        </p:spPr>
      </p:pic>
      <p:pic>
        <p:nvPicPr>
          <p:cNvPr id="35" name="barre_pacman" descr="image-1-14.gif"/>
          <p:cNvPicPr>
            <a:picLocks noChangeAspect="1"/>
          </p:cNvPicPr>
          <p:nvPr/>
        </p:nvPicPr>
        <p:blipFill>
          <a:blip r:embed="rId16"/>
          <a:stretch>
            <a:fillRect/>
          </a:stretch>
        </p:blipFill>
        <p:spPr>
          <a:xfrm>
            <a:off x="9079992" y="6291072"/>
            <a:ext cx="310896" cy="310896"/>
          </a:xfrm>
          <a:prstGeom prst="rect">
            <a:avLst/>
          </a:prstGeom>
        </p:spPr>
      </p:pic>
      <p:sp>
        <p:nvSpPr>
          <p:cNvPr id="36" name="barre_pastille_10.25"/>
          <p:cNvSpPr/>
          <p:nvPr/>
        </p:nvSpPr>
        <p:spPr>
          <a:xfrm>
            <a:off x="9372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re_pastille_10.50"/>
          <p:cNvSpPr/>
          <p:nvPr/>
        </p:nvSpPr>
        <p:spPr>
          <a:xfrm>
            <a:off x="9601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rre_pastille_10.75"/>
          <p:cNvSpPr/>
          <p:nvPr/>
        </p:nvSpPr>
        <p:spPr>
          <a:xfrm>
            <a:off x="9829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34"/>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35"/>
                                        </p:tgtEl>
                                        <p:attrNameLst>
                                          <p:attrName>ppt_x</p:attrName>
                                          <p:attrName>ppt_y</p:attrName>
                                        </p:attrNameLst>
                                      </p:cBhvr>
                                    </p:animMotion>
                                  </p:childTnLst>
                                </p:cTn>
                              </p:par>
                              <p:par>
                                <p:cTn id="9" presetID="1" presetClass="exit" presetSubtype="0" fill="hold" nodeType="withEffect">
                                  <p:stCondLst>
                                    <p:cond delay="33"/>
                                  </p:stCondLst>
                                  <p:childTnLst>
                                    <p:set>
                                      <p:cBhvr>
                                        <p:cTn id="10" dur="1" fill="hold">
                                          <p:stCondLst>
                                            <p:cond delay="0"/>
                                          </p:stCondLst>
                                        </p:cTn>
                                        <p:tgtEl>
                                          <p:spTgt spid="36"/>
                                        </p:tgtEl>
                                        <p:attrNameLst>
                                          <p:attrName>style.visibility</p:attrName>
                                        </p:attrNameLst>
                                      </p:cBhvr>
                                      <p:to>
                                        <p:strVal val="hidden"/>
                                      </p:to>
                                    </p:set>
                                  </p:childTnLst>
                                </p:cTn>
                              </p:par>
                              <p:par>
                                <p:cTn id="11" presetID="1" presetClass="exit" presetSubtype="0" fill="hold" nodeType="withEffect">
                                  <p:stCondLst>
                                    <p:cond delay="450"/>
                                  </p:stCondLst>
                                  <p:childTnLst>
                                    <p:set>
                                      <p:cBhvr>
                                        <p:cTn id="12" dur="1" fill="hold">
                                          <p:stCondLst>
                                            <p:cond delay="0"/>
                                          </p:stCondLst>
                                        </p:cTn>
                                        <p:tgtEl>
                                          <p:spTgt spid="37"/>
                                        </p:tgtEl>
                                        <p:attrNameLst>
                                          <p:attrName>style.visibility</p:attrName>
                                        </p:attrNameLst>
                                      </p:cBhvr>
                                      <p:to>
                                        <p:strVal val="hidden"/>
                                      </p:to>
                                    </p:set>
                                  </p:childTnLst>
                                </p:cTn>
                              </p:par>
                              <p:par>
                                <p:cTn id="13" presetID="1" presetClass="exit" presetSubtype="0" fill="hold" nodeType="withEffect">
                                  <p:stCondLst>
                                    <p:cond delay="867"/>
                                  </p:stCondLst>
                                  <p:childTnLst>
                                    <p:set>
                                      <p:cBhvr>
                                        <p:cTn id="14" dur="1" fill="hold">
                                          <p:stCondLst>
                                            <p:cond delay="0"/>
                                          </p:stCondLst>
                                        </p:cTn>
                                        <p:tgtEl>
                                          <p:spTgt spid="38"/>
                                        </p:tgtEl>
                                        <p:attrNameLst>
                                          <p:attrName>style.visibility</p:attrName>
                                        </p:attrNameLst>
                                      </p:cBhvr>
                                      <p:to>
                                        <p:strVal val="hidden"/>
                                      </p:to>
                                    </p:set>
                                  </p:childTnLst>
                                </p:cTn>
                              </p:par>
                              <p:par>
                                <p:cTn id="15" presetID="10" presetClass="entr" presetSubtype="0" fill="hold" nodeType="withEffect">
                                  <p:stCondLst>
                                    <p:cond delay="3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nodeType="withEffect">
                                  <p:stCondLst>
                                    <p:cond delay="3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3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nodeType="withEffect">
                                  <p:stCondLst>
                                    <p:cond delay="30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30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nodeType="withEffect">
                                  <p:stCondLst>
                                    <p:cond delay="3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6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nodeType="withEffect">
                                  <p:stCondLst>
                                    <p:cond delay="6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nodeType="withEffect">
                                  <p:stCondLst>
                                    <p:cond delay="60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nodeType="withEffect">
                                  <p:stCondLst>
                                    <p:cond delay="6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00"/>
                                        <p:tgtEl>
                                          <p:spTgt spid="24"/>
                                        </p:tgtEl>
                                      </p:cBhvr>
                                    </p:animEffect>
                                  </p:childTnLst>
                                </p:cTn>
                              </p:par>
                              <p:par>
                                <p:cTn id="45" presetID="10" presetClass="entr" presetSubtype="0" fill="hold" nodeType="withEffect">
                                  <p:stCondLst>
                                    <p:cond delay="60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00"/>
                                        <p:tgtEl>
                                          <p:spTgt spid="25"/>
                                        </p:tgtEl>
                                      </p:cBhvr>
                                    </p:animEffect>
                                  </p:childTnLst>
                                </p:cTn>
                              </p:par>
                              <p:par>
                                <p:cTn id="48" presetID="10" presetClass="entr" presetSubtype="0" fill="hold" nodeType="withEffect">
                                  <p:stCondLst>
                                    <p:cond delay="6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00"/>
                                        <p:tgtEl>
                                          <p:spTgt spid="26"/>
                                        </p:tgtEl>
                                      </p:cBhvr>
                                    </p:animEffect>
                                  </p:childTnLst>
                                </p:cTn>
                              </p:par>
                              <p:par>
                                <p:cTn id="51" presetID="10" presetClass="entr" presetSubtype="0" fill="hold" nodeType="withEffect">
                                  <p:stCondLst>
                                    <p:cond delay="90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00"/>
                                        <p:tgtEl>
                                          <p:spTgt spid="27"/>
                                        </p:tgtEl>
                                      </p:cBhvr>
                                    </p:animEffect>
                                  </p:childTnLst>
                                </p:cTn>
                              </p:par>
                              <p:par>
                                <p:cTn id="54" presetID="10" presetClass="entr" presetSubtype="0" fill="hold" nodeType="withEffect">
                                  <p:stCondLst>
                                    <p:cond delay="90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00"/>
                                        <p:tgtEl>
                                          <p:spTgt spid="28"/>
                                        </p:tgtEl>
                                      </p:cBhvr>
                                    </p:animEffect>
                                  </p:childTnLst>
                                </p:cTn>
                              </p:par>
                              <p:par>
                                <p:cTn id="57" presetID="10" presetClass="entr" presetSubtype="0" fill="hold" nodeType="withEffect">
                                  <p:stCondLst>
                                    <p:cond delay="90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nodeType="withEffect">
                                  <p:stCondLst>
                                    <p:cond delay="90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nodeType="withEffect">
                                  <p:stCondLst>
                                    <p:cond delay="90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nodeType="withEffect">
                                  <p:stCondLst>
                                    <p:cond delay="90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BONUS → HIGH SCORE"/>
          <p:cNvPicPr>
            <a:picLocks noChangeAspect="1"/>
          </p:cNvPicPr>
          <p:nvPr/>
        </p:nvPicPr>
        <p:blipFill>
          <a:blip r:embed="rId3"/>
          <a:stretch>
            <a:fillRect/>
          </a:stretch>
        </p:blipFill>
        <p:spPr>
          <a:xfrm>
            <a:off x="548640" y="411480"/>
            <a:ext cx="2633472" cy="146304"/>
          </a:xfrm>
          <a:prstGeom prst="rect">
            <a:avLst/>
          </a:prstGeom>
        </p:spPr>
      </p:pic>
      <p:pic>
        <p:nvPicPr>
          <p:cNvPr id="3" name="o2" descr="Le prix de la prestation"/>
          <p:cNvPicPr>
            <a:picLocks noChangeAspect="1"/>
          </p:cNvPicPr>
          <p:nvPr/>
        </p:nvPicPr>
        <p:blipFill>
          <a:blip r:embed="rId4"/>
          <a:stretch>
            <a:fillRect/>
          </a:stretch>
        </p:blipFill>
        <p:spPr>
          <a:xfrm>
            <a:off x="548640" y="777240"/>
            <a:ext cx="6583679" cy="274320"/>
          </a:xfrm>
          <a:prstGeom prst="rect">
            <a:avLst/>
          </a:prstGeom>
        </p:spPr>
      </p:pic>
      <p:pic>
        <p:nvPicPr>
          <p:cNvPr id="4" name="o3" descr="image-17-12.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45920"/>
            <a:ext cx="4480560" cy="1645920"/>
          </a:xfrm>
          <a:prstGeom prst="roundRect">
            <a:avLst>
              <a:gd name="adj" fmla="val 7777"/>
            </a:avLst>
          </a:prstGeom>
          <a:solidFill>
            <a:srgbClr val="000000"/>
          </a:solidFill>
          <a:ln w="28575">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714500"/>
            <a:ext cx="4343400" cy="1508760"/>
          </a:xfrm>
          <a:prstGeom prst="roundRect">
            <a:avLst>
              <a:gd name="adj" fmla="val 3939"/>
            </a:avLst>
          </a:prstGeom>
          <a:noFill/>
          <a:ln w="12700">
            <a:solidFill>
              <a:srgbClr val="00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o6" descr="AVANT"/>
          <p:cNvPicPr>
            <a:picLocks noChangeAspect="1"/>
          </p:cNvPicPr>
          <p:nvPr/>
        </p:nvPicPr>
        <p:blipFill>
          <a:blip r:embed="rId6"/>
          <a:stretch>
            <a:fillRect/>
          </a:stretch>
        </p:blipFill>
        <p:spPr>
          <a:xfrm>
            <a:off x="868680" y="1920240"/>
            <a:ext cx="777240" cy="155448"/>
          </a:xfrm>
          <a:prstGeom prst="rect">
            <a:avLst/>
          </a:prstGeom>
        </p:spPr>
      </p:pic>
      <p:pic>
        <p:nvPicPr>
          <p:cNvPr id="8" name="o7" descr="7 200 €"/>
          <p:cNvPicPr>
            <a:picLocks noChangeAspect="1"/>
          </p:cNvPicPr>
          <p:nvPr/>
        </p:nvPicPr>
        <p:blipFill>
          <a:blip r:embed="rId7"/>
          <a:stretch>
            <a:fillRect/>
          </a:stretch>
        </p:blipFill>
        <p:spPr>
          <a:xfrm>
            <a:off x="868680" y="2240280"/>
            <a:ext cx="2688336" cy="384048"/>
          </a:xfrm>
          <a:prstGeom prst="rect">
            <a:avLst/>
          </a:prstGeom>
        </p:spPr>
      </p:pic>
      <p:sp>
        <p:nvSpPr>
          <p:cNvPr id="9" name="o8"/>
          <p:cNvSpPr txBox="1"/>
          <p:nvPr/>
        </p:nvSpPr>
        <p:spPr>
          <a:xfrm>
            <a:off x="868680" y="2788920"/>
            <a:ext cx="3931920" cy="320040"/>
          </a:xfrm>
          <a:prstGeom prst="rect">
            <a:avLst/>
          </a:prstGeom>
          <a:noFill/>
        </p:spPr>
        <p:txBody>
          <a:bodyPr wrap="square" lIns="0" rIns="0" tIns="0" bIns="0" anchor="t">
            <a:spAutoFit/>
          </a:bodyPr>
          <a:lstStyle/>
          <a:p>
            <a:pPr algn="l"/>
            <a:r>
              <a:rPr sz="1400" b="0" i="0">
                <a:solidFill>
                  <a:srgbClr val="C4C4E4"/>
                </a:solidFill>
                <a:latin typeface="Arial"/>
              </a:rPr>
              <a:t>HT · 16 jours · ventes seules</a:t>
            </a:r>
          </a:p>
        </p:txBody>
      </p:sp>
      <p:sp>
        <p:nvSpPr>
          <p:cNvPr id="10" name="o9"/>
          <p:cNvSpPr/>
          <p:nvPr/>
        </p:nvSpPr>
        <p:spPr>
          <a:xfrm>
            <a:off x="548640" y="3520439"/>
            <a:ext cx="4480560" cy="1645920"/>
          </a:xfrm>
          <a:prstGeom prst="roundRect">
            <a:avLst>
              <a:gd name="adj" fmla="val 7777"/>
            </a:avLst>
          </a:prstGeom>
          <a:solidFill>
            <a:srgbClr val="000000"/>
          </a:solidFill>
          <a:ln w="28575">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10"/>
          <p:cNvSpPr/>
          <p:nvPr/>
        </p:nvSpPr>
        <p:spPr>
          <a:xfrm>
            <a:off x="617219" y="3589020"/>
            <a:ext cx="4343400" cy="1508760"/>
          </a:xfrm>
          <a:prstGeom prst="roundRect">
            <a:avLst>
              <a:gd name="adj" fmla="val 3939"/>
            </a:avLst>
          </a:prstGeom>
          <a:noFill/>
          <a:ln w="12700">
            <a:solidFill>
              <a:srgbClr val="FFE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o11" descr="APRES"/>
          <p:cNvPicPr>
            <a:picLocks noChangeAspect="1"/>
          </p:cNvPicPr>
          <p:nvPr/>
        </p:nvPicPr>
        <p:blipFill>
          <a:blip r:embed="rId8"/>
          <a:stretch>
            <a:fillRect/>
          </a:stretch>
        </p:blipFill>
        <p:spPr>
          <a:xfrm>
            <a:off x="868680" y="3794759"/>
            <a:ext cx="777240" cy="155448"/>
          </a:xfrm>
          <a:prstGeom prst="rect">
            <a:avLst/>
          </a:prstGeom>
        </p:spPr>
      </p:pic>
      <p:pic>
        <p:nvPicPr>
          <p:cNvPr id="13" name="o12" descr="11 700 €"/>
          <p:cNvPicPr>
            <a:picLocks noChangeAspect="1"/>
          </p:cNvPicPr>
          <p:nvPr/>
        </p:nvPicPr>
        <p:blipFill>
          <a:blip r:embed="rId9"/>
          <a:stretch>
            <a:fillRect/>
          </a:stretch>
        </p:blipFill>
        <p:spPr>
          <a:xfrm>
            <a:off x="868680" y="4114800"/>
            <a:ext cx="3072384" cy="384048"/>
          </a:xfrm>
          <a:prstGeom prst="rect">
            <a:avLst/>
          </a:prstGeom>
        </p:spPr>
      </p:pic>
      <p:sp>
        <p:nvSpPr>
          <p:cNvPr id="14" name="o13"/>
          <p:cNvSpPr txBox="1"/>
          <p:nvPr/>
        </p:nvSpPr>
        <p:spPr>
          <a:xfrm>
            <a:off x="868680" y="4663440"/>
            <a:ext cx="3931920" cy="320040"/>
          </a:xfrm>
          <a:prstGeom prst="rect">
            <a:avLst/>
          </a:prstGeom>
          <a:noFill/>
        </p:spPr>
        <p:txBody>
          <a:bodyPr wrap="square" lIns="0" rIns="0" tIns="0" bIns="0" anchor="t">
            <a:spAutoFit/>
          </a:bodyPr>
          <a:lstStyle/>
          <a:p>
            <a:pPr algn="l"/>
            <a:r>
              <a:rPr sz="1400" b="0" i="0">
                <a:solidFill>
                  <a:srgbClr val="C4C4E4"/>
                </a:solidFill>
                <a:latin typeface="Arial"/>
              </a:rPr>
              <a:t>HT · 26 jours · ventes + notes</a:t>
            </a:r>
          </a:p>
        </p:txBody>
      </p:sp>
      <p:sp>
        <p:nvSpPr>
          <p:cNvPr id="15" name="o14"/>
          <p:cNvSpPr txBox="1"/>
          <p:nvPr/>
        </p:nvSpPr>
        <p:spPr>
          <a:xfrm>
            <a:off x="548640" y="5440680"/>
            <a:ext cx="4480560" cy="640080"/>
          </a:xfrm>
          <a:prstGeom prst="rect">
            <a:avLst/>
          </a:prstGeom>
          <a:noFill/>
        </p:spPr>
        <p:txBody>
          <a:bodyPr wrap="square" lIns="0" rIns="0" tIns="0" bIns="0" anchor="t">
            <a:spAutoFit/>
          </a:bodyPr>
          <a:lstStyle/>
          <a:p>
            <a:pPr algn="l"/>
            <a:r>
              <a:rPr sz="1600" b="1" i="0">
                <a:solidFill>
                  <a:srgbClr val="FFFFFF"/>
                </a:solidFill>
                <a:latin typeface="Arial"/>
              </a:rPr>
              <a:t>+4 500 € HT (+62,5 %)</a:t>
            </a:r>
          </a:p>
          <a:p>
            <a:pPr algn="l"/>
            <a:r>
              <a:rPr sz="1600" b="0" i="0">
                <a:solidFill>
                  <a:srgbClr val="C4C4E4"/>
                </a:solidFill>
                <a:latin typeface="Arial"/>
              </a:rPr>
              <a:t>TJM 450 € · réutilisation de l'existant</a:t>
            </a:r>
          </a:p>
        </p:txBody>
      </p:sp>
      <p:graphicFrame>
        <p:nvGraphicFramePr>
          <p:cNvPr id="16" name="o15"/>
          <p:cNvGraphicFramePr>
            <a:graphicFrameLocks noGrp="1"/>
          </p:cNvGraphicFramePr>
          <p:nvPr/>
        </p:nvGraphicFramePr>
        <p:xfrm>
          <a:off x="5349240" y="1920240"/>
          <a:ext cx="6309360" cy="4114800"/>
        </p:xfrm>
        <a:graphic>
          <a:graphicData uri="http://schemas.openxmlformats.org/drawingml/2006/chart">
            <c:chart xmlns:c="http://schemas.openxmlformats.org/drawingml/2006/chart" r:id="rId10"/>
          </a:graphicData>
        </a:graphic>
      </p:graphicFrame>
      <p:pic>
        <p:nvPicPr>
          <p:cNvPr id="17" name="o16" descr="+10 JOURS AVEC LA BASE 2"/>
          <p:cNvPicPr>
            <a:picLocks noChangeAspect="1"/>
          </p:cNvPicPr>
          <p:nvPr/>
        </p:nvPicPr>
        <p:blipFill>
          <a:blip r:embed="rId11"/>
          <a:stretch>
            <a:fillRect/>
          </a:stretch>
        </p:blipFill>
        <p:spPr>
          <a:xfrm>
            <a:off x="5532120" y="1691640"/>
            <a:ext cx="3291839" cy="137160"/>
          </a:xfrm>
          <a:prstGeom prst="rect">
            <a:avLst/>
          </a:prstGeom>
        </p:spPr>
      </p:pic>
      <p:pic>
        <p:nvPicPr>
          <p:cNvPr id="18" name="fin_pastille" descr="image-1-13.gif"/>
          <p:cNvPicPr>
            <a:picLocks noChangeAspect="1"/>
          </p:cNvPicPr>
          <p:nvPr/>
        </p:nvPicPr>
        <p:blipFill>
          <a:blip r:embed="rId12"/>
          <a:stretch>
            <a:fillRect/>
          </a:stretch>
        </p:blipFill>
        <p:spPr>
          <a:xfrm>
            <a:off x="11448288" y="6355080"/>
            <a:ext cx="182880" cy="182880"/>
          </a:xfrm>
          <a:prstGeom prst="rect">
            <a:avLst/>
          </a:prstGeom>
        </p:spPr>
      </p:pic>
      <p:pic>
        <p:nvPicPr>
          <p:cNvPr id="19" name="barre_fantome" descr="image-1-15.gif"/>
          <p:cNvPicPr>
            <a:picLocks noChangeAspect="1"/>
          </p:cNvPicPr>
          <p:nvPr/>
        </p:nvPicPr>
        <p:blipFill>
          <a:blip r:embed="rId13"/>
          <a:stretch>
            <a:fillRect/>
          </a:stretch>
        </p:blipFill>
        <p:spPr>
          <a:xfrm>
            <a:off x="9006840" y="6291072"/>
            <a:ext cx="310896" cy="310896"/>
          </a:xfrm>
          <a:prstGeom prst="rect">
            <a:avLst/>
          </a:prstGeom>
        </p:spPr>
      </p:pic>
      <p:pic>
        <p:nvPicPr>
          <p:cNvPr id="20" name="barre_pacman" descr="image-1-14.gif"/>
          <p:cNvPicPr>
            <a:picLocks noChangeAspect="1"/>
          </p:cNvPicPr>
          <p:nvPr/>
        </p:nvPicPr>
        <p:blipFill>
          <a:blip r:embed="rId14"/>
          <a:stretch>
            <a:fillRect/>
          </a:stretch>
        </p:blipFill>
        <p:spPr>
          <a:xfrm>
            <a:off x="9573768" y="6291072"/>
            <a:ext cx="310896" cy="310896"/>
          </a:xfrm>
          <a:prstGeom prst="rect">
            <a:avLst/>
          </a:prstGeom>
        </p:spPr>
      </p:pic>
      <p:sp>
        <p:nvSpPr>
          <p:cNvPr id="21" name="barre_pastille_11.00"/>
          <p:cNvSpPr/>
          <p:nvPr/>
        </p:nvSpPr>
        <p:spPr>
          <a:xfrm>
            <a:off x="10058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re_pastille_11.25"/>
          <p:cNvSpPr/>
          <p:nvPr/>
        </p:nvSpPr>
        <p:spPr>
          <a:xfrm>
            <a:off x="102870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19"/>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20"/>
                                        </p:tgtEl>
                                        <p:attrNameLst>
                                          <p:attrName>ppt_x</p:attrName>
                                          <p:attrName>ppt_y</p:attrName>
                                        </p:attrNameLst>
                                      </p:cBhvr>
                                    </p:animMotion>
                                  </p:childTnLst>
                                </p:cTn>
                              </p:par>
                              <p:par>
                                <p:cTn id="9" presetID="1" presetClass="exit" presetSubtype="0" fill="hold" nodeType="withEffect">
                                  <p:stCondLst>
                                    <p:cond delay="383"/>
                                  </p:stCondLst>
                                  <p:childTnLst>
                                    <p:set>
                                      <p:cBhvr>
                                        <p:cTn id="10" dur="1" fill="hold">
                                          <p:stCondLst>
                                            <p:cond delay="0"/>
                                          </p:stCondLst>
                                        </p:cTn>
                                        <p:tgtEl>
                                          <p:spTgt spid="21"/>
                                        </p:tgtEl>
                                        <p:attrNameLst>
                                          <p:attrName>style.visibility</p:attrName>
                                        </p:attrNameLst>
                                      </p:cBhvr>
                                      <p:to>
                                        <p:strVal val="hidden"/>
                                      </p:to>
                                    </p:set>
                                  </p:childTnLst>
                                </p:cTn>
                              </p:par>
                              <p:par>
                                <p:cTn id="11" presetID="1" presetClass="exit" presetSubtype="0" fill="hold" nodeType="withEffect">
                                  <p:stCondLst>
                                    <p:cond delay="800"/>
                                  </p:stCondLst>
                                  <p:childTnLst>
                                    <p:set>
                                      <p:cBhvr>
                                        <p:cTn id="12" dur="1" fill="hold">
                                          <p:stCondLst>
                                            <p:cond delay="0"/>
                                          </p:stCondLst>
                                        </p:cTn>
                                        <p:tgtEl>
                                          <p:spTgt spid="22"/>
                                        </p:tgtEl>
                                        <p:attrNameLst>
                                          <p:attrName>style.visibility</p:attrName>
                                        </p:attrNameLst>
                                      </p:cBhvr>
                                      <p:to>
                                        <p:strVal val="hidden"/>
                                      </p:to>
                                    </p:set>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5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5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5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5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5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8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11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11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BONUS → FIN DE PARTIE"/>
          <p:cNvPicPr>
            <a:picLocks noChangeAspect="1"/>
          </p:cNvPicPr>
          <p:nvPr/>
        </p:nvPicPr>
        <p:blipFill>
          <a:blip r:embed="rId3"/>
          <a:stretch>
            <a:fillRect/>
          </a:stretch>
        </p:blipFill>
        <p:spPr>
          <a:xfrm>
            <a:off x="548640" y="411480"/>
            <a:ext cx="3072384" cy="146304"/>
          </a:xfrm>
          <a:prstGeom prst="rect">
            <a:avLst/>
          </a:prstGeom>
        </p:spPr>
      </p:pic>
      <p:pic>
        <p:nvPicPr>
          <p:cNvPr id="3" name="o2" descr="Limites et recommandations"/>
          <p:cNvPicPr>
            <a:picLocks noChangeAspect="1"/>
          </p:cNvPicPr>
          <p:nvPr/>
        </p:nvPicPr>
        <p:blipFill>
          <a:blip r:embed="rId4"/>
          <a:stretch>
            <a:fillRect/>
          </a:stretch>
        </p:blipFill>
        <p:spPr>
          <a:xfrm>
            <a:off x="548640" y="777240"/>
            <a:ext cx="7132320" cy="274320"/>
          </a:xfrm>
          <a:prstGeom prst="rect">
            <a:avLst/>
          </a:prstGeom>
        </p:spPr>
      </p:pic>
      <p:pic>
        <p:nvPicPr>
          <p:cNvPr id="4" name="o3" descr="image-17-12.png"/>
          <p:cNvPicPr>
            <a:picLocks noChangeAspect="1"/>
          </p:cNvPicPr>
          <p:nvPr/>
        </p:nvPicPr>
        <p:blipFill>
          <a:blip r:embed="rId5"/>
          <a:stretch>
            <a:fillRect/>
          </a:stretch>
        </p:blipFill>
        <p:spPr>
          <a:xfrm>
            <a:off x="11073384" y="365760"/>
            <a:ext cx="566928" cy="566928"/>
          </a:xfrm>
          <a:prstGeom prst="rect">
            <a:avLst/>
          </a:prstGeom>
        </p:spPr>
      </p:pic>
      <p:sp>
        <p:nvSpPr>
          <p:cNvPr id="5" name="o4"/>
          <p:cNvSpPr/>
          <p:nvPr/>
        </p:nvSpPr>
        <p:spPr>
          <a:xfrm>
            <a:off x="548640" y="1600200"/>
            <a:ext cx="5303520" cy="4434840"/>
          </a:xfrm>
          <a:prstGeom prst="roundRect">
            <a:avLst>
              <a:gd name="adj" fmla="val 2886"/>
            </a:avLst>
          </a:prstGeom>
          <a:solidFill>
            <a:srgbClr val="000000"/>
          </a:solidFill>
          <a:ln w="28575">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5"/>
          <p:cNvSpPr/>
          <p:nvPr/>
        </p:nvSpPr>
        <p:spPr>
          <a:xfrm>
            <a:off x="617219" y="1668780"/>
            <a:ext cx="5166359" cy="4297679"/>
          </a:xfrm>
          <a:prstGeom prst="roundRect">
            <a:avLst>
              <a:gd name="adj" fmla="val 1382"/>
            </a:avLst>
          </a:prstGeom>
          <a:noFill/>
          <a:ln w="12700">
            <a:solidFill>
              <a:srgbClr val="2121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o6" descr="LIMITES"/>
          <p:cNvPicPr>
            <a:picLocks noChangeAspect="1"/>
          </p:cNvPicPr>
          <p:nvPr/>
        </p:nvPicPr>
        <p:blipFill>
          <a:blip r:embed="rId6"/>
          <a:stretch>
            <a:fillRect/>
          </a:stretch>
        </p:blipFill>
        <p:spPr>
          <a:xfrm>
            <a:off x="868680" y="1874519"/>
            <a:ext cx="1088136" cy="155448"/>
          </a:xfrm>
          <a:prstGeom prst="rect">
            <a:avLst/>
          </a:prstGeom>
        </p:spPr>
      </p:pic>
      <p:pic>
        <p:nvPicPr>
          <p:cNvPr id="8" name="o7" descr="image-11-9.png"/>
          <p:cNvPicPr>
            <a:picLocks noChangeAspect="1"/>
          </p:cNvPicPr>
          <p:nvPr/>
        </p:nvPicPr>
        <p:blipFill>
          <a:blip r:embed="rId7"/>
          <a:stretch>
            <a:fillRect/>
          </a:stretch>
        </p:blipFill>
        <p:spPr>
          <a:xfrm>
            <a:off x="868680" y="2377440"/>
            <a:ext cx="384048" cy="384048"/>
          </a:xfrm>
          <a:prstGeom prst="rect">
            <a:avLst/>
          </a:prstGeom>
        </p:spPr>
      </p:pic>
      <p:sp>
        <p:nvSpPr>
          <p:cNvPr id="9" name="o8"/>
          <p:cNvSpPr txBox="1"/>
          <p:nvPr/>
        </p:nvSpPr>
        <p:spPr>
          <a:xfrm>
            <a:off x="1463040" y="2340864"/>
            <a:ext cx="4206240" cy="347472"/>
          </a:xfrm>
          <a:prstGeom prst="rect">
            <a:avLst/>
          </a:prstGeom>
          <a:noFill/>
        </p:spPr>
        <p:txBody>
          <a:bodyPr wrap="square" lIns="0" rIns="0" tIns="0" bIns="0" anchor="t">
            <a:spAutoFit/>
          </a:bodyPr>
          <a:lstStyle/>
          <a:p>
            <a:pPr algn="l"/>
            <a:r>
              <a:rPr sz="1800" b="1" i="0">
                <a:solidFill>
                  <a:srgbClr val="FFFFFF"/>
                </a:solidFill>
                <a:latin typeface="Arial"/>
              </a:rPr>
              <a:t>Notes partielles</a:t>
            </a:r>
          </a:p>
        </p:txBody>
      </p:sp>
      <p:sp>
        <p:nvSpPr>
          <p:cNvPr id="10" name="o9"/>
          <p:cNvSpPr txBox="1"/>
          <p:nvPr/>
        </p:nvSpPr>
        <p:spPr>
          <a:xfrm>
            <a:off x="1463040" y="2724912"/>
            <a:ext cx="4206240" cy="320040"/>
          </a:xfrm>
          <a:prstGeom prst="rect">
            <a:avLst/>
          </a:prstGeom>
          <a:noFill/>
        </p:spPr>
        <p:txBody>
          <a:bodyPr wrap="square" lIns="0" rIns="0" tIns="0" bIns="0" anchor="t">
            <a:spAutoFit/>
          </a:bodyPr>
          <a:lstStyle/>
          <a:p>
            <a:pPr algn="l"/>
            <a:r>
              <a:rPr sz="1400" b="0" i="0">
                <a:solidFill>
                  <a:srgbClr val="C4C4E4"/>
                </a:solidFill>
                <a:latin typeface="Arial"/>
              </a:rPr>
              <a:t>49 % des jeux, surtout récents et visibles</a:t>
            </a:r>
          </a:p>
        </p:txBody>
      </p:sp>
      <p:pic>
        <p:nvPicPr>
          <p:cNvPr id="11" name="o10" descr="image-11-9.png"/>
          <p:cNvPicPr>
            <a:picLocks noChangeAspect="1"/>
          </p:cNvPicPr>
          <p:nvPr/>
        </p:nvPicPr>
        <p:blipFill>
          <a:blip r:embed="rId7"/>
          <a:stretch>
            <a:fillRect/>
          </a:stretch>
        </p:blipFill>
        <p:spPr>
          <a:xfrm>
            <a:off x="868680" y="3520440"/>
            <a:ext cx="384048" cy="384048"/>
          </a:xfrm>
          <a:prstGeom prst="rect">
            <a:avLst/>
          </a:prstGeom>
        </p:spPr>
      </p:pic>
      <p:sp>
        <p:nvSpPr>
          <p:cNvPr id="12" name="o11"/>
          <p:cNvSpPr txBox="1"/>
          <p:nvPr/>
        </p:nvSpPr>
        <p:spPr>
          <a:xfrm>
            <a:off x="1463040" y="3483864"/>
            <a:ext cx="4206240" cy="347472"/>
          </a:xfrm>
          <a:prstGeom prst="rect">
            <a:avLst/>
          </a:prstGeom>
          <a:noFill/>
        </p:spPr>
        <p:txBody>
          <a:bodyPr wrap="square" lIns="0" rIns="0" tIns="0" bIns="0" anchor="t">
            <a:spAutoFit/>
          </a:bodyPr>
          <a:lstStyle/>
          <a:p>
            <a:pPr algn="l"/>
            <a:r>
              <a:rPr sz="1800" b="1" i="0">
                <a:solidFill>
                  <a:srgbClr val="FFFFFF"/>
                </a:solidFill>
                <a:latin typeface="Arial"/>
              </a:rPr>
              <a:t>Lien ≠ cause</a:t>
            </a:r>
          </a:p>
        </p:txBody>
      </p:sp>
      <p:sp>
        <p:nvSpPr>
          <p:cNvPr id="13" name="o12"/>
          <p:cNvSpPr txBox="1"/>
          <p:nvPr/>
        </p:nvSpPr>
        <p:spPr>
          <a:xfrm>
            <a:off x="1463040" y="3867912"/>
            <a:ext cx="4206240" cy="320040"/>
          </a:xfrm>
          <a:prstGeom prst="rect">
            <a:avLst/>
          </a:prstGeom>
          <a:noFill/>
        </p:spPr>
        <p:txBody>
          <a:bodyPr wrap="square" lIns="0" rIns="0" tIns="0" bIns="0" anchor="t">
            <a:spAutoFit/>
          </a:bodyPr>
          <a:lstStyle/>
          <a:p>
            <a:pPr algn="l"/>
            <a:r>
              <a:rPr sz="1400" b="0" i="0">
                <a:solidFill>
                  <a:srgbClr val="C4C4E4"/>
                </a:solidFill>
                <a:latin typeface="Arial"/>
              </a:rPr>
              <a:t>le marketing peut expliquer note ET ventes</a:t>
            </a:r>
          </a:p>
        </p:txBody>
      </p:sp>
      <p:pic>
        <p:nvPicPr>
          <p:cNvPr id="14" name="o13" descr="image-11-9.png"/>
          <p:cNvPicPr>
            <a:picLocks noChangeAspect="1"/>
          </p:cNvPicPr>
          <p:nvPr/>
        </p:nvPicPr>
        <p:blipFill>
          <a:blip r:embed="rId7"/>
          <a:stretch>
            <a:fillRect/>
          </a:stretch>
        </p:blipFill>
        <p:spPr>
          <a:xfrm>
            <a:off x="868680" y="4663440"/>
            <a:ext cx="384048" cy="384048"/>
          </a:xfrm>
          <a:prstGeom prst="rect">
            <a:avLst/>
          </a:prstGeom>
        </p:spPr>
      </p:pic>
      <p:sp>
        <p:nvSpPr>
          <p:cNvPr id="15" name="o14"/>
          <p:cNvSpPr txBox="1"/>
          <p:nvPr/>
        </p:nvSpPr>
        <p:spPr>
          <a:xfrm>
            <a:off x="1463040" y="4626864"/>
            <a:ext cx="4206240" cy="347472"/>
          </a:xfrm>
          <a:prstGeom prst="rect">
            <a:avLst/>
          </a:prstGeom>
          <a:noFill/>
        </p:spPr>
        <p:txBody>
          <a:bodyPr wrap="square" lIns="0" rIns="0" tIns="0" bIns="0" anchor="t">
            <a:spAutoFit/>
          </a:bodyPr>
          <a:lstStyle/>
          <a:p>
            <a:pPr algn="l"/>
            <a:r>
              <a:rPr sz="1800" b="1" i="0">
                <a:solidFill>
                  <a:srgbClr val="FFFFFF"/>
                </a:solidFill>
                <a:latin typeface="Arial"/>
              </a:rPr>
              <a:t>Source occidentale</a:t>
            </a:r>
          </a:p>
        </p:txBody>
      </p:sp>
      <p:sp>
        <p:nvSpPr>
          <p:cNvPr id="16" name="o15"/>
          <p:cNvSpPr txBox="1"/>
          <p:nvPr/>
        </p:nvSpPr>
        <p:spPr>
          <a:xfrm>
            <a:off x="1463040" y="5010912"/>
            <a:ext cx="4206240" cy="320040"/>
          </a:xfrm>
          <a:prstGeom prst="rect">
            <a:avLst/>
          </a:prstGeom>
          <a:noFill/>
        </p:spPr>
        <p:txBody>
          <a:bodyPr wrap="square" lIns="0" rIns="0" tIns="0" bIns="0" anchor="t">
            <a:spAutoFit/>
          </a:bodyPr>
          <a:lstStyle/>
          <a:p>
            <a:pPr algn="l"/>
            <a:r>
              <a:rPr sz="1400" b="0" i="0">
                <a:solidFill>
                  <a:srgbClr val="C4C4E4"/>
                </a:solidFill>
                <a:latin typeface="Arial"/>
              </a:rPr>
              <a:t>le Japon est mal couvert par Metacritic</a:t>
            </a:r>
          </a:p>
        </p:txBody>
      </p:sp>
      <p:sp>
        <p:nvSpPr>
          <p:cNvPr id="17" name="o16"/>
          <p:cNvSpPr/>
          <p:nvPr/>
        </p:nvSpPr>
        <p:spPr>
          <a:xfrm>
            <a:off x="6336792" y="1600200"/>
            <a:ext cx="5303520" cy="4434840"/>
          </a:xfrm>
          <a:prstGeom prst="roundRect">
            <a:avLst>
              <a:gd name="adj" fmla="val 2886"/>
            </a:avLst>
          </a:prstGeom>
          <a:solidFill>
            <a:srgbClr val="000000"/>
          </a:solidFill>
          <a:ln w="28575">
            <a:solidFill>
              <a:srgbClr val="00D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17"/>
          <p:cNvSpPr/>
          <p:nvPr/>
        </p:nvSpPr>
        <p:spPr>
          <a:xfrm>
            <a:off x="6405372" y="1668780"/>
            <a:ext cx="5166359" cy="4297679"/>
          </a:xfrm>
          <a:prstGeom prst="roundRect">
            <a:avLst>
              <a:gd name="adj" fmla="val 1382"/>
            </a:avLst>
          </a:prstGeom>
          <a:noFill/>
          <a:ln w="12700">
            <a:solidFill>
              <a:srgbClr val="00D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o18" descr="RECOMMANDATIONS"/>
          <p:cNvPicPr>
            <a:picLocks noChangeAspect="1"/>
          </p:cNvPicPr>
          <p:nvPr/>
        </p:nvPicPr>
        <p:blipFill>
          <a:blip r:embed="rId8"/>
          <a:stretch>
            <a:fillRect/>
          </a:stretch>
        </p:blipFill>
        <p:spPr>
          <a:xfrm>
            <a:off x="6656832" y="1874519"/>
            <a:ext cx="2331720" cy="155448"/>
          </a:xfrm>
          <a:prstGeom prst="rect">
            <a:avLst/>
          </a:prstGeom>
        </p:spPr>
      </p:pic>
      <p:pic>
        <p:nvPicPr>
          <p:cNvPr id="20" name="o19" descr="image-6-17.png"/>
          <p:cNvPicPr>
            <a:picLocks noChangeAspect="1"/>
          </p:cNvPicPr>
          <p:nvPr/>
        </p:nvPicPr>
        <p:blipFill>
          <a:blip r:embed="rId9"/>
          <a:stretch>
            <a:fillRect/>
          </a:stretch>
        </p:blipFill>
        <p:spPr>
          <a:xfrm>
            <a:off x="6656832" y="2377440"/>
            <a:ext cx="384048" cy="384048"/>
          </a:xfrm>
          <a:prstGeom prst="rect">
            <a:avLst/>
          </a:prstGeom>
        </p:spPr>
      </p:pic>
      <p:sp>
        <p:nvSpPr>
          <p:cNvPr id="21" name="o20"/>
          <p:cNvSpPr txBox="1"/>
          <p:nvPr/>
        </p:nvSpPr>
        <p:spPr>
          <a:xfrm>
            <a:off x="7251192" y="2340864"/>
            <a:ext cx="4206240" cy="347472"/>
          </a:xfrm>
          <a:prstGeom prst="rect">
            <a:avLst/>
          </a:prstGeom>
          <a:noFill/>
        </p:spPr>
        <p:txBody>
          <a:bodyPr wrap="square" lIns="0" rIns="0" tIns="0" bIns="0" anchor="t">
            <a:spAutoFit/>
          </a:bodyPr>
          <a:lstStyle/>
          <a:p>
            <a:pPr algn="l"/>
            <a:r>
              <a:rPr sz="1800" b="1" i="0">
                <a:solidFill>
                  <a:srgbClr val="FFFFFF"/>
                </a:solidFill>
                <a:latin typeface="Arial"/>
              </a:rPr>
              <a:t>Miser sur la qualité</a:t>
            </a:r>
          </a:p>
        </p:txBody>
      </p:sp>
      <p:sp>
        <p:nvSpPr>
          <p:cNvPr id="22" name="o21"/>
          <p:cNvSpPr txBox="1"/>
          <p:nvPr/>
        </p:nvSpPr>
        <p:spPr>
          <a:xfrm>
            <a:off x="7251192" y="2724912"/>
            <a:ext cx="4206240" cy="320040"/>
          </a:xfrm>
          <a:prstGeom prst="rect">
            <a:avLst/>
          </a:prstGeom>
          <a:noFill/>
        </p:spPr>
        <p:txBody>
          <a:bodyPr wrap="square" lIns="0" rIns="0" tIns="0" bIns="0" anchor="t">
            <a:spAutoFit/>
          </a:bodyPr>
          <a:lstStyle/>
          <a:p>
            <a:pPr algn="l"/>
            <a:r>
              <a:rPr sz="1400" b="0" i="0">
                <a:solidFill>
                  <a:srgbClr val="C4C4E4"/>
                </a:solidFill>
                <a:latin typeface="Arial"/>
              </a:rPr>
              <a:t>les jeux notés 80 et + font 53 % des ventes notées</a:t>
            </a:r>
          </a:p>
        </p:txBody>
      </p:sp>
      <p:pic>
        <p:nvPicPr>
          <p:cNvPr id="23" name="o22" descr="image-6-17.png"/>
          <p:cNvPicPr>
            <a:picLocks noChangeAspect="1"/>
          </p:cNvPicPr>
          <p:nvPr/>
        </p:nvPicPr>
        <p:blipFill>
          <a:blip r:embed="rId9"/>
          <a:stretch>
            <a:fillRect/>
          </a:stretch>
        </p:blipFill>
        <p:spPr>
          <a:xfrm>
            <a:off x="6656832" y="3520440"/>
            <a:ext cx="384048" cy="384048"/>
          </a:xfrm>
          <a:prstGeom prst="rect">
            <a:avLst/>
          </a:prstGeom>
        </p:spPr>
      </p:pic>
      <p:sp>
        <p:nvSpPr>
          <p:cNvPr id="24" name="o23"/>
          <p:cNvSpPr txBox="1"/>
          <p:nvPr/>
        </p:nvSpPr>
        <p:spPr>
          <a:xfrm>
            <a:off x="7251192" y="3483864"/>
            <a:ext cx="4206240" cy="347472"/>
          </a:xfrm>
          <a:prstGeom prst="rect">
            <a:avLst/>
          </a:prstGeom>
          <a:noFill/>
        </p:spPr>
        <p:txBody>
          <a:bodyPr wrap="square" lIns="0" rIns="0" tIns="0" bIns="0" anchor="t">
            <a:spAutoFit/>
          </a:bodyPr>
          <a:lstStyle/>
          <a:p>
            <a:pPr algn="l"/>
            <a:r>
              <a:rPr sz="1800" b="1" i="0">
                <a:solidFill>
                  <a:srgbClr val="FFFFFF"/>
                </a:solidFill>
                <a:latin typeface="Arial"/>
              </a:rPr>
              <a:t>Viser l'Europe</a:t>
            </a:r>
          </a:p>
        </p:txBody>
      </p:sp>
      <p:sp>
        <p:nvSpPr>
          <p:cNvPr id="25" name="o24"/>
          <p:cNvSpPr txBox="1"/>
          <p:nvPr/>
        </p:nvSpPr>
        <p:spPr>
          <a:xfrm>
            <a:off x="7251192" y="3867912"/>
            <a:ext cx="4206240" cy="320040"/>
          </a:xfrm>
          <a:prstGeom prst="rect">
            <a:avLst/>
          </a:prstGeom>
          <a:noFill/>
        </p:spPr>
        <p:txBody>
          <a:bodyPr wrap="square" lIns="0" rIns="0" tIns="0" bIns="0" anchor="t">
            <a:spAutoFit/>
          </a:bodyPr>
          <a:lstStyle/>
          <a:p>
            <a:pPr algn="l"/>
            <a:r>
              <a:rPr sz="1400" b="0" i="0">
                <a:solidFill>
                  <a:srgbClr val="C4C4E4"/>
                </a:solidFill>
                <a:latin typeface="Arial"/>
              </a:rPr>
              <a:t>le marché le plus sensible aux notes</a:t>
            </a:r>
          </a:p>
        </p:txBody>
      </p:sp>
      <p:pic>
        <p:nvPicPr>
          <p:cNvPr id="26" name="o25" descr="image-6-17.png"/>
          <p:cNvPicPr>
            <a:picLocks noChangeAspect="1"/>
          </p:cNvPicPr>
          <p:nvPr/>
        </p:nvPicPr>
        <p:blipFill>
          <a:blip r:embed="rId9"/>
          <a:stretch>
            <a:fillRect/>
          </a:stretch>
        </p:blipFill>
        <p:spPr>
          <a:xfrm>
            <a:off x="6656832" y="4663440"/>
            <a:ext cx="384048" cy="384048"/>
          </a:xfrm>
          <a:prstGeom prst="rect">
            <a:avLst/>
          </a:prstGeom>
        </p:spPr>
      </p:pic>
      <p:sp>
        <p:nvSpPr>
          <p:cNvPr id="27" name="o26"/>
          <p:cNvSpPr txBox="1"/>
          <p:nvPr/>
        </p:nvSpPr>
        <p:spPr>
          <a:xfrm>
            <a:off x="7251192" y="4626864"/>
            <a:ext cx="4206240" cy="347472"/>
          </a:xfrm>
          <a:prstGeom prst="rect">
            <a:avLst/>
          </a:prstGeom>
          <a:noFill/>
        </p:spPr>
        <p:txBody>
          <a:bodyPr wrap="square" lIns="0" rIns="0" tIns="0" bIns="0" anchor="t">
            <a:spAutoFit/>
          </a:bodyPr>
          <a:lstStyle/>
          <a:p>
            <a:pPr algn="l"/>
            <a:r>
              <a:rPr sz="1800" b="1" i="0">
                <a:solidFill>
                  <a:srgbClr val="FFFFFF"/>
                </a:solidFill>
                <a:latin typeface="Arial"/>
              </a:rPr>
              <a:t>Prochaine source</a:t>
            </a:r>
          </a:p>
        </p:txBody>
      </p:sp>
      <p:sp>
        <p:nvSpPr>
          <p:cNvPr id="28" name="o27"/>
          <p:cNvSpPr txBox="1"/>
          <p:nvPr/>
        </p:nvSpPr>
        <p:spPr>
          <a:xfrm>
            <a:off x="7251192" y="5010912"/>
            <a:ext cx="4206240" cy="320040"/>
          </a:xfrm>
          <a:prstGeom prst="rect">
            <a:avLst/>
          </a:prstGeom>
          <a:noFill/>
        </p:spPr>
        <p:txBody>
          <a:bodyPr wrap="square" lIns="0" rIns="0" tIns="0" bIns="0" anchor="t">
            <a:spAutoFit/>
          </a:bodyPr>
          <a:lstStyle/>
          <a:p>
            <a:pPr algn="l"/>
            <a:r>
              <a:rPr sz="1400" b="0" i="0">
                <a:solidFill>
                  <a:srgbClr val="C4C4E4"/>
                </a:solidFill>
                <a:latin typeface="Arial"/>
              </a:rPr>
              <a:t>les ventes dématérialisées (Steam) : l'angle mort de la partie 1</a:t>
            </a:r>
          </a:p>
        </p:txBody>
      </p:sp>
      <p:pic>
        <p:nvPicPr>
          <p:cNvPr id="29" name="fin_pastille" descr="image-1-13.gif"/>
          <p:cNvPicPr>
            <a:picLocks noChangeAspect="1"/>
          </p:cNvPicPr>
          <p:nvPr/>
        </p:nvPicPr>
        <p:blipFill>
          <a:blip r:embed="rId10"/>
          <a:stretch>
            <a:fillRect/>
          </a:stretch>
        </p:blipFill>
        <p:spPr>
          <a:xfrm>
            <a:off x="11448288" y="6355080"/>
            <a:ext cx="182880" cy="182880"/>
          </a:xfrm>
          <a:prstGeom prst="rect">
            <a:avLst/>
          </a:prstGeom>
        </p:spPr>
      </p:pic>
      <p:pic>
        <p:nvPicPr>
          <p:cNvPr id="30" name="barre_fantome" descr="image-1-15.gif"/>
          <p:cNvPicPr>
            <a:picLocks noChangeAspect="1"/>
          </p:cNvPicPr>
          <p:nvPr/>
        </p:nvPicPr>
        <p:blipFill>
          <a:blip r:embed="rId11"/>
          <a:stretch>
            <a:fillRect/>
          </a:stretch>
        </p:blipFill>
        <p:spPr>
          <a:xfrm>
            <a:off x="9500616" y="6291072"/>
            <a:ext cx="310896" cy="310896"/>
          </a:xfrm>
          <a:prstGeom prst="rect">
            <a:avLst/>
          </a:prstGeom>
        </p:spPr>
      </p:pic>
      <p:pic>
        <p:nvPicPr>
          <p:cNvPr id="31" name="barre_pacman" descr="image-1-14.gif"/>
          <p:cNvPicPr>
            <a:picLocks noChangeAspect="1"/>
          </p:cNvPicPr>
          <p:nvPr/>
        </p:nvPicPr>
        <p:blipFill>
          <a:blip r:embed="rId12"/>
          <a:stretch>
            <a:fillRect/>
          </a:stretch>
        </p:blipFill>
        <p:spPr>
          <a:xfrm>
            <a:off x="10067544" y="6291072"/>
            <a:ext cx="310896" cy="310896"/>
          </a:xfrm>
          <a:prstGeom prst="rect">
            <a:avLst/>
          </a:prstGeom>
        </p:spPr>
      </p:pic>
      <p:sp>
        <p:nvSpPr>
          <p:cNvPr id="32" name="barre_pastille_11.50"/>
          <p:cNvSpPr/>
          <p:nvPr/>
        </p:nvSpPr>
        <p:spPr>
          <a:xfrm>
            <a:off x="105156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re_pastille_11.75"/>
          <p:cNvSpPr/>
          <p:nvPr/>
        </p:nvSpPr>
        <p:spPr>
          <a:xfrm>
            <a:off x="107442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rre_pastille_12.00"/>
          <p:cNvSpPr/>
          <p:nvPr/>
        </p:nvSpPr>
        <p:spPr>
          <a:xfrm>
            <a:off x="109728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re_pastille_12.25"/>
          <p:cNvSpPr/>
          <p:nvPr/>
        </p:nvSpPr>
        <p:spPr>
          <a:xfrm>
            <a:off x="11201400" y="6414516"/>
            <a:ext cx="64008" cy="64008"/>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4050 0 E" pathEditMode="relative" ptsTypes="">
                                      <p:cBhvr>
                                        <p:cTn id="6" dur="900" fill="hold"/>
                                        <p:tgtEl>
                                          <p:spTgt spid="30"/>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4050 0 E" pathEditMode="relative" ptsTypes="">
                                      <p:cBhvr>
                                        <p:cTn id="8" dur="900" fill="hold"/>
                                        <p:tgtEl>
                                          <p:spTgt spid="31"/>
                                        </p:tgtEl>
                                        <p:attrNameLst>
                                          <p:attrName>ppt_x</p:attrName>
                                          <p:attrName>ppt_y</p:attrName>
                                        </p:attrNameLst>
                                      </p:cBhvr>
                                    </p:animMotion>
                                  </p:childTnLst>
                                </p:cTn>
                              </p:par>
                              <p:par>
                                <p:cTn id="9" presetID="1" presetClass="exit" presetSubtype="0" fill="hold" nodeType="withEffect">
                                  <p:stCondLst>
                                    <p:cond delay="317"/>
                                  </p:stCondLst>
                                  <p:childTnLst>
                                    <p:set>
                                      <p:cBhvr>
                                        <p:cTn id="10" dur="1" fill="hold">
                                          <p:stCondLst>
                                            <p:cond delay="0"/>
                                          </p:stCondLst>
                                        </p:cTn>
                                        <p:tgtEl>
                                          <p:spTgt spid="32"/>
                                        </p:tgtEl>
                                        <p:attrNameLst>
                                          <p:attrName>style.visibility</p:attrName>
                                        </p:attrNameLst>
                                      </p:cBhvr>
                                      <p:to>
                                        <p:strVal val="hidden"/>
                                      </p:to>
                                    </p:set>
                                  </p:childTnLst>
                                </p:cTn>
                              </p:par>
                              <p:par>
                                <p:cTn id="11" presetID="1" presetClass="exit" presetSubtype="0" fill="hold" nodeType="withEffect">
                                  <p:stCondLst>
                                    <p:cond delay="733"/>
                                  </p:stCondLst>
                                  <p:childTnLst>
                                    <p:set>
                                      <p:cBhvr>
                                        <p:cTn id="12" dur="1" fill="hold">
                                          <p:stCondLst>
                                            <p:cond delay="0"/>
                                          </p:stCondLst>
                                        </p:cTn>
                                        <p:tgtEl>
                                          <p:spTgt spid="33"/>
                                        </p:tgtEl>
                                        <p:attrNameLst>
                                          <p:attrName>style.visibility</p:attrName>
                                        </p:attrNameLst>
                                      </p:cBhvr>
                                      <p:to>
                                        <p:strVal val="hidden"/>
                                      </p:to>
                                    </p:set>
                                  </p:childTnLst>
                                </p:cTn>
                              </p:par>
                              <p:par>
                                <p:cTn id="13" presetID="10" presetClass="entr" presetSubtype="0"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par>
                                <p:cTn id="16" presetID="10" presetClass="entr" presetSubtype="0" fill="hold"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4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10" presetClass="entr" presetSubtype="0" fill="hold" nodeType="withEffect">
                                  <p:stCondLst>
                                    <p:cond delay="4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nodeType="withEffect">
                                  <p:stCondLst>
                                    <p:cond delay="4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nodeType="withEffect">
                                  <p:stCondLst>
                                    <p:cond delay="65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nodeType="withEffect">
                                  <p:stCondLst>
                                    <p:cond delay="6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nodeType="withEffect">
                                  <p:stCondLst>
                                    <p:cond delay="6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9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9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9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13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13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13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15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150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nodeType="withEffect">
                                  <p:stCondLst>
                                    <p:cond delay="150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175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nodeType="withEffect">
                                  <p:stCondLst>
                                    <p:cond delay="175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nodeType="withEffect">
                                  <p:stCondLst>
                                    <p:cond delay="175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200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nodeType="withEffect">
                                  <p:stCondLst>
                                    <p:cond delay="200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nodeType="withEffect">
                                  <p:stCondLst>
                                    <p:cond delay="200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o1" descr="GAME OVER ?"/>
          <p:cNvPicPr>
            <a:picLocks noChangeAspect="1"/>
          </p:cNvPicPr>
          <p:nvPr/>
        </p:nvPicPr>
        <p:blipFill>
          <a:blip r:embed="rId3"/>
          <a:stretch>
            <a:fillRect/>
          </a:stretch>
        </p:blipFill>
        <p:spPr>
          <a:xfrm>
            <a:off x="3581247" y="914400"/>
            <a:ext cx="5029200" cy="457200"/>
          </a:xfrm>
          <a:prstGeom prst="rect">
            <a:avLst/>
          </a:prstGeom>
        </p:spPr>
      </p:pic>
      <p:pic>
        <p:nvPicPr>
          <p:cNvPr id="3" name="o2" descr="NON : MISSION ACCOMPLIE"/>
          <p:cNvPicPr>
            <a:picLocks noChangeAspect="1"/>
          </p:cNvPicPr>
          <p:nvPr/>
        </p:nvPicPr>
        <p:blipFill>
          <a:blip r:embed="rId4"/>
          <a:stretch>
            <a:fillRect/>
          </a:stretch>
        </p:blipFill>
        <p:spPr>
          <a:xfrm>
            <a:off x="3361791" y="1645920"/>
            <a:ext cx="5468112" cy="237744"/>
          </a:xfrm>
          <a:prstGeom prst="rect">
            <a:avLst/>
          </a:prstGeom>
        </p:spPr>
      </p:pic>
      <p:pic>
        <p:nvPicPr>
          <p:cNvPr id="4" name="rangee_sprite" descr="image-1-8.gif"/>
          <p:cNvPicPr>
            <a:picLocks noChangeAspect="1"/>
          </p:cNvPicPr>
          <p:nvPr/>
        </p:nvPicPr>
        <p:blipFill>
          <a:blip r:embed="rId5"/>
          <a:stretch>
            <a:fillRect/>
          </a:stretch>
        </p:blipFill>
        <p:spPr>
          <a:xfrm>
            <a:off x="2194560" y="2514600"/>
            <a:ext cx="420624" cy="420624"/>
          </a:xfrm>
          <a:prstGeom prst="rect">
            <a:avLst/>
          </a:prstGeom>
        </p:spPr>
      </p:pic>
      <p:pic>
        <p:nvPicPr>
          <p:cNvPr id="5" name="rangee_sprite" descr="image-1-7.gif"/>
          <p:cNvPicPr>
            <a:picLocks noChangeAspect="1"/>
          </p:cNvPicPr>
          <p:nvPr/>
        </p:nvPicPr>
        <p:blipFill>
          <a:blip r:embed="rId6"/>
          <a:stretch>
            <a:fillRect/>
          </a:stretch>
        </p:blipFill>
        <p:spPr>
          <a:xfrm>
            <a:off x="2743200" y="2514600"/>
            <a:ext cx="420624" cy="420624"/>
          </a:xfrm>
          <a:prstGeom prst="rect">
            <a:avLst/>
          </a:prstGeom>
        </p:spPr>
      </p:pic>
      <p:pic>
        <p:nvPicPr>
          <p:cNvPr id="6" name="rangee_sprite" descr="image-1-6.gif"/>
          <p:cNvPicPr>
            <a:picLocks noChangeAspect="1"/>
          </p:cNvPicPr>
          <p:nvPr/>
        </p:nvPicPr>
        <p:blipFill>
          <a:blip r:embed="rId7"/>
          <a:stretch>
            <a:fillRect/>
          </a:stretch>
        </p:blipFill>
        <p:spPr>
          <a:xfrm>
            <a:off x="3291839" y="2514600"/>
            <a:ext cx="420624" cy="420624"/>
          </a:xfrm>
          <a:prstGeom prst="rect">
            <a:avLst/>
          </a:prstGeom>
        </p:spPr>
      </p:pic>
      <p:pic>
        <p:nvPicPr>
          <p:cNvPr id="7" name="rangee_sprite" descr="image-1-15.gif"/>
          <p:cNvPicPr>
            <a:picLocks noChangeAspect="1"/>
          </p:cNvPicPr>
          <p:nvPr/>
        </p:nvPicPr>
        <p:blipFill>
          <a:blip r:embed="rId8"/>
          <a:stretch>
            <a:fillRect/>
          </a:stretch>
        </p:blipFill>
        <p:spPr>
          <a:xfrm>
            <a:off x="3840479" y="2514600"/>
            <a:ext cx="420624" cy="420624"/>
          </a:xfrm>
          <a:prstGeom prst="rect">
            <a:avLst/>
          </a:prstGeom>
        </p:spPr>
      </p:pic>
      <p:pic>
        <p:nvPicPr>
          <p:cNvPr id="8" name="rangee_pacman" descr="image-1-14.gif"/>
          <p:cNvPicPr>
            <a:picLocks noChangeAspect="1"/>
          </p:cNvPicPr>
          <p:nvPr/>
        </p:nvPicPr>
        <p:blipFill>
          <a:blip r:embed="rId9"/>
          <a:stretch>
            <a:fillRect/>
          </a:stretch>
        </p:blipFill>
        <p:spPr>
          <a:xfrm>
            <a:off x="4480560" y="2514600"/>
            <a:ext cx="420624" cy="420624"/>
          </a:xfrm>
          <a:prstGeom prst="rect">
            <a:avLst/>
          </a:prstGeom>
        </p:spPr>
      </p:pic>
      <p:sp>
        <p:nvSpPr>
          <p:cNvPr id="9" name="rangee_pastille"/>
          <p:cNvSpPr/>
          <p:nvPr/>
        </p:nvSpPr>
        <p:spPr>
          <a:xfrm>
            <a:off x="512064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ngee_pastille"/>
          <p:cNvSpPr/>
          <p:nvPr/>
        </p:nvSpPr>
        <p:spPr>
          <a:xfrm>
            <a:off x="548640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ngee_pastille"/>
          <p:cNvSpPr/>
          <p:nvPr/>
        </p:nvSpPr>
        <p:spPr>
          <a:xfrm>
            <a:off x="585216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ngee_pastille"/>
          <p:cNvSpPr/>
          <p:nvPr/>
        </p:nvSpPr>
        <p:spPr>
          <a:xfrm>
            <a:off x="621792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ngee_pastille"/>
          <p:cNvSpPr/>
          <p:nvPr/>
        </p:nvSpPr>
        <p:spPr>
          <a:xfrm>
            <a:off x="658368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ngee_pastille"/>
          <p:cNvSpPr/>
          <p:nvPr/>
        </p:nvSpPr>
        <p:spPr>
          <a:xfrm>
            <a:off x="694944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angee_pastille"/>
          <p:cNvSpPr/>
          <p:nvPr/>
        </p:nvSpPr>
        <p:spPr>
          <a:xfrm>
            <a:off x="731520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angee_pastille"/>
          <p:cNvSpPr/>
          <p:nvPr/>
        </p:nvSpPr>
        <p:spPr>
          <a:xfrm>
            <a:off x="768096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ngee_pastille"/>
          <p:cNvSpPr/>
          <p:nvPr/>
        </p:nvSpPr>
        <p:spPr>
          <a:xfrm>
            <a:off x="804672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angee_pastille"/>
          <p:cNvSpPr/>
          <p:nvPr/>
        </p:nvSpPr>
        <p:spPr>
          <a:xfrm>
            <a:off x="8412480" y="2688336"/>
            <a:ext cx="73152" cy="73152"/>
          </a:xfrm>
          <a:prstGeom prst="rect">
            <a:avLst/>
          </a:prstGeom>
          <a:solidFill>
            <a:srgbClr val="FFB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rangee_super" descr="image-1-13.gif"/>
          <p:cNvPicPr>
            <a:picLocks noChangeAspect="1"/>
          </p:cNvPicPr>
          <p:nvPr/>
        </p:nvPicPr>
        <p:blipFill>
          <a:blip r:embed="rId10"/>
          <a:stretch>
            <a:fillRect/>
          </a:stretch>
        </p:blipFill>
        <p:spPr>
          <a:xfrm>
            <a:off x="8686800" y="2587752"/>
            <a:ext cx="274320" cy="274320"/>
          </a:xfrm>
          <a:prstGeom prst="rect">
            <a:avLst/>
          </a:prstGeom>
        </p:spPr>
      </p:pic>
      <p:sp>
        <p:nvSpPr>
          <p:cNvPr id="20" name="o19"/>
          <p:cNvSpPr txBox="1"/>
          <p:nvPr/>
        </p:nvSpPr>
        <p:spPr>
          <a:xfrm>
            <a:off x="1371600" y="3337560"/>
            <a:ext cx="9448495" cy="411480"/>
          </a:xfrm>
          <a:prstGeom prst="rect">
            <a:avLst/>
          </a:prstGeom>
          <a:noFill/>
        </p:spPr>
        <p:txBody>
          <a:bodyPr wrap="square" lIns="0" rIns="0" tIns="0" bIns="0" anchor="t">
            <a:spAutoFit/>
          </a:bodyPr>
          <a:lstStyle/>
          <a:p>
            <a:pPr algn="ctr"/>
            <a:r>
              <a:rPr sz="2000" b="0" i="0">
                <a:solidFill>
                  <a:srgbClr val="C4C4E4"/>
                </a:solidFill>
                <a:latin typeface="Arial"/>
              </a:rPr>
              <a:t>2 bases · 1 jointure · 1 appli de 9 pages · 38 figures</a:t>
            </a:r>
          </a:p>
        </p:txBody>
      </p:sp>
      <p:pic>
        <p:nvPicPr>
          <p:cNvPr id="21" name="o20" descr="MERCI !"/>
          <p:cNvPicPr>
            <a:picLocks noChangeAspect="1"/>
          </p:cNvPicPr>
          <p:nvPr/>
        </p:nvPicPr>
        <p:blipFill>
          <a:blip r:embed="rId11"/>
          <a:stretch>
            <a:fillRect/>
          </a:stretch>
        </p:blipFill>
        <p:spPr>
          <a:xfrm>
            <a:off x="4751679" y="4069080"/>
            <a:ext cx="2688336" cy="384048"/>
          </a:xfrm>
          <a:prstGeom prst="rect">
            <a:avLst/>
          </a:prstGeom>
        </p:spPr>
      </p:pic>
      <p:pic>
        <p:nvPicPr>
          <p:cNvPr id="22" name="o21" descr="DES QUESTIONS ?"/>
          <p:cNvPicPr>
            <a:picLocks noChangeAspect="1"/>
          </p:cNvPicPr>
          <p:nvPr/>
        </p:nvPicPr>
        <p:blipFill>
          <a:blip r:embed="rId12"/>
          <a:stretch>
            <a:fillRect/>
          </a:stretch>
        </p:blipFill>
        <p:spPr>
          <a:xfrm>
            <a:off x="4587087" y="4754880"/>
            <a:ext cx="3017520" cy="201168"/>
          </a:xfrm>
          <a:prstGeom prst="rect">
            <a:avLst/>
          </a:prstGeom>
        </p:spPr>
      </p:pic>
      <p:pic>
        <p:nvPicPr>
          <p:cNvPr id="23" name="o22" descr="INSERT COIN TO CONTINUE"/>
          <p:cNvPicPr>
            <a:picLocks noChangeAspect="1"/>
          </p:cNvPicPr>
          <p:nvPr/>
        </p:nvPicPr>
        <p:blipFill>
          <a:blip r:embed="rId13"/>
          <a:stretch>
            <a:fillRect/>
          </a:stretch>
        </p:blipFill>
        <p:spPr>
          <a:xfrm>
            <a:off x="4623663" y="5349240"/>
            <a:ext cx="2944368" cy="128016"/>
          </a:xfrm>
          <a:prstGeom prst="rect">
            <a:avLst/>
          </a:prstGeom>
        </p:spPr>
      </p:pic>
      <p:pic>
        <p:nvPicPr>
          <p:cNvPr id="24" name="fin_pastille" descr="image-1-13.gif"/>
          <p:cNvPicPr>
            <a:picLocks noChangeAspect="1"/>
          </p:cNvPicPr>
          <p:nvPr/>
        </p:nvPicPr>
        <p:blipFill>
          <a:blip r:embed="rId10"/>
          <a:stretch>
            <a:fillRect/>
          </a:stretch>
        </p:blipFill>
        <p:spPr>
          <a:xfrm>
            <a:off x="11448288" y="6355080"/>
            <a:ext cx="182880" cy="182880"/>
          </a:xfrm>
          <a:prstGeom prst="rect">
            <a:avLst/>
          </a:prstGeom>
        </p:spPr>
      </p:pic>
      <p:pic>
        <p:nvPicPr>
          <p:cNvPr id="25" name="fin_rouge" descr="image-1-15.gif"/>
          <p:cNvPicPr>
            <a:picLocks noChangeAspect="1"/>
          </p:cNvPicPr>
          <p:nvPr/>
        </p:nvPicPr>
        <p:blipFill>
          <a:blip r:embed="rId8"/>
          <a:stretch>
            <a:fillRect/>
          </a:stretch>
        </p:blipFill>
        <p:spPr>
          <a:xfrm>
            <a:off x="10524744" y="6291072"/>
            <a:ext cx="310896" cy="310896"/>
          </a:xfrm>
          <a:prstGeom prst="rect">
            <a:avLst/>
          </a:prstGeom>
        </p:spPr>
      </p:pic>
      <p:pic>
        <p:nvPicPr>
          <p:cNvPr id="26" name="fin_peur" descr="image-17-7.gif"/>
          <p:cNvPicPr>
            <a:picLocks noChangeAspect="1"/>
          </p:cNvPicPr>
          <p:nvPr/>
        </p:nvPicPr>
        <p:blipFill>
          <a:blip r:embed="rId14"/>
          <a:stretch>
            <a:fillRect/>
          </a:stretch>
        </p:blipFill>
        <p:spPr>
          <a:xfrm>
            <a:off x="10817352" y="6291072"/>
            <a:ext cx="310896" cy="310896"/>
          </a:xfrm>
          <a:prstGeom prst="rect">
            <a:avLst/>
          </a:prstGeom>
        </p:spPr>
      </p:pic>
      <p:pic>
        <p:nvPicPr>
          <p:cNvPr id="27" name="fin_pacman" descr="image-1-14.gif"/>
          <p:cNvPicPr>
            <a:picLocks noChangeAspect="1"/>
          </p:cNvPicPr>
          <p:nvPr/>
        </p:nvPicPr>
        <p:blipFill>
          <a:blip r:embed="rId9"/>
          <a:stretch>
            <a:fillRect/>
          </a:stretch>
        </p:blipFill>
        <p:spPr>
          <a:xfrm>
            <a:off x="11091672"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 0 L 0.02400 0 E" pathEditMode="relative" ptsTypes="">
                                      <p:cBhvr>
                                        <p:cTn id="6" dur="900" fill="hold"/>
                                        <p:tgtEl>
                                          <p:spTgt spid="25"/>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 0 L 0.02400 0 E" pathEditMode="relative" ptsTypes="">
                                      <p:cBhvr>
                                        <p:cTn id="8" dur="900" fill="hold"/>
                                        <p:tgtEl>
                                          <p:spTgt spid="27"/>
                                        </p:tgtEl>
                                        <p:attrNameLst>
                                          <p:attrName>ppt_x</p:attrName>
                                          <p:attrName>ppt_y</p:attrName>
                                        </p:attrNameLst>
                                      </p:cBhvr>
                                    </p:animMotion>
                                  </p:childTnLst>
                                </p:cTn>
                              </p:par>
                              <p:par>
                                <p:cTn id="9" presetID="1" presetClass="exit" presetSubtype="0" fill="hold" nodeType="withEffect">
                                  <p:stCondLst>
                                    <p:cond delay="780"/>
                                  </p:stCondLst>
                                  <p:childTnLst>
                                    <p:set>
                                      <p:cBhvr>
                                        <p:cTn id="10" dur="1" fill="hold">
                                          <p:stCondLst>
                                            <p:cond delay="0"/>
                                          </p:stCondLst>
                                        </p:cTn>
                                        <p:tgtEl>
                                          <p:spTgt spid="24"/>
                                        </p:tgtEl>
                                        <p:attrNameLst>
                                          <p:attrName>style.visibility</p:attrName>
                                        </p:attrNameLst>
                                      </p:cBhvr>
                                      <p:to>
                                        <p:strVal val="hidden"/>
                                      </p:to>
                                    </p:set>
                                  </p:childTnLst>
                                </p:cTn>
                              </p:par>
                              <p:par>
                                <p:cTn id="11" presetID="1" presetClass="exit" presetSubtype="0" fill="hold" nodeType="withEffect">
                                  <p:stCondLst>
                                    <p:cond delay="900"/>
                                  </p:stCondLst>
                                  <p:childTnLst>
                                    <p:set>
                                      <p:cBhvr>
                                        <p:cTn id="12" dur="1" fill="hold">
                                          <p:stCondLst>
                                            <p:cond delay="0"/>
                                          </p:stCondLst>
                                        </p:cTn>
                                        <p:tgtEl>
                                          <p:spTgt spid="25"/>
                                        </p:tgtEl>
                                        <p:attrNameLst>
                                          <p:attrName>style.visibility</p:attrName>
                                        </p:attrNameLst>
                                      </p:cBhvr>
                                      <p:to>
                                        <p:strVal val="hidden"/>
                                      </p:to>
                                    </p:set>
                                  </p:childTnLst>
                                </p:cTn>
                              </p:par>
                              <p:par>
                                <p:cTn id="13" presetID="1" presetClass="entr" presetSubtype="0" fill="hold" nodeType="withEffect">
                                  <p:stCondLst>
                                    <p:cond delay="900"/>
                                  </p:stCondLst>
                                  <p:childTnLst>
                                    <p:set>
                                      <p:cBhvr>
                                        <p:cTn id="14" dur="1" fill="hold">
                                          <p:stCondLst>
                                            <p:cond delay="0"/>
                                          </p:stCondLst>
                                        </p:cTn>
                                        <p:tgtEl>
                                          <p:spTgt spid="26"/>
                                        </p:tgtEl>
                                        <p:attrNameLst>
                                          <p:attrName>style.visibility</p:attrName>
                                        </p:attrNameLst>
                                      </p:cBhvr>
                                      <p:to>
                                        <p:strVal val="visible"/>
                                      </p:to>
                                    </p:set>
                                  </p:childTnLst>
                                </p:cTn>
                              </p:par>
                              <p:par>
                                <p:cTn id="15" presetID="0" presetClass="path" presetSubtype="0" fill="hold" nodeType="withEffect">
                                  <p:stCondLst>
                                    <p:cond delay="300"/>
                                  </p:stCondLst>
                                  <p:childTnLst>
                                    <p:animMotion origin="layout" path="M 0 0 L 0.32776 0 E" pathEditMode="relative" ptsTypes="">
                                      <p:cBhvr>
                                        <p:cTn id="16" dur="3000" fill="hold"/>
                                        <p:tgtEl>
                                          <p:spTgt spid="4"/>
                                        </p:tgtEl>
                                        <p:attrNameLst>
                                          <p:attrName>ppt_x</p:attrName>
                                          <p:attrName>ppt_y</p:attrName>
                                        </p:attrNameLst>
                                      </p:cBhvr>
                                    </p:animMotion>
                                  </p:childTnLst>
                                </p:cTn>
                              </p:par>
                              <p:par>
                                <p:cTn id="17" presetID="0" presetClass="path" presetSubtype="0" fill="hold" nodeType="withEffect">
                                  <p:stCondLst>
                                    <p:cond delay="300"/>
                                  </p:stCondLst>
                                  <p:childTnLst>
                                    <p:animMotion origin="layout" path="M 0 0 L 0.32776 0 E" pathEditMode="relative" ptsTypes="">
                                      <p:cBhvr>
                                        <p:cTn id="18" dur="3000" fill="hold"/>
                                        <p:tgtEl>
                                          <p:spTgt spid="5"/>
                                        </p:tgtEl>
                                        <p:attrNameLst>
                                          <p:attrName>ppt_x</p:attrName>
                                          <p:attrName>ppt_y</p:attrName>
                                        </p:attrNameLst>
                                      </p:cBhvr>
                                    </p:animMotion>
                                  </p:childTnLst>
                                </p:cTn>
                              </p:par>
                              <p:par>
                                <p:cTn id="19" presetID="0" presetClass="path" presetSubtype="0" fill="hold" nodeType="withEffect">
                                  <p:stCondLst>
                                    <p:cond delay="300"/>
                                  </p:stCondLst>
                                  <p:childTnLst>
                                    <p:animMotion origin="layout" path="M 0 0 L 0.32776 0 E" pathEditMode="relative" ptsTypes="">
                                      <p:cBhvr>
                                        <p:cTn id="20" dur="3000" fill="hold"/>
                                        <p:tgtEl>
                                          <p:spTgt spid="6"/>
                                        </p:tgtEl>
                                        <p:attrNameLst>
                                          <p:attrName>ppt_x</p:attrName>
                                          <p:attrName>ppt_y</p:attrName>
                                        </p:attrNameLst>
                                      </p:cBhvr>
                                    </p:animMotion>
                                  </p:childTnLst>
                                </p:cTn>
                              </p:par>
                              <p:par>
                                <p:cTn id="21" presetID="0" presetClass="path" presetSubtype="0" fill="hold" nodeType="withEffect">
                                  <p:stCondLst>
                                    <p:cond delay="300"/>
                                  </p:stCondLst>
                                  <p:childTnLst>
                                    <p:animMotion origin="layout" path="M 0 0 L 0.32776 0 E" pathEditMode="relative" ptsTypes="">
                                      <p:cBhvr>
                                        <p:cTn id="22" dur="3000" fill="hold"/>
                                        <p:tgtEl>
                                          <p:spTgt spid="7"/>
                                        </p:tgtEl>
                                        <p:attrNameLst>
                                          <p:attrName>ppt_x</p:attrName>
                                          <p:attrName>ppt_y</p:attrName>
                                        </p:attrNameLst>
                                      </p:cBhvr>
                                    </p:animMotion>
                                  </p:childTnLst>
                                </p:cTn>
                              </p:par>
                              <p:par>
                                <p:cTn id="23" presetID="0" presetClass="path" presetSubtype="0" fill="hold" nodeType="withEffect">
                                  <p:stCondLst>
                                    <p:cond delay="300"/>
                                  </p:stCondLst>
                                  <p:childTnLst>
                                    <p:animMotion origin="layout" path="M 0 0 L 0.32776 0 E" pathEditMode="relative" ptsTypes="">
                                      <p:cBhvr>
                                        <p:cTn id="24" dur="3000" fill="hold"/>
                                        <p:tgtEl>
                                          <p:spTgt spid="8"/>
                                        </p:tgtEl>
                                        <p:attrNameLst>
                                          <p:attrName>ppt_x</p:attrName>
                                          <p:attrName>ppt_y</p:attrName>
                                        </p:attrNameLst>
                                      </p:cBhvr>
                                    </p:animMotion>
                                  </p:childTnLst>
                                </p:cTn>
                              </p:par>
                              <p:par>
                                <p:cTn id="25" presetID="1" presetClass="exit" presetSubtype="0" fill="hold" nodeType="withEffect">
                                  <p:stCondLst>
                                    <p:cond delay="554"/>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xit" presetSubtype="0" fill="hold" nodeType="withEffect">
                                  <p:stCondLst>
                                    <p:cond delay="829"/>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xit" presetSubtype="0" fill="hold" nodeType="withEffect">
                                  <p:stCondLst>
                                    <p:cond delay="1103"/>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nodeType="withEffect">
                                  <p:stCondLst>
                                    <p:cond delay="1378"/>
                                  </p:stCondLst>
                                  <p:childTnLst>
                                    <p:set>
                                      <p:cBhvr>
                                        <p:cTn id="32" dur="1" fill="hold">
                                          <p:stCondLst>
                                            <p:cond delay="0"/>
                                          </p:stCondLst>
                                        </p:cTn>
                                        <p:tgtEl>
                                          <p:spTgt spid="12"/>
                                        </p:tgtEl>
                                        <p:attrNameLst>
                                          <p:attrName>style.visibility</p:attrName>
                                        </p:attrNameLst>
                                      </p:cBhvr>
                                      <p:to>
                                        <p:strVal val="hidden"/>
                                      </p:to>
                                    </p:set>
                                  </p:childTnLst>
                                </p:cTn>
                              </p:par>
                              <p:par>
                                <p:cTn id="33" presetID="1" presetClass="exit" presetSubtype="0" fill="hold" nodeType="withEffect">
                                  <p:stCondLst>
                                    <p:cond delay="1652"/>
                                  </p:stCondLst>
                                  <p:childTnLst>
                                    <p:set>
                                      <p:cBhvr>
                                        <p:cTn id="34" dur="1" fill="hold">
                                          <p:stCondLst>
                                            <p:cond delay="0"/>
                                          </p:stCondLst>
                                        </p:cTn>
                                        <p:tgtEl>
                                          <p:spTgt spid="13"/>
                                        </p:tgtEl>
                                        <p:attrNameLst>
                                          <p:attrName>style.visibility</p:attrName>
                                        </p:attrNameLst>
                                      </p:cBhvr>
                                      <p:to>
                                        <p:strVal val="hidden"/>
                                      </p:to>
                                    </p:set>
                                  </p:childTnLst>
                                </p:cTn>
                              </p:par>
                              <p:par>
                                <p:cTn id="35" presetID="1" presetClass="exit" presetSubtype="0" fill="hold" nodeType="withEffect">
                                  <p:stCondLst>
                                    <p:cond delay="1927"/>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nodeType="withEffect">
                                  <p:stCondLst>
                                    <p:cond delay="2202"/>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nodeType="withEffect">
                                  <p:stCondLst>
                                    <p:cond delay="2476"/>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nodeType="withEffect">
                                  <p:stCondLst>
                                    <p:cond delay="2751"/>
                                  </p:stCondLst>
                                  <p:childTnLst>
                                    <p:set>
                                      <p:cBhvr>
                                        <p:cTn id="42" dur="1" fill="hold">
                                          <p:stCondLst>
                                            <p:cond delay="0"/>
                                          </p:stCondLst>
                                        </p:cTn>
                                        <p:tgtEl>
                                          <p:spTgt spid="17"/>
                                        </p:tgtEl>
                                        <p:attrNameLst>
                                          <p:attrName>style.visibility</p:attrName>
                                        </p:attrNameLst>
                                      </p:cBhvr>
                                      <p:to>
                                        <p:strVal val="hidden"/>
                                      </p:to>
                                    </p:set>
                                  </p:childTnLst>
                                </p:cTn>
                              </p:par>
                              <p:par>
                                <p:cTn id="43" presetID="1" presetClass="exit" presetSubtype="0" fill="hold" nodeType="withEffect">
                                  <p:stCondLst>
                                    <p:cond delay="3025"/>
                                  </p:stCondLst>
                                  <p:childTnLst>
                                    <p:set>
                                      <p:cBhvr>
                                        <p:cTn id="44" dur="1" fill="hold">
                                          <p:stCondLst>
                                            <p:cond delay="0"/>
                                          </p:stCondLst>
                                        </p:cTn>
                                        <p:tgtEl>
                                          <p:spTgt spid="18"/>
                                        </p:tgtEl>
                                        <p:attrNameLst>
                                          <p:attrName>style.visibility</p:attrName>
                                        </p:attrNameLst>
                                      </p:cBhvr>
                                      <p:to>
                                        <p:strVal val="hidden"/>
                                      </p:to>
                                    </p:set>
                                  </p:childTnLst>
                                </p:cTn>
                              </p:par>
                              <p:par>
                                <p:cTn id="45" presetID="1" presetClass="exit" presetSubtype="0" fill="hold" nodeType="withEffect">
                                  <p:stCondLst>
                                    <p:cond delay="3231"/>
                                  </p:stCondLst>
                                  <p:childTnLst>
                                    <p:set>
                                      <p:cBhvr>
                                        <p:cTn id="46"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Ventes mondiales de jeux vidéo · Partie 2 : la base Metacritic</dc:title>
  <dc:subject/>
  <dc:creator>Mohamed Ben Amor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