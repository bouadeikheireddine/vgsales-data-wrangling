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c7adeec-1142-b6e7-b693-b64dc0bc29e0}">
          <p14:sldIdLst>
            <p14:sldId id="256"/>
            <p14:sldId id="257"/>
          </p14:sldIdLst>
        </p14:section>
        <p14:section name="Mission et pipeline" id="{80000c1b-c9ce-8bbe-b64e-99411d7fb472}">
          <p14:sldIdLst>
            <p14:sldId id="258"/>
            <p14:sldId id="259"/>
          </p14:sldIdLst>
        </p14:section>
        <p14:section name="Nettoyage" id="{0d95ffa0-a783-da3d-4967-302e421d8585}">
          <p14:sldIdLst>
            <p14:sldId id="260"/>
          </p14:sldIdLst>
        </p14:section>
        <p14:section name="Découvertes" id="{5898e510-aff9-2c8b-94af-11bf88900298}">
          <p14:sldIdLst>
            <p14:sldId id="261"/>
            <p14:sldId id="262"/>
            <p14:sldId id="263"/>
            <p14:sldId id="264"/>
          </p14:sldIdLst>
        </p14:section>
        <p14:section name="Boss final" id="{181e30bd-26f1-740f-2e68-f5368b8825ae}">
          <p14:sldIdLst>
            <p14:sldId id="265"/>
          </p14:sldIdLst>
        </p14:section>
        <p14:section name="Live demo" id="{9067b4c8-7fd0-60ab-8b5b-29c00423c6c2}">
          <p14:sldIdLst>
            <p14:sldId id="266"/>
          </p14:sldIdLst>
        </p14:section>
        <p14:section name="Niveau suivant" id="{975e722f-93eb-9298-3887-28195b86952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Ventes</c:v>
                </c:pt>
              </c:strCache>
            </c:strRef>
          </c:tx>
          <c:spPr>
            <a:solidFill>
              <a:schemeClr val="accent1"/>
            </a:solidFill>
            <a:ln w="9525" cap="flat">
              <a:solidFill>
                <a:srgbClr val="F9F9F9"/>
              </a:solidFill>
              <a:prstDash val="solid"/>
              <a:round/>
            </a:ln>
            <a:effectLst/>
          </c:spPr>
          <c:dPt>
            <c:idx val="0"/>
            <c:bubble3D val="0"/>
            <c:spPr>
              <a:solidFill>
                <a:srgbClr val="00E5FF"/>
              </a:solidFill>
              <a:ln w="9525" cap="flat">
                <a:solidFill>
                  <a:srgbClr val="0B0A1A"/>
                </a:solidFill>
                <a:prstDash val="solid"/>
                <a:round/>
              </a:ln>
              <a:effectLst/>
            </c:spPr>
          </c:dPt>
          <c:dPt>
            <c:idx val="1"/>
            <c:bubble3D val="0"/>
            <c:spPr>
              <a:solidFill>
                <a:srgbClr val="FF2E88"/>
              </a:solidFill>
              <a:ln w="9525" cap="flat">
                <a:solidFill>
                  <a:srgbClr val="0B0A1A"/>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Conservées</c:v>
                </c:pt>
                <c:pt idx="1">
                  <c:v>Retirées</c:v>
                </c:pt>
              </c:strCache>
            </c:strRef>
          </c:cat>
          <c:val>
            <c:numRef>
              <c:f>Sheet1!$B$2:$B$3</c:f>
              <c:numCache>
                <c:ptCount val="2"/>
                <c:pt idx="0">
                  <c:v>99.3</c:v>
                </c:pt>
                <c:pt idx="1">
                  <c:v>0.7</c:v>
                </c:pt>
              </c:numCache>
            </c:numRef>
          </c:val>
        </c:ser>
        <c:firstSliceAng val="0"/>
        <c:holeSize val="70"/>
      </c:doughnutChart>
      <c:spPr>
        <a:solidFill>
          <a:srgbClr val="0B0A1A">
            <a:alpha val="0"/>
          </a:srgbClr>
        </a:solidFill>
        <a:ln>
          <a:noFill/>
        </a:ln>
        <a:effectLst/>
      </c:spPr>
    </c:plotArea>
    <c:plotVisOnly val="1"/>
    <c:dispBlanksAs val="span"/>
  </c:chart>
  <c:spPr>
    <a:solidFill>
      <a:srgbClr val="0B0A1A">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 des ventes</c:v>
                </c:pt>
              </c:strCache>
            </c:strRef>
          </c:tx>
          <c:spPr>
            <a:solidFill>
              <a:srgbClr val="FF2E88"/>
            </a:solidFill>
            <a:effectLst/>
          </c:spPr>
          <c:invertIfNegative val="0"/>
          <c:dLbls>
            <c:numFmt formatCode="0.0&quot;%&quot;" sourceLinked="0"/>
            <c:txPr>
              <a:bodyPr/>
              <a:lstStyle/>
              <a:p>
                <a:pPr>
                  <a:defRPr b="1" i="0" strike="noStrike" sz="1200" u="none">
                    <a:solidFill>
                      <a:srgbClr val="F4F2FF"/>
                    </a:solidFill>
                    <a:latin typeface="Arial"/>
                  </a:defRPr>
                </a:pPr>
              </a:p>
            </c:txPr>
            <c:showLegendKey val="0"/>
            <c:showVal val="1"/>
            <c:showCatName val="0"/>
            <c:showSerName val="0"/>
            <c:showPercent val="0"/>
            <c:showBubbleSize val="0"/>
            <c:showLeaderLines val="0"/>
          </c:dLbls>
          <c:dPt>
            <c:idx val="0"/>
            <c:invertIfNegative val="0"/>
            <c:bubble3D val="0"/>
            <c:spPr>
              <a:solidFill>
                <a:srgbClr val="FF2E88"/>
              </a:solidFill>
              <a:effectLst/>
            </c:spPr>
          </c:dPt>
          <c:dPt>
            <c:idx val="1"/>
            <c:invertIfNegative val="0"/>
            <c:bubble3D val="0"/>
            <c:spPr>
              <a:solidFill>
                <a:srgbClr val="4B4785"/>
              </a:solidFill>
              <a:effectLst/>
            </c:spPr>
          </c:dPt>
          <c:dPt>
            <c:idx val="2"/>
            <c:invertIfNegative val="0"/>
            <c:bubble3D val="0"/>
            <c:spPr>
              <a:solidFill>
                <a:srgbClr val="4B4785"/>
              </a:solidFill>
              <a:effectLst/>
            </c:spPr>
          </c:dPt>
          <c:dPt>
            <c:idx val="3"/>
            <c:invertIfNegative val="0"/>
            <c:bubble3D val="0"/>
            <c:spPr>
              <a:solidFill>
                <a:srgbClr val="4B4785"/>
              </a:solidFill>
              <a:effectLst/>
            </c:spPr>
          </c:dPt>
          <c:dPt>
            <c:idx val="4"/>
            <c:invertIfNegative val="0"/>
            <c:bubble3D val="0"/>
            <c:spPr>
              <a:solidFill>
                <a:srgbClr val="4B4785"/>
              </a:solidFill>
              <a:effectLst/>
            </c:spPr>
          </c:dPt>
          <c:dPt>
            <c:idx val="5"/>
            <c:invertIfNegative val="0"/>
            <c:bubble3D val="0"/>
            <c:spPr>
              <a:solidFill>
                <a:srgbClr val="4B4785"/>
              </a:solidFill>
              <a:effectLst/>
            </c:spPr>
          </c:dPt>
          <c:dPt>
            <c:idx val="6"/>
            <c:invertIfNegative val="0"/>
            <c:bubble3D val="0"/>
            <c:spPr>
              <a:solidFill>
                <a:srgbClr val="4B4785"/>
              </a:solidFill>
              <a:effectLst/>
            </c:spPr>
          </c:dPt>
          <c:dPt>
            <c:idx val="7"/>
            <c:invertIfNegative val="0"/>
            <c:bubble3D val="0"/>
            <c:spPr>
              <a:solidFill>
                <a:srgbClr val="4B4785"/>
              </a:solidFill>
              <a:effectLst/>
            </c:spPr>
          </c:dPt>
          <c:dPt>
            <c:idx val="8"/>
            <c:invertIfNegative val="0"/>
            <c:bubble3D val="0"/>
            <c:spPr>
              <a:solidFill>
                <a:srgbClr val="4B4785"/>
              </a:solidFill>
              <a:effectLst/>
            </c:spPr>
          </c:dPt>
          <c:dPt>
            <c:idx val="9"/>
            <c:invertIfNegative val="0"/>
            <c:bubble3D val="0"/>
            <c:spPr>
              <a:solidFill>
                <a:srgbClr val="4B4785"/>
              </a:solidFill>
              <a:effectLst/>
            </c:spPr>
          </c:dPt>
          <c:cat>
            <c:multiLvlStrRef>
              <c:f>Sheet1!$A$2:$A$11</c:f>
              <c:multiLvlStrCache>
                <c:ptCount val="10"/>
                <c:lvl>
                  <c:pt idx="0">
                    <c:v>Top 10 %</c:v>
                  </c:pt>
                  <c:pt idx="1">
                    <c:v>10-20</c:v>
                  </c:pt>
                  <c:pt idx="2">
                    <c:v>20-30</c:v>
                  </c:pt>
                  <c:pt idx="3">
                    <c:v>30-40</c:v>
                  </c:pt>
                  <c:pt idx="4">
                    <c:v>40-50</c:v>
                  </c:pt>
                  <c:pt idx="5">
                    <c:v>50-60</c:v>
                  </c:pt>
                  <c:pt idx="6">
                    <c:v>60-70</c:v>
                  </c:pt>
                  <c:pt idx="7">
                    <c:v>70-80</c:v>
                  </c:pt>
                  <c:pt idx="8">
                    <c:v>80-90</c:v>
                  </c:pt>
                  <c:pt idx="9">
                    <c:v>90-100</c:v>
                  </c:pt>
                </c:lvl>
              </c:multiLvlStrCache>
            </c:multiLvlStrRef>
          </c:cat>
          <c:val>
            <c:numRef>
              <c:f>Sheet1!$B$2:$B$11</c:f>
              <c:numCache>
                <c:formatCode>General</c:formatCode>
                <c:ptCount val="10"/>
                <c:pt idx="0">
                  <c:v>58.8</c:v>
                </c:pt>
                <c:pt idx="1">
                  <c:v>15.9</c:v>
                </c:pt>
                <c:pt idx="2">
                  <c:v>9.1</c:v>
                </c:pt>
                <c:pt idx="3">
                  <c:v>5.7</c:v>
                </c:pt>
                <c:pt idx="4">
                  <c:v>3.9</c:v>
                </c:pt>
                <c:pt idx="5">
                  <c:v>2.7</c:v>
                </c:pt>
                <c:pt idx="6">
                  <c:v>1.8</c:v>
                </c:pt>
                <c:pt idx="7">
                  <c:v>1.1</c:v>
                </c:pt>
                <c:pt idx="8">
                  <c:v>0.7</c:v>
                </c:pt>
                <c:pt idx="9">
                  <c:v>0.3</c:v>
                </c:pt>
              </c:numCache>
            </c:numRef>
          </c:val>
        </c:ser>
        <c:dLbls>
          <c:numFmt formatCode="0.0&quot;%&quot;" sourceLinked="0"/>
          <c:txPr>
            <a:bodyPr/>
            <a:lstStyle/>
            <a:p>
              <a:pPr>
                <a:defRPr b="1" i="0" strike="noStrike" sz="1200" u="none">
                  <a:solidFill>
                    <a:srgbClr val="F4F2F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6E6A9E"/>
                    </a:solidFill>
                    <a:latin typeface="Arial"/>
                  </a:defRPr>
                </a:pPr>
                <a:r>
                  <a:rPr sz="1200" b="0" i="0" u="none" strike="noStrike">
                    <a:solidFill>
                      <a:srgbClr val="6E6A9E"/>
                    </a:solidFill>
                    <a:latin typeface="Arial"/>
                  </a:rPr>
                  <a:t>Jeux classés du plus vendu au moins vendu (tranches de 10 %)</a:t>
                </a:r>
              </a:p>
            </c:rich>
          </c:tx>
          <c:layout/>
          <c:overlay val="0"/>
        </c:title>
        <c:numFmt formatCode="General" sourceLinked="1"/>
        <c:majorTickMark val="out"/>
        <c:minorTickMark val="none"/>
        <c:tickLblPos val="low"/>
        <c:spPr>
          <a:ln w="12700" cap="flat">
            <a:solidFill>
              <a:srgbClr val="3A3770"/>
            </a:solidFill>
            <a:prstDash val="solid"/>
            <a:round/>
          </a:ln>
        </c:spPr>
        <c:txPr>
          <a:bodyPr/>
          <a:lstStyle/>
          <a:p>
            <a:pPr>
              <a:defRPr sz="1100" b="0" i="0" u="none" strike="noStrike">
                <a:solidFill>
                  <a:srgbClr val="A9A5D1"/>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A9A5D1"/>
                </a:solidFill>
                <a:latin typeface="Arial"/>
              </a:defRPr>
            </a:pPr>
            <a:endParaRPr lang="en-US"/>
          </a:p>
        </c:txPr>
        <c:crossAx val="2094734554"/>
        <c:crosses val="autoZero"/>
        <c:crossBetween val="between"/>
      </c:valAx>
      <c:spPr>
        <a:solidFill>
          <a:srgbClr val="0B0A1A">
            <a:alpha val="0"/>
          </a:srgbClr>
        </a:solidFill>
        <a:ln>
          <a:noFill/>
        </a:ln>
        <a:effectLst/>
      </c:spPr>
    </c:plotArea>
    <c:plotVisOnly val="1"/>
    <c:dispBlanksAs val="span"/>
  </c:chart>
  <c:spPr>
    <a:solidFill>
      <a:srgbClr val="0B0A1A">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Ventes (M)</c:v>
                </c:pt>
              </c:strCache>
            </c:strRef>
          </c:tx>
          <c:spPr>
            <a:solidFill>
              <a:srgbClr val="1BA8C4"/>
            </a:solidFill>
            <a:effectLst/>
          </c:spPr>
          <c:invertIfNegative val="0"/>
          <c:dLbls>
            <c:numFmt formatCode="#,##0" sourceLinked="0"/>
            <c:txPr>
              <a:bodyPr/>
              <a:lstStyle/>
              <a:p>
                <a:pPr>
                  <a:defRPr b="1" i="0" strike="noStrike" sz="1200" u="none">
                    <a:solidFill>
                      <a:srgbClr val="F4F2FF"/>
                    </a:solidFill>
                    <a:latin typeface="Arial"/>
                  </a:defRPr>
                </a:pPr>
              </a:p>
            </c:txPr>
            <c:showLegendKey val="0"/>
            <c:showVal val="0"/>
            <c:showCatName val="0"/>
            <c:showSerName val="0"/>
            <c:showPercent val="0"/>
            <c:showBubbleSize val="0"/>
            <c:showLeaderLines val="0"/>
          </c:dLbls>
          <c:dPt>
            <c:idx val="0"/>
            <c:invertIfNegative val="0"/>
            <c:bubble3D val="0"/>
            <c:spPr>
              <a:solidFill>
                <a:srgbClr val="1BA8C4"/>
              </a:solidFill>
              <a:effectLst/>
            </c:spPr>
          </c:dPt>
          <c:dPt>
            <c:idx val="1"/>
            <c:invertIfNegative val="0"/>
            <c:bubble3D val="0"/>
            <c:spPr>
              <a:solidFill>
                <a:srgbClr val="1BA8C4"/>
              </a:solidFill>
              <a:effectLst/>
            </c:spPr>
          </c:dPt>
          <c:dPt>
            <c:idx val="2"/>
            <c:invertIfNegative val="0"/>
            <c:bubble3D val="0"/>
            <c:spPr>
              <a:solidFill>
                <a:srgbClr val="1BA8C4"/>
              </a:solidFill>
              <a:effectLst/>
            </c:spPr>
          </c:dPt>
          <c:dPt>
            <c:idx val="3"/>
            <c:invertIfNegative val="0"/>
            <c:bubble3D val="0"/>
            <c:spPr>
              <a:solidFill>
                <a:srgbClr val="1BA8C4"/>
              </a:solidFill>
              <a:effectLst/>
            </c:spPr>
          </c:dPt>
          <c:dPt>
            <c:idx val="4"/>
            <c:invertIfNegative val="0"/>
            <c:bubble3D val="0"/>
            <c:spPr>
              <a:solidFill>
                <a:srgbClr val="1BA8C4"/>
              </a:solidFill>
              <a:effectLst/>
            </c:spPr>
          </c:dPt>
          <c:dPt>
            <c:idx val="5"/>
            <c:invertIfNegative val="0"/>
            <c:bubble3D val="0"/>
            <c:spPr>
              <a:solidFill>
                <a:srgbClr val="1BA8C4"/>
              </a:solidFill>
              <a:effectLst/>
            </c:spPr>
          </c:dPt>
          <c:dPt>
            <c:idx val="6"/>
            <c:invertIfNegative val="0"/>
            <c:bubble3D val="0"/>
            <c:spPr>
              <a:solidFill>
                <a:srgbClr val="1BA8C4"/>
              </a:solidFill>
              <a:effectLst/>
            </c:spPr>
          </c:dPt>
          <c:dPt>
            <c:idx val="7"/>
            <c:invertIfNegative val="0"/>
            <c:bubble3D val="0"/>
            <c:spPr>
              <a:solidFill>
                <a:srgbClr val="1BA8C4"/>
              </a:solidFill>
              <a:effectLst/>
            </c:spPr>
          </c:dPt>
          <c:dPt>
            <c:idx val="8"/>
            <c:invertIfNegative val="0"/>
            <c:bubble3D val="0"/>
            <c:spPr>
              <a:solidFill>
                <a:srgbClr val="1BA8C4"/>
              </a:solidFill>
              <a:effectLst/>
            </c:spPr>
          </c:dPt>
          <c:dPt>
            <c:idx val="9"/>
            <c:invertIfNegative val="0"/>
            <c:bubble3D val="0"/>
            <c:spPr>
              <a:solidFill>
                <a:srgbClr val="1BA8C4"/>
              </a:solidFill>
              <a:effectLst/>
            </c:spPr>
          </c:dPt>
          <c:dPt>
            <c:idx val="10"/>
            <c:invertIfNegative val="0"/>
            <c:bubble3D val="0"/>
            <c:spPr>
              <a:solidFill>
                <a:srgbClr val="1BA8C4"/>
              </a:solidFill>
              <a:effectLst/>
            </c:spPr>
          </c:dPt>
          <c:dPt>
            <c:idx val="11"/>
            <c:invertIfNegative val="0"/>
            <c:bubble3D val="0"/>
            <c:spPr>
              <a:solidFill>
                <a:srgbClr val="1BA8C4"/>
              </a:solidFill>
              <a:effectLst/>
            </c:spPr>
          </c:dPt>
          <c:dPt>
            <c:idx val="12"/>
            <c:invertIfNegative val="0"/>
            <c:bubble3D val="0"/>
            <c:spPr>
              <a:solidFill>
                <a:srgbClr val="1BA8C4"/>
              </a:solidFill>
              <a:effectLst/>
            </c:spPr>
          </c:dPt>
          <c:dPt>
            <c:idx val="13"/>
            <c:invertIfNegative val="0"/>
            <c:bubble3D val="0"/>
            <c:spPr>
              <a:solidFill>
                <a:srgbClr val="1BA8C4"/>
              </a:solidFill>
              <a:effectLst/>
            </c:spPr>
          </c:dPt>
          <c:dPt>
            <c:idx val="14"/>
            <c:invertIfNegative val="0"/>
            <c:bubble3D val="0"/>
            <c:spPr>
              <a:solidFill>
                <a:srgbClr val="1BA8C4"/>
              </a:solidFill>
              <a:effectLst/>
            </c:spPr>
          </c:dPt>
          <c:dPt>
            <c:idx val="15"/>
            <c:invertIfNegative val="0"/>
            <c:bubble3D val="0"/>
            <c:spPr>
              <a:solidFill>
                <a:srgbClr val="1BA8C4"/>
              </a:solidFill>
              <a:effectLst/>
            </c:spPr>
          </c:dPt>
          <c:dPt>
            <c:idx val="16"/>
            <c:invertIfNegative val="0"/>
            <c:bubble3D val="0"/>
            <c:spPr>
              <a:solidFill>
                <a:srgbClr val="1BA8C4"/>
              </a:solidFill>
              <a:effectLst/>
            </c:spPr>
          </c:dPt>
          <c:dPt>
            <c:idx val="17"/>
            <c:invertIfNegative val="0"/>
            <c:bubble3D val="0"/>
            <c:spPr>
              <a:solidFill>
                <a:srgbClr val="1BA8C4"/>
              </a:solidFill>
              <a:effectLst/>
            </c:spPr>
          </c:dPt>
          <c:dPt>
            <c:idx val="18"/>
            <c:invertIfNegative val="0"/>
            <c:bubble3D val="0"/>
            <c:spPr>
              <a:solidFill>
                <a:srgbClr val="1BA8C4"/>
              </a:solidFill>
              <a:effectLst/>
            </c:spPr>
          </c:dPt>
          <c:dPt>
            <c:idx val="19"/>
            <c:invertIfNegative val="0"/>
            <c:bubble3D val="0"/>
            <c:spPr>
              <a:solidFill>
                <a:srgbClr val="1BA8C4"/>
              </a:solidFill>
              <a:effectLst/>
            </c:spPr>
          </c:dPt>
          <c:dPt>
            <c:idx val="20"/>
            <c:invertIfNegative val="0"/>
            <c:bubble3D val="0"/>
            <c:spPr>
              <a:solidFill>
                <a:srgbClr val="1BA8C4"/>
              </a:solidFill>
              <a:effectLst/>
            </c:spPr>
          </c:dPt>
          <c:dPt>
            <c:idx val="21"/>
            <c:invertIfNegative val="0"/>
            <c:bubble3D val="0"/>
            <c:spPr>
              <a:solidFill>
                <a:srgbClr val="1BA8C4"/>
              </a:solidFill>
              <a:effectLst/>
            </c:spPr>
          </c:dPt>
          <c:dPt>
            <c:idx val="22"/>
            <c:invertIfNegative val="0"/>
            <c:bubble3D val="0"/>
            <c:spPr>
              <a:solidFill>
                <a:srgbClr val="1BA8C4"/>
              </a:solidFill>
              <a:effectLst/>
            </c:spPr>
          </c:dPt>
          <c:dPt>
            <c:idx val="23"/>
            <c:invertIfNegative val="0"/>
            <c:bubble3D val="0"/>
            <c:spPr>
              <a:solidFill>
                <a:srgbClr val="1BA8C4"/>
              </a:solidFill>
              <a:effectLst/>
            </c:spPr>
          </c:dPt>
          <c:dPt>
            <c:idx val="24"/>
            <c:invertIfNegative val="0"/>
            <c:bubble3D val="0"/>
            <c:spPr>
              <a:solidFill>
                <a:srgbClr val="1BA8C4"/>
              </a:solidFill>
              <a:effectLst/>
            </c:spPr>
          </c:dPt>
          <c:dPt>
            <c:idx val="25"/>
            <c:invertIfNegative val="0"/>
            <c:bubble3D val="0"/>
            <c:spPr>
              <a:solidFill>
                <a:srgbClr val="1BA8C4"/>
              </a:solidFill>
              <a:effectLst/>
            </c:spPr>
          </c:dPt>
          <c:dPt>
            <c:idx val="26"/>
            <c:invertIfNegative val="0"/>
            <c:bubble3D val="0"/>
            <c:spPr>
              <a:solidFill>
                <a:srgbClr val="1BA8C4"/>
              </a:solidFill>
              <a:effectLst/>
            </c:spPr>
          </c:dPt>
          <c:dPt>
            <c:idx val="27"/>
            <c:invertIfNegative val="0"/>
            <c:bubble3D val="0"/>
            <c:spPr>
              <a:solidFill>
                <a:srgbClr val="1BA8C4"/>
              </a:solidFill>
              <a:effectLst/>
            </c:spPr>
          </c:dPt>
          <c:dPt>
            <c:idx val="28"/>
            <c:invertIfNegative val="0"/>
            <c:bubble3D val="0"/>
            <c:spPr>
              <a:solidFill>
                <a:srgbClr val="FFD23F"/>
              </a:solidFill>
              <a:effectLst/>
            </c:spPr>
          </c:dPt>
          <c:dPt>
            <c:idx val="29"/>
            <c:invertIfNegative val="0"/>
            <c:bubble3D val="0"/>
            <c:spPr>
              <a:solidFill>
                <a:srgbClr val="1BA8C4"/>
              </a:solidFill>
              <a:effectLst/>
            </c:spPr>
          </c:dPt>
          <c:dPt>
            <c:idx val="30"/>
            <c:invertIfNegative val="0"/>
            <c:bubble3D val="0"/>
            <c:spPr>
              <a:solidFill>
                <a:srgbClr val="1BA8C4"/>
              </a:solidFill>
              <a:effectLst/>
            </c:spPr>
          </c:dPt>
          <c:dPt>
            <c:idx val="31"/>
            <c:invertIfNegative val="0"/>
            <c:bubble3D val="0"/>
            <c:spPr>
              <a:solidFill>
                <a:srgbClr val="1BA8C4"/>
              </a:solidFill>
              <a:effectLst/>
            </c:spPr>
          </c:dPt>
          <c:dPt>
            <c:idx val="32"/>
            <c:invertIfNegative val="0"/>
            <c:bubble3D val="0"/>
            <c:spPr>
              <a:solidFill>
                <a:srgbClr val="1BA8C4"/>
              </a:solidFill>
              <a:effectLst/>
            </c:spPr>
          </c:dPt>
          <c:dPt>
            <c:idx val="33"/>
            <c:invertIfNegative val="0"/>
            <c:bubble3D val="0"/>
            <c:spPr>
              <a:solidFill>
                <a:srgbClr val="1BA8C4"/>
              </a:solidFill>
              <a:effectLst/>
            </c:spPr>
          </c:dPt>
          <c:dPt>
            <c:idx val="34"/>
            <c:invertIfNegative val="0"/>
            <c:bubble3D val="0"/>
            <c:spPr>
              <a:solidFill>
                <a:srgbClr val="1BA8C4"/>
              </a:solidFill>
              <a:effectLst/>
            </c:spPr>
          </c:dPt>
          <c:dPt>
            <c:idx val="35"/>
            <c:invertIfNegative val="0"/>
            <c:bubble3D val="0"/>
            <c:spPr>
              <a:solidFill>
                <a:srgbClr val="1BA8C4"/>
              </a:solidFill>
              <a:effectLst/>
            </c:spPr>
          </c:dPt>
          <c:dPt>
            <c:idx val="36"/>
            <c:invertIfNegative val="0"/>
            <c:bubble3D val="0"/>
            <c:spPr>
              <a:solidFill>
                <a:srgbClr val="4B4785"/>
              </a:solidFill>
              <a:effectLst/>
            </c:spPr>
          </c:dPt>
          <c:cat>
            <c:multiLvlStrRef>
              <c:f>Sheet1!$A$2:$A$38</c:f>
              <c:multiLvlStrCache>
                <c:ptCount val="37"/>
                <c:lvl>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lvl>
              </c:multiLvlStrCache>
            </c:multiLvlStrRef>
          </c:cat>
          <c:val>
            <c:numRef>
              <c:f>Sheet1!$B$2:$B$38</c:f>
              <c:numCache>
                <c:formatCode>General</c:formatCode>
                <c:ptCount val="37"/>
                <c:pt idx="0">
                  <c:v>11.4</c:v>
                </c:pt>
                <c:pt idx="1">
                  <c:v>35.8</c:v>
                </c:pt>
                <c:pt idx="2">
                  <c:v>28.9</c:v>
                </c:pt>
                <c:pt idx="3">
                  <c:v>16.8</c:v>
                </c:pt>
                <c:pt idx="4">
                  <c:v>50.4</c:v>
                </c:pt>
                <c:pt idx="5">
                  <c:v>53.9</c:v>
                </c:pt>
                <c:pt idx="6">
                  <c:v>37.1</c:v>
                </c:pt>
                <c:pt idx="7">
                  <c:v>21.7</c:v>
                </c:pt>
                <c:pt idx="8">
                  <c:v>45.8</c:v>
                </c:pt>
                <c:pt idx="9">
                  <c:v>74.9</c:v>
                </c:pt>
                <c:pt idx="10">
                  <c:v>49.4</c:v>
                </c:pt>
                <c:pt idx="11">
                  <c:v>32.2</c:v>
                </c:pt>
                <c:pt idx="12">
                  <c:v>75.9</c:v>
                </c:pt>
                <c:pt idx="13">
                  <c:v>46</c:v>
                </c:pt>
                <c:pt idx="14">
                  <c:v>79.2</c:v>
                </c:pt>
                <c:pt idx="15">
                  <c:v>88.1</c:v>
                </c:pt>
                <c:pt idx="16">
                  <c:v>199</c:v>
                </c:pt>
                <c:pt idx="17">
                  <c:v>200.9</c:v>
                </c:pt>
                <c:pt idx="18">
                  <c:v>256.5</c:v>
                </c:pt>
                <c:pt idx="19">
                  <c:v>251.2</c:v>
                </c:pt>
                <c:pt idx="20">
                  <c:v>200.4</c:v>
                </c:pt>
                <c:pt idx="21">
                  <c:v>333.4</c:v>
                </c:pt>
                <c:pt idx="22">
                  <c:v>399.5</c:v>
                </c:pt>
                <c:pt idx="23">
                  <c:v>367</c:v>
                </c:pt>
                <c:pt idx="24">
                  <c:v>418.6</c:v>
                </c:pt>
                <c:pt idx="25">
                  <c:v>459.7</c:v>
                </c:pt>
                <c:pt idx="26">
                  <c:v>526</c:v>
                </c:pt>
                <c:pt idx="27">
                  <c:v>612.5</c:v>
                </c:pt>
                <c:pt idx="28">
                  <c:v>688</c:v>
                </c:pt>
                <c:pt idx="29">
                  <c:v>667.7</c:v>
                </c:pt>
                <c:pt idx="30">
                  <c:v>604.7</c:v>
                </c:pt>
                <c:pt idx="31">
                  <c:v>519.5</c:v>
                </c:pt>
                <c:pt idx="32">
                  <c:v>368.5</c:v>
                </c:pt>
                <c:pt idx="33">
                  <c:v>368.6</c:v>
                </c:pt>
                <c:pt idx="34">
                  <c:v>337.1</c:v>
                </c:pt>
                <c:pt idx="35">
                  <c:v>264.4</c:v>
                </c:pt>
                <c:pt idx="36">
                  <c:v>70.9</c:v>
                </c:pt>
              </c:numCache>
            </c:numRef>
          </c:val>
        </c:ser>
        <c:dLbls>
          <c:numFmt formatCode="#,##0" sourceLinked="0"/>
          <c:txPr>
            <a:bodyPr/>
            <a:lstStyle/>
            <a:p>
              <a:pPr>
                <a:defRPr b="1" i="0" strike="noStrike" sz="1200" u="none">
                  <a:solidFill>
                    <a:srgbClr val="F4F2FF"/>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770"/>
            </a:solidFill>
            <a:prstDash val="solid"/>
            <a:round/>
          </a:ln>
        </c:spPr>
        <c:txPr>
          <a:bodyPr/>
          <a:lstStyle/>
          <a:p>
            <a:pPr>
              <a:defRPr sz="1100" b="0" i="0" u="none" strike="noStrike">
                <a:solidFill>
                  <a:srgbClr val="A9A5D1"/>
                </a:solidFill>
                <a:latin typeface="Arial"/>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9525" cap="flat">
              <a:solidFill>
                <a:srgbClr val="2A2750"/>
              </a:solidFill>
              <a:prstDash val="solid"/>
              <a:round/>
            </a:ln>
          </c:spPr>
        </c:majorGridlines>
        <c:title>
          <c:tx>
            <c:rich>
              <a:bodyPr/>
              <a:lstStyle/>
              <a:p>
                <a:pPr>
                  <a:defRPr sz="1200" b="0" i="0" u="none" strike="noStrike">
                    <a:solidFill>
                      <a:srgbClr val="6E6A9E"/>
                    </a:solidFill>
                    <a:latin typeface="Arial"/>
                  </a:defRPr>
                </a:pPr>
                <a:r>
                  <a:rPr sz="1200" b="0" i="0" u="none" strike="noStrike">
                    <a:solidFill>
                      <a:srgbClr val="6E6A9E"/>
                    </a:solidFill>
                    <a:latin typeface="Arial"/>
                  </a:rPr>
                  <a:t>Millions d'exemplaires vendus</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A9A5D1"/>
                </a:solidFill>
                <a:latin typeface="Arial"/>
              </a:defRPr>
            </a:pPr>
            <a:endParaRPr lang="en-US"/>
          </a:p>
        </c:txPr>
        <c:crossAx val="2094734554"/>
        <c:crosses val="autoZero"/>
        <c:crossBetween val="between"/>
      </c:valAx>
      <c:spPr>
        <a:solidFill>
          <a:srgbClr val="0B0A1A">
            <a:alpha val="0"/>
          </a:srgbClr>
        </a:solidFill>
        <a:ln>
          <a:noFill/>
        </a:ln>
        <a:effectLst/>
      </c:spPr>
    </c:plotArea>
    <c:plotVisOnly val="1"/>
    <c:dispBlanksAs val="span"/>
  </c:chart>
  <c:spPr>
    <a:solidFill>
      <a:srgbClr val="0B0A1A">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Amérique du Nord</c:v>
                </c:pt>
              </c:strCache>
            </c:strRef>
          </c:tx>
          <c:spPr>
            <a:solidFill>
              <a:srgbClr val="00E5FF"/>
            </a:solidFill>
            <a:effectLst/>
          </c:spPr>
          <c:invertIfNegative val="0"/>
          <c:dLbls>
            <c:numFmt formatCode="0&quot;%&quot;" sourceLinked="0"/>
            <c:txPr>
              <a:bodyPr/>
              <a:lstStyle/>
              <a:p>
                <a:pPr>
                  <a:defRPr b="1" i="0" strike="noStrike" sz="1100" u="none">
                    <a:solidFill>
                      <a:srgbClr val="F4F2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RPG</c:v>
                  </c:pt>
                  <c:pt idx="1">
                    <c:v>Tir</c:v>
                  </c:pt>
                  <c:pt idx="2">
                    <c:v>Action</c:v>
                  </c:pt>
                  <c:pt idx="3">
                    <c:v>Sport</c:v>
                  </c:pt>
                  <c:pt idx="4">
                    <c:v>Plates-formes</c:v>
                  </c:pt>
                </c:lvl>
              </c:multiLvlStrCache>
            </c:multiLvlStrRef>
          </c:cat>
          <c:val>
            <c:numRef>
              <c:f>Sheet1!$B$2:$B$6</c:f>
              <c:numCache>
                <c:formatCode>General</c:formatCode>
                <c:ptCount val="5"/>
                <c:pt idx="0">
                  <c:v>7.5</c:v>
                </c:pt>
                <c:pt idx="1">
                  <c:v>13.3</c:v>
                </c:pt>
                <c:pt idx="2">
                  <c:v>20</c:v>
                </c:pt>
                <c:pt idx="3">
                  <c:v>15.6</c:v>
                </c:pt>
                <c:pt idx="4">
                  <c:v>10.2</c:v>
                </c:pt>
              </c:numCache>
            </c:numRef>
          </c:val>
        </c:ser>
        <c:ser>
          <c:idx val="1"/>
          <c:order val="1"/>
          <c:tx>
            <c:strRef>
              <c:f>Sheet1!$C$1</c:f>
              <c:strCache>
                <c:ptCount val="1"/>
                <c:pt idx="0">
                  <c:v>Europe</c:v>
                </c:pt>
              </c:strCache>
            </c:strRef>
          </c:tx>
          <c:spPr>
            <a:solidFill>
              <a:srgbClr val="8B5CF6"/>
            </a:solidFill>
            <a:effectLst/>
          </c:spPr>
          <c:invertIfNegative val="0"/>
          <c:dLbls>
            <c:numFmt formatCode="0&quot;%&quot;" sourceLinked="0"/>
            <c:txPr>
              <a:bodyPr/>
              <a:lstStyle/>
              <a:p>
                <a:pPr>
                  <a:defRPr b="1" i="0" strike="noStrike" sz="1100" u="none">
                    <a:solidFill>
                      <a:srgbClr val="F4F2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RPG</c:v>
                  </c:pt>
                  <c:pt idx="1">
                    <c:v>Tir</c:v>
                  </c:pt>
                  <c:pt idx="2">
                    <c:v>Action</c:v>
                  </c:pt>
                  <c:pt idx="3">
                    <c:v>Sport</c:v>
                  </c:pt>
                  <c:pt idx="4">
                    <c:v>Plates-formes</c:v>
                  </c:pt>
                </c:lvl>
              </c:multiLvlStrCache>
            </c:multiLvlStrRef>
          </c:cat>
          <c:val>
            <c:numRef>
              <c:f>Sheet1!$C$2:$C$6</c:f>
              <c:numCache>
                <c:formatCode>General</c:formatCode>
                <c:ptCount val="5"/>
                <c:pt idx="0">
                  <c:v>7.7</c:v>
                </c:pt>
                <c:pt idx="1">
                  <c:v>12.9</c:v>
                </c:pt>
                <c:pt idx="2">
                  <c:v>21.6</c:v>
                </c:pt>
                <c:pt idx="3">
                  <c:v>15.5</c:v>
                </c:pt>
                <c:pt idx="4">
                  <c:v>8.3</c:v>
                </c:pt>
              </c:numCache>
            </c:numRef>
          </c:val>
        </c:ser>
        <c:ser>
          <c:idx val="2"/>
          <c:order val="2"/>
          <c:tx>
            <c:strRef>
              <c:f>Sheet1!$D$1</c:f>
              <c:strCache>
                <c:ptCount val="1"/>
                <c:pt idx="0">
                  <c:v>Japon</c:v>
                </c:pt>
              </c:strCache>
            </c:strRef>
          </c:tx>
          <c:spPr>
            <a:solidFill>
              <a:srgbClr val="FF2E88"/>
            </a:solidFill>
            <a:effectLst/>
          </c:spPr>
          <c:invertIfNegative val="0"/>
          <c:dLbls>
            <c:numFmt formatCode="0&quot;%&quot;" sourceLinked="0"/>
            <c:txPr>
              <a:bodyPr/>
              <a:lstStyle/>
              <a:p>
                <a:pPr>
                  <a:defRPr b="1" i="0" strike="noStrike" sz="1100" u="none">
                    <a:solidFill>
                      <a:srgbClr val="F4F2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RPG</c:v>
                  </c:pt>
                  <c:pt idx="1">
                    <c:v>Tir</c:v>
                  </c:pt>
                  <c:pt idx="2">
                    <c:v>Action</c:v>
                  </c:pt>
                  <c:pt idx="3">
                    <c:v>Sport</c:v>
                  </c:pt>
                  <c:pt idx="4">
                    <c:v>Plates-formes</c:v>
                  </c:pt>
                </c:lvl>
              </c:multiLvlStrCache>
            </c:multiLvlStrRef>
          </c:cat>
          <c:val>
            <c:numRef>
              <c:f>Sheet1!$D$2:$D$6</c:f>
              <c:numCache>
                <c:formatCode>General</c:formatCode>
                <c:ptCount val="5"/>
                <c:pt idx="0">
                  <c:v>27.3</c:v>
                </c:pt>
                <c:pt idx="1">
                  <c:v>3</c:v>
                </c:pt>
                <c:pt idx="2">
                  <c:v>12.3</c:v>
                </c:pt>
                <c:pt idx="3">
                  <c:v>10.5</c:v>
                </c:pt>
                <c:pt idx="4">
                  <c:v>10.2</c:v>
                </c:pt>
              </c:numCache>
            </c:numRef>
          </c:val>
        </c:ser>
        <c:dLbls>
          <c:numFmt formatCode="0&quot;%&quot;" sourceLinked="0"/>
          <c:txPr>
            <a:bodyPr/>
            <a:lstStyle/>
            <a:p>
              <a:pPr>
                <a:defRPr b="1" i="0" strike="noStrike" sz="1100" u="none">
                  <a:solidFill>
                    <a:srgbClr val="F4F2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3A3770"/>
            </a:solidFill>
            <a:prstDash val="solid"/>
            <a:round/>
          </a:ln>
        </c:spPr>
        <c:txPr>
          <a:bodyPr/>
          <a:lstStyle/>
          <a:p>
            <a:pPr>
              <a:defRPr sz="1400" b="0" i="0" u="none" strike="noStrike">
                <a:solidFill>
                  <a:srgbClr val="A9A5D1"/>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9A5D1"/>
                </a:solidFill>
                <a:latin typeface="Arial"/>
              </a:defRPr>
            </a:pPr>
            <a:endParaRPr lang="en-US"/>
          </a:p>
        </c:txPr>
        <c:crossAx val="2094734554"/>
        <c:crosses val="autoZero"/>
        <c:crossBetween val="between"/>
      </c:valAx>
      <c:spPr>
        <a:solidFill>
          <a:srgbClr val="0B0A1A">
            <a:alpha val="0"/>
          </a:srgbClr>
        </a:solidFill>
        <a:ln>
          <a:noFill/>
        </a:ln>
        <a:effectLst/>
      </c:spPr>
    </c:plotArea>
    <c:legend>
      <c:legendPos val="t"/>
      <c:overlay val="0"/>
      <c:txPr>
        <a:bodyPr/>
        <a:lstStyle/>
        <a:p>
          <a:pPr>
            <a:defRPr sz="1200">
              <a:solidFill>
                <a:srgbClr val="A9A5D1"/>
              </a:solidFill>
              <a:latin typeface="Arial"/>
              <a:cs typeface="Arial"/>
            </a:defRPr>
          </a:pPr>
          <a:endParaRPr lang="en-US"/>
        </a:p>
      </c:txPr>
    </c:legend>
    <c:plotVisOnly val="1"/>
    <c:dispBlanksAs val="span"/>
  </c:chart>
  <c:spPr>
    <a:solidFill>
      <a:srgbClr val="0B0A1A">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Action</c:v>
                </c:pt>
              </c:strCache>
            </c:strRef>
          </c:tx>
          <c:spPr>
            <a:solidFill>
              <a:srgbClr val="FF2E88"/>
            </a:solidFill>
            <a:effectLst/>
          </c:spPr>
          <c:invertIfNegative val="0"/>
          <c:dLbls>
            <c:numFmt formatCode="0&quot;%&quot;" sourceLinked="0"/>
            <c:txPr>
              <a:bodyPr/>
              <a:lstStyle/>
              <a:p>
                <a:pPr>
                  <a:defRPr b="1" i="0" strike="noStrike" sz="1200" u="none">
                    <a:solidFill>
                      <a:srgbClr val="F4F2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1995–1999</c:v>
                  </c:pt>
                  <c:pt idx="1">
                    <c:v>2000–2004</c:v>
                  </c:pt>
                  <c:pt idx="2">
                    <c:v>2005–2009</c:v>
                  </c:pt>
                  <c:pt idx="3">
                    <c:v>2010–2016</c:v>
                  </c:pt>
                </c:lvl>
              </c:multiLvlStrCache>
            </c:multiLvlStrRef>
          </c:cat>
          <c:val>
            <c:numRef>
              <c:f>Sheet1!$B$2:$B$5</c:f>
              <c:numCache>
                <c:formatCode>General</c:formatCode>
                <c:ptCount val="4"/>
                <c:pt idx="0">
                  <c:v>12</c:v>
                </c:pt>
                <c:pt idx="1">
                  <c:v>18.9</c:v>
                </c:pt>
                <c:pt idx="2">
                  <c:v>18.4</c:v>
                </c:pt>
                <c:pt idx="3">
                  <c:v>26.9</c:v>
                </c:pt>
              </c:numCache>
            </c:numRef>
          </c:val>
        </c:ser>
        <c:ser>
          <c:idx val="1"/>
          <c:order val="1"/>
          <c:tx>
            <c:strRef>
              <c:f>Sheet1!$C$1</c:f>
              <c:strCache>
                <c:ptCount val="1"/>
                <c:pt idx="0">
                  <c:v>Tir</c:v>
                </c:pt>
              </c:strCache>
            </c:strRef>
          </c:tx>
          <c:spPr>
            <a:solidFill>
              <a:srgbClr val="00E5FF"/>
            </a:solidFill>
            <a:effectLst/>
          </c:spPr>
          <c:invertIfNegative val="0"/>
          <c:dLbls>
            <c:numFmt formatCode="0&quot;%&quot;" sourceLinked="0"/>
            <c:txPr>
              <a:bodyPr/>
              <a:lstStyle/>
              <a:p>
                <a:pPr>
                  <a:defRPr b="1" i="0" strike="noStrike" sz="1200" u="none">
                    <a:solidFill>
                      <a:srgbClr val="F4F2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1995–1999</c:v>
                  </c:pt>
                  <c:pt idx="1">
                    <c:v>2000–2004</c:v>
                  </c:pt>
                  <c:pt idx="2">
                    <c:v>2005–2009</c:v>
                  </c:pt>
                  <c:pt idx="3">
                    <c:v>2010–2016</c:v>
                  </c:pt>
                </c:lvl>
              </c:multiLvlStrCache>
            </c:multiLvlStrRef>
          </c:cat>
          <c:val>
            <c:numRef>
              <c:f>Sheet1!$C$2:$C$5</c:f>
              <c:numCache>
                <c:formatCode>General</c:formatCode>
                <c:ptCount val="4"/>
                <c:pt idx="0">
                  <c:v>5.6</c:v>
                </c:pt>
                <c:pt idx="1">
                  <c:v>9</c:v>
                </c:pt>
                <c:pt idx="2">
                  <c:v>9.6</c:v>
                </c:pt>
                <c:pt idx="3">
                  <c:v>18.4</c:v>
                </c:pt>
              </c:numCache>
            </c:numRef>
          </c:val>
        </c:ser>
        <c:ser>
          <c:idx val="2"/>
          <c:order val="2"/>
          <c:tx>
            <c:strRef>
              <c:f>Sheet1!$D$1</c:f>
              <c:strCache>
                <c:ptCount val="1"/>
                <c:pt idx="0">
                  <c:v>Autres genres</c:v>
                </c:pt>
              </c:strCache>
            </c:strRef>
          </c:tx>
          <c:spPr>
            <a:solidFill>
              <a:srgbClr val="34305F"/>
            </a:solidFill>
            <a:effectLst/>
          </c:spPr>
          <c:invertIfNegative val="0"/>
          <c:dLbls>
            <c:numFmt formatCode="0&quot;%&quot;" sourceLinked="0"/>
            <c:txPr>
              <a:bodyPr/>
              <a:lstStyle/>
              <a:p>
                <a:pPr>
                  <a:defRPr b="1" i="0" strike="noStrike" sz="1200" u="none">
                    <a:solidFill>
                      <a:srgbClr val="F4F2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1995–1999</c:v>
                  </c:pt>
                  <c:pt idx="1">
                    <c:v>2000–2004</c:v>
                  </c:pt>
                  <c:pt idx="2">
                    <c:v>2005–2009</c:v>
                  </c:pt>
                  <c:pt idx="3">
                    <c:v>2010–2016</c:v>
                  </c:pt>
                </c:lvl>
              </c:multiLvlStrCache>
            </c:multiLvlStrRef>
          </c:cat>
          <c:val>
            <c:numRef>
              <c:f>Sheet1!$D$2:$D$5</c:f>
              <c:numCache>
                <c:formatCode>General</c:formatCode>
                <c:ptCount val="4"/>
                <c:pt idx="0">
                  <c:v>82.4</c:v>
                </c:pt>
                <c:pt idx="1">
                  <c:v>72.1</c:v>
                </c:pt>
                <c:pt idx="2">
                  <c:v>72</c:v>
                </c:pt>
                <c:pt idx="3">
                  <c:v>54.7</c:v>
                </c:pt>
              </c:numCache>
            </c:numRef>
          </c:val>
        </c:ser>
        <c:dLbls>
          <c:numFmt formatCode="0&quot;%&quot;" sourceLinked="0"/>
          <c:txPr>
            <a:bodyPr/>
            <a:lstStyle/>
            <a:p>
              <a:pPr>
                <a:defRPr b="1" i="0" strike="noStrike" sz="1200" u="none">
                  <a:solidFill>
                    <a:srgbClr val="F4F2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770"/>
            </a:solidFill>
            <a:prstDash val="solid"/>
            <a:round/>
          </a:ln>
        </c:spPr>
        <c:txPr>
          <a:bodyPr/>
          <a:lstStyle/>
          <a:p>
            <a:pPr>
              <a:defRPr sz="1300" b="0" i="0" u="none" strike="noStrike">
                <a:solidFill>
                  <a:srgbClr val="A9A5D1"/>
                </a:solidFill>
                <a:latin typeface="Arial"/>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A9A5D1"/>
                </a:solidFill>
                <a:latin typeface="Arial"/>
              </a:defRPr>
            </a:pPr>
            <a:endParaRPr lang="en-US"/>
          </a:p>
        </c:txPr>
        <c:crossAx val="2094734554"/>
        <c:crosses val="autoZero"/>
        <c:crossBetween val="between"/>
      </c:valAx>
      <c:spPr>
        <a:solidFill>
          <a:srgbClr val="0B0A1A">
            <a:alpha val="0"/>
          </a:srgbClr>
        </a:solidFill>
        <a:ln>
          <a:noFill/>
        </a:ln>
        <a:effectLst/>
      </c:spPr>
    </c:plotArea>
    <c:legend>
      <c:legendPos val="t"/>
      <c:overlay val="0"/>
      <c:txPr>
        <a:bodyPr/>
        <a:lstStyle/>
        <a:p>
          <a:pPr>
            <a:defRPr sz="1200">
              <a:solidFill>
                <a:srgbClr val="A9A5D1"/>
              </a:solidFill>
              <a:latin typeface="Arial"/>
              <a:cs typeface="Arial"/>
            </a:defRPr>
          </a:pPr>
          <a:endParaRPr lang="en-US"/>
        </a:p>
      </c:txPr>
    </c:legend>
    <c:plotVisOnly val="1"/>
    <c:dispBlanksAs val="span"/>
  </c:chart>
  <c:spPr>
    <a:solidFill>
      <a:srgbClr val="0B0A1A">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MPI</c:v>
                </c:pt>
              </c:strCache>
            </c:strRef>
          </c:tx>
          <c:spPr>
            <a:solidFill>
              <a:srgbClr val="FFD23F"/>
            </a:solidFill>
            <a:effectLst/>
          </c:spPr>
          <c:invertIfNegative val="0"/>
          <c:dLbls>
            <c:numFmt formatCode="0.0" sourceLinked="0"/>
            <c:txPr>
              <a:bodyPr/>
              <a:lstStyle/>
              <a:p>
                <a:pPr>
                  <a:defRPr b="1" i="0" strike="noStrike" sz="1200" u="none">
                    <a:solidFill>
                      <a:srgbClr val="F4F2FF"/>
                    </a:solidFill>
                    <a:latin typeface="Arial"/>
                  </a:defRPr>
                </a:pPr>
              </a:p>
            </c:txPr>
            <c:showLegendKey val="0"/>
            <c:showVal val="1"/>
            <c:showCatName val="0"/>
            <c:showSerName val="0"/>
            <c:showPercent val="0"/>
            <c:showBubbleSize val="0"/>
            <c:showLeaderLines val="0"/>
          </c:dLbls>
          <c:dPt>
            <c:idx val="0"/>
            <c:invertIfNegative val="0"/>
            <c:bubble3D val="0"/>
            <c:spPr>
              <a:solidFill>
                <a:srgbClr val="FFD23F"/>
              </a:solidFill>
              <a:effectLst/>
            </c:spPr>
          </c:dPt>
          <c:dPt>
            <c:idx val="1"/>
            <c:invertIfNegative val="0"/>
            <c:bubble3D val="0"/>
            <c:spPr>
              <a:solidFill>
                <a:srgbClr val="4B4785"/>
              </a:solidFill>
              <a:effectLst/>
            </c:spPr>
          </c:dPt>
          <c:dPt>
            <c:idx val="2"/>
            <c:invertIfNegative val="0"/>
            <c:bubble3D val="0"/>
            <c:spPr>
              <a:solidFill>
                <a:srgbClr val="4B4785"/>
              </a:solidFill>
              <a:effectLst/>
            </c:spPr>
          </c:dPt>
          <c:dPt>
            <c:idx val="3"/>
            <c:invertIfNegative val="0"/>
            <c:bubble3D val="0"/>
            <c:spPr>
              <a:solidFill>
                <a:srgbClr val="4B4785"/>
              </a:solidFill>
              <a:effectLst/>
            </c:spPr>
          </c:dPt>
          <c:dPt>
            <c:idx val="4"/>
            <c:invertIfNegative val="0"/>
            <c:bubble3D val="0"/>
            <c:spPr>
              <a:solidFill>
                <a:srgbClr val="4B4785"/>
              </a:solidFill>
              <a:effectLst/>
            </c:spPr>
          </c:dPt>
          <c:dPt>
            <c:idx val="5"/>
            <c:invertIfNegative val="0"/>
            <c:bubble3D val="0"/>
            <c:spPr>
              <a:solidFill>
                <a:srgbClr val="4B4785"/>
              </a:solidFill>
              <a:effectLst/>
            </c:spPr>
          </c:dPt>
          <c:dPt>
            <c:idx val="6"/>
            <c:invertIfNegative val="0"/>
            <c:bubble3D val="0"/>
            <c:spPr>
              <a:solidFill>
                <a:srgbClr val="4B4785"/>
              </a:solidFill>
              <a:effectLst/>
            </c:spPr>
          </c:dPt>
          <c:dPt>
            <c:idx val="7"/>
            <c:invertIfNegative val="0"/>
            <c:bubble3D val="0"/>
            <c:spPr>
              <a:solidFill>
                <a:srgbClr val="4B4785"/>
              </a:solidFill>
              <a:effectLst/>
            </c:spPr>
          </c:dPt>
          <c:cat>
            <c:multiLvlStrRef>
              <c:f>Sheet1!$A$2:$A$9</c:f>
              <c:multiLvlStrCache>
                <c:ptCount val="8"/>
                <c:lvl>
                  <c:pt idx="0">
                    <c:v>Nintendo</c:v>
                  </c:pt>
                  <c:pt idx="1">
                    <c:v>EA</c:v>
                  </c:pt>
                  <c:pt idx="2">
                    <c:v>Sony</c:v>
                  </c:pt>
                  <c:pt idx="3">
                    <c:v>Activision</c:v>
                  </c:pt>
                  <c:pt idx="4">
                    <c:v>THQ</c:v>
                  </c:pt>
                  <c:pt idx="5">
                    <c:v>Take-Two</c:v>
                  </c:pt>
                  <c:pt idx="6">
                    <c:v>Sega</c:v>
                  </c:pt>
                  <c:pt idx="7">
                    <c:v>Ubisoft</c:v>
                  </c:pt>
                </c:lvl>
              </c:multiLvlStrCache>
            </c:multiLvlStrRef>
          </c:cat>
          <c:val>
            <c:numRef>
              <c:f>Sheet1!$B$2:$B$9</c:f>
              <c:numCache>
                <c:formatCode>General</c:formatCode>
                <c:ptCount val="8"/>
                <c:pt idx="0">
                  <c:v>95.5</c:v>
                </c:pt>
                <c:pt idx="1">
                  <c:v>74.5</c:v>
                </c:pt>
                <c:pt idx="2">
                  <c:v>60.5</c:v>
                </c:pt>
                <c:pt idx="3">
                  <c:v>58.8</c:v>
                </c:pt>
                <c:pt idx="4">
                  <c:v>50.8</c:v>
                </c:pt>
                <c:pt idx="5">
                  <c:v>50</c:v>
                </c:pt>
                <c:pt idx="6">
                  <c:v>48.8</c:v>
                </c:pt>
                <c:pt idx="7">
                  <c:v>48.2</c:v>
                </c:pt>
              </c:numCache>
            </c:numRef>
          </c:val>
        </c:ser>
        <c:dLbls>
          <c:numFmt formatCode="0.0" sourceLinked="0"/>
          <c:txPr>
            <a:bodyPr/>
            <a:lstStyle/>
            <a:p>
              <a:pPr>
                <a:defRPr b="1" i="0" strike="noStrike" sz="1200" u="none">
                  <a:solidFill>
                    <a:srgbClr val="F4F2F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3A3770"/>
            </a:solidFill>
            <a:prstDash val="solid"/>
            <a:round/>
          </a:ln>
        </c:spPr>
        <c:txPr>
          <a:bodyPr/>
          <a:lstStyle/>
          <a:p>
            <a:pPr>
              <a:defRPr sz="1300" b="0" i="0" u="none" strike="noStrike">
                <a:solidFill>
                  <a:srgbClr val="A9A5D1"/>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9A5D1"/>
                </a:solidFill>
                <a:latin typeface="Arial"/>
              </a:defRPr>
            </a:pPr>
            <a:endParaRPr lang="en-US"/>
          </a:p>
        </c:txPr>
        <c:crossAx val="2094734554"/>
        <c:crosses val="autoZero"/>
        <c:crossBetween val="between"/>
      </c:valAx>
      <c:spPr>
        <a:solidFill>
          <a:srgbClr val="0B0A1A">
            <a:alpha val="0"/>
          </a:srgbClr>
        </a:solidFill>
        <a:ln>
          <a:noFill/>
        </a:ln>
        <a:effectLst/>
      </c:spPr>
    </c:plotArea>
    <c:plotVisOnly val="1"/>
    <c:dispBlanksAs val="span"/>
  </c:chart>
  <c:spPr>
    <a:solidFill>
      <a:srgbClr val="0B0A1A">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la première partie du projet : l'analyse de la base vgsales, les ventes mondiales de jeux vidéo de 1980 à 2016. Mes coéquipiers présenteront ensuite la deuxième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parcours : le contexte, le pipeline de traitement, le nettoyage, quatre découvertes, le Market Power Index, puis une démonstration en direct de l'interface. Ensuite, l'équipe enchaîne avec la deuxième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nous met dans la peau d'un data analyst du secteur du jeu vidéo. La base contient 16 598 jeux sur 37 ans, 31 plateformes et près de 9 milliards d'exemplaires vendus. La question directrice : qu'est-ce qui fait vendre un jeu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en cinq étapes : le CSV brut passe par le module de nettoyage, qui produit un jeu propre. On calcule ensuite les indicateurs avancés, puis on restitue tout dans le notebook (24 figures) et dans une interface Streamlit de 8 pages. Point important : le notebook et l'appli utilisent exactement le même code de nettoyage, et un test vérifie qu'ils obtiennent les mêmes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outils standards comme isna ou duplicated ne voient qu'une partie des problèmes. Il a fallu lire les données : 271 années manquantes, dont 118 retrouvées grâce à la même fiche sur une autre plateforme ; 149 fiches partielles marquées (JP sales), fusionnées en prenant le maximum par région pour ne pas compter deux fois les ventes ; des dates impossibles comme un jeu DS en 1985. Au final on garde 99,3 % du volume de ventes.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constat : c'est un marché de blockbusters. Les 10 % de jeux les plus vendus réalisent 59 % des ventes, alors que la moitié des jeux vend moins de 170 000 exemplaires. Et la tendance s'accentue : après 2011, les éditeurs sortent deux fois moins de jeux, mais chacun vend 50 % de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ventes physiques culminent en 2008 avec 688 millions d'exemplaires, portées par la 7e génération de consoles : Wii, DS, Xbox 360, PS3 et PSP représentent à elles seules 45 % des ventes du fichier. La baisse qui suit n'est pas forcément une crise : c'est surtout l'arrivée du dématérialisé et du mobile, que VGChartz ne compte pas. Attention, 2016 est incomplète.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découverte : il y a deux mondes. L'Amérique du Nord et l'Europe ont des goûts presque identiques, avec un score de divergence de 0,01. Le Japon, lui, est à part : plus d'un quart de ses ventes sont des RPG, contre 8 % en Occident, et il achète quatre fois moins de jeux de tir. 77 % des jeux ultra-régionaux sont japonais, et l'écart se creuse depuis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découverte : l'Action et le Tir sont passés de 18 % à 45 % des ventes en vingt ans, au détriment notamment des jeux de plates-formes. Mais attention : un genre fréquent n'est pas forcément rentable. L'Aventure représente beaucoup de jeux mais vend trois fois moins que son poids dans le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boss final : le Market Power Index, un score sur 100 qui combine cinq composantes : la part de marché par genre, le leadership (plus de 30 % d'un genre), la diversité des genres, la constance entre régions et le taux de hits. Nintendo obtient 95,5 et reste premier quelle que soit la pondération testée. Derrière, EA, Sony et Activision forment un second cercle stable. Ubisoft ou THQ sortent beaucoup de jeux mais réussissent moins : le pouvoir de marché vient du taux de succès plus que du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maintenant à la démonstration de l'interface. Trois choses à montrer : 1) page Market Power Index, changer les poids des composantes et voir le classement bouger ; 2) cliquer sur un jeu pour ouvrir son profil régional (ex. un RPG japonais) ; 3) utiliser les filtres de la barre latérale. Lancer l'appli AVANT la présentation : python run_app.py.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ma partie : cette base a des angles morts. Pas de ventes dématérialisées ni mobiles, une année 2016 incomplète, et quelques ventes mal attribuées entre régions. C'est justement pour ça que le client nous a demandé d'ajouter une deuxième base de données, que mes coéquipiers vont vous présenter.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EO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NEON_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E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EON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822960" y="1325880"/>
            <a:ext cx="6400800" cy="320040"/>
          </a:xfrm>
          <a:prstGeom prst="rect">
            <a:avLst/>
          </a:prstGeom>
          <a:noFill/>
          <a:ln/>
        </p:spPr>
        <p:txBody>
          <a:bodyPr wrap="square" lIns="0" tIns="0" rIns="0" bIns="0" rtlCol="0" anchor="t"/>
          <a:lstStyle/>
          <a:p>
            <a:pPr indent="0" marL="0">
              <a:buNone/>
            </a:pPr>
            <a:r>
              <a:rPr lang="en-US" sz="1400" b="1" spc="300" kern="0" dirty="0">
                <a:solidFill>
                  <a:srgbClr val="00E5FF"/>
                </a:solidFill>
                <a:latin typeface="Courier New" pitchFamily="34" charset="0"/>
                <a:ea typeface="Courier New" pitchFamily="34" charset="-122"/>
                <a:cs typeface="Courier New" pitchFamily="34" charset="-120"/>
              </a:rPr>
              <a:t>DATA WRANGLING ▸ PROJET FINAL</a:t>
            </a:r>
            <a:endParaRPr lang="en-US" sz="1400" dirty="0"/>
          </a:p>
        </p:txBody>
      </p:sp>
      <p:sp>
        <p:nvSpPr>
          <p:cNvPr id="3" name="!!title"/>
          <p:cNvSpPr txBox="1"/>
          <p:nvPr/>
        </p:nvSpPr>
        <p:spPr>
          <a:xfrm>
            <a:off x="822960" y="1783080"/>
            <a:ext cx="6949440" cy="1828800"/>
          </a:xfrm>
          <a:prstGeom prst="rect">
            <a:avLst/>
          </a:prstGeom>
          <a:noFill/>
          <a:ln/>
        </p:spPr>
        <p:txBody>
          <a:bodyPr wrap="square" lIns="0" tIns="0" rIns="0" bIns="0" rtlCol="0" anchor="ctr"/>
          <a:lstStyle/>
          <a:p>
            <a:pPr indent="0" marL="0">
              <a:buNone/>
            </a:pPr>
            <a:r>
              <a:rPr lang="en-US" sz="5400" b="1" dirty="0">
                <a:solidFill>
                  <a:srgbClr val="F4F2FF"/>
                </a:solidFill>
                <a:latin typeface="Arial" pitchFamily="34" charset="0"/>
                <a:ea typeface="Arial" pitchFamily="34" charset="-122"/>
                <a:cs typeface="Arial" pitchFamily="34" charset="-120"/>
              </a:rPr>
              <a:t>Ventes mondiales</a:t>
            </a:r>
            <a:endParaRPr lang="en-US" sz="5400" dirty="0"/>
          </a:p>
          <a:p>
            <a:pPr indent="0" marL="0">
              <a:buNone/>
            </a:pPr>
            <a:r>
              <a:rPr lang="en-US" sz="5400" b="1" dirty="0">
                <a:solidFill>
                  <a:srgbClr val="00E5FF"/>
                </a:solidFill>
                <a:latin typeface="Arial" pitchFamily="34" charset="0"/>
                <a:ea typeface="Arial" pitchFamily="34" charset="-122"/>
                <a:cs typeface="Arial" pitchFamily="34" charset="-120"/>
              </a:rPr>
              <a:t>de jeux vidéo</a:t>
            </a:r>
            <a:endParaRPr lang="en-US" sz="5400" dirty="0"/>
          </a:p>
        </p:txBody>
      </p:sp>
      <p:sp>
        <p:nvSpPr>
          <p:cNvPr id="4" name="sub"/>
          <p:cNvSpPr txBox="1"/>
          <p:nvPr/>
        </p:nvSpPr>
        <p:spPr>
          <a:xfrm>
            <a:off x="822960" y="3749040"/>
            <a:ext cx="6949440" cy="411480"/>
          </a:xfrm>
          <a:prstGeom prst="rect">
            <a:avLst/>
          </a:prstGeom>
          <a:noFill/>
          <a:ln/>
        </p:spPr>
        <p:txBody>
          <a:bodyPr wrap="square" lIns="0" tIns="0" rIns="0" bIns="0" rtlCol="0" anchor="t"/>
          <a:lstStyle/>
          <a:p>
            <a:pPr indent="0" marL="0">
              <a:buNone/>
            </a:pPr>
            <a:r>
              <a:rPr lang="en-US" sz="2000" dirty="0">
                <a:solidFill>
                  <a:srgbClr val="A9A5D1"/>
                </a:solidFill>
                <a:latin typeface="Arial" pitchFamily="34" charset="0"/>
                <a:ea typeface="Arial" pitchFamily="34" charset="-122"/>
                <a:cs typeface="Arial" pitchFamily="34" charset="-120"/>
              </a:rPr>
              <a:t>1980 – 2016  ·  16 598 jeux  ·  Partie 1 : la base vgsales</a:t>
            </a:r>
            <a:endParaRPr lang="en-US" sz="2000" dirty="0"/>
          </a:p>
        </p:txBody>
      </p:sp>
      <p:sp>
        <p:nvSpPr>
          <p:cNvPr id="5" name="anim01_card"/>
          <p:cNvSpPr/>
          <p:nvPr/>
        </p:nvSpPr>
        <p:spPr>
          <a:xfrm>
            <a:off x="822960" y="4572000"/>
            <a:ext cx="4023360" cy="868680"/>
          </a:xfrm>
          <a:prstGeom prst="roundRect">
            <a:avLst>
              <a:gd name="adj" fmla="val 12632"/>
            </a:avLst>
          </a:prstGeom>
          <a:solidFill>
            <a:srgbClr val="16142F"/>
          </a:solidFill>
          <a:ln w="19050">
            <a:solidFill>
              <a:srgbClr val="FF2E88"/>
            </a:solidFill>
            <a:prstDash val="solid"/>
          </a:ln>
          <a:effectLst>
            <a:outerShdw sx="100000" sy="100000" kx="0" ky="0" algn="bl" rotWithShape="0" blurRad="152400" dist="38100" dir="5400000">
              <a:srgbClr val="000000">
                <a:alpha val="45000"/>
              </a:srgbClr>
            </a:outerShdw>
          </a:effectLst>
        </p:spPr>
      </p:sp>
      <p:sp>
        <p:nvSpPr>
          <p:cNvPr id="6" name="anim01_p1"/>
          <p:cNvSpPr txBox="1"/>
          <p:nvPr/>
        </p:nvSpPr>
        <p:spPr>
          <a:xfrm>
            <a:off x="1051560" y="4681728"/>
            <a:ext cx="2743200" cy="256032"/>
          </a:xfrm>
          <a:prstGeom prst="rect">
            <a:avLst/>
          </a:prstGeom>
          <a:noFill/>
          <a:ln/>
        </p:spPr>
        <p:txBody>
          <a:bodyPr wrap="square" lIns="0" tIns="0" rIns="0" bIns="0" rtlCol="0" anchor="t"/>
          <a:lstStyle/>
          <a:p>
            <a:pPr indent="0" marL="0">
              <a:buNone/>
            </a:pPr>
            <a:r>
              <a:rPr lang="en-US" sz="1200" b="1" spc="200" kern="0" dirty="0">
                <a:solidFill>
                  <a:srgbClr val="FF2E88"/>
                </a:solidFill>
                <a:latin typeface="Courier New" pitchFamily="34" charset="0"/>
                <a:ea typeface="Courier New" pitchFamily="34" charset="-122"/>
                <a:cs typeface="Courier New" pitchFamily="34" charset="-120"/>
              </a:rPr>
              <a:t>PLAYER 1</a:t>
            </a:r>
            <a:endParaRPr lang="en-US" sz="1200" dirty="0"/>
          </a:p>
        </p:txBody>
      </p:sp>
      <p:sp>
        <p:nvSpPr>
          <p:cNvPr id="7" name="anim01_name"/>
          <p:cNvSpPr txBox="1"/>
          <p:nvPr/>
        </p:nvSpPr>
        <p:spPr>
          <a:xfrm>
            <a:off x="1051560" y="4956048"/>
            <a:ext cx="3657600" cy="365760"/>
          </a:xfrm>
          <a:prstGeom prst="rect">
            <a:avLst/>
          </a:prstGeom>
          <a:noFill/>
          <a:ln/>
        </p:spPr>
        <p:txBody>
          <a:bodyPr wrap="square" lIns="0" tIns="0" rIns="0" bIns="0" rtlCol="0" anchor="t"/>
          <a:lstStyle/>
          <a:p>
            <a:pPr indent="0" marL="0">
              <a:buNone/>
            </a:pPr>
            <a:r>
              <a:rPr lang="en-US" sz="2000" b="1" dirty="0">
                <a:solidFill>
                  <a:srgbClr val="F4F2FF"/>
                </a:solidFill>
                <a:latin typeface="Arial" pitchFamily="34" charset="0"/>
                <a:ea typeface="Arial" pitchFamily="34" charset="-122"/>
                <a:cs typeface="Arial" pitchFamily="34" charset="-120"/>
              </a:rPr>
              <a:t>Kheireddine Bouadi</a:t>
            </a:r>
            <a:endParaRPr lang="en-US" sz="2000" dirty="0"/>
          </a:p>
        </p:txBody>
      </p:sp>
      <p:sp>
        <p:nvSpPr>
          <p:cNvPr id="8" name="anim01_date"/>
          <p:cNvSpPr txBox="1"/>
          <p:nvPr/>
        </p:nvSpPr>
        <p:spPr>
          <a:xfrm>
            <a:off x="5120640" y="4846320"/>
            <a:ext cx="2377440" cy="365760"/>
          </a:xfrm>
          <a:prstGeom prst="rect">
            <a:avLst/>
          </a:prstGeom>
          <a:noFill/>
          <a:ln/>
        </p:spPr>
        <p:txBody>
          <a:bodyPr wrap="square" lIns="0" tIns="0" rIns="0" bIns="0" rtlCol="0" anchor="t"/>
          <a:lstStyle/>
          <a:p>
            <a:pPr indent="0" marL="0">
              <a:buNone/>
            </a:pPr>
            <a:r>
              <a:rPr lang="en-US" sz="1400" dirty="0">
                <a:solidFill>
                  <a:srgbClr val="6E6A9E"/>
                </a:solidFill>
                <a:latin typeface="Arial" pitchFamily="34" charset="0"/>
                <a:ea typeface="Arial" pitchFamily="34" charset="-122"/>
                <a:cs typeface="Arial" pitchFamily="34" charset="-120"/>
              </a:rPr>
              <a:t>23 octobre 2026</a:t>
            </a:r>
            <a:endParaRPr lang="en-US" sz="1400" dirty="0"/>
          </a:p>
        </p:txBody>
      </p:sp>
      <p:pic>
        <p:nvPicPr>
          <p:cNvPr id="9" name="!!hero" descr="preencoded.png">    </p:cNvPr>
          <p:cNvPicPr>
            <a:picLocks noChangeAspect="1"/>
          </p:cNvPicPr>
          <p:nvPr/>
        </p:nvPicPr>
        <p:blipFill>
          <a:blip r:embed="rId1"/>
          <a:stretch>
            <a:fillRect/>
          </a:stretch>
        </p:blipFill>
        <p:spPr>
          <a:xfrm>
            <a:off x="8001000" y="1371600"/>
            <a:ext cx="3291840" cy="3291840"/>
          </a:xfrm>
          <a:prstGeom prst="rect">
            <a:avLst/>
          </a:prstGeom>
        </p:spPr>
      </p:pic>
      <p:sp>
        <p:nvSpPr>
          <p:cNvPr id="10" name="anim02_start"/>
          <p:cNvSpPr txBox="1"/>
          <p:nvPr/>
        </p:nvSpPr>
        <p:spPr>
          <a:xfrm>
            <a:off x="8001000" y="4846320"/>
            <a:ext cx="3291840" cy="411480"/>
          </a:xfrm>
          <a:prstGeom prst="rect">
            <a:avLst/>
          </a:prstGeom>
          <a:noFill/>
          <a:ln/>
        </p:spPr>
        <p:txBody>
          <a:bodyPr wrap="square" lIns="0" tIns="0" rIns="0" bIns="0" rtlCol="0" anchor="t"/>
          <a:lstStyle/>
          <a:p>
            <a:pPr algn="ctr" indent="0" marL="0">
              <a:buNone/>
            </a:pPr>
            <a:r>
              <a:rPr lang="en-US" sz="1800" b="1" spc="300" kern="0" dirty="0">
                <a:solidFill>
                  <a:srgbClr val="FFD23F"/>
                </a:solidFill>
                <a:latin typeface="Courier New" pitchFamily="34" charset="0"/>
                <a:ea typeface="Courier New" pitchFamily="34" charset="-122"/>
                <a:cs typeface="Courier New" pitchFamily="34" charset="-120"/>
              </a:rPr>
              <a:t>►  PRESS START</a:t>
            </a:r>
            <a:endParaRPr lang="en-US" sz="1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9"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50"/>
                                        <p:tgtEl>
                                          <p:spTgt spid="8"/>
                                        </p:tgtEl>
                                      </p:cBhvr>
                                    </p:animEffect>
                                  </p:childTnLst>
                                </p:cTn>
                              </p:par>
                              <p:par>
                                <p:cTn id="16" presetID="10" presetClass="entr" presetSubtype="0" fill="hold" nodeType="withEffect">
                                  <p:stCondLst>
                                    <p:cond delay="28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MENU ▸ SÉLECTION DU NIVEAU</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Le parcours de ma partie</a:t>
            </a:r>
            <a:endParaRPr lang="en-US" sz="3000" dirty="0"/>
          </a:p>
        </p:txBody>
      </p:sp>
      <p:sp>
        <p:nvSpPr>
          <p:cNvPr id="4"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5"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02/12</a:t>
            </a:r>
            <a:endParaRPr lang="en-US" sz="1000" dirty="0"/>
          </a:p>
        </p:txBody>
      </p:sp>
      <p:sp>
        <p:nvSpPr>
          <p:cNvPr id="6" name="!!xptrack"/>
          <p:cNvSpPr/>
          <p:nvPr/>
        </p:nvSpPr>
        <p:spPr>
          <a:xfrm>
            <a:off x="9262872" y="6400800"/>
            <a:ext cx="2377440" cy="100584"/>
          </a:xfrm>
          <a:prstGeom prst="roundRect">
            <a:avLst>
              <a:gd name="adj" fmla="val 45455"/>
            </a:avLst>
          </a:prstGeom>
          <a:solidFill>
            <a:srgbClr val="2A2750"/>
          </a:solidFill>
          <a:ln/>
        </p:spPr>
      </p:sp>
      <p:sp>
        <p:nvSpPr>
          <p:cNvPr id="7" name="!!xpfill"/>
          <p:cNvSpPr/>
          <p:nvPr/>
        </p:nvSpPr>
        <p:spPr>
          <a:xfrm>
            <a:off x="9262872" y="6400800"/>
            <a:ext cx="396240" cy="100584"/>
          </a:xfrm>
          <a:prstGeom prst="roundRect">
            <a:avLst>
              <a:gd name="adj" fmla="val 45455"/>
            </a:avLst>
          </a:prstGeom>
          <a:solidFill>
            <a:srgbClr val="00E5FF"/>
          </a:solidFill>
          <a:ln/>
        </p:spPr>
      </p:sp>
      <p:sp>
        <p:nvSpPr>
          <p:cNvPr id="8" name="anim01_t"/>
          <p:cNvSpPr/>
          <p:nvPr/>
        </p:nvSpPr>
        <p:spPr>
          <a:xfrm>
            <a:off x="548640" y="1965960"/>
            <a:ext cx="1691640" cy="2880360"/>
          </a:xfrm>
          <a:prstGeom prst="roundRect">
            <a:avLst>
              <a:gd name="adj" fmla="val 6486"/>
            </a:avLst>
          </a:prstGeom>
          <a:solidFill>
            <a:srgbClr val="16142F"/>
          </a:solidFill>
          <a:ln w="15875">
            <a:solidFill>
              <a:srgbClr val="00E5FF"/>
            </a:solidFill>
            <a:prstDash val="solid"/>
          </a:ln>
          <a:effectLst>
            <a:outerShdw sx="100000" sy="100000" kx="0" ky="0" algn="bl" rotWithShape="0" blurRad="152400" dist="38100" dir="5400000">
              <a:srgbClr val="000000">
                <a:alpha val="45000"/>
              </a:srgbClr>
            </a:outerShdw>
          </a:effectLst>
        </p:spPr>
      </p:sp>
      <p:sp>
        <p:nvSpPr>
          <p:cNvPr id="9" name="anim01_n"/>
          <p:cNvSpPr txBox="1"/>
          <p:nvPr/>
        </p:nvSpPr>
        <p:spPr>
          <a:xfrm>
            <a:off x="731520" y="2167128"/>
            <a:ext cx="1371600" cy="274320"/>
          </a:xfrm>
          <a:prstGeom prst="rect">
            <a:avLst/>
          </a:prstGeom>
          <a:noFill/>
          <a:ln/>
        </p:spPr>
        <p:txBody>
          <a:bodyPr wrap="square" lIns="0" tIns="0" rIns="0" bIns="0" rtlCol="0" anchor="t"/>
          <a:lstStyle/>
          <a:p>
            <a:pPr indent="0" marL="0">
              <a:buNone/>
            </a:pPr>
            <a:r>
              <a:rPr lang="en-US" sz="1300" b="1" dirty="0">
                <a:solidFill>
                  <a:srgbClr val="00E5FF"/>
                </a:solidFill>
                <a:latin typeface="Courier New" pitchFamily="34" charset="0"/>
                <a:ea typeface="Courier New" pitchFamily="34" charset="-122"/>
                <a:cs typeface="Courier New" pitchFamily="34" charset="-120"/>
              </a:rPr>
              <a:t>LVL 01</a:t>
            </a:r>
            <a:endParaRPr lang="en-US" sz="1300" dirty="0"/>
          </a:p>
        </p:txBody>
      </p:sp>
      <p:pic>
        <p:nvPicPr>
          <p:cNvPr id="10" name="anim01_i" descr="preencoded.png">    </p:cNvPr>
          <p:cNvPicPr>
            <a:picLocks noChangeAspect="1"/>
          </p:cNvPicPr>
          <p:nvPr/>
        </p:nvPicPr>
        <p:blipFill>
          <a:blip r:embed="rId1"/>
          <a:stretch>
            <a:fillRect/>
          </a:stretch>
        </p:blipFill>
        <p:spPr>
          <a:xfrm>
            <a:off x="982980" y="2651760"/>
            <a:ext cx="822960" cy="822960"/>
          </a:xfrm>
          <a:prstGeom prst="rect">
            <a:avLst/>
          </a:prstGeom>
        </p:spPr>
      </p:pic>
      <p:sp>
        <p:nvSpPr>
          <p:cNvPr id="11" name="anim01_l"/>
          <p:cNvSpPr txBox="1"/>
          <p:nvPr/>
        </p:nvSpPr>
        <p:spPr>
          <a:xfrm>
            <a:off x="640080" y="3703320"/>
            <a:ext cx="1508760" cy="365760"/>
          </a:xfrm>
          <a:prstGeom prst="rect">
            <a:avLst/>
          </a:prstGeom>
          <a:noFill/>
          <a:ln/>
        </p:spPr>
        <p:txBody>
          <a:bodyPr wrap="square" lIns="0" tIns="0" rIns="0" bIns="0" rtlCol="0" anchor="t"/>
          <a:lstStyle/>
          <a:p>
            <a:pPr algn="ctr" indent="0" marL="0">
              <a:buNone/>
            </a:pPr>
            <a:r>
              <a:rPr lang="en-US" sz="1700" b="1" dirty="0">
                <a:solidFill>
                  <a:srgbClr val="F4F2FF"/>
                </a:solidFill>
                <a:latin typeface="Arial" pitchFamily="34" charset="0"/>
                <a:ea typeface="Arial" pitchFamily="34" charset="-122"/>
                <a:cs typeface="Arial" pitchFamily="34" charset="-120"/>
              </a:rPr>
              <a:t>Mission</a:t>
            </a:r>
            <a:endParaRPr lang="en-US" sz="1700" dirty="0"/>
          </a:p>
        </p:txBody>
      </p:sp>
      <p:sp>
        <p:nvSpPr>
          <p:cNvPr id="12" name="anim01_s"/>
          <p:cNvSpPr txBox="1"/>
          <p:nvPr/>
        </p:nvSpPr>
        <p:spPr>
          <a:xfrm>
            <a:off x="640080" y="4096512"/>
            <a:ext cx="1508760" cy="50292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Le contexte</a:t>
            </a:r>
            <a:endParaRPr lang="en-US" sz="1300" dirty="0"/>
          </a:p>
        </p:txBody>
      </p:sp>
      <p:sp>
        <p:nvSpPr>
          <p:cNvPr id="13" name="anim02_t"/>
          <p:cNvSpPr/>
          <p:nvPr/>
        </p:nvSpPr>
        <p:spPr>
          <a:xfrm>
            <a:off x="2429195" y="1965960"/>
            <a:ext cx="1691640" cy="2880360"/>
          </a:xfrm>
          <a:prstGeom prst="roundRect">
            <a:avLst>
              <a:gd name="adj" fmla="val 6486"/>
            </a:avLst>
          </a:prstGeom>
          <a:solidFill>
            <a:srgbClr val="16142F"/>
          </a:solidFill>
          <a:ln w="15875">
            <a:solidFill>
              <a:srgbClr val="00E5FF"/>
            </a:solidFill>
            <a:prstDash val="solid"/>
          </a:ln>
          <a:effectLst>
            <a:outerShdw sx="100000" sy="100000" kx="0" ky="0" algn="bl" rotWithShape="0" blurRad="152400" dist="38100" dir="5400000">
              <a:srgbClr val="000000">
                <a:alpha val="45000"/>
              </a:srgbClr>
            </a:outerShdw>
          </a:effectLst>
        </p:spPr>
      </p:sp>
      <p:sp>
        <p:nvSpPr>
          <p:cNvPr id="14" name="anim02_n"/>
          <p:cNvSpPr txBox="1"/>
          <p:nvPr/>
        </p:nvSpPr>
        <p:spPr>
          <a:xfrm>
            <a:off x="2612075" y="2167128"/>
            <a:ext cx="1371600" cy="274320"/>
          </a:xfrm>
          <a:prstGeom prst="rect">
            <a:avLst/>
          </a:prstGeom>
          <a:noFill/>
          <a:ln/>
        </p:spPr>
        <p:txBody>
          <a:bodyPr wrap="square" lIns="0" tIns="0" rIns="0" bIns="0" rtlCol="0" anchor="t"/>
          <a:lstStyle/>
          <a:p>
            <a:pPr indent="0" marL="0">
              <a:buNone/>
            </a:pPr>
            <a:r>
              <a:rPr lang="en-US" sz="1300" b="1" dirty="0">
                <a:solidFill>
                  <a:srgbClr val="00E5FF"/>
                </a:solidFill>
                <a:latin typeface="Courier New" pitchFamily="34" charset="0"/>
                <a:ea typeface="Courier New" pitchFamily="34" charset="-122"/>
                <a:cs typeface="Courier New" pitchFamily="34" charset="-120"/>
              </a:rPr>
              <a:t>LVL 02</a:t>
            </a:r>
            <a:endParaRPr lang="en-US" sz="1300" dirty="0"/>
          </a:p>
        </p:txBody>
      </p:sp>
      <p:pic>
        <p:nvPicPr>
          <p:cNvPr id="15" name="anim02_i" descr="preencoded.png">    </p:cNvPr>
          <p:cNvPicPr>
            <a:picLocks noChangeAspect="1"/>
          </p:cNvPicPr>
          <p:nvPr/>
        </p:nvPicPr>
        <p:blipFill>
          <a:blip r:embed="rId2"/>
          <a:stretch>
            <a:fillRect/>
          </a:stretch>
        </p:blipFill>
        <p:spPr>
          <a:xfrm>
            <a:off x="2863535" y="2651760"/>
            <a:ext cx="822960" cy="822960"/>
          </a:xfrm>
          <a:prstGeom prst="rect">
            <a:avLst/>
          </a:prstGeom>
        </p:spPr>
      </p:pic>
      <p:sp>
        <p:nvSpPr>
          <p:cNvPr id="16" name="anim02_l"/>
          <p:cNvSpPr txBox="1"/>
          <p:nvPr/>
        </p:nvSpPr>
        <p:spPr>
          <a:xfrm>
            <a:off x="2520635" y="3703320"/>
            <a:ext cx="1508760" cy="365760"/>
          </a:xfrm>
          <a:prstGeom prst="rect">
            <a:avLst/>
          </a:prstGeom>
          <a:noFill/>
          <a:ln/>
        </p:spPr>
        <p:txBody>
          <a:bodyPr wrap="square" lIns="0" tIns="0" rIns="0" bIns="0" rtlCol="0" anchor="t"/>
          <a:lstStyle/>
          <a:p>
            <a:pPr algn="ctr" indent="0" marL="0">
              <a:buNone/>
            </a:pPr>
            <a:r>
              <a:rPr lang="en-US" sz="1700" b="1" dirty="0">
                <a:solidFill>
                  <a:srgbClr val="F4F2FF"/>
                </a:solidFill>
                <a:latin typeface="Arial" pitchFamily="34" charset="0"/>
                <a:ea typeface="Arial" pitchFamily="34" charset="-122"/>
                <a:cs typeface="Arial" pitchFamily="34" charset="-120"/>
              </a:rPr>
              <a:t>Pipeline</a:t>
            </a:r>
            <a:endParaRPr lang="en-US" sz="1700" dirty="0"/>
          </a:p>
        </p:txBody>
      </p:sp>
      <p:sp>
        <p:nvSpPr>
          <p:cNvPr id="17" name="anim02_s"/>
          <p:cNvSpPr txBox="1"/>
          <p:nvPr/>
        </p:nvSpPr>
        <p:spPr>
          <a:xfrm>
            <a:off x="2520635" y="4096512"/>
            <a:ext cx="1508760" cy="50292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Du CSV à l'appli</a:t>
            </a:r>
            <a:endParaRPr lang="en-US" sz="1300" dirty="0"/>
          </a:p>
        </p:txBody>
      </p:sp>
      <p:sp>
        <p:nvSpPr>
          <p:cNvPr id="18" name="anim03_t"/>
          <p:cNvSpPr/>
          <p:nvPr/>
        </p:nvSpPr>
        <p:spPr>
          <a:xfrm>
            <a:off x="4309750" y="1965960"/>
            <a:ext cx="1691640" cy="2880360"/>
          </a:xfrm>
          <a:prstGeom prst="roundRect">
            <a:avLst>
              <a:gd name="adj" fmla="val 6486"/>
            </a:avLst>
          </a:prstGeom>
          <a:solidFill>
            <a:srgbClr val="16142F"/>
          </a:solidFill>
          <a:ln w="15875">
            <a:solidFill>
              <a:srgbClr val="FF2E88"/>
            </a:solidFill>
            <a:prstDash val="solid"/>
          </a:ln>
          <a:effectLst>
            <a:outerShdw sx="100000" sy="100000" kx="0" ky="0" algn="bl" rotWithShape="0" blurRad="152400" dist="38100" dir="5400000">
              <a:srgbClr val="000000">
                <a:alpha val="45000"/>
              </a:srgbClr>
            </a:outerShdw>
          </a:effectLst>
        </p:spPr>
      </p:sp>
      <p:sp>
        <p:nvSpPr>
          <p:cNvPr id="19" name="anim03_n"/>
          <p:cNvSpPr txBox="1"/>
          <p:nvPr/>
        </p:nvSpPr>
        <p:spPr>
          <a:xfrm>
            <a:off x="4492630" y="2167128"/>
            <a:ext cx="1371600" cy="274320"/>
          </a:xfrm>
          <a:prstGeom prst="rect">
            <a:avLst/>
          </a:prstGeom>
          <a:noFill/>
          <a:ln/>
        </p:spPr>
        <p:txBody>
          <a:bodyPr wrap="square" lIns="0" tIns="0" rIns="0" bIns="0" rtlCol="0" anchor="t"/>
          <a:lstStyle/>
          <a:p>
            <a:pPr indent="0" marL="0">
              <a:buNone/>
            </a:pPr>
            <a:r>
              <a:rPr lang="en-US" sz="1300" b="1" dirty="0">
                <a:solidFill>
                  <a:srgbClr val="FF2E88"/>
                </a:solidFill>
                <a:latin typeface="Courier New" pitchFamily="34" charset="0"/>
                <a:ea typeface="Courier New" pitchFamily="34" charset="-122"/>
                <a:cs typeface="Courier New" pitchFamily="34" charset="-120"/>
              </a:rPr>
              <a:t>LVL 03</a:t>
            </a:r>
            <a:endParaRPr lang="en-US" sz="1300" dirty="0"/>
          </a:p>
        </p:txBody>
      </p:sp>
      <p:pic>
        <p:nvPicPr>
          <p:cNvPr id="20" name="anim03_i" descr="preencoded.png">    </p:cNvPr>
          <p:cNvPicPr>
            <a:picLocks noChangeAspect="1"/>
          </p:cNvPicPr>
          <p:nvPr/>
        </p:nvPicPr>
        <p:blipFill>
          <a:blip r:embed="rId3"/>
          <a:stretch>
            <a:fillRect/>
          </a:stretch>
        </p:blipFill>
        <p:spPr>
          <a:xfrm>
            <a:off x="4744090" y="2651760"/>
            <a:ext cx="822960" cy="822960"/>
          </a:xfrm>
          <a:prstGeom prst="rect">
            <a:avLst/>
          </a:prstGeom>
        </p:spPr>
      </p:pic>
      <p:sp>
        <p:nvSpPr>
          <p:cNvPr id="21" name="anim03_l"/>
          <p:cNvSpPr txBox="1"/>
          <p:nvPr/>
        </p:nvSpPr>
        <p:spPr>
          <a:xfrm>
            <a:off x="4401190" y="3703320"/>
            <a:ext cx="1508760" cy="365760"/>
          </a:xfrm>
          <a:prstGeom prst="rect">
            <a:avLst/>
          </a:prstGeom>
          <a:noFill/>
          <a:ln/>
        </p:spPr>
        <p:txBody>
          <a:bodyPr wrap="square" lIns="0" tIns="0" rIns="0" bIns="0" rtlCol="0" anchor="t"/>
          <a:lstStyle/>
          <a:p>
            <a:pPr algn="ctr" indent="0" marL="0">
              <a:buNone/>
            </a:pPr>
            <a:r>
              <a:rPr lang="en-US" sz="1700" b="1" dirty="0">
                <a:solidFill>
                  <a:srgbClr val="F4F2FF"/>
                </a:solidFill>
                <a:latin typeface="Arial" pitchFamily="34" charset="0"/>
                <a:ea typeface="Arial" pitchFamily="34" charset="-122"/>
                <a:cs typeface="Arial" pitchFamily="34" charset="-120"/>
              </a:rPr>
              <a:t>Nettoyage</a:t>
            </a:r>
            <a:endParaRPr lang="en-US" sz="1700" dirty="0"/>
          </a:p>
        </p:txBody>
      </p:sp>
      <p:sp>
        <p:nvSpPr>
          <p:cNvPr id="22" name="anim03_s"/>
          <p:cNvSpPr txBox="1"/>
          <p:nvPr/>
        </p:nvSpPr>
        <p:spPr>
          <a:xfrm>
            <a:off x="4401190" y="4096512"/>
            <a:ext cx="1508760" cy="50292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Les bugs cachés</a:t>
            </a:r>
            <a:endParaRPr lang="en-US" sz="1300" dirty="0"/>
          </a:p>
        </p:txBody>
      </p:sp>
      <p:sp>
        <p:nvSpPr>
          <p:cNvPr id="23" name="anim04_t"/>
          <p:cNvSpPr/>
          <p:nvPr/>
        </p:nvSpPr>
        <p:spPr>
          <a:xfrm>
            <a:off x="6190305" y="1965960"/>
            <a:ext cx="1691640" cy="2880360"/>
          </a:xfrm>
          <a:prstGeom prst="roundRect">
            <a:avLst>
              <a:gd name="adj" fmla="val 6486"/>
            </a:avLst>
          </a:prstGeom>
          <a:solidFill>
            <a:srgbClr val="16142F"/>
          </a:solidFill>
          <a:ln w="15875">
            <a:solidFill>
              <a:srgbClr val="00E5FF"/>
            </a:solidFill>
            <a:prstDash val="solid"/>
          </a:ln>
          <a:effectLst>
            <a:outerShdw sx="100000" sy="100000" kx="0" ky="0" algn="bl" rotWithShape="0" blurRad="152400" dist="38100" dir="5400000">
              <a:srgbClr val="000000">
                <a:alpha val="45000"/>
              </a:srgbClr>
            </a:outerShdw>
          </a:effectLst>
        </p:spPr>
      </p:sp>
      <p:sp>
        <p:nvSpPr>
          <p:cNvPr id="24" name="anim04_n"/>
          <p:cNvSpPr txBox="1"/>
          <p:nvPr/>
        </p:nvSpPr>
        <p:spPr>
          <a:xfrm>
            <a:off x="6373185" y="2167128"/>
            <a:ext cx="1371600" cy="274320"/>
          </a:xfrm>
          <a:prstGeom prst="rect">
            <a:avLst/>
          </a:prstGeom>
          <a:noFill/>
          <a:ln/>
        </p:spPr>
        <p:txBody>
          <a:bodyPr wrap="square" lIns="0" tIns="0" rIns="0" bIns="0" rtlCol="0" anchor="t"/>
          <a:lstStyle/>
          <a:p>
            <a:pPr indent="0" marL="0">
              <a:buNone/>
            </a:pPr>
            <a:r>
              <a:rPr lang="en-US" sz="1300" b="1" dirty="0">
                <a:solidFill>
                  <a:srgbClr val="00E5FF"/>
                </a:solidFill>
                <a:latin typeface="Courier New" pitchFamily="34" charset="0"/>
                <a:ea typeface="Courier New" pitchFamily="34" charset="-122"/>
                <a:cs typeface="Courier New" pitchFamily="34" charset="-120"/>
              </a:rPr>
              <a:t>LVL 04</a:t>
            </a:r>
            <a:endParaRPr lang="en-US" sz="1300" dirty="0"/>
          </a:p>
        </p:txBody>
      </p:sp>
      <p:pic>
        <p:nvPicPr>
          <p:cNvPr id="25" name="anim04_i" descr="preencoded.png">    </p:cNvPr>
          <p:cNvPicPr>
            <a:picLocks noChangeAspect="1"/>
          </p:cNvPicPr>
          <p:nvPr/>
        </p:nvPicPr>
        <p:blipFill>
          <a:blip r:embed="rId4"/>
          <a:stretch>
            <a:fillRect/>
          </a:stretch>
        </p:blipFill>
        <p:spPr>
          <a:xfrm>
            <a:off x="6624645" y="2651760"/>
            <a:ext cx="822960" cy="822960"/>
          </a:xfrm>
          <a:prstGeom prst="rect">
            <a:avLst/>
          </a:prstGeom>
        </p:spPr>
      </p:pic>
      <p:sp>
        <p:nvSpPr>
          <p:cNvPr id="26" name="anim04_l"/>
          <p:cNvSpPr txBox="1"/>
          <p:nvPr/>
        </p:nvSpPr>
        <p:spPr>
          <a:xfrm>
            <a:off x="6281745" y="3703320"/>
            <a:ext cx="1508760" cy="365760"/>
          </a:xfrm>
          <a:prstGeom prst="rect">
            <a:avLst/>
          </a:prstGeom>
          <a:noFill/>
          <a:ln/>
        </p:spPr>
        <p:txBody>
          <a:bodyPr wrap="square" lIns="0" tIns="0" rIns="0" bIns="0" rtlCol="0" anchor="t"/>
          <a:lstStyle/>
          <a:p>
            <a:pPr algn="ctr" indent="0" marL="0">
              <a:buNone/>
            </a:pPr>
            <a:r>
              <a:rPr lang="en-US" sz="1700" b="1" dirty="0">
                <a:solidFill>
                  <a:srgbClr val="F4F2FF"/>
                </a:solidFill>
                <a:latin typeface="Arial" pitchFamily="34" charset="0"/>
                <a:ea typeface="Arial" pitchFamily="34" charset="-122"/>
                <a:cs typeface="Arial" pitchFamily="34" charset="-120"/>
              </a:rPr>
              <a:t>Découvertes</a:t>
            </a:r>
            <a:endParaRPr lang="en-US" sz="1700" dirty="0"/>
          </a:p>
        </p:txBody>
      </p:sp>
      <p:sp>
        <p:nvSpPr>
          <p:cNvPr id="27" name="anim04_s"/>
          <p:cNvSpPr txBox="1"/>
          <p:nvPr/>
        </p:nvSpPr>
        <p:spPr>
          <a:xfrm>
            <a:off x="6281745" y="4096512"/>
            <a:ext cx="1508760" cy="50292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4 insights clés</a:t>
            </a:r>
            <a:endParaRPr lang="en-US" sz="1300" dirty="0"/>
          </a:p>
        </p:txBody>
      </p:sp>
      <p:sp>
        <p:nvSpPr>
          <p:cNvPr id="28" name="anim05_t"/>
          <p:cNvSpPr/>
          <p:nvPr/>
        </p:nvSpPr>
        <p:spPr>
          <a:xfrm>
            <a:off x="8070860" y="1965960"/>
            <a:ext cx="1691640" cy="2880360"/>
          </a:xfrm>
          <a:prstGeom prst="roundRect">
            <a:avLst>
              <a:gd name="adj" fmla="val 6486"/>
            </a:avLst>
          </a:prstGeom>
          <a:solidFill>
            <a:srgbClr val="16142F"/>
          </a:solidFill>
          <a:ln w="15875">
            <a:solidFill>
              <a:srgbClr val="FFD23F"/>
            </a:solidFill>
            <a:prstDash val="solid"/>
          </a:ln>
          <a:effectLst>
            <a:outerShdw sx="100000" sy="100000" kx="0" ky="0" algn="bl" rotWithShape="0" blurRad="152400" dist="38100" dir="5400000">
              <a:srgbClr val="000000">
                <a:alpha val="45000"/>
              </a:srgbClr>
            </a:outerShdw>
          </a:effectLst>
        </p:spPr>
      </p:sp>
      <p:sp>
        <p:nvSpPr>
          <p:cNvPr id="29" name="anim05_n"/>
          <p:cNvSpPr txBox="1"/>
          <p:nvPr/>
        </p:nvSpPr>
        <p:spPr>
          <a:xfrm>
            <a:off x="8253740" y="2167128"/>
            <a:ext cx="1371600" cy="274320"/>
          </a:xfrm>
          <a:prstGeom prst="rect">
            <a:avLst/>
          </a:prstGeom>
          <a:noFill/>
          <a:ln/>
        </p:spPr>
        <p:txBody>
          <a:bodyPr wrap="square" lIns="0" tIns="0" rIns="0" bIns="0" rtlCol="0" anchor="t"/>
          <a:lstStyle/>
          <a:p>
            <a:pPr indent="0" marL="0">
              <a:buNone/>
            </a:pPr>
            <a:r>
              <a:rPr lang="en-US" sz="1300" b="1" dirty="0">
                <a:solidFill>
                  <a:srgbClr val="FFD23F"/>
                </a:solidFill>
                <a:latin typeface="Courier New" pitchFamily="34" charset="0"/>
                <a:ea typeface="Courier New" pitchFamily="34" charset="-122"/>
                <a:cs typeface="Courier New" pitchFamily="34" charset="-120"/>
              </a:rPr>
              <a:t>LVL 05</a:t>
            </a:r>
            <a:endParaRPr lang="en-US" sz="1300" dirty="0"/>
          </a:p>
        </p:txBody>
      </p:sp>
      <p:pic>
        <p:nvPicPr>
          <p:cNvPr id="30" name="anim05_i" descr="preencoded.png">    </p:cNvPr>
          <p:cNvPicPr>
            <a:picLocks noChangeAspect="1"/>
          </p:cNvPicPr>
          <p:nvPr/>
        </p:nvPicPr>
        <p:blipFill>
          <a:blip r:embed="rId5"/>
          <a:stretch>
            <a:fillRect/>
          </a:stretch>
        </p:blipFill>
        <p:spPr>
          <a:xfrm>
            <a:off x="8505200" y="2651760"/>
            <a:ext cx="822960" cy="822960"/>
          </a:xfrm>
          <a:prstGeom prst="rect">
            <a:avLst/>
          </a:prstGeom>
        </p:spPr>
      </p:pic>
      <p:sp>
        <p:nvSpPr>
          <p:cNvPr id="31" name="anim05_l"/>
          <p:cNvSpPr txBox="1"/>
          <p:nvPr/>
        </p:nvSpPr>
        <p:spPr>
          <a:xfrm>
            <a:off x="8162300" y="3703320"/>
            <a:ext cx="1508760" cy="365760"/>
          </a:xfrm>
          <a:prstGeom prst="rect">
            <a:avLst/>
          </a:prstGeom>
          <a:noFill/>
          <a:ln/>
        </p:spPr>
        <p:txBody>
          <a:bodyPr wrap="square" lIns="0" tIns="0" rIns="0" bIns="0" rtlCol="0" anchor="t"/>
          <a:lstStyle/>
          <a:p>
            <a:pPr algn="ctr" indent="0" marL="0">
              <a:buNone/>
            </a:pPr>
            <a:r>
              <a:rPr lang="en-US" sz="1700" b="1" dirty="0">
                <a:solidFill>
                  <a:srgbClr val="F4F2FF"/>
                </a:solidFill>
                <a:latin typeface="Arial" pitchFamily="34" charset="0"/>
                <a:ea typeface="Arial" pitchFamily="34" charset="-122"/>
                <a:cs typeface="Arial" pitchFamily="34" charset="-120"/>
              </a:rPr>
              <a:t>Boss final</a:t>
            </a:r>
            <a:endParaRPr lang="en-US" sz="1700" dirty="0"/>
          </a:p>
        </p:txBody>
      </p:sp>
      <p:sp>
        <p:nvSpPr>
          <p:cNvPr id="32" name="anim05_s"/>
          <p:cNvSpPr txBox="1"/>
          <p:nvPr/>
        </p:nvSpPr>
        <p:spPr>
          <a:xfrm>
            <a:off x="8162300" y="4096512"/>
            <a:ext cx="1508760" cy="50292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Market Power Index</a:t>
            </a:r>
            <a:endParaRPr lang="en-US" sz="1300" dirty="0"/>
          </a:p>
        </p:txBody>
      </p:sp>
      <p:sp>
        <p:nvSpPr>
          <p:cNvPr id="33" name="anim06_t"/>
          <p:cNvSpPr/>
          <p:nvPr/>
        </p:nvSpPr>
        <p:spPr>
          <a:xfrm>
            <a:off x="9951415" y="1965960"/>
            <a:ext cx="1691640" cy="2880360"/>
          </a:xfrm>
          <a:prstGeom prst="roundRect">
            <a:avLst>
              <a:gd name="adj" fmla="val 6486"/>
            </a:avLst>
          </a:prstGeom>
          <a:solidFill>
            <a:srgbClr val="16142F"/>
          </a:solidFill>
          <a:ln w="15875">
            <a:solidFill>
              <a:srgbClr val="FF2E88"/>
            </a:solidFill>
            <a:prstDash val="solid"/>
          </a:ln>
          <a:effectLst>
            <a:outerShdw sx="100000" sy="100000" kx="0" ky="0" algn="bl" rotWithShape="0" blurRad="152400" dist="38100" dir="5400000">
              <a:srgbClr val="000000">
                <a:alpha val="45000"/>
              </a:srgbClr>
            </a:outerShdw>
          </a:effectLst>
        </p:spPr>
      </p:sp>
      <p:sp>
        <p:nvSpPr>
          <p:cNvPr id="34" name="anim06_n"/>
          <p:cNvSpPr txBox="1"/>
          <p:nvPr/>
        </p:nvSpPr>
        <p:spPr>
          <a:xfrm>
            <a:off x="10134295" y="2167128"/>
            <a:ext cx="1371600" cy="274320"/>
          </a:xfrm>
          <a:prstGeom prst="rect">
            <a:avLst/>
          </a:prstGeom>
          <a:noFill/>
          <a:ln/>
        </p:spPr>
        <p:txBody>
          <a:bodyPr wrap="square" lIns="0" tIns="0" rIns="0" bIns="0" rtlCol="0" anchor="t"/>
          <a:lstStyle/>
          <a:p>
            <a:pPr indent="0" marL="0">
              <a:buNone/>
            </a:pPr>
            <a:r>
              <a:rPr lang="en-US" sz="1300" b="1" dirty="0">
                <a:solidFill>
                  <a:srgbClr val="FF2E88"/>
                </a:solidFill>
                <a:latin typeface="Courier New" pitchFamily="34" charset="0"/>
                <a:ea typeface="Courier New" pitchFamily="34" charset="-122"/>
                <a:cs typeface="Courier New" pitchFamily="34" charset="-120"/>
              </a:rPr>
              <a:t>LVL 06</a:t>
            </a:r>
            <a:endParaRPr lang="en-US" sz="1300" dirty="0"/>
          </a:p>
        </p:txBody>
      </p:sp>
      <p:pic>
        <p:nvPicPr>
          <p:cNvPr id="35" name="anim06_i" descr="preencoded.png">    </p:cNvPr>
          <p:cNvPicPr>
            <a:picLocks noChangeAspect="1"/>
          </p:cNvPicPr>
          <p:nvPr/>
        </p:nvPicPr>
        <p:blipFill>
          <a:blip r:embed="rId6"/>
          <a:stretch>
            <a:fillRect/>
          </a:stretch>
        </p:blipFill>
        <p:spPr>
          <a:xfrm>
            <a:off x="10385755" y="2651760"/>
            <a:ext cx="822960" cy="822960"/>
          </a:xfrm>
          <a:prstGeom prst="rect">
            <a:avLst/>
          </a:prstGeom>
        </p:spPr>
      </p:pic>
      <p:sp>
        <p:nvSpPr>
          <p:cNvPr id="36" name="anim06_l"/>
          <p:cNvSpPr txBox="1"/>
          <p:nvPr/>
        </p:nvSpPr>
        <p:spPr>
          <a:xfrm>
            <a:off x="10042855" y="3703320"/>
            <a:ext cx="1508760" cy="365760"/>
          </a:xfrm>
          <a:prstGeom prst="rect">
            <a:avLst/>
          </a:prstGeom>
          <a:noFill/>
          <a:ln/>
        </p:spPr>
        <p:txBody>
          <a:bodyPr wrap="square" lIns="0" tIns="0" rIns="0" bIns="0" rtlCol="0" anchor="t"/>
          <a:lstStyle/>
          <a:p>
            <a:pPr algn="ctr" indent="0" marL="0">
              <a:buNone/>
            </a:pPr>
            <a:r>
              <a:rPr lang="en-US" sz="1700" b="1" dirty="0">
                <a:solidFill>
                  <a:srgbClr val="F4F2FF"/>
                </a:solidFill>
                <a:latin typeface="Arial" pitchFamily="34" charset="0"/>
                <a:ea typeface="Arial" pitchFamily="34" charset="-122"/>
                <a:cs typeface="Arial" pitchFamily="34" charset="-120"/>
              </a:rPr>
              <a:t>Live demo</a:t>
            </a:r>
            <a:endParaRPr lang="en-US" sz="1700" dirty="0"/>
          </a:p>
        </p:txBody>
      </p:sp>
      <p:sp>
        <p:nvSpPr>
          <p:cNvPr id="37" name="anim06_s"/>
          <p:cNvSpPr txBox="1"/>
          <p:nvPr/>
        </p:nvSpPr>
        <p:spPr>
          <a:xfrm>
            <a:off x="10042855" y="4096512"/>
            <a:ext cx="1508760" cy="50292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L'appli en direct</a:t>
            </a:r>
            <a:endParaRPr lang="en-US" sz="1300" dirty="0"/>
          </a:p>
        </p:txBody>
      </p:sp>
      <p:sp>
        <p:nvSpPr>
          <p:cNvPr id="38" name="anim07_next"/>
          <p:cNvSpPr/>
          <p:nvPr/>
        </p:nvSpPr>
        <p:spPr>
          <a:xfrm>
            <a:off x="548640" y="5212080"/>
            <a:ext cx="11094415" cy="640080"/>
          </a:xfrm>
          <a:prstGeom prst="roundRect">
            <a:avLst>
              <a:gd name="adj" fmla="val 17143"/>
            </a:avLst>
          </a:prstGeom>
          <a:solidFill>
            <a:srgbClr val="0B0A1A">
              <a:alpha val="60000"/>
            </a:srgbClr>
          </a:solidFill>
          <a:ln w="12700">
            <a:solidFill>
              <a:srgbClr val="6E6A9E"/>
            </a:solidFill>
            <a:prstDash val="dash"/>
          </a:ln>
        </p:spPr>
      </p:sp>
      <p:pic>
        <p:nvPicPr>
          <p:cNvPr id="39" name="anim07_ic" descr="preencoded.png">    </p:cNvPr>
          <p:cNvPicPr>
            <a:picLocks noChangeAspect="1"/>
          </p:cNvPicPr>
          <p:nvPr/>
        </p:nvPicPr>
        <p:blipFill>
          <a:blip r:embed="rId7"/>
          <a:stretch>
            <a:fillRect/>
          </a:stretch>
        </p:blipFill>
        <p:spPr>
          <a:xfrm>
            <a:off x="777240" y="5330952"/>
            <a:ext cx="402336" cy="402336"/>
          </a:xfrm>
          <a:prstGeom prst="rect">
            <a:avLst/>
          </a:prstGeom>
        </p:spPr>
      </p:pic>
      <p:sp>
        <p:nvSpPr>
          <p:cNvPr id="40" name="anim07_txt"/>
          <p:cNvSpPr txBox="1"/>
          <p:nvPr/>
        </p:nvSpPr>
        <p:spPr>
          <a:xfrm>
            <a:off x="1325880" y="5212080"/>
            <a:ext cx="9601200" cy="640080"/>
          </a:xfrm>
          <a:prstGeom prst="rect">
            <a:avLst/>
          </a:prstGeom>
          <a:noFill/>
          <a:ln/>
        </p:spPr>
        <p:txBody>
          <a:bodyPr wrap="square" lIns="0" tIns="0" rIns="0" bIns="0" rtlCol="0" anchor="ctr"/>
          <a:lstStyle/>
          <a:p>
            <a:pPr indent="0" marL="0">
              <a:buNone/>
            </a:pPr>
            <a:r>
              <a:rPr lang="en-US" sz="1500" b="1" spc="200" kern="0" dirty="0">
                <a:solidFill>
                  <a:srgbClr val="00E5FF"/>
                </a:solidFill>
                <a:latin typeface="Courier New" pitchFamily="34" charset="0"/>
                <a:ea typeface="Courier New" pitchFamily="34" charset="-122"/>
                <a:cs typeface="Courier New" pitchFamily="34" charset="-120"/>
              </a:rPr>
              <a:t>NIVEAU SUIVANT  </a:t>
            </a:r>
            <a:pPr indent="0" marL="0">
              <a:buNone/>
            </a:pPr>
            <a:r>
              <a:rPr lang="en-US" sz="1500" dirty="0">
                <a:solidFill>
                  <a:srgbClr val="A9A5D1"/>
                </a:solidFill>
                <a:latin typeface="Arial" pitchFamily="34" charset="0"/>
                <a:ea typeface="Arial" pitchFamily="34" charset="-122"/>
                <a:cs typeface="Arial" pitchFamily="34" charset="-120"/>
              </a:rPr>
              <a:t>BDD 2 : présentée par le reste de l'équipe</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3"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450"/>
                                        <p:tgtEl>
                                          <p:spTgt spid="8"/>
                                        </p:tgtEl>
                                      </p:cBhvr>
                                    </p:animEffect>
                                  </p:childTnLst>
                                </p:cTn>
                              </p:par>
                              <p:par>
                                <p:cTn id="7" presetID="10"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450"/>
                                        <p:tgtEl>
                                          <p:spTgt spid="9"/>
                                        </p:tgtEl>
                                      </p:cBhvr>
                                    </p:animEffect>
                                  </p:childTnLst>
                                </p:cTn>
                              </p:par>
                              <p:par>
                                <p:cTn id="10" presetID="10"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50"/>
                                        <p:tgtEl>
                                          <p:spTgt spid="12"/>
                                        </p:tgtEl>
                                      </p:cBhvr>
                                    </p:animEffect>
                                  </p:childTnLst>
                                </p:cTn>
                              </p:par>
                              <p:par>
                                <p:cTn id="19" presetID="10" presetClass="entr" presetSubtype="0" fill="hold" nodeType="withEffect">
                                  <p:stCondLst>
                                    <p:cond delay="28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28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28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28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nodeType="withEffect">
                                  <p:stCondLst>
                                    <p:cond delay="28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nodeType="withEffect">
                                  <p:stCondLst>
                                    <p:cond delay="56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nodeType="withEffect">
                                  <p:stCondLst>
                                    <p:cond delay="56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nodeType="withEffect">
                                  <p:stCondLst>
                                    <p:cond delay="56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par>
                                <p:cTn id="43" presetID="10" presetClass="entr" presetSubtype="0" fill="hold" nodeType="withEffect">
                                  <p:stCondLst>
                                    <p:cond delay="56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50"/>
                                        <p:tgtEl>
                                          <p:spTgt spid="21"/>
                                        </p:tgtEl>
                                      </p:cBhvr>
                                    </p:animEffect>
                                  </p:childTnLst>
                                </p:cTn>
                              </p:par>
                              <p:par>
                                <p:cTn id="46" presetID="10" presetClass="entr" presetSubtype="0" fill="hold" nodeType="withEffect">
                                  <p:stCondLst>
                                    <p:cond delay="56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childTnLst>
                                </p:cTn>
                              </p:par>
                              <p:par>
                                <p:cTn id="49" presetID="10" presetClass="entr" presetSubtype="0" fill="hold" nodeType="withEffect">
                                  <p:stCondLst>
                                    <p:cond delay="84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84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84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par>
                                <p:cTn id="58" presetID="10" presetClass="entr" presetSubtype="0" fill="hold" nodeType="withEffect">
                                  <p:stCondLst>
                                    <p:cond delay="84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childTnLst>
                                </p:cTn>
                              </p:par>
                              <p:par>
                                <p:cTn id="61" presetID="10" presetClass="entr" presetSubtype="0" fill="hold" nodeType="withEffect">
                                  <p:stCondLst>
                                    <p:cond delay="84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450"/>
                                        <p:tgtEl>
                                          <p:spTgt spid="27"/>
                                        </p:tgtEl>
                                      </p:cBhvr>
                                    </p:animEffect>
                                  </p:childTnLst>
                                </p:cTn>
                              </p:par>
                              <p:par>
                                <p:cTn id="64" presetID="10" presetClass="entr" presetSubtype="0" fill="hold" nodeType="withEffect">
                                  <p:stCondLst>
                                    <p:cond delay="112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450"/>
                                        <p:tgtEl>
                                          <p:spTgt spid="28"/>
                                        </p:tgtEl>
                                      </p:cBhvr>
                                    </p:animEffect>
                                  </p:childTnLst>
                                </p:cTn>
                              </p:par>
                              <p:par>
                                <p:cTn id="67" presetID="10" presetClass="entr" presetSubtype="0" fill="hold" nodeType="withEffect">
                                  <p:stCondLst>
                                    <p:cond delay="112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450"/>
                                        <p:tgtEl>
                                          <p:spTgt spid="29"/>
                                        </p:tgtEl>
                                      </p:cBhvr>
                                    </p:animEffect>
                                  </p:childTnLst>
                                </p:cTn>
                              </p:par>
                              <p:par>
                                <p:cTn id="70" presetID="10" presetClass="entr" presetSubtype="0" fill="hold" nodeType="withEffect">
                                  <p:stCondLst>
                                    <p:cond delay="112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50"/>
                                        <p:tgtEl>
                                          <p:spTgt spid="30"/>
                                        </p:tgtEl>
                                      </p:cBhvr>
                                    </p:animEffect>
                                  </p:childTnLst>
                                </p:cTn>
                              </p:par>
                              <p:par>
                                <p:cTn id="73" presetID="10" presetClass="entr" presetSubtype="0" fill="hold" nodeType="withEffect">
                                  <p:stCondLst>
                                    <p:cond delay="112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50"/>
                                        <p:tgtEl>
                                          <p:spTgt spid="31"/>
                                        </p:tgtEl>
                                      </p:cBhvr>
                                    </p:animEffect>
                                  </p:childTnLst>
                                </p:cTn>
                              </p:par>
                              <p:par>
                                <p:cTn id="76" presetID="10" presetClass="entr" presetSubtype="0" fill="hold" nodeType="withEffect">
                                  <p:stCondLst>
                                    <p:cond delay="112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50"/>
                                        <p:tgtEl>
                                          <p:spTgt spid="32"/>
                                        </p:tgtEl>
                                      </p:cBhvr>
                                    </p:animEffect>
                                  </p:childTnLst>
                                </p:cTn>
                              </p:par>
                              <p:par>
                                <p:cTn id="79" presetID="10" presetClass="entr" presetSubtype="0" fill="hold" nodeType="withEffect">
                                  <p:stCondLst>
                                    <p:cond delay="140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450"/>
                                        <p:tgtEl>
                                          <p:spTgt spid="33"/>
                                        </p:tgtEl>
                                      </p:cBhvr>
                                    </p:animEffect>
                                  </p:childTnLst>
                                </p:cTn>
                              </p:par>
                              <p:par>
                                <p:cTn id="82" presetID="10" presetClass="entr" presetSubtype="0" fill="hold" nodeType="withEffect">
                                  <p:stCondLst>
                                    <p:cond delay="140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50"/>
                                        <p:tgtEl>
                                          <p:spTgt spid="34"/>
                                        </p:tgtEl>
                                      </p:cBhvr>
                                    </p:animEffect>
                                  </p:childTnLst>
                                </p:cTn>
                              </p:par>
                              <p:par>
                                <p:cTn id="85" presetID="10" presetClass="entr" presetSubtype="0" fill="hold" nodeType="withEffect">
                                  <p:stCondLst>
                                    <p:cond delay="140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50"/>
                                        <p:tgtEl>
                                          <p:spTgt spid="35"/>
                                        </p:tgtEl>
                                      </p:cBhvr>
                                    </p:animEffect>
                                  </p:childTnLst>
                                </p:cTn>
                              </p:par>
                              <p:par>
                                <p:cTn id="88" presetID="10" presetClass="entr" presetSubtype="0" fill="hold" nodeType="withEffect">
                                  <p:stCondLst>
                                    <p:cond delay="140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50"/>
                                        <p:tgtEl>
                                          <p:spTgt spid="36"/>
                                        </p:tgtEl>
                                      </p:cBhvr>
                                    </p:animEffect>
                                  </p:childTnLst>
                                </p:cTn>
                              </p:par>
                              <p:par>
                                <p:cTn id="91" presetID="10" presetClass="entr" presetSubtype="0" fill="hold" nodeType="withEffect">
                                  <p:stCondLst>
                                    <p:cond delay="140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50"/>
                                        <p:tgtEl>
                                          <p:spTgt spid="37"/>
                                        </p:tgtEl>
                                      </p:cBhvr>
                                    </p:animEffect>
                                  </p:childTnLst>
                                </p:cTn>
                              </p:par>
                              <p:par>
                                <p:cTn id="94" presetID="10" presetClass="entr" presetSubtype="0" fill="hold" nodeType="withEffect">
                                  <p:stCondLst>
                                    <p:cond delay="168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450"/>
                                        <p:tgtEl>
                                          <p:spTgt spid="38"/>
                                        </p:tgtEl>
                                      </p:cBhvr>
                                    </p:animEffect>
                                  </p:childTnLst>
                                </p:cTn>
                              </p:par>
                              <p:par>
                                <p:cTn id="97" presetID="10" presetClass="entr" presetSubtype="0" fill="hold" nodeType="withEffect">
                                  <p:stCondLst>
                                    <p:cond delay="168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50"/>
                                        <p:tgtEl>
                                          <p:spTgt spid="39"/>
                                        </p:tgtEl>
                                      </p:cBhvr>
                                    </p:animEffect>
                                  </p:childTnLst>
                                </p:cTn>
                              </p:par>
                              <p:par>
                                <p:cTn id="100" presetID="10" presetClass="entr" presetSubtype="0" fill="hold" nodeType="withEffect">
                                  <p:stCondLst>
                                    <p:cond delay="168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01 ▸ MISSION</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Le contexte</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03/12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594360" cy="100584"/>
          </a:xfrm>
          <a:prstGeom prst="roundRect">
            <a:avLst>
              <a:gd name="adj" fmla="val 45455"/>
            </a:avLst>
          </a:prstGeom>
          <a:solidFill>
            <a:srgbClr val="00E5FF"/>
          </a:solidFill>
          <a:ln/>
        </p:spPr>
      </p:sp>
      <p:sp>
        <p:nvSpPr>
          <p:cNvPr id="10" name="role"/>
          <p:cNvSpPr/>
          <p:nvPr/>
        </p:nvSpPr>
        <p:spPr>
          <a:xfrm>
            <a:off x="548640" y="1874520"/>
            <a:ext cx="3063240" cy="411480"/>
          </a:xfrm>
          <a:prstGeom prst="roundRect">
            <a:avLst>
              <a:gd name="adj" fmla="val 17778"/>
            </a:avLst>
          </a:prstGeom>
          <a:solidFill>
            <a:srgbClr val="1E1B3D"/>
          </a:solidFill>
          <a:ln w="12700">
            <a:solidFill>
              <a:srgbClr val="FF2E88"/>
            </a:solidFill>
            <a:prstDash val="solid"/>
          </a:ln>
        </p:spPr>
      </p:sp>
      <p:sp>
        <p:nvSpPr>
          <p:cNvPr id="11" name="roleT"/>
          <p:cNvSpPr txBox="1"/>
          <p:nvPr/>
        </p:nvSpPr>
        <p:spPr>
          <a:xfrm>
            <a:off x="548640" y="1874520"/>
            <a:ext cx="3063240" cy="411480"/>
          </a:xfrm>
          <a:prstGeom prst="rect">
            <a:avLst/>
          </a:prstGeom>
          <a:noFill/>
          <a:ln/>
        </p:spPr>
        <p:txBody>
          <a:bodyPr wrap="square" lIns="0" tIns="0" rIns="0" bIns="0" rtlCol="0" anchor="ctr"/>
          <a:lstStyle/>
          <a:p>
            <a:pPr algn="ctr" indent="0" marL="0">
              <a:buNone/>
            </a:pPr>
            <a:r>
              <a:rPr lang="en-US" sz="1300" b="1" dirty="0">
                <a:solidFill>
                  <a:srgbClr val="FF2E88"/>
                </a:solidFill>
                <a:latin typeface="Courier New" pitchFamily="34" charset="0"/>
                <a:ea typeface="Courier New" pitchFamily="34" charset="-122"/>
                <a:cs typeface="Courier New" pitchFamily="34" charset="-120"/>
              </a:rPr>
              <a:t>RÔLE : DATA ANALYST GAMING</a:t>
            </a:r>
            <a:endParaRPr lang="en-US" sz="1300" dirty="0"/>
          </a:p>
        </p:txBody>
      </p:sp>
      <p:sp>
        <p:nvSpPr>
          <p:cNvPr id="12" name="Text 9"/>
          <p:cNvSpPr txBox="1"/>
          <p:nvPr/>
        </p:nvSpPr>
        <p:spPr>
          <a:xfrm>
            <a:off x="548640" y="2514600"/>
            <a:ext cx="5394960" cy="1463040"/>
          </a:xfrm>
          <a:prstGeom prst="rect">
            <a:avLst/>
          </a:prstGeom>
          <a:noFill/>
          <a:ln/>
        </p:spPr>
        <p:txBody>
          <a:bodyPr wrap="square" lIns="0" tIns="0" rIns="0" bIns="0" rtlCol="0" anchor="ctr"/>
          <a:lstStyle/>
          <a:p>
            <a:pPr indent="0" marL="0">
              <a:buNone/>
            </a:pPr>
            <a:r>
              <a:rPr lang="en-US" sz="3400" b="1" dirty="0">
                <a:solidFill>
                  <a:srgbClr val="F4F2FF"/>
                </a:solidFill>
                <a:latin typeface="Arial" pitchFamily="34" charset="0"/>
                <a:ea typeface="Arial" pitchFamily="34" charset="-122"/>
                <a:cs typeface="Arial" pitchFamily="34" charset="-120"/>
              </a:rPr>
              <a:t>Qu'est-ce qui fait </a:t>
            </a:r>
            <a:pPr indent="0" marL="0">
              <a:buNone/>
            </a:pPr>
            <a:r>
              <a:rPr lang="en-US" sz="3400" b="1" dirty="0">
                <a:solidFill>
                  <a:srgbClr val="FF2E88"/>
                </a:solidFill>
                <a:latin typeface="Arial" pitchFamily="34" charset="0"/>
                <a:ea typeface="Arial" pitchFamily="34" charset="-122"/>
                <a:cs typeface="Arial" pitchFamily="34" charset="-120"/>
              </a:rPr>
              <a:t>vendre</a:t>
            </a:r>
            <a:pPr indent="0" marL="0">
              <a:buNone/>
            </a:pPr>
            <a:r>
              <a:rPr lang="en-US" sz="3400" b="1" dirty="0">
                <a:solidFill>
                  <a:srgbClr val="F4F2FF"/>
                </a:solidFill>
                <a:latin typeface="Arial" pitchFamily="34" charset="0"/>
                <a:ea typeface="Arial" pitchFamily="34" charset="-122"/>
                <a:cs typeface="Arial" pitchFamily="34" charset="-120"/>
              </a:rPr>
              <a:t> un jeu vidéo ?</a:t>
            </a:r>
            <a:endParaRPr lang="en-US" sz="3400" dirty="0"/>
          </a:p>
        </p:txBody>
      </p:sp>
      <p:sp>
        <p:nvSpPr>
          <p:cNvPr id="13" name="Text 10"/>
          <p:cNvSpPr txBox="1"/>
          <p:nvPr/>
        </p:nvSpPr>
        <p:spPr>
          <a:xfrm>
            <a:off x="548640" y="4114800"/>
            <a:ext cx="5120640" cy="822960"/>
          </a:xfrm>
          <a:prstGeom prst="rect">
            <a:avLst/>
          </a:prstGeom>
          <a:noFill/>
          <a:ln/>
        </p:spPr>
        <p:txBody>
          <a:bodyPr wrap="square" lIns="0" tIns="0" rIns="0" bIns="0" rtlCol="0" anchor="t"/>
          <a:lstStyle/>
          <a:p>
            <a:pPr indent="0" marL="0">
              <a:buNone/>
            </a:pPr>
            <a:r>
              <a:rPr lang="en-US" sz="1700" dirty="0">
                <a:solidFill>
                  <a:srgbClr val="A9A5D1"/>
                </a:solidFill>
                <a:latin typeface="Arial" pitchFamily="34" charset="0"/>
                <a:ea typeface="Arial" pitchFamily="34" charset="-122"/>
                <a:cs typeface="Arial" pitchFamily="34" charset="-120"/>
              </a:rPr>
              <a:t>Nettoyer les ventes mondiales de jeux, explorer les tendances et en tirer des insights métier.</a:t>
            </a:r>
            <a:endParaRPr lang="en-US" sz="1700" dirty="0"/>
          </a:p>
        </p:txBody>
      </p:sp>
      <p:sp>
        <p:nvSpPr>
          <p:cNvPr id="14" name="Text 11"/>
          <p:cNvSpPr txBox="1"/>
          <p:nvPr/>
        </p:nvSpPr>
        <p:spPr>
          <a:xfrm>
            <a:off x="548640" y="5166360"/>
            <a:ext cx="5120640" cy="548640"/>
          </a:xfrm>
          <a:prstGeom prst="rect">
            <a:avLst/>
          </a:prstGeom>
          <a:noFill/>
          <a:ln/>
        </p:spPr>
        <p:txBody>
          <a:bodyPr wrap="square" lIns="0" tIns="0" rIns="0" bIns="0" rtlCol="0" anchor="t"/>
          <a:lstStyle/>
          <a:p>
            <a:pPr indent="0" marL="0">
              <a:buNone/>
            </a:pPr>
            <a:r>
              <a:rPr lang="en-US" sz="1200" dirty="0">
                <a:solidFill>
                  <a:srgbClr val="6E6A9E"/>
                </a:solidFill>
                <a:latin typeface="Arial" pitchFamily="34" charset="0"/>
                <a:ea typeface="Arial" pitchFamily="34" charset="-122"/>
                <a:cs typeface="Arial" pitchFamily="34" charset="-120"/>
              </a:rPr>
              <a:t>Source : VGChartz · ventes en millions d'exemplaires · Amérique du Nord, Europe, Japon, reste du monde</a:t>
            </a:r>
            <a:endParaRPr lang="en-US" sz="1200" dirty="0"/>
          </a:p>
        </p:txBody>
      </p:sp>
      <p:sp>
        <p:nvSpPr>
          <p:cNvPr id="15" name="anim01_c"/>
          <p:cNvSpPr/>
          <p:nvPr/>
        </p:nvSpPr>
        <p:spPr>
          <a:xfrm>
            <a:off x="6446520" y="1874520"/>
            <a:ext cx="2496312" cy="1828800"/>
          </a:xfrm>
          <a:prstGeom prst="roundRect">
            <a:avLst>
              <a:gd name="adj" fmla="val 6000"/>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6" name="anim01_b"/>
          <p:cNvSpPr txBox="1"/>
          <p:nvPr/>
        </p:nvSpPr>
        <p:spPr>
          <a:xfrm>
            <a:off x="6675120" y="2148840"/>
            <a:ext cx="2103120" cy="777240"/>
          </a:xfrm>
          <a:prstGeom prst="rect">
            <a:avLst/>
          </a:prstGeom>
          <a:noFill/>
          <a:ln/>
        </p:spPr>
        <p:txBody>
          <a:bodyPr wrap="square" lIns="0" tIns="0" rIns="0" bIns="0" rtlCol="0" anchor="b"/>
          <a:lstStyle/>
          <a:p>
            <a:pPr indent="0" marL="0">
              <a:buNone/>
            </a:pPr>
            <a:r>
              <a:rPr lang="en-US" sz="4000" b="1" dirty="0">
                <a:solidFill>
                  <a:srgbClr val="00E5FF"/>
                </a:solidFill>
                <a:latin typeface="Arial" pitchFamily="34" charset="0"/>
                <a:ea typeface="Arial" pitchFamily="34" charset="-122"/>
                <a:cs typeface="Arial" pitchFamily="34" charset="-120"/>
              </a:rPr>
              <a:t>16 598</a:t>
            </a:r>
            <a:endParaRPr lang="en-US" sz="4000" dirty="0"/>
          </a:p>
        </p:txBody>
      </p:sp>
      <p:sp>
        <p:nvSpPr>
          <p:cNvPr id="17" name="anim01_l"/>
          <p:cNvSpPr txBox="1"/>
          <p:nvPr/>
        </p:nvSpPr>
        <p:spPr>
          <a:xfrm>
            <a:off x="6675120" y="2990088"/>
            <a:ext cx="2103120" cy="54864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jeux dans le fichier</a:t>
            </a:r>
            <a:endParaRPr lang="en-US" sz="1400" dirty="0"/>
          </a:p>
        </p:txBody>
      </p:sp>
      <p:sp>
        <p:nvSpPr>
          <p:cNvPr id="18" name="anim02_c"/>
          <p:cNvSpPr/>
          <p:nvPr/>
        </p:nvSpPr>
        <p:spPr>
          <a:xfrm>
            <a:off x="9144000" y="1874520"/>
            <a:ext cx="2496312" cy="1828800"/>
          </a:xfrm>
          <a:prstGeom prst="roundRect">
            <a:avLst>
              <a:gd name="adj" fmla="val 6000"/>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9" name="anim02_b"/>
          <p:cNvSpPr txBox="1"/>
          <p:nvPr/>
        </p:nvSpPr>
        <p:spPr>
          <a:xfrm>
            <a:off x="9372600" y="2148840"/>
            <a:ext cx="2103120" cy="777240"/>
          </a:xfrm>
          <a:prstGeom prst="rect">
            <a:avLst/>
          </a:prstGeom>
          <a:noFill/>
          <a:ln/>
        </p:spPr>
        <p:txBody>
          <a:bodyPr wrap="square" lIns="0" tIns="0" rIns="0" bIns="0" rtlCol="0" anchor="b"/>
          <a:lstStyle/>
          <a:p>
            <a:pPr indent="0" marL="0">
              <a:buNone/>
            </a:pPr>
            <a:r>
              <a:rPr lang="en-US" sz="4000" b="1" dirty="0">
                <a:solidFill>
                  <a:srgbClr val="FF2E88"/>
                </a:solidFill>
                <a:latin typeface="Arial" pitchFamily="34" charset="0"/>
                <a:ea typeface="Arial" pitchFamily="34" charset="-122"/>
                <a:cs typeface="Arial" pitchFamily="34" charset="-120"/>
              </a:rPr>
              <a:t>37 ans</a:t>
            </a:r>
            <a:endParaRPr lang="en-US" sz="4000" dirty="0"/>
          </a:p>
        </p:txBody>
      </p:sp>
      <p:sp>
        <p:nvSpPr>
          <p:cNvPr id="20" name="anim02_l"/>
          <p:cNvSpPr txBox="1"/>
          <p:nvPr/>
        </p:nvSpPr>
        <p:spPr>
          <a:xfrm>
            <a:off x="9372600" y="2990088"/>
            <a:ext cx="2103120" cy="54864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de 1980 à 2016</a:t>
            </a:r>
            <a:endParaRPr lang="en-US" sz="1400" dirty="0"/>
          </a:p>
        </p:txBody>
      </p:sp>
      <p:sp>
        <p:nvSpPr>
          <p:cNvPr id="21" name="anim03_c"/>
          <p:cNvSpPr/>
          <p:nvPr/>
        </p:nvSpPr>
        <p:spPr>
          <a:xfrm>
            <a:off x="6446520" y="3931920"/>
            <a:ext cx="2496312" cy="1828800"/>
          </a:xfrm>
          <a:prstGeom prst="roundRect">
            <a:avLst>
              <a:gd name="adj" fmla="val 6000"/>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22" name="anim03_b"/>
          <p:cNvSpPr txBox="1"/>
          <p:nvPr/>
        </p:nvSpPr>
        <p:spPr>
          <a:xfrm>
            <a:off x="6675120" y="4206240"/>
            <a:ext cx="2103120" cy="777240"/>
          </a:xfrm>
          <a:prstGeom prst="rect">
            <a:avLst/>
          </a:prstGeom>
          <a:noFill/>
          <a:ln/>
        </p:spPr>
        <p:txBody>
          <a:bodyPr wrap="square" lIns="0" tIns="0" rIns="0" bIns="0" rtlCol="0" anchor="b"/>
          <a:lstStyle/>
          <a:p>
            <a:pPr indent="0" marL="0">
              <a:buNone/>
            </a:pPr>
            <a:r>
              <a:rPr lang="en-US" sz="4000" b="1" dirty="0">
                <a:solidFill>
                  <a:srgbClr val="FFD23F"/>
                </a:solidFill>
                <a:latin typeface="Arial" pitchFamily="34" charset="0"/>
                <a:ea typeface="Arial" pitchFamily="34" charset="-122"/>
                <a:cs typeface="Arial" pitchFamily="34" charset="-120"/>
              </a:rPr>
              <a:t>31</a:t>
            </a:r>
            <a:endParaRPr lang="en-US" sz="4000" dirty="0"/>
          </a:p>
        </p:txBody>
      </p:sp>
      <p:sp>
        <p:nvSpPr>
          <p:cNvPr id="23" name="anim03_l"/>
          <p:cNvSpPr txBox="1"/>
          <p:nvPr/>
        </p:nvSpPr>
        <p:spPr>
          <a:xfrm>
            <a:off x="6675120" y="5047488"/>
            <a:ext cx="2103120" cy="54864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plateformes, de l'Atari 2600 à la PS4</a:t>
            </a:r>
            <a:endParaRPr lang="en-US" sz="1400" dirty="0"/>
          </a:p>
        </p:txBody>
      </p:sp>
      <p:sp>
        <p:nvSpPr>
          <p:cNvPr id="24" name="anim04_c"/>
          <p:cNvSpPr/>
          <p:nvPr/>
        </p:nvSpPr>
        <p:spPr>
          <a:xfrm>
            <a:off x="9144000" y="3931920"/>
            <a:ext cx="2496312" cy="1828800"/>
          </a:xfrm>
          <a:prstGeom prst="roundRect">
            <a:avLst>
              <a:gd name="adj" fmla="val 6000"/>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25" name="anim04_b"/>
          <p:cNvSpPr txBox="1"/>
          <p:nvPr/>
        </p:nvSpPr>
        <p:spPr>
          <a:xfrm>
            <a:off x="9372600" y="4206240"/>
            <a:ext cx="2103120" cy="777240"/>
          </a:xfrm>
          <a:prstGeom prst="rect">
            <a:avLst/>
          </a:prstGeom>
          <a:noFill/>
          <a:ln/>
        </p:spPr>
        <p:txBody>
          <a:bodyPr wrap="square" lIns="0" tIns="0" rIns="0" bIns="0" rtlCol="0" anchor="b"/>
          <a:lstStyle/>
          <a:p>
            <a:pPr indent="0" marL="0">
              <a:buNone/>
            </a:pPr>
            <a:r>
              <a:rPr lang="en-US" sz="4000" b="1" dirty="0">
                <a:solidFill>
                  <a:srgbClr val="7CFF6B"/>
                </a:solidFill>
                <a:latin typeface="Arial" pitchFamily="34" charset="0"/>
                <a:ea typeface="Arial" pitchFamily="34" charset="-122"/>
                <a:cs typeface="Arial" pitchFamily="34" charset="-120"/>
              </a:rPr>
              <a:t>8,9 Md</a:t>
            </a:r>
            <a:endParaRPr lang="en-US" sz="4000" dirty="0"/>
          </a:p>
        </p:txBody>
      </p:sp>
      <p:sp>
        <p:nvSpPr>
          <p:cNvPr id="26" name="anim04_l"/>
          <p:cNvSpPr txBox="1"/>
          <p:nvPr/>
        </p:nvSpPr>
        <p:spPr>
          <a:xfrm>
            <a:off x="9372600" y="5047488"/>
            <a:ext cx="2103120" cy="54864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d'exemplaires vendus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5"/>
                                        </p:tgtEl>
                                        <p:attrNameLst>
                                          <p:attrName>style.visibility</p:attrName>
                                        </p:attrNameLst>
                                      </p:cBhvr>
                                      <p:to>
                                        <p:strVal val="visible"/>
                                      </p:to>
                                    </p:set>
                                    <p:animEffect transition="in" filter="fade">
                                      <p:cBhvr>
                                        <p:cTn id="6" dur="450"/>
                                        <p:tgtEl>
                                          <p:spTgt spid="15"/>
                                        </p:tgtEl>
                                      </p:cBhvr>
                                    </p:animEffect>
                                  </p:childTnLst>
                                </p:cTn>
                              </p:par>
                              <p:par>
                                <p:cTn id="7" presetID="10"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450"/>
                                        <p:tgtEl>
                                          <p:spTgt spid="16"/>
                                        </p:tgtEl>
                                      </p:cBhvr>
                                    </p:animEffect>
                                  </p:childTnLst>
                                </p:cTn>
                              </p:par>
                              <p:par>
                                <p:cTn id="10" presetID="10"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50"/>
                                        <p:tgtEl>
                                          <p:spTgt spid="17"/>
                                        </p:tgtEl>
                                      </p:cBhvr>
                                    </p:animEffect>
                                  </p:childTnLst>
                                </p:cTn>
                              </p:par>
                              <p:par>
                                <p:cTn id="13" presetID="10" presetClass="entr" presetSubtype="0" fill="hold" nodeType="withEffect">
                                  <p:stCondLst>
                                    <p:cond delay="28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50"/>
                                        <p:tgtEl>
                                          <p:spTgt spid="18"/>
                                        </p:tgtEl>
                                      </p:cBhvr>
                                    </p:animEffect>
                                  </p:childTnLst>
                                </p:cTn>
                              </p:par>
                              <p:par>
                                <p:cTn id="16" presetID="10" presetClass="entr" presetSubtype="0" fill="hold" nodeType="withEffect">
                                  <p:stCondLst>
                                    <p:cond delay="28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50"/>
                                        <p:tgtEl>
                                          <p:spTgt spid="19"/>
                                        </p:tgtEl>
                                      </p:cBhvr>
                                    </p:animEffect>
                                  </p:childTnLst>
                                </p:cTn>
                              </p:par>
                              <p:par>
                                <p:cTn id="19" presetID="10" presetClass="entr" presetSubtype="0" fill="hold" nodeType="withEffect">
                                  <p:stCondLst>
                                    <p:cond delay="28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450"/>
                                        <p:tgtEl>
                                          <p:spTgt spid="20"/>
                                        </p:tgtEl>
                                      </p:cBhvr>
                                    </p:animEffect>
                                  </p:childTnLst>
                                </p:cTn>
                              </p:par>
                              <p:par>
                                <p:cTn id="22" presetID="10" presetClass="entr" presetSubtype="0" fill="hold" nodeType="withEffect">
                                  <p:stCondLst>
                                    <p:cond delay="56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50"/>
                                        <p:tgtEl>
                                          <p:spTgt spid="21"/>
                                        </p:tgtEl>
                                      </p:cBhvr>
                                    </p:animEffect>
                                  </p:childTnLst>
                                </p:cTn>
                              </p:par>
                              <p:par>
                                <p:cTn id="25" presetID="10" presetClass="entr" presetSubtype="0" fill="hold" nodeType="withEffect">
                                  <p:stCondLst>
                                    <p:cond delay="56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50"/>
                                        <p:tgtEl>
                                          <p:spTgt spid="22"/>
                                        </p:tgtEl>
                                      </p:cBhvr>
                                    </p:animEffect>
                                  </p:childTnLst>
                                </p:cTn>
                              </p:par>
                              <p:par>
                                <p:cTn id="28" presetID="10" presetClass="entr" presetSubtype="0" fill="hold" nodeType="withEffect">
                                  <p:stCondLst>
                                    <p:cond delay="56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450"/>
                                        <p:tgtEl>
                                          <p:spTgt spid="23"/>
                                        </p:tgtEl>
                                      </p:cBhvr>
                                    </p:animEffect>
                                  </p:childTnLst>
                                </p:cTn>
                              </p:par>
                              <p:par>
                                <p:cTn id="31" presetID="10" presetClass="entr" presetSubtype="0" fill="hold" nodeType="withEffect">
                                  <p:stCondLst>
                                    <p:cond delay="84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450"/>
                                        <p:tgtEl>
                                          <p:spTgt spid="24"/>
                                        </p:tgtEl>
                                      </p:cBhvr>
                                    </p:animEffect>
                                  </p:childTnLst>
                                </p:cTn>
                              </p:par>
                              <p:par>
                                <p:cTn id="34" presetID="10" presetClass="entr" presetSubtype="0" fill="hold" nodeType="withEffect">
                                  <p:stCondLst>
                                    <p:cond delay="84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450"/>
                                        <p:tgtEl>
                                          <p:spTgt spid="25"/>
                                        </p:tgtEl>
                                      </p:cBhvr>
                                    </p:animEffect>
                                  </p:childTnLst>
                                </p:cTn>
                              </p:par>
                              <p:par>
                                <p:cTn id="37" presetID="10" presetClass="entr" presetSubtype="0" fill="hold" nodeType="withEffect">
                                  <p:stCondLst>
                                    <p:cond delay="84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02 ▸ PIPELINE</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Du fichier brut à l'appli interactive</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04/12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792480" cy="100584"/>
          </a:xfrm>
          <a:prstGeom prst="roundRect">
            <a:avLst>
              <a:gd name="adj" fmla="val 45455"/>
            </a:avLst>
          </a:prstGeom>
          <a:solidFill>
            <a:srgbClr val="00E5FF"/>
          </a:solidFill>
          <a:ln/>
        </p:spPr>
      </p:sp>
      <p:sp>
        <p:nvSpPr>
          <p:cNvPr id="10" name="anim01_c"/>
          <p:cNvSpPr/>
          <p:nvPr/>
        </p:nvSpPr>
        <p:spPr>
          <a:xfrm>
            <a:off x="548640" y="1920240"/>
            <a:ext cx="1874520" cy="2514600"/>
          </a:xfrm>
          <a:prstGeom prst="roundRect">
            <a:avLst>
              <a:gd name="adj" fmla="val 5854"/>
            </a:avLst>
          </a:prstGeom>
          <a:solidFill>
            <a:srgbClr val="16142F"/>
          </a:solidFill>
          <a:ln w="19050">
            <a:solidFill>
              <a:srgbClr val="A9A5D1"/>
            </a:solidFill>
            <a:prstDash val="solid"/>
          </a:ln>
          <a:effectLst>
            <a:outerShdw sx="100000" sy="100000" kx="0" ky="0" algn="bl" rotWithShape="0" blurRad="152400" dist="38100" dir="5400000">
              <a:srgbClr val="000000">
                <a:alpha val="45000"/>
              </a:srgbClr>
            </a:outerShdw>
          </a:effectLst>
        </p:spPr>
      </p:sp>
      <p:sp>
        <p:nvSpPr>
          <p:cNvPr id="11" name="anim01_n"/>
          <p:cNvSpPr txBox="1"/>
          <p:nvPr/>
        </p:nvSpPr>
        <p:spPr>
          <a:xfrm>
            <a:off x="731520" y="2103120"/>
            <a:ext cx="548640" cy="274320"/>
          </a:xfrm>
          <a:prstGeom prst="rect">
            <a:avLst/>
          </a:prstGeom>
          <a:noFill/>
          <a:ln/>
        </p:spPr>
        <p:txBody>
          <a:bodyPr wrap="square" lIns="0" tIns="0" rIns="0" bIns="0" rtlCol="0" anchor="t"/>
          <a:lstStyle/>
          <a:p>
            <a:pPr indent="0" marL="0">
              <a:buNone/>
            </a:pPr>
            <a:r>
              <a:rPr lang="en-US" sz="1300" b="1" dirty="0">
                <a:solidFill>
                  <a:srgbClr val="A9A5D1"/>
                </a:solidFill>
                <a:latin typeface="Courier New" pitchFamily="34" charset="0"/>
                <a:ea typeface="Courier New" pitchFamily="34" charset="-122"/>
                <a:cs typeface="Courier New" pitchFamily="34" charset="-120"/>
              </a:rPr>
              <a:t>01</a:t>
            </a:r>
            <a:endParaRPr lang="en-US" sz="1300" dirty="0"/>
          </a:p>
        </p:txBody>
      </p:sp>
      <p:pic>
        <p:nvPicPr>
          <p:cNvPr id="12" name="anim01_i" descr="preencoded.png">    </p:cNvPr>
          <p:cNvPicPr>
            <a:picLocks noChangeAspect="1"/>
          </p:cNvPicPr>
          <p:nvPr/>
        </p:nvPicPr>
        <p:blipFill>
          <a:blip r:embed="rId2"/>
          <a:stretch>
            <a:fillRect/>
          </a:stretch>
        </p:blipFill>
        <p:spPr>
          <a:xfrm>
            <a:off x="1143000" y="2423160"/>
            <a:ext cx="685800" cy="685800"/>
          </a:xfrm>
          <a:prstGeom prst="rect">
            <a:avLst/>
          </a:prstGeom>
        </p:spPr>
      </p:pic>
      <p:sp>
        <p:nvSpPr>
          <p:cNvPr id="13" name="anim01_t"/>
          <p:cNvSpPr txBox="1"/>
          <p:nvPr/>
        </p:nvSpPr>
        <p:spPr>
          <a:xfrm>
            <a:off x="640080" y="3246120"/>
            <a:ext cx="1691640" cy="365760"/>
          </a:xfrm>
          <a:prstGeom prst="rect">
            <a:avLst/>
          </a:prstGeom>
          <a:noFill/>
          <a:ln/>
        </p:spPr>
        <p:txBody>
          <a:bodyPr wrap="square" lIns="0" tIns="0" rIns="0" bIns="0" rtlCol="0" anchor="t"/>
          <a:lstStyle/>
          <a:p>
            <a:pPr algn="ctr" indent="0" marL="0">
              <a:buNone/>
            </a:pPr>
            <a:r>
              <a:rPr lang="en-US" sz="1600" b="1" dirty="0">
                <a:solidFill>
                  <a:srgbClr val="F4F2FF"/>
                </a:solidFill>
                <a:latin typeface="Arial" pitchFamily="34" charset="0"/>
                <a:ea typeface="Arial" pitchFamily="34" charset="-122"/>
                <a:cs typeface="Arial" pitchFamily="34" charset="-120"/>
              </a:rPr>
              <a:t>Données brutes</a:t>
            </a:r>
            <a:endParaRPr lang="en-US" sz="1600" dirty="0"/>
          </a:p>
        </p:txBody>
      </p:sp>
      <p:sp>
        <p:nvSpPr>
          <p:cNvPr id="14" name="anim01_f"/>
          <p:cNvSpPr txBox="1"/>
          <p:nvPr/>
        </p:nvSpPr>
        <p:spPr>
          <a:xfrm>
            <a:off x="594360" y="3639312"/>
            <a:ext cx="1783080" cy="274320"/>
          </a:xfrm>
          <a:prstGeom prst="rect">
            <a:avLst/>
          </a:prstGeom>
          <a:noFill/>
          <a:ln/>
        </p:spPr>
        <p:txBody>
          <a:bodyPr wrap="square" lIns="0" tIns="0" rIns="0" bIns="0" rtlCol="0" anchor="t"/>
          <a:lstStyle/>
          <a:p>
            <a:pPr algn="ctr" indent="0" marL="0">
              <a:buNone/>
            </a:pPr>
            <a:r>
              <a:rPr lang="en-US" sz="1100" dirty="0">
                <a:solidFill>
                  <a:srgbClr val="A9A5D1"/>
                </a:solidFill>
                <a:latin typeface="Courier New" pitchFamily="34" charset="0"/>
                <a:ea typeface="Courier New" pitchFamily="34" charset="-122"/>
                <a:cs typeface="Courier New" pitchFamily="34" charset="-120"/>
              </a:rPr>
              <a:t>vgsales.csv</a:t>
            </a:r>
            <a:endParaRPr lang="en-US" sz="1100" dirty="0"/>
          </a:p>
        </p:txBody>
      </p:sp>
      <p:sp>
        <p:nvSpPr>
          <p:cNvPr id="15" name="anim01_d"/>
          <p:cNvSpPr txBox="1"/>
          <p:nvPr/>
        </p:nvSpPr>
        <p:spPr>
          <a:xfrm>
            <a:off x="640080" y="3931920"/>
            <a:ext cx="1691640" cy="32004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16 598 lignes</a:t>
            </a:r>
            <a:endParaRPr lang="en-US" sz="1300" dirty="0"/>
          </a:p>
        </p:txBody>
      </p:sp>
      <p:sp>
        <p:nvSpPr>
          <p:cNvPr id="16" name="anim02_arrow"/>
          <p:cNvSpPr/>
          <p:nvPr/>
        </p:nvSpPr>
        <p:spPr>
          <a:xfrm>
            <a:off x="2487168" y="3177540"/>
            <a:ext cx="302438" cy="0"/>
          </a:xfrm>
          <a:prstGeom prst="line">
            <a:avLst/>
          </a:prstGeom>
          <a:noFill/>
          <a:ln w="25400">
            <a:solidFill>
              <a:srgbClr val="6E6A9E"/>
            </a:solidFill>
            <a:prstDash val="solid"/>
            <a:tailEnd type="triangle"/>
          </a:ln>
        </p:spPr>
      </p:sp>
      <p:sp>
        <p:nvSpPr>
          <p:cNvPr id="17" name="anim02_c"/>
          <p:cNvSpPr/>
          <p:nvPr/>
        </p:nvSpPr>
        <p:spPr>
          <a:xfrm>
            <a:off x="2853614" y="1920240"/>
            <a:ext cx="1874520" cy="2514600"/>
          </a:xfrm>
          <a:prstGeom prst="roundRect">
            <a:avLst>
              <a:gd name="adj" fmla="val 5854"/>
            </a:avLst>
          </a:prstGeom>
          <a:solidFill>
            <a:srgbClr val="16142F"/>
          </a:solidFill>
          <a:ln w="19050">
            <a:solidFill>
              <a:srgbClr val="FF2E88"/>
            </a:solidFill>
            <a:prstDash val="solid"/>
          </a:ln>
          <a:effectLst>
            <a:outerShdw sx="100000" sy="100000" kx="0" ky="0" algn="bl" rotWithShape="0" blurRad="152400" dist="38100" dir="5400000">
              <a:srgbClr val="000000">
                <a:alpha val="45000"/>
              </a:srgbClr>
            </a:outerShdw>
          </a:effectLst>
        </p:spPr>
      </p:sp>
      <p:sp>
        <p:nvSpPr>
          <p:cNvPr id="18" name="anim02_n"/>
          <p:cNvSpPr txBox="1"/>
          <p:nvPr/>
        </p:nvSpPr>
        <p:spPr>
          <a:xfrm>
            <a:off x="3036494" y="2103120"/>
            <a:ext cx="548640" cy="274320"/>
          </a:xfrm>
          <a:prstGeom prst="rect">
            <a:avLst/>
          </a:prstGeom>
          <a:noFill/>
          <a:ln/>
        </p:spPr>
        <p:txBody>
          <a:bodyPr wrap="square" lIns="0" tIns="0" rIns="0" bIns="0" rtlCol="0" anchor="t"/>
          <a:lstStyle/>
          <a:p>
            <a:pPr indent="0" marL="0">
              <a:buNone/>
            </a:pPr>
            <a:r>
              <a:rPr lang="en-US" sz="1300" b="1" dirty="0">
                <a:solidFill>
                  <a:srgbClr val="FF2E88"/>
                </a:solidFill>
                <a:latin typeface="Courier New" pitchFamily="34" charset="0"/>
                <a:ea typeface="Courier New" pitchFamily="34" charset="-122"/>
                <a:cs typeface="Courier New" pitchFamily="34" charset="-120"/>
              </a:rPr>
              <a:t>02</a:t>
            </a:r>
            <a:endParaRPr lang="en-US" sz="1300" dirty="0"/>
          </a:p>
        </p:txBody>
      </p:sp>
      <p:pic>
        <p:nvPicPr>
          <p:cNvPr id="19" name="anim02_i" descr="preencoded.png">    </p:cNvPr>
          <p:cNvPicPr>
            <a:picLocks noChangeAspect="1"/>
          </p:cNvPicPr>
          <p:nvPr/>
        </p:nvPicPr>
        <p:blipFill>
          <a:blip r:embed="rId3"/>
          <a:stretch>
            <a:fillRect/>
          </a:stretch>
        </p:blipFill>
        <p:spPr>
          <a:xfrm>
            <a:off x="3447974" y="2423160"/>
            <a:ext cx="685800" cy="685800"/>
          </a:xfrm>
          <a:prstGeom prst="rect">
            <a:avLst/>
          </a:prstGeom>
        </p:spPr>
      </p:pic>
      <p:sp>
        <p:nvSpPr>
          <p:cNvPr id="20" name="anim02_t"/>
          <p:cNvSpPr txBox="1"/>
          <p:nvPr/>
        </p:nvSpPr>
        <p:spPr>
          <a:xfrm>
            <a:off x="2945054" y="3246120"/>
            <a:ext cx="1691640" cy="365760"/>
          </a:xfrm>
          <a:prstGeom prst="rect">
            <a:avLst/>
          </a:prstGeom>
          <a:noFill/>
          <a:ln/>
        </p:spPr>
        <p:txBody>
          <a:bodyPr wrap="square" lIns="0" tIns="0" rIns="0" bIns="0" rtlCol="0" anchor="t"/>
          <a:lstStyle/>
          <a:p>
            <a:pPr algn="ctr" indent="0" marL="0">
              <a:buNone/>
            </a:pPr>
            <a:r>
              <a:rPr lang="en-US" sz="1600" b="1" dirty="0">
                <a:solidFill>
                  <a:srgbClr val="F4F2FF"/>
                </a:solidFill>
                <a:latin typeface="Arial" pitchFamily="34" charset="0"/>
                <a:ea typeface="Arial" pitchFamily="34" charset="-122"/>
                <a:cs typeface="Arial" pitchFamily="34" charset="-120"/>
              </a:rPr>
              <a:t>Nettoyage</a:t>
            </a:r>
            <a:endParaRPr lang="en-US" sz="1600" dirty="0"/>
          </a:p>
        </p:txBody>
      </p:sp>
      <p:sp>
        <p:nvSpPr>
          <p:cNvPr id="21" name="anim02_f"/>
          <p:cNvSpPr txBox="1"/>
          <p:nvPr/>
        </p:nvSpPr>
        <p:spPr>
          <a:xfrm>
            <a:off x="2899334" y="3639312"/>
            <a:ext cx="1783080" cy="274320"/>
          </a:xfrm>
          <a:prstGeom prst="rect">
            <a:avLst/>
          </a:prstGeom>
          <a:noFill/>
          <a:ln/>
        </p:spPr>
        <p:txBody>
          <a:bodyPr wrap="square" lIns="0" tIns="0" rIns="0" bIns="0" rtlCol="0" anchor="t"/>
          <a:lstStyle/>
          <a:p>
            <a:pPr algn="ctr" indent="0" marL="0">
              <a:buNone/>
            </a:pPr>
            <a:r>
              <a:rPr lang="en-US" sz="1100" dirty="0">
                <a:solidFill>
                  <a:srgbClr val="FF2E88"/>
                </a:solidFill>
                <a:latin typeface="Courier New" pitchFamily="34" charset="0"/>
                <a:ea typeface="Courier New" pitchFamily="34" charset="-122"/>
                <a:cs typeface="Courier New" pitchFamily="34" charset="-120"/>
              </a:rPr>
              <a:t>cleaning.py</a:t>
            </a:r>
            <a:endParaRPr lang="en-US" sz="1100" dirty="0"/>
          </a:p>
        </p:txBody>
      </p:sp>
      <p:sp>
        <p:nvSpPr>
          <p:cNvPr id="22" name="anim02_d"/>
          <p:cNvSpPr txBox="1"/>
          <p:nvPr/>
        </p:nvSpPr>
        <p:spPr>
          <a:xfrm>
            <a:off x="2945054" y="3931920"/>
            <a:ext cx="1691640" cy="32004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règles centralisées</a:t>
            </a:r>
            <a:endParaRPr lang="en-US" sz="1300" dirty="0"/>
          </a:p>
        </p:txBody>
      </p:sp>
      <p:sp>
        <p:nvSpPr>
          <p:cNvPr id="23" name="anim03_arrow"/>
          <p:cNvSpPr/>
          <p:nvPr/>
        </p:nvSpPr>
        <p:spPr>
          <a:xfrm>
            <a:off x="4792142" y="3177540"/>
            <a:ext cx="302438" cy="0"/>
          </a:xfrm>
          <a:prstGeom prst="line">
            <a:avLst/>
          </a:prstGeom>
          <a:noFill/>
          <a:ln w="25400">
            <a:solidFill>
              <a:srgbClr val="6E6A9E"/>
            </a:solidFill>
            <a:prstDash val="solid"/>
            <a:tailEnd type="triangle"/>
          </a:ln>
        </p:spPr>
      </p:sp>
      <p:sp>
        <p:nvSpPr>
          <p:cNvPr id="24" name="anim03_c"/>
          <p:cNvSpPr/>
          <p:nvPr/>
        </p:nvSpPr>
        <p:spPr>
          <a:xfrm>
            <a:off x="5158588" y="1920240"/>
            <a:ext cx="1874520" cy="2514600"/>
          </a:xfrm>
          <a:prstGeom prst="roundRect">
            <a:avLst>
              <a:gd name="adj" fmla="val 585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sp>
        <p:nvSpPr>
          <p:cNvPr id="25" name="anim03_n"/>
          <p:cNvSpPr txBox="1"/>
          <p:nvPr/>
        </p:nvSpPr>
        <p:spPr>
          <a:xfrm>
            <a:off x="5341468" y="2103120"/>
            <a:ext cx="548640" cy="274320"/>
          </a:xfrm>
          <a:prstGeom prst="rect">
            <a:avLst/>
          </a:prstGeom>
          <a:noFill/>
          <a:ln/>
        </p:spPr>
        <p:txBody>
          <a:bodyPr wrap="square" lIns="0" tIns="0" rIns="0" bIns="0" rtlCol="0" anchor="t"/>
          <a:lstStyle/>
          <a:p>
            <a:pPr indent="0" marL="0">
              <a:buNone/>
            </a:pPr>
            <a:r>
              <a:rPr lang="en-US" sz="1300" b="1" dirty="0">
                <a:solidFill>
                  <a:srgbClr val="00E5FF"/>
                </a:solidFill>
                <a:latin typeface="Courier New" pitchFamily="34" charset="0"/>
                <a:ea typeface="Courier New" pitchFamily="34" charset="-122"/>
                <a:cs typeface="Courier New" pitchFamily="34" charset="-120"/>
              </a:rPr>
              <a:t>03</a:t>
            </a:r>
            <a:endParaRPr lang="en-US" sz="1300" dirty="0"/>
          </a:p>
        </p:txBody>
      </p:sp>
      <p:pic>
        <p:nvPicPr>
          <p:cNvPr id="26" name="anim03_i" descr="preencoded.png">    </p:cNvPr>
          <p:cNvPicPr>
            <a:picLocks noChangeAspect="1"/>
          </p:cNvPicPr>
          <p:nvPr/>
        </p:nvPicPr>
        <p:blipFill>
          <a:blip r:embed="rId4"/>
          <a:stretch>
            <a:fillRect/>
          </a:stretch>
        </p:blipFill>
        <p:spPr>
          <a:xfrm>
            <a:off x="5752948" y="2423160"/>
            <a:ext cx="685800" cy="685800"/>
          </a:xfrm>
          <a:prstGeom prst="rect">
            <a:avLst/>
          </a:prstGeom>
        </p:spPr>
      </p:pic>
      <p:sp>
        <p:nvSpPr>
          <p:cNvPr id="27" name="anim03_t"/>
          <p:cNvSpPr txBox="1"/>
          <p:nvPr/>
        </p:nvSpPr>
        <p:spPr>
          <a:xfrm>
            <a:off x="5250028" y="3246120"/>
            <a:ext cx="1691640" cy="365760"/>
          </a:xfrm>
          <a:prstGeom prst="rect">
            <a:avLst/>
          </a:prstGeom>
          <a:noFill/>
          <a:ln/>
        </p:spPr>
        <p:txBody>
          <a:bodyPr wrap="square" lIns="0" tIns="0" rIns="0" bIns="0" rtlCol="0" anchor="t"/>
          <a:lstStyle/>
          <a:p>
            <a:pPr algn="ctr" indent="0" marL="0">
              <a:buNone/>
            </a:pPr>
            <a:r>
              <a:rPr lang="en-US" sz="1600" b="1" dirty="0">
                <a:solidFill>
                  <a:srgbClr val="F4F2FF"/>
                </a:solidFill>
                <a:latin typeface="Arial" pitchFamily="34" charset="0"/>
                <a:ea typeface="Arial" pitchFamily="34" charset="-122"/>
                <a:cs typeface="Arial" pitchFamily="34" charset="-120"/>
              </a:rPr>
              <a:t>Données propres</a:t>
            </a:r>
            <a:endParaRPr lang="en-US" sz="1600" dirty="0"/>
          </a:p>
        </p:txBody>
      </p:sp>
      <p:sp>
        <p:nvSpPr>
          <p:cNvPr id="28" name="anim03_f"/>
          <p:cNvSpPr txBox="1"/>
          <p:nvPr/>
        </p:nvSpPr>
        <p:spPr>
          <a:xfrm>
            <a:off x="5204308" y="3639312"/>
            <a:ext cx="1783080" cy="274320"/>
          </a:xfrm>
          <a:prstGeom prst="rect">
            <a:avLst/>
          </a:prstGeom>
          <a:noFill/>
          <a:ln/>
        </p:spPr>
        <p:txBody>
          <a:bodyPr wrap="square" lIns="0" tIns="0" rIns="0" bIns="0" rtlCol="0" anchor="t"/>
          <a:lstStyle/>
          <a:p>
            <a:pPr algn="ctr" indent="0" marL="0">
              <a:buNone/>
            </a:pPr>
            <a:r>
              <a:rPr lang="en-US" sz="1100" dirty="0">
                <a:solidFill>
                  <a:srgbClr val="00E5FF"/>
                </a:solidFill>
                <a:latin typeface="Courier New" pitchFamily="34" charset="0"/>
                <a:ea typeface="Courier New" pitchFamily="34" charset="-122"/>
                <a:cs typeface="Courier New" pitchFamily="34" charset="-120"/>
              </a:rPr>
              <a:t>vgsales_clean.csv</a:t>
            </a:r>
            <a:endParaRPr lang="en-US" sz="1100" dirty="0"/>
          </a:p>
        </p:txBody>
      </p:sp>
      <p:sp>
        <p:nvSpPr>
          <p:cNvPr id="29" name="anim03_d"/>
          <p:cNvSpPr txBox="1"/>
          <p:nvPr/>
        </p:nvSpPr>
        <p:spPr>
          <a:xfrm>
            <a:off x="5250028" y="3931920"/>
            <a:ext cx="1691640" cy="32004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16 326 jeux</a:t>
            </a:r>
            <a:endParaRPr lang="en-US" sz="1300" dirty="0"/>
          </a:p>
        </p:txBody>
      </p:sp>
      <p:sp>
        <p:nvSpPr>
          <p:cNvPr id="30" name="anim04_arrow"/>
          <p:cNvSpPr/>
          <p:nvPr/>
        </p:nvSpPr>
        <p:spPr>
          <a:xfrm>
            <a:off x="7097116" y="3177540"/>
            <a:ext cx="302438" cy="0"/>
          </a:xfrm>
          <a:prstGeom prst="line">
            <a:avLst/>
          </a:prstGeom>
          <a:noFill/>
          <a:ln w="25400">
            <a:solidFill>
              <a:srgbClr val="6E6A9E"/>
            </a:solidFill>
            <a:prstDash val="solid"/>
            <a:tailEnd type="triangle"/>
          </a:ln>
        </p:spPr>
      </p:sp>
      <p:sp>
        <p:nvSpPr>
          <p:cNvPr id="31" name="anim04_c"/>
          <p:cNvSpPr/>
          <p:nvPr/>
        </p:nvSpPr>
        <p:spPr>
          <a:xfrm>
            <a:off x="7463561" y="1920240"/>
            <a:ext cx="1874520" cy="2514600"/>
          </a:xfrm>
          <a:prstGeom prst="roundRect">
            <a:avLst>
              <a:gd name="adj" fmla="val 5854"/>
            </a:avLst>
          </a:prstGeom>
          <a:solidFill>
            <a:srgbClr val="16142F"/>
          </a:solidFill>
          <a:ln w="19050">
            <a:solidFill>
              <a:srgbClr val="8B5CF6"/>
            </a:solidFill>
            <a:prstDash val="solid"/>
          </a:ln>
          <a:effectLst>
            <a:outerShdw sx="100000" sy="100000" kx="0" ky="0" algn="bl" rotWithShape="0" blurRad="152400" dist="38100" dir="5400000">
              <a:srgbClr val="000000">
                <a:alpha val="45000"/>
              </a:srgbClr>
            </a:outerShdw>
          </a:effectLst>
        </p:spPr>
      </p:sp>
      <p:sp>
        <p:nvSpPr>
          <p:cNvPr id="32" name="anim04_n"/>
          <p:cNvSpPr txBox="1"/>
          <p:nvPr/>
        </p:nvSpPr>
        <p:spPr>
          <a:xfrm>
            <a:off x="7646441" y="2103120"/>
            <a:ext cx="548640" cy="274320"/>
          </a:xfrm>
          <a:prstGeom prst="rect">
            <a:avLst/>
          </a:prstGeom>
          <a:noFill/>
          <a:ln/>
        </p:spPr>
        <p:txBody>
          <a:bodyPr wrap="square" lIns="0" tIns="0" rIns="0" bIns="0" rtlCol="0" anchor="t"/>
          <a:lstStyle/>
          <a:p>
            <a:pPr indent="0" marL="0">
              <a:buNone/>
            </a:pPr>
            <a:r>
              <a:rPr lang="en-US" sz="1300" b="1" dirty="0">
                <a:solidFill>
                  <a:srgbClr val="8B5CF6"/>
                </a:solidFill>
                <a:latin typeface="Courier New" pitchFamily="34" charset="0"/>
                <a:ea typeface="Courier New" pitchFamily="34" charset="-122"/>
                <a:cs typeface="Courier New" pitchFamily="34" charset="-120"/>
              </a:rPr>
              <a:t>04</a:t>
            </a:r>
            <a:endParaRPr lang="en-US" sz="1300" dirty="0"/>
          </a:p>
        </p:txBody>
      </p:sp>
      <p:pic>
        <p:nvPicPr>
          <p:cNvPr id="33" name="anim04_i" descr="preencoded.png">    </p:cNvPr>
          <p:cNvPicPr>
            <a:picLocks noChangeAspect="1"/>
          </p:cNvPicPr>
          <p:nvPr/>
        </p:nvPicPr>
        <p:blipFill>
          <a:blip r:embed="rId5"/>
          <a:stretch>
            <a:fillRect/>
          </a:stretch>
        </p:blipFill>
        <p:spPr>
          <a:xfrm>
            <a:off x="8057921" y="2423160"/>
            <a:ext cx="685800" cy="685800"/>
          </a:xfrm>
          <a:prstGeom prst="rect">
            <a:avLst/>
          </a:prstGeom>
        </p:spPr>
      </p:pic>
      <p:sp>
        <p:nvSpPr>
          <p:cNvPr id="34" name="anim04_t"/>
          <p:cNvSpPr txBox="1"/>
          <p:nvPr/>
        </p:nvSpPr>
        <p:spPr>
          <a:xfrm>
            <a:off x="7555001" y="3246120"/>
            <a:ext cx="1691640" cy="365760"/>
          </a:xfrm>
          <a:prstGeom prst="rect">
            <a:avLst/>
          </a:prstGeom>
          <a:noFill/>
          <a:ln/>
        </p:spPr>
        <p:txBody>
          <a:bodyPr wrap="square" lIns="0" tIns="0" rIns="0" bIns="0" rtlCol="0" anchor="t"/>
          <a:lstStyle/>
          <a:p>
            <a:pPr algn="ctr" indent="0" marL="0">
              <a:buNone/>
            </a:pPr>
            <a:r>
              <a:rPr lang="en-US" sz="1600" b="1" dirty="0">
                <a:solidFill>
                  <a:srgbClr val="F4F2FF"/>
                </a:solidFill>
                <a:latin typeface="Arial" pitchFamily="34" charset="0"/>
                <a:ea typeface="Arial" pitchFamily="34" charset="-122"/>
                <a:cs typeface="Arial" pitchFamily="34" charset="-120"/>
              </a:rPr>
              <a:t>Indicateurs</a:t>
            </a:r>
            <a:endParaRPr lang="en-US" sz="1600" dirty="0"/>
          </a:p>
        </p:txBody>
      </p:sp>
      <p:sp>
        <p:nvSpPr>
          <p:cNvPr id="35" name="anim04_f"/>
          <p:cNvSpPr txBox="1"/>
          <p:nvPr/>
        </p:nvSpPr>
        <p:spPr>
          <a:xfrm>
            <a:off x="7509281" y="3639312"/>
            <a:ext cx="1783080" cy="274320"/>
          </a:xfrm>
          <a:prstGeom prst="rect">
            <a:avLst/>
          </a:prstGeom>
          <a:noFill/>
          <a:ln/>
        </p:spPr>
        <p:txBody>
          <a:bodyPr wrap="square" lIns="0" tIns="0" rIns="0" bIns="0" rtlCol="0" anchor="t"/>
          <a:lstStyle/>
          <a:p>
            <a:pPr algn="ctr" indent="0" marL="0">
              <a:buNone/>
            </a:pPr>
            <a:r>
              <a:rPr lang="en-US" sz="1100" dirty="0">
                <a:solidFill>
                  <a:srgbClr val="8B5CF6"/>
                </a:solidFill>
                <a:latin typeface="Courier New" pitchFamily="34" charset="0"/>
                <a:ea typeface="Courier New" pitchFamily="34" charset="-122"/>
                <a:cs typeface="Courier New" pitchFamily="34" charset="-120"/>
              </a:rPr>
              <a:t>indicators.py</a:t>
            </a:r>
            <a:endParaRPr lang="en-US" sz="1100" dirty="0"/>
          </a:p>
        </p:txBody>
      </p:sp>
      <p:sp>
        <p:nvSpPr>
          <p:cNvPr id="36" name="anim04_d"/>
          <p:cNvSpPr txBox="1"/>
          <p:nvPr/>
        </p:nvSpPr>
        <p:spPr>
          <a:xfrm>
            <a:off x="7555001" y="3931920"/>
            <a:ext cx="1691640" cy="32004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MPI · divergence</a:t>
            </a:r>
            <a:endParaRPr lang="en-US" sz="1300" dirty="0"/>
          </a:p>
        </p:txBody>
      </p:sp>
      <p:sp>
        <p:nvSpPr>
          <p:cNvPr id="37" name="anim05_arrow"/>
          <p:cNvSpPr/>
          <p:nvPr/>
        </p:nvSpPr>
        <p:spPr>
          <a:xfrm>
            <a:off x="9402089" y="3177540"/>
            <a:ext cx="302438" cy="0"/>
          </a:xfrm>
          <a:prstGeom prst="line">
            <a:avLst/>
          </a:prstGeom>
          <a:noFill/>
          <a:ln w="25400">
            <a:solidFill>
              <a:srgbClr val="6E6A9E"/>
            </a:solidFill>
            <a:prstDash val="solid"/>
            <a:tailEnd type="triangle"/>
          </a:ln>
        </p:spPr>
      </p:sp>
      <p:sp>
        <p:nvSpPr>
          <p:cNvPr id="38" name="anim05_c"/>
          <p:cNvSpPr/>
          <p:nvPr/>
        </p:nvSpPr>
        <p:spPr>
          <a:xfrm>
            <a:off x="9768535" y="1920240"/>
            <a:ext cx="1874520" cy="2514600"/>
          </a:xfrm>
          <a:prstGeom prst="roundRect">
            <a:avLst>
              <a:gd name="adj" fmla="val 5854"/>
            </a:avLst>
          </a:prstGeom>
          <a:solidFill>
            <a:srgbClr val="16142F"/>
          </a:solidFill>
          <a:ln w="19050">
            <a:solidFill>
              <a:srgbClr val="FFD23F"/>
            </a:solidFill>
            <a:prstDash val="solid"/>
          </a:ln>
          <a:effectLst>
            <a:outerShdw sx="100000" sy="100000" kx="0" ky="0" algn="bl" rotWithShape="0" blurRad="152400" dist="38100" dir="5400000">
              <a:srgbClr val="000000">
                <a:alpha val="45000"/>
              </a:srgbClr>
            </a:outerShdw>
          </a:effectLst>
        </p:spPr>
      </p:sp>
      <p:sp>
        <p:nvSpPr>
          <p:cNvPr id="39" name="anim05_n"/>
          <p:cNvSpPr txBox="1"/>
          <p:nvPr/>
        </p:nvSpPr>
        <p:spPr>
          <a:xfrm>
            <a:off x="9951415" y="2103120"/>
            <a:ext cx="548640" cy="274320"/>
          </a:xfrm>
          <a:prstGeom prst="rect">
            <a:avLst/>
          </a:prstGeom>
          <a:noFill/>
          <a:ln/>
        </p:spPr>
        <p:txBody>
          <a:bodyPr wrap="square" lIns="0" tIns="0" rIns="0" bIns="0" rtlCol="0" anchor="t"/>
          <a:lstStyle/>
          <a:p>
            <a:pPr indent="0" marL="0">
              <a:buNone/>
            </a:pPr>
            <a:r>
              <a:rPr lang="en-US" sz="1300" b="1" dirty="0">
                <a:solidFill>
                  <a:srgbClr val="FFD23F"/>
                </a:solidFill>
                <a:latin typeface="Courier New" pitchFamily="34" charset="0"/>
                <a:ea typeface="Courier New" pitchFamily="34" charset="-122"/>
                <a:cs typeface="Courier New" pitchFamily="34" charset="-120"/>
              </a:rPr>
              <a:t>05</a:t>
            </a:r>
            <a:endParaRPr lang="en-US" sz="1300" dirty="0"/>
          </a:p>
        </p:txBody>
      </p:sp>
      <p:pic>
        <p:nvPicPr>
          <p:cNvPr id="40" name="anim05_i" descr="preencoded.png">    </p:cNvPr>
          <p:cNvPicPr>
            <a:picLocks noChangeAspect="1"/>
          </p:cNvPicPr>
          <p:nvPr/>
        </p:nvPicPr>
        <p:blipFill>
          <a:blip r:embed="rId6"/>
          <a:stretch>
            <a:fillRect/>
          </a:stretch>
        </p:blipFill>
        <p:spPr>
          <a:xfrm>
            <a:off x="10362895" y="2423160"/>
            <a:ext cx="685800" cy="685800"/>
          </a:xfrm>
          <a:prstGeom prst="rect">
            <a:avLst/>
          </a:prstGeom>
        </p:spPr>
      </p:pic>
      <p:sp>
        <p:nvSpPr>
          <p:cNvPr id="41" name="anim05_t"/>
          <p:cNvSpPr txBox="1"/>
          <p:nvPr/>
        </p:nvSpPr>
        <p:spPr>
          <a:xfrm>
            <a:off x="9859975" y="3246120"/>
            <a:ext cx="1691640" cy="365760"/>
          </a:xfrm>
          <a:prstGeom prst="rect">
            <a:avLst/>
          </a:prstGeom>
          <a:noFill/>
          <a:ln/>
        </p:spPr>
        <p:txBody>
          <a:bodyPr wrap="square" lIns="0" tIns="0" rIns="0" bIns="0" rtlCol="0" anchor="t"/>
          <a:lstStyle/>
          <a:p>
            <a:pPr algn="ctr" indent="0" marL="0">
              <a:buNone/>
            </a:pPr>
            <a:r>
              <a:rPr lang="en-US" sz="1600" b="1" dirty="0">
                <a:solidFill>
                  <a:srgbClr val="F4F2FF"/>
                </a:solidFill>
                <a:latin typeface="Arial" pitchFamily="34" charset="0"/>
                <a:ea typeface="Arial" pitchFamily="34" charset="-122"/>
                <a:cs typeface="Arial" pitchFamily="34" charset="-120"/>
              </a:rPr>
              <a:t>Restitution</a:t>
            </a:r>
            <a:endParaRPr lang="en-US" sz="1600" dirty="0"/>
          </a:p>
        </p:txBody>
      </p:sp>
      <p:sp>
        <p:nvSpPr>
          <p:cNvPr id="42" name="anim05_f"/>
          <p:cNvSpPr txBox="1"/>
          <p:nvPr/>
        </p:nvSpPr>
        <p:spPr>
          <a:xfrm>
            <a:off x="9814255" y="3639312"/>
            <a:ext cx="1783080" cy="274320"/>
          </a:xfrm>
          <a:prstGeom prst="rect">
            <a:avLst/>
          </a:prstGeom>
          <a:noFill/>
          <a:ln/>
        </p:spPr>
        <p:txBody>
          <a:bodyPr wrap="square" lIns="0" tIns="0" rIns="0" bIns="0" rtlCol="0" anchor="t"/>
          <a:lstStyle/>
          <a:p>
            <a:pPr algn="ctr" indent="0" marL="0">
              <a:buNone/>
            </a:pPr>
            <a:r>
              <a:rPr lang="en-US" sz="1100" dirty="0">
                <a:solidFill>
                  <a:srgbClr val="FFD23F"/>
                </a:solidFill>
                <a:latin typeface="Courier New" pitchFamily="34" charset="0"/>
                <a:ea typeface="Courier New" pitchFamily="34" charset="-122"/>
                <a:cs typeface="Courier New" pitchFamily="34" charset="-120"/>
              </a:rPr>
              <a:t>notebook + appli</a:t>
            </a:r>
            <a:endParaRPr lang="en-US" sz="1100" dirty="0"/>
          </a:p>
        </p:txBody>
      </p:sp>
      <p:sp>
        <p:nvSpPr>
          <p:cNvPr id="43" name="anim05_d"/>
          <p:cNvSpPr txBox="1"/>
          <p:nvPr/>
        </p:nvSpPr>
        <p:spPr>
          <a:xfrm>
            <a:off x="9859975" y="3931920"/>
            <a:ext cx="1691640" cy="320040"/>
          </a:xfrm>
          <a:prstGeom prst="rect">
            <a:avLst/>
          </a:prstGeom>
          <a:noFill/>
          <a:ln/>
        </p:spPr>
        <p:txBody>
          <a:bodyPr wrap="square" lIns="0" tIns="0" rIns="0" bIns="0" rtlCol="0" anchor="t"/>
          <a:lstStyle/>
          <a:p>
            <a:pPr algn="ctr" indent="0" marL="0">
              <a:buNone/>
            </a:pPr>
            <a:r>
              <a:rPr lang="en-US" sz="1300" dirty="0">
                <a:solidFill>
                  <a:srgbClr val="A9A5D1"/>
                </a:solidFill>
                <a:latin typeface="Arial" pitchFamily="34" charset="0"/>
                <a:ea typeface="Arial" pitchFamily="34" charset="-122"/>
                <a:cs typeface="Arial" pitchFamily="34" charset="-120"/>
              </a:rPr>
              <a:t>24 figures · 8 pages</a:t>
            </a:r>
            <a:endParaRPr lang="en-US" sz="1300" dirty="0"/>
          </a:p>
        </p:txBody>
      </p:sp>
      <p:sp>
        <p:nvSpPr>
          <p:cNvPr id="44" name="anim06_box"/>
          <p:cNvSpPr/>
          <p:nvPr/>
        </p:nvSpPr>
        <p:spPr>
          <a:xfrm>
            <a:off x="548640" y="4846320"/>
            <a:ext cx="11094415" cy="914400"/>
          </a:xfrm>
          <a:prstGeom prst="roundRect">
            <a:avLst>
              <a:gd name="adj" fmla="val 12000"/>
            </a:avLst>
          </a:prstGeom>
          <a:solidFill>
            <a:srgbClr val="0E2A24"/>
          </a:solidFill>
          <a:ln w="12700">
            <a:solidFill>
              <a:srgbClr val="7CFF6B"/>
            </a:solidFill>
            <a:prstDash val="solid"/>
          </a:ln>
        </p:spPr>
      </p:sp>
      <p:pic>
        <p:nvPicPr>
          <p:cNvPr id="45" name="anim06_ic" descr="preencoded.png">    </p:cNvPr>
          <p:cNvPicPr>
            <a:picLocks noChangeAspect="1"/>
          </p:cNvPicPr>
          <p:nvPr/>
        </p:nvPicPr>
        <p:blipFill>
          <a:blip r:embed="rId7"/>
          <a:stretch>
            <a:fillRect/>
          </a:stretch>
        </p:blipFill>
        <p:spPr>
          <a:xfrm>
            <a:off x="822960" y="5074920"/>
            <a:ext cx="457200" cy="457200"/>
          </a:xfrm>
          <a:prstGeom prst="rect">
            <a:avLst/>
          </a:prstGeom>
        </p:spPr>
      </p:pic>
      <p:sp>
        <p:nvSpPr>
          <p:cNvPr id="46" name="anim06_txt"/>
          <p:cNvSpPr txBox="1"/>
          <p:nvPr/>
        </p:nvSpPr>
        <p:spPr>
          <a:xfrm>
            <a:off x="1508760" y="4846320"/>
            <a:ext cx="9875520" cy="914400"/>
          </a:xfrm>
          <a:prstGeom prst="rect">
            <a:avLst/>
          </a:prstGeom>
          <a:noFill/>
          <a:ln/>
        </p:spPr>
        <p:txBody>
          <a:bodyPr wrap="square" lIns="0" tIns="0" rIns="0" bIns="0" rtlCol="0" anchor="ctr"/>
          <a:lstStyle/>
          <a:p>
            <a:pPr indent="0" marL="0">
              <a:buNone/>
            </a:pPr>
            <a:r>
              <a:rPr lang="en-US" sz="1600" b="1" dirty="0">
                <a:solidFill>
                  <a:srgbClr val="F4F2FF"/>
                </a:solidFill>
                <a:latin typeface="Arial" pitchFamily="34" charset="0"/>
                <a:ea typeface="Arial" pitchFamily="34" charset="-122"/>
                <a:cs typeface="Arial" pitchFamily="34" charset="-120"/>
              </a:rPr>
              <a:t>Un seul code de nettoyage pour le notebook ET l'appli. </a:t>
            </a:r>
            <a:pPr indent="0" marL="0">
              <a:buNone/>
            </a:pPr>
            <a:r>
              <a:rPr lang="en-US" sz="1600" dirty="0">
                <a:solidFill>
                  <a:srgbClr val="A9A5D1"/>
                </a:solidFill>
                <a:latin typeface="Arial" pitchFamily="34" charset="0"/>
                <a:ea typeface="Arial" pitchFamily="34" charset="-122"/>
                <a:cs typeface="Arial" pitchFamily="34" charset="-120"/>
              </a:rPr>
              <a:t>Un test (assert_frame_equal) garantit que les deux travaillent sur des données identiques.</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5"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28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28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28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28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par>
                                <p:cTn id="34" presetID="10" presetClass="entr" presetSubtype="0" fill="hold" nodeType="withEffect">
                                  <p:stCondLst>
                                    <p:cond delay="28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50"/>
                                        <p:tgtEl>
                                          <p:spTgt spid="20"/>
                                        </p:tgtEl>
                                      </p:cBhvr>
                                    </p:animEffect>
                                  </p:childTnLst>
                                </p:cTn>
                              </p:par>
                              <p:par>
                                <p:cTn id="37" presetID="10" presetClass="entr" presetSubtype="0" fill="hold" nodeType="withEffect">
                                  <p:stCondLst>
                                    <p:cond delay="28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nodeType="withEffect">
                                  <p:stCondLst>
                                    <p:cond delay="28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nodeType="withEffect">
                                  <p:stCondLst>
                                    <p:cond delay="56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nodeType="withEffect">
                                  <p:stCondLst>
                                    <p:cond delay="56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nodeType="withEffect">
                                  <p:stCondLst>
                                    <p:cond delay="56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par>
                                <p:cTn id="52" presetID="10" presetClass="entr" presetSubtype="0" fill="hold" nodeType="withEffect">
                                  <p:stCondLst>
                                    <p:cond delay="56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50"/>
                                        <p:tgtEl>
                                          <p:spTgt spid="26"/>
                                        </p:tgtEl>
                                      </p:cBhvr>
                                    </p:animEffect>
                                  </p:childTnLst>
                                </p:cTn>
                              </p:par>
                              <p:par>
                                <p:cTn id="55" presetID="10" presetClass="entr" presetSubtype="0" fill="hold" nodeType="withEffect">
                                  <p:stCondLst>
                                    <p:cond delay="56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50"/>
                                        <p:tgtEl>
                                          <p:spTgt spid="27"/>
                                        </p:tgtEl>
                                      </p:cBhvr>
                                    </p:animEffect>
                                  </p:childTnLst>
                                </p:cTn>
                              </p:par>
                              <p:par>
                                <p:cTn id="58" presetID="10" presetClass="entr" presetSubtype="0" fill="hold" nodeType="withEffect">
                                  <p:stCondLst>
                                    <p:cond delay="56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50"/>
                                        <p:tgtEl>
                                          <p:spTgt spid="28"/>
                                        </p:tgtEl>
                                      </p:cBhvr>
                                    </p:animEffect>
                                  </p:childTnLst>
                                </p:cTn>
                              </p:par>
                              <p:par>
                                <p:cTn id="61" presetID="10" presetClass="entr" presetSubtype="0" fill="hold" nodeType="withEffect">
                                  <p:stCondLst>
                                    <p:cond delay="56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50"/>
                                        <p:tgtEl>
                                          <p:spTgt spid="29"/>
                                        </p:tgtEl>
                                      </p:cBhvr>
                                    </p:animEffect>
                                  </p:childTnLst>
                                </p:cTn>
                              </p:par>
                              <p:par>
                                <p:cTn id="64" presetID="10" presetClass="entr" presetSubtype="0" fill="hold" nodeType="withEffect">
                                  <p:stCondLst>
                                    <p:cond delay="84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50"/>
                                        <p:tgtEl>
                                          <p:spTgt spid="30"/>
                                        </p:tgtEl>
                                      </p:cBhvr>
                                    </p:animEffect>
                                  </p:childTnLst>
                                </p:cTn>
                              </p:par>
                              <p:par>
                                <p:cTn id="67" presetID="10" presetClass="entr" presetSubtype="0" fill="hold" nodeType="withEffect">
                                  <p:stCondLst>
                                    <p:cond delay="84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50"/>
                                        <p:tgtEl>
                                          <p:spTgt spid="31"/>
                                        </p:tgtEl>
                                      </p:cBhvr>
                                    </p:animEffect>
                                  </p:childTnLst>
                                </p:cTn>
                              </p:par>
                              <p:par>
                                <p:cTn id="70" presetID="10" presetClass="entr" presetSubtype="0" fill="hold" nodeType="withEffect">
                                  <p:stCondLst>
                                    <p:cond delay="84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450"/>
                                        <p:tgtEl>
                                          <p:spTgt spid="32"/>
                                        </p:tgtEl>
                                      </p:cBhvr>
                                    </p:animEffect>
                                  </p:childTnLst>
                                </p:cTn>
                              </p:par>
                              <p:par>
                                <p:cTn id="73" presetID="10" presetClass="entr" presetSubtype="0" fill="hold" nodeType="withEffect">
                                  <p:stCondLst>
                                    <p:cond delay="84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450"/>
                                        <p:tgtEl>
                                          <p:spTgt spid="33"/>
                                        </p:tgtEl>
                                      </p:cBhvr>
                                    </p:animEffect>
                                  </p:childTnLst>
                                </p:cTn>
                              </p:par>
                              <p:par>
                                <p:cTn id="76" presetID="10" presetClass="entr" presetSubtype="0" fill="hold" nodeType="withEffect">
                                  <p:stCondLst>
                                    <p:cond delay="84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450"/>
                                        <p:tgtEl>
                                          <p:spTgt spid="34"/>
                                        </p:tgtEl>
                                      </p:cBhvr>
                                    </p:animEffect>
                                  </p:childTnLst>
                                </p:cTn>
                              </p:par>
                              <p:par>
                                <p:cTn id="79" presetID="10" presetClass="entr" presetSubtype="0" fill="hold" nodeType="withEffect">
                                  <p:stCondLst>
                                    <p:cond delay="84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50"/>
                                        <p:tgtEl>
                                          <p:spTgt spid="35"/>
                                        </p:tgtEl>
                                      </p:cBhvr>
                                    </p:animEffect>
                                  </p:childTnLst>
                                </p:cTn>
                              </p:par>
                              <p:par>
                                <p:cTn id="82" presetID="10" presetClass="entr" presetSubtype="0" fill="hold" nodeType="withEffect">
                                  <p:stCondLst>
                                    <p:cond delay="84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50"/>
                                        <p:tgtEl>
                                          <p:spTgt spid="36"/>
                                        </p:tgtEl>
                                      </p:cBhvr>
                                    </p:animEffect>
                                  </p:childTnLst>
                                </p:cTn>
                              </p:par>
                              <p:par>
                                <p:cTn id="85" presetID="10" presetClass="entr" presetSubtype="0" fill="hold" nodeType="withEffect">
                                  <p:stCondLst>
                                    <p:cond delay="112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50"/>
                                        <p:tgtEl>
                                          <p:spTgt spid="37"/>
                                        </p:tgtEl>
                                      </p:cBhvr>
                                    </p:animEffect>
                                  </p:childTnLst>
                                </p:cTn>
                              </p:par>
                              <p:par>
                                <p:cTn id="88" presetID="10" presetClass="entr" presetSubtype="0" fill="hold" nodeType="withEffect">
                                  <p:stCondLst>
                                    <p:cond delay="112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50"/>
                                        <p:tgtEl>
                                          <p:spTgt spid="38"/>
                                        </p:tgtEl>
                                      </p:cBhvr>
                                    </p:animEffect>
                                  </p:childTnLst>
                                </p:cTn>
                              </p:par>
                              <p:par>
                                <p:cTn id="91" presetID="10" presetClass="entr" presetSubtype="0" fill="hold" nodeType="withEffect">
                                  <p:stCondLst>
                                    <p:cond delay="112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50"/>
                                        <p:tgtEl>
                                          <p:spTgt spid="39"/>
                                        </p:tgtEl>
                                      </p:cBhvr>
                                    </p:animEffect>
                                  </p:childTnLst>
                                </p:cTn>
                              </p:par>
                              <p:par>
                                <p:cTn id="94" presetID="10" presetClass="entr" presetSubtype="0" fill="hold" nodeType="withEffect">
                                  <p:stCondLst>
                                    <p:cond delay="112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50"/>
                                        <p:tgtEl>
                                          <p:spTgt spid="40"/>
                                        </p:tgtEl>
                                      </p:cBhvr>
                                    </p:animEffect>
                                  </p:childTnLst>
                                </p:cTn>
                              </p:par>
                              <p:par>
                                <p:cTn id="97" presetID="10" presetClass="entr" presetSubtype="0" fill="hold" nodeType="withEffect">
                                  <p:stCondLst>
                                    <p:cond delay="112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50"/>
                                        <p:tgtEl>
                                          <p:spTgt spid="41"/>
                                        </p:tgtEl>
                                      </p:cBhvr>
                                    </p:animEffect>
                                  </p:childTnLst>
                                </p:cTn>
                              </p:par>
                              <p:par>
                                <p:cTn id="100" presetID="10" presetClass="entr" presetSubtype="0" fill="hold" nodeType="withEffect">
                                  <p:stCondLst>
                                    <p:cond delay="112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50"/>
                                        <p:tgtEl>
                                          <p:spTgt spid="42"/>
                                        </p:tgtEl>
                                      </p:cBhvr>
                                    </p:animEffect>
                                  </p:childTnLst>
                                </p:cTn>
                              </p:par>
                              <p:par>
                                <p:cTn id="103" presetID="10" presetClass="entr" presetSubtype="0" fill="hold" nodeType="withEffect">
                                  <p:stCondLst>
                                    <p:cond delay="112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50"/>
                                        <p:tgtEl>
                                          <p:spTgt spid="43"/>
                                        </p:tgtEl>
                                      </p:cBhvr>
                                    </p:animEffect>
                                  </p:childTnLst>
                                </p:cTn>
                              </p:par>
                              <p:par>
                                <p:cTn id="106" presetID="10" presetClass="entr" presetSubtype="0" fill="hold" nodeType="withEffect">
                                  <p:stCondLst>
                                    <p:cond delay="140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50"/>
                                        <p:tgtEl>
                                          <p:spTgt spid="44"/>
                                        </p:tgtEl>
                                      </p:cBhvr>
                                    </p:animEffect>
                                  </p:childTnLst>
                                </p:cTn>
                              </p:par>
                              <p:par>
                                <p:cTn id="109" presetID="10" presetClass="entr" presetSubtype="0" fill="hold" nodeType="withEffect">
                                  <p:stCondLst>
                                    <p:cond delay="140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50"/>
                                        <p:tgtEl>
                                          <p:spTgt spid="45"/>
                                        </p:tgtEl>
                                      </p:cBhvr>
                                    </p:animEffect>
                                  </p:childTnLst>
                                </p:cTn>
                              </p:par>
                              <p:par>
                                <p:cTn id="112" presetID="10" presetClass="entr" presetSubtype="0" fill="hold" nodeType="withEffect">
                                  <p:stCondLst>
                                    <p:cond delay="140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03 ▸ NETTOYAGE</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Les bugs cachés dans les données</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FF2E88"/>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05/12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990600" cy="100584"/>
          </a:xfrm>
          <a:prstGeom prst="roundRect">
            <a:avLst>
              <a:gd name="adj" fmla="val 45455"/>
            </a:avLst>
          </a:prstGeom>
          <a:solidFill>
            <a:srgbClr val="00E5FF"/>
          </a:solidFill>
          <a:ln/>
        </p:spPr>
      </p:sp>
      <p:sp>
        <p:nvSpPr>
          <p:cNvPr id="10" name="anim01_c"/>
          <p:cNvSpPr/>
          <p:nvPr/>
        </p:nvSpPr>
        <p:spPr>
          <a:xfrm>
            <a:off x="548640" y="1783080"/>
            <a:ext cx="3337560" cy="1920240"/>
          </a:xfrm>
          <a:prstGeom prst="roundRect">
            <a:avLst>
              <a:gd name="adj" fmla="val 5714"/>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1" name="anim01_o"/>
          <p:cNvSpPr/>
          <p:nvPr/>
        </p:nvSpPr>
        <p:spPr>
          <a:xfrm>
            <a:off x="777240" y="2039112"/>
            <a:ext cx="566928" cy="566928"/>
          </a:xfrm>
          <a:prstGeom prst="ellipse">
            <a:avLst/>
          </a:prstGeom>
          <a:solidFill>
            <a:srgbClr val="FF2E88">
              <a:alpha val="18000"/>
            </a:srgbClr>
          </a:solidFill>
          <a:ln/>
        </p:spPr>
      </p:sp>
      <p:pic>
        <p:nvPicPr>
          <p:cNvPr id="12" name="anim01_i" descr="preencoded.png">    </p:cNvPr>
          <p:cNvPicPr>
            <a:picLocks noChangeAspect="1"/>
          </p:cNvPicPr>
          <p:nvPr/>
        </p:nvPicPr>
        <p:blipFill>
          <a:blip r:embed="rId2"/>
          <a:stretch>
            <a:fillRect/>
          </a:stretch>
        </p:blipFill>
        <p:spPr>
          <a:xfrm>
            <a:off x="905256" y="2167128"/>
            <a:ext cx="310896" cy="310896"/>
          </a:xfrm>
          <a:prstGeom prst="rect">
            <a:avLst/>
          </a:prstGeom>
        </p:spPr>
      </p:pic>
      <p:sp>
        <p:nvSpPr>
          <p:cNvPr id="13" name="anim01_n"/>
          <p:cNvSpPr txBox="1"/>
          <p:nvPr/>
        </p:nvSpPr>
        <p:spPr>
          <a:xfrm>
            <a:off x="1508760" y="1965960"/>
            <a:ext cx="2194560" cy="502920"/>
          </a:xfrm>
          <a:prstGeom prst="rect">
            <a:avLst/>
          </a:prstGeom>
          <a:noFill/>
          <a:ln/>
        </p:spPr>
        <p:txBody>
          <a:bodyPr wrap="square" lIns="0" tIns="0" rIns="0" bIns="0" rtlCol="0" anchor="ctr"/>
          <a:lstStyle/>
          <a:p>
            <a:pPr indent="0" marL="0">
              <a:buNone/>
            </a:pPr>
            <a:r>
              <a:rPr lang="en-US" sz="3000" b="1" dirty="0">
                <a:solidFill>
                  <a:srgbClr val="FF2E88"/>
                </a:solidFill>
                <a:latin typeface="Arial" pitchFamily="34" charset="0"/>
                <a:ea typeface="Arial" pitchFamily="34" charset="-122"/>
                <a:cs typeface="Arial" pitchFamily="34" charset="-120"/>
              </a:rPr>
              <a:t>271</a:t>
            </a:r>
            <a:endParaRPr lang="en-US" sz="3000" dirty="0"/>
          </a:p>
        </p:txBody>
      </p:sp>
      <p:sp>
        <p:nvSpPr>
          <p:cNvPr id="14" name="anim01_l"/>
          <p:cNvSpPr txBox="1"/>
          <p:nvPr/>
        </p:nvSpPr>
        <p:spPr>
          <a:xfrm>
            <a:off x="1508760" y="2459736"/>
            <a:ext cx="2286000" cy="292608"/>
          </a:xfrm>
          <a:prstGeom prst="rect">
            <a:avLst/>
          </a:prstGeom>
          <a:noFill/>
          <a:ln/>
        </p:spPr>
        <p:txBody>
          <a:bodyPr wrap="square" lIns="0" tIns="0" rIns="0" bIns="0" rtlCol="0" anchor="t"/>
          <a:lstStyle/>
          <a:p>
            <a:pPr indent="0" marL="0">
              <a:buNone/>
            </a:pPr>
            <a:r>
              <a:rPr lang="en-US" sz="1400" b="1" dirty="0">
                <a:solidFill>
                  <a:srgbClr val="F4F2FF"/>
                </a:solidFill>
                <a:latin typeface="Arial" pitchFamily="34" charset="0"/>
                <a:ea typeface="Arial" pitchFamily="34" charset="-122"/>
                <a:cs typeface="Arial" pitchFamily="34" charset="-120"/>
              </a:rPr>
              <a:t>années manquantes</a:t>
            </a:r>
            <a:endParaRPr lang="en-US" sz="1400" dirty="0"/>
          </a:p>
        </p:txBody>
      </p:sp>
      <p:sp>
        <p:nvSpPr>
          <p:cNvPr id="15" name="anim01_f"/>
          <p:cNvSpPr txBox="1"/>
          <p:nvPr/>
        </p:nvSpPr>
        <p:spPr>
          <a:xfrm>
            <a:off x="777240" y="2880360"/>
            <a:ext cx="2926080" cy="68580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118 retrouvées grâce à une fiche jumelle, 153 supprimées</a:t>
            </a:r>
            <a:endParaRPr lang="en-US" sz="1400" dirty="0"/>
          </a:p>
        </p:txBody>
      </p:sp>
      <p:sp>
        <p:nvSpPr>
          <p:cNvPr id="16" name="anim02_c"/>
          <p:cNvSpPr/>
          <p:nvPr/>
        </p:nvSpPr>
        <p:spPr>
          <a:xfrm>
            <a:off x="4114800" y="1783080"/>
            <a:ext cx="3337560" cy="1920240"/>
          </a:xfrm>
          <a:prstGeom prst="roundRect">
            <a:avLst>
              <a:gd name="adj" fmla="val 5714"/>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7" name="anim02_o"/>
          <p:cNvSpPr/>
          <p:nvPr/>
        </p:nvSpPr>
        <p:spPr>
          <a:xfrm>
            <a:off x="4343400" y="2039112"/>
            <a:ext cx="566928" cy="566928"/>
          </a:xfrm>
          <a:prstGeom prst="ellipse">
            <a:avLst/>
          </a:prstGeom>
          <a:solidFill>
            <a:srgbClr val="FF2E88">
              <a:alpha val="18000"/>
            </a:srgbClr>
          </a:solidFill>
          <a:ln/>
        </p:spPr>
      </p:sp>
      <p:pic>
        <p:nvPicPr>
          <p:cNvPr id="18" name="anim02_i" descr="preencoded.png">    </p:cNvPr>
          <p:cNvPicPr>
            <a:picLocks noChangeAspect="1"/>
          </p:cNvPicPr>
          <p:nvPr/>
        </p:nvPicPr>
        <p:blipFill>
          <a:blip r:embed="rId3"/>
          <a:stretch>
            <a:fillRect/>
          </a:stretch>
        </p:blipFill>
        <p:spPr>
          <a:xfrm>
            <a:off x="4471416" y="2167128"/>
            <a:ext cx="310896" cy="310896"/>
          </a:xfrm>
          <a:prstGeom prst="rect">
            <a:avLst/>
          </a:prstGeom>
        </p:spPr>
      </p:pic>
      <p:sp>
        <p:nvSpPr>
          <p:cNvPr id="19" name="anim02_n"/>
          <p:cNvSpPr txBox="1"/>
          <p:nvPr/>
        </p:nvSpPr>
        <p:spPr>
          <a:xfrm>
            <a:off x="5074920" y="1965960"/>
            <a:ext cx="2194560" cy="502920"/>
          </a:xfrm>
          <a:prstGeom prst="rect">
            <a:avLst/>
          </a:prstGeom>
          <a:noFill/>
          <a:ln/>
        </p:spPr>
        <p:txBody>
          <a:bodyPr wrap="square" lIns="0" tIns="0" rIns="0" bIns="0" rtlCol="0" anchor="ctr"/>
          <a:lstStyle/>
          <a:p>
            <a:pPr indent="0" marL="0">
              <a:buNone/>
            </a:pPr>
            <a:r>
              <a:rPr lang="en-US" sz="3000" b="1" dirty="0">
                <a:solidFill>
                  <a:srgbClr val="FF2E88"/>
                </a:solidFill>
                <a:latin typeface="Arial" pitchFamily="34" charset="0"/>
                <a:ea typeface="Arial" pitchFamily="34" charset="-122"/>
                <a:cs typeface="Arial" pitchFamily="34" charset="-120"/>
              </a:rPr>
              <a:t>149</a:t>
            </a:r>
            <a:endParaRPr lang="en-US" sz="3000" dirty="0"/>
          </a:p>
        </p:txBody>
      </p:sp>
      <p:sp>
        <p:nvSpPr>
          <p:cNvPr id="20" name="anim02_l"/>
          <p:cNvSpPr txBox="1"/>
          <p:nvPr/>
        </p:nvSpPr>
        <p:spPr>
          <a:xfrm>
            <a:off x="5074920" y="2459736"/>
            <a:ext cx="2286000" cy="292608"/>
          </a:xfrm>
          <a:prstGeom prst="rect">
            <a:avLst/>
          </a:prstGeom>
          <a:noFill/>
          <a:ln/>
        </p:spPr>
        <p:txBody>
          <a:bodyPr wrap="square" lIns="0" tIns="0" rIns="0" bIns="0" rtlCol="0" anchor="t"/>
          <a:lstStyle/>
          <a:p>
            <a:pPr indent="0" marL="0">
              <a:buNone/>
            </a:pPr>
            <a:r>
              <a:rPr lang="en-US" sz="1400" b="1" dirty="0">
                <a:solidFill>
                  <a:srgbClr val="F4F2FF"/>
                </a:solidFill>
                <a:latin typeface="Arial" pitchFamily="34" charset="0"/>
                <a:ea typeface="Arial" pitchFamily="34" charset="-122"/>
                <a:cs typeface="Arial" pitchFamily="34" charset="-120"/>
              </a:rPr>
              <a:t>fiches « (JP sales) »</a:t>
            </a:r>
            <a:endParaRPr lang="en-US" sz="1400" dirty="0"/>
          </a:p>
        </p:txBody>
      </p:sp>
      <p:sp>
        <p:nvSpPr>
          <p:cNvPr id="21" name="anim02_f"/>
          <p:cNvSpPr txBox="1"/>
          <p:nvPr/>
        </p:nvSpPr>
        <p:spPr>
          <a:xfrm>
            <a:off x="4343400" y="2880360"/>
            <a:ext cx="2926080" cy="68580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fusionnées : maximum par région, sans double comptage</a:t>
            </a:r>
            <a:endParaRPr lang="en-US" sz="1400" dirty="0"/>
          </a:p>
        </p:txBody>
      </p:sp>
      <p:sp>
        <p:nvSpPr>
          <p:cNvPr id="22" name="anim03_c"/>
          <p:cNvSpPr/>
          <p:nvPr/>
        </p:nvSpPr>
        <p:spPr>
          <a:xfrm>
            <a:off x="548640" y="3931920"/>
            <a:ext cx="3337560" cy="1920240"/>
          </a:xfrm>
          <a:prstGeom prst="roundRect">
            <a:avLst>
              <a:gd name="adj" fmla="val 5714"/>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23" name="anim03_o"/>
          <p:cNvSpPr/>
          <p:nvPr/>
        </p:nvSpPr>
        <p:spPr>
          <a:xfrm>
            <a:off x="777240" y="4187952"/>
            <a:ext cx="566928" cy="566928"/>
          </a:xfrm>
          <a:prstGeom prst="ellipse">
            <a:avLst/>
          </a:prstGeom>
          <a:solidFill>
            <a:srgbClr val="FF2E88">
              <a:alpha val="18000"/>
            </a:srgbClr>
          </a:solidFill>
          <a:ln/>
        </p:spPr>
      </p:sp>
      <p:pic>
        <p:nvPicPr>
          <p:cNvPr id="24" name="anim03_i" descr="preencoded.png">    </p:cNvPr>
          <p:cNvPicPr>
            <a:picLocks noChangeAspect="1"/>
          </p:cNvPicPr>
          <p:nvPr/>
        </p:nvPicPr>
        <p:blipFill>
          <a:blip r:embed="rId4"/>
          <a:stretch>
            <a:fillRect/>
          </a:stretch>
        </p:blipFill>
        <p:spPr>
          <a:xfrm>
            <a:off x="905256" y="4315968"/>
            <a:ext cx="310896" cy="310896"/>
          </a:xfrm>
          <a:prstGeom prst="rect">
            <a:avLst/>
          </a:prstGeom>
        </p:spPr>
      </p:pic>
      <p:sp>
        <p:nvSpPr>
          <p:cNvPr id="25" name="anim03_n"/>
          <p:cNvSpPr txBox="1"/>
          <p:nvPr/>
        </p:nvSpPr>
        <p:spPr>
          <a:xfrm>
            <a:off x="1508760" y="4114800"/>
            <a:ext cx="2194560" cy="502920"/>
          </a:xfrm>
          <a:prstGeom prst="rect">
            <a:avLst/>
          </a:prstGeom>
          <a:noFill/>
          <a:ln/>
        </p:spPr>
        <p:txBody>
          <a:bodyPr wrap="square" lIns="0" tIns="0" rIns="0" bIns="0" rtlCol="0" anchor="ctr"/>
          <a:lstStyle/>
          <a:p>
            <a:pPr indent="0" marL="0">
              <a:buNone/>
            </a:pPr>
            <a:r>
              <a:rPr lang="en-US" sz="3000" b="1" dirty="0">
                <a:solidFill>
                  <a:srgbClr val="FF2E88"/>
                </a:solidFill>
                <a:latin typeface="Arial" pitchFamily="34" charset="0"/>
                <a:ea typeface="Arial" pitchFamily="34" charset="-122"/>
                <a:cs typeface="Arial" pitchFamily="34" charset="-120"/>
              </a:rPr>
              <a:t>10</a:t>
            </a:r>
            <a:endParaRPr lang="en-US" sz="3000" dirty="0"/>
          </a:p>
        </p:txBody>
      </p:sp>
      <p:sp>
        <p:nvSpPr>
          <p:cNvPr id="26" name="anim03_l"/>
          <p:cNvSpPr txBox="1"/>
          <p:nvPr/>
        </p:nvSpPr>
        <p:spPr>
          <a:xfrm>
            <a:off x="1508760" y="4608576"/>
            <a:ext cx="2286000" cy="292608"/>
          </a:xfrm>
          <a:prstGeom prst="rect">
            <a:avLst/>
          </a:prstGeom>
          <a:noFill/>
          <a:ln/>
        </p:spPr>
        <p:txBody>
          <a:bodyPr wrap="square" lIns="0" tIns="0" rIns="0" bIns="0" rtlCol="0" anchor="t"/>
          <a:lstStyle/>
          <a:p>
            <a:pPr indent="0" marL="0">
              <a:buNone/>
            </a:pPr>
            <a:r>
              <a:rPr lang="en-US" sz="1400" b="1" dirty="0">
                <a:solidFill>
                  <a:srgbClr val="F4F2FF"/>
                </a:solidFill>
                <a:latin typeface="Arial" pitchFamily="34" charset="0"/>
                <a:ea typeface="Arial" pitchFamily="34" charset="-122"/>
                <a:cs typeface="Arial" pitchFamily="34" charset="-120"/>
              </a:rPr>
              <a:t>dates impossibles</a:t>
            </a:r>
            <a:endParaRPr lang="en-US" sz="1400" dirty="0"/>
          </a:p>
        </p:txBody>
      </p:sp>
      <p:sp>
        <p:nvSpPr>
          <p:cNvPr id="27" name="anim03_f"/>
          <p:cNvSpPr txBox="1"/>
          <p:nvPr/>
        </p:nvSpPr>
        <p:spPr>
          <a:xfrm>
            <a:off x="777240" y="5029200"/>
            <a:ext cx="2926080" cy="68580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ex. un jeu DS daté de 1985 : 5 corrigées, 5 supprimées</a:t>
            </a:r>
            <a:endParaRPr lang="en-US" sz="1400" dirty="0"/>
          </a:p>
        </p:txBody>
      </p:sp>
      <p:sp>
        <p:nvSpPr>
          <p:cNvPr id="28" name="anim04_c"/>
          <p:cNvSpPr/>
          <p:nvPr/>
        </p:nvSpPr>
        <p:spPr>
          <a:xfrm>
            <a:off x="4114800" y="3931920"/>
            <a:ext cx="3337560" cy="1920240"/>
          </a:xfrm>
          <a:prstGeom prst="roundRect">
            <a:avLst>
              <a:gd name="adj" fmla="val 5714"/>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29" name="anim04_o"/>
          <p:cNvSpPr/>
          <p:nvPr/>
        </p:nvSpPr>
        <p:spPr>
          <a:xfrm>
            <a:off x="4343400" y="4187952"/>
            <a:ext cx="566928" cy="566928"/>
          </a:xfrm>
          <a:prstGeom prst="ellipse">
            <a:avLst/>
          </a:prstGeom>
          <a:solidFill>
            <a:srgbClr val="FF2E88">
              <a:alpha val="18000"/>
            </a:srgbClr>
          </a:solidFill>
          <a:ln/>
        </p:spPr>
      </p:sp>
      <p:pic>
        <p:nvPicPr>
          <p:cNvPr id="30" name="anim04_i" descr="preencoded.png">    </p:cNvPr>
          <p:cNvPicPr>
            <a:picLocks noChangeAspect="1"/>
          </p:cNvPicPr>
          <p:nvPr/>
        </p:nvPicPr>
        <p:blipFill>
          <a:blip r:embed="rId5"/>
          <a:stretch>
            <a:fillRect/>
          </a:stretch>
        </p:blipFill>
        <p:spPr>
          <a:xfrm>
            <a:off x="4471416" y="4315968"/>
            <a:ext cx="310896" cy="310896"/>
          </a:xfrm>
          <a:prstGeom prst="rect">
            <a:avLst/>
          </a:prstGeom>
        </p:spPr>
      </p:pic>
      <p:sp>
        <p:nvSpPr>
          <p:cNvPr id="31" name="anim04_n"/>
          <p:cNvSpPr txBox="1"/>
          <p:nvPr/>
        </p:nvSpPr>
        <p:spPr>
          <a:xfrm>
            <a:off x="5074920" y="4114800"/>
            <a:ext cx="2194560" cy="502920"/>
          </a:xfrm>
          <a:prstGeom prst="rect">
            <a:avLst/>
          </a:prstGeom>
          <a:noFill/>
          <a:ln/>
        </p:spPr>
        <p:txBody>
          <a:bodyPr wrap="square" lIns="0" tIns="0" rIns="0" bIns="0" rtlCol="0" anchor="ctr"/>
          <a:lstStyle/>
          <a:p>
            <a:pPr indent="0" marL="0">
              <a:buNone/>
            </a:pPr>
            <a:r>
              <a:rPr lang="en-US" sz="3000" b="1" dirty="0">
                <a:solidFill>
                  <a:srgbClr val="FF2E88"/>
                </a:solidFill>
                <a:latin typeface="Arial" pitchFamily="34" charset="0"/>
                <a:ea typeface="Arial" pitchFamily="34" charset="-122"/>
                <a:cs typeface="Arial" pitchFamily="34" charset="-120"/>
              </a:rPr>
              <a:t>261</a:t>
            </a:r>
            <a:endParaRPr lang="en-US" sz="3000" dirty="0"/>
          </a:p>
        </p:txBody>
      </p:sp>
      <p:sp>
        <p:nvSpPr>
          <p:cNvPr id="32" name="anim04_l"/>
          <p:cNvSpPr txBox="1"/>
          <p:nvPr/>
        </p:nvSpPr>
        <p:spPr>
          <a:xfrm>
            <a:off x="5074920" y="4608576"/>
            <a:ext cx="2286000" cy="292608"/>
          </a:xfrm>
          <a:prstGeom prst="rect">
            <a:avLst/>
          </a:prstGeom>
          <a:noFill/>
          <a:ln/>
        </p:spPr>
        <p:txBody>
          <a:bodyPr wrap="square" lIns="0" tIns="0" rIns="0" bIns="0" rtlCol="0" anchor="t"/>
          <a:lstStyle/>
          <a:p>
            <a:pPr indent="0" marL="0">
              <a:buNone/>
            </a:pPr>
            <a:r>
              <a:rPr lang="en-US" sz="1400" b="1" dirty="0">
                <a:solidFill>
                  <a:srgbClr val="F4F2FF"/>
                </a:solidFill>
                <a:latin typeface="Arial" pitchFamily="34" charset="0"/>
                <a:ea typeface="Arial" pitchFamily="34" charset="-122"/>
                <a:cs typeface="Arial" pitchFamily="34" charset="-120"/>
              </a:rPr>
              <a:t>éditeurs inconnus</a:t>
            </a:r>
            <a:endParaRPr lang="en-US" sz="1400" dirty="0"/>
          </a:p>
        </p:txBody>
      </p:sp>
      <p:sp>
        <p:nvSpPr>
          <p:cNvPr id="33" name="anim04_f"/>
          <p:cNvSpPr txBox="1"/>
          <p:nvPr/>
        </p:nvSpPr>
        <p:spPr>
          <a:xfrm>
            <a:off x="4343400" y="5029200"/>
            <a:ext cx="2926080" cy="68580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58 vides + 203 « Unknown », regroupés en une seule catégorie</a:t>
            </a:r>
            <a:endParaRPr lang="en-US" sz="1400" dirty="0"/>
          </a:p>
        </p:txBody>
      </p:sp>
      <p:graphicFrame>
        <p:nvGraphicFramePr>
          <p:cNvPr id="34" name="anim05_chart" descr=""/>
          <p:cNvGraphicFramePr/>
          <p:nvPr/>
        </p:nvGraphicFramePr>
        <p:xfrm>
          <a:off x="8549640" y="1691640"/>
          <a:ext cx="2468880" cy="2286000"/>
        </p:xfrm>
        <a:graphic xmlns:a="http://schemas.openxmlformats.org/drawingml/2006/main">
          <a:graphicData uri="http://schemas.openxmlformats.org/drawingml/2006/chart">
            <c:chart xmlns:c="http://schemas.openxmlformats.org/drawingml/2006/chart" r:id="rId6"/>
          </a:graphicData>
        </a:graphic>
      </p:graphicFrame>
      <p:pic>
        <p:nvPicPr>
          <p:cNvPr id="35" name="anim05_ic" descr="preencoded.png">    </p:cNvPr>
          <p:cNvPicPr>
            <a:picLocks noChangeAspect="1"/>
          </p:cNvPicPr>
          <p:nvPr/>
        </p:nvPicPr>
        <p:blipFill>
          <a:blip r:embed="rId7"/>
          <a:stretch>
            <a:fillRect/>
          </a:stretch>
        </p:blipFill>
        <p:spPr>
          <a:xfrm>
            <a:off x="9509760" y="2560320"/>
            <a:ext cx="548640" cy="548640"/>
          </a:xfrm>
          <a:prstGeom prst="rect">
            <a:avLst/>
          </a:prstGeom>
        </p:spPr>
      </p:pic>
      <p:sp>
        <p:nvSpPr>
          <p:cNvPr id="36" name="anim05_pct"/>
          <p:cNvSpPr txBox="1"/>
          <p:nvPr/>
        </p:nvSpPr>
        <p:spPr>
          <a:xfrm>
            <a:off x="7909560" y="4069080"/>
            <a:ext cx="3749040" cy="685800"/>
          </a:xfrm>
          <a:prstGeom prst="rect">
            <a:avLst/>
          </a:prstGeom>
          <a:noFill/>
          <a:ln/>
        </p:spPr>
        <p:txBody>
          <a:bodyPr wrap="square" lIns="0" tIns="0" rIns="0" bIns="0" rtlCol="0" anchor="ctr"/>
          <a:lstStyle/>
          <a:p>
            <a:pPr algn="ctr" indent="0" marL="0">
              <a:buNone/>
            </a:pPr>
            <a:r>
              <a:rPr lang="en-US" sz="4400" b="1" dirty="0">
                <a:solidFill>
                  <a:srgbClr val="00E5FF"/>
                </a:solidFill>
                <a:latin typeface="Arial" pitchFamily="34" charset="0"/>
                <a:ea typeface="Arial" pitchFamily="34" charset="-122"/>
                <a:cs typeface="Arial" pitchFamily="34" charset="-120"/>
              </a:rPr>
              <a:t>99,3 %</a:t>
            </a:r>
            <a:endParaRPr lang="en-US" sz="4400" dirty="0"/>
          </a:p>
        </p:txBody>
      </p:sp>
      <p:sp>
        <p:nvSpPr>
          <p:cNvPr id="37" name="anim05_lbl"/>
          <p:cNvSpPr txBox="1"/>
          <p:nvPr/>
        </p:nvSpPr>
        <p:spPr>
          <a:xfrm>
            <a:off x="7909560" y="4754880"/>
            <a:ext cx="3749040" cy="320040"/>
          </a:xfrm>
          <a:prstGeom prst="rect">
            <a:avLst/>
          </a:prstGeom>
          <a:noFill/>
          <a:ln/>
        </p:spPr>
        <p:txBody>
          <a:bodyPr wrap="square" lIns="0" tIns="0" rIns="0" bIns="0" rtlCol="0" anchor="t"/>
          <a:lstStyle/>
          <a:p>
            <a:pPr algn="ctr" indent="0" marL="0">
              <a:buNone/>
            </a:pPr>
            <a:r>
              <a:rPr lang="en-US" sz="1500" dirty="0">
                <a:solidFill>
                  <a:srgbClr val="A9A5D1"/>
                </a:solidFill>
                <a:latin typeface="Arial" pitchFamily="34" charset="0"/>
                <a:ea typeface="Arial" pitchFamily="34" charset="-122"/>
                <a:cs typeface="Arial" pitchFamily="34" charset="-120"/>
              </a:rPr>
              <a:t>des ventes conservées</a:t>
            </a:r>
            <a:endParaRPr lang="en-US" sz="1500" dirty="0"/>
          </a:p>
        </p:txBody>
      </p:sp>
      <p:sp>
        <p:nvSpPr>
          <p:cNvPr id="38" name="anim06_rows"/>
          <p:cNvSpPr txBox="1"/>
          <p:nvPr/>
        </p:nvSpPr>
        <p:spPr>
          <a:xfrm>
            <a:off x="7909560" y="5212080"/>
            <a:ext cx="3749040" cy="365760"/>
          </a:xfrm>
          <a:prstGeom prst="rect">
            <a:avLst/>
          </a:prstGeom>
          <a:noFill/>
          <a:ln/>
        </p:spPr>
        <p:txBody>
          <a:bodyPr wrap="square" lIns="0" tIns="0" rIns="0" bIns="0" rtlCol="0" anchor="t"/>
          <a:lstStyle/>
          <a:p>
            <a:pPr algn="ctr" indent="0" marL="0">
              <a:buNone/>
            </a:pPr>
            <a:r>
              <a:rPr lang="en-US" sz="1800" b="1" dirty="0">
                <a:solidFill>
                  <a:srgbClr val="F4F2FF"/>
                </a:solidFill>
                <a:latin typeface="Arial" pitchFamily="34" charset="0"/>
                <a:ea typeface="Arial" pitchFamily="34" charset="-122"/>
                <a:cs typeface="Arial" pitchFamily="34" charset="-120"/>
              </a:rPr>
              <a:t>16 598 → 16 326 jeux</a:t>
            </a:r>
            <a:endParaRPr lang="en-US" sz="1800" dirty="0"/>
          </a:p>
        </p:txBody>
      </p:sp>
      <p:sp>
        <p:nvSpPr>
          <p:cNvPr id="39" name="anim06_sub"/>
          <p:cNvSpPr txBox="1"/>
          <p:nvPr/>
        </p:nvSpPr>
        <p:spPr>
          <a:xfrm>
            <a:off x="7909560" y="5577840"/>
            <a:ext cx="3749040" cy="274320"/>
          </a:xfrm>
          <a:prstGeom prst="rect">
            <a:avLst/>
          </a:prstGeom>
          <a:noFill/>
          <a:ln/>
        </p:spPr>
        <p:txBody>
          <a:bodyPr wrap="square" lIns="0" tIns="0" rIns="0" bIns="0" rtlCol="0" anchor="t"/>
          <a:lstStyle/>
          <a:p>
            <a:pPr algn="ctr" indent="0" marL="0">
              <a:buNone/>
            </a:pPr>
            <a:r>
              <a:rPr lang="en-US" sz="1200" dirty="0">
                <a:solidFill>
                  <a:srgbClr val="A9A5D1"/>
                </a:solidFill>
                <a:latin typeface="Arial" pitchFamily="34" charset="0"/>
                <a:ea typeface="Arial" pitchFamily="34" charset="-122"/>
                <a:cs typeface="Arial" pitchFamily="34" charset="-120"/>
              </a:rPr>
              <a:t>11 239 titres uniques · 114 fiches fusionnées</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28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28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28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28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par>
                                <p:cTn id="34" presetID="10" presetClass="entr" presetSubtype="0" fill="hold" nodeType="withEffect">
                                  <p:stCondLst>
                                    <p:cond delay="28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50"/>
                                        <p:tgtEl>
                                          <p:spTgt spid="20"/>
                                        </p:tgtEl>
                                      </p:cBhvr>
                                    </p:animEffect>
                                  </p:childTnLst>
                                </p:cTn>
                              </p:par>
                              <p:par>
                                <p:cTn id="37" presetID="10" presetClass="entr" presetSubtype="0" fill="hold" nodeType="withEffect">
                                  <p:stCondLst>
                                    <p:cond delay="28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nodeType="withEffect">
                                  <p:stCondLst>
                                    <p:cond delay="56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nodeType="withEffect">
                                  <p:stCondLst>
                                    <p:cond delay="56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nodeType="withEffect">
                                  <p:stCondLst>
                                    <p:cond delay="56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nodeType="withEffect">
                                  <p:stCondLst>
                                    <p:cond delay="56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par>
                                <p:cTn id="52" presetID="10" presetClass="entr" presetSubtype="0" fill="hold" nodeType="withEffect">
                                  <p:stCondLst>
                                    <p:cond delay="56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50"/>
                                        <p:tgtEl>
                                          <p:spTgt spid="26"/>
                                        </p:tgtEl>
                                      </p:cBhvr>
                                    </p:animEffect>
                                  </p:childTnLst>
                                </p:cTn>
                              </p:par>
                              <p:par>
                                <p:cTn id="55" presetID="10" presetClass="entr" presetSubtype="0" fill="hold" nodeType="withEffect">
                                  <p:stCondLst>
                                    <p:cond delay="56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50"/>
                                        <p:tgtEl>
                                          <p:spTgt spid="27"/>
                                        </p:tgtEl>
                                      </p:cBhvr>
                                    </p:animEffect>
                                  </p:childTnLst>
                                </p:cTn>
                              </p:par>
                              <p:par>
                                <p:cTn id="58" presetID="10" presetClass="entr" presetSubtype="0" fill="hold" nodeType="withEffect">
                                  <p:stCondLst>
                                    <p:cond delay="84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50"/>
                                        <p:tgtEl>
                                          <p:spTgt spid="28"/>
                                        </p:tgtEl>
                                      </p:cBhvr>
                                    </p:animEffect>
                                  </p:childTnLst>
                                </p:cTn>
                              </p:par>
                              <p:par>
                                <p:cTn id="61" presetID="10" presetClass="entr" presetSubtype="0" fill="hold" nodeType="withEffect">
                                  <p:stCondLst>
                                    <p:cond delay="84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50"/>
                                        <p:tgtEl>
                                          <p:spTgt spid="29"/>
                                        </p:tgtEl>
                                      </p:cBhvr>
                                    </p:animEffect>
                                  </p:childTnLst>
                                </p:cTn>
                              </p:par>
                              <p:par>
                                <p:cTn id="64" presetID="10" presetClass="entr" presetSubtype="0" fill="hold" nodeType="withEffect">
                                  <p:stCondLst>
                                    <p:cond delay="84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50"/>
                                        <p:tgtEl>
                                          <p:spTgt spid="30"/>
                                        </p:tgtEl>
                                      </p:cBhvr>
                                    </p:animEffect>
                                  </p:childTnLst>
                                </p:cTn>
                              </p:par>
                              <p:par>
                                <p:cTn id="67" presetID="10" presetClass="entr" presetSubtype="0" fill="hold" nodeType="withEffect">
                                  <p:stCondLst>
                                    <p:cond delay="84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50"/>
                                        <p:tgtEl>
                                          <p:spTgt spid="31"/>
                                        </p:tgtEl>
                                      </p:cBhvr>
                                    </p:animEffect>
                                  </p:childTnLst>
                                </p:cTn>
                              </p:par>
                              <p:par>
                                <p:cTn id="70" presetID="10" presetClass="entr" presetSubtype="0" fill="hold" nodeType="withEffect">
                                  <p:stCondLst>
                                    <p:cond delay="84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450"/>
                                        <p:tgtEl>
                                          <p:spTgt spid="32"/>
                                        </p:tgtEl>
                                      </p:cBhvr>
                                    </p:animEffect>
                                  </p:childTnLst>
                                </p:cTn>
                              </p:par>
                              <p:par>
                                <p:cTn id="73" presetID="10" presetClass="entr" presetSubtype="0" fill="hold" nodeType="withEffect">
                                  <p:stCondLst>
                                    <p:cond delay="84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450"/>
                                        <p:tgtEl>
                                          <p:spTgt spid="33"/>
                                        </p:tgtEl>
                                      </p:cBhvr>
                                    </p:animEffect>
                                  </p:childTnLst>
                                </p:cTn>
                              </p:par>
                              <p:par>
                                <p:cTn id="76" presetID="10" presetClass="entr" presetSubtype="0" fill="hold" nodeType="withEffect">
                                  <p:stCondLst>
                                    <p:cond delay="112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450"/>
                                        <p:tgtEl>
                                          <p:spTgt spid="34"/>
                                        </p:tgtEl>
                                      </p:cBhvr>
                                    </p:animEffect>
                                  </p:childTnLst>
                                </p:cTn>
                              </p:par>
                              <p:par>
                                <p:cTn id="79" presetID="10" presetClass="entr" presetSubtype="0" fill="hold" nodeType="withEffect">
                                  <p:stCondLst>
                                    <p:cond delay="112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50"/>
                                        <p:tgtEl>
                                          <p:spTgt spid="35"/>
                                        </p:tgtEl>
                                      </p:cBhvr>
                                    </p:animEffect>
                                  </p:childTnLst>
                                </p:cTn>
                              </p:par>
                              <p:par>
                                <p:cTn id="82" presetID="10" presetClass="entr" presetSubtype="0" fill="hold" nodeType="withEffect">
                                  <p:stCondLst>
                                    <p:cond delay="112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50"/>
                                        <p:tgtEl>
                                          <p:spTgt spid="36"/>
                                        </p:tgtEl>
                                      </p:cBhvr>
                                    </p:animEffect>
                                  </p:childTnLst>
                                </p:cTn>
                              </p:par>
                              <p:par>
                                <p:cTn id="85" presetID="10" presetClass="entr" presetSubtype="0" fill="hold" nodeType="withEffect">
                                  <p:stCondLst>
                                    <p:cond delay="112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50"/>
                                        <p:tgtEl>
                                          <p:spTgt spid="37"/>
                                        </p:tgtEl>
                                      </p:cBhvr>
                                    </p:animEffect>
                                  </p:childTnLst>
                                </p:cTn>
                              </p:par>
                              <p:par>
                                <p:cTn id="88" presetID="10" presetClass="entr" presetSubtype="0" fill="hold" nodeType="withEffect">
                                  <p:stCondLst>
                                    <p:cond delay="140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50"/>
                                        <p:tgtEl>
                                          <p:spTgt spid="38"/>
                                        </p:tgtEl>
                                      </p:cBhvr>
                                    </p:animEffect>
                                  </p:childTnLst>
                                </p:cTn>
                              </p:par>
                              <p:par>
                                <p:cTn id="91" presetID="10" presetClass="entr" presetSubtype="0" fill="hold" nodeType="withEffect">
                                  <p:stCondLst>
                                    <p:cond delay="140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04 ▸ DÉCOUVERTE 1/4</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Un marché de blockbusters</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06/12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1188720" cy="100584"/>
          </a:xfrm>
          <a:prstGeom prst="roundRect">
            <a:avLst>
              <a:gd name="adj" fmla="val 45455"/>
            </a:avLst>
          </a:prstGeom>
          <a:solidFill>
            <a:srgbClr val="00E5FF"/>
          </a:solidFill>
          <a:ln/>
        </p:spPr>
      </p:sp>
      <p:graphicFrame>
        <p:nvGraphicFramePr>
          <p:cNvPr id="10" name="anim01_chart" descr=""/>
          <p:cNvGraphicFramePr/>
          <p:nvPr/>
        </p:nvGraphicFramePr>
        <p:xfrm>
          <a:off x="457200" y="1691640"/>
          <a:ext cx="7315200" cy="4434840"/>
        </p:xfrm>
        <a:graphic xmlns:a="http://schemas.openxmlformats.org/drawingml/2006/main">
          <a:graphicData uri="http://schemas.openxmlformats.org/drawingml/2006/chart">
            <c:chart xmlns:c="http://schemas.openxmlformats.org/drawingml/2006/chart" r:id="rId2"/>
          </a:graphicData>
        </a:graphic>
      </p:graphicFrame>
      <p:sp>
        <p:nvSpPr>
          <p:cNvPr id="11" name="anim02_c"/>
          <p:cNvSpPr/>
          <p:nvPr/>
        </p:nvSpPr>
        <p:spPr>
          <a:xfrm>
            <a:off x="8183880" y="1783080"/>
            <a:ext cx="3456432" cy="2377440"/>
          </a:xfrm>
          <a:prstGeom prst="roundRect">
            <a:avLst>
              <a:gd name="adj" fmla="val 4615"/>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2" name="anim02_a"/>
          <p:cNvSpPr txBox="1"/>
          <p:nvPr/>
        </p:nvSpPr>
        <p:spPr>
          <a:xfrm>
            <a:off x="8458200" y="1920240"/>
            <a:ext cx="3017520" cy="777240"/>
          </a:xfrm>
          <a:prstGeom prst="rect">
            <a:avLst/>
          </a:prstGeom>
          <a:noFill/>
          <a:ln/>
        </p:spPr>
        <p:txBody>
          <a:bodyPr wrap="square" lIns="0" tIns="0" rIns="0" bIns="0" rtlCol="0" anchor="b"/>
          <a:lstStyle/>
          <a:p>
            <a:pPr indent="0" marL="0">
              <a:buNone/>
            </a:pPr>
            <a:r>
              <a:rPr lang="en-US" sz="4600" b="1" dirty="0">
                <a:solidFill>
                  <a:srgbClr val="00E5FF"/>
                </a:solidFill>
                <a:latin typeface="Arial" pitchFamily="34" charset="0"/>
                <a:ea typeface="Arial" pitchFamily="34" charset="-122"/>
                <a:cs typeface="Arial" pitchFamily="34" charset="-120"/>
              </a:rPr>
              <a:t>10 %</a:t>
            </a:r>
            <a:pPr indent="0" marL="0">
              <a:buNone/>
            </a:pPr>
            <a:r>
              <a:rPr lang="en-US" sz="1800" b="1" dirty="0">
                <a:solidFill>
                  <a:srgbClr val="A9A5D1"/>
                </a:solidFill>
                <a:latin typeface="Arial" pitchFamily="34" charset="0"/>
                <a:ea typeface="Arial" pitchFamily="34" charset="-122"/>
                <a:cs typeface="Arial" pitchFamily="34" charset="-120"/>
              </a:rPr>
              <a:t> des jeux</a:t>
            </a:r>
            <a:endParaRPr lang="en-US" sz="4600" dirty="0"/>
          </a:p>
        </p:txBody>
      </p:sp>
      <p:sp>
        <p:nvSpPr>
          <p:cNvPr id="13" name="anim02_b"/>
          <p:cNvSpPr txBox="1"/>
          <p:nvPr/>
        </p:nvSpPr>
        <p:spPr>
          <a:xfrm>
            <a:off x="8458200" y="2715768"/>
            <a:ext cx="2743200" cy="320040"/>
          </a:xfrm>
          <a:prstGeom prst="rect">
            <a:avLst/>
          </a:prstGeom>
          <a:noFill/>
          <a:ln/>
        </p:spPr>
        <p:txBody>
          <a:bodyPr wrap="square" lIns="0" tIns="0" rIns="0" bIns="0" rtlCol="0" anchor="t"/>
          <a:lstStyle/>
          <a:p>
            <a:pPr indent="0" marL="0">
              <a:buNone/>
            </a:pPr>
            <a:r>
              <a:rPr lang="en-US" sz="1600" dirty="0">
                <a:solidFill>
                  <a:srgbClr val="6E6A9E"/>
                </a:solidFill>
                <a:latin typeface="Arial" pitchFamily="34" charset="0"/>
                <a:ea typeface="Arial" pitchFamily="34" charset="-122"/>
                <a:cs typeface="Arial" pitchFamily="34" charset="-120"/>
              </a:rPr>
              <a:t>réalisent</a:t>
            </a:r>
            <a:endParaRPr lang="en-US" sz="1600" dirty="0"/>
          </a:p>
        </p:txBody>
      </p:sp>
      <p:sp>
        <p:nvSpPr>
          <p:cNvPr id="14" name="anim02_c2"/>
          <p:cNvSpPr txBox="1"/>
          <p:nvPr/>
        </p:nvSpPr>
        <p:spPr>
          <a:xfrm>
            <a:off x="8458200" y="3017520"/>
            <a:ext cx="3017520" cy="777240"/>
          </a:xfrm>
          <a:prstGeom prst="rect">
            <a:avLst/>
          </a:prstGeom>
          <a:noFill/>
          <a:ln/>
        </p:spPr>
        <p:txBody>
          <a:bodyPr wrap="square" lIns="0" tIns="0" rIns="0" bIns="0" rtlCol="0" anchor="b"/>
          <a:lstStyle/>
          <a:p>
            <a:pPr indent="0" marL="0">
              <a:buNone/>
            </a:pPr>
            <a:r>
              <a:rPr lang="en-US" sz="4600" b="1" dirty="0">
                <a:solidFill>
                  <a:srgbClr val="FF2E88"/>
                </a:solidFill>
                <a:latin typeface="Arial" pitchFamily="34" charset="0"/>
                <a:ea typeface="Arial" pitchFamily="34" charset="-122"/>
                <a:cs typeface="Arial" pitchFamily="34" charset="-120"/>
              </a:rPr>
              <a:t>59 %</a:t>
            </a:r>
            <a:pPr indent="0" marL="0">
              <a:buNone/>
            </a:pPr>
            <a:r>
              <a:rPr lang="en-US" sz="1800" b="1" dirty="0">
                <a:solidFill>
                  <a:srgbClr val="A9A5D1"/>
                </a:solidFill>
                <a:latin typeface="Arial" pitchFamily="34" charset="0"/>
                <a:ea typeface="Arial" pitchFamily="34" charset="-122"/>
                <a:cs typeface="Arial" pitchFamily="34" charset="-120"/>
              </a:rPr>
              <a:t> des ventes</a:t>
            </a:r>
            <a:endParaRPr lang="en-US" sz="4600" dirty="0"/>
          </a:p>
        </p:txBody>
      </p:sp>
      <p:sp>
        <p:nvSpPr>
          <p:cNvPr id="15" name="anim03_c"/>
          <p:cNvSpPr/>
          <p:nvPr/>
        </p:nvSpPr>
        <p:spPr>
          <a:xfrm>
            <a:off x="8183880" y="4389120"/>
            <a:ext cx="3456432" cy="1645920"/>
          </a:xfrm>
          <a:prstGeom prst="roundRect">
            <a:avLst>
              <a:gd name="adj" fmla="val 6667"/>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6" name="anim03_a"/>
          <p:cNvSpPr txBox="1"/>
          <p:nvPr/>
        </p:nvSpPr>
        <p:spPr>
          <a:xfrm>
            <a:off x="8458200" y="4526280"/>
            <a:ext cx="3017520" cy="548640"/>
          </a:xfrm>
          <a:prstGeom prst="rect">
            <a:avLst/>
          </a:prstGeom>
          <a:noFill/>
          <a:ln/>
        </p:spPr>
        <p:txBody>
          <a:bodyPr wrap="square" lIns="0" tIns="0" rIns="0" bIns="0" rtlCol="0" anchor="b"/>
          <a:lstStyle/>
          <a:p>
            <a:pPr indent="0" marL="0">
              <a:buNone/>
            </a:pPr>
            <a:r>
              <a:rPr lang="en-US" sz="3000" b="1" dirty="0">
                <a:solidFill>
                  <a:srgbClr val="FFD23F"/>
                </a:solidFill>
                <a:latin typeface="Arial" pitchFamily="34" charset="0"/>
                <a:ea typeface="Arial" pitchFamily="34" charset="-122"/>
                <a:cs typeface="Arial" pitchFamily="34" charset="-120"/>
              </a:rPr>
              <a:t>0,17 M</a:t>
            </a:r>
            <a:endParaRPr lang="en-US" sz="3000" dirty="0"/>
          </a:p>
        </p:txBody>
      </p:sp>
      <p:sp>
        <p:nvSpPr>
          <p:cNvPr id="17" name="anim03_b"/>
          <p:cNvSpPr txBox="1"/>
          <p:nvPr/>
        </p:nvSpPr>
        <p:spPr>
          <a:xfrm>
            <a:off x="8458200" y="5120640"/>
            <a:ext cx="3017520" cy="77724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ventes médianes d'un jeu : la plupart des titres vendent très peu</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28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28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28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28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56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56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56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04 ▸ DÉCOUVERTE 2/4</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2008 : l'âge d'or, puis un changement de canal</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07/12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1386840" cy="100584"/>
          </a:xfrm>
          <a:prstGeom prst="roundRect">
            <a:avLst>
              <a:gd name="adj" fmla="val 45455"/>
            </a:avLst>
          </a:prstGeom>
          <a:solidFill>
            <a:srgbClr val="00E5FF"/>
          </a:solidFill>
          <a:ln/>
        </p:spPr>
      </p:sp>
      <p:graphicFrame>
        <p:nvGraphicFramePr>
          <p:cNvPr id="10" name="anim01_chart" descr=""/>
          <p:cNvGraphicFramePr/>
          <p:nvPr/>
        </p:nvGraphicFramePr>
        <p:xfrm>
          <a:off x="457200" y="1691640"/>
          <a:ext cx="7772400" cy="4434840"/>
        </p:xfrm>
        <a:graphic xmlns:a="http://schemas.openxmlformats.org/drawingml/2006/main">
          <a:graphicData uri="http://schemas.openxmlformats.org/drawingml/2006/chart">
            <c:chart xmlns:c="http://schemas.openxmlformats.org/drawingml/2006/chart" r:id="rId2"/>
          </a:graphicData>
        </a:graphic>
      </p:graphicFrame>
      <p:sp>
        <p:nvSpPr>
          <p:cNvPr id="11" name="anim02_c"/>
          <p:cNvSpPr/>
          <p:nvPr/>
        </p:nvSpPr>
        <p:spPr>
          <a:xfrm>
            <a:off x="8549640" y="1783080"/>
            <a:ext cx="3090672" cy="1783080"/>
          </a:xfrm>
          <a:prstGeom prst="roundRect">
            <a:avLst>
              <a:gd name="adj" fmla="val 6154"/>
            </a:avLst>
          </a:prstGeom>
          <a:solidFill>
            <a:srgbClr val="16142F"/>
          </a:solidFill>
          <a:ln w="12700">
            <a:solidFill>
              <a:srgbClr val="FFD23F"/>
            </a:solidFill>
            <a:prstDash val="solid"/>
          </a:ln>
          <a:effectLst>
            <a:outerShdw sx="100000" sy="100000" kx="0" ky="0" algn="bl" rotWithShape="0" blurRad="152400" dist="38100" dir="5400000">
              <a:srgbClr val="000000">
                <a:alpha val="45000"/>
              </a:srgbClr>
            </a:outerShdw>
          </a:effectLst>
        </p:spPr>
      </p:sp>
      <p:sp>
        <p:nvSpPr>
          <p:cNvPr id="12" name="anim02_a"/>
          <p:cNvSpPr txBox="1"/>
          <p:nvPr/>
        </p:nvSpPr>
        <p:spPr>
          <a:xfrm>
            <a:off x="8823960" y="1920240"/>
            <a:ext cx="2743200" cy="731520"/>
          </a:xfrm>
          <a:prstGeom prst="rect">
            <a:avLst/>
          </a:prstGeom>
          <a:noFill/>
          <a:ln/>
        </p:spPr>
        <p:txBody>
          <a:bodyPr wrap="square" lIns="0" tIns="0" rIns="0" bIns="0" rtlCol="0" anchor="b"/>
          <a:lstStyle/>
          <a:p>
            <a:pPr indent="0" marL="0">
              <a:buNone/>
            </a:pPr>
            <a:r>
              <a:rPr lang="en-US" sz="4400" b="1" dirty="0">
                <a:solidFill>
                  <a:srgbClr val="FFD23F"/>
                </a:solidFill>
                <a:latin typeface="Arial" pitchFamily="34" charset="0"/>
                <a:ea typeface="Arial" pitchFamily="34" charset="-122"/>
                <a:cs typeface="Arial" pitchFamily="34" charset="-120"/>
              </a:rPr>
              <a:t>688 M</a:t>
            </a:r>
            <a:endParaRPr lang="en-US" sz="4400" dirty="0"/>
          </a:p>
        </p:txBody>
      </p:sp>
      <p:sp>
        <p:nvSpPr>
          <p:cNvPr id="13" name="anim02_b"/>
          <p:cNvSpPr txBox="1"/>
          <p:nvPr/>
        </p:nvSpPr>
        <p:spPr>
          <a:xfrm>
            <a:off x="8823960" y="2697480"/>
            <a:ext cx="2651760" cy="68580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d'exemplaires en 2008, le record</a:t>
            </a:r>
            <a:endParaRPr lang="en-US" sz="1400" dirty="0"/>
          </a:p>
        </p:txBody>
      </p:sp>
      <p:sp>
        <p:nvSpPr>
          <p:cNvPr id="14" name="anim03_c"/>
          <p:cNvSpPr/>
          <p:nvPr/>
        </p:nvSpPr>
        <p:spPr>
          <a:xfrm>
            <a:off x="8549640" y="3749040"/>
            <a:ext cx="3090672" cy="1280160"/>
          </a:xfrm>
          <a:prstGeom prst="roundRect">
            <a:avLst>
              <a:gd name="adj" fmla="val 8571"/>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5" name="anim03_a"/>
          <p:cNvSpPr txBox="1"/>
          <p:nvPr/>
        </p:nvSpPr>
        <p:spPr>
          <a:xfrm>
            <a:off x="8823960" y="3840480"/>
            <a:ext cx="1280160" cy="548640"/>
          </a:xfrm>
          <a:prstGeom prst="rect">
            <a:avLst/>
          </a:prstGeom>
          <a:noFill/>
          <a:ln/>
        </p:spPr>
        <p:txBody>
          <a:bodyPr wrap="square" lIns="0" tIns="0" rIns="0" bIns="0" rtlCol="0" anchor="b"/>
          <a:lstStyle/>
          <a:p>
            <a:pPr indent="0" marL="0">
              <a:buNone/>
            </a:pPr>
            <a:r>
              <a:rPr lang="en-US" sz="3000" b="1" dirty="0">
                <a:solidFill>
                  <a:srgbClr val="00E5FF"/>
                </a:solidFill>
                <a:latin typeface="Arial" pitchFamily="34" charset="0"/>
                <a:ea typeface="Arial" pitchFamily="34" charset="-122"/>
                <a:cs typeface="Arial" pitchFamily="34" charset="-120"/>
              </a:rPr>
              <a:t>45 %</a:t>
            </a:r>
            <a:endParaRPr lang="en-US" sz="3000" dirty="0"/>
          </a:p>
        </p:txBody>
      </p:sp>
      <p:sp>
        <p:nvSpPr>
          <p:cNvPr id="16" name="anim03_b"/>
          <p:cNvSpPr txBox="1"/>
          <p:nvPr/>
        </p:nvSpPr>
        <p:spPr>
          <a:xfrm>
            <a:off x="8823960" y="4407408"/>
            <a:ext cx="2697480" cy="548640"/>
          </a:xfrm>
          <a:prstGeom prst="rect">
            <a:avLst/>
          </a:prstGeom>
          <a:noFill/>
          <a:ln/>
        </p:spPr>
        <p:txBody>
          <a:bodyPr wrap="square" lIns="0" tIns="0" rIns="0" bIns="0" rtlCol="0" anchor="t"/>
          <a:lstStyle/>
          <a:p>
            <a:pPr indent="0" marL="0">
              <a:buNone/>
            </a:pPr>
            <a:r>
              <a:rPr lang="en-US" sz="1200" dirty="0">
                <a:solidFill>
                  <a:srgbClr val="A9A5D1"/>
                </a:solidFill>
                <a:latin typeface="Arial" pitchFamily="34" charset="0"/>
                <a:ea typeface="Arial" pitchFamily="34" charset="-122"/>
                <a:cs typeface="Arial" pitchFamily="34" charset="-120"/>
              </a:rPr>
              <a:t>des ventes viennent de la 7e génération : Wii, DS, X360, PS3, PSP</a:t>
            </a:r>
            <a:endParaRPr lang="en-US" sz="1200" dirty="0"/>
          </a:p>
        </p:txBody>
      </p:sp>
      <p:pic>
        <p:nvPicPr>
          <p:cNvPr id="17" name="anim04_i" descr="preencoded.png">    </p:cNvPr>
          <p:cNvPicPr>
            <a:picLocks noChangeAspect="1"/>
          </p:cNvPicPr>
          <p:nvPr/>
        </p:nvPicPr>
        <p:blipFill>
          <a:blip r:embed="rId3"/>
          <a:stretch>
            <a:fillRect/>
          </a:stretch>
        </p:blipFill>
        <p:spPr>
          <a:xfrm>
            <a:off x="8549640" y="5257800"/>
            <a:ext cx="292608" cy="292608"/>
          </a:xfrm>
          <a:prstGeom prst="rect">
            <a:avLst/>
          </a:prstGeom>
        </p:spPr>
      </p:pic>
      <p:sp>
        <p:nvSpPr>
          <p:cNvPr id="18" name="anim04_t"/>
          <p:cNvSpPr txBox="1"/>
          <p:nvPr/>
        </p:nvSpPr>
        <p:spPr>
          <a:xfrm>
            <a:off x="8961120" y="5193792"/>
            <a:ext cx="2697480" cy="868680"/>
          </a:xfrm>
          <a:prstGeom prst="rect">
            <a:avLst/>
          </a:prstGeom>
          <a:noFill/>
          <a:ln/>
        </p:spPr>
        <p:txBody>
          <a:bodyPr wrap="square" lIns="0" tIns="0" rIns="0" bIns="0" rtlCol="0" anchor="t"/>
          <a:lstStyle/>
          <a:p>
            <a:pPr indent="0" marL="0">
              <a:buNone/>
            </a:pPr>
            <a:r>
              <a:rPr lang="en-US" sz="1200" dirty="0">
                <a:solidFill>
                  <a:srgbClr val="A9A5D1"/>
                </a:solidFill>
                <a:latin typeface="Arial" pitchFamily="34" charset="0"/>
                <a:ea typeface="Arial" pitchFamily="34" charset="-122"/>
                <a:cs typeface="Arial" pitchFamily="34" charset="-120"/>
              </a:rPr>
              <a:t>La baisse après 2009 reflète la montée du dématérialisé et du mobile, absents des données. 2016 est incomplète (gris).</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1"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28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28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28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56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56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56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84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84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04 ▸ DÉCOUVERTE 3/4</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Deux mondes : l'Occident et le Japon</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08/12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1584960" cy="100584"/>
          </a:xfrm>
          <a:prstGeom prst="roundRect">
            <a:avLst>
              <a:gd name="adj" fmla="val 45455"/>
            </a:avLst>
          </a:prstGeom>
          <a:solidFill>
            <a:srgbClr val="00E5FF"/>
          </a:solidFill>
          <a:ln/>
        </p:spPr>
      </p:sp>
      <p:graphicFrame>
        <p:nvGraphicFramePr>
          <p:cNvPr id="10" name="anim01_chart" descr=""/>
          <p:cNvGraphicFramePr/>
          <p:nvPr/>
        </p:nvGraphicFramePr>
        <p:xfrm>
          <a:off x="457200" y="1691640"/>
          <a:ext cx="7040880" cy="4434840"/>
        </p:xfrm>
        <a:graphic xmlns:a="http://schemas.openxmlformats.org/drawingml/2006/main">
          <a:graphicData uri="http://schemas.openxmlformats.org/drawingml/2006/chart">
            <c:chart xmlns:c="http://schemas.openxmlformats.org/drawingml/2006/chart" r:id="rId2"/>
          </a:graphicData>
        </a:graphic>
      </p:graphicFrame>
      <p:sp>
        <p:nvSpPr>
          <p:cNvPr id="11" name="anim02_c"/>
          <p:cNvSpPr/>
          <p:nvPr/>
        </p:nvSpPr>
        <p:spPr>
          <a:xfrm>
            <a:off x="8001000" y="1783080"/>
            <a:ext cx="3639312" cy="1280160"/>
          </a:xfrm>
          <a:prstGeom prst="roundRect">
            <a:avLst>
              <a:gd name="adj" fmla="val 8571"/>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2" name="anim02_b"/>
          <p:cNvSpPr txBox="1"/>
          <p:nvPr/>
        </p:nvSpPr>
        <p:spPr>
          <a:xfrm>
            <a:off x="8229600" y="1965960"/>
            <a:ext cx="1325880" cy="914400"/>
          </a:xfrm>
          <a:prstGeom prst="rect">
            <a:avLst/>
          </a:prstGeom>
          <a:noFill/>
          <a:ln/>
        </p:spPr>
        <p:txBody>
          <a:bodyPr wrap="square" lIns="0" tIns="0" rIns="0" bIns="0" rtlCol="0" anchor="ctr"/>
          <a:lstStyle/>
          <a:p>
            <a:pPr indent="0" marL="0">
              <a:buNone/>
            </a:pPr>
            <a:r>
              <a:rPr lang="en-US" sz="3200" b="1" dirty="0">
                <a:solidFill>
                  <a:srgbClr val="FF2E88"/>
                </a:solidFill>
                <a:latin typeface="Arial" pitchFamily="34" charset="0"/>
                <a:ea typeface="Arial" pitchFamily="34" charset="-122"/>
                <a:cs typeface="Arial" pitchFamily="34" charset="-120"/>
              </a:rPr>
              <a:t>27 %</a:t>
            </a:r>
            <a:endParaRPr lang="en-US" sz="3200" dirty="0"/>
          </a:p>
        </p:txBody>
      </p:sp>
      <p:sp>
        <p:nvSpPr>
          <p:cNvPr id="13" name="anim02_l"/>
          <p:cNvSpPr txBox="1"/>
          <p:nvPr/>
        </p:nvSpPr>
        <p:spPr>
          <a:xfrm>
            <a:off x="9555480" y="1920240"/>
            <a:ext cx="1920240" cy="100584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des ventes au Japon sont des RPG, contre 8 % en Occident</a:t>
            </a:r>
            <a:endParaRPr lang="en-US" sz="1300" dirty="0"/>
          </a:p>
        </p:txBody>
      </p:sp>
      <p:sp>
        <p:nvSpPr>
          <p:cNvPr id="14" name="anim03_c"/>
          <p:cNvSpPr/>
          <p:nvPr/>
        </p:nvSpPr>
        <p:spPr>
          <a:xfrm>
            <a:off x="8001000" y="3246120"/>
            <a:ext cx="3639312" cy="1280160"/>
          </a:xfrm>
          <a:prstGeom prst="roundRect">
            <a:avLst>
              <a:gd name="adj" fmla="val 8571"/>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5" name="anim03_b"/>
          <p:cNvSpPr txBox="1"/>
          <p:nvPr/>
        </p:nvSpPr>
        <p:spPr>
          <a:xfrm>
            <a:off x="8229600" y="3429000"/>
            <a:ext cx="1325880" cy="914400"/>
          </a:xfrm>
          <a:prstGeom prst="rect">
            <a:avLst/>
          </a:prstGeom>
          <a:noFill/>
          <a:ln/>
        </p:spPr>
        <p:txBody>
          <a:bodyPr wrap="square" lIns="0" tIns="0" rIns="0" bIns="0" rtlCol="0" anchor="ctr"/>
          <a:lstStyle/>
          <a:p>
            <a:pPr indent="0" marL="0">
              <a:buNone/>
            </a:pPr>
            <a:r>
              <a:rPr lang="en-US" sz="3200" b="1" dirty="0">
                <a:solidFill>
                  <a:srgbClr val="00E5FF"/>
                </a:solidFill>
                <a:latin typeface="Arial" pitchFamily="34" charset="0"/>
                <a:ea typeface="Arial" pitchFamily="34" charset="-122"/>
                <a:cs typeface="Arial" pitchFamily="34" charset="-120"/>
              </a:rPr>
              <a:t>0,01</a:t>
            </a:r>
            <a:endParaRPr lang="en-US" sz="3200" dirty="0"/>
          </a:p>
        </p:txBody>
      </p:sp>
      <p:sp>
        <p:nvSpPr>
          <p:cNvPr id="16" name="anim03_l"/>
          <p:cNvSpPr txBox="1"/>
          <p:nvPr/>
        </p:nvSpPr>
        <p:spPr>
          <a:xfrm>
            <a:off x="9555480" y="3383280"/>
            <a:ext cx="1920240" cy="100584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de divergence entre Amérique du Nord et Europe : des goûts quasi identiques</a:t>
            </a:r>
            <a:endParaRPr lang="en-US" sz="1300" dirty="0"/>
          </a:p>
        </p:txBody>
      </p:sp>
      <p:sp>
        <p:nvSpPr>
          <p:cNvPr id="17" name="anim04_c"/>
          <p:cNvSpPr/>
          <p:nvPr/>
        </p:nvSpPr>
        <p:spPr>
          <a:xfrm>
            <a:off x="8001000" y="4709160"/>
            <a:ext cx="3639312" cy="1280160"/>
          </a:xfrm>
          <a:prstGeom prst="roundRect">
            <a:avLst>
              <a:gd name="adj" fmla="val 8571"/>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8" name="anim04_b"/>
          <p:cNvSpPr txBox="1"/>
          <p:nvPr/>
        </p:nvSpPr>
        <p:spPr>
          <a:xfrm>
            <a:off x="8229600" y="4892040"/>
            <a:ext cx="1325880" cy="914400"/>
          </a:xfrm>
          <a:prstGeom prst="rect">
            <a:avLst/>
          </a:prstGeom>
          <a:noFill/>
          <a:ln/>
        </p:spPr>
        <p:txBody>
          <a:bodyPr wrap="square" lIns="0" tIns="0" rIns="0" bIns="0" rtlCol="0" anchor="ctr"/>
          <a:lstStyle/>
          <a:p>
            <a:pPr indent="0" marL="0">
              <a:buNone/>
            </a:pPr>
            <a:r>
              <a:rPr lang="en-US" sz="3200" b="1" dirty="0">
                <a:solidFill>
                  <a:srgbClr val="FFD23F"/>
                </a:solidFill>
                <a:latin typeface="Arial" pitchFamily="34" charset="0"/>
                <a:ea typeface="Arial" pitchFamily="34" charset="-122"/>
                <a:cs typeface="Arial" pitchFamily="34" charset="-120"/>
              </a:rPr>
              <a:t>77 %</a:t>
            </a:r>
            <a:endParaRPr lang="en-US" sz="3200" dirty="0"/>
          </a:p>
        </p:txBody>
      </p:sp>
      <p:sp>
        <p:nvSpPr>
          <p:cNvPr id="19" name="anim04_l"/>
          <p:cNvSpPr txBox="1"/>
          <p:nvPr/>
        </p:nvSpPr>
        <p:spPr>
          <a:xfrm>
            <a:off x="9555480" y="4846320"/>
            <a:ext cx="1920240" cy="100584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des jeux ultra-régionaux (outliers culturels) sont japonais</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28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28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28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56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56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56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84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84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84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04 ▸ DÉCOUVERTE 4/4</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L'Action et le Tir ont pris le pouvoir</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09/12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1783080" cy="100584"/>
          </a:xfrm>
          <a:prstGeom prst="roundRect">
            <a:avLst>
              <a:gd name="adj" fmla="val 45455"/>
            </a:avLst>
          </a:prstGeom>
          <a:solidFill>
            <a:srgbClr val="00E5FF"/>
          </a:solidFill>
          <a:ln/>
        </p:spPr>
      </p:sp>
      <p:graphicFrame>
        <p:nvGraphicFramePr>
          <p:cNvPr id="10" name="anim01_chart" descr=""/>
          <p:cNvGraphicFramePr/>
          <p:nvPr/>
        </p:nvGraphicFramePr>
        <p:xfrm>
          <a:off x="457200" y="1691640"/>
          <a:ext cx="7223760" cy="4434840"/>
        </p:xfrm>
        <a:graphic xmlns:a="http://schemas.openxmlformats.org/drawingml/2006/main">
          <a:graphicData uri="http://schemas.openxmlformats.org/drawingml/2006/chart">
            <c:chart xmlns:c="http://schemas.openxmlformats.org/drawingml/2006/chart" r:id="rId2"/>
          </a:graphicData>
        </a:graphic>
      </p:graphicFrame>
      <p:sp>
        <p:nvSpPr>
          <p:cNvPr id="11" name="anim02_c"/>
          <p:cNvSpPr/>
          <p:nvPr/>
        </p:nvSpPr>
        <p:spPr>
          <a:xfrm>
            <a:off x="8183880" y="1783080"/>
            <a:ext cx="3456432" cy="1965960"/>
          </a:xfrm>
          <a:prstGeom prst="roundRect">
            <a:avLst>
              <a:gd name="adj" fmla="val 5581"/>
            </a:avLst>
          </a:prstGeom>
          <a:solidFill>
            <a:srgbClr val="16142F"/>
          </a:solidFill>
          <a:ln w="12700">
            <a:solidFill>
              <a:srgbClr val="FF2E88"/>
            </a:solidFill>
            <a:prstDash val="solid"/>
          </a:ln>
          <a:effectLst>
            <a:outerShdw sx="100000" sy="100000" kx="0" ky="0" algn="bl" rotWithShape="0" blurRad="152400" dist="38100" dir="5400000">
              <a:srgbClr val="000000">
                <a:alpha val="45000"/>
              </a:srgbClr>
            </a:outerShdw>
          </a:effectLst>
        </p:spPr>
      </p:sp>
      <p:sp>
        <p:nvSpPr>
          <p:cNvPr id="12" name="anim02_k"/>
          <p:cNvSpPr txBox="1"/>
          <p:nvPr/>
        </p:nvSpPr>
        <p:spPr>
          <a:xfrm>
            <a:off x="8458200" y="1938528"/>
            <a:ext cx="2743200" cy="274320"/>
          </a:xfrm>
          <a:prstGeom prst="rect">
            <a:avLst/>
          </a:prstGeom>
          <a:noFill/>
          <a:ln/>
        </p:spPr>
        <p:txBody>
          <a:bodyPr wrap="square" lIns="0" tIns="0" rIns="0" bIns="0" rtlCol="0" anchor="t"/>
          <a:lstStyle/>
          <a:p>
            <a:pPr indent="0" marL="0">
              <a:buNone/>
            </a:pPr>
            <a:r>
              <a:rPr lang="en-US" sz="1200" b="1" spc="200" kern="0" dirty="0">
                <a:solidFill>
                  <a:srgbClr val="A9A5D1"/>
                </a:solidFill>
                <a:latin typeface="Courier New" pitchFamily="34" charset="0"/>
                <a:ea typeface="Courier New" pitchFamily="34" charset="-122"/>
                <a:cs typeface="Courier New" pitchFamily="34" charset="-120"/>
              </a:rPr>
              <a:t>ACTION + TIR</a:t>
            </a:r>
            <a:endParaRPr lang="en-US" sz="1200" dirty="0"/>
          </a:p>
        </p:txBody>
      </p:sp>
      <p:sp>
        <p:nvSpPr>
          <p:cNvPr id="13" name="anim02_a"/>
          <p:cNvSpPr txBox="1"/>
          <p:nvPr/>
        </p:nvSpPr>
        <p:spPr>
          <a:xfrm>
            <a:off x="8458200" y="2240280"/>
            <a:ext cx="3108960" cy="777240"/>
          </a:xfrm>
          <a:prstGeom prst="rect">
            <a:avLst/>
          </a:prstGeom>
          <a:noFill/>
          <a:ln/>
        </p:spPr>
        <p:txBody>
          <a:bodyPr wrap="square" lIns="0" tIns="0" rIns="0" bIns="0" rtlCol="0" anchor="ctr"/>
          <a:lstStyle/>
          <a:p>
            <a:pPr indent="0" marL="0">
              <a:buNone/>
            </a:pPr>
            <a:r>
              <a:rPr lang="en-US" sz="4000" b="1" dirty="0">
                <a:solidFill>
                  <a:srgbClr val="6E6A9E"/>
                </a:solidFill>
                <a:latin typeface="Arial" pitchFamily="34" charset="0"/>
                <a:ea typeface="Arial" pitchFamily="34" charset="-122"/>
                <a:cs typeface="Arial" pitchFamily="34" charset="-120"/>
              </a:rPr>
              <a:t>18 %</a:t>
            </a:r>
            <a:pPr indent="0" marL="0">
              <a:buNone/>
            </a:pPr>
            <a:r>
              <a:rPr lang="en-US" sz="2800" b="1" dirty="0">
                <a:solidFill>
                  <a:srgbClr val="6E6A9E"/>
                </a:solidFill>
                <a:latin typeface="Arial" pitchFamily="34" charset="0"/>
                <a:ea typeface="Arial" pitchFamily="34" charset="-122"/>
                <a:cs typeface="Arial" pitchFamily="34" charset="-120"/>
              </a:rPr>
              <a:t> → </a:t>
            </a:r>
            <a:pPr indent="0" marL="0">
              <a:buNone/>
            </a:pPr>
            <a:r>
              <a:rPr lang="en-US" sz="4000" b="1" dirty="0">
                <a:solidFill>
                  <a:srgbClr val="FF2E88"/>
                </a:solidFill>
                <a:latin typeface="Arial" pitchFamily="34" charset="0"/>
                <a:ea typeface="Arial" pitchFamily="34" charset="-122"/>
                <a:cs typeface="Arial" pitchFamily="34" charset="-120"/>
              </a:rPr>
              <a:t>45 %</a:t>
            </a:r>
            <a:endParaRPr lang="en-US" sz="4000" dirty="0"/>
          </a:p>
        </p:txBody>
      </p:sp>
      <p:sp>
        <p:nvSpPr>
          <p:cNvPr id="14" name="anim02_b"/>
          <p:cNvSpPr txBox="1"/>
          <p:nvPr/>
        </p:nvSpPr>
        <p:spPr>
          <a:xfrm>
            <a:off x="8458200" y="3063240"/>
            <a:ext cx="3017520" cy="54864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des ventes, entre 1995–1999 et 2010–2016</a:t>
            </a:r>
            <a:endParaRPr lang="en-US" sz="1400" dirty="0"/>
          </a:p>
        </p:txBody>
      </p:sp>
      <p:sp>
        <p:nvSpPr>
          <p:cNvPr id="15" name="anim03_c"/>
          <p:cNvSpPr/>
          <p:nvPr/>
        </p:nvSpPr>
        <p:spPr>
          <a:xfrm>
            <a:off x="8183880" y="3931920"/>
            <a:ext cx="3456432" cy="2103120"/>
          </a:xfrm>
          <a:prstGeom prst="roundRect">
            <a:avLst>
              <a:gd name="adj" fmla="val 5217"/>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6" name="anim03_k"/>
          <p:cNvSpPr txBox="1"/>
          <p:nvPr/>
        </p:nvSpPr>
        <p:spPr>
          <a:xfrm>
            <a:off x="8458200" y="4087368"/>
            <a:ext cx="2743200" cy="274320"/>
          </a:xfrm>
          <a:prstGeom prst="rect">
            <a:avLst/>
          </a:prstGeom>
          <a:noFill/>
          <a:ln/>
        </p:spPr>
        <p:txBody>
          <a:bodyPr wrap="square" lIns="0" tIns="0" rIns="0" bIns="0" rtlCol="0" anchor="t"/>
          <a:lstStyle/>
          <a:p>
            <a:pPr indent="0" marL="0">
              <a:buNone/>
            </a:pPr>
            <a:r>
              <a:rPr lang="en-US" sz="1200" b="1" spc="200" kern="0" dirty="0">
                <a:solidFill>
                  <a:srgbClr val="FFD23F"/>
                </a:solidFill>
                <a:latin typeface="Courier New" pitchFamily="34" charset="0"/>
                <a:ea typeface="Courier New" pitchFamily="34" charset="-122"/>
                <a:cs typeface="Courier New" pitchFamily="34" charset="-120"/>
              </a:rPr>
              <a:t>PIÈGE</a:t>
            </a:r>
            <a:endParaRPr lang="en-US" sz="1200" dirty="0"/>
          </a:p>
        </p:txBody>
      </p:sp>
      <p:sp>
        <p:nvSpPr>
          <p:cNvPr id="17" name="anim03_a"/>
          <p:cNvSpPr txBox="1"/>
          <p:nvPr/>
        </p:nvSpPr>
        <p:spPr>
          <a:xfrm>
            <a:off x="8458200" y="4389120"/>
            <a:ext cx="3017520" cy="411480"/>
          </a:xfrm>
          <a:prstGeom prst="rect">
            <a:avLst/>
          </a:prstGeom>
          <a:noFill/>
          <a:ln/>
        </p:spPr>
        <p:txBody>
          <a:bodyPr wrap="square" lIns="0" tIns="0" rIns="0" bIns="0" rtlCol="0" anchor="t"/>
          <a:lstStyle/>
          <a:p>
            <a:pPr indent="0" marL="0">
              <a:buNone/>
            </a:pPr>
            <a:r>
              <a:rPr lang="en-US" sz="2000" b="1" dirty="0">
                <a:solidFill>
                  <a:srgbClr val="F4F2FF"/>
                </a:solidFill>
                <a:latin typeface="Arial" pitchFamily="34" charset="0"/>
                <a:ea typeface="Arial" pitchFamily="34" charset="-122"/>
                <a:cs typeface="Arial" pitchFamily="34" charset="-120"/>
              </a:rPr>
              <a:t>Fréquent ≠ rentable</a:t>
            </a:r>
            <a:endParaRPr lang="en-US" sz="2000" dirty="0"/>
          </a:p>
        </p:txBody>
      </p:sp>
      <p:sp>
        <p:nvSpPr>
          <p:cNvPr id="18" name="anim03_b"/>
          <p:cNvSpPr txBox="1"/>
          <p:nvPr/>
        </p:nvSpPr>
        <p:spPr>
          <a:xfrm>
            <a:off x="8458200" y="4846320"/>
            <a:ext cx="3017520" cy="1051560"/>
          </a:xfrm>
          <a:prstGeom prst="rect">
            <a:avLst/>
          </a:prstGeom>
          <a:noFill/>
          <a:ln/>
        </p:spPr>
        <p:txBody>
          <a:bodyPr wrap="square" lIns="0" tIns="0" rIns="0" bIns="0" rtlCol="0" anchor="t"/>
          <a:lstStyle/>
          <a:p>
            <a:pPr indent="0" marL="0">
              <a:buNone/>
            </a:pPr>
            <a:r>
              <a:rPr lang="en-US" sz="1300" dirty="0">
                <a:solidFill>
                  <a:srgbClr val="A9A5D1"/>
                </a:solidFill>
                <a:latin typeface="Arial" pitchFamily="34" charset="0"/>
                <a:ea typeface="Arial" pitchFamily="34" charset="-122"/>
                <a:cs typeface="Arial" pitchFamily="34" charset="-120"/>
              </a:rPr>
              <a:t>L'Aventure vend 3 fois moins que son poids dans le catalogue. Les Plates-formes chutent de 12 % à 5 % des ventes.</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1"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28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28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28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28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56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56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56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56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05 ▸ BOSS FINAL</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Market Power Index : Nintendo hors catégorie</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FFD23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10/12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1981200" cy="100584"/>
          </a:xfrm>
          <a:prstGeom prst="roundRect">
            <a:avLst>
              <a:gd name="adj" fmla="val 45455"/>
            </a:avLst>
          </a:prstGeom>
          <a:solidFill>
            <a:srgbClr val="00E5FF"/>
          </a:solidFill>
          <a:ln/>
        </p:spPr>
      </p:sp>
      <p:graphicFrame>
        <p:nvGraphicFramePr>
          <p:cNvPr id="10" name="anim01_chart" descr=""/>
          <p:cNvGraphicFramePr/>
          <p:nvPr/>
        </p:nvGraphicFramePr>
        <p:xfrm>
          <a:off x="457200" y="1691640"/>
          <a:ext cx="6309360" cy="3794760"/>
        </p:xfrm>
        <a:graphic xmlns:a="http://schemas.openxmlformats.org/drawingml/2006/main">
          <a:graphicData uri="http://schemas.openxmlformats.org/drawingml/2006/chart">
            <c:chart xmlns:c="http://schemas.openxmlformats.org/drawingml/2006/chart" r:id="rId2"/>
          </a:graphicData>
        </a:graphic>
      </p:graphicFrame>
      <p:pic>
        <p:nvPicPr>
          <p:cNvPr id="11" name="anim01_ti" descr="preencoded.png">    </p:cNvPr>
          <p:cNvPicPr>
            <a:picLocks noChangeAspect="1"/>
          </p:cNvPicPr>
          <p:nvPr/>
        </p:nvPicPr>
        <p:blipFill>
          <a:blip r:embed="rId3"/>
          <a:stretch>
            <a:fillRect/>
          </a:stretch>
        </p:blipFill>
        <p:spPr>
          <a:xfrm>
            <a:off x="548640" y="5605272"/>
            <a:ext cx="329184" cy="329184"/>
          </a:xfrm>
          <a:prstGeom prst="rect">
            <a:avLst/>
          </a:prstGeom>
        </p:spPr>
      </p:pic>
      <p:sp>
        <p:nvSpPr>
          <p:cNvPr id="12" name="anim01_tt"/>
          <p:cNvSpPr txBox="1"/>
          <p:nvPr/>
        </p:nvSpPr>
        <p:spPr>
          <a:xfrm>
            <a:off x="1005840" y="5559552"/>
            <a:ext cx="5852160" cy="438912"/>
          </a:xfrm>
          <a:prstGeom prst="rect">
            <a:avLst/>
          </a:prstGeom>
          <a:noFill/>
          <a:ln/>
        </p:spPr>
        <p:txBody>
          <a:bodyPr wrap="square" lIns="0" tIns="0" rIns="0" bIns="0" rtlCol="0" anchor="ctr"/>
          <a:lstStyle/>
          <a:p>
            <a:pPr indent="0" marL="0">
              <a:buNone/>
            </a:pPr>
            <a:r>
              <a:rPr lang="en-US" sz="1400" b="1" dirty="0">
                <a:solidFill>
                  <a:srgbClr val="F4F2FF"/>
                </a:solidFill>
                <a:latin typeface="Arial" pitchFamily="34" charset="0"/>
                <a:ea typeface="Arial" pitchFamily="34" charset="-122"/>
                <a:cs typeface="Arial" pitchFamily="34" charset="-120"/>
              </a:rPr>
              <a:t>Le pouvoir de marché récompense le taux de succès, pas la taille du catalogue.</a:t>
            </a:r>
            <a:endParaRPr lang="en-US" sz="1400" dirty="0"/>
          </a:p>
        </p:txBody>
      </p:sp>
      <p:sp>
        <p:nvSpPr>
          <p:cNvPr id="13" name="anim02_card"/>
          <p:cNvSpPr/>
          <p:nvPr/>
        </p:nvSpPr>
        <p:spPr>
          <a:xfrm>
            <a:off x="7086600" y="1691640"/>
            <a:ext cx="4553712" cy="4343400"/>
          </a:xfrm>
          <a:prstGeom prst="roundRect">
            <a:avLst>
              <a:gd name="adj" fmla="val 2526"/>
            </a:avLst>
          </a:prstGeom>
          <a:solidFill>
            <a:srgbClr val="16142F"/>
          </a:solidFill>
          <a:ln w="22225">
            <a:solidFill>
              <a:srgbClr val="FFD23F"/>
            </a:solidFill>
            <a:prstDash val="solid"/>
          </a:ln>
          <a:effectLst>
            <a:outerShdw sx="100000" sy="100000" kx="0" ky="0" algn="bl" rotWithShape="0" blurRad="152400" dist="38100" dir="5400000">
              <a:srgbClr val="000000">
                <a:alpha val="45000"/>
              </a:srgbClr>
            </a:outerShdw>
          </a:effectLst>
        </p:spPr>
      </p:sp>
      <p:pic>
        <p:nvPicPr>
          <p:cNvPr id="14" name="anim02_cr" descr="preencoded.png">    </p:cNvPr>
          <p:cNvPicPr>
            <a:picLocks noChangeAspect="1"/>
          </p:cNvPicPr>
          <p:nvPr/>
        </p:nvPicPr>
        <p:blipFill>
          <a:blip r:embed="rId4"/>
          <a:stretch>
            <a:fillRect/>
          </a:stretch>
        </p:blipFill>
        <p:spPr>
          <a:xfrm>
            <a:off x="7360920" y="1920240"/>
            <a:ext cx="384048" cy="384048"/>
          </a:xfrm>
          <a:prstGeom prst="rect">
            <a:avLst/>
          </a:prstGeom>
        </p:spPr>
      </p:pic>
      <p:sp>
        <p:nvSpPr>
          <p:cNvPr id="15" name="anim02_h"/>
          <p:cNvSpPr txBox="1"/>
          <p:nvPr/>
        </p:nvSpPr>
        <p:spPr>
          <a:xfrm>
            <a:off x="7863840" y="1920240"/>
            <a:ext cx="3200400" cy="384048"/>
          </a:xfrm>
          <a:prstGeom prst="rect">
            <a:avLst/>
          </a:prstGeom>
          <a:noFill/>
          <a:ln/>
        </p:spPr>
        <p:txBody>
          <a:bodyPr wrap="square" lIns="0" tIns="0" rIns="0" bIns="0" rtlCol="0" anchor="ctr"/>
          <a:lstStyle/>
          <a:p>
            <a:pPr indent="0" marL="0">
              <a:buNone/>
            </a:pPr>
            <a:r>
              <a:rPr lang="en-US" sz="1500" b="1" spc="200" kern="0" dirty="0">
                <a:solidFill>
                  <a:srgbClr val="FFD23F"/>
                </a:solidFill>
                <a:latin typeface="Courier New" pitchFamily="34" charset="0"/>
                <a:ea typeface="Courier New" pitchFamily="34" charset="-122"/>
                <a:cs typeface="Courier New" pitchFamily="34" charset="-120"/>
              </a:rPr>
              <a:t>BOSS · NINTENDO</a:t>
            </a:r>
            <a:endParaRPr lang="en-US" sz="1500" dirty="0"/>
          </a:p>
        </p:txBody>
      </p:sp>
      <p:sp>
        <p:nvSpPr>
          <p:cNvPr id="16" name="anim02_sc"/>
          <p:cNvSpPr txBox="1"/>
          <p:nvPr/>
        </p:nvSpPr>
        <p:spPr>
          <a:xfrm>
            <a:off x="7360920" y="2377440"/>
            <a:ext cx="3200400" cy="777240"/>
          </a:xfrm>
          <a:prstGeom prst="rect">
            <a:avLst/>
          </a:prstGeom>
          <a:noFill/>
          <a:ln/>
        </p:spPr>
        <p:txBody>
          <a:bodyPr wrap="square" lIns="0" tIns="0" rIns="0" bIns="0" rtlCol="0" anchor="ctr"/>
          <a:lstStyle/>
          <a:p>
            <a:pPr indent="0" marL="0">
              <a:buNone/>
            </a:pPr>
            <a:r>
              <a:rPr lang="en-US" sz="4800" b="1" dirty="0">
                <a:solidFill>
                  <a:srgbClr val="FFD23F"/>
                </a:solidFill>
                <a:latin typeface="Arial" pitchFamily="34" charset="0"/>
                <a:ea typeface="Arial" pitchFamily="34" charset="-122"/>
                <a:cs typeface="Arial" pitchFamily="34" charset="-120"/>
              </a:rPr>
              <a:t>95,5</a:t>
            </a:r>
            <a:pPr indent="0" marL="0">
              <a:buNone/>
            </a:pPr>
            <a:r>
              <a:rPr lang="en-US" sz="2000" b="1" dirty="0">
                <a:solidFill>
                  <a:srgbClr val="A9A5D1"/>
                </a:solidFill>
                <a:latin typeface="Arial" pitchFamily="34" charset="0"/>
                <a:ea typeface="Arial" pitchFamily="34" charset="-122"/>
                <a:cs typeface="Arial" pitchFamily="34" charset="-120"/>
              </a:rPr>
              <a:t> /100</a:t>
            </a:r>
            <a:endParaRPr lang="en-US" sz="4800" dirty="0"/>
          </a:p>
        </p:txBody>
      </p:sp>
      <p:sp>
        <p:nvSpPr>
          <p:cNvPr id="17" name="anim03_l"/>
          <p:cNvSpPr txBox="1"/>
          <p:nvPr/>
        </p:nvSpPr>
        <p:spPr>
          <a:xfrm>
            <a:off x="7360920" y="3337560"/>
            <a:ext cx="1920240" cy="27432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Part de marché</a:t>
            </a:r>
            <a:endParaRPr lang="en-US" sz="1300" dirty="0"/>
          </a:p>
        </p:txBody>
      </p:sp>
      <p:sp>
        <p:nvSpPr>
          <p:cNvPr id="18" name="anim03_tr"/>
          <p:cNvSpPr/>
          <p:nvPr/>
        </p:nvSpPr>
        <p:spPr>
          <a:xfrm>
            <a:off x="9326880" y="3419856"/>
            <a:ext cx="1600200" cy="118872"/>
          </a:xfrm>
          <a:prstGeom prst="roundRect">
            <a:avLst>
              <a:gd name="adj" fmla="val 46154"/>
            </a:avLst>
          </a:prstGeom>
          <a:solidFill>
            <a:srgbClr val="2A2750"/>
          </a:solidFill>
          <a:ln/>
        </p:spPr>
      </p:sp>
      <p:sp>
        <p:nvSpPr>
          <p:cNvPr id="19" name="anim03_f"/>
          <p:cNvSpPr/>
          <p:nvPr/>
        </p:nvSpPr>
        <p:spPr>
          <a:xfrm>
            <a:off x="9326880" y="3419856"/>
            <a:ext cx="1600200" cy="118872"/>
          </a:xfrm>
          <a:prstGeom prst="roundRect">
            <a:avLst>
              <a:gd name="adj" fmla="val 46154"/>
            </a:avLst>
          </a:prstGeom>
          <a:solidFill>
            <a:srgbClr val="FFD23F"/>
          </a:solidFill>
          <a:ln/>
        </p:spPr>
      </p:sp>
      <p:sp>
        <p:nvSpPr>
          <p:cNvPr id="20" name="anim03_v"/>
          <p:cNvSpPr txBox="1"/>
          <p:nvPr/>
        </p:nvSpPr>
        <p:spPr>
          <a:xfrm>
            <a:off x="11018520" y="3337560"/>
            <a:ext cx="365760" cy="274320"/>
          </a:xfrm>
          <a:prstGeom prst="rect">
            <a:avLst/>
          </a:prstGeom>
          <a:noFill/>
          <a:ln/>
        </p:spPr>
        <p:txBody>
          <a:bodyPr wrap="square" lIns="0" tIns="0" rIns="0" bIns="0" rtlCol="0" anchor="ctr"/>
          <a:lstStyle/>
          <a:p>
            <a:pPr indent="0" marL="0">
              <a:buNone/>
            </a:pPr>
            <a:r>
              <a:rPr lang="en-US" sz="1300" b="1" dirty="0">
                <a:solidFill>
                  <a:srgbClr val="F4F2FF"/>
                </a:solidFill>
                <a:latin typeface="Arial" pitchFamily="34" charset="0"/>
                <a:ea typeface="Arial" pitchFamily="34" charset="-122"/>
                <a:cs typeface="Arial" pitchFamily="34" charset="-120"/>
              </a:rPr>
              <a:t>100</a:t>
            </a:r>
            <a:endParaRPr lang="en-US" sz="1300" dirty="0"/>
          </a:p>
        </p:txBody>
      </p:sp>
      <p:sp>
        <p:nvSpPr>
          <p:cNvPr id="21" name="anim04_l"/>
          <p:cNvSpPr txBox="1"/>
          <p:nvPr/>
        </p:nvSpPr>
        <p:spPr>
          <a:xfrm>
            <a:off x="7360920" y="3767328"/>
            <a:ext cx="1920240" cy="27432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Leadership (&gt; 30 %)</a:t>
            </a:r>
            <a:endParaRPr lang="en-US" sz="1300" dirty="0"/>
          </a:p>
        </p:txBody>
      </p:sp>
      <p:sp>
        <p:nvSpPr>
          <p:cNvPr id="22" name="anim04_tr"/>
          <p:cNvSpPr/>
          <p:nvPr/>
        </p:nvSpPr>
        <p:spPr>
          <a:xfrm>
            <a:off x="9326880" y="3849624"/>
            <a:ext cx="1600200" cy="118872"/>
          </a:xfrm>
          <a:prstGeom prst="roundRect">
            <a:avLst>
              <a:gd name="adj" fmla="val 46154"/>
            </a:avLst>
          </a:prstGeom>
          <a:solidFill>
            <a:srgbClr val="2A2750"/>
          </a:solidFill>
          <a:ln/>
        </p:spPr>
      </p:sp>
      <p:sp>
        <p:nvSpPr>
          <p:cNvPr id="23" name="anim04_f"/>
          <p:cNvSpPr/>
          <p:nvPr/>
        </p:nvSpPr>
        <p:spPr>
          <a:xfrm>
            <a:off x="9326880" y="3849624"/>
            <a:ext cx="1600200" cy="118872"/>
          </a:xfrm>
          <a:prstGeom prst="roundRect">
            <a:avLst>
              <a:gd name="adj" fmla="val 46154"/>
            </a:avLst>
          </a:prstGeom>
          <a:solidFill>
            <a:srgbClr val="FFD23F"/>
          </a:solidFill>
          <a:ln/>
        </p:spPr>
      </p:sp>
      <p:sp>
        <p:nvSpPr>
          <p:cNvPr id="24" name="anim04_v"/>
          <p:cNvSpPr txBox="1"/>
          <p:nvPr/>
        </p:nvSpPr>
        <p:spPr>
          <a:xfrm>
            <a:off x="11018520" y="3767328"/>
            <a:ext cx="365760" cy="274320"/>
          </a:xfrm>
          <a:prstGeom prst="rect">
            <a:avLst/>
          </a:prstGeom>
          <a:noFill/>
          <a:ln/>
        </p:spPr>
        <p:txBody>
          <a:bodyPr wrap="square" lIns="0" tIns="0" rIns="0" bIns="0" rtlCol="0" anchor="ctr"/>
          <a:lstStyle/>
          <a:p>
            <a:pPr indent="0" marL="0">
              <a:buNone/>
            </a:pPr>
            <a:r>
              <a:rPr lang="en-US" sz="1300" b="1" dirty="0">
                <a:solidFill>
                  <a:srgbClr val="F4F2FF"/>
                </a:solidFill>
                <a:latin typeface="Arial" pitchFamily="34" charset="0"/>
                <a:ea typeface="Arial" pitchFamily="34" charset="-122"/>
                <a:cs typeface="Arial" pitchFamily="34" charset="-120"/>
              </a:rPr>
              <a:t>100</a:t>
            </a:r>
            <a:endParaRPr lang="en-US" sz="1300" dirty="0"/>
          </a:p>
        </p:txBody>
      </p:sp>
      <p:sp>
        <p:nvSpPr>
          <p:cNvPr id="25" name="anim05_l"/>
          <p:cNvSpPr txBox="1"/>
          <p:nvPr/>
        </p:nvSpPr>
        <p:spPr>
          <a:xfrm>
            <a:off x="7360920" y="4197096"/>
            <a:ext cx="1920240" cy="27432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Diversité des genres</a:t>
            </a:r>
            <a:endParaRPr lang="en-US" sz="1300" dirty="0"/>
          </a:p>
        </p:txBody>
      </p:sp>
      <p:sp>
        <p:nvSpPr>
          <p:cNvPr id="26" name="anim05_tr"/>
          <p:cNvSpPr/>
          <p:nvPr/>
        </p:nvSpPr>
        <p:spPr>
          <a:xfrm>
            <a:off x="9326880" y="4279392"/>
            <a:ext cx="1600200" cy="118872"/>
          </a:xfrm>
          <a:prstGeom prst="roundRect">
            <a:avLst>
              <a:gd name="adj" fmla="val 46154"/>
            </a:avLst>
          </a:prstGeom>
          <a:solidFill>
            <a:srgbClr val="2A2750"/>
          </a:solidFill>
          <a:ln/>
        </p:spPr>
      </p:sp>
      <p:sp>
        <p:nvSpPr>
          <p:cNvPr id="27" name="anim05_f"/>
          <p:cNvSpPr/>
          <p:nvPr/>
        </p:nvSpPr>
        <p:spPr>
          <a:xfrm>
            <a:off x="9326880" y="4279392"/>
            <a:ext cx="1563395" cy="118872"/>
          </a:xfrm>
          <a:prstGeom prst="roundRect">
            <a:avLst>
              <a:gd name="adj" fmla="val 46154"/>
            </a:avLst>
          </a:prstGeom>
          <a:solidFill>
            <a:srgbClr val="FFD23F"/>
          </a:solidFill>
          <a:ln/>
        </p:spPr>
      </p:sp>
      <p:sp>
        <p:nvSpPr>
          <p:cNvPr id="28" name="anim05_v"/>
          <p:cNvSpPr txBox="1"/>
          <p:nvPr/>
        </p:nvSpPr>
        <p:spPr>
          <a:xfrm>
            <a:off x="11018520" y="4197096"/>
            <a:ext cx="365760" cy="274320"/>
          </a:xfrm>
          <a:prstGeom prst="rect">
            <a:avLst/>
          </a:prstGeom>
          <a:noFill/>
          <a:ln/>
        </p:spPr>
        <p:txBody>
          <a:bodyPr wrap="square" lIns="0" tIns="0" rIns="0" bIns="0" rtlCol="0" anchor="ctr"/>
          <a:lstStyle/>
          <a:p>
            <a:pPr indent="0" marL="0">
              <a:buNone/>
            </a:pPr>
            <a:r>
              <a:rPr lang="en-US" sz="1300" b="1" dirty="0">
                <a:solidFill>
                  <a:srgbClr val="F4F2FF"/>
                </a:solidFill>
                <a:latin typeface="Arial" pitchFamily="34" charset="0"/>
                <a:ea typeface="Arial" pitchFamily="34" charset="-122"/>
                <a:cs typeface="Arial" pitchFamily="34" charset="-120"/>
              </a:rPr>
              <a:t>98</a:t>
            </a:r>
            <a:endParaRPr lang="en-US" sz="1300" dirty="0"/>
          </a:p>
        </p:txBody>
      </p:sp>
      <p:sp>
        <p:nvSpPr>
          <p:cNvPr id="29" name="anim06_l"/>
          <p:cNvSpPr txBox="1"/>
          <p:nvPr/>
        </p:nvSpPr>
        <p:spPr>
          <a:xfrm>
            <a:off x="7360920" y="4626864"/>
            <a:ext cx="1920240" cy="27432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Constance régionale</a:t>
            </a:r>
            <a:endParaRPr lang="en-US" sz="1300" dirty="0"/>
          </a:p>
        </p:txBody>
      </p:sp>
      <p:sp>
        <p:nvSpPr>
          <p:cNvPr id="30" name="anim06_tr"/>
          <p:cNvSpPr/>
          <p:nvPr/>
        </p:nvSpPr>
        <p:spPr>
          <a:xfrm>
            <a:off x="9326880" y="4709160"/>
            <a:ext cx="1600200" cy="118872"/>
          </a:xfrm>
          <a:prstGeom prst="roundRect">
            <a:avLst>
              <a:gd name="adj" fmla="val 46154"/>
            </a:avLst>
          </a:prstGeom>
          <a:solidFill>
            <a:srgbClr val="2A2750"/>
          </a:solidFill>
          <a:ln/>
        </p:spPr>
      </p:sp>
      <p:sp>
        <p:nvSpPr>
          <p:cNvPr id="31" name="anim06_f"/>
          <p:cNvSpPr/>
          <p:nvPr/>
        </p:nvSpPr>
        <p:spPr>
          <a:xfrm>
            <a:off x="9326880" y="4709160"/>
            <a:ext cx="1371371" cy="118872"/>
          </a:xfrm>
          <a:prstGeom prst="roundRect">
            <a:avLst>
              <a:gd name="adj" fmla="val 46154"/>
            </a:avLst>
          </a:prstGeom>
          <a:solidFill>
            <a:srgbClr val="00E5FF"/>
          </a:solidFill>
          <a:ln/>
        </p:spPr>
      </p:sp>
      <p:sp>
        <p:nvSpPr>
          <p:cNvPr id="32" name="anim06_v"/>
          <p:cNvSpPr txBox="1"/>
          <p:nvPr/>
        </p:nvSpPr>
        <p:spPr>
          <a:xfrm>
            <a:off x="11018520" y="4626864"/>
            <a:ext cx="365760" cy="274320"/>
          </a:xfrm>
          <a:prstGeom prst="rect">
            <a:avLst/>
          </a:prstGeom>
          <a:noFill/>
          <a:ln/>
        </p:spPr>
        <p:txBody>
          <a:bodyPr wrap="square" lIns="0" tIns="0" rIns="0" bIns="0" rtlCol="0" anchor="ctr"/>
          <a:lstStyle/>
          <a:p>
            <a:pPr indent="0" marL="0">
              <a:buNone/>
            </a:pPr>
            <a:r>
              <a:rPr lang="en-US" sz="1300" b="1" dirty="0">
                <a:solidFill>
                  <a:srgbClr val="F4F2FF"/>
                </a:solidFill>
                <a:latin typeface="Arial" pitchFamily="34" charset="0"/>
                <a:ea typeface="Arial" pitchFamily="34" charset="-122"/>
                <a:cs typeface="Arial" pitchFamily="34" charset="-120"/>
              </a:rPr>
              <a:t>86</a:t>
            </a:r>
            <a:endParaRPr lang="en-US" sz="1300" dirty="0"/>
          </a:p>
        </p:txBody>
      </p:sp>
      <p:sp>
        <p:nvSpPr>
          <p:cNvPr id="33" name="anim07_l"/>
          <p:cNvSpPr txBox="1"/>
          <p:nvPr/>
        </p:nvSpPr>
        <p:spPr>
          <a:xfrm>
            <a:off x="7360920" y="5056632"/>
            <a:ext cx="1920240" cy="274320"/>
          </a:xfrm>
          <a:prstGeom prst="rect">
            <a:avLst/>
          </a:prstGeom>
          <a:noFill/>
          <a:ln/>
        </p:spPr>
        <p:txBody>
          <a:bodyPr wrap="square" lIns="0" tIns="0" rIns="0" bIns="0" rtlCol="0" anchor="ctr"/>
          <a:lstStyle/>
          <a:p>
            <a:pPr indent="0" marL="0">
              <a:buNone/>
            </a:pPr>
            <a:r>
              <a:rPr lang="en-US" sz="1300" dirty="0">
                <a:solidFill>
                  <a:srgbClr val="A9A5D1"/>
                </a:solidFill>
                <a:latin typeface="Arial" pitchFamily="34" charset="0"/>
                <a:ea typeface="Arial" pitchFamily="34" charset="-122"/>
                <a:cs typeface="Arial" pitchFamily="34" charset="-120"/>
              </a:rPr>
              <a:t>Taux de hits</a:t>
            </a:r>
            <a:endParaRPr lang="en-US" sz="1300" dirty="0"/>
          </a:p>
        </p:txBody>
      </p:sp>
      <p:sp>
        <p:nvSpPr>
          <p:cNvPr id="34" name="anim07_tr"/>
          <p:cNvSpPr/>
          <p:nvPr/>
        </p:nvSpPr>
        <p:spPr>
          <a:xfrm>
            <a:off x="9326880" y="5138928"/>
            <a:ext cx="1600200" cy="118872"/>
          </a:xfrm>
          <a:prstGeom prst="roundRect">
            <a:avLst>
              <a:gd name="adj" fmla="val 46154"/>
            </a:avLst>
          </a:prstGeom>
          <a:solidFill>
            <a:srgbClr val="2A2750"/>
          </a:solidFill>
          <a:ln/>
        </p:spPr>
      </p:sp>
      <p:sp>
        <p:nvSpPr>
          <p:cNvPr id="35" name="anim07_f"/>
          <p:cNvSpPr/>
          <p:nvPr/>
        </p:nvSpPr>
        <p:spPr>
          <a:xfrm>
            <a:off x="9326880" y="5138928"/>
            <a:ext cx="1507388" cy="118872"/>
          </a:xfrm>
          <a:prstGeom prst="roundRect">
            <a:avLst>
              <a:gd name="adj" fmla="val 46154"/>
            </a:avLst>
          </a:prstGeom>
          <a:solidFill>
            <a:srgbClr val="00E5FF"/>
          </a:solidFill>
          <a:ln/>
        </p:spPr>
      </p:sp>
      <p:sp>
        <p:nvSpPr>
          <p:cNvPr id="36" name="anim07_v"/>
          <p:cNvSpPr txBox="1"/>
          <p:nvPr/>
        </p:nvSpPr>
        <p:spPr>
          <a:xfrm>
            <a:off x="11018520" y="5056632"/>
            <a:ext cx="365760" cy="274320"/>
          </a:xfrm>
          <a:prstGeom prst="rect">
            <a:avLst/>
          </a:prstGeom>
          <a:noFill/>
          <a:ln/>
        </p:spPr>
        <p:txBody>
          <a:bodyPr wrap="square" lIns="0" tIns="0" rIns="0" bIns="0" rtlCol="0" anchor="ctr"/>
          <a:lstStyle/>
          <a:p>
            <a:pPr indent="0" marL="0">
              <a:buNone/>
            </a:pPr>
            <a:r>
              <a:rPr lang="en-US" sz="1300" b="1" dirty="0">
                <a:solidFill>
                  <a:srgbClr val="F4F2FF"/>
                </a:solidFill>
                <a:latin typeface="Arial" pitchFamily="34" charset="0"/>
                <a:ea typeface="Arial" pitchFamily="34" charset="-122"/>
                <a:cs typeface="Arial" pitchFamily="34" charset="-120"/>
              </a:rPr>
              <a:t>94</a:t>
            </a:r>
            <a:endParaRPr lang="en-US" sz="1300" dirty="0"/>
          </a:p>
        </p:txBody>
      </p:sp>
      <p:sp>
        <p:nvSpPr>
          <p:cNvPr id="37" name="anim08_ft"/>
          <p:cNvSpPr txBox="1"/>
          <p:nvPr/>
        </p:nvSpPr>
        <p:spPr>
          <a:xfrm>
            <a:off x="7360920" y="5532120"/>
            <a:ext cx="4005072" cy="384048"/>
          </a:xfrm>
          <a:prstGeom prst="rect">
            <a:avLst/>
          </a:prstGeom>
          <a:noFill/>
          <a:ln/>
        </p:spPr>
        <p:txBody>
          <a:bodyPr wrap="square" lIns="0" tIns="0" rIns="0" bIns="0" rtlCol="0" anchor="t"/>
          <a:lstStyle/>
          <a:p>
            <a:pPr indent="0" marL="0">
              <a:buNone/>
            </a:pPr>
            <a:r>
              <a:rPr lang="en-US" sz="1200" dirty="0">
                <a:solidFill>
                  <a:srgbClr val="FFD23F"/>
                </a:solidFill>
                <a:latin typeface="Arial" pitchFamily="34" charset="0"/>
                <a:ea typeface="Arial" pitchFamily="34" charset="-122"/>
                <a:cs typeface="Arial" pitchFamily="34" charset="-120"/>
              </a:rPr>
              <a:t>1er dans 100 % des pondérations testées · 20 % des ventes · les 10 jeux les plus vendus</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28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28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28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28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56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56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56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par>
                                <p:cTn id="34" presetID="10" presetClass="entr" presetSubtype="0" fill="hold" nodeType="withEffect">
                                  <p:stCondLst>
                                    <p:cond delay="56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50"/>
                                        <p:tgtEl>
                                          <p:spTgt spid="20"/>
                                        </p:tgtEl>
                                      </p:cBhvr>
                                    </p:animEffect>
                                  </p:childTnLst>
                                </p:cTn>
                              </p:par>
                              <p:par>
                                <p:cTn id="37" presetID="10" presetClass="entr" presetSubtype="0" fill="hold" nodeType="withEffect">
                                  <p:stCondLst>
                                    <p:cond delay="84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nodeType="withEffect">
                                  <p:stCondLst>
                                    <p:cond delay="84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nodeType="withEffect">
                                  <p:stCondLst>
                                    <p:cond delay="84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nodeType="withEffect">
                                  <p:stCondLst>
                                    <p:cond delay="84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nodeType="withEffect">
                                  <p:stCondLst>
                                    <p:cond delay="112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par>
                                <p:cTn id="52" presetID="10" presetClass="entr" presetSubtype="0" fill="hold" nodeType="withEffect">
                                  <p:stCondLst>
                                    <p:cond delay="112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50"/>
                                        <p:tgtEl>
                                          <p:spTgt spid="26"/>
                                        </p:tgtEl>
                                      </p:cBhvr>
                                    </p:animEffect>
                                  </p:childTnLst>
                                </p:cTn>
                              </p:par>
                              <p:par>
                                <p:cTn id="55" presetID="10" presetClass="entr" presetSubtype="0" fill="hold" nodeType="withEffect">
                                  <p:stCondLst>
                                    <p:cond delay="112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450"/>
                                        <p:tgtEl>
                                          <p:spTgt spid="27"/>
                                        </p:tgtEl>
                                      </p:cBhvr>
                                    </p:animEffect>
                                  </p:childTnLst>
                                </p:cTn>
                              </p:par>
                              <p:par>
                                <p:cTn id="58" presetID="10" presetClass="entr" presetSubtype="0" fill="hold" nodeType="withEffect">
                                  <p:stCondLst>
                                    <p:cond delay="112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450"/>
                                        <p:tgtEl>
                                          <p:spTgt spid="28"/>
                                        </p:tgtEl>
                                      </p:cBhvr>
                                    </p:animEffect>
                                  </p:childTnLst>
                                </p:cTn>
                              </p:par>
                              <p:par>
                                <p:cTn id="61" presetID="10" presetClass="entr" presetSubtype="0" fill="hold" nodeType="withEffect">
                                  <p:stCondLst>
                                    <p:cond delay="140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450"/>
                                        <p:tgtEl>
                                          <p:spTgt spid="29"/>
                                        </p:tgtEl>
                                      </p:cBhvr>
                                    </p:animEffect>
                                  </p:childTnLst>
                                </p:cTn>
                              </p:par>
                              <p:par>
                                <p:cTn id="64" presetID="10" presetClass="entr" presetSubtype="0" fill="hold" nodeType="withEffect">
                                  <p:stCondLst>
                                    <p:cond delay="140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450"/>
                                        <p:tgtEl>
                                          <p:spTgt spid="30"/>
                                        </p:tgtEl>
                                      </p:cBhvr>
                                    </p:animEffect>
                                  </p:childTnLst>
                                </p:cTn>
                              </p:par>
                              <p:par>
                                <p:cTn id="67" presetID="10" presetClass="entr" presetSubtype="0" fill="hold" nodeType="withEffect">
                                  <p:stCondLst>
                                    <p:cond delay="140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450"/>
                                        <p:tgtEl>
                                          <p:spTgt spid="31"/>
                                        </p:tgtEl>
                                      </p:cBhvr>
                                    </p:animEffect>
                                  </p:childTnLst>
                                </p:cTn>
                              </p:par>
                              <p:par>
                                <p:cTn id="70" presetID="10" presetClass="entr" presetSubtype="0" fill="hold" nodeType="withEffect">
                                  <p:stCondLst>
                                    <p:cond delay="140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450"/>
                                        <p:tgtEl>
                                          <p:spTgt spid="32"/>
                                        </p:tgtEl>
                                      </p:cBhvr>
                                    </p:animEffect>
                                  </p:childTnLst>
                                </p:cTn>
                              </p:par>
                              <p:par>
                                <p:cTn id="73" presetID="10" presetClass="entr" presetSubtype="0" fill="hold" nodeType="withEffect">
                                  <p:stCondLst>
                                    <p:cond delay="168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450"/>
                                        <p:tgtEl>
                                          <p:spTgt spid="33"/>
                                        </p:tgtEl>
                                      </p:cBhvr>
                                    </p:animEffect>
                                  </p:childTnLst>
                                </p:cTn>
                              </p:par>
                              <p:par>
                                <p:cTn id="76" presetID="10" presetClass="entr" presetSubtype="0" fill="hold" nodeType="withEffect">
                                  <p:stCondLst>
                                    <p:cond delay="168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450"/>
                                        <p:tgtEl>
                                          <p:spTgt spid="34"/>
                                        </p:tgtEl>
                                      </p:cBhvr>
                                    </p:animEffect>
                                  </p:childTnLst>
                                </p:cTn>
                              </p:par>
                              <p:par>
                                <p:cTn id="79" presetID="10" presetClass="entr" presetSubtype="0" fill="hold" nodeType="withEffect">
                                  <p:stCondLst>
                                    <p:cond delay="168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50"/>
                                        <p:tgtEl>
                                          <p:spTgt spid="35"/>
                                        </p:tgtEl>
                                      </p:cBhvr>
                                    </p:animEffect>
                                  </p:childTnLst>
                                </p:cTn>
                              </p:par>
                              <p:par>
                                <p:cTn id="82" presetID="10" presetClass="entr" presetSubtype="0" fill="hold" nodeType="withEffect">
                                  <p:stCondLst>
                                    <p:cond delay="168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50"/>
                                        <p:tgtEl>
                                          <p:spTgt spid="36"/>
                                        </p:tgtEl>
                                      </p:cBhvr>
                                    </p:animEffect>
                                  </p:childTnLst>
                                </p:cTn>
                              </p:par>
                              <p:par>
                                <p:cTn id="85" presetID="10" presetClass="entr" presetSubtype="0" fill="hold" nodeType="withEffect">
                                  <p:stCondLst>
                                    <p:cond delay="196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LVL 06 ▸ LIVE DEMO</a:t>
            </a:r>
            <a:endParaRPr lang="en-US" sz="1300" dirty="0"/>
          </a:p>
        </p:txBody>
      </p:sp>
      <p:sp>
        <p:nvSpPr>
          <p:cNvPr id="3" name="!!badge"/>
          <p:cNvSpPr/>
          <p:nvPr/>
        </p:nvSpPr>
        <p:spPr>
          <a:xfrm>
            <a:off x="11000232" y="502920"/>
            <a:ext cx="658368" cy="658368"/>
          </a:xfrm>
          <a:prstGeom prst="roundRect">
            <a:avLst>
              <a:gd name="adj" fmla="val 19444"/>
            </a:avLst>
          </a:prstGeom>
          <a:solidFill>
            <a:srgbClr val="16142F"/>
          </a:solidFill>
          <a:ln w="19050">
            <a:solidFill>
              <a:srgbClr val="FF2E88"/>
            </a:solidFill>
            <a:prstDash val="solid"/>
          </a:ln>
          <a:effectLst>
            <a:outerShdw sx="100000" sy="100000" kx="0" ky="0" algn="bl" rotWithShape="0" blurRad="152400" dist="38100" dir="5400000">
              <a:srgbClr val="000000">
                <a:alpha val="45000"/>
              </a:srgbClr>
            </a:outerShdw>
          </a:effectLst>
        </p:spPr>
      </p:sp>
      <p:pic>
        <p:nvPicPr>
          <p:cNvPr id="4" name="!!badgeic" descr="preencoded.png">    </p:cNvPr>
          <p:cNvPicPr>
            <a:picLocks noChangeAspect="1"/>
          </p:cNvPicPr>
          <p:nvPr/>
        </p:nvPicPr>
        <p:blipFill>
          <a:blip r:embed="rId1"/>
          <a:stretch>
            <a:fillRect/>
          </a:stretch>
        </p:blipFill>
        <p:spPr>
          <a:xfrm>
            <a:off x="11155680" y="658368"/>
            <a:ext cx="347472" cy="347472"/>
          </a:xfrm>
          <a:prstGeom prst="rect">
            <a:avLst/>
          </a:prstGeom>
        </p:spPr>
      </p:pic>
      <p:sp>
        <p:nvSpPr>
          <p:cNvPr id="5" name="anim01_rec"/>
          <p:cNvSpPr/>
          <p:nvPr/>
        </p:nvSpPr>
        <p:spPr>
          <a:xfrm>
            <a:off x="594360" y="1993392"/>
            <a:ext cx="292608" cy="292608"/>
          </a:xfrm>
          <a:prstGeom prst="ellipse">
            <a:avLst/>
          </a:prstGeom>
          <a:solidFill>
            <a:srgbClr val="FF2E88"/>
          </a:solidFill>
          <a:ln/>
        </p:spPr>
      </p:sp>
      <p:sp>
        <p:nvSpPr>
          <p:cNvPr id="6" name="anim01_live"/>
          <p:cNvSpPr txBox="1"/>
          <p:nvPr/>
        </p:nvSpPr>
        <p:spPr>
          <a:xfrm>
            <a:off x="1051560" y="1938528"/>
            <a:ext cx="2743200" cy="411480"/>
          </a:xfrm>
          <a:prstGeom prst="rect">
            <a:avLst/>
          </a:prstGeom>
          <a:noFill/>
          <a:ln/>
        </p:spPr>
        <p:txBody>
          <a:bodyPr wrap="square" lIns="0" tIns="0" rIns="0" bIns="0" rtlCol="0" anchor="ctr"/>
          <a:lstStyle/>
          <a:p>
            <a:pPr indent="0" marL="0">
              <a:buNone/>
            </a:pPr>
            <a:r>
              <a:rPr lang="en-US" sz="1600" b="1" spc="300" kern="0" dirty="0">
                <a:solidFill>
                  <a:srgbClr val="FF2E88"/>
                </a:solidFill>
                <a:latin typeface="Courier New" pitchFamily="34" charset="0"/>
                <a:ea typeface="Courier New" pitchFamily="34" charset="-122"/>
                <a:cs typeface="Courier New" pitchFamily="34" charset="-120"/>
              </a:rPr>
              <a:t>EN DIRECT</a:t>
            </a:r>
            <a:endParaRPr lang="en-US" sz="1600" dirty="0"/>
          </a:p>
        </p:txBody>
      </p:sp>
      <p:sp>
        <p:nvSpPr>
          <p:cNvPr id="7" name="!!title"/>
          <p:cNvSpPr txBox="1"/>
          <p:nvPr/>
        </p:nvSpPr>
        <p:spPr>
          <a:xfrm>
            <a:off x="548640" y="2377440"/>
            <a:ext cx="5120640" cy="2286000"/>
          </a:xfrm>
          <a:prstGeom prst="rect">
            <a:avLst/>
          </a:prstGeom>
          <a:noFill/>
          <a:ln/>
        </p:spPr>
        <p:txBody>
          <a:bodyPr wrap="square" lIns="0" tIns="0" rIns="0" bIns="0" rtlCol="0" anchor="ctr"/>
          <a:lstStyle/>
          <a:p>
            <a:pPr indent="0" marL="0">
              <a:lnSpc>
                <a:spcPct val="88000"/>
              </a:lnSpc>
              <a:buNone/>
            </a:pPr>
            <a:r>
              <a:rPr lang="en-US" sz="8000" b="1" dirty="0">
                <a:solidFill>
                  <a:srgbClr val="FF2E88"/>
                </a:solidFill>
                <a:latin typeface="Arial" pitchFamily="34" charset="0"/>
                <a:ea typeface="Arial" pitchFamily="34" charset="-122"/>
                <a:cs typeface="Arial" pitchFamily="34" charset="-120"/>
              </a:rPr>
              <a:t>LIVE</a:t>
            </a:r>
            <a:endParaRPr lang="en-US" sz="8000" dirty="0"/>
          </a:p>
          <a:p>
            <a:pPr indent="0" marL="0">
              <a:lnSpc>
                <a:spcPct val="88000"/>
              </a:lnSpc>
              <a:buNone/>
            </a:pPr>
            <a:r>
              <a:rPr lang="en-US" sz="8000" b="1" dirty="0">
                <a:solidFill>
                  <a:srgbClr val="F4F2FF"/>
                </a:solidFill>
                <a:latin typeface="Arial" pitchFamily="34" charset="0"/>
                <a:ea typeface="Arial" pitchFamily="34" charset="-122"/>
                <a:cs typeface="Arial" pitchFamily="34" charset="-120"/>
              </a:rPr>
              <a:t>DEMO</a:t>
            </a:r>
            <a:endParaRPr lang="en-US" sz="8000" dirty="0"/>
          </a:p>
        </p:txBody>
      </p:sp>
      <p:sp>
        <p:nvSpPr>
          <p:cNvPr id="8" name="sub"/>
          <p:cNvSpPr txBox="1"/>
          <p:nvPr/>
        </p:nvSpPr>
        <p:spPr>
          <a:xfrm>
            <a:off x="548640" y="4846320"/>
            <a:ext cx="5120640" cy="365760"/>
          </a:xfrm>
          <a:prstGeom prst="rect">
            <a:avLst/>
          </a:prstGeom>
          <a:noFill/>
          <a:ln/>
        </p:spPr>
        <p:txBody>
          <a:bodyPr wrap="square" lIns="0" tIns="0" rIns="0" bIns="0" rtlCol="0" anchor="t"/>
          <a:lstStyle/>
          <a:p>
            <a:pPr indent="0" marL="0">
              <a:buNone/>
            </a:pPr>
            <a:r>
              <a:rPr lang="en-US" sz="1800" dirty="0">
                <a:solidFill>
                  <a:srgbClr val="A9A5D1"/>
                </a:solidFill>
                <a:latin typeface="Arial" pitchFamily="34" charset="0"/>
                <a:ea typeface="Arial" pitchFamily="34" charset="-122"/>
                <a:cs typeface="Arial" pitchFamily="34" charset="-120"/>
              </a:rPr>
              <a:t>Interface Streamlit · 8 pages</a:t>
            </a:r>
            <a:endParaRPr lang="en-US" sz="1800" dirty="0"/>
          </a:p>
        </p:txBody>
      </p:sp>
      <p:sp>
        <p:nvSpPr>
          <p:cNvPr id="9" name="cmd"/>
          <p:cNvSpPr txBox="1"/>
          <p:nvPr/>
        </p:nvSpPr>
        <p:spPr>
          <a:xfrm>
            <a:off x="548640" y="5303520"/>
            <a:ext cx="5303520" cy="320040"/>
          </a:xfrm>
          <a:prstGeom prst="rect">
            <a:avLst/>
          </a:prstGeom>
          <a:noFill/>
          <a:ln/>
        </p:spPr>
        <p:txBody>
          <a:bodyPr wrap="square" lIns="0" tIns="0" rIns="0" bIns="0" rtlCol="0" anchor="t"/>
          <a:lstStyle/>
          <a:p>
            <a:pPr indent="0" marL="0">
              <a:buNone/>
            </a:pPr>
            <a:r>
              <a:rPr lang="en-US" sz="1400" b="1" dirty="0">
                <a:solidFill>
                  <a:srgbClr val="00E5FF"/>
                </a:solidFill>
                <a:latin typeface="Courier New" pitchFamily="34" charset="0"/>
                <a:ea typeface="Courier New" pitchFamily="34" charset="-122"/>
                <a:cs typeface="Courier New" pitchFamily="34" charset="-120"/>
              </a:rPr>
              <a:t>python run_app.py  →  localhost:8501</a:t>
            </a:r>
            <a:endParaRPr lang="en-US" sz="1400" dirty="0"/>
          </a:p>
        </p:txBody>
      </p:sp>
      <p:sp>
        <p:nvSpPr>
          <p:cNvPr id="10" name="anim02_c"/>
          <p:cNvSpPr/>
          <p:nvPr/>
        </p:nvSpPr>
        <p:spPr>
          <a:xfrm>
            <a:off x="6309360" y="1783080"/>
            <a:ext cx="5330952" cy="1170432"/>
          </a:xfrm>
          <a:prstGeom prst="roundRect">
            <a:avLst>
              <a:gd name="adj" fmla="val 9375"/>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1" name="anim02_o"/>
          <p:cNvSpPr/>
          <p:nvPr/>
        </p:nvSpPr>
        <p:spPr>
          <a:xfrm>
            <a:off x="6565392" y="2075688"/>
            <a:ext cx="585216" cy="585216"/>
          </a:xfrm>
          <a:prstGeom prst="ellipse">
            <a:avLst/>
          </a:prstGeom>
          <a:solidFill>
            <a:srgbClr val="00E5FF">
              <a:alpha val="18000"/>
            </a:srgbClr>
          </a:solidFill>
          <a:ln/>
        </p:spPr>
      </p:sp>
      <p:pic>
        <p:nvPicPr>
          <p:cNvPr id="12" name="anim02_i" descr="preencoded.png">    </p:cNvPr>
          <p:cNvPicPr>
            <a:picLocks noChangeAspect="1"/>
          </p:cNvPicPr>
          <p:nvPr/>
        </p:nvPicPr>
        <p:blipFill>
          <a:blip r:embed="rId2"/>
          <a:stretch>
            <a:fillRect/>
          </a:stretch>
        </p:blipFill>
        <p:spPr>
          <a:xfrm>
            <a:off x="6702552" y="2212848"/>
            <a:ext cx="310896" cy="310896"/>
          </a:xfrm>
          <a:prstGeom prst="rect">
            <a:avLst/>
          </a:prstGeom>
        </p:spPr>
      </p:pic>
      <p:sp>
        <p:nvSpPr>
          <p:cNvPr id="13" name="anim02_k"/>
          <p:cNvSpPr txBox="1"/>
          <p:nvPr/>
        </p:nvSpPr>
        <p:spPr>
          <a:xfrm>
            <a:off x="7360920" y="1965960"/>
            <a:ext cx="1828800" cy="256032"/>
          </a:xfrm>
          <a:prstGeom prst="rect">
            <a:avLst/>
          </a:prstGeom>
          <a:noFill/>
          <a:ln/>
        </p:spPr>
        <p:txBody>
          <a:bodyPr wrap="square" lIns="0" tIns="0" rIns="0" bIns="0" rtlCol="0" anchor="t"/>
          <a:lstStyle/>
          <a:p>
            <a:pPr indent="0" marL="0">
              <a:buNone/>
            </a:pPr>
            <a:r>
              <a:rPr lang="en-US" sz="1200" b="1" spc="200" kern="0" dirty="0">
                <a:solidFill>
                  <a:srgbClr val="00E5FF"/>
                </a:solidFill>
                <a:latin typeface="Courier New" pitchFamily="34" charset="0"/>
                <a:ea typeface="Courier New" pitchFamily="34" charset="-122"/>
                <a:cs typeface="Courier New" pitchFamily="34" charset="-120"/>
              </a:rPr>
              <a:t>QUÊTE 1</a:t>
            </a:r>
            <a:endParaRPr lang="en-US" sz="1200" dirty="0"/>
          </a:p>
        </p:txBody>
      </p:sp>
      <p:sp>
        <p:nvSpPr>
          <p:cNvPr id="14" name="anim02_t"/>
          <p:cNvSpPr txBox="1"/>
          <p:nvPr/>
        </p:nvSpPr>
        <p:spPr>
          <a:xfrm>
            <a:off x="7360920" y="2221992"/>
            <a:ext cx="4114800" cy="320040"/>
          </a:xfrm>
          <a:prstGeom prst="rect">
            <a:avLst/>
          </a:prstGeom>
          <a:noFill/>
          <a:ln/>
        </p:spPr>
        <p:txBody>
          <a:bodyPr wrap="square" lIns="0" tIns="0" rIns="0" bIns="0" rtlCol="0" anchor="t"/>
          <a:lstStyle/>
          <a:p>
            <a:pPr indent="0" marL="0">
              <a:buNone/>
            </a:pPr>
            <a:r>
              <a:rPr lang="en-US" sz="1700" b="1" dirty="0">
                <a:solidFill>
                  <a:srgbClr val="F4F2FF"/>
                </a:solidFill>
                <a:latin typeface="Arial" pitchFamily="34" charset="0"/>
                <a:ea typeface="Arial" pitchFamily="34" charset="-122"/>
                <a:cs typeface="Arial" pitchFamily="34" charset="-120"/>
              </a:rPr>
              <a:t>Régler les poids du MPI</a:t>
            </a:r>
            <a:endParaRPr lang="en-US" sz="1700" dirty="0"/>
          </a:p>
        </p:txBody>
      </p:sp>
      <p:sp>
        <p:nvSpPr>
          <p:cNvPr id="15" name="anim02_d"/>
          <p:cNvSpPr txBox="1"/>
          <p:nvPr/>
        </p:nvSpPr>
        <p:spPr>
          <a:xfrm>
            <a:off x="7360920" y="2551176"/>
            <a:ext cx="4114800" cy="274320"/>
          </a:xfrm>
          <a:prstGeom prst="rect">
            <a:avLst/>
          </a:prstGeom>
          <a:noFill/>
          <a:ln/>
        </p:spPr>
        <p:txBody>
          <a:bodyPr wrap="square" lIns="0" tIns="0" rIns="0" bIns="0" rtlCol="0" anchor="t"/>
          <a:lstStyle/>
          <a:p>
            <a:pPr indent="0" marL="0">
              <a:buNone/>
            </a:pPr>
            <a:r>
              <a:rPr lang="en-US" sz="1300" dirty="0">
                <a:solidFill>
                  <a:srgbClr val="A9A5D1"/>
                </a:solidFill>
                <a:latin typeface="Arial" pitchFamily="34" charset="0"/>
                <a:ea typeface="Arial" pitchFamily="34" charset="-122"/>
                <a:cs typeface="Arial" pitchFamily="34" charset="-120"/>
              </a:rPr>
              <a:t>le classement des éditeurs change en direct</a:t>
            </a:r>
            <a:endParaRPr lang="en-US" sz="1300" dirty="0"/>
          </a:p>
        </p:txBody>
      </p:sp>
      <p:sp>
        <p:nvSpPr>
          <p:cNvPr id="16" name="anim03_c"/>
          <p:cNvSpPr/>
          <p:nvPr/>
        </p:nvSpPr>
        <p:spPr>
          <a:xfrm>
            <a:off x="6309360" y="3154680"/>
            <a:ext cx="5330952" cy="1170432"/>
          </a:xfrm>
          <a:prstGeom prst="roundRect">
            <a:avLst>
              <a:gd name="adj" fmla="val 9375"/>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7" name="anim03_o"/>
          <p:cNvSpPr/>
          <p:nvPr/>
        </p:nvSpPr>
        <p:spPr>
          <a:xfrm>
            <a:off x="6565392" y="3447288"/>
            <a:ext cx="585216" cy="585216"/>
          </a:xfrm>
          <a:prstGeom prst="ellipse">
            <a:avLst/>
          </a:prstGeom>
          <a:solidFill>
            <a:srgbClr val="00E5FF">
              <a:alpha val="18000"/>
            </a:srgbClr>
          </a:solidFill>
          <a:ln/>
        </p:spPr>
      </p:sp>
      <p:pic>
        <p:nvPicPr>
          <p:cNvPr id="18" name="anim03_i" descr="preencoded.png">    </p:cNvPr>
          <p:cNvPicPr>
            <a:picLocks noChangeAspect="1"/>
          </p:cNvPicPr>
          <p:nvPr/>
        </p:nvPicPr>
        <p:blipFill>
          <a:blip r:embed="rId3"/>
          <a:stretch>
            <a:fillRect/>
          </a:stretch>
        </p:blipFill>
        <p:spPr>
          <a:xfrm>
            <a:off x="6702552" y="3584448"/>
            <a:ext cx="310896" cy="310896"/>
          </a:xfrm>
          <a:prstGeom prst="rect">
            <a:avLst/>
          </a:prstGeom>
        </p:spPr>
      </p:pic>
      <p:sp>
        <p:nvSpPr>
          <p:cNvPr id="19" name="anim03_k"/>
          <p:cNvSpPr txBox="1"/>
          <p:nvPr/>
        </p:nvSpPr>
        <p:spPr>
          <a:xfrm>
            <a:off x="7360920" y="3337560"/>
            <a:ext cx="1828800" cy="256032"/>
          </a:xfrm>
          <a:prstGeom prst="rect">
            <a:avLst/>
          </a:prstGeom>
          <a:noFill/>
          <a:ln/>
        </p:spPr>
        <p:txBody>
          <a:bodyPr wrap="square" lIns="0" tIns="0" rIns="0" bIns="0" rtlCol="0" anchor="t"/>
          <a:lstStyle/>
          <a:p>
            <a:pPr indent="0" marL="0">
              <a:buNone/>
            </a:pPr>
            <a:r>
              <a:rPr lang="en-US" sz="1200" b="1" spc="200" kern="0" dirty="0">
                <a:solidFill>
                  <a:srgbClr val="00E5FF"/>
                </a:solidFill>
                <a:latin typeface="Courier New" pitchFamily="34" charset="0"/>
                <a:ea typeface="Courier New" pitchFamily="34" charset="-122"/>
                <a:cs typeface="Courier New" pitchFamily="34" charset="-120"/>
              </a:rPr>
              <a:t>QUÊTE 2</a:t>
            </a:r>
            <a:endParaRPr lang="en-US" sz="1200" dirty="0"/>
          </a:p>
        </p:txBody>
      </p:sp>
      <p:sp>
        <p:nvSpPr>
          <p:cNvPr id="20" name="anim03_t"/>
          <p:cNvSpPr txBox="1"/>
          <p:nvPr/>
        </p:nvSpPr>
        <p:spPr>
          <a:xfrm>
            <a:off x="7360920" y="3593592"/>
            <a:ext cx="4114800" cy="320040"/>
          </a:xfrm>
          <a:prstGeom prst="rect">
            <a:avLst/>
          </a:prstGeom>
          <a:noFill/>
          <a:ln/>
        </p:spPr>
        <p:txBody>
          <a:bodyPr wrap="square" lIns="0" tIns="0" rIns="0" bIns="0" rtlCol="0" anchor="t"/>
          <a:lstStyle/>
          <a:p>
            <a:pPr indent="0" marL="0">
              <a:buNone/>
            </a:pPr>
            <a:r>
              <a:rPr lang="en-US" sz="1700" b="1" dirty="0">
                <a:solidFill>
                  <a:srgbClr val="F4F2FF"/>
                </a:solidFill>
                <a:latin typeface="Arial" pitchFamily="34" charset="0"/>
                <a:ea typeface="Arial" pitchFamily="34" charset="-122"/>
                <a:cs typeface="Arial" pitchFamily="34" charset="-120"/>
              </a:rPr>
              <a:t>Cliquer sur un jeu</a:t>
            </a:r>
            <a:endParaRPr lang="en-US" sz="1700" dirty="0"/>
          </a:p>
        </p:txBody>
      </p:sp>
      <p:sp>
        <p:nvSpPr>
          <p:cNvPr id="21" name="anim03_d"/>
          <p:cNvSpPr txBox="1"/>
          <p:nvPr/>
        </p:nvSpPr>
        <p:spPr>
          <a:xfrm>
            <a:off x="7360920" y="3922776"/>
            <a:ext cx="4114800" cy="274320"/>
          </a:xfrm>
          <a:prstGeom prst="rect">
            <a:avLst/>
          </a:prstGeom>
          <a:noFill/>
          <a:ln/>
        </p:spPr>
        <p:txBody>
          <a:bodyPr wrap="square" lIns="0" tIns="0" rIns="0" bIns="0" rtlCol="0" anchor="t"/>
          <a:lstStyle/>
          <a:p>
            <a:pPr indent="0" marL="0">
              <a:buNone/>
            </a:pPr>
            <a:r>
              <a:rPr lang="en-US" sz="1300" dirty="0">
                <a:solidFill>
                  <a:srgbClr val="A9A5D1"/>
                </a:solidFill>
                <a:latin typeface="Arial" pitchFamily="34" charset="0"/>
                <a:ea typeface="Arial" pitchFamily="34" charset="-122"/>
                <a:cs typeface="Arial" pitchFamily="34" charset="-120"/>
              </a:rPr>
              <a:t>sa fiche et son profil régional s'ouvrent</a:t>
            </a:r>
            <a:endParaRPr lang="en-US" sz="1300" dirty="0"/>
          </a:p>
        </p:txBody>
      </p:sp>
      <p:sp>
        <p:nvSpPr>
          <p:cNvPr id="22" name="anim04_c"/>
          <p:cNvSpPr/>
          <p:nvPr/>
        </p:nvSpPr>
        <p:spPr>
          <a:xfrm>
            <a:off x="6309360" y="4526280"/>
            <a:ext cx="5330952" cy="1170432"/>
          </a:xfrm>
          <a:prstGeom prst="roundRect">
            <a:avLst>
              <a:gd name="adj" fmla="val 9375"/>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23" name="anim04_o"/>
          <p:cNvSpPr/>
          <p:nvPr/>
        </p:nvSpPr>
        <p:spPr>
          <a:xfrm>
            <a:off x="6565392" y="4818888"/>
            <a:ext cx="585216" cy="585216"/>
          </a:xfrm>
          <a:prstGeom prst="ellipse">
            <a:avLst/>
          </a:prstGeom>
          <a:solidFill>
            <a:srgbClr val="00E5FF">
              <a:alpha val="18000"/>
            </a:srgbClr>
          </a:solidFill>
          <a:ln/>
        </p:spPr>
      </p:sp>
      <p:pic>
        <p:nvPicPr>
          <p:cNvPr id="24" name="anim04_i" descr="preencoded.png">    </p:cNvPr>
          <p:cNvPicPr>
            <a:picLocks noChangeAspect="1"/>
          </p:cNvPicPr>
          <p:nvPr/>
        </p:nvPicPr>
        <p:blipFill>
          <a:blip r:embed="rId4"/>
          <a:stretch>
            <a:fillRect/>
          </a:stretch>
        </p:blipFill>
        <p:spPr>
          <a:xfrm>
            <a:off x="6702552" y="4956048"/>
            <a:ext cx="310896" cy="310896"/>
          </a:xfrm>
          <a:prstGeom prst="rect">
            <a:avLst/>
          </a:prstGeom>
        </p:spPr>
      </p:pic>
      <p:sp>
        <p:nvSpPr>
          <p:cNvPr id="25" name="anim04_k"/>
          <p:cNvSpPr txBox="1"/>
          <p:nvPr/>
        </p:nvSpPr>
        <p:spPr>
          <a:xfrm>
            <a:off x="7360920" y="4709160"/>
            <a:ext cx="1828800" cy="256032"/>
          </a:xfrm>
          <a:prstGeom prst="rect">
            <a:avLst/>
          </a:prstGeom>
          <a:noFill/>
          <a:ln/>
        </p:spPr>
        <p:txBody>
          <a:bodyPr wrap="square" lIns="0" tIns="0" rIns="0" bIns="0" rtlCol="0" anchor="t"/>
          <a:lstStyle/>
          <a:p>
            <a:pPr indent="0" marL="0">
              <a:buNone/>
            </a:pPr>
            <a:r>
              <a:rPr lang="en-US" sz="1200" b="1" spc="200" kern="0" dirty="0">
                <a:solidFill>
                  <a:srgbClr val="00E5FF"/>
                </a:solidFill>
                <a:latin typeface="Courier New" pitchFamily="34" charset="0"/>
                <a:ea typeface="Courier New" pitchFamily="34" charset="-122"/>
                <a:cs typeface="Courier New" pitchFamily="34" charset="-120"/>
              </a:rPr>
              <a:t>QUÊTE 3</a:t>
            </a:r>
            <a:endParaRPr lang="en-US" sz="1200" dirty="0"/>
          </a:p>
        </p:txBody>
      </p:sp>
      <p:sp>
        <p:nvSpPr>
          <p:cNvPr id="26" name="anim04_t"/>
          <p:cNvSpPr txBox="1"/>
          <p:nvPr/>
        </p:nvSpPr>
        <p:spPr>
          <a:xfrm>
            <a:off x="7360920" y="4965192"/>
            <a:ext cx="4114800" cy="320040"/>
          </a:xfrm>
          <a:prstGeom prst="rect">
            <a:avLst/>
          </a:prstGeom>
          <a:noFill/>
          <a:ln/>
        </p:spPr>
        <p:txBody>
          <a:bodyPr wrap="square" lIns="0" tIns="0" rIns="0" bIns="0" rtlCol="0" anchor="t"/>
          <a:lstStyle/>
          <a:p>
            <a:pPr indent="0" marL="0">
              <a:buNone/>
            </a:pPr>
            <a:r>
              <a:rPr lang="en-US" sz="1700" b="1" dirty="0">
                <a:solidFill>
                  <a:srgbClr val="F4F2FF"/>
                </a:solidFill>
                <a:latin typeface="Arial" pitchFamily="34" charset="0"/>
                <a:ea typeface="Arial" pitchFamily="34" charset="-122"/>
                <a:cs typeface="Arial" pitchFamily="34" charset="-120"/>
              </a:rPr>
              <a:t>Filtrer période, genre, constructeur</a:t>
            </a:r>
            <a:endParaRPr lang="en-US" sz="1700" dirty="0"/>
          </a:p>
        </p:txBody>
      </p:sp>
      <p:sp>
        <p:nvSpPr>
          <p:cNvPr id="27" name="anim04_d"/>
          <p:cNvSpPr txBox="1"/>
          <p:nvPr/>
        </p:nvSpPr>
        <p:spPr>
          <a:xfrm>
            <a:off x="7360920" y="5294376"/>
            <a:ext cx="4114800" cy="274320"/>
          </a:xfrm>
          <a:prstGeom prst="rect">
            <a:avLst/>
          </a:prstGeom>
          <a:noFill/>
          <a:ln/>
        </p:spPr>
        <p:txBody>
          <a:bodyPr wrap="square" lIns="0" tIns="0" rIns="0" bIns="0" rtlCol="0" anchor="t"/>
          <a:lstStyle/>
          <a:p>
            <a:pPr indent="0" marL="0">
              <a:buNone/>
            </a:pPr>
            <a:r>
              <a:rPr lang="en-US" sz="1300" dirty="0">
                <a:solidFill>
                  <a:srgbClr val="A9A5D1"/>
                </a:solidFill>
                <a:latin typeface="Arial" pitchFamily="34" charset="0"/>
                <a:ea typeface="Arial" pitchFamily="34" charset="-122"/>
                <a:cs typeface="Arial" pitchFamily="34" charset="-120"/>
              </a:rPr>
              <a:t>toutes les pages suivent le filtre</a:t>
            </a:r>
            <a:endParaRPr lang="en-US" sz="1300" dirty="0"/>
          </a:p>
        </p:txBody>
      </p:sp>
      <p:sp>
        <p:nvSpPr>
          <p:cNvPr id="28"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29"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11/12</a:t>
            </a:r>
            <a:endParaRPr lang="en-US" sz="1000" dirty="0"/>
          </a:p>
        </p:txBody>
      </p:sp>
      <p:sp>
        <p:nvSpPr>
          <p:cNvPr id="30" name="!!xptrack"/>
          <p:cNvSpPr/>
          <p:nvPr/>
        </p:nvSpPr>
        <p:spPr>
          <a:xfrm>
            <a:off x="9262872" y="6400800"/>
            <a:ext cx="2377440" cy="100584"/>
          </a:xfrm>
          <a:prstGeom prst="roundRect">
            <a:avLst>
              <a:gd name="adj" fmla="val 45455"/>
            </a:avLst>
          </a:prstGeom>
          <a:solidFill>
            <a:srgbClr val="2A2750"/>
          </a:solidFill>
          <a:ln/>
        </p:spPr>
      </p:sp>
      <p:sp>
        <p:nvSpPr>
          <p:cNvPr id="31" name="!!xpfill"/>
          <p:cNvSpPr/>
          <p:nvPr/>
        </p:nvSpPr>
        <p:spPr>
          <a:xfrm>
            <a:off x="9262872" y="6400800"/>
            <a:ext cx="2179320" cy="100584"/>
          </a:xfrm>
          <a:prstGeom prst="roundRect">
            <a:avLst>
              <a:gd name="adj" fmla="val 45455"/>
            </a:avLst>
          </a:prstGeom>
          <a:solidFill>
            <a:srgbClr val="00E5FF"/>
          </a:solidFill>
          <a:ln/>
        </p:spPr>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par>
                                <p:cTn id="10" presetID="10" presetClass="entr" presetSubtype="0" fill="hold" nodeType="withEffect">
                                  <p:stCondLst>
                                    <p:cond delay="28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par>
                                <p:cTn id="13" presetID="10" presetClass="entr" presetSubtype="0" fill="hold" nodeType="withEffect">
                                  <p:stCondLst>
                                    <p:cond delay="28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par>
                                <p:cTn id="16" presetID="10" presetClass="entr" presetSubtype="0" fill="hold" nodeType="withEffect">
                                  <p:stCondLst>
                                    <p:cond delay="28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50"/>
                                        <p:tgtEl>
                                          <p:spTgt spid="12"/>
                                        </p:tgtEl>
                                      </p:cBhvr>
                                    </p:animEffect>
                                  </p:childTnLst>
                                </p:cTn>
                              </p:par>
                              <p:par>
                                <p:cTn id="19" presetID="10" presetClass="entr" presetSubtype="0" fill="hold" nodeType="withEffect">
                                  <p:stCondLst>
                                    <p:cond delay="28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28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28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56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nodeType="withEffect">
                                  <p:stCondLst>
                                    <p:cond delay="56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nodeType="withEffect">
                                  <p:stCondLst>
                                    <p:cond delay="56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nodeType="withEffect">
                                  <p:stCondLst>
                                    <p:cond delay="56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nodeType="withEffect">
                                  <p:stCondLst>
                                    <p:cond delay="56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par>
                                <p:cTn id="43" presetID="10" presetClass="entr" presetSubtype="0" fill="hold" nodeType="withEffect">
                                  <p:stCondLst>
                                    <p:cond delay="56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450"/>
                                        <p:tgtEl>
                                          <p:spTgt spid="21"/>
                                        </p:tgtEl>
                                      </p:cBhvr>
                                    </p:animEffect>
                                  </p:childTnLst>
                                </p:cTn>
                              </p:par>
                              <p:par>
                                <p:cTn id="46" presetID="10" presetClass="entr" presetSubtype="0" fill="hold" nodeType="withEffect">
                                  <p:stCondLst>
                                    <p:cond delay="84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childTnLst>
                                </p:cTn>
                              </p:par>
                              <p:par>
                                <p:cTn id="49" presetID="10" presetClass="entr" presetSubtype="0" fill="hold" nodeType="withEffect">
                                  <p:stCondLst>
                                    <p:cond delay="84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84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84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par>
                                <p:cTn id="58" presetID="10" presetClass="entr" presetSubtype="0" fill="hold" nodeType="withEffect">
                                  <p:stCondLst>
                                    <p:cond delay="84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childTnLst>
                                </p:cTn>
                              </p:par>
                              <p:par>
                                <p:cTn id="61" presetID="10" presetClass="entr" presetSubtype="0" fill="hold" nodeType="withEffect">
                                  <p:stCondLst>
                                    <p:cond delay="84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300" b="1" spc="200" kern="0" dirty="0">
                <a:solidFill>
                  <a:srgbClr val="00E5FF"/>
                </a:solidFill>
                <a:latin typeface="Courier New" pitchFamily="34" charset="0"/>
                <a:ea typeface="Courier New" pitchFamily="34" charset="-122"/>
                <a:cs typeface="Courier New" pitchFamily="34" charset="-120"/>
              </a:rPr>
              <a:t>FIN DE PARTIE ▸ NIVEAU SUIVANT</a:t>
            </a:r>
            <a:endParaRPr lang="en-US" sz="1300" dirty="0"/>
          </a:p>
        </p:txBody>
      </p:sp>
      <p:sp>
        <p:nvSpPr>
          <p:cNvPr id="3" name="!!title"/>
          <p:cNvSpPr txBox="1"/>
          <p:nvPr/>
        </p:nvSpPr>
        <p:spPr>
          <a:xfrm>
            <a:off x="548640" y="731520"/>
            <a:ext cx="9966960" cy="822960"/>
          </a:xfrm>
          <a:prstGeom prst="rect">
            <a:avLst/>
          </a:prstGeom>
          <a:noFill/>
          <a:ln/>
        </p:spPr>
        <p:txBody>
          <a:bodyPr wrap="square" lIns="0" tIns="0" rIns="0" bIns="0" rtlCol="0" anchor="ctr"/>
          <a:lstStyle/>
          <a:p>
            <a:pPr indent="0" marL="0">
              <a:buNone/>
            </a:pPr>
            <a:r>
              <a:rPr lang="en-US" sz="3000" b="1" dirty="0">
                <a:solidFill>
                  <a:srgbClr val="F4F2FF"/>
                </a:solidFill>
                <a:latin typeface="Arial" pitchFamily="34" charset="0"/>
                <a:ea typeface="Arial" pitchFamily="34" charset="-122"/>
                <a:cs typeface="Arial" pitchFamily="34" charset="-120"/>
              </a:rPr>
              <a:t>Les angles morts… et le niveau suivant</a:t>
            </a:r>
            <a:endParaRPr lang="en-US" sz="3000" dirty="0"/>
          </a:p>
        </p:txBody>
      </p:sp>
      <p:sp>
        <p:nvSpPr>
          <p:cNvPr id="4" name="!!badge"/>
          <p:cNvSpPr/>
          <p:nvPr/>
        </p:nvSpPr>
        <p:spPr>
          <a:xfrm>
            <a:off x="11000232" y="502920"/>
            <a:ext cx="658368" cy="658368"/>
          </a:xfrm>
          <a:prstGeom prst="roundRect">
            <a:avLst>
              <a:gd name="adj" fmla="val 19444"/>
            </a:avLst>
          </a:prstGeom>
          <a:solidFill>
            <a:srgbClr val="16142F"/>
          </a:solidFill>
          <a:ln w="19050">
            <a:solidFill>
              <a:srgbClr val="00E5FF"/>
            </a:solidFill>
            <a:prstDash val="solid"/>
          </a:ln>
          <a:effectLst>
            <a:outerShdw sx="100000" sy="100000" kx="0" ky="0" algn="bl" rotWithShape="0" blurRad="152400" dist="38100" dir="5400000">
              <a:srgbClr val="000000">
                <a:alpha val="45000"/>
              </a:srgbClr>
            </a:outerShdw>
          </a:effectLst>
        </p:spPr>
      </p:sp>
      <p:pic>
        <p:nvPicPr>
          <p:cNvPr id="5" name="!!badgeic" descr="preencoded.png">    </p:cNvPr>
          <p:cNvPicPr>
            <a:picLocks noChangeAspect="1"/>
          </p:cNvPicPr>
          <p:nvPr/>
        </p:nvPicPr>
        <p:blipFill>
          <a:blip r:embed="rId1"/>
          <a:stretch>
            <a:fillRect/>
          </a:stretch>
        </p:blipFill>
        <p:spPr>
          <a:xfrm>
            <a:off x="11128248" y="630936"/>
            <a:ext cx="402336" cy="402336"/>
          </a:xfrm>
          <a:prstGeom prst="rect">
            <a:avLst/>
          </a:prstGeom>
        </p:spPr>
      </p:pic>
      <p:sp>
        <p:nvSpPr>
          <p:cNvPr id="6" name="!!footer"/>
          <p:cNvSpPr txBox="1"/>
          <p:nvPr/>
        </p:nvSpPr>
        <p:spPr>
          <a:xfrm>
            <a:off x="548640" y="6336792"/>
            <a:ext cx="5486400" cy="228600"/>
          </a:xfrm>
          <a:prstGeom prst="rect">
            <a:avLst/>
          </a:prstGeom>
          <a:noFill/>
          <a:ln/>
        </p:spPr>
        <p:txBody>
          <a:bodyPr wrap="square" lIns="0" tIns="0" rIns="0" bIns="0" rtlCol="0" anchor="t"/>
          <a:lstStyle/>
          <a:p>
            <a:pPr indent="0" marL="0">
              <a:buNone/>
            </a:pPr>
            <a:r>
              <a:rPr lang="en-US" sz="1000" spc="100" kern="0" dirty="0">
                <a:solidFill>
                  <a:srgbClr val="6E6A9E"/>
                </a:solidFill>
                <a:latin typeface="Courier New" pitchFamily="34" charset="0"/>
                <a:ea typeface="Courier New" pitchFamily="34" charset="-122"/>
                <a:cs typeface="Courier New" pitchFamily="34" charset="-120"/>
              </a:rPr>
              <a:t>P1 · KHEIREDDINE BOUADI · DATA WRANGLING</a:t>
            </a:r>
            <a:endParaRPr lang="en-US" sz="1000" dirty="0"/>
          </a:p>
        </p:txBody>
      </p:sp>
      <p:sp>
        <p:nvSpPr>
          <p:cNvPr id="7" name="!!xplabel"/>
          <p:cNvSpPr txBox="1"/>
          <p:nvPr/>
        </p:nvSpPr>
        <p:spPr>
          <a:xfrm>
            <a:off x="7863840" y="6336792"/>
            <a:ext cx="1234440" cy="228600"/>
          </a:xfrm>
          <a:prstGeom prst="rect">
            <a:avLst/>
          </a:prstGeom>
          <a:noFill/>
          <a:ln/>
        </p:spPr>
        <p:txBody>
          <a:bodyPr wrap="square" lIns="0" tIns="0" rIns="0" bIns="0" rtlCol="0" anchor="t"/>
          <a:lstStyle/>
          <a:p>
            <a:pPr algn="r" indent="0" marL="0">
              <a:buNone/>
            </a:pPr>
            <a:r>
              <a:rPr lang="en-US" sz="1000" b="1" dirty="0">
                <a:solidFill>
                  <a:srgbClr val="A9A5D1"/>
                </a:solidFill>
                <a:latin typeface="Courier New" pitchFamily="34" charset="0"/>
                <a:ea typeface="Courier New" pitchFamily="34" charset="-122"/>
                <a:cs typeface="Courier New" pitchFamily="34" charset="-120"/>
              </a:rPr>
              <a:t>XP 12/12</a:t>
            </a:r>
            <a:endParaRPr lang="en-US" sz="1000" dirty="0"/>
          </a:p>
        </p:txBody>
      </p:sp>
      <p:sp>
        <p:nvSpPr>
          <p:cNvPr id="8" name="!!xptrack"/>
          <p:cNvSpPr/>
          <p:nvPr/>
        </p:nvSpPr>
        <p:spPr>
          <a:xfrm>
            <a:off x="9262872" y="6400800"/>
            <a:ext cx="2377440" cy="100584"/>
          </a:xfrm>
          <a:prstGeom prst="roundRect">
            <a:avLst>
              <a:gd name="adj" fmla="val 45455"/>
            </a:avLst>
          </a:prstGeom>
          <a:solidFill>
            <a:srgbClr val="2A2750"/>
          </a:solidFill>
          <a:ln/>
        </p:spPr>
      </p:sp>
      <p:sp>
        <p:nvSpPr>
          <p:cNvPr id="9" name="!!xpfill"/>
          <p:cNvSpPr/>
          <p:nvPr/>
        </p:nvSpPr>
        <p:spPr>
          <a:xfrm>
            <a:off x="9262872" y="6400800"/>
            <a:ext cx="2377440" cy="100584"/>
          </a:xfrm>
          <a:prstGeom prst="roundRect">
            <a:avLst>
              <a:gd name="adj" fmla="val 45455"/>
            </a:avLst>
          </a:prstGeom>
          <a:solidFill>
            <a:srgbClr val="00E5FF"/>
          </a:solidFill>
          <a:ln/>
        </p:spPr>
      </p:sp>
      <p:sp>
        <p:nvSpPr>
          <p:cNvPr id="10" name="anim01_c"/>
          <p:cNvSpPr/>
          <p:nvPr/>
        </p:nvSpPr>
        <p:spPr>
          <a:xfrm>
            <a:off x="548640" y="1783080"/>
            <a:ext cx="5486400" cy="4251960"/>
          </a:xfrm>
          <a:prstGeom prst="roundRect">
            <a:avLst>
              <a:gd name="adj" fmla="val 2581"/>
            </a:avLst>
          </a:prstGeom>
          <a:solidFill>
            <a:srgbClr val="16142F"/>
          </a:solidFill>
          <a:ln w="12700">
            <a:solidFill>
              <a:srgbClr val="3A3770"/>
            </a:solidFill>
            <a:prstDash val="solid"/>
          </a:ln>
          <a:effectLst>
            <a:outerShdw sx="100000" sy="100000" kx="0" ky="0" algn="bl" rotWithShape="0" blurRad="152400" dist="38100" dir="5400000">
              <a:srgbClr val="000000">
                <a:alpha val="45000"/>
              </a:srgbClr>
            </a:outerShdw>
          </a:effectLst>
        </p:spPr>
      </p:sp>
      <p:sp>
        <p:nvSpPr>
          <p:cNvPr id="11" name="anim01_k"/>
          <p:cNvSpPr txBox="1"/>
          <p:nvPr/>
        </p:nvSpPr>
        <p:spPr>
          <a:xfrm>
            <a:off x="868680" y="2011680"/>
            <a:ext cx="4572000" cy="274320"/>
          </a:xfrm>
          <a:prstGeom prst="rect">
            <a:avLst/>
          </a:prstGeom>
          <a:noFill/>
          <a:ln/>
        </p:spPr>
        <p:txBody>
          <a:bodyPr wrap="square" lIns="0" tIns="0" rIns="0" bIns="0" rtlCol="0" anchor="t"/>
          <a:lstStyle/>
          <a:p>
            <a:pPr indent="0" marL="0">
              <a:buNone/>
            </a:pPr>
            <a:r>
              <a:rPr lang="en-US" sz="1300" b="1" spc="200" kern="0" dirty="0">
                <a:solidFill>
                  <a:srgbClr val="FFD23F"/>
                </a:solidFill>
                <a:latin typeface="Courier New" pitchFamily="34" charset="0"/>
                <a:ea typeface="Courier New" pitchFamily="34" charset="-122"/>
                <a:cs typeface="Courier New" pitchFamily="34" charset="-120"/>
              </a:rPr>
              <a:t>ANGLES MORTS DE LA SOURCE</a:t>
            </a:r>
            <a:endParaRPr lang="en-US" sz="1300" dirty="0"/>
          </a:p>
        </p:txBody>
      </p:sp>
      <p:pic>
        <p:nvPicPr>
          <p:cNvPr id="12" name="anim02_i" descr="preencoded.png">    </p:cNvPr>
          <p:cNvPicPr>
            <a:picLocks noChangeAspect="1"/>
          </p:cNvPicPr>
          <p:nvPr/>
        </p:nvPicPr>
        <p:blipFill>
          <a:blip r:embed="rId2"/>
          <a:stretch>
            <a:fillRect/>
          </a:stretch>
        </p:blipFill>
        <p:spPr>
          <a:xfrm>
            <a:off x="868680" y="2560320"/>
            <a:ext cx="329184" cy="329184"/>
          </a:xfrm>
          <a:prstGeom prst="rect">
            <a:avLst/>
          </a:prstGeom>
        </p:spPr>
      </p:pic>
      <p:sp>
        <p:nvSpPr>
          <p:cNvPr id="13" name="anim02_t"/>
          <p:cNvSpPr txBox="1"/>
          <p:nvPr/>
        </p:nvSpPr>
        <p:spPr>
          <a:xfrm>
            <a:off x="1417320" y="2514600"/>
            <a:ext cx="4389120" cy="365760"/>
          </a:xfrm>
          <a:prstGeom prst="rect">
            <a:avLst/>
          </a:prstGeom>
          <a:noFill/>
          <a:ln/>
        </p:spPr>
        <p:txBody>
          <a:bodyPr wrap="square" lIns="0" tIns="0" rIns="0" bIns="0" rtlCol="0" anchor="t"/>
          <a:lstStyle/>
          <a:p>
            <a:pPr indent="0" marL="0">
              <a:buNone/>
            </a:pPr>
            <a:r>
              <a:rPr lang="en-US" sz="1700" b="1" dirty="0">
                <a:solidFill>
                  <a:srgbClr val="F4F2FF"/>
                </a:solidFill>
                <a:latin typeface="Arial" pitchFamily="34" charset="0"/>
                <a:ea typeface="Arial" pitchFamily="34" charset="-122"/>
                <a:cs typeface="Arial" pitchFamily="34" charset="-120"/>
              </a:rPr>
              <a:t>Pas de ventes dématérialisées ni mobiles</a:t>
            </a:r>
            <a:endParaRPr lang="en-US" sz="1700" dirty="0"/>
          </a:p>
        </p:txBody>
      </p:sp>
      <p:sp>
        <p:nvSpPr>
          <p:cNvPr id="14" name="anim02_d"/>
          <p:cNvSpPr txBox="1"/>
          <p:nvPr/>
        </p:nvSpPr>
        <p:spPr>
          <a:xfrm>
            <a:off x="1417320" y="2898648"/>
            <a:ext cx="4389120" cy="50292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Steam, PSN, App Store : invisibles dans VGChartz</a:t>
            </a:r>
            <a:endParaRPr lang="en-US" sz="1400" dirty="0"/>
          </a:p>
        </p:txBody>
      </p:sp>
      <p:pic>
        <p:nvPicPr>
          <p:cNvPr id="15" name="anim03_i" descr="preencoded.png">    </p:cNvPr>
          <p:cNvPicPr>
            <a:picLocks noChangeAspect="1"/>
          </p:cNvPicPr>
          <p:nvPr/>
        </p:nvPicPr>
        <p:blipFill>
          <a:blip r:embed="rId3"/>
          <a:stretch>
            <a:fillRect/>
          </a:stretch>
        </p:blipFill>
        <p:spPr>
          <a:xfrm>
            <a:off x="868680" y="3639312"/>
            <a:ext cx="329184" cy="329184"/>
          </a:xfrm>
          <a:prstGeom prst="rect">
            <a:avLst/>
          </a:prstGeom>
        </p:spPr>
      </p:pic>
      <p:sp>
        <p:nvSpPr>
          <p:cNvPr id="16" name="anim03_t"/>
          <p:cNvSpPr txBox="1"/>
          <p:nvPr/>
        </p:nvSpPr>
        <p:spPr>
          <a:xfrm>
            <a:off x="1417320" y="3593592"/>
            <a:ext cx="4389120" cy="365760"/>
          </a:xfrm>
          <a:prstGeom prst="rect">
            <a:avLst/>
          </a:prstGeom>
          <a:noFill/>
          <a:ln/>
        </p:spPr>
        <p:txBody>
          <a:bodyPr wrap="square" lIns="0" tIns="0" rIns="0" bIns="0" rtlCol="0" anchor="t"/>
          <a:lstStyle/>
          <a:p>
            <a:pPr indent="0" marL="0">
              <a:buNone/>
            </a:pPr>
            <a:r>
              <a:rPr lang="en-US" sz="1700" b="1" dirty="0">
                <a:solidFill>
                  <a:srgbClr val="F4F2FF"/>
                </a:solidFill>
                <a:latin typeface="Arial" pitchFamily="34" charset="0"/>
                <a:ea typeface="Arial" pitchFamily="34" charset="-122"/>
                <a:cs typeface="Arial" pitchFamily="34" charset="-120"/>
              </a:rPr>
              <a:t>Année 2016 incomplète</a:t>
            </a:r>
            <a:endParaRPr lang="en-US" sz="1700" dirty="0"/>
          </a:p>
        </p:txBody>
      </p:sp>
      <p:sp>
        <p:nvSpPr>
          <p:cNvPr id="17" name="anim03_d"/>
          <p:cNvSpPr txBox="1"/>
          <p:nvPr/>
        </p:nvSpPr>
        <p:spPr>
          <a:xfrm>
            <a:off x="1417320" y="3977640"/>
            <a:ext cx="4389120" cy="50292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le fichier s'arrête en cours d'année</a:t>
            </a:r>
            <a:endParaRPr lang="en-US" sz="1400" dirty="0"/>
          </a:p>
        </p:txBody>
      </p:sp>
      <p:pic>
        <p:nvPicPr>
          <p:cNvPr id="18" name="anim04_i" descr="preencoded.png">    </p:cNvPr>
          <p:cNvPicPr>
            <a:picLocks noChangeAspect="1"/>
          </p:cNvPicPr>
          <p:nvPr/>
        </p:nvPicPr>
        <p:blipFill>
          <a:blip r:embed="rId4"/>
          <a:stretch>
            <a:fillRect/>
          </a:stretch>
        </p:blipFill>
        <p:spPr>
          <a:xfrm>
            <a:off x="868680" y="4718304"/>
            <a:ext cx="329184" cy="329184"/>
          </a:xfrm>
          <a:prstGeom prst="rect">
            <a:avLst/>
          </a:prstGeom>
        </p:spPr>
      </p:pic>
      <p:sp>
        <p:nvSpPr>
          <p:cNvPr id="19" name="anim04_t"/>
          <p:cNvSpPr txBox="1"/>
          <p:nvPr/>
        </p:nvSpPr>
        <p:spPr>
          <a:xfrm>
            <a:off x="1417320" y="4672584"/>
            <a:ext cx="4389120" cy="365760"/>
          </a:xfrm>
          <a:prstGeom prst="rect">
            <a:avLst/>
          </a:prstGeom>
          <a:noFill/>
          <a:ln/>
        </p:spPr>
        <p:txBody>
          <a:bodyPr wrap="square" lIns="0" tIns="0" rIns="0" bIns="0" rtlCol="0" anchor="t"/>
          <a:lstStyle/>
          <a:p>
            <a:pPr indent="0" marL="0">
              <a:buNone/>
            </a:pPr>
            <a:r>
              <a:rPr lang="en-US" sz="1700" b="1" dirty="0">
                <a:solidFill>
                  <a:srgbClr val="F4F2FF"/>
                </a:solidFill>
                <a:latin typeface="Arial" pitchFamily="34" charset="0"/>
                <a:ea typeface="Arial" pitchFamily="34" charset="-122"/>
                <a:cs typeface="Arial" pitchFamily="34" charset="-120"/>
              </a:rPr>
              <a:t>Régions parfois mal saisies</a:t>
            </a:r>
            <a:endParaRPr lang="en-US" sz="1700" dirty="0"/>
          </a:p>
        </p:txBody>
      </p:sp>
      <p:sp>
        <p:nvSpPr>
          <p:cNvPr id="20" name="anim04_d"/>
          <p:cNvSpPr txBox="1"/>
          <p:nvPr/>
        </p:nvSpPr>
        <p:spPr>
          <a:xfrm>
            <a:off x="1417320" y="5056632"/>
            <a:ext cx="4389120" cy="502920"/>
          </a:xfrm>
          <a:prstGeom prst="rect">
            <a:avLst/>
          </a:prstGeom>
          <a:noFill/>
          <a:ln/>
        </p:spPr>
        <p:txBody>
          <a:bodyPr wrap="square" lIns="0" tIns="0" rIns="0" bIns="0" rtlCol="0" anchor="t"/>
          <a:lstStyle/>
          <a:p>
            <a:pPr indent="0" marL="0">
              <a:buNone/>
            </a:pPr>
            <a:r>
              <a:rPr lang="en-US" sz="1400" dirty="0">
                <a:solidFill>
                  <a:srgbClr val="A9A5D1"/>
                </a:solidFill>
                <a:latin typeface="Arial" pitchFamily="34" charset="0"/>
                <a:ea typeface="Arial" pitchFamily="34" charset="-122"/>
                <a:cs typeface="Arial" pitchFamily="34" charset="-120"/>
              </a:rPr>
              <a:t>ex. ventes européennes de Gran Turismo 4 en « reste du monde »</a:t>
            </a:r>
            <a:endParaRPr lang="en-US" sz="1400" dirty="0"/>
          </a:p>
        </p:txBody>
      </p:sp>
      <p:sp>
        <p:nvSpPr>
          <p:cNvPr id="21" name="anim05_c"/>
          <p:cNvSpPr/>
          <p:nvPr/>
        </p:nvSpPr>
        <p:spPr>
          <a:xfrm>
            <a:off x="6400800" y="1783080"/>
            <a:ext cx="5239512" cy="4251960"/>
          </a:xfrm>
          <a:prstGeom prst="roundRect">
            <a:avLst>
              <a:gd name="adj" fmla="val 2581"/>
            </a:avLst>
          </a:prstGeom>
          <a:solidFill>
            <a:srgbClr val="1E1B3D"/>
          </a:solidFill>
          <a:ln w="25400">
            <a:solidFill>
              <a:srgbClr val="00E5FF"/>
            </a:solidFill>
            <a:prstDash val="solid"/>
          </a:ln>
          <a:effectLst>
            <a:outerShdw sx="100000" sy="100000" kx="0" ky="0" algn="bl" rotWithShape="0" blurRad="152400" dist="38100" dir="5400000">
              <a:srgbClr val="000000">
                <a:alpha val="45000"/>
              </a:srgbClr>
            </a:outerShdw>
          </a:effectLst>
        </p:spPr>
      </p:sp>
      <p:pic>
        <p:nvPicPr>
          <p:cNvPr id="22" name="anim05_i" descr="preencoded.png">    </p:cNvPr>
          <p:cNvPicPr>
            <a:picLocks noChangeAspect="1"/>
          </p:cNvPicPr>
          <p:nvPr/>
        </p:nvPicPr>
        <p:blipFill>
          <a:blip r:embed="rId5"/>
          <a:stretch>
            <a:fillRect/>
          </a:stretch>
        </p:blipFill>
        <p:spPr>
          <a:xfrm>
            <a:off x="8517636" y="2103120"/>
            <a:ext cx="1005840" cy="1005840"/>
          </a:xfrm>
          <a:prstGeom prst="rect">
            <a:avLst/>
          </a:prstGeom>
        </p:spPr>
      </p:pic>
      <p:sp>
        <p:nvSpPr>
          <p:cNvPr id="23" name="anim05_k"/>
          <p:cNvSpPr txBox="1"/>
          <p:nvPr/>
        </p:nvSpPr>
        <p:spPr>
          <a:xfrm>
            <a:off x="6400800" y="3246120"/>
            <a:ext cx="5239512" cy="365760"/>
          </a:xfrm>
          <a:prstGeom prst="rect">
            <a:avLst/>
          </a:prstGeom>
          <a:noFill/>
          <a:ln/>
        </p:spPr>
        <p:txBody>
          <a:bodyPr wrap="square" lIns="0" tIns="0" rIns="0" bIns="0" rtlCol="0" anchor="t"/>
          <a:lstStyle/>
          <a:p>
            <a:pPr algn="ctr" indent="0" marL="0">
              <a:buNone/>
            </a:pPr>
            <a:r>
              <a:rPr lang="en-US" sz="1800" b="1" spc="400" kern="0" dirty="0">
                <a:solidFill>
                  <a:srgbClr val="00E5FF"/>
                </a:solidFill>
                <a:latin typeface="Courier New" pitchFamily="34" charset="0"/>
                <a:ea typeface="Courier New" pitchFamily="34" charset="-122"/>
                <a:cs typeface="Courier New" pitchFamily="34" charset="-120"/>
              </a:rPr>
              <a:t>NEXT LEVEL</a:t>
            </a:r>
            <a:endParaRPr lang="en-US" sz="1800" dirty="0"/>
          </a:p>
        </p:txBody>
      </p:sp>
      <p:sp>
        <p:nvSpPr>
          <p:cNvPr id="24" name="anim05_t"/>
          <p:cNvSpPr txBox="1"/>
          <p:nvPr/>
        </p:nvSpPr>
        <p:spPr>
          <a:xfrm>
            <a:off x="6400800" y="3611880"/>
            <a:ext cx="5239512" cy="914400"/>
          </a:xfrm>
          <a:prstGeom prst="rect">
            <a:avLst/>
          </a:prstGeom>
          <a:noFill/>
          <a:ln/>
        </p:spPr>
        <p:txBody>
          <a:bodyPr wrap="square" lIns="0" tIns="0" rIns="0" bIns="0" rtlCol="0" anchor="ctr"/>
          <a:lstStyle/>
          <a:p>
            <a:pPr algn="ctr" indent="0" marL="0">
              <a:buNone/>
            </a:pPr>
            <a:r>
              <a:rPr lang="en-US" sz="6000" b="1" dirty="0">
                <a:solidFill>
                  <a:srgbClr val="F4F2FF"/>
                </a:solidFill>
                <a:latin typeface="Arial" pitchFamily="34" charset="0"/>
                <a:ea typeface="Arial" pitchFamily="34" charset="-122"/>
                <a:cs typeface="Arial" pitchFamily="34" charset="-120"/>
              </a:rPr>
              <a:t>BDD 2</a:t>
            </a:r>
            <a:endParaRPr lang="en-US" sz="6000" dirty="0"/>
          </a:p>
        </p:txBody>
      </p:sp>
      <p:sp>
        <p:nvSpPr>
          <p:cNvPr id="25" name="anim05_d"/>
          <p:cNvSpPr txBox="1"/>
          <p:nvPr/>
        </p:nvSpPr>
        <p:spPr>
          <a:xfrm>
            <a:off x="6858000" y="4663440"/>
            <a:ext cx="4325112" cy="685800"/>
          </a:xfrm>
          <a:prstGeom prst="rect">
            <a:avLst/>
          </a:prstGeom>
          <a:noFill/>
          <a:ln/>
        </p:spPr>
        <p:txBody>
          <a:bodyPr wrap="square" lIns="0" tIns="0" rIns="0" bIns="0" rtlCol="0" anchor="t"/>
          <a:lstStyle/>
          <a:p>
            <a:pPr algn="ctr" indent="0" marL="0">
              <a:buNone/>
            </a:pPr>
            <a:r>
              <a:rPr lang="en-US" sz="1500" dirty="0">
                <a:solidFill>
                  <a:srgbClr val="A9A5D1"/>
                </a:solidFill>
                <a:latin typeface="Arial" pitchFamily="34" charset="0"/>
                <a:ea typeface="Arial" pitchFamily="34" charset="-122"/>
                <a:cs typeface="Arial" pitchFamily="34" charset="-120"/>
              </a:rPr>
              <a:t>Une deuxième source pour combler ces angles morts, présentée par l'équipe</a:t>
            </a:r>
            <a:endParaRPr lang="en-US" sz="1500" dirty="0"/>
          </a:p>
        </p:txBody>
      </p:sp>
      <p:sp>
        <p:nvSpPr>
          <p:cNvPr id="26" name="anim06_go"/>
          <p:cNvSpPr txBox="1"/>
          <p:nvPr/>
        </p:nvSpPr>
        <p:spPr>
          <a:xfrm>
            <a:off x="6400800" y="5394960"/>
            <a:ext cx="5239512" cy="365760"/>
          </a:xfrm>
          <a:prstGeom prst="rect">
            <a:avLst/>
          </a:prstGeom>
          <a:noFill/>
          <a:ln/>
        </p:spPr>
        <p:txBody>
          <a:bodyPr wrap="square" lIns="0" tIns="0" rIns="0" bIns="0" rtlCol="0" anchor="t"/>
          <a:lstStyle/>
          <a:p>
            <a:pPr algn="ctr" indent="0" marL="0">
              <a:buNone/>
            </a:pPr>
            <a:r>
              <a:rPr lang="en-US" sz="1500" b="1" spc="300" kern="0" dirty="0">
                <a:solidFill>
                  <a:srgbClr val="FFD23F"/>
                </a:solidFill>
                <a:latin typeface="Courier New" pitchFamily="34" charset="0"/>
                <a:ea typeface="Courier New" pitchFamily="34" charset="-122"/>
                <a:cs typeface="Courier New" pitchFamily="34" charset="-120"/>
              </a:rPr>
              <a:t>►  À VOUS</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5"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450"/>
                                        <p:tgtEl>
                                          <p:spTgt spid="10"/>
                                        </p:tgtEl>
                                      </p:cBhvr>
                                    </p:animEffect>
                                  </p:childTnLst>
                                </p:cTn>
                              </p:par>
                              <p:par>
                                <p:cTn id="7" presetID="10"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50"/>
                                        <p:tgtEl>
                                          <p:spTgt spid="11"/>
                                        </p:tgtEl>
                                      </p:cBhvr>
                                    </p:animEffect>
                                  </p:childTnLst>
                                </p:cTn>
                              </p:par>
                              <p:par>
                                <p:cTn id="10" presetID="10" presetClass="entr" presetSubtype="0" fill="hold" nodeType="withEffect">
                                  <p:stCondLst>
                                    <p:cond delay="28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50"/>
                                        <p:tgtEl>
                                          <p:spTgt spid="12"/>
                                        </p:tgtEl>
                                      </p:cBhvr>
                                    </p:animEffect>
                                  </p:childTnLst>
                                </p:cTn>
                              </p:par>
                              <p:par>
                                <p:cTn id="13" presetID="10" presetClass="entr" presetSubtype="0" fill="hold" nodeType="withEffect">
                                  <p:stCondLst>
                                    <p:cond delay="28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par>
                                <p:cTn id="16" presetID="10" presetClass="entr" presetSubtype="0" fill="hold" nodeType="withEffect">
                                  <p:stCondLst>
                                    <p:cond delay="28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56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56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56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84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84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par>
                                <p:cTn id="34" presetID="10" presetClass="entr" presetSubtype="0" fill="hold" nodeType="withEffect">
                                  <p:stCondLst>
                                    <p:cond delay="84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50"/>
                                        <p:tgtEl>
                                          <p:spTgt spid="20"/>
                                        </p:tgtEl>
                                      </p:cBhvr>
                                    </p:animEffect>
                                  </p:childTnLst>
                                </p:cTn>
                              </p:par>
                              <p:par>
                                <p:cTn id="37" presetID="10" presetClass="entr" presetSubtype="0" fill="hold" nodeType="withEffect">
                                  <p:stCondLst>
                                    <p:cond delay="112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nodeType="withEffect">
                                  <p:stCondLst>
                                    <p:cond delay="112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par>
                                <p:cTn id="43" presetID="10" presetClass="entr" presetSubtype="0" fill="hold" nodeType="withEffect">
                                  <p:stCondLst>
                                    <p:cond delay="112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450"/>
                                        <p:tgtEl>
                                          <p:spTgt spid="23"/>
                                        </p:tgtEl>
                                      </p:cBhvr>
                                    </p:animEffect>
                                  </p:childTnLst>
                                </p:cTn>
                              </p:par>
                              <p:par>
                                <p:cTn id="46" presetID="10" presetClass="entr" presetSubtype="0" fill="hold" nodeType="withEffect">
                                  <p:stCondLst>
                                    <p:cond delay="112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450"/>
                                        <p:tgtEl>
                                          <p:spTgt spid="24"/>
                                        </p:tgtEl>
                                      </p:cBhvr>
                                    </p:animEffect>
                                  </p:childTnLst>
                                </p:cTn>
                              </p:par>
                              <p:par>
                                <p:cTn id="49" presetID="10" presetClass="entr" presetSubtype="0" fill="hold" nodeType="withEffect">
                                  <p:stCondLst>
                                    <p:cond delay="112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450"/>
                                        <p:tgtEl>
                                          <p:spTgt spid="25"/>
                                        </p:tgtEl>
                                      </p:cBhvr>
                                    </p:animEffect>
                                  </p:childTnLst>
                                </p:cTn>
                              </p:par>
                              <p:par>
                                <p:cTn id="52" presetID="10" presetClass="entr" presetSubtype="0" fill="hold" nodeType="withEffect">
                                  <p:stCondLst>
                                    <p:cond delay="140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eon Arcade">
  <a:themeElements>
    <a:clrScheme name="Neon Arcade">
      <a:dk1>
        <a:srgbClr val="0B0A1A"/>
      </a:dk1>
      <a:lt1>
        <a:srgbClr val="FFFFFF"/>
      </a:lt1>
      <a:dk2>
        <a:srgbClr val="16142F"/>
      </a:dk2>
      <a:lt2>
        <a:srgbClr val="F4F2FF"/>
      </a:lt2>
      <a:accent1>
        <a:srgbClr val="00E5FF"/>
      </a:accent1>
      <a:accent2>
        <a:srgbClr val="FF2E88"/>
      </a:accent2>
      <a:accent3>
        <a:srgbClr val="FFD23F"/>
      </a:accent3>
      <a:accent4>
        <a:srgbClr val="7CFF6B"/>
      </a:accent4>
      <a:accent5>
        <a:srgbClr val="8B5CF6"/>
      </a:accent5>
      <a:accent6>
        <a:srgbClr val="4B4785"/>
      </a:accent6>
      <a:hlink>
        <a:srgbClr val="00E5FF"/>
      </a:hlink>
      <a:folHlink>
        <a:srgbClr val="8B5CF6"/>
      </a:folHlink>
    </a:clrScheme>
    <a:fontScheme name="Neon Arca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Ventes mondiales de jeux vidéo — BDD 1</dc:title>
  <dc:subject>PptxGenJS Presentation</dc:subject>
  <dc:creator>Kheireddine Bouadi</dc:creator>
  <cp:lastModifiedBy>Kheireddine Bouadi</cp:lastModifiedBy>
  <cp:revision>1</cp:revision>
  <dcterms:created xsi:type="dcterms:W3CDTF">2026-10-22T14:02:13Z</dcterms:created>
  <dcterms:modified xsi:type="dcterms:W3CDTF">2026-10-22T14:02:13Z</dcterms:modified>
</cp:coreProperties>
</file>