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16A17D3-BA12-778D-DE76-872BFB6BF3DC}">
          <p14:sldIdLst>
            <p14:sldId id="256"/>
            <p14:sldId id="257"/>
          </p14:sldIdLst>
        </p14:section>
        <p14:section name="Mission" id="{1DC2F72F-70F6-3893-9CA4-261EBFCE0A0E}">
          <p14:sldIdLst>
            <p14:sldId id="258"/>
            <p14:sldId id="259"/>
          </p14:sldIdLst>
        </p14:section>
        <p14:section name="Pipeline" id="{EAB00020-3A1F-20DF-73BE-F4E48F0EE9D2}">
          <p14:sldIdLst>
            <p14:sldId id="260"/>
            <p14:sldId id="261"/>
          </p14:sldIdLst>
        </p14:section>
        <p14:section name="Nettoyage" id="{482460B3-479E-0B5C-96C9-5E57F4CA2460}">
          <p14:sldIdLst>
            <p14:sldId id="262"/>
            <p14:sldId id="263"/>
          </p14:sldIdLst>
        </p14:section>
        <p14:section name="Découvertes" id="{1A45A54A-0865-CDC9-C939-E19E7C0F0DFE}">
          <p14:sldIdLst>
            <p14:sldId id="264"/>
            <p14:sldId id="265"/>
            <p14:sldId id="266"/>
            <p14:sldId id="267"/>
            <p14:sldId id="268"/>
          </p14:sldIdLst>
        </p14:section>
        <p14:section name="Boss final" id="{CE56C1C1-57F5-6C4B-F203-5BA80C3459E2}">
          <p14:sldIdLst>
            <p14:sldId id="269"/>
            <p14:sldId id="270"/>
          </p14:sldIdLst>
        </p14:section>
        <p14:section name="Live demo" id="{D6B61500-CA57-A43A-8064-E9555DB2F4B0}">
          <p14:sldIdLst>
            <p14:sldId id="271"/>
          </p14:sldIdLst>
        </p14:section>
        <p14:section name="Niveau suivant" id="{D4707FAB-38B6-2552-0DCA-FE9449D5969D}">
          <p14:sldIdLst>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0"/>
        <c:ser>
          <c:idx val="0"/>
          <c:order val="0"/>
          <c:tx>
            <c:strRef>
              <c:f>Sheet1!$B$1</c:f>
              <c:strCache>
                <c:ptCount val="1"/>
                <c:pt idx="0">
                  <c:v>Part des ventes</c:v>
                </c:pt>
              </c:strCache>
            </c:strRef>
          </c:tx>
          <c:spPr>
            <a:solidFill>
              <a:srgbClr val="FFE600"/>
            </a:solidFill>
            <a:effectLst/>
          </c:spPr>
          <c:invertIfNegative val="0"/>
          <c:dPt>
            <c:idx val="0"/>
            <c:invertIfNegative val="0"/>
            <c:bubble3D val="0"/>
            <c:extLst>
              <c:ext xmlns:c16="http://schemas.microsoft.com/office/drawing/2014/chart" uri="{C3380CC4-5D6E-409C-BE32-E72D297353CC}">
                <c16:uniqueId val="{00000001-534C-4A0A-83B6-E37A7C94DA5A}"/>
              </c:ext>
            </c:extLst>
          </c:dPt>
          <c:dPt>
            <c:idx val="1"/>
            <c:invertIfNegative val="0"/>
            <c:bubble3D val="0"/>
            <c:spPr>
              <a:solidFill>
                <a:srgbClr val="2121DE"/>
              </a:solidFill>
              <a:effectLst/>
            </c:spPr>
            <c:extLst>
              <c:ext xmlns:c16="http://schemas.microsoft.com/office/drawing/2014/chart" uri="{C3380CC4-5D6E-409C-BE32-E72D297353CC}">
                <c16:uniqueId val="{00000003-534C-4A0A-83B6-E37A7C94DA5A}"/>
              </c:ext>
            </c:extLst>
          </c:dPt>
          <c:dPt>
            <c:idx val="2"/>
            <c:invertIfNegative val="0"/>
            <c:bubble3D val="0"/>
            <c:spPr>
              <a:solidFill>
                <a:srgbClr val="2121DE"/>
              </a:solidFill>
              <a:effectLst/>
            </c:spPr>
            <c:extLst>
              <c:ext xmlns:c16="http://schemas.microsoft.com/office/drawing/2014/chart" uri="{C3380CC4-5D6E-409C-BE32-E72D297353CC}">
                <c16:uniqueId val="{00000005-534C-4A0A-83B6-E37A7C94DA5A}"/>
              </c:ext>
            </c:extLst>
          </c:dPt>
          <c:dPt>
            <c:idx val="3"/>
            <c:invertIfNegative val="0"/>
            <c:bubble3D val="0"/>
            <c:spPr>
              <a:solidFill>
                <a:srgbClr val="2121DE"/>
              </a:solidFill>
              <a:effectLst/>
            </c:spPr>
            <c:extLst>
              <c:ext xmlns:c16="http://schemas.microsoft.com/office/drawing/2014/chart" uri="{C3380CC4-5D6E-409C-BE32-E72D297353CC}">
                <c16:uniqueId val="{00000007-534C-4A0A-83B6-E37A7C94DA5A}"/>
              </c:ext>
            </c:extLst>
          </c:dPt>
          <c:dPt>
            <c:idx val="4"/>
            <c:invertIfNegative val="0"/>
            <c:bubble3D val="0"/>
            <c:spPr>
              <a:solidFill>
                <a:srgbClr val="2121DE"/>
              </a:solidFill>
              <a:effectLst/>
            </c:spPr>
            <c:extLst>
              <c:ext xmlns:c16="http://schemas.microsoft.com/office/drawing/2014/chart" uri="{C3380CC4-5D6E-409C-BE32-E72D297353CC}">
                <c16:uniqueId val="{00000009-534C-4A0A-83B6-E37A7C94DA5A}"/>
              </c:ext>
            </c:extLst>
          </c:dPt>
          <c:dPt>
            <c:idx val="5"/>
            <c:invertIfNegative val="0"/>
            <c:bubble3D val="0"/>
            <c:spPr>
              <a:solidFill>
                <a:srgbClr val="2121DE"/>
              </a:solidFill>
              <a:effectLst/>
            </c:spPr>
            <c:extLst>
              <c:ext xmlns:c16="http://schemas.microsoft.com/office/drawing/2014/chart" uri="{C3380CC4-5D6E-409C-BE32-E72D297353CC}">
                <c16:uniqueId val="{0000000B-534C-4A0A-83B6-E37A7C94DA5A}"/>
              </c:ext>
            </c:extLst>
          </c:dPt>
          <c:dPt>
            <c:idx val="6"/>
            <c:invertIfNegative val="0"/>
            <c:bubble3D val="0"/>
            <c:spPr>
              <a:solidFill>
                <a:srgbClr val="2121DE"/>
              </a:solidFill>
              <a:effectLst/>
            </c:spPr>
            <c:extLst>
              <c:ext xmlns:c16="http://schemas.microsoft.com/office/drawing/2014/chart" uri="{C3380CC4-5D6E-409C-BE32-E72D297353CC}">
                <c16:uniqueId val="{0000000D-534C-4A0A-83B6-E37A7C94DA5A}"/>
              </c:ext>
            </c:extLst>
          </c:dPt>
          <c:dPt>
            <c:idx val="7"/>
            <c:invertIfNegative val="0"/>
            <c:bubble3D val="0"/>
            <c:spPr>
              <a:solidFill>
                <a:srgbClr val="2121DE"/>
              </a:solidFill>
              <a:effectLst/>
            </c:spPr>
            <c:extLst>
              <c:ext xmlns:c16="http://schemas.microsoft.com/office/drawing/2014/chart" uri="{C3380CC4-5D6E-409C-BE32-E72D297353CC}">
                <c16:uniqueId val="{0000000F-534C-4A0A-83B6-E37A7C94DA5A}"/>
              </c:ext>
            </c:extLst>
          </c:dPt>
          <c:dPt>
            <c:idx val="8"/>
            <c:invertIfNegative val="0"/>
            <c:bubble3D val="0"/>
            <c:spPr>
              <a:solidFill>
                <a:srgbClr val="2121DE"/>
              </a:solidFill>
              <a:effectLst/>
            </c:spPr>
            <c:extLst>
              <c:ext xmlns:c16="http://schemas.microsoft.com/office/drawing/2014/chart" uri="{C3380CC4-5D6E-409C-BE32-E72D297353CC}">
                <c16:uniqueId val="{00000011-534C-4A0A-83B6-E37A7C94DA5A}"/>
              </c:ext>
            </c:extLst>
          </c:dPt>
          <c:dPt>
            <c:idx val="9"/>
            <c:invertIfNegative val="0"/>
            <c:bubble3D val="0"/>
            <c:spPr>
              <a:solidFill>
                <a:srgbClr val="2121DE"/>
              </a:solidFill>
              <a:effectLst/>
            </c:spPr>
            <c:extLst>
              <c:ext xmlns:c16="http://schemas.microsoft.com/office/drawing/2014/chart" uri="{C3380CC4-5D6E-409C-BE32-E72D297353CC}">
                <c16:uniqueId val="{00000013-534C-4A0A-83B6-E37A7C94DA5A}"/>
              </c:ext>
            </c:extLst>
          </c:dPt>
          <c:dLbls>
            <c:numFmt formatCode="0.0&quot;%&quot;" sourceLinked="0"/>
            <c:spPr>
              <a:noFill/>
              <a:ln>
                <a:noFill/>
              </a:ln>
              <a:effectLst/>
            </c:spPr>
            <c:txPr>
              <a:bodyPr/>
              <a:lstStyle/>
              <a:p>
                <a:pPr>
                  <a:defRPr sz="12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Top 10 %</c:v>
                </c:pt>
                <c:pt idx="1">
                  <c:v>10-20</c:v>
                </c:pt>
                <c:pt idx="2">
                  <c:v>20-30</c:v>
                </c:pt>
                <c:pt idx="3">
                  <c:v>30-40</c:v>
                </c:pt>
                <c:pt idx="4">
                  <c:v>40-50</c:v>
                </c:pt>
                <c:pt idx="5">
                  <c:v>50-60</c:v>
                </c:pt>
                <c:pt idx="6">
                  <c:v>60-70</c:v>
                </c:pt>
                <c:pt idx="7">
                  <c:v>70-80</c:v>
                </c:pt>
                <c:pt idx="8">
                  <c:v>80-90</c:v>
                </c:pt>
                <c:pt idx="9">
                  <c:v>90-100</c:v>
                </c:pt>
              </c:strCache>
            </c:strRef>
          </c:cat>
          <c:val>
            <c:numRef>
              <c:f>Sheet1!$B$2:$B$11</c:f>
              <c:numCache>
                <c:formatCode>General</c:formatCode>
                <c:ptCount val="10"/>
                <c:pt idx="0">
                  <c:v>58.8</c:v>
                </c:pt>
                <c:pt idx="1">
                  <c:v>15.9</c:v>
                </c:pt>
                <c:pt idx="2">
                  <c:v>9.1</c:v>
                </c:pt>
                <c:pt idx="3">
                  <c:v>5.7</c:v>
                </c:pt>
                <c:pt idx="4">
                  <c:v>3.9</c:v>
                </c:pt>
                <c:pt idx="5">
                  <c:v>2.7</c:v>
                </c:pt>
                <c:pt idx="6">
                  <c:v>1.8</c:v>
                </c:pt>
                <c:pt idx="7">
                  <c:v>1.1000000000000001</c:v>
                </c:pt>
                <c:pt idx="8">
                  <c:v>0.7</c:v>
                </c:pt>
                <c:pt idx="9">
                  <c:v>0.3</c:v>
                </c:pt>
              </c:numCache>
            </c:numRef>
          </c:val>
          <c:extLst>
            <c:ext xmlns:c16="http://schemas.microsoft.com/office/drawing/2014/chart" uri="{C3380CC4-5D6E-409C-BE32-E72D297353CC}">
              <c16:uniqueId val="{00000014-534C-4A0A-83B6-E37A7C94DA5A}"/>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title>
          <c:tx>
            <c:rich>
              <a:bodyPr/>
              <a:lstStyle/>
              <a:p>
                <a:pPr>
                  <a:defRPr sz="1200" b="0" i="0" u="none" strike="noStrike">
                    <a:solidFill>
                      <a:srgbClr val="7C7CAA"/>
                    </a:solidFill>
                    <a:latin typeface="Arial"/>
                  </a:defRPr>
                </a:pPr>
                <a:r>
                  <a:rPr sz="1200" b="0" i="0" u="none" strike="noStrike">
                    <a:solidFill>
                      <a:srgbClr val="7C7CAA"/>
                    </a:solidFill>
                    <a:latin typeface="Arial"/>
                  </a:rPr>
                  <a:t>Jeux classés du plus vendu au moins vendu (tranches de 10 %)</a:t>
                </a:r>
              </a:p>
            </c:rich>
          </c:tx>
          <c:overlay val="0"/>
        </c:title>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000000">
            <a:alpha val="0"/>
          </a:srgbClr>
        </a:solidFill>
        <a:ln>
          <a:noFill/>
        </a:ln>
        <a:effectLst/>
      </c:spPr>
    </c:plotArea>
    <c:plotVisOnly val="1"/>
    <c:dispBlanksAs val="span"/>
    <c:showDLblsOverMax val="1"/>
  </c:chart>
  <c:spPr>
    <a:solidFill>
      <a:srgbClr val="000000">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0"/>
        <c:ser>
          <c:idx val="0"/>
          <c:order val="0"/>
          <c:tx>
            <c:strRef>
              <c:f>Sheet1!$B$1</c:f>
              <c:strCache>
                <c:ptCount val="1"/>
                <c:pt idx="0">
                  <c:v>Ventes (M)</c:v>
                </c:pt>
              </c:strCache>
            </c:strRef>
          </c:tx>
          <c:spPr>
            <a:solidFill>
              <a:srgbClr val="3D3DFF"/>
            </a:solidFill>
            <a:effectLst/>
          </c:spPr>
          <c:invertIfNegative val="0"/>
          <c:dPt>
            <c:idx val="0"/>
            <c:invertIfNegative val="0"/>
            <c:bubble3D val="0"/>
            <c:extLst>
              <c:ext xmlns:c16="http://schemas.microsoft.com/office/drawing/2014/chart" uri="{C3380CC4-5D6E-409C-BE32-E72D297353CC}">
                <c16:uniqueId val="{00000001-69CA-4266-9794-94BD82DD1094}"/>
              </c:ext>
            </c:extLst>
          </c:dPt>
          <c:dPt>
            <c:idx val="1"/>
            <c:invertIfNegative val="0"/>
            <c:bubble3D val="0"/>
            <c:extLst>
              <c:ext xmlns:c16="http://schemas.microsoft.com/office/drawing/2014/chart" uri="{C3380CC4-5D6E-409C-BE32-E72D297353CC}">
                <c16:uniqueId val="{00000003-69CA-4266-9794-94BD82DD1094}"/>
              </c:ext>
            </c:extLst>
          </c:dPt>
          <c:dPt>
            <c:idx val="2"/>
            <c:invertIfNegative val="0"/>
            <c:bubble3D val="0"/>
            <c:extLst>
              <c:ext xmlns:c16="http://schemas.microsoft.com/office/drawing/2014/chart" uri="{C3380CC4-5D6E-409C-BE32-E72D297353CC}">
                <c16:uniqueId val="{00000005-69CA-4266-9794-94BD82DD1094}"/>
              </c:ext>
            </c:extLst>
          </c:dPt>
          <c:dPt>
            <c:idx val="3"/>
            <c:invertIfNegative val="0"/>
            <c:bubble3D val="0"/>
            <c:extLst>
              <c:ext xmlns:c16="http://schemas.microsoft.com/office/drawing/2014/chart" uri="{C3380CC4-5D6E-409C-BE32-E72D297353CC}">
                <c16:uniqueId val="{00000007-69CA-4266-9794-94BD82DD1094}"/>
              </c:ext>
            </c:extLst>
          </c:dPt>
          <c:dPt>
            <c:idx val="4"/>
            <c:invertIfNegative val="0"/>
            <c:bubble3D val="0"/>
            <c:extLst>
              <c:ext xmlns:c16="http://schemas.microsoft.com/office/drawing/2014/chart" uri="{C3380CC4-5D6E-409C-BE32-E72D297353CC}">
                <c16:uniqueId val="{00000009-69CA-4266-9794-94BD82DD1094}"/>
              </c:ext>
            </c:extLst>
          </c:dPt>
          <c:dPt>
            <c:idx val="5"/>
            <c:invertIfNegative val="0"/>
            <c:bubble3D val="0"/>
            <c:extLst>
              <c:ext xmlns:c16="http://schemas.microsoft.com/office/drawing/2014/chart" uri="{C3380CC4-5D6E-409C-BE32-E72D297353CC}">
                <c16:uniqueId val="{0000000B-69CA-4266-9794-94BD82DD1094}"/>
              </c:ext>
            </c:extLst>
          </c:dPt>
          <c:dPt>
            <c:idx val="6"/>
            <c:invertIfNegative val="0"/>
            <c:bubble3D val="0"/>
            <c:extLst>
              <c:ext xmlns:c16="http://schemas.microsoft.com/office/drawing/2014/chart" uri="{C3380CC4-5D6E-409C-BE32-E72D297353CC}">
                <c16:uniqueId val="{0000000D-69CA-4266-9794-94BD82DD1094}"/>
              </c:ext>
            </c:extLst>
          </c:dPt>
          <c:dPt>
            <c:idx val="7"/>
            <c:invertIfNegative val="0"/>
            <c:bubble3D val="0"/>
            <c:extLst>
              <c:ext xmlns:c16="http://schemas.microsoft.com/office/drawing/2014/chart" uri="{C3380CC4-5D6E-409C-BE32-E72D297353CC}">
                <c16:uniqueId val="{0000000F-69CA-4266-9794-94BD82DD1094}"/>
              </c:ext>
            </c:extLst>
          </c:dPt>
          <c:dPt>
            <c:idx val="8"/>
            <c:invertIfNegative val="0"/>
            <c:bubble3D val="0"/>
            <c:extLst>
              <c:ext xmlns:c16="http://schemas.microsoft.com/office/drawing/2014/chart" uri="{C3380CC4-5D6E-409C-BE32-E72D297353CC}">
                <c16:uniqueId val="{00000011-69CA-4266-9794-94BD82DD1094}"/>
              </c:ext>
            </c:extLst>
          </c:dPt>
          <c:dPt>
            <c:idx val="9"/>
            <c:invertIfNegative val="0"/>
            <c:bubble3D val="0"/>
            <c:extLst>
              <c:ext xmlns:c16="http://schemas.microsoft.com/office/drawing/2014/chart" uri="{C3380CC4-5D6E-409C-BE32-E72D297353CC}">
                <c16:uniqueId val="{00000013-69CA-4266-9794-94BD82DD1094}"/>
              </c:ext>
            </c:extLst>
          </c:dPt>
          <c:dPt>
            <c:idx val="10"/>
            <c:invertIfNegative val="0"/>
            <c:bubble3D val="0"/>
            <c:extLst>
              <c:ext xmlns:c16="http://schemas.microsoft.com/office/drawing/2014/chart" uri="{C3380CC4-5D6E-409C-BE32-E72D297353CC}">
                <c16:uniqueId val="{00000015-69CA-4266-9794-94BD82DD1094}"/>
              </c:ext>
            </c:extLst>
          </c:dPt>
          <c:dPt>
            <c:idx val="11"/>
            <c:invertIfNegative val="0"/>
            <c:bubble3D val="0"/>
            <c:extLst>
              <c:ext xmlns:c16="http://schemas.microsoft.com/office/drawing/2014/chart" uri="{C3380CC4-5D6E-409C-BE32-E72D297353CC}">
                <c16:uniqueId val="{00000017-69CA-4266-9794-94BD82DD1094}"/>
              </c:ext>
            </c:extLst>
          </c:dPt>
          <c:dPt>
            <c:idx val="12"/>
            <c:invertIfNegative val="0"/>
            <c:bubble3D val="0"/>
            <c:extLst>
              <c:ext xmlns:c16="http://schemas.microsoft.com/office/drawing/2014/chart" uri="{C3380CC4-5D6E-409C-BE32-E72D297353CC}">
                <c16:uniqueId val="{00000019-69CA-4266-9794-94BD82DD1094}"/>
              </c:ext>
            </c:extLst>
          </c:dPt>
          <c:dPt>
            <c:idx val="13"/>
            <c:invertIfNegative val="0"/>
            <c:bubble3D val="0"/>
            <c:extLst>
              <c:ext xmlns:c16="http://schemas.microsoft.com/office/drawing/2014/chart" uri="{C3380CC4-5D6E-409C-BE32-E72D297353CC}">
                <c16:uniqueId val="{0000001B-69CA-4266-9794-94BD82DD1094}"/>
              </c:ext>
            </c:extLst>
          </c:dPt>
          <c:dPt>
            <c:idx val="14"/>
            <c:invertIfNegative val="0"/>
            <c:bubble3D val="0"/>
            <c:extLst>
              <c:ext xmlns:c16="http://schemas.microsoft.com/office/drawing/2014/chart" uri="{C3380CC4-5D6E-409C-BE32-E72D297353CC}">
                <c16:uniqueId val="{0000001D-69CA-4266-9794-94BD82DD1094}"/>
              </c:ext>
            </c:extLst>
          </c:dPt>
          <c:dPt>
            <c:idx val="15"/>
            <c:invertIfNegative val="0"/>
            <c:bubble3D val="0"/>
            <c:extLst>
              <c:ext xmlns:c16="http://schemas.microsoft.com/office/drawing/2014/chart" uri="{C3380CC4-5D6E-409C-BE32-E72D297353CC}">
                <c16:uniqueId val="{0000001F-69CA-4266-9794-94BD82DD1094}"/>
              </c:ext>
            </c:extLst>
          </c:dPt>
          <c:dPt>
            <c:idx val="16"/>
            <c:invertIfNegative val="0"/>
            <c:bubble3D val="0"/>
            <c:extLst>
              <c:ext xmlns:c16="http://schemas.microsoft.com/office/drawing/2014/chart" uri="{C3380CC4-5D6E-409C-BE32-E72D297353CC}">
                <c16:uniqueId val="{00000021-69CA-4266-9794-94BD82DD1094}"/>
              </c:ext>
            </c:extLst>
          </c:dPt>
          <c:dPt>
            <c:idx val="17"/>
            <c:invertIfNegative val="0"/>
            <c:bubble3D val="0"/>
            <c:extLst>
              <c:ext xmlns:c16="http://schemas.microsoft.com/office/drawing/2014/chart" uri="{C3380CC4-5D6E-409C-BE32-E72D297353CC}">
                <c16:uniqueId val="{00000023-69CA-4266-9794-94BD82DD1094}"/>
              </c:ext>
            </c:extLst>
          </c:dPt>
          <c:dPt>
            <c:idx val="18"/>
            <c:invertIfNegative val="0"/>
            <c:bubble3D val="0"/>
            <c:extLst>
              <c:ext xmlns:c16="http://schemas.microsoft.com/office/drawing/2014/chart" uri="{C3380CC4-5D6E-409C-BE32-E72D297353CC}">
                <c16:uniqueId val="{00000025-69CA-4266-9794-94BD82DD1094}"/>
              </c:ext>
            </c:extLst>
          </c:dPt>
          <c:dPt>
            <c:idx val="19"/>
            <c:invertIfNegative val="0"/>
            <c:bubble3D val="0"/>
            <c:extLst>
              <c:ext xmlns:c16="http://schemas.microsoft.com/office/drawing/2014/chart" uri="{C3380CC4-5D6E-409C-BE32-E72D297353CC}">
                <c16:uniqueId val="{00000027-69CA-4266-9794-94BD82DD1094}"/>
              </c:ext>
            </c:extLst>
          </c:dPt>
          <c:dPt>
            <c:idx val="20"/>
            <c:invertIfNegative val="0"/>
            <c:bubble3D val="0"/>
            <c:extLst>
              <c:ext xmlns:c16="http://schemas.microsoft.com/office/drawing/2014/chart" uri="{C3380CC4-5D6E-409C-BE32-E72D297353CC}">
                <c16:uniqueId val="{00000029-69CA-4266-9794-94BD82DD1094}"/>
              </c:ext>
            </c:extLst>
          </c:dPt>
          <c:dPt>
            <c:idx val="21"/>
            <c:invertIfNegative val="0"/>
            <c:bubble3D val="0"/>
            <c:extLst>
              <c:ext xmlns:c16="http://schemas.microsoft.com/office/drawing/2014/chart" uri="{C3380CC4-5D6E-409C-BE32-E72D297353CC}">
                <c16:uniqueId val="{0000002B-69CA-4266-9794-94BD82DD1094}"/>
              </c:ext>
            </c:extLst>
          </c:dPt>
          <c:dPt>
            <c:idx val="22"/>
            <c:invertIfNegative val="0"/>
            <c:bubble3D val="0"/>
            <c:extLst>
              <c:ext xmlns:c16="http://schemas.microsoft.com/office/drawing/2014/chart" uri="{C3380CC4-5D6E-409C-BE32-E72D297353CC}">
                <c16:uniqueId val="{0000002D-69CA-4266-9794-94BD82DD1094}"/>
              </c:ext>
            </c:extLst>
          </c:dPt>
          <c:dPt>
            <c:idx val="23"/>
            <c:invertIfNegative val="0"/>
            <c:bubble3D val="0"/>
            <c:extLst>
              <c:ext xmlns:c16="http://schemas.microsoft.com/office/drawing/2014/chart" uri="{C3380CC4-5D6E-409C-BE32-E72D297353CC}">
                <c16:uniqueId val="{0000002F-69CA-4266-9794-94BD82DD1094}"/>
              </c:ext>
            </c:extLst>
          </c:dPt>
          <c:dPt>
            <c:idx val="24"/>
            <c:invertIfNegative val="0"/>
            <c:bubble3D val="0"/>
            <c:extLst>
              <c:ext xmlns:c16="http://schemas.microsoft.com/office/drawing/2014/chart" uri="{C3380CC4-5D6E-409C-BE32-E72D297353CC}">
                <c16:uniqueId val="{00000031-69CA-4266-9794-94BD82DD1094}"/>
              </c:ext>
            </c:extLst>
          </c:dPt>
          <c:dPt>
            <c:idx val="25"/>
            <c:invertIfNegative val="0"/>
            <c:bubble3D val="0"/>
            <c:extLst>
              <c:ext xmlns:c16="http://schemas.microsoft.com/office/drawing/2014/chart" uri="{C3380CC4-5D6E-409C-BE32-E72D297353CC}">
                <c16:uniqueId val="{00000033-69CA-4266-9794-94BD82DD1094}"/>
              </c:ext>
            </c:extLst>
          </c:dPt>
          <c:dPt>
            <c:idx val="26"/>
            <c:invertIfNegative val="0"/>
            <c:bubble3D val="0"/>
            <c:extLst>
              <c:ext xmlns:c16="http://schemas.microsoft.com/office/drawing/2014/chart" uri="{C3380CC4-5D6E-409C-BE32-E72D297353CC}">
                <c16:uniqueId val="{00000035-69CA-4266-9794-94BD82DD1094}"/>
              </c:ext>
            </c:extLst>
          </c:dPt>
          <c:dPt>
            <c:idx val="27"/>
            <c:invertIfNegative val="0"/>
            <c:bubble3D val="0"/>
            <c:extLst>
              <c:ext xmlns:c16="http://schemas.microsoft.com/office/drawing/2014/chart" uri="{C3380CC4-5D6E-409C-BE32-E72D297353CC}">
                <c16:uniqueId val="{00000037-69CA-4266-9794-94BD82DD1094}"/>
              </c:ext>
            </c:extLst>
          </c:dPt>
          <c:dPt>
            <c:idx val="28"/>
            <c:invertIfNegative val="0"/>
            <c:bubble3D val="0"/>
            <c:spPr>
              <a:solidFill>
                <a:srgbClr val="FFE600"/>
              </a:solidFill>
              <a:effectLst/>
            </c:spPr>
            <c:extLst>
              <c:ext xmlns:c16="http://schemas.microsoft.com/office/drawing/2014/chart" uri="{C3380CC4-5D6E-409C-BE32-E72D297353CC}">
                <c16:uniqueId val="{00000039-69CA-4266-9794-94BD82DD1094}"/>
              </c:ext>
            </c:extLst>
          </c:dPt>
          <c:dPt>
            <c:idx val="29"/>
            <c:invertIfNegative val="0"/>
            <c:bubble3D val="0"/>
            <c:extLst>
              <c:ext xmlns:c16="http://schemas.microsoft.com/office/drawing/2014/chart" uri="{C3380CC4-5D6E-409C-BE32-E72D297353CC}">
                <c16:uniqueId val="{0000003B-69CA-4266-9794-94BD82DD1094}"/>
              </c:ext>
            </c:extLst>
          </c:dPt>
          <c:dPt>
            <c:idx val="30"/>
            <c:invertIfNegative val="0"/>
            <c:bubble3D val="0"/>
            <c:extLst>
              <c:ext xmlns:c16="http://schemas.microsoft.com/office/drawing/2014/chart" uri="{C3380CC4-5D6E-409C-BE32-E72D297353CC}">
                <c16:uniqueId val="{0000003D-69CA-4266-9794-94BD82DD1094}"/>
              </c:ext>
            </c:extLst>
          </c:dPt>
          <c:dPt>
            <c:idx val="31"/>
            <c:invertIfNegative val="0"/>
            <c:bubble3D val="0"/>
            <c:extLst>
              <c:ext xmlns:c16="http://schemas.microsoft.com/office/drawing/2014/chart" uri="{C3380CC4-5D6E-409C-BE32-E72D297353CC}">
                <c16:uniqueId val="{0000003F-69CA-4266-9794-94BD82DD1094}"/>
              </c:ext>
            </c:extLst>
          </c:dPt>
          <c:dPt>
            <c:idx val="32"/>
            <c:invertIfNegative val="0"/>
            <c:bubble3D val="0"/>
            <c:extLst>
              <c:ext xmlns:c16="http://schemas.microsoft.com/office/drawing/2014/chart" uri="{C3380CC4-5D6E-409C-BE32-E72D297353CC}">
                <c16:uniqueId val="{00000041-69CA-4266-9794-94BD82DD1094}"/>
              </c:ext>
            </c:extLst>
          </c:dPt>
          <c:dPt>
            <c:idx val="33"/>
            <c:invertIfNegative val="0"/>
            <c:bubble3D val="0"/>
            <c:extLst>
              <c:ext xmlns:c16="http://schemas.microsoft.com/office/drawing/2014/chart" uri="{C3380CC4-5D6E-409C-BE32-E72D297353CC}">
                <c16:uniqueId val="{00000043-69CA-4266-9794-94BD82DD1094}"/>
              </c:ext>
            </c:extLst>
          </c:dPt>
          <c:dPt>
            <c:idx val="34"/>
            <c:invertIfNegative val="0"/>
            <c:bubble3D val="0"/>
            <c:extLst>
              <c:ext xmlns:c16="http://schemas.microsoft.com/office/drawing/2014/chart" uri="{C3380CC4-5D6E-409C-BE32-E72D297353CC}">
                <c16:uniqueId val="{00000045-69CA-4266-9794-94BD82DD1094}"/>
              </c:ext>
            </c:extLst>
          </c:dPt>
          <c:dPt>
            <c:idx val="35"/>
            <c:invertIfNegative val="0"/>
            <c:bubble3D val="0"/>
            <c:extLst>
              <c:ext xmlns:c16="http://schemas.microsoft.com/office/drawing/2014/chart" uri="{C3380CC4-5D6E-409C-BE32-E72D297353CC}">
                <c16:uniqueId val="{00000047-69CA-4266-9794-94BD82DD1094}"/>
              </c:ext>
            </c:extLst>
          </c:dPt>
          <c:dPt>
            <c:idx val="36"/>
            <c:invertIfNegative val="0"/>
            <c:bubble3D val="0"/>
            <c:spPr>
              <a:solidFill>
                <a:srgbClr val="3A3A6A"/>
              </a:solidFill>
              <a:effectLst/>
            </c:spPr>
            <c:extLst>
              <c:ext xmlns:c16="http://schemas.microsoft.com/office/drawing/2014/chart" uri="{C3380CC4-5D6E-409C-BE32-E72D297353CC}">
                <c16:uniqueId val="{00000049-69CA-4266-9794-94BD82DD1094}"/>
              </c:ext>
            </c:extLst>
          </c:dPt>
          <c:cat>
            <c:strRef>
              <c:f>Sheet1!$A$2:$A$38</c:f>
              <c:strCache>
                <c:ptCount val="37"/>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strCache>
            </c:strRef>
          </c:cat>
          <c:val>
            <c:numRef>
              <c:f>Sheet1!$B$2:$B$38</c:f>
              <c:numCache>
                <c:formatCode>General</c:formatCode>
                <c:ptCount val="37"/>
                <c:pt idx="0">
                  <c:v>11.4</c:v>
                </c:pt>
                <c:pt idx="1">
                  <c:v>35.799999999999997</c:v>
                </c:pt>
                <c:pt idx="2">
                  <c:v>28.9</c:v>
                </c:pt>
                <c:pt idx="3">
                  <c:v>16.8</c:v>
                </c:pt>
                <c:pt idx="4">
                  <c:v>50.4</c:v>
                </c:pt>
                <c:pt idx="5">
                  <c:v>53.9</c:v>
                </c:pt>
                <c:pt idx="6">
                  <c:v>37.1</c:v>
                </c:pt>
                <c:pt idx="7">
                  <c:v>21.7</c:v>
                </c:pt>
                <c:pt idx="8">
                  <c:v>45.8</c:v>
                </c:pt>
                <c:pt idx="9">
                  <c:v>74.900000000000006</c:v>
                </c:pt>
                <c:pt idx="10">
                  <c:v>49.4</c:v>
                </c:pt>
                <c:pt idx="11">
                  <c:v>32.200000000000003</c:v>
                </c:pt>
                <c:pt idx="12">
                  <c:v>75.900000000000006</c:v>
                </c:pt>
                <c:pt idx="13">
                  <c:v>46</c:v>
                </c:pt>
                <c:pt idx="14">
                  <c:v>79.2</c:v>
                </c:pt>
                <c:pt idx="15">
                  <c:v>88.1</c:v>
                </c:pt>
                <c:pt idx="16">
                  <c:v>199</c:v>
                </c:pt>
                <c:pt idx="17">
                  <c:v>200.9</c:v>
                </c:pt>
                <c:pt idx="18">
                  <c:v>256.5</c:v>
                </c:pt>
                <c:pt idx="19">
                  <c:v>251.2</c:v>
                </c:pt>
                <c:pt idx="20">
                  <c:v>200.4</c:v>
                </c:pt>
                <c:pt idx="21">
                  <c:v>333.4</c:v>
                </c:pt>
                <c:pt idx="22">
                  <c:v>399.5</c:v>
                </c:pt>
                <c:pt idx="23">
                  <c:v>367</c:v>
                </c:pt>
                <c:pt idx="24">
                  <c:v>418.6</c:v>
                </c:pt>
                <c:pt idx="25">
                  <c:v>459.7</c:v>
                </c:pt>
                <c:pt idx="26">
                  <c:v>526</c:v>
                </c:pt>
                <c:pt idx="27">
                  <c:v>612.5</c:v>
                </c:pt>
                <c:pt idx="28">
                  <c:v>688</c:v>
                </c:pt>
                <c:pt idx="29">
                  <c:v>667.7</c:v>
                </c:pt>
                <c:pt idx="30">
                  <c:v>604.70000000000005</c:v>
                </c:pt>
                <c:pt idx="31">
                  <c:v>519.5</c:v>
                </c:pt>
                <c:pt idx="32">
                  <c:v>368.5</c:v>
                </c:pt>
                <c:pt idx="33">
                  <c:v>368.6</c:v>
                </c:pt>
                <c:pt idx="34">
                  <c:v>337.1</c:v>
                </c:pt>
                <c:pt idx="35">
                  <c:v>264.39999999999998</c:v>
                </c:pt>
                <c:pt idx="36">
                  <c:v>70.900000000000006</c:v>
                </c:pt>
              </c:numCache>
            </c:numRef>
          </c:val>
          <c:extLst>
            <c:ext xmlns:c16="http://schemas.microsoft.com/office/drawing/2014/chart" uri="{C3380CC4-5D6E-409C-BE32-E72D297353CC}">
              <c16:uniqueId val="{0000004A-69CA-4266-9794-94BD82DD1094}"/>
            </c:ext>
          </c:extLst>
        </c:ser>
        <c:dLbls>
          <c:showLegendKey val="0"/>
          <c:showVal val="0"/>
          <c:showCatName val="0"/>
          <c:showSerName val="0"/>
          <c:showPercent val="0"/>
          <c:showBubbleSize val="0"/>
        </c:dLbls>
        <c:gapWidth val="2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lblOffset val="100"/>
        <c:tickLblSkip val="4"/>
        <c:noMultiLvlLbl val="1"/>
      </c:catAx>
      <c:valAx>
        <c:axId val="2094734552"/>
        <c:scaling>
          <c:orientation val="minMax"/>
        </c:scaling>
        <c:delete val="0"/>
        <c:axPos val="l"/>
        <c:majorGridlines>
          <c:spPr>
            <a:ln w="9525" cap="flat">
              <a:solidFill>
                <a:srgbClr val="1A1A4A"/>
              </a:solidFill>
              <a:prstDash val="solid"/>
              <a:round/>
            </a:ln>
          </c:spPr>
        </c:majorGridlines>
        <c:title>
          <c:tx>
            <c:rich>
              <a:bodyPr/>
              <a:lstStyle/>
              <a:p>
                <a:pPr>
                  <a:defRPr sz="1200" b="0" i="0" u="none" strike="noStrike">
                    <a:solidFill>
                      <a:srgbClr val="7C7CAA"/>
                    </a:solidFill>
                    <a:latin typeface="Arial"/>
                  </a:defRPr>
                </a:pPr>
                <a:r>
                  <a:rPr sz="1200" b="0" i="0" u="none" strike="noStrike">
                    <a:solidFill>
                      <a:srgbClr val="7C7CAA"/>
                    </a:solidFill>
                    <a:latin typeface="Arial"/>
                  </a:rPr>
                  <a:t>Millions d'exemplaires vendus</a:t>
                </a:r>
              </a:p>
            </c:rich>
          </c:tx>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showDLblsOverMax val="1"/>
  </c:chart>
  <c:spPr>
    <a:solidFill>
      <a:srgbClr val="000000">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0"/>
        <c:ser>
          <c:idx val="0"/>
          <c:order val="0"/>
          <c:tx>
            <c:strRef>
              <c:f>Sheet1!$B$1</c:f>
              <c:strCache>
                <c:ptCount val="1"/>
                <c:pt idx="0">
                  <c:v>Amérique du Nord</c:v>
                </c:pt>
              </c:strCache>
            </c:strRef>
          </c:tx>
          <c:spPr>
            <a:solidFill>
              <a:srgbClr val="00FFFF"/>
            </a:solidFill>
            <a:effectLst/>
          </c:spPr>
          <c:invertIfNegative val="0"/>
          <c:dLbls>
            <c:numFmt formatCode="0&quot;%&quot;" sourceLinked="0"/>
            <c:spPr>
              <a:noFill/>
              <a:ln>
                <a:noFill/>
              </a:ln>
              <a:effectLst/>
            </c:spPr>
            <c:txPr>
              <a:bodyPr/>
              <a:lstStyle/>
              <a:p>
                <a:pPr>
                  <a:defRPr sz="11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RPG</c:v>
                </c:pt>
                <c:pt idx="1">
                  <c:v>Tir</c:v>
                </c:pt>
                <c:pt idx="2">
                  <c:v>Action</c:v>
                </c:pt>
                <c:pt idx="3">
                  <c:v>Sport</c:v>
                </c:pt>
                <c:pt idx="4">
                  <c:v>Plates-formes</c:v>
                </c:pt>
              </c:strCache>
            </c:strRef>
          </c:cat>
          <c:val>
            <c:numRef>
              <c:f>Sheet1!$B$2:$B$6</c:f>
              <c:numCache>
                <c:formatCode>General</c:formatCode>
                <c:ptCount val="5"/>
                <c:pt idx="0">
                  <c:v>7.5</c:v>
                </c:pt>
                <c:pt idx="1">
                  <c:v>13.3</c:v>
                </c:pt>
                <c:pt idx="2">
                  <c:v>20</c:v>
                </c:pt>
                <c:pt idx="3">
                  <c:v>15.6</c:v>
                </c:pt>
                <c:pt idx="4">
                  <c:v>10.199999999999999</c:v>
                </c:pt>
              </c:numCache>
            </c:numRef>
          </c:val>
          <c:extLst>
            <c:ext xmlns:c16="http://schemas.microsoft.com/office/drawing/2014/chart" uri="{C3380CC4-5D6E-409C-BE32-E72D297353CC}">
              <c16:uniqueId val="{00000000-C35A-4431-919E-ACC40BB4CECB}"/>
            </c:ext>
          </c:extLst>
        </c:ser>
        <c:ser>
          <c:idx val="1"/>
          <c:order val="1"/>
          <c:tx>
            <c:strRef>
              <c:f>Sheet1!$C$1</c:f>
              <c:strCache>
                <c:ptCount val="1"/>
                <c:pt idx="0">
                  <c:v>Europe</c:v>
                </c:pt>
              </c:strCache>
            </c:strRef>
          </c:tx>
          <c:spPr>
            <a:solidFill>
              <a:srgbClr val="FFB8FF"/>
            </a:solidFill>
            <a:effectLst/>
          </c:spPr>
          <c:invertIfNegative val="0"/>
          <c:dLbls>
            <c:numFmt formatCode="0&quot;%&quot;" sourceLinked="0"/>
            <c:spPr>
              <a:noFill/>
              <a:ln>
                <a:noFill/>
              </a:ln>
              <a:effectLst/>
            </c:spPr>
            <c:txPr>
              <a:bodyPr/>
              <a:lstStyle/>
              <a:p>
                <a:pPr>
                  <a:defRPr sz="11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RPG</c:v>
                </c:pt>
                <c:pt idx="1">
                  <c:v>Tir</c:v>
                </c:pt>
                <c:pt idx="2">
                  <c:v>Action</c:v>
                </c:pt>
                <c:pt idx="3">
                  <c:v>Sport</c:v>
                </c:pt>
                <c:pt idx="4">
                  <c:v>Plates-formes</c:v>
                </c:pt>
              </c:strCache>
            </c:strRef>
          </c:cat>
          <c:val>
            <c:numRef>
              <c:f>Sheet1!$C$2:$C$6</c:f>
              <c:numCache>
                <c:formatCode>General</c:formatCode>
                <c:ptCount val="5"/>
                <c:pt idx="0">
                  <c:v>7.7</c:v>
                </c:pt>
                <c:pt idx="1">
                  <c:v>12.9</c:v>
                </c:pt>
                <c:pt idx="2">
                  <c:v>21.6</c:v>
                </c:pt>
                <c:pt idx="3">
                  <c:v>15.5</c:v>
                </c:pt>
                <c:pt idx="4">
                  <c:v>8.3000000000000007</c:v>
                </c:pt>
              </c:numCache>
            </c:numRef>
          </c:val>
          <c:extLst>
            <c:ext xmlns:c16="http://schemas.microsoft.com/office/drawing/2014/chart" uri="{C3380CC4-5D6E-409C-BE32-E72D297353CC}">
              <c16:uniqueId val="{00000001-C35A-4431-919E-ACC40BB4CECB}"/>
            </c:ext>
          </c:extLst>
        </c:ser>
        <c:ser>
          <c:idx val="2"/>
          <c:order val="2"/>
          <c:tx>
            <c:strRef>
              <c:f>Sheet1!$D$1</c:f>
              <c:strCache>
                <c:ptCount val="1"/>
                <c:pt idx="0">
                  <c:v>Japon</c:v>
                </c:pt>
              </c:strCache>
            </c:strRef>
          </c:tx>
          <c:spPr>
            <a:solidFill>
              <a:srgbClr val="FF2D2D"/>
            </a:solidFill>
            <a:effectLst/>
          </c:spPr>
          <c:invertIfNegative val="0"/>
          <c:dLbls>
            <c:numFmt formatCode="0&quot;%&quot;" sourceLinked="0"/>
            <c:spPr>
              <a:noFill/>
              <a:ln>
                <a:noFill/>
              </a:ln>
              <a:effectLst/>
            </c:spPr>
            <c:txPr>
              <a:bodyPr/>
              <a:lstStyle/>
              <a:p>
                <a:pPr>
                  <a:defRPr sz="11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RPG</c:v>
                </c:pt>
                <c:pt idx="1">
                  <c:v>Tir</c:v>
                </c:pt>
                <c:pt idx="2">
                  <c:v>Action</c:v>
                </c:pt>
                <c:pt idx="3">
                  <c:v>Sport</c:v>
                </c:pt>
                <c:pt idx="4">
                  <c:v>Plates-formes</c:v>
                </c:pt>
              </c:strCache>
            </c:strRef>
          </c:cat>
          <c:val>
            <c:numRef>
              <c:f>Sheet1!$D$2:$D$6</c:f>
              <c:numCache>
                <c:formatCode>General</c:formatCode>
                <c:ptCount val="5"/>
                <c:pt idx="0">
                  <c:v>27.3</c:v>
                </c:pt>
                <c:pt idx="1">
                  <c:v>3</c:v>
                </c:pt>
                <c:pt idx="2">
                  <c:v>12.3</c:v>
                </c:pt>
                <c:pt idx="3">
                  <c:v>10.5</c:v>
                </c:pt>
                <c:pt idx="4">
                  <c:v>10.199999999999999</c:v>
                </c:pt>
              </c:numCache>
            </c:numRef>
          </c:val>
          <c:extLst>
            <c:ext xmlns:c16="http://schemas.microsoft.com/office/drawing/2014/chart" uri="{C3380CC4-5D6E-409C-BE32-E72D297353CC}">
              <c16:uniqueId val="{00000002-C35A-4431-919E-ACC40BB4CECB}"/>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4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showDLblsOverMax val="1"/>
  </c:chart>
  <c:spPr>
    <a:solidFill>
      <a:srgbClr val="000000">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stacked"/>
        <c:varyColors val="0"/>
        <c:ser>
          <c:idx val="0"/>
          <c:order val="0"/>
          <c:tx>
            <c:strRef>
              <c:f>Sheet1!$B$1</c:f>
              <c:strCache>
                <c:ptCount val="1"/>
                <c:pt idx="0">
                  <c:v>Action</c:v>
                </c:pt>
              </c:strCache>
            </c:strRef>
          </c:tx>
          <c:spPr>
            <a:solidFill>
              <a:srgbClr val="FF2D2D"/>
            </a:solidFill>
            <a:effectLst/>
          </c:spPr>
          <c:invertIfNegative val="0"/>
          <c:dLbls>
            <c:numFmt formatCode="0&quot;%&quot;" sourceLinked="0"/>
            <c:spPr>
              <a:noFill/>
              <a:ln>
                <a:noFill/>
              </a:ln>
              <a:effectLst/>
            </c:spPr>
            <c:txPr>
              <a:bodyPr/>
              <a:lstStyle/>
              <a:p>
                <a:pPr>
                  <a:defRPr sz="1200" b="1" i="0" u="none" strike="noStrike">
                    <a:solidFill>
                      <a:srgbClr val="FFFFFF"/>
                    </a:solidFill>
                    <a:latin typeface="Aria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1995–1999</c:v>
                </c:pt>
                <c:pt idx="1">
                  <c:v>2000–2004</c:v>
                </c:pt>
                <c:pt idx="2">
                  <c:v>2005–2009</c:v>
                </c:pt>
                <c:pt idx="3">
                  <c:v>2010–2016</c:v>
                </c:pt>
              </c:strCache>
            </c:strRef>
          </c:cat>
          <c:val>
            <c:numRef>
              <c:f>Sheet1!$B$2:$B$5</c:f>
              <c:numCache>
                <c:formatCode>General</c:formatCode>
                <c:ptCount val="4"/>
                <c:pt idx="0">
                  <c:v>12</c:v>
                </c:pt>
                <c:pt idx="1">
                  <c:v>18.899999999999999</c:v>
                </c:pt>
                <c:pt idx="2">
                  <c:v>18.399999999999999</c:v>
                </c:pt>
                <c:pt idx="3">
                  <c:v>26.9</c:v>
                </c:pt>
              </c:numCache>
            </c:numRef>
          </c:val>
          <c:extLst>
            <c:ext xmlns:c16="http://schemas.microsoft.com/office/drawing/2014/chart" uri="{C3380CC4-5D6E-409C-BE32-E72D297353CC}">
              <c16:uniqueId val="{00000000-F742-4D9A-A52D-41DB9856273C}"/>
            </c:ext>
          </c:extLst>
        </c:ser>
        <c:ser>
          <c:idx val="1"/>
          <c:order val="1"/>
          <c:tx>
            <c:strRef>
              <c:f>Sheet1!$C$1</c:f>
              <c:strCache>
                <c:ptCount val="1"/>
                <c:pt idx="0">
                  <c:v>Tir</c:v>
                </c:pt>
              </c:strCache>
            </c:strRef>
          </c:tx>
          <c:spPr>
            <a:solidFill>
              <a:srgbClr val="2121DE"/>
            </a:solidFill>
            <a:effectLst/>
          </c:spPr>
          <c:invertIfNegative val="0"/>
          <c:dLbls>
            <c:numFmt formatCode="0&quot;%&quot;" sourceLinked="0"/>
            <c:spPr>
              <a:noFill/>
              <a:ln>
                <a:noFill/>
              </a:ln>
              <a:effectLst/>
            </c:spPr>
            <c:txPr>
              <a:bodyPr/>
              <a:lstStyle/>
              <a:p>
                <a:pPr>
                  <a:defRPr sz="1200" b="1" i="0" u="none" strike="noStrike">
                    <a:solidFill>
                      <a:srgbClr val="FFFFFF"/>
                    </a:solidFill>
                    <a:latin typeface="Aria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1995–1999</c:v>
                </c:pt>
                <c:pt idx="1">
                  <c:v>2000–2004</c:v>
                </c:pt>
                <c:pt idx="2">
                  <c:v>2005–2009</c:v>
                </c:pt>
                <c:pt idx="3">
                  <c:v>2010–2016</c:v>
                </c:pt>
              </c:strCache>
            </c:strRef>
          </c:cat>
          <c:val>
            <c:numRef>
              <c:f>Sheet1!$C$2:$C$5</c:f>
              <c:numCache>
                <c:formatCode>General</c:formatCode>
                <c:ptCount val="4"/>
                <c:pt idx="0">
                  <c:v>5.6</c:v>
                </c:pt>
                <c:pt idx="1">
                  <c:v>9</c:v>
                </c:pt>
                <c:pt idx="2">
                  <c:v>9.6</c:v>
                </c:pt>
                <c:pt idx="3">
                  <c:v>18.399999999999999</c:v>
                </c:pt>
              </c:numCache>
            </c:numRef>
          </c:val>
          <c:extLst>
            <c:ext xmlns:c16="http://schemas.microsoft.com/office/drawing/2014/chart" uri="{C3380CC4-5D6E-409C-BE32-E72D297353CC}">
              <c16:uniqueId val="{00000001-F742-4D9A-A52D-41DB9856273C}"/>
            </c:ext>
          </c:extLst>
        </c:ser>
        <c:ser>
          <c:idx val="2"/>
          <c:order val="2"/>
          <c:tx>
            <c:strRef>
              <c:f>Sheet1!$D$1</c:f>
              <c:strCache>
                <c:ptCount val="1"/>
                <c:pt idx="0">
                  <c:v>Autres genres</c:v>
                </c:pt>
              </c:strCache>
            </c:strRef>
          </c:tx>
          <c:spPr>
            <a:solidFill>
              <a:srgbClr val="2C2C44"/>
            </a:solidFill>
            <a:effectLst/>
          </c:spPr>
          <c:invertIfNegative val="0"/>
          <c:dLbls>
            <c:numFmt formatCode="0&quot;%&quot;" sourceLinked="0"/>
            <c:spPr>
              <a:noFill/>
              <a:ln>
                <a:noFill/>
              </a:ln>
              <a:effectLst/>
            </c:spPr>
            <c:txPr>
              <a:bodyPr/>
              <a:lstStyle/>
              <a:p>
                <a:pPr>
                  <a:defRPr sz="1200" b="1" i="0" u="none" strike="noStrike">
                    <a:solidFill>
                      <a:srgbClr val="FFFFFF"/>
                    </a:solidFill>
                    <a:latin typeface="Aria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1995–1999</c:v>
                </c:pt>
                <c:pt idx="1">
                  <c:v>2000–2004</c:v>
                </c:pt>
                <c:pt idx="2">
                  <c:v>2005–2009</c:v>
                </c:pt>
                <c:pt idx="3">
                  <c:v>2010–2016</c:v>
                </c:pt>
              </c:strCache>
            </c:strRef>
          </c:cat>
          <c:val>
            <c:numRef>
              <c:f>Sheet1!$D$2:$D$5</c:f>
              <c:numCache>
                <c:formatCode>General</c:formatCode>
                <c:ptCount val="4"/>
                <c:pt idx="0">
                  <c:v>82.4</c:v>
                </c:pt>
                <c:pt idx="1">
                  <c:v>72.099999999999994</c:v>
                </c:pt>
                <c:pt idx="2">
                  <c:v>72</c:v>
                </c:pt>
                <c:pt idx="3">
                  <c:v>54.7</c:v>
                </c:pt>
              </c:numCache>
            </c:numRef>
          </c:val>
          <c:extLst>
            <c:ext xmlns:c16="http://schemas.microsoft.com/office/drawing/2014/chart" uri="{C3380CC4-5D6E-409C-BE32-E72D297353CC}">
              <c16:uniqueId val="{00000002-F742-4D9A-A52D-41DB9856273C}"/>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1"/>
        <c:axPos val="l"/>
        <c:numFmt formatCode="General" sourceLinked="0"/>
        <c:majorTickMark val="out"/>
        <c:minorTickMark val="none"/>
        <c:tickLblPos val="nextTo"/>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showDLblsOverMax val="1"/>
  </c:chart>
  <c:spPr>
    <a:solidFill>
      <a:srgbClr val="000000">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0"/>
        <c:ser>
          <c:idx val="0"/>
          <c:order val="0"/>
          <c:tx>
            <c:strRef>
              <c:f>Sheet1!$B$1</c:f>
              <c:strCache>
                <c:ptCount val="1"/>
                <c:pt idx="0">
                  <c:v>MPI</c:v>
                </c:pt>
              </c:strCache>
            </c:strRef>
          </c:tx>
          <c:spPr>
            <a:solidFill>
              <a:srgbClr val="FFE600"/>
            </a:solidFill>
            <a:effectLst/>
          </c:spPr>
          <c:invertIfNegative val="0"/>
          <c:dPt>
            <c:idx val="0"/>
            <c:invertIfNegative val="0"/>
            <c:bubble3D val="0"/>
            <c:extLst>
              <c:ext xmlns:c16="http://schemas.microsoft.com/office/drawing/2014/chart" uri="{C3380CC4-5D6E-409C-BE32-E72D297353CC}">
                <c16:uniqueId val="{00000001-8D24-4DAD-8B7A-DC493827F077}"/>
              </c:ext>
            </c:extLst>
          </c:dPt>
          <c:dPt>
            <c:idx val="1"/>
            <c:invertIfNegative val="0"/>
            <c:bubble3D val="0"/>
            <c:spPr>
              <a:solidFill>
                <a:srgbClr val="3D3DFF"/>
              </a:solidFill>
              <a:effectLst/>
            </c:spPr>
            <c:extLst>
              <c:ext xmlns:c16="http://schemas.microsoft.com/office/drawing/2014/chart" uri="{C3380CC4-5D6E-409C-BE32-E72D297353CC}">
                <c16:uniqueId val="{00000003-8D24-4DAD-8B7A-DC493827F077}"/>
              </c:ext>
            </c:extLst>
          </c:dPt>
          <c:dPt>
            <c:idx val="2"/>
            <c:invertIfNegative val="0"/>
            <c:bubble3D val="0"/>
            <c:spPr>
              <a:solidFill>
                <a:srgbClr val="3D3DFF"/>
              </a:solidFill>
              <a:effectLst/>
            </c:spPr>
            <c:extLst>
              <c:ext xmlns:c16="http://schemas.microsoft.com/office/drawing/2014/chart" uri="{C3380CC4-5D6E-409C-BE32-E72D297353CC}">
                <c16:uniqueId val="{00000005-8D24-4DAD-8B7A-DC493827F077}"/>
              </c:ext>
            </c:extLst>
          </c:dPt>
          <c:dPt>
            <c:idx val="3"/>
            <c:invertIfNegative val="0"/>
            <c:bubble3D val="0"/>
            <c:spPr>
              <a:solidFill>
                <a:srgbClr val="3D3DFF"/>
              </a:solidFill>
              <a:effectLst/>
            </c:spPr>
            <c:extLst>
              <c:ext xmlns:c16="http://schemas.microsoft.com/office/drawing/2014/chart" uri="{C3380CC4-5D6E-409C-BE32-E72D297353CC}">
                <c16:uniqueId val="{00000007-8D24-4DAD-8B7A-DC493827F077}"/>
              </c:ext>
            </c:extLst>
          </c:dPt>
          <c:dPt>
            <c:idx val="4"/>
            <c:invertIfNegative val="0"/>
            <c:bubble3D val="0"/>
            <c:spPr>
              <a:solidFill>
                <a:srgbClr val="3D3DFF"/>
              </a:solidFill>
              <a:effectLst/>
            </c:spPr>
            <c:extLst>
              <c:ext xmlns:c16="http://schemas.microsoft.com/office/drawing/2014/chart" uri="{C3380CC4-5D6E-409C-BE32-E72D297353CC}">
                <c16:uniqueId val="{00000009-8D24-4DAD-8B7A-DC493827F077}"/>
              </c:ext>
            </c:extLst>
          </c:dPt>
          <c:dPt>
            <c:idx val="5"/>
            <c:invertIfNegative val="0"/>
            <c:bubble3D val="0"/>
            <c:spPr>
              <a:solidFill>
                <a:srgbClr val="3D3DFF"/>
              </a:solidFill>
              <a:effectLst/>
            </c:spPr>
            <c:extLst>
              <c:ext xmlns:c16="http://schemas.microsoft.com/office/drawing/2014/chart" uri="{C3380CC4-5D6E-409C-BE32-E72D297353CC}">
                <c16:uniqueId val="{0000000B-8D24-4DAD-8B7A-DC493827F077}"/>
              </c:ext>
            </c:extLst>
          </c:dPt>
          <c:dPt>
            <c:idx val="6"/>
            <c:invertIfNegative val="0"/>
            <c:bubble3D val="0"/>
            <c:spPr>
              <a:solidFill>
                <a:srgbClr val="3D3DFF"/>
              </a:solidFill>
              <a:effectLst/>
            </c:spPr>
            <c:extLst>
              <c:ext xmlns:c16="http://schemas.microsoft.com/office/drawing/2014/chart" uri="{C3380CC4-5D6E-409C-BE32-E72D297353CC}">
                <c16:uniqueId val="{0000000D-8D24-4DAD-8B7A-DC493827F077}"/>
              </c:ext>
            </c:extLst>
          </c:dPt>
          <c:dPt>
            <c:idx val="7"/>
            <c:invertIfNegative val="0"/>
            <c:bubble3D val="0"/>
            <c:spPr>
              <a:solidFill>
                <a:srgbClr val="3D3DFF"/>
              </a:solidFill>
              <a:effectLst/>
            </c:spPr>
            <c:extLst>
              <c:ext xmlns:c16="http://schemas.microsoft.com/office/drawing/2014/chart" uri="{C3380CC4-5D6E-409C-BE32-E72D297353CC}">
                <c16:uniqueId val="{0000000F-8D24-4DAD-8B7A-DC493827F077}"/>
              </c:ext>
            </c:extLst>
          </c:dPt>
          <c:dLbls>
            <c:numFmt formatCode="0.0" sourceLinked="0"/>
            <c:spPr>
              <a:noFill/>
              <a:ln>
                <a:noFill/>
              </a:ln>
              <a:effectLst/>
            </c:spPr>
            <c:txPr>
              <a:bodyPr/>
              <a:lstStyle/>
              <a:p>
                <a:pPr>
                  <a:defRPr sz="12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Nintendo</c:v>
                </c:pt>
                <c:pt idx="1">
                  <c:v>EA</c:v>
                </c:pt>
                <c:pt idx="2">
                  <c:v>Sony</c:v>
                </c:pt>
                <c:pt idx="3">
                  <c:v>Activision</c:v>
                </c:pt>
                <c:pt idx="4">
                  <c:v>THQ</c:v>
                </c:pt>
                <c:pt idx="5">
                  <c:v>Take-Two</c:v>
                </c:pt>
                <c:pt idx="6">
                  <c:v>Sega</c:v>
                </c:pt>
                <c:pt idx="7">
                  <c:v>Ubisoft</c:v>
                </c:pt>
              </c:strCache>
            </c:strRef>
          </c:cat>
          <c:val>
            <c:numRef>
              <c:f>Sheet1!$B$2:$B$9</c:f>
              <c:numCache>
                <c:formatCode>General</c:formatCode>
                <c:ptCount val="8"/>
                <c:pt idx="0">
                  <c:v>95.5</c:v>
                </c:pt>
                <c:pt idx="1">
                  <c:v>74.5</c:v>
                </c:pt>
                <c:pt idx="2">
                  <c:v>60.5</c:v>
                </c:pt>
                <c:pt idx="3">
                  <c:v>58.8</c:v>
                </c:pt>
                <c:pt idx="4">
                  <c:v>50.8</c:v>
                </c:pt>
                <c:pt idx="5">
                  <c:v>50</c:v>
                </c:pt>
                <c:pt idx="6">
                  <c:v>48.8</c:v>
                </c:pt>
                <c:pt idx="7">
                  <c:v>48.2</c:v>
                </c:pt>
              </c:numCache>
            </c:numRef>
          </c:val>
          <c:extLst>
            <c:ext xmlns:c16="http://schemas.microsoft.com/office/drawing/2014/chart" uri="{C3380CC4-5D6E-409C-BE32-E72D297353CC}">
              <c16:uniqueId val="{00000010-8D24-4DAD-8B7A-DC493827F077}"/>
            </c:ext>
          </c:extLst>
        </c:ser>
        <c:dLbls>
          <c:showLegendKey val="0"/>
          <c:showVal val="1"/>
          <c:showCatName val="0"/>
          <c:showSerName val="0"/>
          <c:showPercent val="0"/>
          <c:showBubbleSize val="0"/>
        </c:dLbls>
        <c:gapWidth val="3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max val="112"/>
          <c:min val="0"/>
        </c:scaling>
        <c:delete val="1"/>
        <c:axPos val="t"/>
        <c:numFmt formatCode="General" sourceLinked="0"/>
        <c:majorTickMark val="out"/>
        <c:minorTickMark val="none"/>
        <c:tickLblPos val="low"/>
        <c:crossAx val="2094734554"/>
        <c:crosses val="autoZero"/>
        <c:crossBetween val="between"/>
      </c:valAx>
      <c:spPr>
        <a:solidFill>
          <a:srgbClr val="000000">
            <a:alpha val="0"/>
          </a:srgbClr>
        </a:solidFill>
        <a:ln>
          <a:noFill/>
        </a:ln>
        <a:effectLst/>
      </c:spPr>
    </c:plotArea>
    <c:plotVisOnly val="1"/>
    <c:dispBlanksAs val="span"/>
    <c:showDLblsOverMax val="1"/>
  </c:chart>
  <c:spPr>
    <a:solidFill>
      <a:srgbClr val="000000">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Part des jeux notés</c:v>
                </c:pt>
              </c:strCache>
            </c:strRef>
          </c:tx>
          <c:spPr>
            <a:solidFill>
              <a:srgbClr val="2121DE"/>
            </a:solidFill>
          </c:spPr>
          <c:invertIfNegative val="1"/>
          <c:dPt>
            <c:idx val="0"/>
            <c:invertIfNegative val="1"/>
            <c:bubble3D val="0"/>
            <c:extLst>
              <c:ext xmlns:c16="http://schemas.microsoft.com/office/drawing/2014/chart" uri="{C3380CC4-5D6E-409C-BE32-E72D297353CC}">
                <c16:uniqueId val="{00000001-7E91-49D1-BBA8-F65B69442634}"/>
              </c:ext>
            </c:extLst>
          </c:dPt>
          <c:dPt>
            <c:idx val="1"/>
            <c:invertIfNegative val="1"/>
            <c:bubble3D val="0"/>
            <c:extLst>
              <c:ext xmlns:c16="http://schemas.microsoft.com/office/drawing/2014/chart" uri="{C3380CC4-5D6E-409C-BE32-E72D297353CC}">
                <c16:uniqueId val="{00000003-7E91-49D1-BBA8-F65B69442634}"/>
              </c:ext>
            </c:extLst>
          </c:dPt>
          <c:dPt>
            <c:idx val="2"/>
            <c:invertIfNegative val="1"/>
            <c:bubble3D val="0"/>
            <c:extLst>
              <c:ext xmlns:c16="http://schemas.microsoft.com/office/drawing/2014/chart" uri="{C3380CC4-5D6E-409C-BE32-E72D297353CC}">
                <c16:uniqueId val="{00000005-7E91-49D1-BBA8-F65B69442634}"/>
              </c:ext>
            </c:extLst>
          </c:dPt>
          <c:dPt>
            <c:idx val="3"/>
            <c:invertIfNegative val="1"/>
            <c:bubble3D val="0"/>
            <c:extLst>
              <c:ext xmlns:c16="http://schemas.microsoft.com/office/drawing/2014/chart" uri="{C3380CC4-5D6E-409C-BE32-E72D297353CC}">
                <c16:uniqueId val="{00000007-7E91-49D1-BBA8-F65B69442634}"/>
              </c:ext>
            </c:extLst>
          </c:dPt>
          <c:dPt>
            <c:idx val="4"/>
            <c:invertIfNegative val="1"/>
            <c:bubble3D val="0"/>
            <c:spPr>
              <a:solidFill>
                <a:srgbClr val="FFE600"/>
              </a:solidFill>
            </c:spPr>
            <c:extLst>
              <c:ext xmlns:c16="http://schemas.microsoft.com/office/drawing/2014/chart" uri="{C3380CC4-5D6E-409C-BE32-E72D297353CC}">
                <c16:uniqueId val="{00000009-7E91-49D1-BBA8-F65B69442634}"/>
              </c:ext>
            </c:extLst>
          </c:dPt>
          <c:dLbls>
            <c:numFmt formatCode="0%"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20 % les
moins vendus</c:v>
                </c:pt>
                <c:pt idx="1">
                  <c:v>2e</c:v>
                </c:pt>
                <c:pt idx="2">
                  <c:v>3e</c:v>
                </c:pt>
                <c:pt idx="3">
                  <c:v>4e</c:v>
                </c:pt>
                <c:pt idx="4">
                  <c:v>20 % les
plus vendus</c:v>
                </c:pt>
              </c:strCache>
            </c:strRef>
          </c:cat>
          <c:val>
            <c:numRef>
              <c:f>Sheet1!$B$2:$B$6</c:f>
              <c:numCache>
                <c:formatCode>General</c:formatCode>
                <c:ptCount val="5"/>
                <c:pt idx="0">
                  <c:v>0.29883649724433559</c:v>
                </c:pt>
                <c:pt idx="1">
                  <c:v>0.42664624808575802</c:v>
                </c:pt>
                <c:pt idx="2">
                  <c:v>0.50566615620214395</c:v>
                </c:pt>
                <c:pt idx="3">
                  <c:v>0.55620214395099543</c:v>
                </c:pt>
                <c:pt idx="4">
                  <c:v>0.6548238897396631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A-7E91-49D1-BBA8-F65B6944263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Jeux classés par ventes mondiales, en 5 groupes de même taille</a:t>
                </a:r>
              </a:p>
            </c:rich>
          </c:tx>
          <c:overlay val="0"/>
        </c:title>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Ventes médianes (M)</c:v>
                </c:pt>
              </c:strCache>
            </c:strRef>
          </c:tx>
          <c:spPr>
            <a:solidFill>
              <a:srgbClr val="2121DE"/>
            </a:solidFill>
          </c:spPr>
          <c:invertIfNegative val="1"/>
          <c:dPt>
            <c:idx val="0"/>
            <c:invertIfNegative val="1"/>
            <c:bubble3D val="0"/>
            <c:extLst>
              <c:ext xmlns:c16="http://schemas.microsoft.com/office/drawing/2014/chart" uri="{C3380CC4-5D6E-409C-BE32-E72D297353CC}">
                <c16:uniqueId val="{00000001-F83F-4E70-BC87-FC079AE25AF1}"/>
              </c:ext>
            </c:extLst>
          </c:dPt>
          <c:dPt>
            <c:idx val="1"/>
            <c:invertIfNegative val="1"/>
            <c:bubble3D val="0"/>
            <c:extLst>
              <c:ext xmlns:c16="http://schemas.microsoft.com/office/drawing/2014/chart" uri="{C3380CC4-5D6E-409C-BE32-E72D297353CC}">
                <c16:uniqueId val="{00000003-F83F-4E70-BC87-FC079AE25AF1}"/>
              </c:ext>
            </c:extLst>
          </c:dPt>
          <c:dPt>
            <c:idx val="2"/>
            <c:invertIfNegative val="1"/>
            <c:bubble3D val="0"/>
            <c:extLst>
              <c:ext xmlns:c16="http://schemas.microsoft.com/office/drawing/2014/chart" uri="{C3380CC4-5D6E-409C-BE32-E72D297353CC}">
                <c16:uniqueId val="{00000005-F83F-4E70-BC87-FC079AE25AF1}"/>
              </c:ext>
            </c:extLst>
          </c:dPt>
          <c:dPt>
            <c:idx val="3"/>
            <c:invertIfNegative val="1"/>
            <c:bubble3D val="0"/>
            <c:extLst>
              <c:ext xmlns:c16="http://schemas.microsoft.com/office/drawing/2014/chart" uri="{C3380CC4-5D6E-409C-BE32-E72D297353CC}">
                <c16:uniqueId val="{00000007-F83F-4E70-BC87-FC079AE25AF1}"/>
              </c:ext>
            </c:extLst>
          </c:dPt>
          <c:dPt>
            <c:idx val="4"/>
            <c:invertIfNegative val="1"/>
            <c:bubble3D val="0"/>
            <c:extLst>
              <c:ext xmlns:c16="http://schemas.microsoft.com/office/drawing/2014/chart" uri="{C3380CC4-5D6E-409C-BE32-E72D297353CC}">
                <c16:uniqueId val="{00000009-F83F-4E70-BC87-FC079AE25AF1}"/>
              </c:ext>
            </c:extLst>
          </c:dPt>
          <c:dPt>
            <c:idx val="5"/>
            <c:invertIfNegative val="1"/>
            <c:bubble3D val="0"/>
            <c:spPr>
              <a:solidFill>
                <a:srgbClr val="FFE600"/>
              </a:solidFill>
            </c:spPr>
            <c:extLst>
              <c:ext xmlns:c16="http://schemas.microsoft.com/office/drawing/2014/chart" uri="{C3380CC4-5D6E-409C-BE32-E72D297353CC}">
                <c16:uniqueId val="{0000000B-F83F-4E70-BC87-FC079AE25AF1}"/>
              </c:ext>
            </c:extLst>
          </c:dPt>
          <c:dLbls>
            <c:numFmt formatCode="0.00&quot; M&quot;"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0.12</c:v>
                </c:pt>
                <c:pt idx="1">
                  <c:v>0.16</c:v>
                </c:pt>
                <c:pt idx="2">
                  <c:v>0.18</c:v>
                </c:pt>
                <c:pt idx="3">
                  <c:v>0.28999999999999998</c:v>
                </c:pt>
                <c:pt idx="4">
                  <c:v>0.6</c:v>
                </c:pt>
                <c:pt idx="5">
                  <c:v>1.54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F83F-4E70-BC87-FC079AE25AF1}"/>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ventes mondiales médianes en millions</a:t>
                </a:r>
              </a:p>
            </c:rich>
          </c:tx>
          <c:overlay val="0"/>
        </c:title>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lineChart>
        <c:grouping val="standard"/>
        <c:varyColors val="0"/>
        <c:ser>
          <c:idx val="0"/>
          <c:order val="0"/>
          <c:tx>
            <c:strRef>
              <c:f>Sheet1!$B$1</c:f>
              <c:strCache>
                <c:ptCount val="1"/>
                <c:pt idx="0">
                  <c:v>Presse</c:v>
                </c:pt>
              </c:strCache>
            </c:strRef>
          </c:tx>
          <c:spPr>
            <a:ln w="38100">
              <a:solidFill>
                <a:srgbClr val="00FFFF"/>
              </a:solidFill>
            </a:ln>
          </c:spPr>
          <c:marker>
            <c:symbol val="square"/>
            <c:size val="7"/>
            <c:spPr>
              <a:solidFill>
                <a:srgbClr val="00FFFF"/>
              </a:solidFill>
              <a:ln>
                <a:solidFill>
                  <a:srgbClr val="00FF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Sheet1!$B$2:$B$18</c:f>
              <c:numCache>
                <c:formatCode>General</c:formatCode>
                <c:ptCount val="17"/>
                <c:pt idx="0">
                  <c:v>69.281690140845072</c:v>
                </c:pt>
                <c:pt idx="1">
                  <c:v>71.440729483282681</c:v>
                </c:pt>
                <c:pt idx="2">
                  <c:v>69.135937499999997</c:v>
                </c:pt>
                <c:pt idx="3">
                  <c:v>70.186125211505924</c:v>
                </c:pt>
                <c:pt idx="4">
                  <c:v>69.422459893048128</c:v>
                </c:pt>
                <c:pt idx="5">
                  <c:v>68.74848484848485</c:v>
                </c:pt>
                <c:pt idx="6">
                  <c:v>67.39936608557845</c:v>
                </c:pt>
                <c:pt idx="7">
                  <c:v>66.068965517241381</c:v>
                </c:pt>
                <c:pt idx="8">
                  <c:v>65.885517241379304</c:v>
                </c:pt>
                <c:pt idx="9">
                  <c:v>67.590214067278282</c:v>
                </c:pt>
                <c:pt idx="10">
                  <c:v>67.579256360078276</c:v>
                </c:pt>
                <c:pt idx="11">
                  <c:v>68.668639053254438</c:v>
                </c:pt>
                <c:pt idx="12">
                  <c:v>72.886153846153846</c:v>
                </c:pt>
                <c:pt idx="13">
                  <c:v>71.265454545454546</c:v>
                </c:pt>
                <c:pt idx="14">
                  <c:v>71.065134099616856</c:v>
                </c:pt>
                <c:pt idx="15">
                  <c:v>72.871111111111105</c:v>
                </c:pt>
                <c:pt idx="16">
                  <c:v>73.15517241379311</c:v>
                </c:pt>
              </c:numCache>
            </c:numRef>
          </c:val>
          <c:smooth val="0"/>
          <c:extLst>
            <c:ext xmlns:c16="http://schemas.microsoft.com/office/drawing/2014/chart" uri="{C3380CC4-5D6E-409C-BE32-E72D297353CC}">
              <c16:uniqueId val="{00000000-21A9-4E10-BE91-6B152FF74D36}"/>
            </c:ext>
          </c:extLst>
        </c:ser>
        <c:ser>
          <c:idx val="1"/>
          <c:order val="1"/>
          <c:tx>
            <c:strRef>
              <c:f>Sheet1!$C$1</c:f>
              <c:strCache>
                <c:ptCount val="1"/>
                <c:pt idx="0">
                  <c:v>Joueurs (sur 100)</c:v>
                </c:pt>
              </c:strCache>
            </c:strRef>
          </c:tx>
          <c:spPr>
            <a:ln w="38100">
              <a:solidFill>
                <a:srgbClr val="FFB8FF"/>
              </a:solidFill>
            </a:ln>
          </c:spPr>
          <c:marker>
            <c:symbol val="square"/>
            <c:size val="7"/>
            <c:spPr>
              <a:solidFill>
                <a:srgbClr val="FFB8FF"/>
              </a:solidFill>
              <a:ln>
                <a:solidFill>
                  <a:srgbClr val="FFB8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Sheet1!$C$2:$C$18</c:f>
              <c:numCache>
                <c:formatCode>General</c:formatCode>
                <c:ptCount val="17"/>
                <c:pt idx="0">
                  <c:v>75.226415094339629</c:v>
                </c:pt>
                <c:pt idx="1">
                  <c:v>75.953846153846158</c:v>
                </c:pt>
                <c:pt idx="2">
                  <c:v>75.890756302521012</c:v>
                </c:pt>
                <c:pt idx="3">
                  <c:v>78.447216890595016</c:v>
                </c:pt>
                <c:pt idx="4">
                  <c:v>77.50306748466258</c:v>
                </c:pt>
                <c:pt idx="5">
                  <c:v>74.88566552901024</c:v>
                </c:pt>
                <c:pt idx="6">
                  <c:v>72.36363636363636</c:v>
                </c:pt>
                <c:pt idx="7">
                  <c:v>68.939968404423382</c:v>
                </c:pt>
                <c:pt idx="8">
                  <c:v>69.561377245508979</c:v>
                </c:pt>
                <c:pt idx="9">
                  <c:v>69.928571428571431</c:v>
                </c:pt>
                <c:pt idx="10">
                  <c:v>68.819327731092443</c:v>
                </c:pt>
                <c:pt idx="11">
                  <c:v>66.25</c:v>
                </c:pt>
                <c:pt idx="12">
                  <c:v>68.254385964912274</c:v>
                </c:pt>
                <c:pt idx="13">
                  <c:v>64.67647058823529</c:v>
                </c:pt>
                <c:pt idx="14">
                  <c:v>65.80243161094225</c:v>
                </c:pt>
                <c:pt idx="15">
                  <c:v>66.659932659932664</c:v>
                </c:pt>
                <c:pt idx="16">
                  <c:v>66.297709923664115</c:v>
                </c:pt>
              </c:numCache>
            </c:numRef>
          </c:val>
          <c:smooth val="0"/>
          <c:extLst>
            <c:ext xmlns:c16="http://schemas.microsoft.com/office/drawing/2014/chart" uri="{C3380CC4-5D6E-409C-BE32-E72D297353CC}">
              <c16:uniqueId val="{00000001-21A9-4E10-BE91-6B152FF74D36}"/>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sz="1200" b="0">
                    <a:solidFill>
                      <a:srgbClr val="7C7CAA"/>
                    </a:solidFill>
                    <a:latin typeface="Arial"/>
                  </a:rPr>
                  <a:t>Note moyenne des jeux sortis chaque année (/100)</a:t>
                </a:r>
              </a:p>
            </c:rich>
          </c:tx>
          <c:overlay val="0"/>
        </c:title>
        <c:numFmt formatCode="General" sourceLinked="0"/>
        <c:majorTickMark val="out"/>
        <c:minorTickMark val="none"/>
        <c:tickLblPos val="nextTo"/>
        <c:spPr>
          <a:ln w="12700">
            <a:solidFill>
              <a:srgbClr val="2121DE"/>
            </a:solidFill>
          </a:ln>
        </c:spPr>
        <c:txPr>
          <a:bodyPr/>
          <a:lstStyle/>
          <a:p>
            <a:pPr>
              <a:defRPr sz="1000">
                <a:solidFill>
                  <a:srgbClr val="C4C4E4"/>
                </a:solidFill>
              </a:defRPr>
            </a:pPr>
            <a:endParaRPr lang="fr-FR"/>
          </a:p>
        </c:txPr>
        <c:crossAx val="2140495176"/>
        <c:crosses val="autoZero"/>
        <c:auto val="1"/>
        <c:lblAlgn val="ctr"/>
        <c:lblOffset val="100"/>
        <c:noMultiLvlLbl val="0"/>
      </c:catAx>
      <c:valAx>
        <c:axId val="2140495176"/>
        <c:scaling>
          <c:orientation val="minMax"/>
          <c:max val="80"/>
          <c:min val="62"/>
        </c:scaling>
        <c:delete val="0"/>
        <c:axPos val="l"/>
        <c:majorGridlines>
          <c:spPr>
            <a:ln w="9525">
              <a:solidFill>
                <a:srgbClr val="1A1A4A"/>
              </a:solidFill>
            </a:ln>
          </c:spPr>
        </c:majorGridlines>
        <c:numFmt formatCode="General" sourceLinked="1"/>
        <c:majorTickMark val="out"/>
        <c:minorTickMark val="none"/>
        <c:tickLblPos val="nextTo"/>
        <c:spPr>
          <a:ln>
            <a:noFill/>
          </a:ln>
        </c:spPr>
        <c:txPr>
          <a:bodyPr/>
          <a:lstStyle/>
          <a:p>
            <a:pPr>
              <a:defRPr sz="1100">
                <a:solidFill>
                  <a:srgbClr val="7C7CAA"/>
                </a:solidFill>
              </a:defRPr>
            </a:pPr>
            <a:endParaRPr lang="fr-FR"/>
          </a:p>
        </c:txPr>
        <c:crossAx val="2118791784"/>
        <c:crosses val="autoZero"/>
        <c:crossBetween val="between"/>
      </c:valAx>
      <c:spPr>
        <a:noFill/>
        <a:ln>
          <a:noFill/>
        </a:ln>
      </c:spPr>
    </c:plotArea>
    <c:legend>
      <c:legendPos val="t"/>
      <c:overlay val="0"/>
      <c:txPr>
        <a:bodyPr/>
        <a:lstStyle/>
        <a:p>
          <a:pPr>
            <a:defRPr sz="1200">
              <a:solidFill>
                <a:srgbClr val="C4C4E4"/>
              </a:solidFill>
            </a:defRPr>
          </a:pPr>
          <a:endParaRPr lang="fr-FR"/>
        </a:p>
      </c:txPr>
    </c:legend>
    <c:plotVisOnly val="1"/>
    <c:dispBlanksAs val="gap"/>
    <c:showDLblsOverMax val="0"/>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1"/>
        <c:ser>
          <c:idx val="0"/>
          <c:order val="0"/>
          <c:tx>
            <c:strRef>
              <c:f>Sheet1!$B$1</c:f>
              <c:strCache>
                <c:ptCount val="1"/>
                <c:pt idx="0">
                  <c:v>Note presse moyenne</c:v>
                </c:pt>
              </c:strCache>
            </c:strRef>
          </c:tx>
          <c:spPr>
            <a:solidFill>
              <a:srgbClr val="FF2D2D"/>
            </a:solidFill>
          </c:spPr>
          <c:invertIfNegative val="1"/>
          <c:dPt>
            <c:idx val="0"/>
            <c:invertIfNegative val="1"/>
            <c:bubble3D val="0"/>
            <c:extLst>
              <c:ext xmlns:c16="http://schemas.microsoft.com/office/drawing/2014/chart" uri="{C3380CC4-5D6E-409C-BE32-E72D297353CC}">
                <c16:uniqueId val="{00000001-73E0-4D86-A7B8-2C092D6DFA2A}"/>
              </c:ext>
            </c:extLst>
          </c:dPt>
          <c:dPt>
            <c:idx val="1"/>
            <c:invertIfNegative val="1"/>
            <c:bubble3D val="0"/>
            <c:extLst>
              <c:ext xmlns:c16="http://schemas.microsoft.com/office/drawing/2014/chart" uri="{C3380CC4-5D6E-409C-BE32-E72D297353CC}">
                <c16:uniqueId val="{00000003-73E0-4D86-A7B8-2C092D6DFA2A}"/>
              </c:ext>
            </c:extLst>
          </c:dPt>
          <c:dPt>
            <c:idx val="2"/>
            <c:invertIfNegative val="1"/>
            <c:bubble3D val="0"/>
            <c:extLst>
              <c:ext xmlns:c16="http://schemas.microsoft.com/office/drawing/2014/chart" uri="{C3380CC4-5D6E-409C-BE32-E72D297353CC}">
                <c16:uniqueId val="{00000005-73E0-4D86-A7B8-2C092D6DFA2A}"/>
              </c:ext>
            </c:extLst>
          </c:dPt>
          <c:dPt>
            <c:idx val="3"/>
            <c:invertIfNegative val="1"/>
            <c:bubble3D val="0"/>
            <c:extLst>
              <c:ext xmlns:c16="http://schemas.microsoft.com/office/drawing/2014/chart" uri="{C3380CC4-5D6E-409C-BE32-E72D297353CC}">
                <c16:uniqueId val="{00000007-73E0-4D86-A7B8-2C092D6DFA2A}"/>
              </c:ext>
            </c:extLst>
          </c:dPt>
          <c:dPt>
            <c:idx val="4"/>
            <c:invertIfNegative val="1"/>
            <c:bubble3D val="0"/>
            <c:spPr>
              <a:solidFill>
                <a:srgbClr val="2121DE"/>
              </a:solidFill>
            </c:spPr>
            <c:extLst>
              <c:ext xmlns:c16="http://schemas.microsoft.com/office/drawing/2014/chart" uri="{C3380CC4-5D6E-409C-BE32-E72D297353CC}">
                <c16:uniqueId val="{00000009-73E0-4D86-A7B8-2C092D6DFA2A}"/>
              </c:ext>
            </c:extLst>
          </c:dPt>
          <c:dPt>
            <c:idx val="5"/>
            <c:invertIfNegative val="1"/>
            <c:bubble3D val="0"/>
            <c:spPr>
              <a:solidFill>
                <a:srgbClr val="00DE00"/>
              </a:solidFill>
            </c:spPr>
            <c:extLst>
              <c:ext xmlns:c16="http://schemas.microsoft.com/office/drawing/2014/chart" uri="{C3380CC4-5D6E-409C-BE32-E72D297353CC}">
                <c16:uniqueId val="{0000000B-73E0-4D86-A7B8-2C092D6DFA2A}"/>
              </c:ext>
            </c:extLst>
          </c:dPt>
          <c:dPt>
            <c:idx val="6"/>
            <c:invertIfNegative val="1"/>
            <c:bubble3D val="0"/>
            <c:spPr>
              <a:solidFill>
                <a:srgbClr val="2121DE"/>
              </a:solidFill>
            </c:spPr>
            <c:extLst>
              <c:ext xmlns:c16="http://schemas.microsoft.com/office/drawing/2014/chart" uri="{C3380CC4-5D6E-409C-BE32-E72D297353CC}">
                <c16:uniqueId val="{0000000D-73E0-4D86-A7B8-2C092D6DFA2A}"/>
              </c:ext>
            </c:extLst>
          </c:dPt>
          <c:dPt>
            <c:idx val="7"/>
            <c:invertIfNegative val="1"/>
            <c:bubble3D val="0"/>
            <c:extLst>
              <c:ext xmlns:c16="http://schemas.microsoft.com/office/drawing/2014/chart" uri="{C3380CC4-5D6E-409C-BE32-E72D297353CC}">
                <c16:uniqueId val="{0000000F-73E0-4D86-A7B8-2C092D6DFA2A}"/>
              </c:ext>
            </c:extLst>
          </c:dPt>
          <c:dPt>
            <c:idx val="8"/>
            <c:invertIfNegative val="1"/>
            <c:bubble3D val="0"/>
            <c:spPr>
              <a:solidFill>
                <a:srgbClr val="00DE00"/>
              </a:solidFill>
            </c:spPr>
            <c:extLst>
              <c:ext xmlns:c16="http://schemas.microsoft.com/office/drawing/2014/chart" uri="{C3380CC4-5D6E-409C-BE32-E72D297353CC}">
                <c16:uniqueId val="{00000011-73E0-4D86-A7B8-2C092D6DFA2A}"/>
              </c:ext>
            </c:extLst>
          </c:dPt>
          <c:dPt>
            <c:idx val="9"/>
            <c:invertIfNegative val="1"/>
            <c:bubble3D val="0"/>
            <c:spPr>
              <a:solidFill>
                <a:srgbClr val="2121DE"/>
              </a:solidFill>
            </c:spPr>
            <c:extLst>
              <c:ext xmlns:c16="http://schemas.microsoft.com/office/drawing/2014/chart" uri="{C3380CC4-5D6E-409C-BE32-E72D297353CC}">
                <c16:uniqueId val="{00000013-73E0-4D86-A7B8-2C092D6DFA2A}"/>
              </c:ext>
            </c:extLst>
          </c:dPt>
          <c:dPt>
            <c:idx val="10"/>
            <c:invertIfNegative val="1"/>
            <c:bubble3D val="0"/>
            <c:spPr>
              <a:solidFill>
                <a:srgbClr val="2121DE"/>
              </a:solidFill>
            </c:spPr>
            <c:extLst>
              <c:ext xmlns:c16="http://schemas.microsoft.com/office/drawing/2014/chart" uri="{C3380CC4-5D6E-409C-BE32-E72D297353CC}">
                <c16:uniqueId val="{00000015-73E0-4D86-A7B8-2C092D6DFA2A}"/>
              </c:ext>
            </c:extLst>
          </c:dPt>
          <c:dPt>
            <c:idx val="11"/>
            <c:invertIfNegative val="1"/>
            <c:bubble3D val="0"/>
            <c:extLst>
              <c:ext xmlns:c16="http://schemas.microsoft.com/office/drawing/2014/chart" uri="{C3380CC4-5D6E-409C-BE32-E72D297353CC}">
                <c16:uniqueId val="{00000017-73E0-4D86-A7B8-2C092D6DFA2A}"/>
              </c:ext>
            </c:extLst>
          </c:dPt>
          <c:dPt>
            <c:idx val="12"/>
            <c:invertIfNegative val="1"/>
            <c:bubble3D val="0"/>
            <c:spPr>
              <a:solidFill>
                <a:srgbClr val="2121DE"/>
              </a:solidFill>
            </c:spPr>
            <c:extLst>
              <c:ext xmlns:c16="http://schemas.microsoft.com/office/drawing/2014/chart" uri="{C3380CC4-5D6E-409C-BE32-E72D297353CC}">
                <c16:uniqueId val="{00000019-73E0-4D86-A7B8-2C092D6DFA2A}"/>
              </c:ext>
            </c:extLst>
          </c:dPt>
          <c:dPt>
            <c:idx val="13"/>
            <c:invertIfNegative val="1"/>
            <c:bubble3D val="0"/>
            <c:spPr>
              <a:solidFill>
                <a:srgbClr val="2121DE"/>
              </a:solidFill>
            </c:spPr>
            <c:extLst>
              <c:ext xmlns:c16="http://schemas.microsoft.com/office/drawing/2014/chart" uri="{C3380CC4-5D6E-409C-BE32-E72D297353CC}">
                <c16:uniqueId val="{0000001B-73E0-4D86-A7B8-2C092D6DFA2A}"/>
              </c:ext>
            </c:extLst>
          </c:dPt>
          <c:dPt>
            <c:idx val="14"/>
            <c:invertIfNegative val="1"/>
            <c:bubble3D val="0"/>
            <c:spPr>
              <a:solidFill>
                <a:srgbClr val="00DE00"/>
              </a:solidFill>
            </c:spPr>
            <c:extLst>
              <c:ext xmlns:c16="http://schemas.microsoft.com/office/drawing/2014/chart" uri="{C3380CC4-5D6E-409C-BE32-E72D297353CC}">
                <c16:uniqueId val="{0000001D-73E0-4D86-A7B8-2C092D6DFA2A}"/>
              </c:ext>
            </c:extLst>
          </c:dPt>
          <c:dPt>
            <c:idx val="15"/>
            <c:invertIfNegative val="1"/>
            <c:bubble3D val="0"/>
            <c:spPr>
              <a:solidFill>
                <a:srgbClr val="FFE600"/>
              </a:solidFill>
            </c:spPr>
            <c:extLst>
              <c:ext xmlns:c16="http://schemas.microsoft.com/office/drawing/2014/chart" uri="{C3380CC4-5D6E-409C-BE32-E72D297353CC}">
                <c16:uniqueId val="{0000001F-73E0-4D86-A7B8-2C092D6DFA2A}"/>
              </c:ext>
            </c:extLst>
          </c:dPt>
          <c:dLbls>
            <c:numFmt formatCode="0.0"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Sheet1!$A$2:$A$17</c:f>
              <c:strCache>
                <c:ptCount val="16"/>
                <c:pt idx="0">
                  <c:v>Wii</c:v>
                </c:pt>
                <c:pt idx="1">
                  <c:v>Nintendo DS</c:v>
                </c:pt>
                <c:pt idx="2">
                  <c:v>Nintendo 3DS</c:v>
                </c:pt>
                <c:pt idx="3">
                  <c:v>Game Boy Advance</c:v>
                </c:pt>
                <c:pt idx="4">
                  <c:v>PSP</c:v>
                </c:pt>
                <c:pt idx="5">
                  <c:v>Xbox 360</c:v>
                </c:pt>
                <c:pt idx="6">
                  <c:v>PlayStation 2</c:v>
                </c:pt>
                <c:pt idx="7">
                  <c:v>GameCube</c:v>
                </c:pt>
                <c:pt idx="8">
                  <c:v>Xbox</c:v>
                </c:pt>
                <c:pt idx="9">
                  <c:v>PlayStation 3</c:v>
                </c:pt>
                <c:pt idx="10">
                  <c:v>PS Vita</c:v>
                </c:pt>
                <c:pt idx="11">
                  <c:v>Wii U</c:v>
                </c:pt>
                <c:pt idx="12">
                  <c:v>PlayStation</c:v>
                </c:pt>
                <c:pt idx="13">
                  <c:v>PlayStation 4</c:v>
                </c:pt>
                <c:pt idx="14">
                  <c:v>Xbox One</c:v>
                </c:pt>
                <c:pt idx="15">
                  <c:v>PC</c:v>
                </c:pt>
              </c:strCache>
            </c:strRef>
          </c:cat>
          <c:val>
            <c:numRef>
              <c:f>Sheet1!$B$2:$B$17</c:f>
              <c:numCache>
                <c:formatCode>General</c:formatCode>
                <c:ptCount val="16"/>
                <c:pt idx="0">
                  <c:v>62.832469775474955</c:v>
                </c:pt>
                <c:pt idx="1">
                  <c:v>63.785413744740531</c:v>
                </c:pt>
                <c:pt idx="2">
                  <c:v>67.179640718562879</c:v>
                </c:pt>
                <c:pt idx="3">
                  <c:v>67.293981481481481</c:v>
                </c:pt>
                <c:pt idx="4">
                  <c:v>67.424242424242422</c:v>
                </c:pt>
                <c:pt idx="5">
                  <c:v>68.664823008849552</c:v>
                </c:pt>
                <c:pt idx="6">
                  <c:v>68.753702260327358</c:v>
                </c:pt>
                <c:pt idx="7">
                  <c:v>69.588764044943815</c:v>
                </c:pt>
                <c:pt idx="8">
                  <c:v>69.935754189944134</c:v>
                </c:pt>
                <c:pt idx="9">
                  <c:v>70.380541871921181</c:v>
                </c:pt>
                <c:pt idx="10">
                  <c:v>70.731092436974791</c:v>
                </c:pt>
                <c:pt idx="11">
                  <c:v>70.733333333333334</c:v>
                </c:pt>
                <c:pt idx="12">
                  <c:v>71.586734693877546</c:v>
                </c:pt>
                <c:pt idx="13">
                  <c:v>72.091269841269835</c:v>
                </c:pt>
                <c:pt idx="14">
                  <c:v>73.325443786982248</c:v>
                </c:pt>
                <c:pt idx="15">
                  <c:v>75.912429378531073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0-73E0-4D86-A7B8-2C092D6DFA2A}"/>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max val="80"/>
          <c:min val="55"/>
        </c:scaling>
        <c:delete val="1"/>
        <c:axPos val="b"/>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percentStacked"/>
        <c:varyColors val="1"/>
        <c:ser>
          <c:idx val="0"/>
          <c:order val="0"/>
          <c:tx>
            <c:strRef>
              <c:f>Sheet1!$B$1</c:f>
              <c:strCache>
                <c:ptCount val="1"/>
                <c:pt idx="0">
                  <c:v>Amérique du Nord</c:v>
                </c:pt>
              </c:strCache>
            </c:strRef>
          </c:tx>
          <c:spPr>
            <a:solidFill>
              <a:srgbClr val="00FFFF"/>
            </a:solidFill>
          </c:spPr>
          <c:invertIfNegative val="1"/>
          <c:dLbls>
            <c:numFmt formatCode="0%" sourceLinked="0"/>
            <c:spPr>
              <a:noFill/>
              <a:ln>
                <a:noFill/>
              </a:ln>
              <a:effectLst/>
            </c:spPr>
            <c:txPr>
              <a:bodyPr/>
              <a:lstStyle/>
              <a:p>
                <a:pPr>
                  <a:defRPr sz="1200" b="1">
                    <a:solidFill>
                      <a:srgbClr val="000000"/>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0.67690459572507478</c:v>
                </c:pt>
                <c:pt idx="1">
                  <c:v>0.61234692744650587</c:v>
                </c:pt>
                <c:pt idx="2">
                  <c:v>0.58346214558297094</c:v>
                </c:pt>
                <c:pt idx="3">
                  <c:v>0.53554143528957798</c:v>
                </c:pt>
                <c:pt idx="4">
                  <c:v>0.49971040244064807</c:v>
                </c:pt>
                <c:pt idx="5">
                  <c:v>0.48881116478843528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3CF4-4FC5-B360-48818476B703}"/>
            </c:ext>
          </c:extLst>
        </c:ser>
        <c:ser>
          <c:idx val="1"/>
          <c:order val="1"/>
          <c:tx>
            <c:strRef>
              <c:f>Sheet1!$C$1</c:f>
              <c:strCache>
                <c:ptCount val="1"/>
                <c:pt idx="0">
                  <c:v>Europe</c:v>
                </c:pt>
              </c:strCache>
            </c:strRef>
          </c:tx>
          <c:spPr>
            <a:solidFill>
              <a:srgbClr val="FFB8FF"/>
            </a:solidFill>
          </c:spPr>
          <c:invertIfNegative val="1"/>
          <c:dLbls>
            <c:numFmt formatCode="0%" sourceLinked="0"/>
            <c:spPr>
              <a:noFill/>
              <a:ln>
                <a:noFill/>
              </a:ln>
              <a:effectLst/>
            </c:spPr>
            <c:txPr>
              <a:bodyPr/>
              <a:lstStyle/>
              <a:p>
                <a:pPr>
                  <a:defRPr sz="1200" b="1">
                    <a:solidFill>
                      <a:srgbClr val="000000"/>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Sheet1!$C$2:$C$7</c:f>
              <c:numCache>
                <c:formatCode>General</c:formatCode>
                <c:ptCount val="6"/>
                <c:pt idx="0">
                  <c:v>0.22103624497417107</c:v>
                </c:pt>
                <c:pt idx="1">
                  <c:v>0.2566824882572547</c:v>
                </c:pt>
                <c:pt idx="2">
                  <c:v>0.26473148013144793</c:v>
                </c:pt>
                <c:pt idx="3">
                  <c:v>0.30410061948755129</c:v>
                </c:pt>
                <c:pt idx="4">
                  <c:v>0.33190453567195283</c:v>
                </c:pt>
                <c:pt idx="5">
                  <c:v>0.33990936092368362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3CF4-4FC5-B360-48818476B703}"/>
            </c:ext>
          </c:extLst>
        </c:ser>
        <c:ser>
          <c:idx val="2"/>
          <c:order val="2"/>
          <c:tx>
            <c:strRef>
              <c:f>Sheet1!$D$1</c:f>
              <c:strCache>
                <c:ptCount val="1"/>
                <c:pt idx="0">
                  <c:v>Japon</c:v>
                </c:pt>
              </c:strCache>
            </c:strRef>
          </c:tx>
          <c:spPr>
            <a:solidFill>
              <a:srgbClr val="FF2D2D"/>
            </a:solidFill>
          </c:spPr>
          <c:invertIfNegative val="1"/>
          <c:dLbls>
            <c:dLbl>
              <c:idx val="0"/>
              <c:tx>
                <c:rich>
                  <a:bodyPr/>
                  <a:lstStyle/>
                  <a:p>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3CF4-4FC5-B360-48818476B703}"/>
                </c:ext>
              </c:extLst>
            </c:dLbl>
            <c:dLbl>
              <c:idx val="1"/>
              <c:tx>
                <c:rich>
                  <a:bodyPr/>
                  <a:lstStyle/>
                  <a:p>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CF4-4FC5-B360-48818476B703}"/>
                </c:ext>
              </c:extLst>
            </c:dLbl>
            <c:numFmt formatCode="0%" sourceLinked="0"/>
            <c:spPr>
              <a:noFill/>
              <a:ln>
                <a:noFill/>
              </a:ln>
              <a:effectLst/>
            </c:spPr>
            <c:txPr>
              <a:bodyPr/>
              <a:lstStyle/>
              <a:p>
                <a:pPr>
                  <a:defRPr sz="1200" b="1">
                    <a:solidFill>
                      <a:srgbClr val="FFFFFF"/>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Sheet1!$D$2:$D$7</c:f>
              <c:numCache>
                <c:formatCode>General</c:formatCode>
                <c:ptCount val="6"/>
                <c:pt idx="0">
                  <c:v>3.0283980033322496E-2</c:v>
                </c:pt>
                <c:pt idx="1">
                  <c:v>5.3016243412373029E-2</c:v>
                </c:pt>
                <c:pt idx="2">
                  <c:v>7.0822199801747282E-2</c:v>
                </c:pt>
                <c:pt idx="3">
                  <c:v>7.392185819426475E-2</c:v>
                </c:pt>
                <c:pt idx="4">
                  <c:v>7.4802441025357658E-2</c:v>
                </c:pt>
                <c:pt idx="5">
                  <c:v>7.2328260139007131E-2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3CF4-4FC5-B360-48818476B703}"/>
            </c:ext>
          </c:extLst>
        </c:ser>
        <c:ser>
          <c:idx val="3"/>
          <c:order val="3"/>
          <c:tx>
            <c:strRef>
              <c:f>Sheet1!$E$1</c:f>
              <c:strCache>
                <c:ptCount val="1"/>
                <c:pt idx="0">
                  <c:v>Reste du monde</c:v>
                </c:pt>
              </c:strCache>
            </c:strRef>
          </c:tx>
          <c:spPr>
            <a:solidFill>
              <a:srgbClr val="2E2E4A"/>
            </a:solidFill>
          </c:spPr>
          <c:invertIfNegative val="1"/>
          <c:dLbls>
            <c:numFmt formatCode="0%" sourceLinked="0"/>
            <c:spPr>
              <a:noFill/>
              <a:ln>
                <a:noFill/>
              </a:ln>
              <a:effectLst/>
            </c:spPr>
            <c:txPr>
              <a:bodyPr/>
              <a:lstStyle/>
              <a:p>
                <a:pPr>
                  <a:defRPr sz="1200" b="1">
                    <a:solidFill>
                      <a:srgbClr val="FFFFFF"/>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Sheet1!$E$2:$E$7</c:f>
              <c:numCache>
                <c:formatCode>General</c:formatCode>
                <c:ptCount val="6"/>
                <c:pt idx="0">
                  <c:v>7.1775179267431571E-2</c:v>
                </c:pt>
                <c:pt idx="1">
                  <c:v>7.7954340883866449E-2</c:v>
                </c:pt>
                <c:pt idx="2">
                  <c:v>8.0984174483833896E-2</c:v>
                </c:pt>
                <c:pt idx="3">
                  <c:v>8.6436087028605932E-2</c:v>
                </c:pt>
                <c:pt idx="4">
                  <c:v>9.3582620862041443E-2</c:v>
                </c:pt>
                <c:pt idx="5">
                  <c:v>9.8951214148873964E-2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3CF4-4FC5-B360-48818476B703}"/>
            </c:ext>
          </c:extLst>
        </c:ser>
        <c:dLbls>
          <c:dLblPos val="ctr"/>
          <c:showLegendKey val="0"/>
          <c:showVal val="1"/>
          <c:showCatName val="0"/>
          <c:showSerName val="0"/>
          <c:showPercent val="0"/>
          <c:showBubbleSize val="0"/>
        </c:dLbls>
        <c:gapWidth val="60"/>
        <c:overlap val="100"/>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part des ventes du jeu par région</a:t>
                </a:r>
              </a:p>
            </c:rich>
          </c:tx>
          <c:overlay val="0"/>
        </c:title>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l"/>
        <c:numFmt formatCode="0%" sourceLinked="1"/>
        <c:majorTickMark val="out"/>
        <c:minorTickMark val="none"/>
        <c:tickLblPos val="nextTo"/>
        <c:crossAx val="-2068027336"/>
        <c:crosses val="autoZero"/>
        <c:crossBetween val="between"/>
      </c:valAx>
      <c:spPr>
        <a:noFill/>
        <a:ln>
          <a:noFill/>
        </a:ln>
      </c:spPr>
    </c:plotArea>
    <c:legend>
      <c:legendPos val="t"/>
      <c:overlay val="0"/>
      <c:txPr>
        <a:bodyPr/>
        <a:lstStyle/>
        <a:p>
          <a:pPr>
            <a:defRPr sz="1200">
              <a:solidFill>
                <a:srgbClr val="C4C4E4"/>
              </a:solidFill>
            </a:defRPr>
          </a:pPr>
          <a:endParaRPr lang="fr-FR"/>
        </a:p>
      </c:txPr>
    </c:legend>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1"/>
        <c:ser>
          <c:idx val="0"/>
          <c:order val="0"/>
          <c:tx>
            <c:strRef>
              <c:f>Sheet1!$B$1</c:f>
              <c:strCache>
                <c:ptCount val="1"/>
                <c:pt idx="0">
                  <c:v>Jours</c:v>
                </c:pt>
              </c:strCache>
            </c:strRef>
          </c:tx>
          <c:spPr>
            <a:solidFill>
              <a:srgbClr val="2121DE"/>
            </a:solidFill>
          </c:spPr>
          <c:invertIfNegative val="1"/>
          <c:dPt>
            <c:idx val="0"/>
            <c:invertIfNegative val="1"/>
            <c:bubble3D val="0"/>
            <c:extLst>
              <c:ext xmlns:c16="http://schemas.microsoft.com/office/drawing/2014/chart" uri="{C3380CC4-5D6E-409C-BE32-E72D297353CC}">
                <c16:uniqueId val="{00000001-10F9-4E3D-9388-5CB867D81EAB}"/>
              </c:ext>
            </c:extLst>
          </c:dPt>
          <c:dPt>
            <c:idx val="1"/>
            <c:invertIfNegative val="1"/>
            <c:bubble3D val="0"/>
            <c:extLst>
              <c:ext xmlns:c16="http://schemas.microsoft.com/office/drawing/2014/chart" uri="{C3380CC4-5D6E-409C-BE32-E72D297353CC}">
                <c16:uniqueId val="{00000003-10F9-4E3D-9388-5CB867D81EAB}"/>
              </c:ext>
            </c:extLst>
          </c:dPt>
          <c:dPt>
            <c:idx val="2"/>
            <c:invertIfNegative val="1"/>
            <c:bubble3D val="0"/>
            <c:spPr>
              <a:solidFill>
                <a:srgbClr val="FFE600"/>
              </a:solidFill>
            </c:spPr>
            <c:extLst>
              <c:ext xmlns:c16="http://schemas.microsoft.com/office/drawing/2014/chart" uri="{C3380CC4-5D6E-409C-BE32-E72D297353CC}">
                <c16:uniqueId val="{00000005-10F9-4E3D-9388-5CB867D81EAB}"/>
              </c:ext>
            </c:extLst>
          </c:dPt>
          <c:dPt>
            <c:idx val="3"/>
            <c:invertIfNegative val="1"/>
            <c:bubble3D val="0"/>
            <c:extLst>
              <c:ext xmlns:c16="http://schemas.microsoft.com/office/drawing/2014/chart" uri="{C3380CC4-5D6E-409C-BE32-E72D297353CC}">
                <c16:uniqueId val="{00000007-10F9-4E3D-9388-5CB867D81EAB}"/>
              </c:ext>
            </c:extLst>
          </c:dPt>
          <c:dPt>
            <c:idx val="4"/>
            <c:invertIfNegative val="1"/>
            <c:bubble3D val="0"/>
            <c:extLst>
              <c:ext xmlns:c16="http://schemas.microsoft.com/office/drawing/2014/chart" uri="{C3380CC4-5D6E-409C-BE32-E72D297353CC}">
                <c16:uniqueId val="{00000009-10F9-4E3D-9388-5CB867D81EAB}"/>
              </c:ext>
            </c:extLst>
          </c:dPt>
          <c:dPt>
            <c:idx val="5"/>
            <c:invertIfNegative val="1"/>
            <c:bubble3D val="0"/>
            <c:extLst>
              <c:ext xmlns:c16="http://schemas.microsoft.com/office/drawing/2014/chart" uri="{C3380CC4-5D6E-409C-BE32-E72D297353CC}">
                <c16:uniqueId val="{0000000B-10F9-4E3D-9388-5CB867D81EAB}"/>
              </c:ext>
            </c:extLst>
          </c:dPt>
          <c:dPt>
            <c:idx val="6"/>
            <c:invertIfNegative val="1"/>
            <c:bubble3D val="0"/>
            <c:extLst>
              <c:ext xmlns:c16="http://schemas.microsoft.com/office/drawing/2014/chart" uri="{C3380CC4-5D6E-409C-BE32-E72D297353CC}">
                <c16:uniqueId val="{0000000D-10F9-4E3D-9388-5CB867D81EAB}"/>
              </c:ext>
            </c:extLst>
          </c:dPt>
          <c:dPt>
            <c:idx val="7"/>
            <c:invertIfNegative val="1"/>
            <c:bubble3D val="0"/>
            <c:extLst>
              <c:ext xmlns:c16="http://schemas.microsoft.com/office/drawing/2014/chart" uri="{C3380CC4-5D6E-409C-BE32-E72D297353CC}">
                <c16:uniqueId val="{0000000F-10F9-4E3D-9388-5CB867D81EAB}"/>
              </c:ext>
            </c:extLst>
          </c:dPt>
          <c:dLbls>
            <c:numFmt formatCode="0.0&quot; j&quot;"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Recette</c:v>
                </c:pt>
                <c:pt idx="1">
                  <c:v>Documentation</c:v>
                </c:pt>
                <c:pt idx="2">
                  <c:v>Intégration à l'appli</c:v>
                </c:pt>
                <c:pt idx="3">
                  <c:v>Analyses croisées</c:v>
                </c:pt>
                <c:pt idx="4">
                  <c:v>Jointure et contrôles</c:v>
                </c:pt>
                <c:pt idx="5">
                  <c:v>EDA base 2</c:v>
                </c:pt>
                <c:pt idx="6">
                  <c:v>Nettoyage base 2</c:v>
                </c:pt>
                <c:pt idx="7">
                  <c:v>Recherche de la source</c:v>
                </c:pt>
              </c:strCache>
            </c:strRef>
          </c:cat>
          <c:val>
            <c:numRef>
              <c:f>Sheet1!$B$2:$B$9</c:f>
              <c:numCache>
                <c:formatCode>General</c:formatCode>
                <c:ptCount val="8"/>
                <c:pt idx="0">
                  <c:v>0.5</c:v>
                </c:pt>
                <c:pt idx="1">
                  <c:v>0.5</c:v>
                </c:pt>
                <c:pt idx="2">
                  <c:v>2.5</c:v>
                </c:pt>
                <c:pt idx="3">
                  <c:v>1.5</c:v>
                </c:pt>
                <c:pt idx="4">
                  <c:v>1</c:v>
                </c:pt>
                <c:pt idx="5">
                  <c:v>1.5</c:v>
                </c:pt>
                <c:pt idx="6">
                  <c:v>1.5</c:v>
                </c:pt>
                <c:pt idx="7">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0-10F9-4E3D-9388-5CB867D81EAB}"/>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l"/>
        <c:numFmt formatCode="General" sourceLinked="0"/>
        <c:majorTickMark val="out"/>
        <c:minorTickMark val="none"/>
        <c:tickLblPos val="nextTo"/>
        <c:spPr>
          <a:ln w="12700">
            <a:solidFill>
              <a:srgbClr val="2121DE"/>
            </a:solidFill>
          </a:ln>
        </c:spPr>
        <c:txPr>
          <a:bodyPr/>
          <a:lstStyle/>
          <a:p>
            <a:pPr>
              <a:defRPr sz="12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4296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première partie du projet : l'analyse de la base vgsales, les ventes mondiales de jeux vidéo de 1980 à 2016. Mes coéquipiers présenteront ensuite la deuxième base de données.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parcours : le contexte, le pipeline de traitement, le nettoyage, quatre découvertes, le Market Power Index, puis une démonstration en direct de l'interface. Ensuite, l'équipe enchaîne avec la deuxième base.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1 : la mission.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met dans la peau d'un data analyst du secteur du jeu vidéo. La base contient 16 598 jeux sur 37 ans, 31 plateformes et près de 9 milliards d'exemplaires vendus. La question directrice : qu'est-ce qui fait vendre un jeu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2 : le pipeline.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en cinq étapes : le CSV brut passe par le module de nettoyage, qui produit un jeu propre. On calcule ensuite les indicateurs avancés, puis on restitue tout dans le notebook (24 figures) et dans une interface Streamlit de 9 pages. Point important : le notebook et l'appli utilisent exactement le même code de nettoyage, et un test vérifie qu'ils obtiennent les mêmes données.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3 : le nettoyage. Chaque problème de données est un fantôme à manger.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outils standards comme isna ou duplicated ne voient qu'une partie des problèmes. Il a fallu lire les données : 271 années manquantes, dont 118 retrouvées grâce à la même fiche sur une autre plateforme ; 149 fiches partielles marquées (JP sales), fusionnées en prenant le maximum par région pour ne pas compter deux fois les ventes ; des dates impossibles comme un jeu DS en 1985. Au final on garde 99,3 % du volume de ventes.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4 : les découvertes.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 c'est un marché de blockbusters. Les 10 % de jeux les plus vendus réalisent 59 % des ventes, alors que la moitié des jeux vend moins de 170 000 exemplaires. Et la tendance s'accentue : après 2011, les éditeurs sortent deux fois moins de jeux, mais chacun vend 50 % de plus.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physiques culminent en 2008 avec 688 millions d'exemplaires, portées par la 7e génération de consoles : Wii, DS, Xbox 360, PS3 et PSP représentent à elles seules 45 % des ventes du fichier. La baisse qui suit n'est pas forcément une crise : c'est surtout l'arrivée du dématérialisé et du mobile, que VGChartz ne compte pas. Attention, 2016 est incomplète.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découverte : il y a deux mondes. L'Amérique du Nord et l'Europe ont des goûts presque identiques, avec un score de divergence de 0,01. Le Japon, lui, est à part : plus d'un quart de ses ventes sont des RPG, contre 8 % en Occident, et il achète quatre fois moins de jeux de tir. 77 % des jeux ultra-régionaux sont japonais, et l'écart se creuse depuis 2012.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découverte : l'Action et le Tir sont passés de 18 % à 45 % des ventes en vingt ans, au détriment notamment des jeux de plates-formes. Mais attention : un genre fréquent n'est pas forcément rentable. L'Aventure représente beaucoup de jeux mais vend trois fois moins que son poids dans le catalogue.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5 : le boss final, le Market Power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boss final : le Market Power Index, un score sur 100 qui combine cinq composantes : la part de marché par genre, le leadership (plus de 30 % d'un genre), la diversité des genres, la constance entre régions et le taux de hits. Nintendo obtient 95,5 et reste premier quelle que soit la pondération testée. Derrière, EA, Sony et Activision forment un second cercle stable. Ubisoft ou THQ sortent beaucoup de jeux mais réussissent moins : le pouvoir de marché vient du taux de succès plus que du volume.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maintenant à la démonstration de l'interface. Trois choses à montrer : 1) page Market Power Index, changer les poids des composantes et voir le classement bouger ; 2) cliquer sur un jeu pour ouvrir son profil régional (ex. un RPG japonais) ; 3) utiliser les filtres de la barre latérale. Lancer l'appli AVANT la présentation : python run_app.py.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ma partie : cette base a des angles morts. Pas de ventes dématérialisées ni mobiles, une année 2016 incomplète, et quelques ventes mal attribuées entre régions. Et surtout, les ventes disent combien un jeu s'est vendu, pas s'il était bon. C'est ce que mesure la deuxième base demandée par le client, les notes Metacritic, que Mohamed va vous présenter.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Kheireddine. Je prends la suite avec la deuxième partie du projet : la deuxième base de données demandée par le client, les notes Metacritic. La première base disait combien un jeu s'est vendu ; celle-ci dit ce que la presse et les joueurs en ont pensé.</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79352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Voici mon parcours : la mission, c'est-à-dire la demande du client et la base choisie ; le nettoyage ; la jointure entre les deux bases ; quatre découvertes ; le Market Power Index revu avec la qualité ; et une démonstration de l'interface enrichie. En bonus, le prix de la prestation et la conclusion.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84279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1 : la mission.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02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client a regardé l'analyse des ventes et nous a demandé d'ajouter une deuxième base. Les ventes disent combien un jeu s'est vendu, mais pas s'il était bon. On a donc cherché une base qui mesure la qualité perçue : les notes Metacritic. La question devient : une bonne note fait-elle vendre ? La base compte 16 719 lignes et 16 colonnes, dont 6 nouvelles.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90824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Pourquoi cette base ? Elle coche les quatre critères des consignes : elle parle de jeux vidéo sur la même période, elle a une clé commune avec notre base, elle apporte une information nouvelle et sa source est citable. Exemple avec GTA V sur PS3 : la base 1 disait 21 millions d'exemplaires ; la base 2 ajoute une note presse de 97 sur 100, une note joueurs de 8,2 sur 10, le studio Rockstar North et la classification M, pour adultes.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38024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2 : le nettoyage. La base 2 a ses propres fantômes.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5855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fantômes dans cette base. Un : 2 425 notes joueurs valent « tbd », to be determined : ce n'est pas une note, c'est une absence de note, on la met en valeur manquante. Deux : la moitié des notes presse manquent. On ne les invente pas : elles ne manquent pas au hasard, Metacritic ne note presque rien d'avant 2000. Trois : la source a confondu des remakes avec l'original, par exemple Need for Speed Most Wanted 2005 et 2012 avaient la même note ; on retire la note plutôt que d'en donner une fausse. Quatre : les mêmes doublons que dans la base 1. Point fort : avec les mêmes règles, on retrouve les mêmes chiffres, 114 fiches fusionnées dans les deux bases, ce qui valide le nettoyage de Kheireddine.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64193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3 : la jointure, le cœur de la demande du client.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55443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relier les deux bases, il faut une clé. On utilise trois éléments : le nom normalisé, la plateforme et l'année. Normaliser, c'est mettre en minuscules et enlever la ponctuation, parce que les noms ne sont jamais écrits pareil. La plateforme, parce qu'un jeu n'a pas la même note sur PS3 et sur Wii. L'année, pour séparer un jeu de son remake. Résultat : 99.7% des jeux retrouvent leur fiche. C'est presque parfait parce que les deux bases viennent du même scraping. Les ventes diffèrent un peu entre les deux relevés, par exemple Wii Sports, donc on garde une seule source de vérité pour les ventes : la base 1.</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04795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Attention : relier n'est pas noter. Une fois reliés, seuls 49% des jeux ont une note presse. Mais ils pèsent 63% des ventes : les critiques testent d'abord les jeux attendus. On le voit sur le graphique : 30% des jeux les moins vendus sont notés, contre 65% des plus vendus. Toutes nos conclusions sur les notes portent donc sur les jeux visibles, sortis entre 2000 et 2016. C'est la principale limite à garder en tête.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9561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4 : les découvertes.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05091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Première découverte : une bonne note va avec de bonnes ventes. Un jeu noté 90 ou plus se vend en médiane 13 fois plus qu'un jeu noté moins de 50, et 62% de ces jeux dépassent le million, contre 4%. Mais attention, lien ne veut pas dire cause : les jeux attendus ont plus de budget marketing, plus de critiques et de meilleures notes. Et Nintendo prouve qu'on peut vendre sans la critique : Wii Play a 58 sur 100 et s'est vendu à 29 millions d'exemplaires.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09476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Deuxième découverte : la presse et les joueurs ont divorcé. Jusqu'en 2009, les joueurs notent plus haut que la presse. Vers 2010, les courbes se croisent et les joueurs deviennent plus sévères. Deux hypothèses : la nostalgie, car ceux qui notent aujourd'hui un vieux jeu sont ses fans ; et le review bombing, des campagnes de joueurs mécontents. Exemple : Call of Duty Modern Warfare 3, 88 pour la presse, 32 pour les joueurs sur plus de 5 000 votes. Les deux notes ne sont corrélées qu'à 0,58.</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58236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Troisième découverte : les ventes ne suivent pas la qualité. La Wii et la DS, les deux consoles qui se sont le plus vendues, sont les moins bien notées de toutes, autour de 63 sur 100. Ce n'est pas que Nintendo fait de mauvais jeux : Super Mario Galaxy est dans notre top 10. Ces consoles ont attiré un très grand nombre de petits jeux familiaux à bas prix, que la critique a mal notés. Le PC est la plateforme la mieux notée.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724484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Quatrième découverte : les régions ne réagissent pas pareil. Un jeu mal noté fait 68% de ses ventes en Amérique du Nord, contre 49% pour un jeu noté 90 et plus : le marché nord-américain absorbe les petits jeux mal notés. L'Europe est le marché le plus sensible aux notes, avec une corrélation de 0,37. Le Japon l'est le moins, 0,24 : Metacritic regroupe des critiques occidentales. Cela rejoint la découverte de Kheireddine : le Japon est un monde à part.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32498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5 : on revient au boss de Kheireddine, le Market Power Index, avec la qualité en plus.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43291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ajoute au Market Power Index de Kheireddine une sixième composante : la qualité perçue, c'est-à-dire la note presse moyenne de l'éditeur, pondérée par ses ventes. Résultat : le podium ne bouge pas, Nintendo, EA et Sony restent devant. Mais la suite est redistribuée : les éditeurs premium montent, Bethesda et Microsoft gagnent trois places, Virgin six. Les éditeurs de volume reculent : THQ perd cinq places, Sega quatre. Message pour le client : il y a deux modèles, beaucoup de jeux moyens ou moins de jeux mais excellents. Prudence : pour les éditeurs trop peu notés, surtout japonais, on met une note neutre.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1413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Démonstration. Trois quêtes. Une : page Notes Metacritic, je clique sur la barre 90 et plus, puis sur GTA V : sa fiche montre maintenant ses ventes et ses notes. Deux : page Market Power Index, j'active « Inclure la qualité perçue » et on voit Bethesda et Microsoft monter, THQ et Sega descendre. Trois : je filtre sur les années 80 : la page explique que Metacritic ne couvre pas cette période, c'est le biais. Lancer l'appli avant la présentation : python run_app.py.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17225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Bonus : le prix de la prestation, avec un taux journalier de 450 euros hors taxes. L'analyse des ventes seule représente 16 jours, soit 7 200 euros. Avec la deuxième base, on ajoute 10 jours : chercher et qualifier la source, la nettoyer, l'explorer, la relier, croiser, intégrer à l'appli, documenter et vérifier qu'on n'a rien cassé. Total : 26 jours, 11 700 euros hors taxes, soit 62,5 % de plus. Pourquoi pas le double ? Parce qu'on réutilise beaucoup : les règles de nettoyage, le style des graphiques et l'architecture de l'appli.</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32313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conclure. Trois limites : les notes ne couvrent que la moitié des jeux, surtout récents et visibles ; un lien n'est pas une cause, le marketing peut expliquer à la fois la note et les ventes ; et Metacritic est occidental, le Japon est mal couvert. Trois recommandations au client : miser sur la qualité, car les jeux notés 80 et plus font 53% des ventes des jeux notés ; viser l'Europe pour les jeux premium ; et pour la suite, ajouter une source de ventes dématérialisées comme Steam, l'angle mort signalé par Kheireddine.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7281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de votre attention. Nous sommes prêts pour vos questions.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365651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RCADE">
    <p:bg>
      <p:bgPr>
        <a:solidFill>
          <a:srgbClr val="00000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97579153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gif"/><Relationship Id="rId14" Type="http://schemas.openxmlformats.org/officeDocument/2006/relationships/image" Target="../media/image12.png"/><Relationship Id="rId15" Type="http://schemas.openxmlformats.org/officeDocument/2006/relationships/image" Target="../media/image13.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gif"/><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0.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20.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 Id="rId13" Type="http://schemas.openxmlformats.org/officeDocument/2006/relationships/image" Target="../media/image54.png"/><Relationship Id="rId14" Type="http://schemas.openxmlformats.org/officeDocument/2006/relationships/image" Target="../media/image55.png"/><Relationship Id="rId15" Type="http://schemas.openxmlformats.org/officeDocument/2006/relationships/image" Target="../media/image56.png"/><Relationship Id="rId16" Type="http://schemas.openxmlformats.org/officeDocument/2006/relationships/image" Target="../media/image57.png"/><Relationship Id="rId17" Type="http://schemas.openxmlformats.org/officeDocument/2006/relationships/image" Target="../media/image58.png"/><Relationship Id="rId18" Type="http://schemas.openxmlformats.org/officeDocument/2006/relationships/image" Target="../media/image59.png"/><Relationship Id="rId19" Type="http://schemas.openxmlformats.org/officeDocument/2006/relationships/image" Target="../media/image6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23.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65.gif"/><Relationship Id="rId10" Type="http://schemas.openxmlformats.org/officeDocument/2006/relationships/image" Target="../media/image66.png"/><Relationship Id="rId11" Type="http://schemas.openxmlformats.org/officeDocument/2006/relationships/image" Target="../media/image6.gif"/><Relationship Id="rId12" Type="http://schemas.openxmlformats.org/officeDocument/2006/relationships/image" Target="../media/image67.png"/><Relationship Id="rId13" Type="http://schemas.openxmlformats.org/officeDocument/2006/relationships/image" Target="../media/image7.gif"/><Relationship Id="rId14" Type="http://schemas.openxmlformats.org/officeDocument/2006/relationships/image" Target="../media/image68.png"/><Relationship Id="rId15" Type="http://schemas.openxmlformats.org/officeDocument/2006/relationships/image" Target="../media/image8.gif"/><Relationship Id="rId16" Type="http://schemas.openxmlformats.org/officeDocument/2006/relationships/image" Target="../media/image69.png"/><Relationship Id="rId17" Type="http://schemas.openxmlformats.org/officeDocument/2006/relationships/image" Target="../media/image70.gif"/><Relationship Id="rId18" Type="http://schemas.openxmlformats.org/officeDocument/2006/relationships/image" Target="../media/image7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6.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1.xml"/><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7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2.xml"/><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8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3.xm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4.xml"/><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29.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5.xml"/><Relationship Id="rId10" Type="http://schemas.openxmlformats.org/officeDocument/2006/relationships/image" Target="../media/image98.png"/><Relationship Id="rId11" Type="http://schemas.openxmlformats.org/officeDocument/2006/relationships/image" Target="../media/image99.png"/><Relationship Id="rId12" Type="http://schemas.openxmlformats.org/officeDocument/2006/relationships/image" Target="../media/image10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2.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gif"/><Relationship Id="rId8" Type="http://schemas.openxmlformats.org/officeDocument/2006/relationships/image" Target="../media/image105.png"/><Relationship Id="rId9" Type="http://schemas.openxmlformats.org/officeDocument/2006/relationships/image" Target="../media/image106.png"/><Relationship Id="rId10" Type="http://schemas.openxmlformats.org/officeDocument/2006/relationships/image" Target="../media/image107.png"/><Relationship Id="rId11" Type="http://schemas.openxmlformats.org/officeDocument/2006/relationships/image" Target="../media/image108.png"/><Relationship Id="rId12" Type="http://schemas.openxmlformats.org/officeDocument/2006/relationships/image" Target="../media/image109.png"/><Relationship Id="rId13" Type="http://schemas.openxmlformats.org/officeDocument/2006/relationships/image" Target="../media/image110.png"/><Relationship Id="rId14" Type="http://schemas.openxmlformats.org/officeDocument/2006/relationships/image" Target="../media/image13.gif"/><Relationship Id="rId15" Type="http://schemas.openxmlformats.org/officeDocument/2006/relationships/image" Target="../media/image4.gif"/><Relationship Id="rId16" Type="http://schemas.openxmlformats.org/officeDocument/2006/relationships/image" Target="../media/image5.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34.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65.gif"/><Relationship Id="rId10" Type="http://schemas.openxmlformats.org/officeDocument/2006/relationships/image" Target="../media/image113.png"/><Relationship Id="rId11" Type="http://schemas.openxmlformats.org/officeDocument/2006/relationships/image" Target="../media/image83.png"/><Relationship Id="rId12" Type="http://schemas.openxmlformats.org/officeDocument/2006/relationships/image" Target="../media/image114.png"/><Relationship Id="rId13" Type="http://schemas.openxmlformats.org/officeDocument/2006/relationships/image" Target="../media/image115.png"/><Relationship Id="rId14" Type="http://schemas.openxmlformats.org/officeDocument/2006/relationships/image" Target="../media/image1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17.png"/><Relationship Id="rId4" Type="http://schemas.openxmlformats.org/officeDocument/2006/relationships/image" Target="../media/image118.png"/><Relationship Id="rId5" Type="http://schemas.openxmlformats.org/officeDocument/2006/relationships/image" Target="../media/image119.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20.png"/><Relationship Id="rId12" Type="http://schemas.openxmlformats.org/officeDocument/2006/relationships/image" Target="../media/image121.png"/><Relationship Id="rId13" Type="http://schemas.openxmlformats.org/officeDocument/2006/relationships/image" Target="../media/image122.png"/><Relationship Id="rId14" Type="http://schemas.openxmlformats.org/officeDocument/2006/relationships/image" Target="../media/image123.png"/><Relationship Id="rId15" Type="http://schemas.openxmlformats.org/officeDocument/2006/relationships/image" Target="../media/image1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image" Target="../media/image1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20.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23.png"/><Relationship Id="rId14" Type="http://schemas.openxmlformats.org/officeDocument/2006/relationships/image" Target="../media/image132.png"/><Relationship Id="rId15" Type="http://schemas.openxmlformats.org/officeDocument/2006/relationships/image" Target="../media/image133.png"/><Relationship Id="rId16" Type="http://schemas.openxmlformats.org/officeDocument/2006/relationships/image" Target="../media/image26.png"/><Relationship Id="rId17" Type="http://schemas.openxmlformats.org/officeDocument/2006/relationships/image" Target="../media/image134.png"/><Relationship Id="rId18" Type="http://schemas.openxmlformats.org/officeDocument/2006/relationships/image" Target="../media/image135.png"/><Relationship Id="rId19" Type="http://schemas.openxmlformats.org/officeDocument/2006/relationships/image" Target="../media/image29.png"/><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32.png"/><Relationship Id="rId23" Type="http://schemas.openxmlformats.org/officeDocument/2006/relationships/image" Target="../media/image138.png"/><Relationship Id="rId24" Type="http://schemas.openxmlformats.org/officeDocument/2006/relationships/image" Target="../media/image34.png"/><Relationship Id="rId25" Type="http://schemas.openxmlformats.org/officeDocument/2006/relationships/image" Target="../media/image139.png"/><Relationship Id="rId26" Type="http://schemas.openxmlformats.org/officeDocument/2006/relationships/image" Target="../media/image13.gif"/><Relationship Id="rId27" Type="http://schemas.openxmlformats.org/officeDocument/2006/relationships/image" Target="../media/image5.gif"/><Relationship Id="rId28" Type="http://schemas.openxmlformats.org/officeDocument/2006/relationships/image" Target="../media/image4.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40.png"/><Relationship Id="rId5" Type="http://schemas.openxmlformats.org/officeDocument/2006/relationships/image" Target="../media/image141.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7.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image" Target="../media/image147.png"/><Relationship Id="rId9" Type="http://schemas.openxmlformats.org/officeDocument/2006/relationships/image" Target="../media/image148.png"/><Relationship Id="rId10" Type="http://schemas.openxmlformats.org/officeDocument/2006/relationships/image" Target="../media/image149.png"/><Relationship Id="rId11" Type="http://schemas.openxmlformats.org/officeDocument/2006/relationships/image" Target="../media/image13.gif"/><Relationship Id="rId12" Type="http://schemas.openxmlformats.org/officeDocument/2006/relationships/image" Target="../media/image5.gif"/><Relationship Id="rId13" Type="http://schemas.openxmlformats.org/officeDocument/2006/relationships/image" Target="../media/image4.gi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150.png"/><Relationship Id="rId5" Type="http://schemas.openxmlformats.org/officeDocument/2006/relationships/image" Target="../media/image17.png"/><Relationship Id="rId6" Type="http://schemas.openxmlformats.org/officeDocument/2006/relationships/image" Target="../media/image60.png"/><Relationship Id="rId7" Type="http://schemas.openxmlformats.org/officeDocument/2006/relationships/image" Target="../media/image151.png"/><Relationship Id="rId8" Type="http://schemas.openxmlformats.org/officeDocument/2006/relationships/image" Target="../media/image152.png"/><Relationship Id="rId9" Type="http://schemas.openxmlformats.org/officeDocument/2006/relationships/image" Target="../media/image153.png"/><Relationship Id="rId10" Type="http://schemas.openxmlformats.org/officeDocument/2006/relationships/image" Target="../media/image13.gif"/><Relationship Id="rId11" Type="http://schemas.openxmlformats.org/officeDocument/2006/relationships/image" Target="../media/image5.gif"/><Relationship Id="rId12" Type="http://schemas.openxmlformats.org/officeDocument/2006/relationships/image" Target="../media/image4.gi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56.png"/><Relationship Id="rId4" Type="http://schemas.openxmlformats.org/officeDocument/2006/relationships/image" Target="../media/image157.png"/><Relationship Id="rId5" Type="http://schemas.openxmlformats.org/officeDocument/2006/relationships/image" Target="../media/image20.png"/><Relationship Id="rId6" Type="http://schemas.openxmlformats.org/officeDocument/2006/relationships/image" Target="../media/image65.gif"/><Relationship Id="rId7" Type="http://schemas.openxmlformats.org/officeDocument/2006/relationships/image" Target="../media/image158.png"/><Relationship Id="rId8" Type="http://schemas.openxmlformats.org/officeDocument/2006/relationships/image" Target="../media/image159.png"/><Relationship Id="rId9" Type="http://schemas.openxmlformats.org/officeDocument/2006/relationships/image" Target="../media/image160.png"/><Relationship Id="rId10" Type="http://schemas.openxmlformats.org/officeDocument/2006/relationships/image" Target="../media/image161.png"/><Relationship Id="rId11" Type="http://schemas.openxmlformats.org/officeDocument/2006/relationships/image" Target="../media/image70.gif"/><Relationship Id="rId12" Type="http://schemas.openxmlformats.org/officeDocument/2006/relationships/image" Target="../media/image162.png"/><Relationship Id="rId13" Type="http://schemas.openxmlformats.org/officeDocument/2006/relationships/image" Target="../media/image13.gif"/><Relationship Id="rId14" Type="http://schemas.openxmlformats.org/officeDocument/2006/relationships/image" Target="../media/image5.gif"/><Relationship Id="rId15" Type="http://schemas.openxmlformats.org/officeDocument/2006/relationships/image" Target="../media/image4.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23.png"/><Relationship Id="rId6" Type="http://schemas.openxmlformats.org/officeDocument/2006/relationships/image" Target="../media/image167.png"/><Relationship Id="rId7" Type="http://schemas.openxmlformats.org/officeDocument/2006/relationships/image" Target="../media/image168.png"/><Relationship Id="rId8" Type="http://schemas.openxmlformats.org/officeDocument/2006/relationships/image" Target="../media/image169.png"/><Relationship Id="rId9" Type="http://schemas.openxmlformats.org/officeDocument/2006/relationships/image" Target="../media/image170.png"/><Relationship Id="rId10" Type="http://schemas.openxmlformats.org/officeDocument/2006/relationships/image" Target="../media/image171.png"/><Relationship Id="rId11" Type="http://schemas.openxmlformats.org/officeDocument/2006/relationships/image" Target="../media/image172.png"/><Relationship Id="rId12" Type="http://schemas.openxmlformats.org/officeDocument/2006/relationships/image" Target="../media/image173.png"/><Relationship Id="rId13" Type="http://schemas.openxmlformats.org/officeDocument/2006/relationships/image" Target="../media/image13.gif"/><Relationship Id="rId14" Type="http://schemas.openxmlformats.org/officeDocument/2006/relationships/image" Target="../media/image5.gif"/><Relationship Id="rId15" Type="http://schemas.openxmlformats.org/officeDocument/2006/relationships/image" Target="../media/image4.gi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165.png"/><Relationship Id="rId4" Type="http://schemas.openxmlformats.org/officeDocument/2006/relationships/image" Target="../media/image174.png"/><Relationship Id="rId5" Type="http://schemas.openxmlformats.org/officeDocument/2006/relationships/image" Target="../media/image23.png"/><Relationship Id="rId6" Type="http://schemas.openxmlformats.org/officeDocument/2006/relationships/chart" Target="../charts/chart6.xml"/><Relationship Id="rId7" Type="http://schemas.openxmlformats.org/officeDocument/2006/relationships/image" Target="../media/image175.png"/><Relationship Id="rId8" Type="http://schemas.openxmlformats.org/officeDocument/2006/relationships/image" Target="../media/image176.png"/><Relationship Id="rId9" Type="http://schemas.openxmlformats.org/officeDocument/2006/relationships/image" Target="../media/image83.png"/><Relationship Id="rId10" Type="http://schemas.openxmlformats.org/officeDocument/2006/relationships/image" Target="../media/image177.png"/><Relationship Id="rId11" Type="http://schemas.openxmlformats.org/officeDocument/2006/relationships/image" Target="../media/image13.gif"/><Relationship Id="rId12" Type="http://schemas.openxmlformats.org/officeDocument/2006/relationships/image" Target="../media/image5.gif"/><Relationship Id="rId13" Type="http://schemas.openxmlformats.org/officeDocument/2006/relationships/image" Target="../media/image4.gi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180.png"/><Relationship Id="rId4" Type="http://schemas.openxmlformats.org/officeDocument/2006/relationships/image" Target="../media/image181.png"/><Relationship Id="rId5" Type="http://schemas.openxmlformats.org/officeDocument/2006/relationships/image" Target="../media/image26.png"/><Relationship Id="rId6" Type="http://schemas.openxmlformats.org/officeDocument/2006/relationships/chart" Target="../charts/chart7.xml"/><Relationship Id="rId7" Type="http://schemas.openxmlformats.org/officeDocument/2006/relationships/image" Target="../media/image182.png"/><Relationship Id="rId8" Type="http://schemas.openxmlformats.org/officeDocument/2006/relationships/image" Target="../media/image183.png"/><Relationship Id="rId9" Type="http://schemas.openxmlformats.org/officeDocument/2006/relationships/image" Target="../media/image184.png"/><Relationship Id="rId10" Type="http://schemas.openxmlformats.org/officeDocument/2006/relationships/image" Target="../media/image13.gif"/><Relationship Id="rId11" Type="http://schemas.openxmlformats.org/officeDocument/2006/relationships/image" Target="../media/image5.gif"/><Relationship Id="rId12" Type="http://schemas.openxmlformats.org/officeDocument/2006/relationships/image" Target="../media/image4.gi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85.png"/><Relationship Id="rId4" Type="http://schemas.openxmlformats.org/officeDocument/2006/relationships/image" Target="../media/image186.png"/><Relationship Id="rId5" Type="http://schemas.openxmlformats.org/officeDocument/2006/relationships/image" Target="../media/image26.png"/><Relationship Id="rId6" Type="http://schemas.openxmlformats.org/officeDocument/2006/relationships/chart" Target="../charts/chart8.xml"/><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3.gif"/><Relationship Id="rId10" Type="http://schemas.openxmlformats.org/officeDocument/2006/relationships/image" Target="../media/image5.gif"/><Relationship Id="rId11" Type="http://schemas.openxmlformats.org/officeDocument/2006/relationships/image" Target="../media/image4.gi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89.png"/><Relationship Id="rId4" Type="http://schemas.openxmlformats.org/officeDocument/2006/relationships/image" Target="../media/image190.png"/><Relationship Id="rId5" Type="http://schemas.openxmlformats.org/officeDocument/2006/relationships/image" Target="../media/image26.png"/><Relationship Id="rId6" Type="http://schemas.openxmlformats.org/officeDocument/2006/relationships/chart" Target="../charts/chart9.xml"/><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image" Target="../media/image13.gif"/><Relationship Id="rId10" Type="http://schemas.openxmlformats.org/officeDocument/2006/relationships/image" Target="../media/image5.gif"/><Relationship Id="rId11" Type="http://schemas.openxmlformats.org/officeDocument/2006/relationships/image" Target="../media/image4.gi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26.png"/><Relationship Id="rId6" Type="http://schemas.openxmlformats.org/officeDocument/2006/relationships/chart" Target="../charts/chart10.xml"/><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image" Target="../media/image13.gif"/><Relationship Id="rId10" Type="http://schemas.openxmlformats.org/officeDocument/2006/relationships/image" Target="../media/image5.gif"/><Relationship Id="rId11" Type="http://schemas.openxmlformats.org/officeDocument/2006/relationships/image" Target="../media/image4.gi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9.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199.png"/><Relationship Id="rId4" Type="http://schemas.openxmlformats.org/officeDocument/2006/relationships/image" Target="../media/image200.png"/><Relationship Id="rId5" Type="http://schemas.openxmlformats.org/officeDocument/2006/relationships/image" Target="../media/image29.png"/><Relationship Id="rId6" Type="http://schemas.openxmlformats.org/officeDocument/2006/relationships/image" Target="../media/image201.png"/><Relationship Id="rId7" Type="http://schemas.openxmlformats.org/officeDocument/2006/relationships/image" Target="../media/image202.png"/><Relationship Id="rId8" Type="http://schemas.openxmlformats.org/officeDocument/2006/relationships/image" Target="../media/image203.png"/><Relationship Id="rId9" Type="http://schemas.openxmlformats.org/officeDocument/2006/relationships/image" Target="../media/image204.png"/><Relationship Id="rId10" Type="http://schemas.openxmlformats.org/officeDocument/2006/relationships/image" Target="../media/image205.png"/><Relationship Id="rId11" Type="http://schemas.openxmlformats.org/officeDocument/2006/relationships/image" Target="../media/image206.png"/><Relationship Id="rId12" Type="http://schemas.openxmlformats.org/officeDocument/2006/relationships/image" Target="../media/image207.png"/><Relationship Id="rId13" Type="http://schemas.openxmlformats.org/officeDocument/2006/relationships/image" Target="../media/image208.png"/><Relationship Id="rId14" Type="http://schemas.openxmlformats.org/officeDocument/2006/relationships/image" Target="../media/image209.png"/><Relationship Id="rId15" Type="http://schemas.openxmlformats.org/officeDocument/2006/relationships/image" Target="../media/image210.png"/><Relationship Id="rId16" Type="http://schemas.openxmlformats.org/officeDocument/2006/relationships/image" Target="../media/image211.png"/><Relationship Id="rId17" Type="http://schemas.openxmlformats.org/officeDocument/2006/relationships/image" Target="../media/image212.png"/><Relationship Id="rId18" Type="http://schemas.openxmlformats.org/officeDocument/2006/relationships/image" Target="../media/image213.png"/><Relationship Id="rId19" Type="http://schemas.openxmlformats.org/officeDocument/2006/relationships/image" Target="../media/image214.png"/><Relationship Id="rId20" Type="http://schemas.openxmlformats.org/officeDocument/2006/relationships/image" Target="../media/image215.png"/><Relationship Id="rId21" Type="http://schemas.openxmlformats.org/officeDocument/2006/relationships/image" Target="../media/image216.png"/><Relationship Id="rId22" Type="http://schemas.openxmlformats.org/officeDocument/2006/relationships/image" Target="../media/image217.png"/><Relationship Id="rId23" Type="http://schemas.openxmlformats.org/officeDocument/2006/relationships/image" Target="../media/image218.png"/><Relationship Id="rId24" Type="http://schemas.openxmlformats.org/officeDocument/2006/relationships/image" Target="../media/image219.png"/><Relationship Id="rId25" Type="http://schemas.openxmlformats.org/officeDocument/2006/relationships/image" Target="../media/image220.png"/><Relationship Id="rId26" Type="http://schemas.openxmlformats.org/officeDocument/2006/relationships/image" Target="../media/image221.png"/><Relationship Id="rId27" Type="http://schemas.openxmlformats.org/officeDocument/2006/relationships/image" Target="../media/image222.png"/><Relationship Id="rId28" Type="http://schemas.openxmlformats.org/officeDocument/2006/relationships/image" Target="../media/image13.gif"/><Relationship Id="rId29" Type="http://schemas.openxmlformats.org/officeDocument/2006/relationships/image" Target="../media/image5.gif"/><Relationship Id="rId30" Type="http://schemas.openxmlformats.org/officeDocument/2006/relationships/image" Target="../media/image4.gi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image" Target="../media/image126.png"/><Relationship Id="rId9" Type="http://schemas.openxmlformats.org/officeDocument/2006/relationships/image" Target="../media/image227.png"/><Relationship Id="rId10" Type="http://schemas.openxmlformats.org/officeDocument/2006/relationships/image" Target="../media/image105.png"/><Relationship Id="rId11" Type="http://schemas.openxmlformats.org/officeDocument/2006/relationships/image" Target="../media/image228.png"/><Relationship Id="rId12" Type="http://schemas.openxmlformats.org/officeDocument/2006/relationships/image" Target="../media/image109.png"/><Relationship Id="rId13" Type="http://schemas.openxmlformats.org/officeDocument/2006/relationships/image" Target="../media/image229.png"/><Relationship Id="rId14" Type="http://schemas.openxmlformats.org/officeDocument/2006/relationships/image" Target="../media/image13.gif"/><Relationship Id="rId15" Type="http://schemas.openxmlformats.org/officeDocument/2006/relationships/image" Target="../media/image5.gif"/><Relationship Id="rId16" Type="http://schemas.openxmlformats.org/officeDocument/2006/relationships/image" Target="../media/image4.gi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30.png"/><Relationship Id="rId4" Type="http://schemas.openxmlformats.org/officeDocument/2006/relationships/image" Target="../media/image231.png"/><Relationship Id="rId5" Type="http://schemas.openxmlformats.org/officeDocument/2006/relationships/image" Target="../media/image34.png"/><Relationship Id="rId6" Type="http://schemas.openxmlformats.org/officeDocument/2006/relationships/image" Target="../media/image232.png"/><Relationship Id="rId7" Type="http://schemas.openxmlformats.org/officeDocument/2006/relationships/image" Target="../media/image233.png"/><Relationship Id="rId8" Type="http://schemas.openxmlformats.org/officeDocument/2006/relationships/image" Target="../media/image234.png"/><Relationship Id="rId9" Type="http://schemas.openxmlformats.org/officeDocument/2006/relationships/image" Target="../media/image235.png"/><Relationship Id="rId10" Type="http://schemas.openxmlformats.org/officeDocument/2006/relationships/chart" Target="../charts/chart11.xml"/><Relationship Id="rId11" Type="http://schemas.openxmlformats.org/officeDocument/2006/relationships/image" Target="../media/image236.png"/><Relationship Id="rId12" Type="http://schemas.openxmlformats.org/officeDocument/2006/relationships/image" Target="../media/image13.gif"/><Relationship Id="rId13" Type="http://schemas.openxmlformats.org/officeDocument/2006/relationships/image" Target="../media/image5.gif"/><Relationship Id="rId14" Type="http://schemas.openxmlformats.org/officeDocument/2006/relationships/image" Target="../media/image4.gi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34.png"/><Relationship Id="rId6" Type="http://schemas.openxmlformats.org/officeDocument/2006/relationships/image" Target="../media/image239.png"/><Relationship Id="rId7" Type="http://schemas.openxmlformats.org/officeDocument/2006/relationships/image" Target="../media/image83.png"/><Relationship Id="rId8" Type="http://schemas.openxmlformats.org/officeDocument/2006/relationships/image" Target="../media/image240.png"/><Relationship Id="rId9" Type="http://schemas.openxmlformats.org/officeDocument/2006/relationships/image" Target="../media/image60.png"/><Relationship Id="rId10" Type="http://schemas.openxmlformats.org/officeDocument/2006/relationships/image" Target="../media/image13.gif"/><Relationship Id="rId11" Type="http://schemas.openxmlformats.org/officeDocument/2006/relationships/image" Target="../media/image5.gif"/><Relationship Id="rId12" Type="http://schemas.openxmlformats.org/officeDocument/2006/relationships/image" Target="../media/image4.gi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8.gif"/><Relationship Id="rId6" Type="http://schemas.openxmlformats.org/officeDocument/2006/relationships/image" Target="../media/image7.gif"/><Relationship Id="rId7" Type="http://schemas.openxmlformats.org/officeDocument/2006/relationships/image" Target="../media/image6.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image" Target="../media/image13.gif"/><Relationship Id="rId11" Type="http://schemas.openxmlformats.org/officeDocument/2006/relationships/image" Target="../media/image243.png"/><Relationship Id="rId12" Type="http://schemas.openxmlformats.org/officeDocument/2006/relationships/image" Target="../media/image244.png"/><Relationship Id="rId13" Type="http://schemas.openxmlformats.org/officeDocument/2006/relationships/image" Target="../media/image245.png"/><Relationship Id="rId14" Type="http://schemas.openxmlformats.org/officeDocument/2006/relationships/image" Target="../media/image65.gif"/></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pic>
        <p:nvPicPr>
          <p:cNvPr id="2" name="o1" descr="DATA WRANGLING · PROJET FINAL"/>
          <p:cNvPicPr>
            <a:picLocks noChangeAspect="1"/>
          </p:cNvPicPr>
          <p:nvPr/>
        </p:nvPicPr>
        <p:blipFill>
          <a:blip r:embed="rId3"/>
          <a:stretch>
            <a:fillRect/>
          </a:stretch>
        </p:blipFill>
        <p:spPr>
          <a:xfrm>
            <a:off x="3974440" y="548640"/>
            <a:ext cx="4242816" cy="146304"/>
          </a:xfrm>
          <a:prstGeom prst="rect">
            <a:avLst/>
          </a:prstGeom>
        </p:spPr>
      </p:pic>
      <p:pic>
        <p:nvPicPr>
          <p:cNvPr id="3" name="o2" descr="VENTES MONDIALES"/>
          <p:cNvPicPr>
            <a:picLocks noChangeAspect="1"/>
          </p:cNvPicPr>
          <p:nvPr/>
        </p:nvPicPr>
        <p:blipFill>
          <a:blip r:embed="rId4"/>
          <a:stretch>
            <a:fillRect/>
          </a:stretch>
        </p:blipFill>
        <p:spPr>
          <a:xfrm>
            <a:off x="1999336" y="1097280"/>
            <a:ext cx="8193024" cy="512064"/>
          </a:xfrm>
          <a:prstGeom prst="rect">
            <a:avLst/>
          </a:prstGeom>
        </p:spPr>
      </p:pic>
      <p:pic>
        <p:nvPicPr>
          <p:cNvPr id="4" name="o3" descr="DE JEUX VIDEO"/>
          <p:cNvPicPr>
            <a:picLocks noChangeAspect="1"/>
          </p:cNvPicPr>
          <p:nvPr/>
        </p:nvPicPr>
        <p:blipFill>
          <a:blip r:embed="rId5"/>
          <a:stretch>
            <a:fillRect/>
          </a:stretch>
        </p:blipFill>
        <p:spPr>
          <a:xfrm>
            <a:off x="2767432" y="1783080"/>
            <a:ext cx="6656832" cy="512064"/>
          </a:xfrm>
          <a:prstGeom prst="rect">
            <a:avLst/>
          </a:prstGeom>
        </p:spPr>
      </p:pic>
      <p:sp>
        <p:nvSpPr>
          <p:cNvPr id="5" name="o4"/>
          <p:cNvSpPr txBox="1"/>
          <p:nvPr/>
        </p:nvSpPr>
        <p:spPr>
          <a:xfrm>
            <a:off x="914400" y="2560320"/>
            <a:ext cx="10362895" cy="365760"/>
          </a:xfrm>
          <a:prstGeom prst="rect">
            <a:avLst/>
          </a:prstGeom>
          <a:noFill/>
          <a:ln/>
        </p:spPr>
        <p:txBody>
          <a:bodyPr wrap="square" lIns="0" tIns="0" rIns="0" bIns="0" rtlCol="0" anchor="t"/>
          <a:lstStyle/>
          <a:p>
            <a:pPr marL="0" indent="0" algn="ctr">
              <a:buNone/>
            </a:pPr>
            <a:r>
              <a:rPr lang="en-US" sz="1800" dirty="0">
                <a:solidFill>
                  <a:srgbClr val="C4C4E4"/>
                </a:solidFill>
                <a:latin typeface="Arial" pitchFamily="34" charset="0"/>
                <a:ea typeface="Arial" pitchFamily="34" charset="-122"/>
                <a:cs typeface="Arial" pitchFamily="34" charset="-120"/>
              </a:rPr>
              <a:t>1980 – 2016  ·  16 598 jeux  ·  Partie 1 : la base vgsales</a:t>
            </a:r>
            <a:endParaRPr lang="en-US" sz="1800" dirty="0"/>
          </a:p>
        </p:txBody>
      </p:sp>
      <p:sp>
        <p:nvSpPr>
          <p:cNvPr id="6" name="o5"/>
          <p:cNvSpPr/>
          <p:nvPr/>
        </p:nvSpPr>
        <p:spPr>
          <a:xfrm>
            <a:off x="4073652" y="3479292"/>
            <a:ext cx="82296" cy="82296"/>
          </a:xfrm>
          <a:prstGeom prst="rect">
            <a:avLst/>
          </a:prstGeom>
          <a:solidFill>
            <a:srgbClr val="FFB8AE"/>
          </a:solidFill>
          <a:ln/>
        </p:spPr>
      </p:sp>
      <p:sp>
        <p:nvSpPr>
          <p:cNvPr id="7" name="o6"/>
          <p:cNvSpPr/>
          <p:nvPr/>
        </p:nvSpPr>
        <p:spPr>
          <a:xfrm>
            <a:off x="4393692" y="3479292"/>
            <a:ext cx="82296" cy="82296"/>
          </a:xfrm>
          <a:prstGeom prst="rect">
            <a:avLst/>
          </a:prstGeom>
          <a:solidFill>
            <a:srgbClr val="FFB8AE"/>
          </a:solidFill>
          <a:ln/>
        </p:spPr>
      </p:sp>
      <p:sp>
        <p:nvSpPr>
          <p:cNvPr id="8" name="o7"/>
          <p:cNvSpPr/>
          <p:nvPr/>
        </p:nvSpPr>
        <p:spPr>
          <a:xfrm>
            <a:off x="4713732" y="3479292"/>
            <a:ext cx="82296" cy="82296"/>
          </a:xfrm>
          <a:prstGeom prst="rect">
            <a:avLst/>
          </a:prstGeom>
          <a:solidFill>
            <a:srgbClr val="FFB8AE"/>
          </a:solidFill>
          <a:ln/>
        </p:spPr>
      </p:sp>
      <p:sp>
        <p:nvSpPr>
          <p:cNvPr id="9" name="o8"/>
          <p:cNvSpPr/>
          <p:nvPr/>
        </p:nvSpPr>
        <p:spPr>
          <a:xfrm>
            <a:off x="5033772" y="3479292"/>
            <a:ext cx="82296" cy="82296"/>
          </a:xfrm>
          <a:prstGeom prst="rect">
            <a:avLst/>
          </a:prstGeom>
          <a:solidFill>
            <a:srgbClr val="FFB8AE"/>
          </a:solidFill>
          <a:ln/>
        </p:spPr>
      </p:sp>
      <p:sp>
        <p:nvSpPr>
          <p:cNvPr id="10" name="o9"/>
          <p:cNvSpPr/>
          <p:nvPr/>
        </p:nvSpPr>
        <p:spPr>
          <a:xfrm>
            <a:off x="5353812" y="3479292"/>
            <a:ext cx="82296" cy="82296"/>
          </a:xfrm>
          <a:prstGeom prst="rect">
            <a:avLst/>
          </a:prstGeom>
          <a:solidFill>
            <a:srgbClr val="FFB8AE"/>
          </a:solidFill>
          <a:ln/>
        </p:spPr>
      </p:sp>
      <p:sp>
        <p:nvSpPr>
          <p:cNvPr id="11" name="o10"/>
          <p:cNvSpPr/>
          <p:nvPr/>
        </p:nvSpPr>
        <p:spPr>
          <a:xfrm>
            <a:off x="5673852" y="3479292"/>
            <a:ext cx="82296" cy="82296"/>
          </a:xfrm>
          <a:prstGeom prst="rect">
            <a:avLst/>
          </a:prstGeom>
          <a:solidFill>
            <a:srgbClr val="FFB8AE"/>
          </a:solidFill>
          <a:ln/>
        </p:spPr>
      </p:sp>
      <p:sp>
        <p:nvSpPr>
          <p:cNvPr id="12" name="o11"/>
          <p:cNvSpPr/>
          <p:nvPr/>
        </p:nvSpPr>
        <p:spPr>
          <a:xfrm>
            <a:off x="5993892" y="3479292"/>
            <a:ext cx="82296" cy="82296"/>
          </a:xfrm>
          <a:prstGeom prst="rect">
            <a:avLst/>
          </a:prstGeom>
          <a:solidFill>
            <a:srgbClr val="FFB8AE"/>
          </a:solidFill>
          <a:ln/>
        </p:spPr>
      </p:sp>
      <p:sp>
        <p:nvSpPr>
          <p:cNvPr id="13" name="o12"/>
          <p:cNvSpPr/>
          <p:nvPr/>
        </p:nvSpPr>
        <p:spPr>
          <a:xfrm>
            <a:off x="6313932" y="3479292"/>
            <a:ext cx="82296" cy="82296"/>
          </a:xfrm>
          <a:prstGeom prst="rect">
            <a:avLst/>
          </a:prstGeom>
          <a:solidFill>
            <a:srgbClr val="FFB8AE"/>
          </a:solidFill>
          <a:ln/>
        </p:spPr>
      </p:sp>
      <p:sp>
        <p:nvSpPr>
          <p:cNvPr id="14" name="o13"/>
          <p:cNvSpPr/>
          <p:nvPr/>
        </p:nvSpPr>
        <p:spPr>
          <a:xfrm>
            <a:off x="6633972" y="3479292"/>
            <a:ext cx="82296" cy="82296"/>
          </a:xfrm>
          <a:prstGeom prst="rect">
            <a:avLst/>
          </a:prstGeom>
          <a:solidFill>
            <a:srgbClr val="FFB8AE"/>
          </a:solidFill>
          <a:ln/>
        </p:spPr>
      </p:sp>
      <p:sp>
        <p:nvSpPr>
          <p:cNvPr id="15" name="o14"/>
          <p:cNvSpPr/>
          <p:nvPr/>
        </p:nvSpPr>
        <p:spPr>
          <a:xfrm>
            <a:off x="6954012" y="3479292"/>
            <a:ext cx="82296" cy="82296"/>
          </a:xfrm>
          <a:prstGeom prst="rect">
            <a:avLst/>
          </a:prstGeom>
          <a:solidFill>
            <a:srgbClr val="FFB8AE"/>
          </a:solidFill>
          <a:ln/>
        </p:spPr>
      </p:sp>
      <p:sp>
        <p:nvSpPr>
          <p:cNvPr id="16" name="o15"/>
          <p:cNvSpPr/>
          <p:nvPr/>
        </p:nvSpPr>
        <p:spPr>
          <a:xfrm>
            <a:off x="7274052" y="3479292"/>
            <a:ext cx="82296" cy="82296"/>
          </a:xfrm>
          <a:prstGeom prst="rect">
            <a:avLst/>
          </a:prstGeom>
          <a:solidFill>
            <a:srgbClr val="FFB8AE"/>
          </a:solidFill>
          <a:ln/>
        </p:spPr>
      </p:sp>
      <p:sp>
        <p:nvSpPr>
          <p:cNvPr id="17" name="o16"/>
          <p:cNvSpPr/>
          <p:nvPr/>
        </p:nvSpPr>
        <p:spPr>
          <a:xfrm>
            <a:off x="7594092" y="3479292"/>
            <a:ext cx="82296" cy="82296"/>
          </a:xfrm>
          <a:prstGeom prst="rect">
            <a:avLst/>
          </a:prstGeom>
          <a:solidFill>
            <a:srgbClr val="FFB8AE"/>
          </a:solidFill>
          <a:ln/>
        </p:spPr>
      </p:sp>
      <p:sp>
        <p:nvSpPr>
          <p:cNvPr id="18" name="o17"/>
          <p:cNvSpPr/>
          <p:nvPr/>
        </p:nvSpPr>
        <p:spPr>
          <a:xfrm>
            <a:off x="7914132" y="3479292"/>
            <a:ext cx="82296" cy="82296"/>
          </a:xfrm>
          <a:prstGeom prst="rect">
            <a:avLst/>
          </a:prstGeom>
          <a:solidFill>
            <a:srgbClr val="FFB8AE"/>
          </a:solidFill>
          <a:ln/>
        </p:spPr>
      </p:sp>
      <p:sp>
        <p:nvSpPr>
          <p:cNvPr id="19" name="o18"/>
          <p:cNvSpPr/>
          <p:nvPr/>
        </p:nvSpPr>
        <p:spPr>
          <a:xfrm>
            <a:off x="8234172" y="3479292"/>
            <a:ext cx="82296" cy="82296"/>
          </a:xfrm>
          <a:prstGeom prst="rect">
            <a:avLst/>
          </a:prstGeom>
          <a:solidFill>
            <a:srgbClr val="FFB8AE"/>
          </a:solidFill>
          <a:ln/>
        </p:spPr>
      </p:sp>
      <p:sp>
        <p:nvSpPr>
          <p:cNvPr id="20" name="o19"/>
          <p:cNvSpPr/>
          <p:nvPr/>
        </p:nvSpPr>
        <p:spPr>
          <a:xfrm>
            <a:off x="8554212" y="3479292"/>
            <a:ext cx="82296" cy="82296"/>
          </a:xfrm>
          <a:prstGeom prst="rect">
            <a:avLst/>
          </a:prstGeom>
          <a:solidFill>
            <a:srgbClr val="FFB8AE"/>
          </a:solidFill>
          <a:ln/>
        </p:spPr>
      </p:sp>
      <p:sp>
        <p:nvSpPr>
          <p:cNvPr id="21" name="o20"/>
          <p:cNvSpPr/>
          <p:nvPr/>
        </p:nvSpPr>
        <p:spPr>
          <a:xfrm>
            <a:off x="8874252" y="3479292"/>
            <a:ext cx="82296" cy="82296"/>
          </a:xfrm>
          <a:prstGeom prst="rect">
            <a:avLst/>
          </a:prstGeom>
          <a:solidFill>
            <a:srgbClr val="FFB8AE"/>
          </a:solidFill>
          <a:ln/>
        </p:spPr>
      </p:sp>
      <p:sp>
        <p:nvSpPr>
          <p:cNvPr id="22" name="o21"/>
          <p:cNvSpPr/>
          <p:nvPr/>
        </p:nvSpPr>
        <p:spPr>
          <a:xfrm>
            <a:off x="9194292" y="3479292"/>
            <a:ext cx="82296" cy="82296"/>
          </a:xfrm>
          <a:prstGeom prst="rect">
            <a:avLst/>
          </a:prstGeom>
          <a:solidFill>
            <a:srgbClr val="FFB8AE"/>
          </a:solidFill>
          <a:ln/>
        </p:spPr>
      </p:sp>
      <p:sp>
        <p:nvSpPr>
          <p:cNvPr id="23" name="o22"/>
          <p:cNvSpPr/>
          <p:nvPr/>
        </p:nvSpPr>
        <p:spPr>
          <a:xfrm>
            <a:off x="9514332" y="3479292"/>
            <a:ext cx="82296" cy="82296"/>
          </a:xfrm>
          <a:prstGeom prst="rect">
            <a:avLst/>
          </a:prstGeom>
          <a:solidFill>
            <a:srgbClr val="FFB8AE"/>
          </a:solidFill>
          <a:ln/>
        </p:spPr>
      </p:sp>
      <p:sp>
        <p:nvSpPr>
          <p:cNvPr id="24" name="o23"/>
          <p:cNvSpPr/>
          <p:nvPr/>
        </p:nvSpPr>
        <p:spPr>
          <a:xfrm>
            <a:off x="9834372" y="3479292"/>
            <a:ext cx="82296" cy="82296"/>
          </a:xfrm>
          <a:prstGeom prst="rect">
            <a:avLst/>
          </a:prstGeom>
          <a:solidFill>
            <a:srgbClr val="FFB8AE"/>
          </a:solidFill>
          <a:ln/>
        </p:spPr>
      </p:sp>
      <p:sp>
        <p:nvSpPr>
          <p:cNvPr id="25" name="o24"/>
          <p:cNvSpPr/>
          <p:nvPr/>
        </p:nvSpPr>
        <p:spPr>
          <a:xfrm>
            <a:off x="10154412" y="3479292"/>
            <a:ext cx="82296" cy="82296"/>
          </a:xfrm>
          <a:prstGeom prst="rect">
            <a:avLst/>
          </a:prstGeom>
          <a:solidFill>
            <a:srgbClr val="FFB8AE"/>
          </a:solidFill>
          <a:ln/>
        </p:spPr>
      </p:sp>
      <p:pic>
        <p:nvPicPr>
          <p:cNvPr id="26" name="o25" descr="Pac-Man"/>
          <p:cNvPicPr>
            <a:picLocks noChangeAspect="1"/>
          </p:cNvPicPr>
          <p:nvPr/>
        </p:nvPicPr>
        <p:blipFill>
          <a:blip r:embed="rId6"/>
          <a:stretch>
            <a:fillRect/>
          </a:stretch>
        </p:blipFill>
        <p:spPr>
          <a:xfrm>
            <a:off x="3337560" y="3291840"/>
            <a:ext cx="457200" cy="457200"/>
          </a:xfrm>
          <a:prstGeom prst="rect">
            <a:avLst/>
          </a:prstGeom>
        </p:spPr>
      </p:pic>
      <p:pic>
        <p:nvPicPr>
          <p:cNvPr id="27" name="o26" descr="fantôme"/>
          <p:cNvPicPr>
            <a:picLocks noChangeAspect="1"/>
          </p:cNvPicPr>
          <p:nvPr/>
        </p:nvPicPr>
        <p:blipFill>
          <a:blip r:embed="rId7"/>
          <a:stretch>
            <a:fillRect/>
          </a:stretch>
        </p:blipFill>
        <p:spPr>
          <a:xfrm>
            <a:off x="2651760" y="3291840"/>
            <a:ext cx="457200" cy="457200"/>
          </a:xfrm>
          <a:prstGeom prst="rect">
            <a:avLst/>
          </a:prstGeom>
        </p:spPr>
      </p:pic>
      <p:pic>
        <p:nvPicPr>
          <p:cNvPr id="28" name="o27" descr="fantôme"/>
          <p:cNvPicPr>
            <a:picLocks noChangeAspect="1"/>
          </p:cNvPicPr>
          <p:nvPr/>
        </p:nvPicPr>
        <p:blipFill>
          <a:blip r:embed="rId8"/>
          <a:stretch>
            <a:fillRect/>
          </a:stretch>
        </p:blipFill>
        <p:spPr>
          <a:xfrm>
            <a:off x="2057400" y="3291840"/>
            <a:ext cx="457200" cy="457200"/>
          </a:xfrm>
          <a:prstGeom prst="rect">
            <a:avLst/>
          </a:prstGeom>
        </p:spPr>
      </p:pic>
      <p:pic>
        <p:nvPicPr>
          <p:cNvPr id="29" name="o28" descr="fantôme"/>
          <p:cNvPicPr>
            <a:picLocks noChangeAspect="1"/>
          </p:cNvPicPr>
          <p:nvPr/>
        </p:nvPicPr>
        <p:blipFill>
          <a:blip r:embed="rId9"/>
          <a:stretch>
            <a:fillRect/>
          </a:stretch>
        </p:blipFill>
        <p:spPr>
          <a:xfrm>
            <a:off x="1463040" y="3291840"/>
            <a:ext cx="457200" cy="457200"/>
          </a:xfrm>
          <a:prstGeom prst="rect">
            <a:avLst/>
          </a:prstGeom>
        </p:spPr>
      </p:pic>
      <p:pic>
        <p:nvPicPr>
          <p:cNvPr id="30" name="o29" descr="fantôme"/>
          <p:cNvPicPr>
            <a:picLocks noChangeAspect="1"/>
          </p:cNvPicPr>
          <p:nvPr/>
        </p:nvPicPr>
        <p:blipFill>
          <a:blip r:embed="rId10"/>
          <a:stretch>
            <a:fillRect/>
          </a:stretch>
        </p:blipFill>
        <p:spPr>
          <a:xfrm>
            <a:off x="868680" y="3291840"/>
            <a:ext cx="457200" cy="457200"/>
          </a:xfrm>
          <a:prstGeom prst="rect">
            <a:avLst/>
          </a:prstGeom>
        </p:spPr>
      </p:pic>
      <p:pic>
        <p:nvPicPr>
          <p:cNvPr id="31" name="o30" descr="PLAYER 1"/>
          <p:cNvPicPr>
            <a:picLocks noChangeAspect="1"/>
          </p:cNvPicPr>
          <p:nvPr/>
        </p:nvPicPr>
        <p:blipFill>
          <a:blip r:embed="rId11"/>
          <a:stretch>
            <a:fillRect/>
          </a:stretch>
        </p:blipFill>
        <p:spPr>
          <a:xfrm>
            <a:off x="5510632" y="4251960"/>
            <a:ext cx="1170432" cy="146304"/>
          </a:xfrm>
          <a:prstGeom prst="rect">
            <a:avLst/>
          </a:prstGeom>
        </p:spPr>
      </p:pic>
      <p:pic>
        <p:nvPicPr>
          <p:cNvPr id="32" name="o31" descr="KHEIREDDINE BOUADI"/>
          <p:cNvPicPr>
            <a:picLocks noChangeAspect="1"/>
          </p:cNvPicPr>
          <p:nvPr/>
        </p:nvPicPr>
        <p:blipFill>
          <a:blip r:embed="rId12"/>
          <a:stretch>
            <a:fillRect/>
          </a:stretch>
        </p:blipFill>
        <p:spPr>
          <a:xfrm>
            <a:off x="3955009" y="4553712"/>
            <a:ext cx="4281678" cy="237744"/>
          </a:xfrm>
          <a:prstGeom prst="rect">
            <a:avLst/>
          </a:prstGeom>
        </p:spPr>
      </p:pic>
      <p:pic>
        <p:nvPicPr>
          <p:cNvPr id="33" name="o32" descr="PRESS START"/>
          <p:cNvPicPr>
            <a:picLocks noChangeAspect="1"/>
          </p:cNvPicPr>
          <p:nvPr/>
        </p:nvPicPr>
        <p:blipFill>
          <a:blip r:embed="rId13"/>
          <a:stretch>
            <a:fillRect/>
          </a:stretch>
        </p:blipFill>
        <p:spPr>
          <a:xfrm>
            <a:off x="5157064" y="5120640"/>
            <a:ext cx="1877568" cy="170688"/>
          </a:xfrm>
          <a:prstGeom prst="rect">
            <a:avLst/>
          </a:prstGeom>
        </p:spPr>
      </p:pic>
      <p:pic>
        <p:nvPicPr>
          <p:cNvPr id="34" name="o33" descr="© 2026 PGE3 · 23 OCTOBRE"/>
          <p:cNvPicPr>
            <a:picLocks noChangeAspect="1"/>
          </p:cNvPicPr>
          <p:nvPr/>
        </p:nvPicPr>
        <p:blipFill>
          <a:blip r:embed="rId14"/>
          <a:stretch>
            <a:fillRect/>
          </a:stretch>
        </p:blipFill>
        <p:spPr>
          <a:xfrm>
            <a:off x="4779112" y="5669280"/>
            <a:ext cx="2633472" cy="109728"/>
          </a:xfrm>
          <a:prstGeom prst="rect">
            <a:avLst/>
          </a:prstGeom>
        </p:spPr>
      </p:pic>
      <p:pic>
        <p:nvPicPr>
          <p:cNvPr id="80" name="o79" descr="super pac-gomme"/>
          <p:cNvPicPr>
            <a:picLocks noChangeAspect="1"/>
          </p:cNvPicPr>
          <p:nvPr/>
        </p:nvPicPr>
        <p:blipFill>
          <a:blip r:embed="rId15"/>
          <a:stretch>
            <a:fillRect/>
          </a:stretch>
        </p:blipFill>
        <p:spPr>
          <a:xfrm>
            <a:off x="11448288" y="6355080"/>
            <a:ext cx="182880" cy="182880"/>
          </a:xfrm>
          <a:prstGeom prst="rect">
            <a:avLst/>
          </a:prstGeom>
        </p:spPr>
      </p:pic>
      <p:pic>
        <p:nvPicPr>
          <p:cNvPr id="81" name="barre_fantome" descr="image.gif"/>
          <p:cNvPicPr>
            <a:picLocks noChangeAspect="1"/>
          </p:cNvPicPr>
          <p:nvPr/>
        </p:nvPicPr>
        <p:blipFill>
          <a:blip r:embed="rId7"/>
          <a:stretch>
            <a:fillRect/>
          </a:stretch>
        </p:blipFill>
        <p:spPr>
          <a:xfrm>
            <a:off x="118872" y="6291072"/>
            <a:ext cx="310896" cy="310896"/>
          </a:xfrm>
          <a:prstGeom prst="rect">
            <a:avLst/>
          </a:prstGeom>
        </p:spPr>
      </p:pic>
      <p:pic>
        <p:nvPicPr>
          <p:cNvPr id="82" name="barre_pacman" descr="image.gif"/>
          <p:cNvPicPr>
            <a:picLocks noChangeAspect="1"/>
          </p:cNvPicPr>
          <p:nvPr/>
        </p:nvPicPr>
        <p:blipFill>
          <a:blip r:embed="rId6"/>
          <a:stretch>
            <a:fillRect/>
          </a:stretch>
        </p:blipFill>
        <p:spPr>
          <a:xfrm>
            <a:off x="685800" y="6291072"/>
            <a:ext cx="310896" cy="310896"/>
          </a:xfrm>
          <a:prstGeom prst="rect">
            <a:avLst/>
          </a:prstGeom>
        </p:spPr>
      </p:pic>
      <p:sp>
        <p:nvSpPr>
          <p:cNvPr id="83" name="barre_pastille"/>
          <p:cNvSpPr/>
          <p:nvPr/>
        </p:nvSpPr>
        <p:spPr>
          <a:xfrm>
            <a:off x="1143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371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8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82"/>
                                        </p:tgtEl>
                                        <p:attrNameLst>
                                          <p:attrName>ppt_x</p:attrName>
                                          <p:attrName>ppt_y</p:attrName>
                                        </p:attrNameLst>
                                      </p:cBhvr>
                                    </p:animMotion>
                                  </p:childTnLst>
                                </p:cTn>
                              </p:par>
                              <p:par>
                                <p:cTn id="9" presetID="1" presetClass="exit" presetSubtype="0" fill="hold" nodeType="withEffect">
                                  <p:stCondLst>
                                    <p:cond delay="617"/>
                                  </p:stCondLst>
                                  <p:childTnLst>
                                    <p:set>
                                      <p:cBhvr>
                                        <p:cTn id="10" dur="1" fill="hold">
                                          <p:stCondLst>
                                            <p:cond delay="0"/>
                                          </p:stCondLst>
                                        </p:cTn>
                                        <p:tgtEl>
                                          <p:spTgt spid="83"/>
                                        </p:tgtEl>
                                        <p:attrNameLst>
                                          <p:attrName>style.visibility</p:attrName>
                                        </p:attrNameLst>
                                      </p:cBhvr>
                                      <p:to>
                                        <p:strVal val="hidden"/>
                                      </p:to>
                                    </p:set>
                                  </p:childTnLst>
                                </p:cTn>
                              </p:par>
                              <p:par>
                                <p:cTn id="11" presetID="1" presetClass="exit" presetSubtype="0" fill="hold" nodeType="withEffect">
                                  <p:stCondLst>
                                    <p:cond delay="482"/>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624"/>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766"/>
                                  </p:stCondLst>
                                  <p:childTnLst>
                                    <p:set>
                                      <p:cBhvr>
                                        <p:cTn id="16" dur="1" fill="hold">
                                          <p:stCondLst>
                                            <p:cond delay="0"/>
                                          </p:stCondLst>
                                        </p:cTn>
                                        <p:tgtEl>
                                          <p:spTgt spid="8"/>
                                        </p:tgtEl>
                                        <p:attrNameLst>
                                          <p:attrName>style.visibility</p:attrName>
                                        </p:attrNameLst>
                                      </p:cBhvr>
                                      <p:to>
                                        <p:strVal val="hidden"/>
                                      </p:to>
                                    </p:set>
                                  </p:childTnLst>
                                </p:cTn>
                              </p:par>
                              <p:par>
                                <p:cTn id="17" presetID="1" presetClass="exit" presetSubtype="0" fill="hold" nodeType="withEffect">
                                  <p:stCondLst>
                                    <p:cond delay="908"/>
                                  </p:stCondLst>
                                  <p:childTnLst>
                                    <p:set>
                                      <p:cBhvr>
                                        <p:cTn id="18" dur="1" fill="hold">
                                          <p:stCondLst>
                                            <p:cond delay="0"/>
                                          </p:stCondLst>
                                        </p:cTn>
                                        <p:tgtEl>
                                          <p:spTgt spid="9"/>
                                        </p:tgtEl>
                                        <p:attrNameLst>
                                          <p:attrName>style.visibility</p:attrName>
                                        </p:attrNameLst>
                                      </p:cBhvr>
                                      <p:to>
                                        <p:strVal val="hidden"/>
                                      </p:to>
                                    </p:set>
                                  </p:childTnLst>
                                </p:cTn>
                              </p:par>
                              <p:par>
                                <p:cTn id="19" presetID="1" presetClass="exit" presetSubtype="0" fill="hold" nodeType="withEffect">
                                  <p:stCondLst>
                                    <p:cond delay="105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xit" presetSubtype="0" fill="hold" nodeType="withEffect">
                                  <p:stCondLst>
                                    <p:cond delay="1192"/>
                                  </p:stCondLst>
                                  <p:childTnLst>
                                    <p:set>
                                      <p:cBhvr>
                                        <p:cTn id="22" dur="1" fill="hold">
                                          <p:stCondLst>
                                            <p:cond delay="0"/>
                                          </p:stCondLst>
                                        </p:cTn>
                                        <p:tgtEl>
                                          <p:spTgt spid="11"/>
                                        </p:tgtEl>
                                        <p:attrNameLst>
                                          <p:attrName>style.visibility</p:attrName>
                                        </p:attrNameLst>
                                      </p:cBhvr>
                                      <p:to>
                                        <p:strVal val="hidden"/>
                                      </p:to>
                                    </p:set>
                                  </p:childTnLst>
                                </p:cTn>
                              </p:par>
                              <p:par>
                                <p:cTn id="23" presetID="1" presetClass="exit" presetSubtype="0" fill="hold" nodeType="withEffect">
                                  <p:stCondLst>
                                    <p:cond delay="1334"/>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xit" presetSubtype="0" fill="hold" nodeType="withEffect">
                                  <p:stCondLst>
                                    <p:cond delay="1476"/>
                                  </p:stCondLst>
                                  <p:childTnLst>
                                    <p:set>
                                      <p:cBhvr>
                                        <p:cTn id="26" dur="1" fill="hold">
                                          <p:stCondLst>
                                            <p:cond delay="0"/>
                                          </p:stCondLst>
                                        </p:cTn>
                                        <p:tgtEl>
                                          <p:spTgt spid="13"/>
                                        </p:tgtEl>
                                        <p:attrNameLst>
                                          <p:attrName>style.visibility</p:attrName>
                                        </p:attrNameLst>
                                      </p:cBhvr>
                                      <p:to>
                                        <p:strVal val="hidden"/>
                                      </p:to>
                                    </p:set>
                                  </p:childTnLst>
                                </p:cTn>
                              </p:par>
                              <p:par>
                                <p:cTn id="27" presetID="1" presetClass="exit" presetSubtype="0" fill="hold" nodeType="withEffect">
                                  <p:stCondLst>
                                    <p:cond delay="1618"/>
                                  </p:stCondLst>
                                  <p:childTnLst>
                                    <p:set>
                                      <p:cBhvr>
                                        <p:cTn id="28" dur="1" fill="hold">
                                          <p:stCondLst>
                                            <p:cond delay="0"/>
                                          </p:stCondLst>
                                        </p:cTn>
                                        <p:tgtEl>
                                          <p:spTgt spid="14"/>
                                        </p:tgtEl>
                                        <p:attrNameLst>
                                          <p:attrName>style.visibility</p:attrName>
                                        </p:attrNameLst>
                                      </p:cBhvr>
                                      <p:to>
                                        <p:strVal val="hidden"/>
                                      </p:to>
                                    </p:set>
                                  </p:childTnLst>
                                </p:cTn>
                              </p:par>
                              <p:par>
                                <p:cTn id="29" presetID="1" presetClass="exit" presetSubtype="0" fill="hold" nodeType="withEffect">
                                  <p:stCondLst>
                                    <p:cond delay="1759"/>
                                  </p:stCondLst>
                                  <p:childTnLst>
                                    <p:set>
                                      <p:cBhvr>
                                        <p:cTn id="30" dur="1" fill="hold">
                                          <p:stCondLst>
                                            <p:cond delay="0"/>
                                          </p:stCondLst>
                                        </p:cTn>
                                        <p:tgtEl>
                                          <p:spTgt spid="15"/>
                                        </p:tgtEl>
                                        <p:attrNameLst>
                                          <p:attrName>style.visibility</p:attrName>
                                        </p:attrNameLst>
                                      </p:cBhvr>
                                      <p:to>
                                        <p:strVal val="hidden"/>
                                      </p:to>
                                    </p:set>
                                  </p:childTnLst>
                                </p:cTn>
                              </p:par>
                              <p:par>
                                <p:cTn id="31" presetID="1" presetClass="exit" presetSubtype="0" fill="hold" nodeType="withEffect">
                                  <p:stCondLst>
                                    <p:cond delay="1901"/>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xit" presetSubtype="0" fill="hold" nodeType="withEffect">
                                  <p:stCondLst>
                                    <p:cond delay="2043"/>
                                  </p:stCondLst>
                                  <p:childTnLst>
                                    <p:set>
                                      <p:cBhvr>
                                        <p:cTn id="34" dur="1" fill="hold">
                                          <p:stCondLst>
                                            <p:cond delay="0"/>
                                          </p:stCondLst>
                                        </p:cTn>
                                        <p:tgtEl>
                                          <p:spTgt spid="17"/>
                                        </p:tgtEl>
                                        <p:attrNameLst>
                                          <p:attrName>style.visibility</p:attrName>
                                        </p:attrNameLst>
                                      </p:cBhvr>
                                      <p:to>
                                        <p:strVal val="hidden"/>
                                      </p:to>
                                    </p:set>
                                  </p:childTnLst>
                                </p:cTn>
                              </p:par>
                              <p:par>
                                <p:cTn id="35" presetID="1" presetClass="exit" presetSubtype="0" fill="hold" nodeType="withEffect">
                                  <p:stCondLst>
                                    <p:cond delay="2185"/>
                                  </p:stCondLst>
                                  <p:childTnLst>
                                    <p:set>
                                      <p:cBhvr>
                                        <p:cTn id="36" dur="1" fill="hold">
                                          <p:stCondLst>
                                            <p:cond delay="0"/>
                                          </p:stCondLst>
                                        </p:cTn>
                                        <p:tgtEl>
                                          <p:spTgt spid="18"/>
                                        </p:tgtEl>
                                        <p:attrNameLst>
                                          <p:attrName>style.visibility</p:attrName>
                                        </p:attrNameLst>
                                      </p:cBhvr>
                                      <p:to>
                                        <p:strVal val="hidden"/>
                                      </p:to>
                                    </p:set>
                                  </p:childTnLst>
                                </p:cTn>
                              </p:par>
                              <p:par>
                                <p:cTn id="37" presetID="1" presetClass="exit" presetSubtype="0" fill="hold" nodeType="withEffect">
                                  <p:stCondLst>
                                    <p:cond delay="2327"/>
                                  </p:stCondLst>
                                  <p:childTnLst>
                                    <p:set>
                                      <p:cBhvr>
                                        <p:cTn id="38" dur="1" fill="hold">
                                          <p:stCondLst>
                                            <p:cond delay="0"/>
                                          </p:stCondLst>
                                        </p:cTn>
                                        <p:tgtEl>
                                          <p:spTgt spid="19"/>
                                        </p:tgtEl>
                                        <p:attrNameLst>
                                          <p:attrName>style.visibility</p:attrName>
                                        </p:attrNameLst>
                                      </p:cBhvr>
                                      <p:to>
                                        <p:strVal val="hidden"/>
                                      </p:to>
                                    </p:set>
                                  </p:childTnLst>
                                </p:cTn>
                              </p:par>
                              <p:par>
                                <p:cTn id="39" presetID="1" presetClass="exit" presetSubtype="0" fill="hold" nodeType="withEffect">
                                  <p:stCondLst>
                                    <p:cond delay="2469"/>
                                  </p:stCondLst>
                                  <p:childTnLst>
                                    <p:set>
                                      <p:cBhvr>
                                        <p:cTn id="40" dur="1" fill="hold">
                                          <p:stCondLst>
                                            <p:cond delay="0"/>
                                          </p:stCondLst>
                                        </p:cTn>
                                        <p:tgtEl>
                                          <p:spTgt spid="20"/>
                                        </p:tgtEl>
                                        <p:attrNameLst>
                                          <p:attrName>style.visibility</p:attrName>
                                        </p:attrNameLst>
                                      </p:cBhvr>
                                      <p:to>
                                        <p:strVal val="hidden"/>
                                      </p:to>
                                    </p:set>
                                  </p:childTnLst>
                                </p:cTn>
                              </p:par>
                              <p:par>
                                <p:cTn id="41" presetID="1" presetClass="exit" presetSubtype="0" fill="hold" nodeType="withEffect">
                                  <p:stCondLst>
                                    <p:cond delay="2611"/>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2753"/>
                                  </p:stCondLst>
                                  <p:childTnLst>
                                    <p:set>
                                      <p:cBhvr>
                                        <p:cTn id="44" dur="1" fill="hold">
                                          <p:stCondLst>
                                            <p:cond delay="0"/>
                                          </p:stCondLst>
                                        </p:cTn>
                                        <p:tgtEl>
                                          <p:spTgt spid="22"/>
                                        </p:tgtEl>
                                        <p:attrNameLst>
                                          <p:attrName>style.visibility</p:attrName>
                                        </p:attrNameLst>
                                      </p:cBhvr>
                                      <p:to>
                                        <p:strVal val="hidden"/>
                                      </p:to>
                                    </p:set>
                                  </p:childTnLst>
                                </p:cTn>
                              </p:par>
                              <p:par>
                                <p:cTn id="45" presetID="1" presetClass="exit" presetSubtype="0" fill="hold" nodeType="withEffect">
                                  <p:stCondLst>
                                    <p:cond delay="2895"/>
                                  </p:stCondLst>
                                  <p:childTnLst>
                                    <p:set>
                                      <p:cBhvr>
                                        <p:cTn id="46" dur="1" fill="hold">
                                          <p:stCondLst>
                                            <p:cond delay="0"/>
                                          </p:stCondLst>
                                        </p:cTn>
                                        <p:tgtEl>
                                          <p:spTgt spid="23"/>
                                        </p:tgtEl>
                                        <p:attrNameLst>
                                          <p:attrName>style.visibility</p:attrName>
                                        </p:attrNameLst>
                                      </p:cBhvr>
                                      <p:to>
                                        <p:strVal val="hidden"/>
                                      </p:to>
                                    </p:set>
                                  </p:childTnLst>
                                </p:cTn>
                              </p:par>
                              <p:par>
                                <p:cTn id="47" presetID="1" presetClass="exit" presetSubtype="0" fill="hold" nodeType="withEffect">
                                  <p:stCondLst>
                                    <p:cond delay="3036"/>
                                  </p:stCondLst>
                                  <p:childTnLst>
                                    <p:set>
                                      <p:cBhvr>
                                        <p:cTn id="48" dur="1" fill="hold">
                                          <p:stCondLst>
                                            <p:cond delay="0"/>
                                          </p:stCondLst>
                                        </p:cTn>
                                        <p:tgtEl>
                                          <p:spTgt spid="24"/>
                                        </p:tgtEl>
                                        <p:attrNameLst>
                                          <p:attrName>style.visibility</p:attrName>
                                        </p:attrNameLst>
                                      </p:cBhvr>
                                      <p:to>
                                        <p:strVal val="hidden"/>
                                      </p:to>
                                    </p:set>
                                  </p:childTnLst>
                                </p:cTn>
                              </p:par>
                              <p:par>
                                <p:cTn id="49" presetID="1" presetClass="exit" presetSubtype="0" fill="hold" nodeType="withEffect">
                                  <p:stCondLst>
                                    <p:cond delay="3178"/>
                                  </p:stCondLst>
                                  <p:childTnLst>
                                    <p:set>
                                      <p:cBhvr>
                                        <p:cTn id="50" dur="1" fill="hold">
                                          <p:stCondLst>
                                            <p:cond delay="0"/>
                                          </p:stCondLst>
                                        </p:cTn>
                                        <p:tgtEl>
                                          <p:spTgt spid="25"/>
                                        </p:tgtEl>
                                        <p:attrNameLst>
                                          <p:attrName>style.visibility</p:attrName>
                                        </p:attrNameLst>
                                      </p:cBhvr>
                                      <p:to>
                                        <p:strVal val="hidden"/>
                                      </p:to>
                                    </p:set>
                                  </p:childTnLst>
                                </p:cTn>
                              </p:par>
                              <p:par>
                                <p:cTn id="51" presetID="0" presetClass="path" presetSubtype="0" fill="hold" nodeType="withEffect">
                                  <p:stCondLst>
                                    <p:cond delay="300"/>
                                  </p:stCondLst>
                                  <p:childTnLst>
                                    <p:animMotion origin="layout" path="M 0 0 L 0.55501 0 E" pathEditMode="relative" ptsTypes="">
                                      <p:cBhvr>
                                        <p:cTn id="52" dur="3000" fill="hold"/>
                                        <p:tgtEl>
                                          <p:spTgt spid="26"/>
                                        </p:tgtEl>
                                        <p:attrNameLst>
                                          <p:attrName>ppt_x</p:attrName>
                                          <p:attrName>ppt_y</p:attrName>
                                        </p:attrNameLst>
                                      </p:cBhvr>
                                    </p:animMotion>
                                  </p:childTnLst>
                                </p:cTn>
                              </p:par>
                              <p:par>
                                <p:cTn id="53" presetID="0" presetClass="path" presetSubtype="0" fill="hold" nodeType="withEffect">
                                  <p:stCondLst>
                                    <p:cond delay="300"/>
                                  </p:stCondLst>
                                  <p:childTnLst>
                                    <p:animMotion origin="layout" path="M 0 0 L 0.55501 0 E" pathEditMode="relative" ptsTypes="">
                                      <p:cBhvr>
                                        <p:cTn id="54" dur="3000" fill="hold"/>
                                        <p:tgtEl>
                                          <p:spTgt spid="27"/>
                                        </p:tgtEl>
                                        <p:attrNameLst>
                                          <p:attrName>ppt_x</p:attrName>
                                          <p:attrName>ppt_y</p:attrName>
                                        </p:attrNameLst>
                                      </p:cBhvr>
                                    </p:animMotion>
                                  </p:childTnLst>
                                </p:cTn>
                              </p:par>
                              <p:par>
                                <p:cTn id="55" presetID="0" presetClass="path" presetSubtype="0" fill="hold" nodeType="withEffect">
                                  <p:stCondLst>
                                    <p:cond delay="300"/>
                                  </p:stCondLst>
                                  <p:childTnLst>
                                    <p:animMotion origin="layout" path="M 0 0 L 0.55501 0 E" pathEditMode="relative" ptsTypes="">
                                      <p:cBhvr>
                                        <p:cTn id="56" dur="3000" fill="hold"/>
                                        <p:tgtEl>
                                          <p:spTgt spid="28"/>
                                        </p:tgtEl>
                                        <p:attrNameLst>
                                          <p:attrName>ppt_x</p:attrName>
                                          <p:attrName>ppt_y</p:attrName>
                                        </p:attrNameLst>
                                      </p:cBhvr>
                                    </p:animMotion>
                                  </p:childTnLst>
                                </p:cTn>
                              </p:par>
                              <p:par>
                                <p:cTn id="57" presetID="0" presetClass="path" presetSubtype="0" fill="hold" nodeType="withEffect">
                                  <p:stCondLst>
                                    <p:cond delay="300"/>
                                  </p:stCondLst>
                                  <p:childTnLst>
                                    <p:animMotion origin="layout" path="M 0 0 L 0.55501 0 E" pathEditMode="relative" ptsTypes="">
                                      <p:cBhvr>
                                        <p:cTn id="58" dur="3000" fill="hold"/>
                                        <p:tgtEl>
                                          <p:spTgt spid="29"/>
                                        </p:tgtEl>
                                        <p:attrNameLst>
                                          <p:attrName>ppt_x</p:attrName>
                                          <p:attrName>ppt_y</p:attrName>
                                        </p:attrNameLst>
                                      </p:cBhvr>
                                    </p:animMotion>
                                  </p:childTnLst>
                                </p:cTn>
                              </p:par>
                              <p:par>
                                <p:cTn id="59" presetID="0" presetClass="path" presetSubtype="0" fill="hold" nodeType="withEffect">
                                  <p:stCondLst>
                                    <p:cond delay="300"/>
                                  </p:stCondLst>
                                  <p:childTnLst>
                                    <p:animMotion origin="layout" path="M 0 0 L 0.55501 0 E" pathEditMode="relative" ptsTypes="">
                                      <p:cBhvr>
                                        <p:cTn id="60" dur="3000" fill="hold"/>
                                        <p:tgtEl>
                                          <p:spTgt spid="3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pic>
        <p:nvPicPr>
          <p:cNvPr id="2" name="o1" descr="MENU → CHOISIS TON NIVEAU"/>
          <p:cNvPicPr>
            <a:picLocks noChangeAspect="1"/>
          </p:cNvPicPr>
          <p:nvPr/>
        </p:nvPicPr>
        <p:blipFill>
          <a:blip r:embed="rId3"/>
          <a:stretch>
            <a:fillRect/>
          </a:stretch>
        </p:blipFill>
        <p:spPr>
          <a:xfrm>
            <a:off x="548640" y="411480"/>
            <a:ext cx="3657600" cy="146304"/>
          </a:xfrm>
          <a:prstGeom prst="rect">
            <a:avLst/>
          </a:prstGeom>
        </p:spPr>
      </p:pic>
      <p:pic>
        <p:nvPicPr>
          <p:cNvPr id="3" name="o2" descr="Le parcours de ma partie"/>
          <p:cNvPicPr>
            <a:picLocks noChangeAspect="1"/>
          </p:cNvPicPr>
          <p:nvPr/>
        </p:nvPicPr>
        <p:blipFill>
          <a:blip r:embed="rId4"/>
          <a:stretch>
            <a:fillRect/>
          </a:stretch>
        </p:blipFill>
        <p:spPr>
          <a:xfrm>
            <a:off x="548640" y="777240"/>
            <a:ext cx="6583680" cy="274320"/>
          </a:xfrm>
          <a:prstGeom prst="rect">
            <a:avLst/>
          </a:prstGeom>
        </p:spPr>
      </p:pic>
      <p:pic>
        <p:nvPicPr>
          <p:cNvPr id="49" name="o48" descr="super pac-gomme"/>
          <p:cNvPicPr>
            <a:picLocks noChangeAspect="1"/>
          </p:cNvPicPr>
          <p:nvPr/>
        </p:nvPicPr>
        <p:blipFill>
          <a:blip r:embed="rId5"/>
          <a:stretch>
            <a:fillRect/>
          </a:stretch>
        </p:blipFill>
        <p:spPr>
          <a:xfrm>
            <a:off x="11448288" y="6355080"/>
            <a:ext cx="182880" cy="182880"/>
          </a:xfrm>
          <a:prstGeom prst="rect">
            <a:avLst/>
          </a:prstGeom>
        </p:spPr>
      </p:pic>
      <p:sp>
        <p:nvSpPr>
          <p:cNvPr id="52" name="o51"/>
          <p:cNvSpPr/>
          <p:nvPr/>
        </p:nvSpPr>
        <p:spPr>
          <a:xfrm>
            <a:off x="548640" y="1691640"/>
            <a:ext cx="1691640" cy="2926080"/>
          </a:xfrm>
          <a:prstGeom prst="roundRect">
            <a:avLst>
              <a:gd name="adj" fmla="val 7568"/>
            </a:avLst>
          </a:prstGeom>
          <a:solidFill>
            <a:srgbClr val="000000"/>
          </a:solidFill>
          <a:ln w="28575">
            <a:solidFill>
              <a:srgbClr val="2121DE"/>
            </a:solidFill>
            <a:prstDash val="solid"/>
          </a:ln>
        </p:spPr>
      </p:sp>
      <p:sp>
        <p:nvSpPr>
          <p:cNvPr id="53" name="o52"/>
          <p:cNvSpPr/>
          <p:nvPr/>
        </p:nvSpPr>
        <p:spPr>
          <a:xfrm>
            <a:off x="617220" y="1760220"/>
            <a:ext cx="1554480" cy="2788920"/>
          </a:xfrm>
          <a:prstGeom prst="roundRect">
            <a:avLst>
              <a:gd name="adj" fmla="val 3824"/>
            </a:avLst>
          </a:prstGeom>
          <a:ln w="12700">
            <a:solidFill>
              <a:srgbClr val="2121DE"/>
            </a:solidFill>
            <a:prstDash val="solid"/>
          </a:ln>
        </p:spPr>
      </p:sp>
      <p:pic>
        <p:nvPicPr>
          <p:cNvPr id="54" name="o53" descr="LEVEL 1"/>
          <p:cNvPicPr>
            <a:picLocks noChangeAspect="1"/>
          </p:cNvPicPr>
          <p:nvPr/>
        </p:nvPicPr>
        <p:blipFill>
          <a:blip r:embed="rId8"/>
          <a:stretch>
            <a:fillRect/>
          </a:stretch>
        </p:blipFill>
        <p:spPr>
          <a:xfrm>
            <a:off x="946404" y="1965960"/>
            <a:ext cx="896112" cy="128016"/>
          </a:xfrm>
          <a:prstGeom prst="rect">
            <a:avLst/>
          </a:prstGeom>
        </p:spPr>
      </p:pic>
      <p:pic>
        <p:nvPicPr>
          <p:cNvPr id="55" name="o54" descr="cherry"/>
          <p:cNvPicPr>
            <a:picLocks noChangeAspect="1"/>
          </p:cNvPicPr>
          <p:nvPr/>
        </p:nvPicPr>
        <p:blipFill>
          <a:blip r:embed="rId9"/>
          <a:stretch>
            <a:fillRect/>
          </a:stretch>
        </p:blipFill>
        <p:spPr>
          <a:xfrm>
            <a:off x="1010412" y="2350008"/>
            <a:ext cx="768096" cy="768096"/>
          </a:xfrm>
          <a:prstGeom prst="rect">
            <a:avLst/>
          </a:prstGeom>
        </p:spPr>
      </p:pic>
      <p:pic>
        <p:nvPicPr>
          <p:cNvPr id="56" name="o55" descr="MISSION"/>
          <p:cNvPicPr>
            <a:picLocks noChangeAspect="1"/>
          </p:cNvPicPr>
          <p:nvPr/>
        </p:nvPicPr>
        <p:blipFill>
          <a:blip r:embed="rId10"/>
          <a:stretch>
            <a:fillRect/>
          </a:stretch>
        </p:blipFill>
        <p:spPr>
          <a:xfrm>
            <a:off x="882396" y="3383280"/>
            <a:ext cx="1024128" cy="146304"/>
          </a:xfrm>
          <a:prstGeom prst="rect">
            <a:avLst/>
          </a:prstGeom>
        </p:spPr>
      </p:pic>
      <p:sp>
        <p:nvSpPr>
          <p:cNvPr id="57" name="o56"/>
          <p:cNvSpPr txBox="1"/>
          <p:nvPr/>
        </p:nvSpPr>
        <p:spPr>
          <a:xfrm>
            <a:off x="658368"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Le contexte</a:t>
            </a:r>
            <a:endParaRPr lang="en-US" sz="1300" dirty="0"/>
          </a:p>
        </p:txBody>
      </p:sp>
      <p:sp>
        <p:nvSpPr>
          <p:cNvPr id="58" name="o57"/>
          <p:cNvSpPr/>
          <p:nvPr/>
        </p:nvSpPr>
        <p:spPr>
          <a:xfrm>
            <a:off x="2429195" y="1691640"/>
            <a:ext cx="1691640" cy="2926080"/>
          </a:xfrm>
          <a:prstGeom prst="roundRect">
            <a:avLst>
              <a:gd name="adj" fmla="val 7568"/>
            </a:avLst>
          </a:prstGeom>
          <a:solidFill>
            <a:srgbClr val="000000"/>
          </a:solidFill>
          <a:ln w="28575">
            <a:solidFill>
              <a:srgbClr val="2121DE"/>
            </a:solidFill>
            <a:prstDash val="solid"/>
          </a:ln>
        </p:spPr>
      </p:sp>
      <p:sp>
        <p:nvSpPr>
          <p:cNvPr id="59" name="o58"/>
          <p:cNvSpPr/>
          <p:nvPr/>
        </p:nvSpPr>
        <p:spPr>
          <a:xfrm>
            <a:off x="2497775" y="1760220"/>
            <a:ext cx="1554480" cy="2788920"/>
          </a:xfrm>
          <a:prstGeom prst="roundRect">
            <a:avLst>
              <a:gd name="adj" fmla="val 3824"/>
            </a:avLst>
          </a:prstGeom>
          <a:ln w="12700">
            <a:solidFill>
              <a:srgbClr val="2121DE"/>
            </a:solidFill>
            <a:prstDash val="solid"/>
          </a:ln>
        </p:spPr>
      </p:sp>
      <p:pic>
        <p:nvPicPr>
          <p:cNvPr id="60" name="o59" descr="LEVEL 2"/>
          <p:cNvPicPr>
            <a:picLocks noChangeAspect="1"/>
          </p:cNvPicPr>
          <p:nvPr/>
        </p:nvPicPr>
        <p:blipFill>
          <a:blip r:embed="rId11"/>
          <a:stretch>
            <a:fillRect/>
          </a:stretch>
        </p:blipFill>
        <p:spPr>
          <a:xfrm>
            <a:off x="2826959" y="1965960"/>
            <a:ext cx="896112" cy="128016"/>
          </a:xfrm>
          <a:prstGeom prst="rect">
            <a:avLst/>
          </a:prstGeom>
        </p:spPr>
      </p:pic>
      <p:pic>
        <p:nvPicPr>
          <p:cNvPr id="61" name="o60" descr="strawberry"/>
          <p:cNvPicPr>
            <a:picLocks noChangeAspect="1"/>
          </p:cNvPicPr>
          <p:nvPr/>
        </p:nvPicPr>
        <p:blipFill>
          <a:blip r:embed="rId12"/>
          <a:stretch>
            <a:fillRect/>
          </a:stretch>
        </p:blipFill>
        <p:spPr>
          <a:xfrm>
            <a:off x="2890967" y="2350008"/>
            <a:ext cx="768096" cy="768096"/>
          </a:xfrm>
          <a:prstGeom prst="rect">
            <a:avLst/>
          </a:prstGeom>
        </p:spPr>
      </p:pic>
      <p:pic>
        <p:nvPicPr>
          <p:cNvPr id="62" name="o61" descr="PIPELINE"/>
          <p:cNvPicPr>
            <a:picLocks noChangeAspect="1"/>
          </p:cNvPicPr>
          <p:nvPr/>
        </p:nvPicPr>
        <p:blipFill>
          <a:blip r:embed="rId13"/>
          <a:stretch>
            <a:fillRect/>
          </a:stretch>
        </p:blipFill>
        <p:spPr>
          <a:xfrm>
            <a:off x="2689799" y="3383280"/>
            <a:ext cx="1170432" cy="146304"/>
          </a:xfrm>
          <a:prstGeom prst="rect">
            <a:avLst/>
          </a:prstGeom>
        </p:spPr>
      </p:pic>
      <p:sp>
        <p:nvSpPr>
          <p:cNvPr id="63" name="o62"/>
          <p:cNvSpPr txBox="1"/>
          <p:nvPr/>
        </p:nvSpPr>
        <p:spPr>
          <a:xfrm>
            <a:off x="2538923"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Du CSV à l'appli</a:t>
            </a:r>
            <a:endParaRPr lang="en-US" sz="1300" dirty="0"/>
          </a:p>
        </p:txBody>
      </p:sp>
      <p:sp>
        <p:nvSpPr>
          <p:cNvPr id="64" name="o63"/>
          <p:cNvSpPr/>
          <p:nvPr/>
        </p:nvSpPr>
        <p:spPr>
          <a:xfrm>
            <a:off x="4309750" y="1691640"/>
            <a:ext cx="1691640" cy="2926080"/>
          </a:xfrm>
          <a:prstGeom prst="roundRect">
            <a:avLst>
              <a:gd name="adj" fmla="val 7568"/>
            </a:avLst>
          </a:prstGeom>
          <a:solidFill>
            <a:srgbClr val="000000"/>
          </a:solidFill>
          <a:ln w="28575">
            <a:solidFill>
              <a:srgbClr val="2121DE"/>
            </a:solidFill>
            <a:prstDash val="solid"/>
          </a:ln>
        </p:spPr>
      </p:sp>
      <p:sp>
        <p:nvSpPr>
          <p:cNvPr id="65" name="o64"/>
          <p:cNvSpPr/>
          <p:nvPr/>
        </p:nvSpPr>
        <p:spPr>
          <a:xfrm>
            <a:off x="4378330" y="1760220"/>
            <a:ext cx="1554480" cy="2788920"/>
          </a:xfrm>
          <a:prstGeom prst="roundRect">
            <a:avLst>
              <a:gd name="adj" fmla="val 3824"/>
            </a:avLst>
          </a:prstGeom>
          <a:ln w="12700">
            <a:solidFill>
              <a:srgbClr val="2121DE"/>
            </a:solidFill>
            <a:prstDash val="solid"/>
          </a:ln>
        </p:spPr>
      </p:sp>
      <p:pic>
        <p:nvPicPr>
          <p:cNvPr id="66" name="o65" descr="LEVEL 3"/>
          <p:cNvPicPr>
            <a:picLocks noChangeAspect="1"/>
          </p:cNvPicPr>
          <p:nvPr/>
        </p:nvPicPr>
        <p:blipFill>
          <a:blip r:embed="rId14"/>
          <a:stretch>
            <a:fillRect/>
          </a:stretch>
        </p:blipFill>
        <p:spPr>
          <a:xfrm>
            <a:off x="4707514" y="1965960"/>
            <a:ext cx="896112" cy="128016"/>
          </a:xfrm>
          <a:prstGeom prst="rect">
            <a:avLst/>
          </a:prstGeom>
        </p:spPr>
      </p:pic>
      <p:pic>
        <p:nvPicPr>
          <p:cNvPr id="67" name="o66" descr="orange"/>
          <p:cNvPicPr>
            <a:picLocks noChangeAspect="1"/>
          </p:cNvPicPr>
          <p:nvPr/>
        </p:nvPicPr>
        <p:blipFill>
          <a:blip r:embed="rId15"/>
          <a:stretch>
            <a:fillRect/>
          </a:stretch>
        </p:blipFill>
        <p:spPr>
          <a:xfrm>
            <a:off x="4771522" y="2350008"/>
            <a:ext cx="768096" cy="768096"/>
          </a:xfrm>
          <a:prstGeom prst="rect">
            <a:avLst/>
          </a:prstGeom>
        </p:spPr>
      </p:pic>
      <p:pic>
        <p:nvPicPr>
          <p:cNvPr id="68" name="o67" descr="NETTOYAGE"/>
          <p:cNvPicPr>
            <a:picLocks noChangeAspect="1"/>
          </p:cNvPicPr>
          <p:nvPr/>
        </p:nvPicPr>
        <p:blipFill>
          <a:blip r:embed="rId16"/>
          <a:stretch>
            <a:fillRect/>
          </a:stretch>
        </p:blipFill>
        <p:spPr>
          <a:xfrm>
            <a:off x="4497202" y="3383280"/>
            <a:ext cx="1316736" cy="146304"/>
          </a:xfrm>
          <a:prstGeom prst="rect">
            <a:avLst/>
          </a:prstGeom>
        </p:spPr>
      </p:pic>
      <p:sp>
        <p:nvSpPr>
          <p:cNvPr id="69" name="o68"/>
          <p:cNvSpPr txBox="1"/>
          <p:nvPr/>
        </p:nvSpPr>
        <p:spPr>
          <a:xfrm>
            <a:off x="4419478"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4 fantômes à manger</a:t>
            </a:r>
            <a:endParaRPr lang="en-US" sz="1300" dirty="0"/>
          </a:p>
        </p:txBody>
      </p:sp>
      <p:sp>
        <p:nvSpPr>
          <p:cNvPr id="70" name="o69"/>
          <p:cNvSpPr/>
          <p:nvPr/>
        </p:nvSpPr>
        <p:spPr>
          <a:xfrm>
            <a:off x="6190305" y="1691640"/>
            <a:ext cx="1691640" cy="2926080"/>
          </a:xfrm>
          <a:prstGeom prst="roundRect">
            <a:avLst>
              <a:gd name="adj" fmla="val 7568"/>
            </a:avLst>
          </a:prstGeom>
          <a:solidFill>
            <a:srgbClr val="000000"/>
          </a:solidFill>
          <a:ln w="28575">
            <a:solidFill>
              <a:srgbClr val="2121DE"/>
            </a:solidFill>
            <a:prstDash val="solid"/>
          </a:ln>
        </p:spPr>
      </p:sp>
      <p:sp>
        <p:nvSpPr>
          <p:cNvPr id="71" name="o70"/>
          <p:cNvSpPr/>
          <p:nvPr/>
        </p:nvSpPr>
        <p:spPr>
          <a:xfrm>
            <a:off x="6258885" y="1760220"/>
            <a:ext cx="1554480" cy="2788920"/>
          </a:xfrm>
          <a:prstGeom prst="roundRect">
            <a:avLst>
              <a:gd name="adj" fmla="val 3824"/>
            </a:avLst>
          </a:prstGeom>
          <a:ln w="12700">
            <a:solidFill>
              <a:srgbClr val="2121DE"/>
            </a:solidFill>
            <a:prstDash val="solid"/>
          </a:ln>
        </p:spPr>
      </p:sp>
      <p:pic>
        <p:nvPicPr>
          <p:cNvPr id="72" name="o71" descr="LEVEL 4"/>
          <p:cNvPicPr>
            <a:picLocks noChangeAspect="1"/>
          </p:cNvPicPr>
          <p:nvPr/>
        </p:nvPicPr>
        <p:blipFill>
          <a:blip r:embed="rId17"/>
          <a:stretch>
            <a:fillRect/>
          </a:stretch>
        </p:blipFill>
        <p:spPr>
          <a:xfrm>
            <a:off x="6588069" y="1965960"/>
            <a:ext cx="896112" cy="128016"/>
          </a:xfrm>
          <a:prstGeom prst="rect">
            <a:avLst/>
          </a:prstGeom>
        </p:spPr>
      </p:pic>
      <p:pic>
        <p:nvPicPr>
          <p:cNvPr id="73" name="o72" descr="apple"/>
          <p:cNvPicPr>
            <a:picLocks noChangeAspect="1"/>
          </p:cNvPicPr>
          <p:nvPr/>
        </p:nvPicPr>
        <p:blipFill>
          <a:blip r:embed="rId18"/>
          <a:stretch>
            <a:fillRect/>
          </a:stretch>
        </p:blipFill>
        <p:spPr>
          <a:xfrm>
            <a:off x="6652077" y="2350008"/>
            <a:ext cx="768096" cy="768096"/>
          </a:xfrm>
          <a:prstGeom prst="rect">
            <a:avLst/>
          </a:prstGeom>
        </p:spPr>
      </p:pic>
      <p:pic>
        <p:nvPicPr>
          <p:cNvPr id="74" name="o73" descr="INSIGHTS"/>
          <p:cNvPicPr>
            <a:picLocks noChangeAspect="1"/>
          </p:cNvPicPr>
          <p:nvPr/>
        </p:nvPicPr>
        <p:blipFill>
          <a:blip r:embed="rId19"/>
          <a:stretch>
            <a:fillRect/>
          </a:stretch>
        </p:blipFill>
        <p:spPr>
          <a:xfrm>
            <a:off x="6450909" y="3383280"/>
            <a:ext cx="1170432" cy="146304"/>
          </a:xfrm>
          <a:prstGeom prst="rect">
            <a:avLst/>
          </a:prstGeom>
        </p:spPr>
      </p:pic>
      <p:sp>
        <p:nvSpPr>
          <p:cNvPr id="75" name="o74"/>
          <p:cNvSpPr txBox="1"/>
          <p:nvPr/>
        </p:nvSpPr>
        <p:spPr>
          <a:xfrm>
            <a:off x="6300033"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4 découvertes</a:t>
            </a:r>
            <a:endParaRPr lang="en-US" sz="1300" dirty="0"/>
          </a:p>
        </p:txBody>
      </p:sp>
      <p:sp>
        <p:nvSpPr>
          <p:cNvPr id="76" name="o75"/>
          <p:cNvSpPr/>
          <p:nvPr/>
        </p:nvSpPr>
        <p:spPr>
          <a:xfrm>
            <a:off x="8070860" y="1691640"/>
            <a:ext cx="1691640" cy="2926080"/>
          </a:xfrm>
          <a:prstGeom prst="roundRect">
            <a:avLst>
              <a:gd name="adj" fmla="val 7568"/>
            </a:avLst>
          </a:prstGeom>
          <a:solidFill>
            <a:srgbClr val="000000"/>
          </a:solidFill>
          <a:ln w="28575">
            <a:solidFill>
              <a:srgbClr val="2121DE"/>
            </a:solidFill>
            <a:prstDash val="solid"/>
          </a:ln>
        </p:spPr>
      </p:sp>
      <p:sp>
        <p:nvSpPr>
          <p:cNvPr id="77" name="o76"/>
          <p:cNvSpPr/>
          <p:nvPr/>
        </p:nvSpPr>
        <p:spPr>
          <a:xfrm>
            <a:off x="8139440" y="1760220"/>
            <a:ext cx="1554480" cy="2788920"/>
          </a:xfrm>
          <a:prstGeom prst="roundRect">
            <a:avLst>
              <a:gd name="adj" fmla="val 3824"/>
            </a:avLst>
          </a:prstGeom>
          <a:ln w="12700">
            <a:solidFill>
              <a:srgbClr val="2121DE"/>
            </a:solidFill>
            <a:prstDash val="solid"/>
          </a:ln>
        </p:spPr>
      </p:sp>
      <p:pic>
        <p:nvPicPr>
          <p:cNvPr id="78" name="o77" descr="LEVEL 5"/>
          <p:cNvPicPr>
            <a:picLocks noChangeAspect="1"/>
          </p:cNvPicPr>
          <p:nvPr/>
        </p:nvPicPr>
        <p:blipFill>
          <a:blip r:embed="rId20"/>
          <a:stretch>
            <a:fillRect/>
          </a:stretch>
        </p:blipFill>
        <p:spPr>
          <a:xfrm>
            <a:off x="8468624" y="1965960"/>
            <a:ext cx="896112" cy="128016"/>
          </a:xfrm>
          <a:prstGeom prst="rect">
            <a:avLst/>
          </a:prstGeom>
        </p:spPr>
      </p:pic>
      <p:pic>
        <p:nvPicPr>
          <p:cNvPr id="79" name="o78" descr="melon"/>
          <p:cNvPicPr>
            <a:picLocks noChangeAspect="1"/>
          </p:cNvPicPr>
          <p:nvPr/>
        </p:nvPicPr>
        <p:blipFill>
          <a:blip r:embed="rId21"/>
          <a:stretch>
            <a:fillRect/>
          </a:stretch>
        </p:blipFill>
        <p:spPr>
          <a:xfrm>
            <a:off x="8532632" y="2350008"/>
            <a:ext cx="768096" cy="768096"/>
          </a:xfrm>
          <a:prstGeom prst="rect">
            <a:avLst/>
          </a:prstGeom>
        </p:spPr>
      </p:pic>
      <p:pic>
        <p:nvPicPr>
          <p:cNvPr id="80" name="o79" descr="BOSS"/>
          <p:cNvPicPr>
            <a:picLocks noChangeAspect="1"/>
          </p:cNvPicPr>
          <p:nvPr/>
        </p:nvPicPr>
        <p:blipFill>
          <a:blip r:embed="rId22"/>
          <a:stretch>
            <a:fillRect/>
          </a:stretch>
        </p:blipFill>
        <p:spPr>
          <a:xfrm>
            <a:off x="8624072" y="3383280"/>
            <a:ext cx="585216" cy="146304"/>
          </a:xfrm>
          <a:prstGeom prst="rect">
            <a:avLst/>
          </a:prstGeom>
        </p:spPr>
      </p:pic>
      <p:sp>
        <p:nvSpPr>
          <p:cNvPr id="81" name="o80"/>
          <p:cNvSpPr txBox="1"/>
          <p:nvPr/>
        </p:nvSpPr>
        <p:spPr>
          <a:xfrm>
            <a:off x="8180588"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Market Power Index</a:t>
            </a:r>
            <a:endParaRPr lang="en-US" sz="1300" dirty="0"/>
          </a:p>
        </p:txBody>
      </p:sp>
      <p:sp>
        <p:nvSpPr>
          <p:cNvPr id="82" name="o81"/>
          <p:cNvSpPr/>
          <p:nvPr/>
        </p:nvSpPr>
        <p:spPr>
          <a:xfrm>
            <a:off x="9951415" y="1691640"/>
            <a:ext cx="1691640" cy="2926080"/>
          </a:xfrm>
          <a:prstGeom prst="roundRect">
            <a:avLst>
              <a:gd name="adj" fmla="val 7568"/>
            </a:avLst>
          </a:prstGeom>
          <a:solidFill>
            <a:srgbClr val="000000"/>
          </a:solidFill>
          <a:ln w="28575">
            <a:solidFill>
              <a:srgbClr val="2121DE"/>
            </a:solidFill>
            <a:prstDash val="solid"/>
          </a:ln>
        </p:spPr>
      </p:sp>
      <p:sp>
        <p:nvSpPr>
          <p:cNvPr id="83" name="o82"/>
          <p:cNvSpPr/>
          <p:nvPr/>
        </p:nvSpPr>
        <p:spPr>
          <a:xfrm>
            <a:off x="10019995" y="1760220"/>
            <a:ext cx="1554480" cy="2788920"/>
          </a:xfrm>
          <a:prstGeom prst="roundRect">
            <a:avLst>
              <a:gd name="adj" fmla="val 3824"/>
            </a:avLst>
          </a:prstGeom>
          <a:ln w="12700">
            <a:solidFill>
              <a:srgbClr val="2121DE"/>
            </a:solidFill>
            <a:prstDash val="solid"/>
          </a:ln>
        </p:spPr>
      </p:sp>
      <p:pic>
        <p:nvPicPr>
          <p:cNvPr id="84" name="o83" descr="LEVEL 6"/>
          <p:cNvPicPr>
            <a:picLocks noChangeAspect="1"/>
          </p:cNvPicPr>
          <p:nvPr/>
        </p:nvPicPr>
        <p:blipFill>
          <a:blip r:embed="rId23"/>
          <a:stretch>
            <a:fillRect/>
          </a:stretch>
        </p:blipFill>
        <p:spPr>
          <a:xfrm>
            <a:off x="10349179" y="1965960"/>
            <a:ext cx="896112" cy="128016"/>
          </a:xfrm>
          <a:prstGeom prst="rect">
            <a:avLst/>
          </a:prstGeom>
        </p:spPr>
      </p:pic>
      <p:pic>
        <p:nvPicPr>
          <p:cNvPr id="85" name="o84" descr="bell"/>
          <p:cNvPicPr>
            <a:picLocks noChangeAspect="1"/>
          </p:cNvPicPr>
          <p:nvPr/>
        </p:nvPicPr>
        <p:blipFill>
          <a:blip r:embed="rId24"/>
          <a:stretch>
            <a:fillRect/>
          </a:stretch>
        </p:blipFill>
        <p:spPr>
          <a:xfrm>
            <a:off x="10413187" y="2350008"/>
            <a:ext cx="768096" cy="768096"/>
          </a:xfrm>
          <a:prstGeom prst="rect">
            <a:avLst/>
          </a:prstGeom>
        </p:spPr>
      </p:pic>
      <p:pic>
        <p:nvPicPr>
          <p:cNvPr id="86" name="o85" descr="LIVE DEMO"/>
          <p:cNvPicPr>
            <a:picLocks noChangeAspect="1"/>
          </p:cNvPicPr>
          <p:nvPr/>
        </p:nvPicPr>
        <p:blipFill>
          <a:blip r:embed="rId25"/>
          <a:stretch>
            <a:fillRect/>
          </a:stretch>
        </p:blipFill>
        <p:spPr>
          <a:xfrm>
            <a:off x="10138867" y="3383280"/>
            <a:ext cx="1316736" cy="146304"/>
          </a:xfrm>
          <a:prstGeom prst="rect">
            <a:avLst/>
          </a:prstGeom>
        </p:spPr>
      </p:pic>
      <p:sp>
        <p:nvSpPr>
          <p:cNvPr id="87" name="o86"/>
          <p:cNvSpPr txBox="1"/>
          <p:nvPr/>
        </p:nvSpPr>
        <p:spPr>
          <a:xfrm>
            <a:off x="10061143"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L'appli en direct</a:t>
            </a:r>
            <a:endParaRPr lang="en-US" sz="1300" dirty="0"/>
          </a:p>
        </p:txBody>
      </p:sp>
      <p:sp>
        <p:nvSpPr>
          <p:cNvPr id="88" name="o87"/>
          <p:cNvSpPr/>
          <p:nvPr/>
        </p:nvSpPr>
        <p:spPr>
          <a:xfrm>
            <a:off x="548640" y="4983480"/>
            <a:ext cx="11094415" cy="777240"/>
          </a:xfrm>
          <a:prstGeom prst="roundRect">
            <a:avLst>
              <a:gd name="adj" fmla="val 11765"/>
            </a:avLst>
          </a:prstGeom>
          <a:solidFill>
            <a:srgbClr val="000000"/>
          </a:solidFill>
          <a:ln w="28575">
            <a:solidFill>
              <a:srgbClr val="FFB8FF"/>
            </a:solidFill>
            <a:prstDash val="solid"/>
          </a:ln>
        </p:spPr>
      </p:sp>
      <p:sp>
        <p:nvSpPr>
          <p:cNvPr id="89" name="o88"/>
          <p:cNvSpPr/>
          <p:nvPr/>
        </p:nvSpPr>
        <p:spPr>
          <a:xfrm>
            <a:off x="617220" y="5052060"/>
            <a:ext cx="10957255" cy="640080"/>
          </a:xfrm>
          <a:prstGeom prst="roundRect">
            <a:avLst>
              <a:gd name="adj" fmla="val 3571"/>
            </a:avLst>
          </a:prstGeom>
          <a:ln w="12700">
            <a:solidFill>
              <a:srgbClr val="FFB8FF"/>
            </a:solidFill>
            <a:prstDash val="solid"/>
          </a:ln>
        </p:spPr>
      </p:sp>
      <p:pic>
        <p:nvPicPr>
          <p:cNvPr id="90" name="o89" descr="clé"/>
          <p:cNvPicPr>
            <a:picLocks noChangeAspect="1"/>
          </p:cNvPicPr>
          <p:nvPr/>
        </p:nvPicPr>
        <p:blipFill>
          <a:blip r:embed="rId26"/>
          <a:stretch>
            <a:fillRect/>
          </a:stretch>
        </p:blipFill>
        <p:spPr>
          <a:xfrm>
            <a:off x="822960" y="5120640"/>
            <a:ext cx="502920" cy="502920"/>
          </a:xfrm>
          <a:prstGeom prst="rect">
            <a:avLst/>
          </a:prstGeom>
        </p:spPr>
      </p:pic>
      <p:pic>
        <p:nvPicPr>
          <p:cNvPr id="91" name="o90" descr="BONUS"/>
          <p:cNvPicPr>
            <a:picLocks noChangeAspect="1"/>
          </p:cNvPicPr>
          <p:nvPr/>
        </p:nvPicPr>
        <p:blipFill>
          <a:blip r:embed="rId27"/>
          <a:stretch>
            <a:fillRect/>
          </a:stretch>
        </p:blipFill>
        <p:spPr>
          <a:xfrm>
            <a:off x="1554480" y="5276088"/>
            <a:ext cx="731520" cy="146304"/>
          </a:xfrm>
          <a:prstGeom prst="rect">
            <a:avLst/>
          </a:prstGeom>
        </p:spPr>
      </p:pic>
      <p:sp>
        <p:nvSpPr>
          <p:cNvPr id="92" name="o91"/>
          <p:cNvSpPr txBox="1"/>
          <p:nvPr/>
        </p:nvSpPr>
        <p:spPr>
          <a:xfrm>
            <a:off x="2560320" y="4983480"/>
            <a:ext cx="8686800" cy="777240"/>
          </a:xfrm>
          <a:prstGeom prst="rect">
            <a:avLst/>
          </a:prstGeom>
          <a:noFill/>
          <a:ln/>
        </p:spPr>
        <p:txBody>
          <a:bodyPr wrap="square" lIns="0" tIns="0" rIns="0" bIns="0" rtlCol="0" anchor="ctr"/>
          <a:lstStyle/>
          <a:p>
            <a:pPr marL="0" indent="0">
              <a:buNone/>
            </a:pPr>
            <a:r>
              <a:rPr lang="en-US" sz="1600" dirty="0">
                <a:solidFill>
                  <a:srgbClr val="C4C4E4"/>
                </a:solidFill>
                <a:latin typeface="Arial" pitchFamily="34" charset="0"/>
                <a:ea typeface="Arial" pitchFamily="34" charset="-122"/>
                <a:cs typeface="Arial" pitchFamily="34" charset="-120"/>
              </a:rPr>
              <a:t>Niveau suivant : la BDD 2, présentée par le reste de l'équipe</a:t>
            </a:r>
            <a:endParaRPr lang="en-US" sz="1600" dirty="0"/>
          </a:p>
        </p:txBody>
      </p:sp>
      <p:pic>
        <p:nvPicPr>
          <p:cNvPr id="138" name="barre_fantome" descr="image.gif"/>
          <p:cNvPicPr>
            <a:picLocks noChangeAspect="1"/>
          </p:cNvPicPr>
          <p:nvPr/>
        </p:nvPicPr>
        <p:blipFill>
          <a:blip r:embed="rId7"/>
          <a:stretch>
            <a:fillRect/>
          </a:stretch>
        </p:blipFill>
        <p:spPr>
          <a:xfrm>
            <a:off x="385777" y="6291072"/>
            <a:ext cx="310896" cy="310896"/>
          </a:xfrm>
          <a:prstGeom prst="rect">
            <a:avLst/>
          </a:prstGeom>
        </p:spPr>
      </p:pic>
      <p:pic>
        <p:nvPicPr>
          <p:cNvPr id="139" name="barre_pacman" descr="image.gif"/>
          <p:cNvPicPr>
            <a:picLocks noChangeAspect="1"/>
          </p:cNvPicPr>
          <p:nvPr/>
        </p:nvPicPr>
        <p:blipFill>
          <a:blip r:embed="rId6"/>
          <a:stretch>
            <a:fillRect/>
          </a:stretch>
        </p:blipFill>
        <p:spPr>
          <a:xfrm>
            <a:off x="952705" y="6291072"/>
            <a:ext cx="310896" cy="310896"/>
          </a:xfrm>
          <a:prstGeom prst="rect">
            <a:avLst/>
          </a:prstGeom>
        </p:spPr>
      </p:pic>
      <p:sp>
        <p:nvSpPr>
          <p:cNvPr id="140" name="barre_pastille"/>
          <p:cNvSpPr/>
          <p:nvPr/>
        </p:nvSpPr>
        <p:spPr>
          <a:xfrm>
            <a:off x="1371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barre_pastille"/>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3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39"/>
                                        </p:tgtEl>
                                        <p:attrNameLst>
                                          <p:attrName>ppt_x</p:attrName>
                                          <p:attrName>ppt_y</p:attrName>
                                        </p:attrNameLst>
                                      </p:cBhvr>
                                    </p:animMotion>
                                  </p:childTnLst>
                                </p:cTn>
                              </p:par>
                              <p:par>
                                <p:cTn id="9" presetID="1" presetClass="exit" presetSubtype="0" fill="hold" nodeType="withEffect">
                                  <p:stCondLst>
                                    <p:cond delay="487"/>
                                  </p:stCondLst>
                                  <p:childTnLst>
                                    <p:set>
                                      <p:cBhvr>
                                        <p:cTn id="10" dur="1" fill="hold">
                                          <p:stCondLst>
                                            <p:cond delay="0"/>
                                          </p:stCondLst>
                                        </p:cTn>
                                        <p:tgtEl>
                                          <p:spTgt spid="140"/>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400"/>
                                        <p:tgtEl>
                                          <p:spTgt spid="52"/>
                                        </p:tgtEl>
                                      </p:cBhvr>
                                    </p:animEffect>
                                  </p:childTnLst>
                                </p:cTn>
                              </p:par>
                              <p:par>
                                <p:cTn id="14" presetID="10" presetClass="entr" presetSubtype="0" fill="hold" nodeType="withEffect">
                                  <p:stCondLst>
                                    <p:cond delay="150"/>
                                  </p:stCondLst>
                                  <p:childTnLst>
                                    <p:set>
                                      <p:cBhvr>
                                        <p:cTn id="15" dur="1" fill="hold">
                                          <p:stCondLst>
                                            <p:cond delay="0"/>
                                          </p:stCondLst>
                                        </p:cTn>
                                        <p:tgtEl>
                                          <p:spTgt spid="53"/>
                                        </p:tgtEl>
                                        <p:attrNameLst>
                                          <p:attrName>style.visibility</p:attrName>
                                        </p:attrNameLst>
                                      </p:cBhvr>
                                      <p:to>
                                        <p:strVal val="visible"/>
                                      </p:to>
                                    </p:set>
                                    <p:animEffect transition="in" filter="fade">
                                      <p:cBhvr>
                                        <p:cTn id="16" dur="400"/>
                                        <p:tgtEl>
                                          <p:spTgt spid="53"/>
                                        </p:tgtEl>
                                      </p:cBhvr>
                                    </p:animEffect>
                                  </p:childTnLst>
                                </p:cTn>
                              </p:par>
                              <p:par>
                                <p:cTn id="17" presetID="10" presetClass="entr" presetSubtype="0" fill="hold" nodeType="withEffect">
                                  <p:stCondLst>
                                    <p:cond delay="15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400"/>
                                        <p:tgtEl>
                                          <p:spTgt spid="54"/>
                                        </p:tgtEl>
                                      </p:cBhvr>
                                    </p:animEffect>
                                  </p:childTnLst>
                                </p:cTn>
                              </p:par>
                              <p:par>
                                <p:cTn id="20" presetID="10" presetClass="entr" presetSubtype="0" fill="hold" nodeType="withEffect">
                                  <p:stCondLst>
                                    <p:cond delay="15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400"/>
                                        <p:tgtEl>
                                          <p:spTgt spid="55"/>
                                        </p:tgtEl>
                                      </p:cBhvr>
                                    </p:animEffect>
                                  </p:childTnLst>
                                </p:cTn>
                              </p:par>
                              <p:par>
                                <p:cTn id="23" presetID="10" presetClass="entr" presetSubtype="0" fill="hold" nodeType="withEffect">
                                  <p:stCondLst>
                                    <p:cond delay="15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400"/>
                                        <p:tgtEl>
                                          <p:spTgt spid="56"/>
                                        </p:tgtEl>
                                      </p:cBhvr>
                                    </p:animEffect>
                                  </p:childTnLst>
                                </p:cTn>
                              </p:par>
                              <p:par>
                                <p:cTn id="26" presetID="10" presetClass="entr" presetSubtype="0" fill="hold" nodeType="withEffect">
                                  <p:stCondLst>
                                    <p:cond delay="150"/>
                                  </p:stCondLst>
                                  <p:childTnLst>
                                    <p:set>
                                      <p:cBhvr>
                                        <p:cTn id="27" dur="1" fill="hold">
                                          <p:stCondLst>
                                            <p:cond delay="0"/>
                                          </p:stCondLst>
                                        </p:cTn>
                                        <p:tgtEl>
                                          <p:spTgt spid="57"/>
                                        </p:tgtEl>
                                        <p:attrNameLst>
                                          <p:attrName>style.visibility</p:attrName>
                                        </p:attrNameLst>
                                      </p:cBhvr>
                                      <p:to>
                                        <p:strVal val="visible"/>
                                      </p:to>
                                    </p:set>
                                    <p:animEffect transition="in" filter="fade">
                                      <p:cBhvr>
                                        <p:cTn id="28" dur="400"/>
                                        <p:tgtEl>
                                          <p:spTgt spid="57"/>
                                        </p:tgtEl>
                                      </p:cBhvr>
                                    </p:animEffect>
                                  </p:childTnLst>
                                </p:cTn>
                              </p:par>
                              <p:par>
                                <p:cTn id="29" presetID="10" presetClass="entr" presetSubtype="0" fill="hold" nodeType="withEffect">
                                  <p:stCondLst>
                                    <p:cond delay="330"/>
                                  </p:stCondLst>
                                  <p:childTnLst>
                                    <p:set>
                                      <p:cBhvr>
                                        <p:cTn id="30" dur="1" fill="hold">
                                          <p:stCondLst>
                                            <p:cond delay="0"/>
                                          </p:stCondLst>
                                        </p:cTn>
                                        <p:tgtEl>
                                          <p:spTgt spid="58"/>
                                        </p:tgtEl>
                                        <p:attrNameLst>
                                          <p:attrName>style.visibility</p:attrName>
                                        </p:attrNameLst>
                                      </p:cBhvr>
                                      <p:to>
                                        <p:strVal val="visible"/>
                                      </p:to>
                                    </p:set>
                                    <p:animEffect transition="in" filter="fade">
                                      <p:cBhvr>
                                        <p:cTn id="31" dur="400"/>
                                        <p:tgtEl>
                                          <p:spTgt spid="58"/>
                                        </p:tgtEl>
                                      </p:cBhvr>
                                    </p:animEffect>
                                  </p:childTnLst>
                                </p:cTn>
                              </p:par>
                              <p:par>
                                <p:cTn id="32" presetID="10" presetClass="entr" presetSubtype="0" fill="hold" nodeType="withEffect">
                                  <p:stCondLst>
                                    <p:cond delay="330"/>
                                  </p:stCondLst>
                                  <p:childTnLst>
                                    <p:set>
                                      <p:cBhvr>
                                        <p:cTn id="33" dur="1" fill="hold">
                                          <p:stCondLst>
                                            <p:cond delay="0"/>
                                          </p:stCondLst>
                                        </p:cTn>
                                        <p:tgtEl>
                                          <p:spTgt spid="59"/>
                                        </p:tgtEl>
                                        <p:attrNameLst>
                                          <p:attrName>style.visibility</p:attrName>
                                        </p:attrNameLst>
                                      </p:cBhvr>
                                      <p:to>
                                        <p:strVal val="visible"/>
                                      </p:to>
                                    </p:set>
                                    <p:animEffect transition="in" filter="fade">
                                      <p:cBhvr>
                                        <p:cTn id="34" dur="400"/>
                                        <p:tgtEl>
                                          <p:spTgt spid="59"/>
                                        </p:tgtEl>
                                      </p:cBhvr>
                                    </p:animEffect>
                                  </p:childTnLst>
                                </p:cTn>
                              </p:par>
                              <p:par>
                                <p:cTn id="35" presetID="10" presetClass="entr" presetSubtype="0" fill="hold" nodeType="withEffect">
                                  <p:stCondLst>
                                    <p:cond delay="330"/>
                                  </p:stCondLst>
                                  <p:childTnLst>
                                    <p:set>
                                      <p:cBhvr>
                                        <p:cTn id="36" dur="1" fill="hold">
                                          <p:stCondLst>
                                            <p:cond delay="0"/>
                                          </p:stCondLst>
                                        </p:cTn>
                                        <p:tgtEl>
                                          <p:spTgt spid="60"/>
                                        </p:tgtEl>
                                        <p:attrNameLst>
                                          <p:attrName>style.visibility</p:attrName>
                                        </p:attrNameLst>
                                      </p:cBhvr>
                                      <p:to>
                                        <p:strVal val="visible"/>
                                      </p:to>
                                    </p:set>
                                    <p:animEffect transition="in" filter="fade">
                                      <p:cBhvr>
                                        <p:cTn id="37" dur="400"/>
                                        <p:tgtEl>
                                          <p:spTgt spid="60"/>
                                        </p:tgtEl>
                                      </p:cBhvr>
                                    </p:animEffect>
                                  </p:childTnLst>
                                </p:cTn>
                              </p:par>
                              <p:par>
                                <p:cTn id="38" presetID="10" presetClass="entr" presetSubtype="0" fill="hold" nodeType="withEffect">
                                  <p:stCondLst>
                                    <p:cond delay="33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33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33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510"/>
                                  </p:stCondLst>
                                  <p:childTnLst>
                                    <p:set>
                                      <p:cBhvr>
                                        <p:cTn id="48" dur="1" fill="hold">
                                          <p:stCondLst>
                                            <p:cond delay="0"/>
                                          </p:stCondLst>
                                        </p:cTn>
                                        <p:tgtEl>
                                          <p:spTgt spid="64"/>
                                        </p:tgtEl>
                                        <p:attrNameLst>
                                          <p:attrName>style.visibility</p:attrName>
                                        </p:attrNameLst>
                                      </p:cBhvr>
                                      <p:to>
                                        <p:strVal val="visible"/>
                                      </p:to>
                                    </p:set>
                                    <p:animEffect transition="in" filter="fade">
                                      <p:cBhvr>
                                        <p:cTn id="49" dur="400"/>
                                        <p:tgtEl>
                                          <p:spTgt spid="64"/>
                                        </p:tgtEl>
                                      </p:cBhvr>
                                    </p:animEffect>
                                  </p:childTnLst>
                                </p:cTn>
                              </p:par>
                              <p:par>
                                <p:cTn id="50" presetID="10" presetClass="entr" presetSubtype="0" fill="hold" nodeType="withEffect">
                                  <p:stCondLst>
                                    <p:cond delay="510"/>
                                  </p:stCondLst>
                                  <p:childTnLst>
                                    <p:set>
                                      <p:cBhvr>
                                        <p:cTn id="51" dur="1" fill="hold">
                                          <p:stCondLst>
                                            <p:cond delay="0"/>
                                          </p:stCondLst>
                                        </p:cTn>
                                        <p:tgtEl>
                                          <p:spTgt spid="65"/>
                                        </p:tgtEl>
                                        <p:attrNameLst>
                                          <p:attrName>style.visibility</p:attrName>
                                        </p:attrNameLst>
                                      </p:cBhvr>
                                      <p:to>
                                        <p:strVal val="visible"/>
                                      </p:to>
                                    </p:set>
                                    <p:animEffect transition="in" filter="fade">
                                      <p:cBhvr>
                                        <p:cTn id="52" dur="400"/>
                                        <p:tgtEl>
                                          <p:spTgt spid="65"/>
                                        </p:tgtEl>
                                      </p:cBhvr>
                                    </p:animEffect>
                                  </p:childTnLst>
                                </p:cTn>
                              </p:par>
                              <p:par>
                                <p:cTn id="53" presetID="10" presetClass="entr" presetSubtype="0" fill="hold" nodeType="withEffect">
                                  <p:stCondLst>
                                    <p:cond delay="510"/>
                                  </p:stCondLst>
                                  <p:childTnLst>
                                    <p:set>
                                      <p:cBhvr>
                                        <p:cTn id="54" dur="1" fill="hold">
                                          <p:stCondLst>
                                            <p:cond delay="0"/>
                                          </p:stCondLst>
                                        </p:cTn>
                                        <p:tgtEl>
                                          <p:spTgt spid="66"/>
                                        </p:tgtEl>
                                        <p:attrNameLst>
                                          <p:attrName>style.visibility</p:attrName>
                                        </p:attrNameLst>
                                      </p:cBhvr>
                                      <p:to>
                                        <p:strVal val="visible"/>
                                      </p:to>
                                    </p:set>
                                    <p:animEffect transition="in" filter="fade">
                                      <p:cBhvr>
                                        <p:cTn id="55" dur="400"/>
                                        <p:tgtEl>
                                          <p:spTgt spid="66"/>
                                        </p:tgtEl>
                                      </p:cBhvr>
                                    </p:animEffect>
                                  </p:childTnLst>
                                </p:cTn>
                              </p:par>
                              <p:par>
                                <p:cTn id="56" presetID="10" presetClass="entr" presetSubtype="0" fill="hold" nodeType="withEffect">
                                  <p:stCondLst>
                                    <p:cond delay="510"/>
                                  </p:stCondLst>
                                  <p:childTnLst>
                                    <p:set>
                                      <p:cBhvr>
                                        <p:cTn id="57" dur="1" fill="hold">
                                          <p:stCondLst>
                                            <p:cond delay="0"/>
                                          </p:stCondLst>
                                        </p:cTn>
                                        <p:tgtEl>
                                          <p:spTgt spid="67"/>
                                        </p:tgtEl>
                                        <p:attrNameLst>
                                          <p:attrName>style.visibility</p:attrName>
                                        </p:attrNameLst>
                                      </p:cBhvr>
                                      <p:to>
                                        <p:strVal val="visible"/>
                                      </p:to>
                                    </p:set>
                                    <p:animEffect transition="in" filter="fade">
                                      <p:cBhvr>
                                        <p:cTn id="58" dur="400"/>
                                        <p:tgtEl>
                                          <p:spTgt spid="67"/>
                                        </p:tgtEl>
                                      </p:cBhvr>
                                    </p:animEffect>
                                  </p:childTnLst>
                                </p:cTn>
                              </p:par>
                              <p:par>
                                <p:cTn id="59" presetID="10" presetClass="entr" presetSubtype="0" fill="hold" nodeType="withEffect">
                                  <p:stCondLst>
                                    <p:cond delay="510"/>
                                  </p:stCondLst>
                                  <p:childTnLst>
                                    <p:set>
                                      <p:cBhvr>
                                        <p:cTn id="60" dur="1" fill="hold">
                                          <p:stCondLst>
                                            <p:cond delay="0"/>
                                          </p:stCondLst>
                                        </p:cTn>
                                        <p:tgtEl>
                                          <p:spTgt spid="68"/>
                                        </p:tgtEl>
                                        <p:attrNameLst>
                                          <p:attrName>style.visibility</p:attrName>
                                        </p:attrNameLst>
                                      </p:cBhvr>
                                      <p:to>
                                        <p:strVal val="visible"/>
                                      </p:to>
                                    </p:set>
                                    <p:animEffect transition="in" filter="fade">
                                      <p:cBhvr>
                                        <p:cTn id="61" dur="400"/>
                                        <p:tgtEl>
                                          <p:spTgt spid="68"/>
                                        </p:tgtEl>
                                      </p:cBhvr>
                                    </p:animEffect>
                                  </p:childTnLst>
                                </p:cTn>
                              </p:par>
                              <p:par>
                                <p:cTn id="62" presetID="10" presetClass="entr" presetSubtype="0" fill="hold" nodeType="withEffect">
                                  <p:stCondLst>
                                    <p:cond delay="510"/>
                                  </p:stCondLst>
                                  <p:childTnLst>
                                    <p:set>
                                      <p:cBhvr>
                                        <p:cTn id="63" dur="1" fill="hold">
                                          <p:stCondLst>
                                            <p:cond delay="0"/>
                                          </p:stCondLst>
                                        </p:cTn>
                                        <p:tgtEl>
                                          <p:spTgt spid="69"/>
                                        </p:tgtEl>
                                        <p:attrNameLst>
                                          <p:attrName>style.visibility</p:attrName>
                                        </p:attrNameLst>
                                      </p:cBhvr>
                                      <p:to>
                                        <p:strVal val="visible"/>
                                      </p:to>
                                    </p:set>
                                    <p:animEffect transition="in" filter="fade">
                                      <p:cBhvr>
                                        <p:cTn id="64" dur="400"/>
                                        <p:tgtEl>
                                          <p:spTgt spid="69"/>
                                        </p:tgtEl>
                                      </p:cBhvr>
                                    </p:animEffect>
                                  </p:childTnLst>
                                </p:cTn>
                              </p:par>
                              <p:par>
                                <p:cTn id="65" presetID="10" presetClass="entr" presetSubtype="0" fill="hold" nodeType="withEffect">
                                  <p:stCondLst>
                                    <p:cond delay="690"/>
                                  </p:stCondLst>
                                  <p:childTnLst>
                                    <p:set>
                                      <p:cBhvr>
                                        <p:cTn id="66" dur="1" fill="hold">
                                          <p:stCondLst>
                                            <p:cond delay="0"/>
                                          </p:stCondLst>
                                        </p:cTn>
                                        <p:tgtEl>
                                          <p:spTgt spid="70"/>
                                        </p:tgtEl>
                                        <p:attrNameLst>
                                          <p:attrName>style.visibility</p:attrName>
                                        </p:attrNameLst>
                                      </p:cBhvr>
                                      <p:to>
                                        <p:strVal val="visible"/>
                                      </p:to>
                                    </p:set>
                                    <p:animEffect transition="in" filter="fade">
                                      <p:cBhvr>
                                        <p:cTn id="67" dur="400"/>
                                        <p:tgtEl>
                                          <p:spTgt spid="70"/>
                                        </p:tgtEl>
                                      </p:cBhvr>
                                    </p:animEffect>
                                  </p:childTnLst>
                                </p:cTn>
                              </p:par>
                              <p:par>
                                <p:cTn id="68" presetID="10" presetClass="entr" presetSubtype="0" fill="hold" nodeType="withEffect">
                                  <p:stCondLst>
                                    <p:cond delay="690"/>
                                  </p:stCondLst>
                                  <p:childTnLst>
                                    <p:set>
                                      <p:cBhvr>
                                        <p:cTn id="69" dur="1" fill="hold">
                                          <p:stCondLst>
                                            <p:cond delay="0"/>
                                          </p:stCondLst>
                                        </p:cTn>
                                        <p:tgtEl>
                                          <p:spTgt spid="71"/>
                                        </p:tgtEl>
                                        <p:attrNameLst>
                                          <p:attrName>style.visibility</p:attrName>
                                        </p:attrNameLst>
                                      </p:cBhvr>
                                      <p:to>
                                        <p:strVal val="visible"/>
                                      </p:to>
                                    </p:set>
                                    <p:animEffect transition="in" filter="fade">
                                      <p:cBhvr>
                                        <p:cTn id="70" dur="400"/>
                                        <p:tgtEl>
                                          <p:spTgt spid="71"/>
                                        </p:tgtEl>
                                      </p:cBhvr>
                                    </p:animEffect>
                                  </p:childTnLst>
                                </p:cTn>
                              </p:par>
                              <p:par>
                                <p:cTn id="71" presetID="10" presetClass="entr" presetSubtype="0" fill="hold" nodeType="withEffect">
                                  <p:stCondLst>
                                    <p:cond delay="690"/>
                                  </p:stCondLst>
                                  <p:childTnLst>
                                    <p:set>
                                      <p:cBhvr>
                                        <p:cTn id="72" dur="1" fill="hold">
                                          <p:stCondLst>
                                            <p:cond delay="0"/>
                                          </p:stCondLst>
                                        </p:cTn>
                                        <p:tgtEl>
                                          <p:spTgt spid="72"/>
                                        </p:tgtEl>
                                        <p:attrNameLst>
                                          <p:attrName>style.visibility</p:attrName>
                                        </p:attrNameLst>
                                      </p:cBhvr>
                                      <p:to>
                                        <p:strVal val="visible"/>
                                      </p:to>
                                    </p:set>
                                    <p:animEffect transition="in" filter="fade">
                                      <p:cBhvr>
                                        <p:cTn id="73" dur="400"/>
                                        <p:tgtEl>
                                          <p:spTgt spid="72"/>
                                        </p:tgtEl>
                                      </p:cBhvr>
                                    </p:animEffect>
                                  </p:childTnLst>
                                </p:cTn>
                              </p:par>
                              <p:par>
                                <p:cTn id="74" presetID="10" presetClass="entr" presetSubtype="0" fill="hold" nodeType="withEffect">
                                  <p:stCondLst>
                                    <p:cond delay="690"/>
                                  </p:stCondLst>
                                  <p:childTnLst>
                                    <p:set>
                                      <p:cBhvr>
                                        <p:cTn id="75" dur="1" fill="hold">
                                          <p:stCondLst>
                                            <p:cond delay="0"/>
                                          </p:stCondLst>
                                        </p:cTn>
                                        <p:tgtEl>
                                          <p:spTgt spid="73"/>
                                        </p:tgtEl>
                                        <p:attrNameLst>
                                          <p:attrName>style.visibility</p:attrName>
                                        </p:attrNameLst>
                                      </p:cBhvr>
                                      <p:to>
                                        <p:strVal val="visible"/>
                                      </p:to>
                                    </p:set>
                                    <p:animEffect transition="in" filter="fade">
                                      <p:cBhvr>
                                        <p:cTn id="76" dur="400"/>
                                        <p:tgtEl>
                                          <p:spTgt spid="73"/>
                                        </p:tgtEl>
                                      </p:cBhvr>
                                    </p:animEffect>
                                  </p:childTnLst>
                                </p:cTn>
                              </p:par>
                              <p:par>
                                <p:cTn id="77" presetID="10" presetClass="entr" presetSubtype="0" fill="hold" nodeType="withEffect">
                                  <p:stCondLst>
                                    <p:cond delay="690"/>
                                  </p:stCondLst>
                                  <p:childTnLst>
                                    <p:set>
                                      <p:cBhvr>
                                        <p:cTn id="78" dur="1" fill="hold">
                                          <p:stCondLst>
                                            <p:cond delay="0"/>
                                          </p:stCondLst>
                                        </p:cTn>
                                        <p:tgtEl>
                                          <p:spTgt spid="74"/>
                                        </p:tgtEl>
                                        <p:attrNameLst>
                                          <p:attrName>style.visibility</p:attrName>
                                        </p:attrNameLst>
                                      </p:cBhvr>
                                      <p:to>
                                        <p:strVal val="visible"/>
                                      </p:to>
                                    </p:set>
                                    <p:animEffect transition="in" filter="fade">
                                      <p:cBhvr>
                                        <p:cTn id="79" dur="400"/>
                                        <p:tgtEl>
                                          <p:spTgt spid="74"/>
                                        </p:tgtEl>
                                      </p:cBhvr>
                                    </p:animEffect>
                                  </p:childTnLst>
                                </p:cTn>
                              </p:par>
                              <p:par>
                                <p:cTn id="80" presetID="10" presetClass="entr" presetSubtype="0" fill="hold" nodeType="withEffect">
                                  <p:stCondLst>
                                    <p:cond delay="690"/>
                                  </p:stCondLst>
                                  <p:childTnLst>
                                    <p:set>
                                      <p:cBhvr>
                                        <p:cTn id="81" dur="1" fill="hold">
                                          <p:stCondLst>
                                            <p:cond delay="0"/>
                                          </p:stCondLst>
                                        </p:cTn>
                                        <p:tgtEl>
                                          <p:spTgt spid="75"/>
                                        </p:tgtEl>
                                        <p:attrNameLst>
                                          <p:attrName>style.visibility</p:attrName>
                                        </p:attrNameLst>
                                      </p:cBhvr>
                                      <p:to>
                                        <p:strVal val="visible"/>
                                      </p:to>
                                    </p:set>
                                    <p:animEffect transition="in" filter="fade">
                                      <p:cBhvr>
                                        <p:cTn id="82" dur="400"/>
                                        <p:tgtEl>
                                          <p:spTgt spid="75"/>
                                        </p:tgtEl>
                                      </p:cBhvr>
                                    </p:animEffect>
                                  </p:childTnLst>
                                </p:cTn>
                              </p:par>
                              <p:par>
                                <p:cTn id="83" presetID="10" presetClass="entr" presetSubtype="0" fill="hold" nodeType="withEffect">
                                  <p:stCondLst>
                                    <p:cond delay="870"/>
                                  </p:stCondLst>
                                  <p:childTnLst>
                                    <p:set>
                                      <p:cBhvr>
                                        <p:cTn id="84" dur="1" fill="hold">
                                          <p:stCondLst>
                                            <p:cond delay="0"/>
                                          </p:stCondLst>
                                        </p:cTn>
                                        <p:tgtEl>
                                          <p:spTgt spid="76"/>
                                        </p:tgtEl>
                                        <p:attrNameLst>
                                          <p:attrName>style.visibility</p:attrName>
                                        </p:attrNameLst>
                                      </p:cBhvr>
                                      <p:to>
                                        <p:strVal val="visible"/>
                                      </p:to>
                                    </p:set>
                                    <p:animEffect transition="in" filter="fade">
                                      <p:cBhvr>
                                        <p:cTn id="85" dur="400"/>
                                        <p:tgtEl>
                                          <p:spTgt spid="76"/>
                                        </p:tgtEl>
                                      </p:cBhvr>
                                    </p:animEffect>
                                  </p:childTnLst>
                                </p:cTn>
                              </p:par>
                              <p:par>
                                <p:cTn id="86" presetID="10" presetClass="entr" presetSubtype="0" fill="hold" nodeType="withEffect">
                                  <p:stCondLst>
                                    <p:cond delay="870"/>
                                  </p:stCondLst>
                                  <p:childTnLst>
                                    <p:set>
                                      <p:cBhvr>
                                        <p:cTn id="87" dur="1" fill="hold">
                                          <p:stCondLst>
                                            <p:cond delay="0"/>
                                          </p:stCondLst>
                                        </p:cTn>
                                        <p:tgtEl>
                                          <p:spTgt spid="77"/>
                                        </p:tgtEl>
                                        <p:attrNameLst>
                                          <p:attrName>style.visibility</p:attrName>
                                        </p:attrNameLst>
                                      </p:cBhvr>
                                      <p:to>
                                        <p:strVal val="visible"/>
                                      </p:to>
                                    </p:set>
                                    <p:animEffect transition="in" filter="fade">
                                      <p:cBhvr>
                                        <p:cTn id="88" dur="400"/>
                                        <p:tgtEl>
                                          <p:spTgt spid="77"/>
                                        </p:tgtEl>
                                      </p:cBhvr>
                                    </p:animEffect>
                                  </p:childTnLst>
                                </p:cTn>
                              </p:par>
                              <p:par>
                                <p:cTn id="89" presetID="10" presetClass="entr" presetSubtype="0" fill="hold" nodeType="withEffect">
                                  <p:stCondLst>
                                    <p:cond delay="870"/>
                                  </p:stCondLst>
                                  <p:childTnLst>
                                    <p:set>
                                      <p:cBhvr>
                                        <p:cTn id="90" dur="1" fill="hold">
                                          <p:stCondLst>
                                            <p:cond delay="0"/>
                                          </p:stCondLst>
                                        </p:cTn>
                                        <p:tgtEl>
                                          <p:spTgt spid="78"/>
                                        </p:tgtEl>
                                        <p:attrNameLst>
                                          <p:attrName>style.visibility</p:attrName>
                                        </p:attrNameLst>
                                      </p:cBhvr>
                                      <p:to>
                                        <p:strVal val="visible"/>
                                      </p:to>
                                    </p:set>
                                    <p:animEffect transition="in" filter="fade">
                                      <p:cBhvr>
                                        <p:cTn id="91" dur="400"/>
                                        <p:tgtEl>
                                          <p:spTgt spid="78"/>
                                        </p:tgtEl>
                                      </p:cBhvr>
                                    </p:animEffect>
                                  </p:childTnLst>
                                </p:cTn>
                              </p:par>
                              <p:par>
                                <p:cTn id="92" presetID="10" presetClass="entr" presetSubtype="0" fill="hold" nodeType="withEffect">
                                  <p:stCondLst>
                                    <p:cond delay="870"/>
                                  </p:stCondLst>
                                  <p:childTnLst>
                                    <p:set>
                                      <p:cBhvr>
                                        <p:cTn id="93" dur="1" fill="hold">
                                          <p:stCondLst>
                                            <p:cond delay="0"/>
                                          </p:stCondLst>
                                        </p:cTn>
                                        <p:tgtEl>
                                          <p:spTgt spid="79"/>
                                        </p:tgtEl>
                                        <p:attrNameLst>
                                          <p:attrName>style.visibility</p:attrName>
                                        </p:attrNameLst>
                                      </p:cBhvr>
                                      <p:to>
                                        <p:strVal val="visible"/>
                                      </p:to>
                                    </p:set>
                                    <p:animEffect transition="in" filter="fade">
                                      <p:cBhvr>
                                        <p:cTn id="94" dur="400"/>
                                        <p:tgtEl>
                                          <p:spTgt spid="79"/>
                                        </p:tgtEl>
                                      </p:cBhvr>
                                    </p:animEffect>
                                  </p:childTnLst>
                                </p:cTn>
                              </p:par>
                              <p:par>
                                <p:cTn id="95" presetID="10" presetClass="entr" presetSubtype="0" fill="hold" nodeType="withEffect">
                                  <p:stCondLst>
                                    <p:cond delay="870"/>
                                  </p:stCondLst>
                                  <p:childTnLst>
                                    <p:set>
                                      <p:cBhvr>
                                        <p:cTn id="96" dur="1" fill="hold">
                                          <p:stCondLst>
                                            <p:cond delay="0"/>
                                          </p:stCondLst>
                                        </p:cTn>
                                        <p:tgtEl>
                                          <p:spTgt spid="80"/>
                                        </p:tgtEl>
                                        <p:attrNameLst>
                                          <p:attrName>style.visibility</p:attrName>
                                        </p:attrNameLst>
                                      </p:cBhvr>
                                      <p:to>
                                        <p:strVal val="visible"/>
                                      </p:to>
                                    </p:set>
                                    <p:animEffect transition="in" filter="fade">
                                      <p:cBhvr>
                                        <p:cTn id="97" dur="400"/>
                                        <p:tgtEl>
                                          <p:spTgt spid="80"/>
                                        </p:tgtEl>
                                      </p:cBhvr>
                                    </p:animEffect>
                                  </p:childTnLst>
                                </p:cTn>
                              </p:par>
                              <p:par>
                                <p:cTn id="98" presetID="10" presetClass="entr" presetSubtype="0" fill="hold" nodeType="withEffect">
                                  <p:stCondLst>
                                    <p:cond delay="870"/>
                                  </p:stCondLst>
                                  <p:childTnLst>
                                    <p:set>
                                      <p:cBhvr>
                                        <p:cTn id="99" dur="1" fill="hold">
                                          <p:stCondLst>
                                            <p:cond delay="0"/>
                                          </p:stCondLst>
                                        </p:cTn>
                                        <p:tgtEl>
                                          <p:spTgt spid="81"/>
                                        </p:tgtEl>
                                        <p:attrNameLst>
                                          <p:attrName>style.visibility</p:attrName>
                                        </p:attrNameLst>
                                      </p:cBhvr>
                                      <p:to>
                                        <p:strVal val="visible"/>
                                      </p:to>
                                    </p:set>
                                    <p:animEffect transition="in" filter="fade">
                                      <p:cBhvr>
                                        <p:cTn id="100" dur="400"/>
                                        <p:tgtEl>
                                          <p:spTgt spid="81"/>
                                        </p:tgtEl>
                                      </p:cBhvr>
                                    </p:animEffect>
                                  </p:childTnLst>
                                </p:cTn>
                              </p:par>
                              <p:par>
                                <p:cTn id="101" presetID="10" presetClass="entr" presetSubtype="0" fill="hold" nodeType="withEffect">
                                  <p:stCondLst>
                                    <p:cond delay="1050"/>
                                  </p:stCondLst>
                                  <p:childTnLst>
                                    <p:set>
                                      <p:cBhvr>
                                        <p:cTn id="102" dur="1" fill="hold">
                                          <p:stCondLst>
                                            <p:cond delay="0"/>
                                          </p:stCondLst>
                                        </p:cTn>
                                        <p:tgtEl>
                                          <p:spTgt spid="82"/>
                                        </p:tgtEl>
                                        <p:attrNameLst>
                                          <p:attrName>style.visibility</p:attrName>
                                        </p:attrNameLst>
                                      </p:cBhvr>
                                      <p:to>
                                        <p:strVal val="visible"/>
                                      </p:to>
                                    </p:set>
                                    <p:animEffect transition="in" filter="fade">
                                      <p:cBhvr>
                                        <p:cTn id="103" dur="400"/>
                                        <p:tgtEl>
                                          <p:spTgt spid="82"/>
                                        </p:tgtEl>
                                      </p:cBhvr>
                                    </p:animEffect>
                                  </p:childTnLst>
                                </p:cTn>
                              </p:par>
                              <p:par>
                                <p:cTn id="104" presetID="10" presetClass="entr" presetSubtype="0" fill="hold" nodeType="withEffect">
                                  <p:stCondLst>
                                    <p:cond delay="1050"/>
                                  </p:stCondLst>
                                  <p:childTnLst>
                                    <p:set>
                                      <p:cBhvr>
                                        <p:cTn id="105" dur="1" fill="hold">
                                          <p:stCondLst>
                                            <p:cond delay="0"/>
                                          </p:stCondLst>
                                        </p:cTn>
                                        <p:tgtEl>
                                          <p:spTgt spid="83"/>
                                        </p:tgtEl>
                                        <p:attrNameLst>
                                          <p:attrName>style.visibility</p:attrName>
                                        </p:attrNameLst>
                                      </p:cBhvr>
                                      <p:to>
                                        <p:strVal val="visible"/>
                                      </p:to>
                                    </p:set>
                                    <p:animEffect transition="in" filter="fade">
                                      <p:cBhvr>
                                        <p:cTn id="106" dur="400"/>
                                        <p:tgtEl>
                                          <p:spTgt spid="83"/>
                                        </p:tgtEl>
                                      </p:cBhvr>
                                    </p:animEffect>
                                  </p:childTnLst>
                                </p:cTn>
                              </p:par>
                              <p:par>
                                <p:cTn id="107" presetID="10" presetClass="entr" presetSubtype="0" fill="hold" nodeType="withEffect">
                                  <p:stCondLst>
                                    <p:cond delay="1050"/>
                                  </p:stCondLst>
                                  <p:childTnLst>
                                    <p:set>
                                      <p:cBhvr>
                                        <p:cTn id="108" dur="1" fill="hold">
                                          <p:stCondLst>
                                            <p:cond delay="0"/>
                                          </p:stCondLst>
                                        </p:cTn>
                                        <p:tgtEl>
                                          <p:spTgt spid="84"/>
                                        </p:tgtEl>
                                        <p:attrNameLst>
                                          <p:attrName>style.visibility</p:attrName>
                                        </p:attrNameLst>
                                      </p:cBhvr>
                                      <p:to>
                                        <p:strVal val="visible"/>
                                      </p:to>
                                    </p:set>
                                    <p:animEffect transition="in" filter="fade">
                                      <p:cBhvr>
                                        <p:cTn id="109" dur="400"/>
                                        <p:tgtEl>
                                          <p:spTgt spid="84"/>
                                        </p:tgtEl>
                                      </p:cBhvr>
                                    </p:animEffect>
                                  </p:childTnLst>
                                </p:cTn>
                              </p:par>
                              <p:par>
                                <p:cTn id="110" presetID="10" presetClass="entr" presetSubtype="0" fill="hold" nodeType="withEffect">
                                  <p:stCondLst>
                                    <p:cond delay="1050"/>
                                  </p:stCondLst>
                                  <p:childTnLst>
                                    <p:set>
                                      <p:cBhvr>
                                        <p:cTn id="111" dur="1" fill="hold">
                                          <p:stCondLst>
                                            <p:cond delay="0"/>
                                          </p:stCondLst>
                                        </p:cTn>
                                        <p:tgtEl>
                                          <p:spTgt spid="85"/>
                                        </p:tgtEl>
                                        <p:attrNameLst>
                                          <p:attrName>style.visibility</p:attrName>
                                        </p:attrNameLst>
                                      </p:cBhvr>
                                      <p:to>
                                        <p:strVal val="visible"/>
                                      </p:to>
                                    </p:set>
                                    <p:animEffect transition="in" filter="fade">
                                      <p:cBhvr>
                                        <p:cTn id="112" dur="400"/>
                                        <p:tgtEl>
                                          <p:spTgt spid="85"/>
                                        </p:tgtEl>
                                      </p:cBhvr>
                                    </p:animEffect>
                                  </p:childTnLst>
                                </p:cTn>
                              </p:par>
                              <p:par>
                                <p:cTn id="113" presetID="10" presetClass="entr" presetSubtype="0" fill="hold" nodeType="withEffect">
                                  <p:stCondLst>
                                    <p:cond delay="1050"/>
                                  </p:stCondLst>
                                  <p:childTnLst>
                                    <p:set>
                                      <p:cBhvr>
                                        <p:cTn id="114" dur="1" fill="hold">
                                          <p:stCondLst>
                                            <p:cond delay="0"/>
                                          </p:stCondLst>
                                        </p:cTn>
                                        <p:tgtEl>
                                          <p:spTgt spid="86"/>
                                        </p:tgtEl>
                                        <p:attrNameLst>
                                          <p:attrName>style.visibility</p:attrName>
                                        </p:attrNameLst>
                                      </p:cBhvr>
                                      <p:to>
                                        <p:strVal val="visible"/>
                                      </p:to>
                                    </p:set>
                                    <p:animEffect transition="in" filter="fade">
                                      <p:cBhvr>
                                        <p:cTn id="115" dur="400"/>
                                        <p:tgtEl>
                                          <p:spTgt spid="86"/>
                                        </p:tgtEl>
                                      </p:cBhvr>
                                    </p:animEffect>
                                  </p:childTnLst>
                                </p:cTn>
                              </p:par>
                              <p:par>
                                <p:cTn id="116" presetID="10" presetClass="entr" presetSubtype="0" fill="hold" nodeType="withEffect">
                                  <p:stCondLst>
                                    <p:cond delay="1050"/>
                                  </p:stCondLst>
                                  <p:childTnLst>
                                    <p:set>
                                      <p:cBhvr>
                                        <p:cTn id="117" dur="1" fill="hold">
                                          <p:stCondLst>
                                            <p:cond delay="0"/>
                                          </p:stCondLst>
                                        </p:cTn>
                                        <p:tgtEl>
                                          <p:spTgt spid="87"/>
                                        </p:tgtEl>
                                        <p:attrNameLst>
                                          <p:attrName>style.visibility</p:attrName>
                                        </p:attrNameLst>
                                      </p:cBhvr>
                                      <p:to>
                                        <p:strVal val="visible"/>
                                      </p:to>
                                    </p:set>
                                    <p:animEffect transition="in" filter="fade">
                                      <p:cBhvr>
                                        <p:cTn id="118" dur="400"/>
                                        <p:tgtEl>
                                          <p:spTgt spid="87"/>
                                        </p:tgtEl>
                                      </p:cBhvr>
                                    </p:animEffect>
                                  </p:childTnLst>
                                </p:cTn>
                              </p:par>
                              <p:par>
                                <p:cTn id="119" presetID="10" presetClass="entr" presetSubtype="0" fill="hold" nodeType="withEffect">
                                  <p:stCondLst>
                                    <p:cond delay="1400"/>
                                  </p:stCondLst>
                                  <p:childTnLst>
                                    <p:set>
                                      <p:cBhvr>
                                        <p:cTn id="120" dur="1" fill="hold">
                                          <p:stCondLst>
                                            <p:cond delay="0"/>
                                          </p:stCondLst>
                                        </p:cTn>
                                        <p:tgtEl>
                                          <p:spTgt spid="88"/>
                                        </p:tgtEl>
                                        <p:attrNameLst>
                                          <p:attrName>style.visibility</p:attrName>
                                        </p:attrNameLst>
                                      </p:cBhvr>
                                      <p:to>
                                        <p:strVal val="visible"/>
                                      </p:to>
                                    </p:set>
                                    <p:animEffect transition="in" filter="fade">
                                      <p:cBhvr>
                                        <p:cTn id="121" dur="400"/>
                                        <p:tgtEl>
                                          <p:spTgt spid="88"/>
                                        </p:tgtEl>
                                      </p:cBhvr>
                                    </p:animEffect>
                                  </p:childTnLst>
                                </p:cTn>
                              </p:par>
                              <p:par>
                                <p:cTn id="122" presetID="10" presetClass="entr" presetSubtype="0" fill="hold" nodeType="withEffect">
                                  <p:stCondLst>
                                    <p:cond delay="1400"/>
                                  </p:stCondLst>
                                  <p:childTnLst>
                                    <p:set>
                                      <p:cBhvr>
                                        <p:cTn id="123" dur="1" fill="hold">
                                          <p:stCondLst>
                                            <p:cond delay="0"/>
                                          </p:stCondLst>
                                        </p:cTn>
                                        <p:tgtEl>
                                          <p:spTgt spid="89"/>
                                        </p:tgtEl>
                                        <p:attrNameLst>
                                          <p:attrName>style.visibility</p:attrName>
                                        </p:attrNameLst>
                                      </p:cBhvr>
                                      <p:to>
                                        <p:strVal val="visible"/>
                                      </p:to>
                                    </p:set>
                                    <p:animEffect transition="in" filter="fade">
                                      <p:cBhvr>
                                        <p:cTn id="124" dur="400"/>
                                        <p:tgtEl>
                                          <p:spTgt spid="89"/>
                                        </p:tgtEl>
                                      </p:cBhvr>
                                    </p:animEffect>
                                  </p:childTnLst>
                                </p:cTn>
                              </p:par>
                              <p:par>
                                <p:cTn id="125" presetID="10" presetClass="entr" presetSubtype="0" fill="hold" nodeType="withEffect">
                                  <p:stCondLst>
                                    <p:cond delay="1400"/>
                                  </p:stCondLst>
                                  <p:childTnLst>
                                    <p:set>
                                      <p:cBhvr>
                                        <p:cTn id="126" dur="1" fill="hold">
                                          <p:stCondLst>
                                            <p:cond delay="0"/>
                                          </p:stCondLst>
                                        </p:cTn>
                                        <p:tgtEl>
                                          <p:spTgt spid="90"/>
                                        </p:tgtEl>
                                        <p:attrNameLst>
                                          <p:attrName>style.visibility</p:attrName>
                                        </p:attrNameLst>
                                      </p:cBhvr>
                                      <p:to>
                                        <p:strVal val="visible"/>
                                      </p:to>
                                    </p:set>
                                    <p:animEffect transition="in" filter="fade">
                                      <p:cBhvr>
                                        <p:cTn id="127" dur="400"/>
                                        <p:tgtEl>
                                          <p:spTgt spid="90"/>
                                        </p:tgtEl>
                                      </p:cBhvr>
                                    </p:animEffect>
                                  </p:childTnLst>
                                </p:cTn>
                              </p:par>
                              <p:par>
                                <p:cTn id="128" presetID="10" presetClass="entr" presetSubtype="0" fill="hold" nodeType="withEffect">
                                  <p:stCondLst>
                                    <p:cond delay="1400"/>
                                  </p:stCondLst>
                                  <p:childTnLst>
                                    <p:set>
                                      <p:cBhvr>
                                        <p:cTn id="129" dur="1" fill="hold">
                                          <p:stCondLst>
                                            <p:cond delay="0"/>
                                          </p:stCondLst>
                                        </p:cTn>
                                        <p:tgtEl>
                                          <p:spTgt spid="91"/>
                                        </p:tgtEl>
                                        <p:attrNameLst>
                                          <p:attrName>style.visibility</p:attrName>
                                        </p:attrNameLst>
                                      </p:cBhvr>
                                      <p:to>
                                        <p:strVal val="visible"/>
                                      </p:to>
                                    </p:set>
                                    <p:animEffect transition="in" filter="fade">
                                      <p:cBhvr>
                                        <p:cTn id="130" dur="400"/>
                                        <p:tgtEl>
                                          <p:spTgt spid="91"/>
                                        </p:tgtEl>
                                      </p:cBhvr>
                                    </p:animEffect>
                                  </p:childTnLst>
                                </p:cTn>
                              </p:par>
                              <p:par>
                                <p:cTn id="131" presetID="10" presetClass="entr" presetSubtype="0" fill="hold" nodeType="withEffect">
                                  <p:stCondLst>
                                    <p:cond delay="1400"/>
                                  </p:stCondLst>
                                  <p:childTnLst>
                                    <p:set>
                                      <p:cBhvr>
                                        <p:cTn id="132" dur="1" fill="hold">
                                          <p:stCondLst>
                                            <p:cond delay="0"/>
                                          </p:stCondLst>
                                        </p:cTn>
                                        <p:tgtEl>
                                          <p:spTgt spid="92"/>
                                        </p:tgtEl>
                                        <p:attrNameLst>
                                          <p:attrName>style.visibility</p:attrName>
                                        </p:attrNameLst>
                                      </p:cBhvr>
                                      <p:to>
                                        <p:strVal val="visible"/>
                                      </p:to>
                                    </p:set>
                                    <p:animEffect transition="in" filter="fade">
                                      <p:cBhvr>
                                        <p:cTn id="133"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cherry"/>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1"/>
          <p:cNvPicPr>
            <a:picLocks noChangeAspect="1"/>
          </p:cNvPicPr>
          <p:nvPr/>
        </p:nvPicPr>
        <p:blipFill>
          <a:blip r:embed="rId4"/>
          <a:stretch>
            <a:fillRect/>
          </a:stretch>
        </p:blipFill>
        <p:spPr>
          <a:xfrm>
            <a:off x="5262601" y="1828800"/>
            <a:ext cx="1666494" cy="237744"/>
          </a:xfrm>
          <a:prstGeom prst="rect">
            <a:avLst/>
          </a:prstGeom>
        </p:spPr>
      </p:pic>
      <p:pic>
        <p:nvPicPr>
          <p:cNvPr id="14" name="o13" descr="MISSION"/>
          <p:cNvPicPr>
            <a:picLocks noChangeAspect="1"/>
          </p:cNvPicPr>
          <p:nvPr/>
        </p:nvPicPr>
        <p:blipFill>
          <a:blip r:embed="rId5"/>
          <a:stretch>
            <a:fillRect/>
          </a:stretch>
        </p:blipFill>
        <p:spPr>
          <a:xfrm>
            <a:off x="4303624" y="2331720"/>
            <a:ext cx="3584448"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Le contexte et la question de départ</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82" name="o81"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83" name="barre_fantome" descr="image.gif"/>
          <p:cNvPicPr>
            <a:picLocks noChangeAspect="1"/>
          </p:cNvPicPr>
          <p:nvPr/>
        </p:nvPicPr>
        <p:blipFill>
          <a:blip r:embed="rId7"/>
          <a:stretch>
            <a:fillRect/>
          </a:stretch>
        </p:blipFill>
        <p:spPr>
          <a:xfrm>
            <a:off x="652683" y="6291072"/>
            <a:ext cx="310896" cy="310896"/>
          </a:xfrm>
          <a:prstGeom prst="rect">
            <a:avLst/>
          </a:prstGeom>
        </p:spPr>
      </p:pic>
      <p:pic>
        <p:nvPicPr>
          <p:cNvPr id="84" name="barre_pacman" descr="image.gif"/>
          <p:cNvPicPr>
            <a:picLocks noChangeAspect="1"/>
          </p:cNvPicPr>
          <p:nvPr/>
        </p:nvPicPr>
        <p:blipFill>
          <a:blip r:embed="rId6"/>
          <a:stretch>
            <a:fillRect/>
          </a:stretch>
        </p:blipFill>
        <p:spPr>
          <a:xfrm>
            <a:off x="1219611" y="6291072"/>
            <a:ext cx="310896" cy="310896"/>
          </a:xfrm>
          <a:prstGeom prst="rect">
            <a:avLst/>
          </a:prstGeom>
        </p:spPr>
      </p:pic>
      <p:sp>
        <p:nvSpPr>
          <p:cNvPr id="85" name="barre_pastille"/>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8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84"/>
                                        </p:tgtEl>
                                        <p:attrNameLst>
                                          <p:attrName>ppt_x</p:attrName>
                                          <p:attrName>ppt_y</p:attrName>
                                        </p:attrNameLst>
                                      </p:cBhvr>
                                    </p:animMotion>
                                  </p:childTnLst>
                                </p:cTn>
                              </p:par>
                              <p:par>
                                <p:cTn id="9" presetID="1" presetClass="exit" presetSubtype="0" fill="hold" nodeType="withEffect">
                                  <p:stCondLst>
                                    <p:cond delay="358"/>
                                  </p:stCondLst>
                                  <p:childTnLst>
                                    <p:set>
                                      <p:cBhvr>
                                        <p:cTn id="10" dur="1" fill="hold">
                                          <p:stCondLst>
                                            <p:cond delay="0"/>
                                          </p:stCondLst>
                                        </p:cTn>
                                        <p:tgtEl>
                                          <p:spTgt spid="85"/>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Le contexte"/>
          <p:cNvPicPr>
            <a:picLocks noChangeAspect="1"/>
          </p:cNvPicPr>
          <p:nvPr/>
        </p:nvPicPr>
        <p:blipFill>
          <a:blip r:embed="rId4"/>
          <a:stretch>
            <a:fillRect/>
          </a:stretch>
        </p:blipFill>
        <p:spPr>
          <a:xfrm>
            <a:off x="548640" y="777240"/>
            <a:ext cx="3017520" cy="274320"/>
          </a:xfrm>
          <a:prstGeom prst="rect">
            <a:avLst/>
          </a:prstGeom>
        </p:spPr>
      </p:pic>
      <p:pic>
        <p:nvPicPr>
          <p:cNvPr id="4" name="o3" descr="cherry"/>
          <p:cNvPicPr>
            <a:picLocks noChangeAspect="1"/>
          </p:cNvPicPr>
          <p:nvPr/>
        </p:nvPicPr>
        <p:blipFill>
          <a:blip r:embed="rId5"/>
          <a:stretch>
            <a:fillRect/>
          </a:stretch>
        </p:blipFill>
        <p:spPr>
          <a:xfrm>
            <a:off x="11073384" y="365760"/>
            <a:ext cx="566928" cy="566928"/>
          </a:xfrm>
          <a:prstGeom prst="rect">
            <a:avLst/>
          </a:prstGeom>
        </p:spPr>
      </p:pic>
      <p:pic>
        <p:nvPicPr>
          <p:cNvPr id="44" name="o43"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47" name="o46"/>
          <p:cNvSpPr/>
          <p:nvPr/>
        </p:nvSpPr>
        <p:spPr>
          <a:xfrm>
            <a:off x="548640" y="1691640"/>
            <a:ext cx="3566160" cy="502920"/>
          </a:xfrm>
          <a:prstGeom prst="roundRect">
            <a:avLst>
              <a:gd name="adj" fmla="val 14545"/>
            </a:avLst>
          </a:prstGeom>
          <a:solidFill>
            <a:srgbClr val="000000"/>
          </a:solidFill>
          <a:ln w="28575">
            <a:solidFill>
              <a:srgbClr val="FFB8FF"/>
            </a:solidFill>
            <a:prstDash val="solid"/>
          </a:ln>
        </p:spPr>
      </p:sp>
      <p:sp>
        <p:nvSpPr>
          <p:cNvPr id="48" name="o47"/>
          <p:cNvSpPr/>
          <p:nvPr/>
        </p:nvSpPr>
        <p:spPr>
          <a:xfrm>
            <a:off x="617220" y="1760220"/>
            <a:ext cx="3429000" cy="365760"/>
          </a:xfrm>
          <a:prstGeom prst="roundRect">
            <a:avLst>
              <a:gd name="adj" fmla="val 5000"/>
            </a:avLst>
          </a:prstGeom>
          <a:ln w="12700">
            <a:solidFill>
              <a:srgbClr val="FFB8FF"/>
            </a:solidFill>
            <a:prstDash val="solid"/>
          </a:ln>
        </p:spPr>
      </p:sp>
      <p:pic>
        <p:nvPicPr>
          <p:cNvPr id="49" name="o48" descr="ROLE : DATA ANALYST"/>
          <p:cNvPicPr>
            <a:picLocks noChangeAspect="1"/>
          </p:cNvPicPr>
          <p:nvPr/>
        </p:nvPicPr>
        <p:blipFill>
          <a:blip r:embed="rId9"/>
          <a:stretch>
            <a:fillRect/>
          </a:stretch>
        </p:blipFill>
        <p:spPr>
          <a:xfrm>
            <a:off x="941832" y="1856232"/>
            <a:ext cx="2779776" cy="146304"/>
          </a:xfrm>
          <a:prstGeom prst="rect">
            <a:avLst/>
          </a:prstGeom>
        </p:spPr>
      </p:pic>
      <p:sp>
        <p:nvSpPr>
          <p:cNvPr id="50" name="o49"/>
          <p:cNvSpPr txBox="1"/>
          <p:nvPr/>
        </p:nvSpPr>
        <p:spPr>
          <a:xfrm>
            <a:off x="548640" y="2423160"/>
            <a:ext cx="5394960" cy="146304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Qu'est-ce qui fait </a:t>
            </a:r>
            <a:r>
              <a:rPr lang="en-US" sz="3400" b="1" dirty="0">
                <a:solidFill>
                  <a:srgbClr val="FFE600"/>
                </a:solidFill>
                <a:latin typeface="Arial" pitchFamily="34" charset="0"/>
                <a:ea typeface="Arial" pitchFamily="34" charset="-122"/>
                <a:cs typeface="Arial" pitchFamily="34" charset="-120"/>
              </a:rPr>
              <a:t>vendre</a:t>
            </a:r>
            <a:r>
              <a:rPr lang="en-US" sz="3400" b="1" dirty="0">
                <a:solidFill>
                  <a:srgbClr val="FFFFFF"/>
                </a:solidFill>
                <a:latin typeface="Arial" pitchFamily="34" charset="0"/>
                <a:ea typeface="Arial" pitchFamily="34" charset="-122"/>
                <a:cs typeface="Arial" pitchFamily="34" charset="-120"/>
              </a:rPr>
              <a:t> un jeu vidéo ?</a:t>
            </a:r>
            <a:endParaRPr lang="en-US" sz="3400" dirty="0"/>
          </a:p>
        </p:txBody>
      </p:sp>
      <p:sp>
        <p:nvSpPr>
          <p:cNvPr id="51" name="o50"/>
          <p:cNvSpPr txBox="1"/>
          <p:nvPr/>
        </p:nvSpPr>
        <p:spPr>
          <a:xfrm>
            <a:off x="548640" y="4023360"/>
            <a:ext cx="5120640" cy="822960"/>
          </a:xfrm>
          <a:prstGeom prst="rect">
            <a:avLst/>
          </a:prstGeom>
          <a:noFill/>
          <a:ln/>
        </p:spPr>
        <p:txBody>
          <a:bodyPr wrap="square" lIns="0" tIns="0" rIns="0" bIns="0" rtlCol="0" anchor="t"/>
          <a:lstStyle/>
          <a:p>
            <a:pPr marL="0" indent="0">
              <a:buNone/>
            </a:pPr>
            <a:r>
              <a:rPr lang="en-US" sz="1700" dirty="0">
                <a:solidFill>
                  <a:srgbClr val="C4C4E4"/>
                </a:solidFill>
                <a:latin typeface="Arial" pitchFamily="34" charset="0"/>
                <a:ea typeface="Arial" pitchFamily="34" charset="-122"/>
                <a:cs typeface="Arial" pitchFamily="34" charset="-120"/>
              </a:rPr>
              <a:t>Nettoyer les ventes mondiales de jeux, explorer les tendances et en tirer des insights métier.</a:t>
            </a:r>
            <a:endParaRPr lang="en-US" sz="1700" dirty="0"/>
          </a:p>
        </p:txBody>
      </p:sp>
      <p:sp>
        <p:nvSpPr>
          <p:cNvPr id="52" name="o51"/>
          <p:cNvSpPr txBox="1"/>
          <p:nvPr/>
        </p:nvSpPr>
        <p:spPr>
          <a:xfrm>
            <a:off x="548640" y="5074920"/>
            <a:ext cx="5120640" cy="548640"/>
          </a:xfrm>
          <a:prstGeom prst="rect">
            <a:avLst/>
          </a:prstGeom>
          <a:noFill/>
          <a:ln/>
        </p:spPr>
        <p:txBody>
          <a:bodyPr wrap="square" lIns="0" tIns="0" rIns="0" bIns="0" rtlCol="0" anchor="t"/>
          <a:lstStyle/>
          <a:p>
            <a:pPr marL="0" indent="0">
              <a:buNone/>
            </a:pPr>
            <a:r>
              <a:rPr lang="en-US" sz="1200" dirty="0">
                <a:solidFill>
                  <a:srgbClr val="7C7CAA"/>
                </a:solidFill>
                <a:latin typeface="Arial" pitchFamily="34" charset="0"/>
                <a:ea typeface="Arial" pitchFamily="34" charset="-122"/>
                <a:cs typeface="Arial" pitchFamily="34" charset="-120"/>
              </a:rPr>
              <a:t>Source : VGChartz · ventes en millions d'exemplaires · Amérique du Nord, Europe, Japon, reste du monde</a:t>
            </a:r>
            <a:endParaRPr lang="en-US" sz="1200" dirty="0"/>
          </a:p>
        </p:txBody>
      </p:sp>
      <p:sp>
        <p:nvSpPr>
          <p:cNvPr id="53" name="o52"/>
          <p:cNvSpPr/>
          <p:nvPr/>
        </p:nvSpPr>
        <p:spPr>
          <a:xfrm>
            <a:off x="6446520" y="1691640"/>
            <a:ext cx="2496312" cy="1874520"/>
          </a:xfrm>
          <a:prstGeom prst="roundRect">
            <a:avLst>
              <a:gd name="adj" fmla="val 6829"/>
            </a:avLst>
          </a:prstGeom>
          <a:solidFill>
            <a:srgbClr val="000000"/>
          </a:solidFill>
          <a:ln w="28575">
            <a:solidFill>
              <a:srgbClr val="2121DE"/>
            </a:solidFill>
            <a:prstDash val="solid"/>
          </a:ln>
        </p:spPr>
      </p:sp>
      <p:sp>
        <p:nvSpPr>
          <p:cNvPr id="54" name="o53"/>
          <p:cNvSpPr/>
          <p:nvPr/>
        </p:nvSpPr>
        <p:spPr>
          <a:xfrm>
            <a:off x="6515100" y="1760220"/>
            <a:ext cx="2359152" cy="1737360"/>
          </a:xfrm>
          <a:prstGeom prst="roundRect">
            <a:avLst>
              <a:gd name="adj" fmla="val 3421"/>
            </a:avLst>
          </a:prstGeom>
          <a:ln w="12700">
            <a:solidFill>
              <a:srgbClr val="2121DE"/>
            </a:solidFill>
            <a:prstDash val="solid"/>
          </a:ln>
        </p:spPr>
      </p:sp>
      <p:pic>
        <p:nvPicPr>
          <p:cNvPr id="55" name="o54" descr="16 598"/>
          <p:cNvPicPr>
            <a:picLocks noChangeAspect="1"/>
          </p:cNvPicPr>
          <p:nvPr/>
        </p:nvPicPr>
        <p:blipFill>
          <a:blip r:embed="rId10"/>
          <a:stretch>
            <a:fillRect/>
          </a:stretch>
        </p:blipFill>
        <p:spPr>
          <a:xfrm>
            <a:off x="6720840" y="2148840"/>
            <a:ext cx="1645920" cy="274320"/>
          </a:xfrm>
          <a:prstGeom prst="rect">
            <a:avLst/>
          </a:prstGeom>
        </p:spPr>
      </p:pic>
      <p:sp>
        <p:nvSpPr>
          <p:cNvPr id="56" name="o55"/>
          <p:cNvSpPr txBox="1"/>
          <p:nvPr/>
        </p:nvSpPr>
        <p:spPr>
          <a:xfrm>
            <a:off x="6720840" y="269748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jeux dans le fichier</a:t>
            </a:r>
            <a:endParaRPr lang="en-US" sz="1400" dirty="0"/>
          </a:p>
        </p:txBody>
      </p:sp>
      <p:sp>
        <p:nvSpPr>
          <p:cNvPr id="57" name="o56"/>
          <p:cNvSpPr/>
          <p:nvPr/>
        </p:nvSpPr>
        <p:spPr>
          <a:xfrm>
            <a:off x="9144000" y="1691640"/>
            <a:ext cx="2496312" cy="1874520"/>
          </a:xfrm>
          <a:prstGeom prst="roundRect">
            <a:avLst>
              <a:gd name="adj" fmla="val 6829"/>
            </a:avLst>
          </a:prstGeom>
          <a:solidFill>
            <a:srgbClr val="000000"/>
          </a:solidFill>
          <a:ln w="28575">
            <a:solidFill>
              <a:srgbClr val="2121DE"/>
            </a:solidFill>
            <a:prstDash val="solid"/>
          </a:ln>
        </p:spPr>
      </p:sp>
      <p:sp>
        <p:nvSpPr>
          <p:cNvPr id="58" name="o57"/>
          <p:cNvSpPr/>
          <p:nvPr/>
        </p:nvSpPr>
        <p:spPr>
          <a:xfrm>
            <a:off x="9212580" y="1760220"/>
            <a:ext cx="2359152" cy="1737360"/>
          </a:xfrm>
          <a:prstGeom prst="roundRect">
            <a:avLst>
              <a:gd name="adj" fmla="val 3421"/>
            </a:avLst>
          </a:prstGeom>
          <a:ln w="12700">
            <a:solidFill>
              <a:srgbClr val="2121DE"/>
            </a:solidFill>
            <a:prstDash val="solid"/>
          </a:ln>
        </p:spPr>
      </p:sp>
      <p:pic>
        <p:nvPicPr>
          <p:cNvPr id="59" name="o58" descr="37 ANS"/>
          <p:cNvPicPr>
            <a:picLocks noChangeAspect="1"/>
          </p:cNvPicPr>
          <p:nvPr/>
        </p:nvPicPr>
        <p:blipFill>
          <a:blip r:embed="rId11"/>
          <a:stretch>
            <a:fillRect/>
          </a:stretch>
        </p:blipFill>
        <p:spPr>
          <a:xfrm>
            <a:off x="9418320" y="2148840"/>
            <a:ext cx="1645920" cy="274320"/>
          </a:xfrm>
          <a:prstGeom prst="rect">
            <a:avLst/>
          </a:prstGeom>
        </p:spPr>
      </p:pic>
      <p:sp>
        <p:nvSpPr>
          <p:cNvPr id="60" name="o59"/>
          <p:cNvSpPr txBox="1"/>
          <p:nvPr/>
        </p:nvSpPr>
        <p:spPr>
          <a:xfrm>
            <a:off x="9418320" y="269748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 1980 à 2016</a:t>
            </a:r>
            <a:endParaRPr lang="en-US" sz="1400" dirty="0"/>
          </a:p>
        </p:txBody>
      </p:sp>
      <p:sp>
        <p:nvSpPr>
          <p:cNvPr id="61" name="o60"/>
          <p:cNvSpPr/>
          <p:nvPr/>
        </p:nvSpPr>
        <p:spPr>
          <a:xfrm>
            <a:off x="6446520" y="3794760"/>
            <a:ext cx="2496312" cy="1874520"/>
          </a:xfrm>
          <a:prstGeom prst="roundRect">
            <a:avLst>
              <a:gd name="adj" fmla="val 6829"/>
            </a:avLst>
          </a:prstGeom>
          <a:solidFill>
            <a:srgbClr val="000000"/>
          </a:solidFill>
          <a:ln w="28575">
            <a:solidFill>
              <a:srgbClr val="2121DE"/>
            </a:solidFill>
            <a:prstDash val="solid"/>
          </a:ln>
        </p:spPr>
      </p:sp>
      <p:sp>
        <p:nvSpPr>
          <p:cNvPr id="62" name="o61"/>
          <p:cNvSpPr/>
          <p:nvPr/>
        </p:nvSpPr>
        <p:spPr>
          <a:xfrm>
            <a:off x="6515100" y="3863340"/>
            <a:ext cx="2359152" cy="1737360"/>
          </a:xfrm>
          <a:prstGeom prst="roundRect">
            <a:avLst>
              <a:gd name="adj" fmla="val 3421"/>
            </a:avLst>
          </a:prstGeom>
          <a:ln w="12700">
            <a:solidFill>
              <a:srgbClr val="2121DE"/>
            </a:solidFill>
            <a:prstDash val="solid"/>
          </a:ln>
        </p:spPr>
      </p:sp>
      <p:pic>
        <p:nvPicPr>
          <p:cNvPr id="63" name="o62" descr="31"/>
          <p:cNvPicPr>
            <a:picLocks noChangeAspect="1"/>
          </p:cNvPicPr>
          <p:nvPr/>
        </p:nvPicPr>
        <p:blipFill>
          <a:blip r:embed="rId12"/>
          <a:stretch>
            <a:fillRect/>
          </a:stretch>
        </p:blipFill>
        <p:spPr>
          <a:xfrm>
            <a:off x="6720840" y="4251960"/>
            <a:ext cx="548640" cy="274320"/>
          </a:xfrm>
          <a:prstGeom prst="rect">
            <a:avLst/>
          </a:prstGeom>
        </p:spPr>
      </p:pic>
      <p:sp>
        <p:nvSpPr>
          <p:cNvPr id="64" name="o63"/>
          <p:cNvSpPr txBox="1"/>
          <p:nvPr/>
        </p:nvSpPr>
        <p:spPr>
          <a:xfrm>
            <a:off x="6720840" y="480060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plateformes, de l'Atari 2600 à la PS4</a:t>
            </a:r>
            <a:endParaRPr lang="en-US" sz="1400" dirty="0"/>
          </a:p>
        </p:txBody>
      </p:sp>
      <p:sp>
        <p:nvSpPr>
          <p:cNvPr id="65" name="o64"/>
          <p:cNvSpPr/>
          <p:nvPr/>
        </p:nvSpPr>
        <p:spPr>
          <a:xfrm>
            <a:off x="9144000" y="3794760"/>
            <a:ext cx="2496312" cy="1874520"/>
          </a:xfrm>
          <a:prstGeom prst="roundRect">
            <a:avLst>
              <a:gd name="adj" fmla="val 6829"/>
            </a:avLst>
          </a:prstGeom>
          <a:solidFill>
            <a:srgbClr val="000000"/>
          </a:solidFill>
          <a:ln w="28575">
            <a:solidFill>
              <a:srgbClr val="2121DE"/>
            </a:solidFill>
            <a:prstDash val="solid"/>
          </a:ln>
        </p:spPr>
      </p:sp>
      <p:sp>
        <p:nvSpPr>
          <p:cNvPr id="66" name="o65"/>
          <p:cNvSpPr/>
          <p:nvPr/>
        </p:nvSpPr>
        <p:spPr>
          <a:xfrm>
            <a:off x="9212580" y="3863340"/>
            <a:ext cx="2359152" cy="1737360"/>
          </a:xfrm>
          <a:prstGeom prst="roundRect">
            <a:avLst>
              <a:gd name="adj" fmla="val 3421"/>
            </a:avLst>
          </a:prstGeom>
          <a:ln w="12700">
            <a:solidFill>
              <a:srgbClr val="2121DE"/>
            </a:solidFill>
            <a:prstDash val="solid"/>
          </a:ln>
        </p:spPr>
      </p:sp>
      <p:pic>
        <p:nvPicPr>
          <p:cNvPr id="67" name="o66" descr="8,9 MD"/>
          <p:cNvPicPr>
            <a:picLocks noChangeAspect="1"/>
          </p:cNvPicPr>
          <p:nvPr/>
        </p:nvPicPr>
        <p:blipFill>
          <a:blip r:embed="rId13"/>
          <a:stretch>
            <a:fillRect/>
          </a:stretch>
        </p:blipFill>
        <p:spPr>
          <a:xfrm>
            <a:off x="9418320" y="4251960"/>
            <a:ext cx="1645920" cy="274320"/>
          </a:xfrm>
          <a:prstGeom prst="rect">
            <a:avLst/>
          </a:prstGeom>
        </p:spPr>
      </p:pic>
      <p:sp>
        <p:nvSpPr>
          <p:cNvPr id="68" name="o67"/>
          <p:cNvSpPr txBox="1"/>
          <p:nvPr/>
        </p:nvSpPr>
        <p:spPr>
          <a:xfrm>
            <a:off x="9418320" y="480060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d'exemplaires vendus</a:t>
            </a:r>
            <a:endParaRPr lang="en-US" sz="1400" dirty="0"/>
          </a:p>
        </p:txBody>
      </p:sp>
      <p:pic>
        <p:nvPicPr>
          <p:cNvPr id="69" name="barre_fantome" descr="image.gif"/>
          <p:cNvPicPr>
            <a:picLocks noChangeAspect="1"/>
          </p:cNvPicPr>
          <p:nvPr/>
        </p:nvPicPr>
        <p:blipFill>
          <a:blip r:embed="rId8"/>
          <a:stretch>
            <a:fillRect/>
          </a:stretch>
        </p:blipFill>
        <p:spPr>
          <a:xfrm>
            <a:off x="919589" y="6291072"/>
            <a:ext cx="310896" cy="310896"/>
          </a:xfrm>
          <a:prstGeom prst="rect">
            <a:avLst/>
          </a:prstGeom>
        </p:spPr>
      </p:pic>
      <p:pic>
        <p:nvPicPr>
          <p:cNvPr id="70" name="barre_pacman" descr="image.gif"/>
          <p:cNvPicPr>
            <a:picLocks noChangeAspect="1"/>
          </p:cNvPicPr>
          <p:nvPr/>
        </p:nvPicPr>
        <p:blipFill>
          <a:blip r:embed="rId7"/>
          <a:stretch>
            <a:fillRect/>
          </a:stretch>
        </p:blipFill>
        <p:spPr>
          <a:xfrm>
            <a:off x="1486517" y="6291072"/>
            <a:ext cx="310896" cy="310896"/>
          </a:xfrm>
          <a:prstGeom prst="rect">
            <a:avLst/>
          </a:prstGeom>
        </p:spPr>
      </p:pic>
      <p:sp>
        <p:nvSpPr>
          <p:cNvPr id="71"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6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0"/>
                                        </p:tgtEl>
                                        <p:attrNameLst>
                                          <p:attrName>ppt_x</p:attrName>
                                          <p:attrName>ppt_y</p:attrName>
                                        </p:attrNameLst>
                                      </p:cBhvr>
                                    </p:animMotion>
                                  </p:childTnLst>
                                </p:cTn>
                              </p:par>
                              <p:par>
                                <p:cTn id="9" presetID="1" presetClass="exit" presetSubtype="0" fill="hold" nodeType="withEffect">
                                  <p:stCondLst>
                                    <p:cond delay="229"/>
                                  </p:stCondLst>
                                  <p:childTnLst>
                                    <p:set>
                                      <p:cBhvr>
                                        <p:cTn id="10" dur="1" fill="hold">
                                          <p:stCondLst>
                                            <p:cond delay="0"/>
                                          </p:stCondLst>
                                        </p:cTn>
                                        <p:tgtEl>
                                          <p:spTgt spid="71"/>
                                        </p:tgtEl>
                                        <p:attrNameLst>
                                          <p:attrName>style.visibility</p:attrName>
                                        </p:attrNameLst>
                                      </p:cBhvr>
                                      <p:to>
                                        <p:strVal val="hidden"/>
                                      </p:to>
                                    </p:set>
                                  </p:childTnLst>
                                </p:cTn>
                              </p:par>
                              <p:par>
                                <p:cTn id="11" presetID="10" presetClass="entr" presetSubtype="0" fill="hold" nodeType="withEffect">
                                  <p:stCondLst>
                                    <p:cond delay="200"/>
                                  </p:stCondLst>
                                  <p:childTnLst>
                                    <p:set>
                                      <p:cBhvr>
                                        <p:cTn id="12" dur="1" fill="hold">
                                          <p:stCondLst>
                                            <p:cond delay="0"/>
                                          </p:stCondLst>
                                        </p:cTn>
                                        <p:tgtEl>
                                          <p:spTgt spid="53"/>
                                        </p:tgtEl>
                                        <p:attrNameLst>
                                          <p:attrName>style.visibility</p:attrName>
                                        </p:attrNameLst>
                                      </p:cBhvr>
                                      <p:to>
                                        <p:strVal val="visible"/>
                                      </p:to>
                                    </p:set>
                                    <p:animEffect transition="in" filter="fade">
                                      <p:cBhvr>
                                        <p:cTn id="13" dur="400"/>
                                        <p:tgtEl>
                                          <p:spTgt spid="53"/>
                                        </p:tgtEl>
                                      </p:cBhvr>
                                    </p:animEffect>
                                  </p:childTnLst>
                                </p:cTn>
                              </p:par>
                              <p:par>
                                <p:cTn id="14" presetID="10" presetClass="entr" presetSubtype="0" fill="hold" nodeType="withEffect">
                                  <p:stCondLst>
                                    <p:cond delay="20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400"/>
                                        <p:tgtEl>
                                          <p:spTgt spid="54"/>
                                        </p:tgtEl>
                                      </p:cBhvr>
                                    </p:animEffect>
                                  </p:childTnLst>
                                </p:cTn>
                              </p:par>
                              <p:par>
                                <p:cTn id="17" presetID="10" presetClass="entr" presetSubtype="0" fill="hold" nodeType="withEffect">
                                  <p:stCondLst>
                                    <p:cond delay="200"/>
                                  </p:stCondLst>
                                  <p:childTnLst>
                                    <p:set>
                                      <p:cBhvr>
                                        <p:cTn id="18" dur="1" fill="hold">
                                          <p:stCondLst>
                                            <p:cond delay="0"/>
                                          </p:stCondLst>
                                        </p:cTn>
                                        <p:tgtEl>
                                          <p:spTgt spid="55"/>
                                        </p:tgtEl>
                                        <p:attrNameLst>
                                          <p:attrName>style.visibility</p:attrName>
                                        </p:attrNameLst>
                                      </p:cBhvr>
                                      <p:to>
                                        <p:strVal val="visible"/>
                                      </p:to>
                                    </p:set>
                                    <p:animEffect transition="in" filter="fade">
                                      <p:cBhvr>
                                        <p:cTn id="19" dur="400"/>
                                        <p:tgtEl>
                                          <p:spTgt spid="55"/>
                                        </p:tgtEl>
                                      </p:cBhvr>
                                    </p:animEffect>
                                  </p:childTnLst>
                                </p:cTn>
                              </p:par>
                              <p:par>
                                <p:cTn id="20" presetID="10" presetClass="entr" presetSubtype="0" fill="hold" nodeType="withEffect">
                                  <p:stCondLst>
                                    <p:cond delay="20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400"/>
                                        <p:tgtEl>
                                          <p:spTgt spid="56"/>
                                        </p:tgtEl>
                                      </p:cBhvr>
                                    </p:animEffect>
                                  </p:childTnLst>
                                </p:cTn>
                              </p:par>
                              <p:par>
                                <p:cTn id="23" presetID="10" presetClass="entr" presetSubtype="0" fill="hold" nodeType="withEffect">
                                  <p:stCondLst>
                                    <p:cond delay="40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400"/>
                                        <p:tgtEl>
                                          <p:spTgt spid="57"/>
                                        </p:tgtEl>
                                      </p:cBhvr>
                                    </p:animEffect>
                                  </p:childTnLst>
                                </p:cTn>
                              </p:par>
                              <p:par>
                                <p:cTn id="26" presetID="10" presetClass="entr" presetSubtype="0" fill="hold" nodeType="withEffect">
                                  <p:stCondLst>
                                    <p:cond delay="40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400"/>
                                        <p:tgtEl>
                                          <p:spTgt spid="58"/>
                                        </p:tgtEl>
                                      </p:cBhvr>
                                    </p:animEffect>
                                  </p:childTnLst>
                                </p:cTn>
                              </p:par>
                              <p:par>
                                <p:cTn id="29" presetID="10" presetClass="entr" presetSubtype="0" fill="hold" nodeType="withEffect">
                                  <p:stCondLst>
                                    <p:cond delay="40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400"/>
                                        <p:tgtEl>
                                          <p:spTgt spid="59"/>
                                        </p:tgtEl>
                                      </p:cBhvr>
                                    </p:animEffect>
                                  </p:childTnLst>
                                </p:cTn>
                              </p:par>
                              <p:par>
                                <p:cTn id="32" presetID="10" presetClass="entr" presetSubtype="0" fill="hold" nodeType="withEffect">
                                  <p:stCondLst>
                                    <p:cond delay="400"/>
                                  </p:stCondLst>
                                  <p:childTnLst>
                                    <p:set>
                                      <p:cBhvr>
                                        <p:cTn id="33" dur="1" fill="hold">
                                          <p:stCondLst>
                                            <p:cond delay="0"/>
                                          </p:stCondLst>
                                        </p:cTn>
                                        <p:tgtEl>
                                          <p:spTgt spid="60"/>
                                        </p:tgtEl>
                                        <p:attrNameLst>
                                          <p:attrName>style.visibility</p:attrName>
                                        </p:attrNameLst>
                                      </p:cBhvr>
                                      <p:to>
                                        <p:strVal val="visible"/>
                                      </p:to>
                                    </p:set>
                                    <p:animEffect transition="in" filter="fade">
                                      <p:cBhvr>
                                        <p:cTn id="34" dur="400"/>
                                        <p:tgtEl>
                                          <p:spTgt spid="60"/>
                                        </p:tgtEl>
                                      </p:cBhvr>
                                    </p:animEffect>
                                  </p:childTnLst>
                                </p:cTn>
                              </p:par>
                              <p:par>
                                <p:cTn id="35" presetID="10" presetClass="entr" presetSubtype="0" fill="hold" nodeType="withEffect">
                                  <p:stCondLst>
                                    <p:cond delay="600"/>
                                  </p:stCondLst>
                                  <p:childTnLst>
                                    <p:set>
                                      <p:cBhvr>
                                        <p:cTn id="36" dur="1" fill="hold">
                                          <p:stCondLst>
                                            <p:cond delay="0"/>
                                          </p:stCondLst>
                                        </p:cTn>
                                        <p:tgtEl>
                                          <p:spTgt spid="61"/>
                                        </p:tgtEl>
                                        <p:attrNameLst>
                                          <p:attrName>style.visibility</p:attrName>
                                        </p:attrNameLst>
                                      </p:cBhvr>
                                      <p:to>
                                        <p:strVal val="visible"/>
                                      </p:to>
                                    </p:set>
                                    <p:animEffect transition="in" filter="fade">
                                      <p:cBhvr>
                                        <p:cTn id="37" dur="400"/>
                                        <p:tgtEl>
                                          <p:spTgt spid="61"/>
                                        </p:tgtEl>
                                      </p:cBhvr>
                                    </p:animEffect>
                                  </p:childTnLst>
                                </p:cTn>
                              </p:par>
                              <p:par>
                                <p:cTn id="38" presetID="10" presetClass="entr" presetSubtype="0" fill="hold" nodeType="withEffect">
                                  <p:stCondLst>
                                    <p:cond delay="600"/>
                                  </p:stCondLst>
                                  <p:childTnLst>
                                    <p:set>
                                      <p:cBhvr>
                                        <p:cTn id="39" dur="1" fill="hold">
                                          <p:stCondLst>
                                            <p:cond delay="0"/>
                                          </p:stCondLst>
                                        </p:cTn>
                                        <p:tgtEl>
                                          <p:spTgt spid="62"/>
                                        </p:tgtEl>
                                        <p:attrNameLst>
                                          <p:attrName>style.visibility</p:attrName>
                                        </p:attrNameLst>
                                      </p:cBhvr>
                                      <p:to>
                                        <p:strVal val="visible"/>
                                      </p:to>
                                    </p:set>
                                    <p:animEffect transition="in" filter="fade">
                                      <p:cBhvr>
                                        <p:cTn id="40" dur="400"/>
                                        <p:tgtEl>
                                          <p:spTgt spid="62"/>
                                        </p:tgtEl>
                                      </p:cBhvr>
                                    </p:animEffect>
                                  </p:childTnLst>
                                </p:cTn>
                              </p:par>
                              <p:par>
                                <p:cTn id="41" presetID="10" presetClass="entr" presetSubtype="0" fill="hold" nodeType="withEffect">
                                  <p:stCondLst>
                                    <p:cond delay="600"/>
                                  </p:stCondLst>
                                  <p:childTnLst>
                                    <p:set>
                                      <p:cBhvr>
                                        <p:cTn id="42" dur="1" fill="hold">
                                          <p:stCondLst>
                                            <p:cond delay="0"/>
                                          </p:stCondLst>
                                        </p:cTn>
                                        <p:tgtEl>
                                          <p:spTgt spid="63"/>
                                        </p:tgtEl>
                                        <p:attrNameLst>
                                          <p:attrName>style.visibility</p:attrName>
                                        </p:attrNameLst>
                                      </p:cBhvr>
                                      <p:to>
                                        <p:strVal val="visible"/>
                                      </p:to>
                                    </p:set>
                                    <p:animEffect transition="in" filter="fade">
                                      <p:cBhvr>
                                        <p:cTn id="43" dur="400"/>
                                        <p:tgtEl>
                                          <p:spTgt spid="63"/>
                                        </p:tgtEl>
                                      </p:cBhvr>
                                    </p:animEffect>
                                  </p:childTnLst>
                                </p:cTn>
                              </p:par>
                              <p:par>
                                <p:cTn id="44" presetID="10" presetClass="entr" presetSubtype="0" fill="hold" nodeType="withEffect">
                                  <p:stCondLst>
                                    <p:cond delay="600"/>
                                  </p:stCondLst>
                                  <p:childTnLst>
                                    <p:set>
                                      <p:cBhvr>
                                        <p:cTn id="45" dur="1" fill="hold">
                                          <p:stCondLst>
                                            <p:cond delay="0"/>
                                          </p:stCondLst>
                                        </p:cTn>
                                        <p:tgtEl>
                                          <p:spTgt spid="64"/>
                                        </p:tgtEl>
                                        <p:attrNameLst>
                                          <p:attrName>style.visibility</p:attrName>
                                        </p:attrNameLst>
                                      </p:cBhvr>
                                      <p:to>
                                        <p:strVal val="visible"/>
                                      </p:to>
                                    </p:set>
                                    <p:animEffect transition="in" filter="fade">
                                      <p:cBhvr>
                                        <p:cTn id="46" dur="400"/>
                                        <p:tgtEl>
                                          <p:spTgt spid="64"/>
                                        </p:tgtEl>
                                      </p:cBhvr>
                                    </p:animEffect>
                                  </p:childTnLst>
                                </p:cTn>
                              </p:par>
                              <p:par>
                                <p:cTn id="47" presetID="10" presetClass="entr" presetSubtype="0" fill="hold" nodeType="withEffect">
                                  <p:stCondLst>
                                    <p:cond delay="800"/>
                                  </p:stCondLst>
                                  <p:childTnLst>
                                    <p:set>
                                      <p:cBhvr>
                                        <p:cTn id="48" dur="1" fill="hold">
                                          <p:stCondLst>
                                            <p:cond delay="0"/>
                                          </p:stCondLst>
                                        </p:cTn>
                                        <p:tgtEl>
                                          <p:spTgt spid="65"/>
                                        </p:tgtEl>
                                        <p:attrNameLst>
                                          <p:attrName>style.visibility</p:attrName>
                                        </p:attrNameLst>
                                      </p:cBhvr>
                                      <p:to>
                                        <p:strVal val="visible"/>
                                      </p:to>
                                    </p:set>
                                    <p:animEffect transition="in" filter="fade">
                                      <p:cBhvr>
                                        <p:cTn id="49" dur="400"/>
                                        <p:tgtEl>
                                          <p:spTgt spid="65"/>
                                        </p:tgtEl>
                                      </p:cBhvr>
                                    </p:animEffect>
                                  </p:childTnLst>
                                </p:cTn>
                              </p:par>
                              <p:par>
                                <p:cTn id="50" presetID="10" presetClass="entr" presetSubtype="0" fill="hold" nodeType="withEffect">
                                  <p:stCondLst>
                                    <p:cond delay="800"/>
                                  </p:stCondLst>
                                  <p:childTnLst>
                                    <p:set>
                                      <p:cBhvr>
                                        <p:cTn id="51" dur="1" fill="hold">
                                          <p:stCondLst>
                                            <p:cond delay="0"/>
                                          </p:stCondLst>
                                        </p:cTn>
                                        <p:tgtEl>
                                          <p:spTgt spid="66"/>
                                        </p:tgtEl>
                                        <p:attrNameLst>
                                          <p:attrName>style.visibility</p:attrName>
                                        </p:attrNameLst>
                                      </p:cBhvr>
                                      <p:to>
                                        <p:strVal val="visible"/>
                                      </p:to>
                                    </p:set>
                                    <p:animEffect transition="in" filter="fade">
                                      <p:cBhvr>
                                        <p:cTn id="52" dur="400"/>
                                        <p:tgtEl>
                                          <p:spTgt spid="66"/>
                                        </p:tgtEl>
                                      </p:cBhvr>
                                    </p:animEffect>
                                  </p:childTnLst>
                                </p:cTn>
                              </p:par>
                              <p:par>
                                <p:cTn id="53" presetID="10" presetClass="entr" presetSubtype="0" fill="hold" nodeType="withEffect">
                                  <p:stCondLst>
                                    <p:cond delay="800"/>
                                  </p:stCondLst>
                                  <p:childTnLst>
                                    <p:set>
                                      <p:cBhvr>
                                        <p:cTn id="54" dur="1" fill="hold">
                                          <p:stCondLst>
                                            <p:cond delay="0"/>
                                          </p:stCondLst>
                                        </p:cTn>
                                        <p:tgtEl>
                                          <p:spTgt spid="67"/>
                                        </p:tgtEl>
                                        <p:attrNameLst>
                                          <p:attrName>style.visibility</p:attrName>
                                        </p:attrNameLst>
                                      </p:cBhvr>
                                      <p:to>
                                        <p:strVal val="visible"/>
                                      </p:to>
                                    </p:set>
                                    <p:animEffect transition="in" filter="fade">
                                      <p:cBhvr>
                                        <p:cTn id="55" dur="400"/>
                                        <p:tgtEl>
                                          <p:spTgt spid="67"/>
                                        </p:tgtEl>
                                      </p:cBhvr>
                                    </p:animEffect>
                                  </p:childTnLst>
                                </p:cTn>
                              </p:par>
                              <p:par>
                                <p:cTn id="56" presetID="10" presetClass="entr" presetSubtype="0" fill="hold" nodeType="withEffect">
                                  <p:stCondLst>
                                    <p:cond delay="800"/>
                                  </p:stCondLst>
                                  <p:childTnLst>
                                    <p:set>
                                      <p:cBhvr>
                                        <p:cTn id="57" dur="1" fill="hold">
                                          <p:stCondLst>
                                            <p:cond delay="0"/>
                                          </p:stCondLst>
                                        </p:cTn>
                                        <p:tgtEl>
                                          <p:spTgt spid="68"/>
                                        </p:tgtEl>
                                        <p:attrNameLst>
                                          <p:attrName>style.visibility</p:attrName>
                                        </p:attrNameLst>
                                      </p:cBhvr>
                                      <p:to>
                                        <p:strVal val="visible"/>
                                      </p:to>
                                    </p:set>
                                    <p:animEffect transition="in" filter="fade">
                                      <p:cBhvr>
                                        <p:cTn id="5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strawberry"/>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2"/>
          <p:cNvPicPr>
            <a:picLocks noChangeAspect="1"/>
          </p:cNvPicPr>
          <p:nvPr/>
        </p:nvPicPr>
        <p:blipFill>
          <a:blip r:embed="rId4"/>
          <a:stretch>
            <a:fillRect/>
          </a:stretch>
        </p:blipFill>
        <p:spPr>
          <a:xfrm>
            <a:off x="5262601" y="1828800"/>
            <a:ext cx="1666494" cy="237744"/>
          </a:xfrm>
          <a:prstGeom prst="rect">
            <a:avLst/>
          </a:prstGeom>
        </p:spPr>
      </p:pic>
      <p:pic>
        <p:nvPicPr>
          <p:cNvPr id="14" name="o13" descr="PIPELINE"/>
          <p:cNvPicPr>
            <a:picLocks noChangeAspect="1"/>
          </p:cNvPicPr>
          <p:nvPr/>
        </p:nvPicPr>
        <p:blipFill>
          <a:blip r:embed="rId5"/>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Du fichier brut à l'appli interactive</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76" name="o75"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77" name="barre_fantome" descr="image.gif"/>
          <p:cNvPicPr>
            <a:picLocks noChangeAspect="1"/>
          </p:cNvPicPr>
          <p:nvPr/>
        </p:nvPicPr>
        <p:blipFill>
          <a:blip r:embed="rId7"/>
          <a:stretch>
            <a:fillRect/>
          </a:stretch>
        </p:blipFill>
        <p:spPr>
          <a:xfrm>
            <a:off x="1186495" y="6291072"/>
            <a:ext cx="310896" cy="310896"/>
          </a:xfrm>
          <a:prstGeom prst="rect">
            <a:avLst/>
          </a:prstGeom>
        </p:spPr>
      </p:pic>
      <p:pic>
        <p:nvPicPr>
          <p:cNvPr id="78" name="barre_pacman" descr="image.gif"/>
          <p:cNvPicPr>
            <a:picLocks noChangeAspect="1"/>
          </p:cNvPicPr>
          <p:nvPr/>
        </p:nvPicPr>
        <p:blipFill>
          <a:blip r:embed="rId6"/>
          <a:stretch>
            <a:fillRect/>
          </a:stretch>
        </p:blipFill>
        <p:spPr>
          <a:xfrm>
            <a:off x="1753423" y="6291072"/>
            <a:ext cx="310896" cy="310896"/>
          </a:xfrm>
          <a:prstGeom prst="rect">
            <a:avLst/>
          </a:prstGeom>
        </p:spPr>
      </p:pic>
      <p:sp>
        <p:nvSpPr>
          <p:cNvPr id="79"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8"/>
                                        </p:tgtEl>
                                        <p:attrNameLst>
                                          <p:attrName>ppt_x</p:attrName>
                                          <p:attrName>ppt_y</p:attrName>
                                        </p:attrNameLst>
                                      </p:cBhvr>
                                    </p:animMotion>
                                  </p:childTnLst>
                                </p:cTn>
                              </p:par>
                              <p:par>
                                <p:cTn id="9" presetID="1" presetClass="exit" presetSubtype="0" fill="hold" nodeType="withEffect">
                                  <p:stCondLst>
                                    <p:cond delay="100"/>
                                  </p:stCondLst>
                                  <p:childTnLst>
                                    <p:set>
                                      <p:cBhvr>
                                        <p:cTn id="10" dur="1" fill="hold">
                                          <p:stCondLst>
                                            <p:cond delay="0"/>
                                          </p:stCondLst>
                                        </p:cTn>
                                        <p:tgtEl>
                                          <p:spTgt spid="79"/>
                                        </p:tgtEl>
                                        <p:attrNameLst>
                                          <p:attrName>style.visibility</p:attrName>
                                        </p:attrNameLst>
                                      </p:cBhvr>
                                      <p:to>
                                        <p:strVal val="hidden"/>
                                      </p:to>
                                    </p:set>
                                  </p:childTnLst>
                                </p:cTn>
                              </p:par>
                              <p:par>
                                <p:cTn id="11" presetID="1" presetClass="exit" presetSubtype="0" fill="hold" nodeType="withEffect">
                                  <p:stCondLst>
                                    <p:cond delay="871"/>
                                  </p:stCondLst>
                                  <p:childTnLst>
                                    <p:set>
                                      <p:cBhvr>
                                        <p:cTn id="12" dur="1" fill="hold">
                                          <p:stCondLst>
                                            <p:cond delay="0"/>
                                          </p:stCondLst>
                                        </p:cTn>
                                        <p:tgtEl>
                                          <p:spTgt spid="80"/>
                                        </p:tgtEl>
                                        <p:attrNameLst>
                                          <p:attrName>style.visibility</p:attrName>
                                        </p:attrNameLst>
                                      </p:cBhvr>
                                      <p:to>
                                        <p:strVal val="hidden"/>
                                      </p:to>
                                    </p:set>
                                  </p:childTnLst>
                                </p:cTn>
                              </p:par>
                              <p:par>
                                <p:cTn id="13" presetID="1" presetClass="exit" presetSubtype="0" fill="hold" nodeType="withEffect">
                                  <p:stCondLst>
                                    <p:cond delay="1054"/>
                                  </p:stCondLst>
                                  <p:childTnLst>
                                    <p:set>
                                      <p:cBhvr>
                                        <p:cTn id="14" dur="1" fill="hold">
                                          <p:stCondLst>
                                            <p:cond delay="0"/>
                                          </p:stCondLst>
                                        </p:cTn>
                                        <p:tgtEl>
                                          <p:spTgt spid="16"/>
                                        </p:tgtEl>
                                        <p:attrNameLst>
                                          <p:attrName>style.visibility</p:attrName>
                                        </p:attrNameLst>
                                      </p:cBhvr>
                                      <p:to>
                                        <p:strVal val="hidden"/>
                                      </p:to>
                                    </p:set>
                                  </p:childTnLst>
                                </p:cTn>
                              </p:par>
                              <p:par>
                                <p:cTn id="15" presetID="1" presetClass="exit" presetSubtype="0" fill="hold" nodeType="withEffect">
                                  <p:stCondLst>
                                    <p:cond delay="1191"/>
                                  </p:stCondLst>
                                  <p:childTnLst>
                                    <p:set>
                                      <p:cBhvr>
                                        <p:cTn id="16" dur="1" fill="hold">
                                          <p:stCondLst>
                                            <p:cond delay="0"/>
                                          </p:stCondLst>
                                        </p:cTn>
                                        <p:tgtEl>
                                          <p:spTgt spid="17"/>
                                        </p:tgtEl>
                                        <p:attrNameLst>
                                          <p:attrName>style.visibility</p:attrName>
                                        </p:attrNameLst>
                                      </p:cBhvr>
                                      <p:to>
                                        <p:strVal val="hidden"/>
                                      </p:to>
                                    </p:set>
                                  </p:childTnLst>
                                </p:cTn>
                              </p:par>
                              <p:par>
                                <p:cTn id="17" presetID="1" presetClass="exit" presetSubtype="0" fill="hold" nodeType="withEffect">
                                  <p:stCondLst>
                                    <p:cond delay="1328"/>
                                  </p:stCondLst>
                                  <p:childTnLst>
                                    <p:set>
                                      <p:cBhvr>
                                        <p:cTn id="18" dur="1" fill="hold">
                                          <p:stCondLst>
                                            <p:cond delay="0"/>
                                          </p:stCondLst>
                                        </p:cTn>
                                        <p:tgtEl>
                                          <p:spTgt spid="18"/>
                                        </p:tgtEl>
                                        <p:attrNameLst>
                                          <p:attrName>style.visibility</p:attrName>
                                        </p:attrNameLst>
                                      </p:cBhvr>
                                      <p:to>
                                        <p:strVal val="hidden"/>
                                      </p:to>
                                    </p:set>
                                  </p:childTnLst>
                                </p:cTn>
                              </p:par>
                              <p:par>
                                <p:cTn id="19" presetID="1" presetClass="exit" presetSubtype="0" fill="hold" nodeType="withEffect">
                                  <p:stCondLst>
                                    <p:cond delay="1464"/>
                                  </p:stCondLst>
                                  <p:childTnLst>
                                    <p:set>
                                      <p:cBhvr>
                                        <p:cTn id="20" dur="1" fill="hold">
                                          <p:stCondLst>
                                            <p:cond delay="0"/>
                                          </p:stCondLst>
                                        </p:cTn>
                                        <p:tgtEl>
                                          <p:spTgt spid="19"/>
                                        </p:tgtEl>
                                        <p:attrNameLst>
                                          <p:attrName>style.visibility</p:attrName>
                                        </p:attrNameLst>
                                      </p:cBhvr>
                                      <p:to>
                                        <p:strVal val="hidden"/>
                                      </p:to>
                                    </p:set>
                                  </p:childTnLst>
                                </p:cTn>
                              </p:par>
                              <p:par>
                                <p:cTn id="21" presetID="1" presetClass="exit" presetSubtype="0" fill="hold" nodeType="withEffect">
                                  <p:stCondLst>
                                    <p:cond delay="1601"/>
                                  </p:stCondLst>
                                  <p:childTnLst>
                                    <p:set>
                                      <p:cBhvr>
                                        <p:cTn id="22" dur="1" fill="hold">
                                          <p:stCondLst>
                                            <p:cond delay="0"/>
                                          </p:stCondLst>
                                        </p:cTn>
                                        <p:tgtEl>
                                          <p:spTgt spid="20"/>
                                        </p:tgtEl>
                                        <p:attrNameLst>
                                          <p:attrName>style.visibility</p:attrName>
                                        </p:attrNameLst>
                                      </p:cBhvr>
                                      <p:to>
                                        <p:strVal val="hidden"/>
                                      </p:to>
                                    </p:set>
                                  </p:childTnLst>
                                </p:cTn>
                              </p:par>
                              <p:par>
                                <p:cTn id="23" presetID="1" presetClass="exit" presetSubtype="0" fill="hold" nodeType="withEffect">
                                  <p:stCondLst>
                                    <p:cond delay="1738"/>
                                  </p:stCondLst>
                                  <p:childTnLst>
                                    <p:set>
                                      <p:cBhvr>
                                        <p:cTn id="24" dur="1" fill="hold">
                                          <p:stCondLst>
                                            <p:cond delay="0"/>
                                          </p:stCondLst>
                                        </p:cTn>
                                        <p:tgtEl>
                                          <p:spTgt spid="21"/>
                                        </p:tgtEl>
                                        <p:attrNameLst>
                                          <p:attrName>style.visibility</p:attrName>
                                        </p:attrNameLst>
                                      </p:cBhvr>
                                      <p:to>
                                        <p:strVal val="hidden"/>
                                      </p:to>
                                    </p:set>
                                  </p:childTnLst>
                                </p:cTn>
                              </p:par>
                              <p:par>
                                <p:cTn id="25" presetID="1" presetClass="exit" presetSubtype="0" fill="hold" nodeType="withEffect">
                                  <p:stCondLst>
                                    <p:cond delay="1875"/>
                                  </p:stCondLst>
                                  <p:childTnLst>
                                    <p:set>
                                      <p:cBhvr>
                                        <p:cTn id="26" dur="1" fill="hold">
                                          <p:stCondLst>
                                            <p:cond delay="0"/>
                                          </p:stCondLst>
                                        </p:cTn>
                                        <p:tgtEl>
                                          <p:spTgt spid="22"/>
                                        </p:tgtEl>
                                        <p:attrNameLst>
                                          <p:attrName>style.visibility</p:attrName>
                                        </p:attrNameLst>
                                      </p:cBhvr>
                                      <p:to>
                                        <p:strVal val="hidden"/>
                                      </p:to>
                                    </p:set>
                                  </p:childTnLst>
                                </p:cTn>
                              </p:par>
                              <p:par>
                                <p:cTn id="27" presetID="1" presetClass="exit" presetSubtype="0" fill="hold" nodeType="withEffect">
                                  <p:stCondLst>
                                    <p:cond delay="2012"/>
                                  </p:stCondLst>
                                  <p:childTnLst>
                                    <p:set>
                                      <p:cBhvr>
                                        <p:cTn id="28" dur="1" fill="hold">
                                          <p:stCondLst>
                                            <p:cond delay="0"/>
                                          </p:stCondLst>
                                        </p:cTn>
                                        <p:tgtEl>
                                          <p:spTgt spid="23"/>
                                        </p:tgtEl>
                                        <p:attrNameLst>
                                          <p:attrName>style.visibility</p:attrName>
                                        </p:attrNameLst>
                                      </p:cBhvr>
                                      <p:to>
                                        <p:strVal val="hidden"/>
                                      </p:to>
                                    </p:set>
                                  </p:childTnLst>
                                </p:cTn>
                              </p:par>
                              <p:par>
                                <p:cTn id="29" presetID="1" presetClass="exit" presetSubtype="0" fill="hold" nodeType="withEffect">
                                  <p:stCondLst>
                                    <p:cond delay="2149"/>
                                  </p:stCondLst>
                                  <p:childTnLst>
                                    <p:set>
                                      <p:cBhvr>
                                        <p:cTn id="30" dur="1" fill="hold">
                                          <p:stCondLst>
                                            <p:cond delay="0"/>
                                          </p:stCondLst>
                                        </p:cTn>
                                        <p:tgtEl>
                                          <p:spTgt spid="24"/>
                                        </p:tgtEl>
                                        <p:attrNameLst>
                                          <p:attrName>style.visibility</p:attrName>
                                        </p:attrNameLst>
                                      </p:cBhvr>
                                      <p:to>
                                        <p:strVal val="hidden"/>
                                      </p:to>
                                    </p:set>
                                  </p:childTnLst>
                                </p:cTn>
                              </p:par>
                              <p:par>
                                <p:cTn id="31" presetID="1" presetClass="exit" presetSubtype="0" fill="hold" nodeType="withEffect">
                                  <p:stCondLst>
                                    <p:cond delay="2286"/>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nodeType="withEffect">
                                  <p:stCondLst>
                                    <p:cond delay="2422"/>
                                  </p:stCondLst>
                                  <p:childTnLst>
                                    <p:set>
                                      <p:cBhvr>
                                        <p:cTn id="34" dur="1" fill="hold">
                                          <p:stCondLst>
                                            <p:cond delay="0"/>
                                          </p:stCondLst>
                                        </p:cTn>
                                        <p:tgtEl>
                                          <p:spTgt spid="26"/>
                                        </p:tgtEl>
                                        <p:attrNameLst>
                                          <p:attrName>style.visibility</p:attrName>
                                        </p:attrNameLst>
                                      </p:cBhvr>
                                      <p:to>
                                        <p:strVal val="hidden"/>
                                      </p:to>
                                    </p:set>
                                  </p:childTnLst>
                                </p:cTn>
                              </p:par>
                              <p:par>
                                <p:cTn id="35" presetID="1" presetClass="exit" presetSubtype="0" fill="hold" nodeType="withEffect">
                                  <p:stCondLst>
                                    <p:cond delay="2559"/>
                                  </p:stCondLst>
                                  <p:childTnLst>
                                    <p:set>
                                      <p:cBhvr>
                                        <p:cTn id="36" dur="1" fill="hold">
                                          <p:stCondLst>
                                            <p:cond delay="0"/>
                                          </p:stCondLst>
                                        </p:cTn>
                                        <p:tgtEl>
                                          <p:spTgt spid="27"/>
                                        </p:tgtEl>
                                        <p:attrNameLst>
                                          <p:attrName>style.visibility</p:attrName>
                                        </p:attrNameLst>
                                      </p:cBhvr>
                                      <p:to>
                                        <p:strVal val="hidden"/>
                                      </p:to>
                                    </p:set>
                                  </p:childTnLst>
                                </p:cTn>
                              </p:par>
                              <p:par>
                                <p:cTn id="37" presetID="1" presetClass="exit" presetSubtype="0" fill="hold" nodeType="withEffect">
                                  <p:stCondLst>
                                    <p:cond delay="2696"/>
                                  </p:stCondLst>
                                  <p:childTnLst>
                                    <p:set>
                                      <p:cBhvr>
                                        <p:cTn id="38" dur="1" fill="hold">
                                          <p:stCondLst>
                                            <p:cond delay="0"/>
                                          </p:stCondLst>
                                        </p:cTn>
                                        <p:tgtEl>
                                          <p:spTgt spid="28"/>
                                        </p:tgtEl>
                                        <p:attrNameLst>
                                          <p:attrName>style.visibility</p:attrName>
                                        </p:attrNameLst>
                                      </p:cBhvr>
                                      <p:to>
                                        <p:strVal val="hidden"/>
                                      </p:to>
                                    </p:set>
                                  </p:childTnLst>
                                </p:cTn>
                              </p:par>
                              <p:par>
                                <p:cTn id="39" presetID="1" presetClass="exit" presetSubtype="0" fill="hold" nodeType="withEffect">
                                  <p:stCondLst>
                                    <p:cond delay="2833"/>
                                  </p:stCondLst>
                                  <p:childTnLst>
                                    <p:set>
                                      <p:cBhvr>
                                        <p:cTn id="40" dur="1" fill="hold">
                                          <p:stCondLst>
                                            <p:cond delay="0"/>
                                          </p:stCondLst>
                                        </p:cTn>
                                        <p:tgtEl>
                                          <p:spTgt spid="29"/>
                                        </p:tgtEl>
                                        <p:attrNameLst>
                                          <p:attrName>style.visibility</p:attrName>
                                        </p:attrNameLst>
                                      </p:cBhvr>
                                      <p:to>
                                        <p:strVal val="hidden"/>
                                      </p:to>
                                    </p:set>
                                  </p:childTnLst>
                                </p:cTn>
                              </p:par>
                              <p:par>
                                <p:cTn id="41" presetID="1" presetClass="exit" presetSubtype="0" fill="hold" nodeType="withEffect">
                                  <p:stCondLst>
                                    <p:cond delay="2970"/>
                                  </p:stCondLst>
                                  <p:childTnLst>
                                    <p:set>
                                      <p:cBhvr>
                                        <p:cTn id="42" dur="1" fill="hold">
                                          <p:stCondLst>
                                            <p:cond delay="0"/>
                                          </p:stCondLst>
                                        </p:cTn>
                                        <p:tgtEl>
                                          <p:spTgt spid="30"/>
                                        </p:tgtEl>
                                        <p:attrNameLst>
                                          <p:attrName>style.visibility</p:attrName>
                                        </p:attrNameLst>
                                      </p:cBhvr>
                                      <p:to>
                                        <p:strVal val="hidden"/>
                                      </p:to>
                                    </p:set>
                                  </p:childTnLst>
                                </p:cTn>
                              </p:par>
                              <p:par>
                                <p:cTn id="43" presetID="1" presetClass="exit" presetSubtype="0" fill="hold" nodeType="withEffect">
                                  <p:stCondLst>
                                    <p:cond delay="3107"/>
                                  </p:stCondLst>
                                  <p:childTnLst>
                                    <p:set>
                                      <p:cBhvr>
                                        <p:cTn id="44" dur="1" fill="hold">
                                          <p:stCondLst>
                                            <p:cond delay="0"/>
                                          </p:stCondLst>
                                        </p:cTn>
                                        <p:tgtEl>
                                          <p:spTgt spid="31"/>
                                        </p:tgtEl>
                                        <p:attrNameLst>
                                          <p:attrName>style.visibility</p:attrName>
                                        </p:attrNameLst>
                                      </p:cBhvr>
                                      <p:to>
                                        <p:strVal val="hidden"/>
                                      </p:to>
                                    </p:set>
                                  </p:childTnLst>
                                </p:cTn>
                              </p:par>
                              <p:par>
                                <p:cTn id="45" presetID="1" presetClass="exit" presetSubtype="0" fill="hold" nodeType="withEffect">
                                  <p:stCondLst>
                                    <p:cond delay="3243"/>
                                  </p:stCondLst>
                                  <p:childTnLst>
                                    <p:set>
                                      <p:cBhvr>
                                        <p:cTn id="46" dur="1" fill="hold">
                                          <p:stCondLst>
                                            <p:cond delay="0"/>
                                          </p:stCondLst>
                                        </p:cTn>
                                        <p:tgtEl>
                                          <p:spTgt spid="32"/>
                                        </p:tgtEl>
                                        <p:attrNameLst>
                                          <p:attrName>style.visibility</p:attrName>
                                        </p:attrNameLst>
                                      </p:cBhvr>
                                      <p:to>
                                        <p:strVal val="hidden"/>
                                      </p:to>
                                    </p:set>
                                  </p:childTnLst>
                                </p:cTn>
                              </p:par>
                              <p:par>
                                <p:cTn id="47" presetID="1" presetClass="exit" presetSubtype="0" fill="hold" nodeType="withEffect">
                                  <p:stCondLst>
                                    <p:cond delay="3380"/>
                                  </p:stCondLst>
                                  <p:childTnLst>
                                    <p:set>
                                      <p:cBhvr>
                                        <p:cTn id="48" dur="1" fill="hold">
                                          <p:stCondLst>
                                            <p:cond delay="0"/>
                                          </p:stCondLst>
                                        </p:cTn>
                                        <p:tgtEl>
                                          <p:spTgt spid="33"/>
                                        </p:tgtEl>
                                        <p:attrNameLst>
                                          <p:attrName>style.visibility</p:attrName>
                                        </p:attrNameLst>
                                      </p:cBhvr>
                                      <p:to>
                                        <p:strVal val="hidden"/>
                                      </p:to>
                                    </p:set>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4"/>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5"/>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6"/>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7"/>
                                        </p:tgtEl>
                                        <p:attrNameLst>
                                          <p:attrName>ppt_x</p:attrName>
                                          <p:attrName>ppt_y</p:attrName>
                                        </p:attrNameLst>
                                      </p:cBhvr>
                                    </p:animMotion>
                                  </p:childTnLst>
                                </p:cTn>
                              </p:par>
                              <p:par>
                                <p:cTn id="57" presetID="0" presetClass="path" presetSubtype="0" fill="hold" nodeType="withEffect">
                                  <p:stCondLst>
                                    <p:cond delay="900"/>
                                  </p:stCondLst>
                                  <p:childTnLst>
                                    <p:animMotion origin="layout" path="M 0 0 L 0.57001 0 E" pathEditMode="relative" ptsTypes="">
                                      <p:cBhvr>
                                        <p:cTn id="58" dur="2600" fill="hold"/>
                                        <p:tgtEl>
                                          <p:spTgt spid="38"/>
                                        </p:tgtEl>
                                        <p:attrNameLst>
                                          <p:attrName>ppt_x</p:attrName>
                                          <p:attrName>ppt_y</p:attrName>
                                        </p:attrNameLst>
                                      </p:cBhvr>
                                    </p:animMotion>
                                  </p:childTnLst>
                                </p:cTn>
                              </p:par>
                              <p:par>
                                <p:cTn id="59" presetID="1" presetClass="exit" presetSubtype="0" fill="hold" nodeType="withEffect">
                                  <p:stCondLst>
                                    <p:cond delay="900"/>
                                  </p:stCondLst>
                                  <p:childTnLst>
                                    <p:set>
                                      <p:cBhvr>
                                        <p:cTn id="60"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pic>
        <p:nvPicPr>
          <p:cNvPr id="2" name="o1" descr="LEVEL 2 → PIPELINE"/>
          <p:cNvPicPr>
            <a:picLocks noChangeAspect="1"/>
          </p:cNvPicPr>
          <p:nvPr/>
        </p:nvPicPr>
        <p:blipFill>
          <a:blip r:embed="rId3"/>
          <a:stretch>
            <a:fillRect/>
          </a:stretch>
        </p:blipFill>
        <p:spPr>
          <a:xfrm>
            <a:off x="548640" y="411480"/>
            <a:ext cx="2633472" cy="146304"/>
          </a:xfrm>
          <a:prstGeom prst="rect">
            <a:avLst/>
          </a:prstGeom>
        </p:spPr>
      </p:pic>
      <p:pic>
        <p:nvPicPr>
          <p:cNvPr id="3" name="o2" descr="Du fichier brut à l'appli"/>
          <p:cNvPicPr>
            <a:picLocks noChangeAspect="1"/>
          </p:cNvPicPr>
          <p:nvPr/>
        </p:nvPicPr>
        <p:blipFill>
          <a:blip r:embed="rId4"/>
          <a:stretch>
            <a:fillRect/>
          </a:stretch>
        </p:blipFill>
        <p:spPr>
          <a:xfrm>
            <a:off x="548640" y="777240"/>
            <a:ext cx="6858000" cy="274320"/>
          </a:xfrm>
          <a:prstGeom prst="rect">
            <a:avLst/>
          </a:prstGeom>
        </p:spPr>
      </p:pic>
      <p:pic>
        <p:nvPicPr>
          <p:cNvPr id="4" name="o3" descr="strawberry"/>
          <p:cNvPicPr>
            <a:picLocks noChangeAspect="1"/>
          </p:cNvPicPr>
          <p:nvPr/>
        </p:nvPicPr>
        <p:blipFill>
          <a:blip r:embed="rId5"/>
          <a:stretch>
            <a:fillRect/>
          </a:stretch>
        </p:blipFill>
        <p:spPr>
          <a:xfrm>
            <a:off x="11073384" y="365760"/>
            <a:ext cx="566928" cy="566928"/>
          </a:xfrm>
          <a:prstGeom prst="rect">
            <a:avLst/>
          </a:prstGeom>
        </p:spPr>
      </p:pic>
      <p:pic>
        <p:nvPicPr>
          <p:cNvPr id="38" name="o37"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41" name="o40"/>
          <p:cNvSpPr/>
          <p:nvPr/>
        </p:nvSpPr>
        <p:spPr>
          <a:xfrm>
            <a:off x="548640"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42" name="o41"/>
          <p:cNvSpPr/>
          <p:nvPr/>
        </p:nvSpPr>
        <p:spPr>
          <a:xfrm>
            <a:off x="617220" y="1805940"/>
            <a:ext cx="1737360" cy="2468880"/>
          </a:xfrm>
          <a:prstGeom prst="roundRect">
            <a:avLst>
              <a:gd name="adj" fmla="val 3421"/>
            </a:avLst>
          </a:prstGeom>
          <a:ln w="12700">
            <a:solidFill>
              <a:srgbClr val="2121DE"/>
            </a:solidFill>
            <a:prstDash val="solid"/>
          </a:ln>
        </p:spPr>
        <p:txBody>
          <a:bodyPr/>
          <a:lstStyle/>
          <a:p>
            <a:endParaRPr/>
          </a:p>
        </p:txBody>
      </p:sp>
      <p:pic>
        <p:nvPicPr>
          <p:cNvPr id="43" name="o42" descr="01"/>
          <p:cNvPicPr>
            <a:picLocks noChangeAspect="1"/>
          </p:cNvPicPr>
          <p:nvPr/>
        </p:nvPicPr>
        <p:blipFill>
          <a:blip r:embed="rId9"/>
          <a:stretch>
            <a:fillRect/>
          </a:stretch>
        </p:blipFill>
        <p:spPr>
          <a:xfrm>
            <a:off x="749808" y="1938528"/>
            <a:ext cx="256032" cy="128016"/>
          </a:xfrm>
          <a:prstGeom prst="rect">
            <a:avLst/>
          </a:prstGeom>
        </p:spPr>
      </p:pic>
      <p:pic>
        <p:nvPicPr>
          <p:cNvPr id="44" name="o43" descr="Données brutes"/>
          <p:cNvPicPr>
            <a:picLocks noChangeAspect="1"/>
          </p:cNvPicPr>
          <p:nvPr/>
        </p:nvPicPr>
        <p:blipFill>
          <a:blip r:embed="rId10"/>
          <a:stretch>
            <a:fillRect/>
          </a:stretch>
        </p:blipFill>
        <p:spPr>
          <a:xfrm>
            <a:off x="1156716" y="2240280"/>
            <a:ext cx="658368" cy="658368"/>
          </a:xfrm>
          <a:prstGeom prst="rect">
            <a:avLst/>
          </a:prstGeom>
        </p:spPr>
      </p:pic>
      <p:sp>
        <p:nvSpPr>
          <p:cNvPr id="45" name="o44"/>
          <p:cNvSpPr txBox="1"/>
          <p:nvPr/>
        </p:nvSpPr>
        <p:spPr>
          <a:xfrm>
            <a:off x="640080"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Données brutes</a:t>
            </a:r>
            <a:endParaRPr lang="en-US" sz="1600" dirty="0"/>
          </a:p>
        </p:txBody>
      </p:sp>
      <p:sp>
        <p:nvSpPr>
          <p:cNvPr id="46" name="o45"/>
          <p:cNvSpPr txBox="1"/>
          <p:nvPr/>
        </p:nvSpPr>
        <p:spPr>
          <a:xfrm>
            <a:off x="594360" y="3474720"/>
            <a:ext cx="1783080" cy="274320"/>
          </a:xfrm>
          <a:prstGeom prst="rect">
            <a:avLst/>
          </a:prstGeom>
          <a:noFill/>
          <a:ln/>
        </p:spPr>
        <p:txBody>
          <a:bodyPr wrap="square" lIns="0" tIns="0" rIns="0" bIns="0" rtlCol="0" anchor="t"/>
          <a:lstStyle/>
          <a:p>
            <a:pPr marL="0" indent="0" algn="ctr">
              <a:buNone/>
            </a:pPr>
            <a:r>
              <a:rPr lang="en-US" sz="1100" b="1" dirty="0">
                <a:solidFill>
                  <a:srgbClr val="FFFFFF"/>
                </a:solidFill>
                <a:latin typeface="Courier New" pitchFamily="34" charset="0"/>
                <a:ea typeface="Courier New" pitchFamily="34" charset="-122"/>
                <a:cs typeface="Courier New" pitchFamily="34" charset="-120"/>
              </a:rPr>
              <a:t>vgsales.csv</a:t>
            </a:r>
            <a:endParaRPr lang="en-US" sz="1100" dirty="0"/>
          </a:p>
        </p:txBody>
      </p:sp>
      <p:sp>
        <p:nvSpPr>
          <p:cNvPr id="47" name="o46"/>
          <p:cNvSpPr txBox="1"/>
          <p:nvPr/>
        </p:nvSpPr>
        <p:spPr>
          <a:xfrm>
            <a:off x="640080"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16 598 lignes</a:t>
            </a:r>
            <a:endParaRPr lang="en-US" sz="1300" dirty="0"/>
          </a:p>
        </p:txBody>
      </p:sp>
      <p:sp>
        <p:nvSpPr>
          <p:cNvPr id="48" name="o47"/>
          <p:cNvSpPr/>
          <p:nvPr/>
        </p:nvSpPr>
        <p:spPr>
          <a:xfrm>
            <a:off x="2494197" y="3003804"/>
            <a:ext cx="73152" cy="73152"/>
          </a:xfrm>
          <a:prstGeom prst="rect">
            <a:avLst/>
          </a:prstGeom>
          <a:solidFill>
            <a:srgbClr val="FFB8AE"/>
          </a:solidFill>
          <a:ln/>
        </p:spPr>
        <p:txBody>
          <a:bodyPr/>
          <a:lstStyle/>
          <a:p>
            <a:endParaRPr/>
          </a:p>
        </p:txBody>
      </p:sp>
      <p:sp>
        <p:nvSpPr>
          <p:cNvPr id="49" name="o48"/>
          <p:cNvSpPr/>
          <p:nvPr/>
        </p:nvSpPr>
        <p:spPr>
          <a:xfrm>
            <a:off x="2601811" y="3003804"/>
            <a:ext cx="73152" cy="73152"/>
          </a:xfrm>
          <a:prstGeom prst="rect">
            <a:avLst/>
          </a:prstGeom>
          <a:solidFill>
            <a:srgbClr val="FFB8AE"/>
          </a:solidFill>
          <a:ln/>
        </p:spPr>
        <p:txBody>
          <a:bodyPr/>
          <a:lstStyle/>
          <a:p>
            <a:endParaRPr/>
          </a:p>
        </p:txBody>
      </p:sp>
      <p:sp>
        <p:nvSpPr>
          <p:cNvPr id="50" name="o49"/>
          <p:cNvSpPr/>
          <p:nvPr/>
        </p:nvSpPr>
        <p:spPr>
          <a:xfrm>
            <a:off x="2709424" y="3003804"/>
            <a:ext cx="73152" cy="73152"/>
          </a:xfrm>
          <a:prstGeom prst="rect">
            <a:avLst/>
          </a:prstGeom>
          <a:solidFill>
            <a:srgbClr val="FFB8AE"/>
          </a:solidFill>
          <a:ln/>
        </p:spPr>
        <p:txBody>
          <a:bodyPr/>
          <a:lstStyle/>
          <a:p>
            <a:endParaRPr/>
          </a:p>
        </p:txBody>
      </p:sp>
      <p:sp>
        <p:nvSpPr>
          <p:cNvPr id="51" name="o50"/>
          <p:cNvSpPr/>
          <p:nvPr/>
        </p:nvSpPr>
        <p:spPr>
          <a:xfrm>
            <a:off x="2853614"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52" name="o51"/>
          <p:cNvSpPr/>
          <p:nvPr/>
        </p:nvSpPr>
        <p:spPr>
          <a:xfrm>
            <a:off x="2922194" y="1805940"/>
            <a:ext cx="1737360" cy="2468880"/>
          </a:xfrm>
          <a:prstGeom prst="roundRect">
            <a:avLst>
              <a:gd name="adj" fmla="val 3421"/>
            </a:avLst>
          </a:prstGeom>
          <a:ln w="12700">
            <a:solidFill>
              <a:srgbClr val="2121DE"/>
            </a:solidFill>
            <a:prstDash val="solid"/>
          </a:ln>
        </p:spPr>
        <p:txBody>
          <a:bodyPr/>
          <a:lstStyle/>
          <a:p>
            <a:endParaRPr/>
          </a:p>
        </p:txBody>
      </p:sp>
      <p:pic>
        <p:nvPicPr>
          <p:cNvPr id="53" name="o52" descr="02"/>
          <p:cNvPicPr>
            <a:picLocks noChangeAspect="1"/>
          </p:cNvPicPr>
          <p:nvPr/>
        </p:nvPicPr>
        <p:blipFill>
          <a:blip r:embed="rId11"/>
          <a:stretch>
            <a:fillRect/>
          </a:stretch>
        </p:blipFill>
        <p:spPr>
          <a:xfrm>
            <a:off x="3054782" y="1938528"/>
            <a:ext cx="256032" cy="128016"/>
          </a:xfrm>
          <a:prstGeom prst="rect">
            <a:avLst/>
          </a:prstGeom>
        </p:spPr>
      </p:pic>
      <p:pic>
        <p:nvPicPr>
          <p:cNvPr id="54" name="o53" descr="Nettoyage"/>
          <p:cNvPicPr>
            <a:picLocks noChangeAspect="1"/>
          </p:cNvPicPr>
          <p:nvPr/>
        </p:nvPicPr>
        <p:blipFill>
          <a:blip r:embed="rId12"/>
          <a:stretch>
            <a:fillRect/>
          </a:stretch>
        </p:blipFill>
        <p:spPr>
          <a:xfrm>
            <a:off x="3461690" y="2240280"/>
            <a:ext cx="658368" cy="658368"/>
          </a:xfrm>
          <a:prstGeom prst="rect">
            <a:avLst/>
          </a:prstGeom>
        </p:spPr>
      </p:pic>
      <p:sp>
        <p:nvSpPr>
          <p:cNvPr id="55" name="o54"/>
          <p:cNvSpPr txBox="1"/>
          <p:nvPr/>
        </p:nvSpPr>
        <p:spPr>
          <a:xfrm>
            <a:off x="2945054"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Nettoyage</a:t>
            </a:r>
            <a:endParaRPr lang="en-US" sz="1600" dirty="0"/>
          </a:p>
        </p:txBody>
      </p:sp>
      <p:sp>
        <p:nvSpPr>
          <p:cNvPr id="56" name="o55"/>
          <p:cNvSpPr txBox="1"/>
          <p:nvPr/>
        </p:nvSpPr>
        <p:spPr>
          <a:xfrm>
            <a:off x="2899334" y="3474720"/>
            <a:ext cx="1783080" cy="274320"/>
          </a:xfrm>
          <a:prstGeom prst="rect">
            <a:avLst/>
          </a:prstGeom>
          <a:noFill/>
          <a:ln/>
        </p:spPr>
        <p:txBody>
          <a:bodyPr wrap="square" lIns="0" tIns="0" rIns="0" bIns="0" rtlCol="0" anchor="t"/>
          <a:lstStyle/>
          <a:p>
            <a:pPr marL="0" indent="0" algn="ctr">
              <a:buNone/>
            </a:pPr>
            <a:r>
              <a:rPr lang="en-US" sz="1100" b="1" dirty="0">
                <a:solidFill>
                  <a:srgbClr val="FFB8FF"/>
                </a:solidFill>
                <a:latin typeface="Courier New" pitchFamily="34" charset="0"/>
                <a:ea typeface="Courier New" pitchFamily="34" charset="-122"/>
                <a:cs typeface="Courier New" pitchFamily="34" charset="-120"/>
              </a:rPr>
              <a:t>cleaning.py</a:t>
            </a:r>
            <a:endParaRPr lang="en-US" sz="1100" dirty="0"/>
          </a:p>
        </p:txBody>
      </p:sp>
      <p:sp>
        <p:nvSpPr>
          <p:cNvPr id="57" name="o56"/>
          <p:cNvSpPr txBox="1"/>
          <p:nvPr/>
        </p:nvSpPr>
        <p:spPr>
          <a:xfrm>
            <a:off x="2945054"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règles centralisées</a:t>
            </a:r>
            <a:endParaRPr lang="en-US" sz="1300" dirty="0"/>
          </a:p>
        </p:txBody>
      </p:sp>
      <p:sp>
        <p:nvSpPr>
          <p:cNvPr id="58" name="o57"/>
          <p:cNvSpPr/>
          <p:nvPr/>
        </p:nvSpPr>
        <p:spPr>
          <a:xfrm>
            <a:off x="4799171" y="3003804"/>
            <a:ext cx="73152" cy="73152"/>
          </a:xfrm>
          <a:prstGeom prst="rect">
            <a:avLst/>
          </a:prstGeom>
          <a:solidFill>
            <a:srgbClr val="FFB8AE"/>
          </a:solidFill>
          <a:ln/>
        </p:spPr>
        <p:txBody>
          <a:bodyPr/>
          <a:lstStyle/>
          <a:p>
            <a:endParaRPr/>
          </a:p>
        </p:txBody>
      </p:sp>
      <p:sp>
        <p:nvSpPr>
          <p:cNvPr id="59" name="o58"/>
          <p:cNvSpPr/>
          <p:nvPr/>
        </p:nvSpPr>
        <p:spPr>
          <a:xfrm>
            <a:off x="4906785" y="3003804"/>
            <a:ext cx="73152" cy="73152"/>
          </a:xfrm>
          <a:prstGeom prst="rect">
            <a:avLst/>
          </a:prstGeom>
          <a:solidFill>
            <a:srgbClr val="FFB8AE"/>
          </a:solidFill>
          <a:ln/>
        </p:spPr>
        <p:txBody>
          <a:bodyPr/>
          <a:lstStyle/>
          <a:p>
            <a:endParaRPr/>
          </a:p>
        </p:txBody>
      </p:sp>
      <p:sp>
        <p:nvSpPr>
          <p:cNvPr id="60" name="o59"/>
          <p:cNvSpPr/>
          <p:nvPr/>
        </p:nvSpPr>
        <p:spPr>
          <a:xfrm>
            <a:off x="5014398" y="3003804"/>
            <a:ext cx="73152" cy="73152"/>
          </a:xfrm>
          <a:prstGeom prst="rect">
            <a:avLst/>
          </a:prstGeom>
          <a:solidFill>
            <a:srgbClr val="FFB8AE"/>
          </a:solidFill>
          <a:ln/>
        </p:spPr>
        <p:txBody>
          <a:bodyPr/>
          <a:lstStyle/>
          <a:p>
            <a:endParaRPr/>
          </a:p>
        </p:txBody>
      </p:sp>
      <p:sp>
        <p:nvSpPr>
          <p:cNvPr id="61" name="o60"/>
          <p:cNvSpPr/>
          <p:nvPr/>
        </p:nvSpPr>
        <p:spPr>
          <a:xfrm>
            <a:off x="5158588"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62" name="o61"/>
          <p:cNvSpPr/>
          <p:nvPr/>
        </p:nvSpPr>
        <p:spPr>
          <a:xfrm>
            <a:off x="5227168" y="1805940"/>
            <a:ext cx="1737360" cy="2468880"/>
          </a:xfrm>
          <a:prstGeom prst="roundRect">
            <a:avLst>
              <a:gd name="adj" fmla="val 3421"/>
            </a:avLst>
          </a:prstGeom>
          <a:ln w="12700">
            <a:solidFill>
              <a:srgbClr val="2121DE"/>
            </a:solidFill>
            <a:prstDash val="solid"/>
          </a:ln>
        </p:spPr>
        <p:txBody>
          <a:bodyPr/>
          <a:lstStyle/>
          <a:p>
            <a:endParaRPr/>
          </a:p>
        </p:txBody>
      </p:sp>
      <p:pic>
        <p:nvPicPr>
          <p:cNvPr id="63" name="o62" descr="03"/>
          <p:cNvPicPr>
            <a:picLocks noChangeAspect="1"/>
          </p:cNvPicPr>
          <p:nvPr/>
        </p:nvPicPr>
        <p:blipFill>
          <a:blip r:embed="rId13"/>
          <a:stretch>
            <a:fillRect/>
          </a:stretch>
        </p:blipFill>
        <p:spPr>
          <a:xfrm>
            <a:off x="5359756" y="1938528"/>
            <a:ext cx="256032" cy="128016"/>
          </a:xfrm>
          <a:prstGeom prst="rect">
            <a:avLst/>
          </a:prstGeom>
        </p:spPr>
      </p:pic>
      <p:pic>
        <p:nvPicPr>
          <p:cNvPr id="64" name="o63" descr="Données propres"/>
          <p:cNvPicPr>
            <a:picLocks noChangeAspect="1"/>
          </p:cNvPicPr>
          <p:nvPr/>
        </p:nvPicPr>
        <p:blipFill>
          <a:blip r:embed="rId14"/>
          <a:stretch>
            <a:fillRect/>
          </a:stretch>
        </p:blipFill>
        <p:spPr>
          <a:xfrm>
            <a:off x="5766664" y="2240280"/>
            <a:ext cx="658368" cy="658368"/>
          </a:xfrm>
          <a:prstGeom prst="rect">
            <a:avLst/>
          </a:prstGeom>
        </p:spPr>
      </p:pic>
      <p:sp>
        <p:nvSpPr>
          <p:cNvPr id="65" name="o64"/>
          <p:cNvSpPr txBox="1"/>
          <p:nvPr/>
        </p:nvSpPr>
        <p:spPr>
          <a:xfrm>
            <a:off x="5250028"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Données propres</a:t>
            </a:r>
            <a:endParaRPr lang="en-US" sz="1600" dirty="0"/>
          </a:p>
        </p:txBody>
      </p:sp>
      <p:sp>
        <p:nvSpPr>
          <p:cNvPr id="66" name="o65"/>
          <p:cNvSpPr txBox="1"/>
          <p:nvPr/>
        </p:nvSpPr>
        <p:spPr>
          <a:xfrm>
            <a:off x="5204308" y="3474720"/>
            <a:ext cx="1783080" cy="274320"/>
          </a:xfrm>
          <a:prstGeom prst="rect">
            <a:avLst/>
          </a:prstGeom>
          <a:noFill/>
          <a:ln/>
        </p:spPr>
        <p:txBody>
          <a:bodyPr wrap="square" lIns="0" tIns="0" rIns="0" bIns="0" rtlCol="0" anchor="t"/>
          <a:lstStyle/>
          <a:p>
            <a:pPr marL="0" indent="0" algn="ctr">
              <a:buNone/>
            </a:pPr>
            <a:r>
              <a:rPr lang="en-US" sz="1100" b="1" dirty="0">
                <a:solidFill>
                  <a:srgbClr val="00FFFF"/>
                </a:solidFill>
                <a:latin typeface="Courier New" pitchFamily="34" charset="0"/>
                <a:ea typeface="Courier New" pitchFamily="34" charset="-122"/>
                <a:cs typeface="Courier New" pitchFamily="34" charset="-120"/>
              </a:rPr>
              <a:t>vgsales_clean.csv</a:t>
            </a:r>
            <a:endParaRPr lang="en-US" sz="1100" dirty="0"/>
          </a:p>
        </p:txBody>
      </p:sp>
      <p:sp>
        <p:nvSpPr>
          <p:cNvPr id="67" name="o66"/>
          <p:cNvSpPr txBox="1"/>
          <p:nvPr/>
        </p:nvSpPr>
        <p:spPr>
          <a:xfrm>
            <a:off x="5250028"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16 326 jeux</a:t>
            </a:r>
            <a:endParaRPr lang="en-US" sz="1300" dirty="0"/>
          </a:p>
        </p:txBody>
      </p:sp>
      <p:sp>
        <p:nvSpPr>
          <p:cNvPr id="68" name="o67"/>
          <p:cNvSpPr/>
          <p:nvPr/>
        </p:nvSpPr>
        <p:spPr>
          <a:xfrm>
            <a:off x="7104145" y="3003804"/>
            <a:ext cx="73152" cy="73152"/>
          </a:xfrm>
          <a:prstGeom prst="rect">
            <a:avLst/>
          </a:prstGeom>
          <a:solidFill>
            <a:srgbClr val="FFB8AE"/>
          </a:solidFill>
          <a:ln/>
        </p:spPr>
        <p:txBody>
          <a:bodyPr/>
          <a:lstStyle/>
          <a:p>
            <a:endParaRPr/>
          </a:p>
        </p:txBody>
      </p:sp>
      <p:sp>
        <p:nvSpPr>
          <p:cNvPr id="69" name="o68"/>
          <p:cNvSpPr/>
          <p:nvPr/>
        </p:nvSpPr>
        <p:spPr>
          <a:xfrm>
            <a:off x="7211759" y="3003804"/>
            <a:ext cx="73152" cy="73152"/>
          </a:xfrm>
          <a:prstGeom prst="rect">
            <a:avLst/>
          </a:prstGeom>
          <a:solidFill>
            <a:srgbClr val="FFB8AE"/>
          </a:solidFill>
          <a:ln/>
        </p:spPr>
        <p:txBody>
          <a:bodyPr/>
          <a:lstStyle/>
          <a:p>
            <a:endParaRPr/>
          </a:p>
        </p:txBody>
      </p:sp>
      <p:sp>
        <p:nvSpPr>
          <p:cNvPr id="70" name="o69"/>
          <p:cNvSpPr/>
          <p:nvPr/>
        </p:nvSpPr>
        <p:spPr>
          <a:xfrm>
            <a:off x="7319372" y="3003804"/>
            <a:ext cx="73152" cy="73152"/>
          </a:xfrm>
          <a:prstGeom prst="rect">
            <a:avLst/>
          </a:prstGeom>
          <a:solidFill>
            <a:srgbClr val="FFB8AE"/>
          </a:solidFill>
          <a:ln/>
        </p:spPr>
        <p:txBody>
          <a:bodyPr/>
          <a:lstStyle/>
          <a:p>
            <a:endParaRPr/>
          </a:p>
        </p:txBody>
      </p:sp>
      <p:sp>
        <p:nvSpPr>
          <p:cNvPr id="71" name="o70"/>
          <p:cNvSpPr/>
          <p:nvPr/>
        </p:nvSpPr>
        <p:spPr>
          <a:xfrm>
            <a:off x="7463561"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72" name="o71"/>
          <p:cNvSpPr/>
          <p:nvPr/>
        </p:nvSpPr>
        <p:spPr>
          <a:xfrm>
            <a:off x="7532141" y="1805940"/>
            <a:ext cx="1737360" cy="2468880"/>
          </a:xfrm>
          <a:prstGeom prst="roundRect">
            <a:avLst>
              <a:gd name="adj" fmla="val 3421"/>
            </a:avLst>
          </a:prstGeom>
          <a:ln w="12700">
            <a:solidFill>
              <a:srgbClr val="2121DE"/>
            </a:solidFill>
            <a:prstDash val="solid"/>
          </a:ln>
        </p:spPr>
        <p:txBody>
          <a:bodyPr/>
          <a:lstStyle/>
          <a:p>
            <a:endParaRPr/>
          </a:p>
        </p:txBody>
      </p:sp>
      <p:pic>
        <p:nvPicPr>
          <p:cNvPr id="73" name="o72" descr="04"/>
          <p:cNvPicPr>
            <a:picLocks noChangeAspect="1"/>
          </p:cNvPicPr>
          <p:nvPr/>
        </p:nvPicPr>
        <p:blipFill>
          <a:blip r:embed="rId15"/>
          <a:stretch>
            <a:fillRect/>
          </a:stretch>
        </p:blipFill>
        <p:spPr>
          <a:xfrm>
            <a:off x="7664729" y="1938528"/>
            <a:ext cx="256032" cy="128016"/>
          </a:xfrm>
          <a:prstGeom prst="rect">
            <a:avLst/>
          </a:prstGeom>
        </p:spPr>
      </p:pic>
      <p:pic>
        <p:nvPicPr>
          <p:cNvPr id="74" name="o73" descr="Indicateurs"/>
          <p:cNvPicPr>
            <a:picLocks noChangeAspect="1"/>
          </p:cNvPicPr>
          <p:nvPr/>
        </p:nvPicPr>
        <p:blipFill>
          <a:blip r:embed="rId16"/>
          <a:stretch>
            <a:fillRect/>
          </a:stretch>
        </p:blipFill>
        <p:spPr>
          <a:xfrm>
            <a:off x="8071637" y="2240280"/>
            <a:ext cx="658368" cy="658368"/>
          </a:xfrm>
          <a:prstGeom prst="rect">
            <a:avLst/>
          </a:prstGeom>
        </p:spPr>
      </p:pic>
      <p:sp>
        <p:nvSpPr>
          <p:cNvPr id="75" name="o74"/>
          <p:cNvSpPr txBox="1"/>
          <p:nvPr/>
        </p:nvSpPr>
        <p:spPr>
          <a:xfrm>
            <a:off x="7555001"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Indicateurs</a:t>
            </a:r>
            <a:endParaRPr lang="en-US" sz="1600" dirty="0"/>
          </a:p>
        </p:txBody>
      </p:sp>
      <p:sp>
        <p:nvSpPr>
          <p:cNvPr id="76" name="o75"/>
          <p:cNvSpPr txBox="1"/>
          <p:nvPr/>
        </p:nvSpPr>
        <p:spPr>
          <a:xfrm>
            <a:off x="7509281" y="3474720"/>
            <a:ext cx="1783080" cy="274320"/>
          </a:xfrm>
          <a:prstGeom prst="rect">
            <a:avLst/>
          </a:prstGeom>
          <a:noFill/>
          <a:ln/>
        </p:spPr>
        <p:txBody>
          <a:bodyPr wrap="square" lIns="0" tIns="0" rIns="0" bIns="0" rtlCol="0" anchor="t"/>
          <a:lstStyle/>
          <a:p>
            <a:pPr marL="0" indent="0" algn="ctr">
              <a:buNone/>
            </a:pPr>
            <a:r>
              <a:rPr lang="en-US" sz="1100" b="1" dirty="0">
                <a:solidFill>
                  <a:srgbClr val="FFB852"/>
                </a:solidFill>
                <a:latin typeface="Courier New" pitchFamily="34" charset="0"/>
                <a:ea typeface="Courier New" pitchFamily="34" charset="-122"/>
                <a:cs typeface="Courier New" pitchFamily="34" charset="-120"/>
              </a:rPr>
              <a:t>indicators.py</a:t>
            </a:r>
            <a:endParaRPr lang="en-US" sz="1100" dirty="0"/>
          </a:p>
        </p:txBody>
      </p:sp>
      <p:sp>
        <p:nvSpPr>
          <p:cNvPr id="77" name="o76"/>
          <p:cNvSpPr txBox="1"/>
          <p:nvPr/>
        </p:nvSpPr>
        <p:spPr>
          <a:xfrm>
            <a:off x="7555001"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MPI · divergence</a:t>
            </a:r>
            <a:endParaRPr lang="en-US" sz="1300" dirty="0"/>
          </a:p>
        </p:txBody>
      </p:sp>
      <p:sp>
        <p:nvSpPr>
          <p:cNvPr id="78" name="o77"/>
          <p:cNvSpPr/>
          <p:nvPr/>
        </p:nvSpPr>
        <p:spPr>
          <a:xfrm>
            <a:off x="9409119" y="3003804"/>
            <a:ext cx="73152" cy="73152"/>
          </a:xfrm>
          <a:prstGeom prst="rect">
            <a:avLst/>
          </a:prstGeom>
          <a:solidFill>
            <a:srgbClr val="FFB8AE"/>
          </a:solidFill>
          <a:ln/>
        </p:spPr>
        <p:txBody>
          <a:bodyPr/>
          <a:lstStyle/>
          <a:p>
            <a:endParaRPr/>
          </a:p>
        </p:txBody>
      </p:sp>
      <p:sp>
        <p:nvSpPr>
          <p:cNvPr id="79" name="o78"/>
          <p:cNvSpPr/>
          <p:nvPr/>
        </p:nvSpPr>
        <p:spPr>
          <a:xfrm>
            <a:off x="9516732" y="3003804"/>
            <a:ext cx="73152" cy="73152"/>
          </a:xfrm>
          <a:prstGeom prst="rect">
            <a:avLst/>
          </a:prstGeom>
          <a:solidFill>
            <a:srgbClr val="FFB8AE"/>
          </a:solidFill>
          <a:ln/>
        </p:spPr>
        <p:txBody>
          <a:bodyPr/>
          <a:lstStyle/>
          <a:p>
            <a:endParaRPr/>
          </a:p>
        </p:txBody>
      </p:sp>
      <p:sp>
        <p:nvSpPr>
          <p:cNvPr id="80" name="o79"/>
          <p:cNvSpPr/>
          <p:nvPr/>
        </p:nvSpPr>
        <p:spPr>
          <a:xfrm>
            <a:off x="9624346" y="3003804"/>
            <a:ext cx="73152" cy="73152"/>
          </a:xfrm>
          <a:prstGeom prst="rect">
            <a:avLst/>
          </a:prstGeom>
          <a:solidFill>
            <a:srgbClr val="FFB8AE"/>
          </a:solidFill>
          <a:ln/>
        </p:spPr>
        <p:txBody>
          <a:bodyPr/>
          <a:lstStyle/>
          <a:p>
            <a:endParaRPr/>
          </a:p>
        </p:txBody>
      </p:sp>
      <p:sp>
        <p:nvSpPr>
          <p:cNvPr id="81" name="o80"/>
          <p:cNvSpPr/>
          <p:nvPr/>
        </p:nvSpPr>
        <p:spPr>
          <a:xfrm>
            <a:off x="9768535"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82" name="o81"/>
          <p:cNvSpPr/>
          <p:nvPr/>
        </p:nvSpPr>
        <p:spPr>
          <a:xfrm>
            <a:off x="9837115" y="1805940"/>
            <a:ext cx="1737360" cy="2468880"/>
          </a:xfrm>
          <a:prstGeom prst="roundRect">
            <a:avLst>
              <a:gd name="adj" fmla="val 3421"/>
            </a:avLst>
          </a:prstGeom>
          <a:ln w="12700">
            <a:solidFill>
              <a:srgbClr val="2121DE"/>
            </a:solidFill>
            <a:prstDash val="solid"/>
          </a:ln>
        </p:spPr>
        <p:txBody>
          <a:bodyPr/>
          <a:lstStyle/>
          <a:p>
            <a:endParaRPr/>
          </a:p>
        </p:txBody>
      </p:sp>
      <p:pic>
        <p:nvPicPr>
          <p:cNvPr id="83" name="o82" descr="05"/>
          <p:cNvPicPr>
            <a:picLocks noChangeAspect="1"/>
          </p:cNvPicPr>
          <p:nvPr/>
        </p:nvPicPr>
        <p:blipFill>
          <a:blip r:embed="rId17"/>
          <a:stretch>
            <a:fillRect/>
          </a:stretch>
        </p:blipFill>
        <p:spPr>
          <a:xfrm>
            <a:off x="9969703" y="1938528"/>
            <a:ext cx="256032" cy="128016"/>
          </a:xfrm>
          <a:prstGeom prst="rect">
            <a:avLst/>
          </a:prstGeom>
        </p:spPr>
      </p:pic>
      <p:pic>
        <p:nvPicPr>
          <p:cNvPr id="84" name="o83" descr="Restitution"/>
          <p:cNvPicPr>
            <a:picLocks noChangeAspect="1"/>
          </p:cNvPicPr>
          <p:nvPr/>
        </p:nvPicPr>
        <p:blipFill>
          <a:blip r:embed="rId18"/>
          <a:stretch>
            <a:fillRect/>
          </a:stretch>
        </p:blipFill>
        <p:spPr>
          <a:xfrm>
            <a:off x="10376611" y="2240280"/>
            <a:ext cx="658368" cy="658368"/>
          </a:xfrm>
          <a:prstGeom prst="rect">
            <a:avLst/>
          </a:prstGeom>
        </p:spPr>
      </p:pic>
      <p:sp>
        <p:nvSpPr>
          <p:cNvPr id="85" name="o84"/>
          <p:cNvSpPr txBox="1"/>
          <p:nvPr/>
        </p:nvSpPr>
        <p:spPr>
          <a:xfrm>
            <a:off x="9859975"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Restitution</a:t>
            </a:r>
            <a:endParaRPr lang="en-US" sz="1600" dirty="0"/>
          </a:p>
        </p:txBody>
      </p:sp>
      <p:sp>
        <p:nvSpPr>
          <p:cNvPr id="86" name="o85"/>
          <p:cNvSpPr txBox="1"/>
          <p:nvPr/>
        </p:nvSpPr>
        <p:spPr>
          <a:xfrm>
            <a:off x="9814255" y="3474720"/>
            <a:ext cx="1783080" cy="274320"/>
          </a:xfrm>
          <a:prstGeom prst="rect">
            <a:avLst/>
          </a:prstGeom>
          <a:noFill/>
          <a:ln/>
        </p:spPr>
        <p:txBody>
          <a:bodyPr wrap="square" lIns="0" tIns="0" rIns="0" bIns="0" rtlCol="0" anchor="t"/>
          <a:lstStyle/>
          <a:p>
            <a:pPr marL="0" indent="0" algn="ctr">
              <a:buNone/>
            </a:pPr>
            <a:r>
              <a:rPr lang="en-US" sz="1100" b="1" dirty="0">
                <a:solidFill>
                  <a:srgbClr val="FFE600"/>
                </a:solidFill>
                <a:latin typeface="Courier New" pitchFamily="34" charset="0"/>
                <a:ea typeface="Courier New" pitchFamily="34" charset="-122"/>
                <a:cs typeface="Courier New" pitchFamily="34" charset="-120"/>
              </a:rPr>
              <a:t>notebook + appli</a:t>
            </a:r>
            <a:endParaRPr lang="en-US" sz="1100" dirty="0"/>
          </a:p>
        </p:txBody>
      </p:sp>
      <p:sp>
        <p:nvSpPr>
          <p:cNvPr id="87" name="o86"/>
          <p:cNvSpPr txBox="1"/>
          <p:nvPr/>
        </p:nvSpPr>
        <p:spPr>
          <a:xfrm>
            <a:off x="9859975"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24 figures · 9 pages</a:t>
            </a:r>
            <a:endParaRPr lang="en-US" sz="1300" dirty="0"/>
          </a:p>
        </p:txBody>
      </p:sp>
      <p:sp>
        <p:nvSpPr>
          <p:cNvPr id="88" name="o87"/>
          <p:cNvSpPr/>
          <p:nvPr/>
        </p:nvSpPr>
        <p:spPr>
          <a:xfrm>
            <a:off x="548640" y="4709160"/>
            <a:ext cx="11094415" cy="960120"/>
          </a:xfrm>
          <a:prstGeom prst="roundRect">
            <a:avLst>
              <a:gd name="adj" fmla="val 9524"/>
            </a:avLst>
          </a:prstGeom>
          <a:solidFill>
            <a:srgbClr val="000000"/>
          </a:solidFill>
          <a:ln w="28575">
            <a:solidFill>
              <a:srgbClr val="00DE00"/>
            </a:solidFill>
            <a:prstDash val="solid"/>
          </a:ln>
        </p:spPr>
      </p:sp>
      <p:sp>
        <p:nvSpPr>
          <p:cNvPr id="89" name="o88"/>
          <p:cNvSpPr/>
          <p:nvPr/>
        </p:nvSpPr>
        <p:spPr>
          <a:xfrm>
            <a:off x="617220" y="4777740"/>
            <a:ext cx="10957255" cy="822960"/>
          </a:xfrm>
          <a:prstGeom prst="roundRect">
            <a:avLst>
              <a:gd name="adj" fmla="val 2778"/>
            </a:avLst>
          </a:prstGeom>
          <a:ln w="12700">
            <a:solidFill>
              <a:srgbClr val="00DE00"/>
            </a:solidFill>
            <a:prstDash val="solid"/>
          </a:ln>
        </p:spPr>
      </p:sp>
      <p:pic>
        <p:nvPicPr>
          <p:cNvPr id="90" name="o89" descr="validé"/>
          <p:cNvPicPr>
            <a:picLocks noChangeAspect="1"/>
          </p:cNvPicPr>
          <p:nvPr/>
        </p:nvPicPr>
        <p:blipFill>
          <a:blip r:embed="rId19"/>
          <a:stretch>
            <a:fillRect/>
          </a:stretch>
        </p:blipFill>
        <p:spPr>
          <a:xfrm>
            <a:off x="868680" y="4937760"/>
            <a:ext cx="502920" cy="502920"/>
          </a:xfrm>
          <a:prstGeom prst="rect">
            <a:avLst/>
          </a:prstGeom>
        </p:spPr>
      </p:pic>
      <p:sp>
        <p:nvSpPr>
          <p:cNvPr id="91" name="o90"/>
          <p:cNvSpPr txBox="1"/>
          <p:nvPr/>
        </p:nvSpPr>
        <p:spPr>
          <a:xfrm>
            <a:off x="1600200" y="4709160"/>
            <a:ext cx="9784080" cy="96012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Un seul code de nettoyage pour le notebook ET l'appli. </a:t>
            </a:r>
            <a:r>
              <a:rPr lang="en-US" sz="1600" dirty="0">
                <a:solidFill>
                  <a:srgbClr val="C4C4E4"/>
                </a:solidFill>
                <a:latin typeface="Arial" pitchFamily="34" charset="0"/>
                <a:ea typeface="Arial" pitchFamily="34" charset="-122"/>
                <a:cs typeface="Arial" pitchFamily="34" charset="-120"/>
              </a:rPr>
              <a:t>Un test (assert_frame_equal) garantit que les deux travaillent sur des données identiques.</a:t>
            </a:r>
            <a:endParaRPr lang="en-US" sz="1600" dirty="0"/>
          </a:p>
        </p:txBody>
      </p:sp>
      <p:pic>
        <p:nvPicPr>
          <p:cNvPr id="168" name="barre_fantome" descr="image.gif"/>
          <p:cNvPicPr>
            <a:picLocks noChangeAspect="1"/>
          </p:cNvPicPr>
          <p:nvPr/>
        </p:nvPicPr>
        <p:blipFill>
          <a:blip r:embed="rId8"/>
          <a:stretch>
            <a:fillRect/>
          </a:stretch>
        </p:blipFill>
        <p:spPr>
          <a:xfrm>
            <a:off x="1453401" y="6291072"/>
            <a:ext cx="310896" cy="310896"/>
          </a:xfrm>
          <a:prstGeom prst="rect">
            <a:avLst/>
          </a:prstGeom>
        </p:spPr>
      </p:pic>
      <p:pic>
        <p:nvPicPr>
          <p:cNvPr id="169" name="barre_pacman" descr="image.gif"/>
          <p:cNvPicPr>
            <a:picLocks noChangeAspect="1"/>
          </p:cNvPicPr>
          <p:nvPr/>
        </p:nvPicPr>
        <p:blipFill>
          <a:blip r:embed="rId7"/>
          <a:stretch>
            <a:fillRect/>
          </a:stretch>
        </p:blipFill>
        <p:spPr>
          <a:xfrm>
            <a:off x="2020329" y="6291072"/>
            <a:ext cx="310896" cy="310896"/>
          </a:xfrm>
          <a:prstGeom prst="rect">
            <a:avLst/>
          </a:prstGeom>
        </p:spPr>
      </p:pic>
      <p:sp>
        <p:nvSpPr>
          <p:cNvPr id="170"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6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69"/>
                                        </p:tgtEl>
                                        <p:attrNameLst>
                                          <p:attrName>ppt_x</p:attrName>
                                          <p:attrName>ppt_y</p:attrName>
                                        </p:attrNameLst>
                                      </p:cBhvr>
                                    </p:animMotion>
                                  </p:childTnLst>
                                </p:cTn>
                              </p:par>
                              <p:par>
                                <p:cTn id="9" presetID="1" presetClass="exit" presetSubtype="0" fill="hold" nodeType="withEffect">
                                  <p:stCondLst>
                                    <p:cond delay="742"/>
                                  </p:stCondLst>
                                  <p:childTnLst>
                                    <p:set>
                                      <p:cBhvr>
                                        <p:cTn id="10" dur="1" fill="hold">
                                          <p:stCondLst>
                                            <p:cond delay="0"/>
                                          </p:stCondLst>
                                        </p:cTn>
                                        <p:tgtEl>
                                          <p:spTgt spid="170"/>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400"/>
                                        <p:tgtEl>
                                          <p:spTgt spid="41"/>
                                        </p:tgtEl>
                                      </p:cBhvr>
                                    </p:animEffect>
                                  </p:childTnLst>
                                </p:cTn>
                              </p:par>
                              <p:par>
                                <p:cTn id="14" presetID="10" presetClass="entr" presetSubtype="0" fill="hold" nodeType="withEffect">
                                  <p:stCondLst>
                                    <p:cond delay="15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400"/>
                                        <p:tgtEl>
                                          <p:spTgt spid="42"/>
                                        </p:tgtEl>
                                      </p:cBhvr>
                                    </p:animEffect>
                                  </p:childTnLst>
                                </p:cTn>
                              </p:par>
                              <p:par>
                                <p:cTn id="17" presetID="10" presetClass="entr" presetSubtype="0" fill="hold" nodeType="withEffect">
                                  <p:stCondLst>
                                    <p:cond delay="15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400"/>
                                        <p:tgtEl>
                                          <p:spTgt spid="43"/>
                                        </p:tgtEl>
                                      </p:cBhvr>
                                    </p:animEffect>
                                  </p:childTnLst>
                                </p:cTn>
                              </p:par>
                              <p:par>
                                <p:cTn id="20" presetID="10" presetClass="entr" presetSubtype="0" fill="hold" nodeType="withEffect">
                                  <p:stCondLst>
                                    <p:cond delay="15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400"/>
                                        <p:tgtEl>
                                          <p:spTgt spid="44"/>
                                        </p:tgtEl>
                                      </p:cBhvr>
                                    </p:animEffect>
                                  </p:childTnLst>
                                </p:cTn>
                              </p:par>
                              <p:par>
                                <p:cTn id="23" presetID="10" presetClass="entr" presetSubtype="0" fill="hold" nodeType="withEffect">
                                  <p:stCondLst>
                                    <p:cond delay="15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400"/>
                                        <p:tgtEl>
                                          <p:spTgt spid="45"/>
                                        </p:tgtEl>
                                      </p:cBhvr>
                                    </p:animEffect>
                                  </p:childTnLst>
                                </p:cTn>
                              </p:par>
                              <p:par>
                                <p:cTn id="26" presetID="10" presetClass="entr" presetSubtype="0" fill="hold" nodeType="withEffect">
                                  <p:stCondLst>
                                    <p:cond delay="15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400"/>
                                        <p:tgtEl>
                                          <p:spTgt spid="46"/>
                                        </p:tgtEl>
                                      </p:cBhvr>
                                    </p:animEffect>
                                  </p:childTnLst>
                                </p:cTn>
                              </p:par>
                              <p:par>
                                <p:cTn id="29" presetID="10" presetClass="entr" presetSubtype="0" fill="hold" nodeType="withEffect">
                                  <p:stCondLst>
                                    <p:cond delay="15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400"/>
                                        <p:tgtEl>
                                          <p:spTgt spid="47"/>
                                        </p:tgtEl>
                                      </p:cBhvr>
                                    </p:animEffect>
                                  </p:childTnLst>
                                </p:cTn>
                              </p:par>
                              <p:par>
                                <p:cTn id="32" presetID="10" presetClass="entr" presetSubtype="0" fill="hold" nodeType="withEffect">
                                  <p:stCondLst>
                                    <p:cond delay="37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400"/>
                                        <p:tgtEl>
                                          <p:spTgt spid="48"/>
                                        </p:tgtEl>
                                      </p:cBhvr>
                                    </p:animEffect>
                                  </p:childTnLst>
                                </p:cTn>
                              </p:par>
                              <p:par>
                                <p:cTn id="35" presetID="10" presetClass="entr" presetSubtype="0" fill="hold" nodeType="withEffect">
                                  <p:stCondLst>
                                    <p:cond delay="43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400"/>
                                        <p:tgtEl>
                                          <p:spTgt spid="49"/>
                                        </p:tgtEl>
                                      </p:cBhvr>
                                    </p:animEffect>
                                  </p:childTnLst>
                                </p:cTn>
                              </p:par>
                              <p:par>
                                <p:cTn id="38" presetID="10" presetClass="entr" presetSubtype="0" fill="hold" nodeType="withEffect">
                                  <p:stCondLst>
                                    <p:cond delay="490"/>
                                  </p:stCondLst>
                                  <p:childTnLst>
                                    <p:set>
                                      <p:cBhvr>
                                        <p:cTn id="39" dur="1" fill="hold">
                                          <p:stCondLst>
                                            <p:cond delay="0"/>
                                          </p:stCondLst>
                                        </p:cTn>
                                        <p:tgtEl>
                                          <p:spTgt spid="50"/>
                                        </p:tgtEl>
                                        <p:attrNameLst>
                                          <p:attrName>style.visibility</p:attrName>
                                        </p:attrNameLst>
                                      </p:cBhvr>
                                      <p:to>
                                        <p:strVal val="visible"/>
                                      </p:to>
                                    </p:set>
                                    <p:animEffect transition="in" filter="fade">
                                      <p:cBhvr>
                                        <p:cTn id="40" dur="400"/>
                                        <p:tgtEl>
                                          <p:spTgt spid="50"/>
                                        </p:tgtEl>
                                      </p:cBhvr>
                                    </p:animEffect>
                                  </p:childTnLst>
                                </p:cTn>
                              </p:par>
                              <p:par>
                                <p:cTn id="41" presetID="10" presetClass="entr" presetSubtype="0" fill="hold" nodeType="withEffect">
                                  <p:stCondLst>
                                    <p:cond delay="570"/>
                                  </p:stCondLst>
                                  <p:childTnLst>
                                    <p:set>
                                      <p:cBhvr>
                                        <p:cTn id="42" dur="1" fill="hold">
                                          <p:stCondLst>
                                            <p:cond delay="0"/>
                                          </p:stCondLst>
                                        </p:cTn>
                                        <p:tgtEl>
                                          <p:spTgt spid="51"/>
                                        </p:tgtEl>
                                        <p:attrNameLst>
                                          <p:attrName>style.visibility</p:attrName>
                                        </p:attrNameLst>
                                      </p:cBhvr>
                                      <p:to>
                                        <p:strVal val="visible"/>
                                      </p:to>
                                    </p:set>
                                    <p:animEffect transition="in" filter="fade">
                                      <p:cBhvr>
                                        <p:cTn id="43" dur="400"/>
                                        <p:tgtEl>
                                          <p:spTgt spid="51"/>
                                        </p:tgtEl>
                                      </p:cBhvr>
                                    </p:animEffect>
                                  </p:childTnLst>
                                </p:cTn>
                              </p:par>
                              <p:par>
                                <p:cTn id="44" presetID="10" presetClass="entr" presetSubtype="0" fill="hold" nodeType="withEffect">
                                  <p:stCondLst>
                                    <p:cond delay="570"/>
                                  </p:stCondLst>
                                  <p:childTnLst>
                                    <p:set>
                                      <p:cBhvr>
                                        <p:cTn id="45" dur="1" fill="hold">
                                          <p:stCondLst>
                                            <p:cond delay="0"/>
                                          </p:stCondLst>
                                        </p:cTn>
                                        <p:tgtEl>
                                          <p:spTgt spid="52"/>
                                        </p:tgtEl>
                                        <p:attrNameLst>
                                          <p:attrName>style.visibility</p:attrName>
                                        </p:attrNameLst>
                                      </p:cBhvr>
                                      <p:to>
                                        <p:strVal val="visible"/>
                                      </p:to>
                                    </p:set>
                                    <p:animEffect transition="in" filter="fade">
                                      <p:cBhvr>
                                        <p:cTn id="46" dur="400"/>
                                        <p:tgtEl>
                                          <p:spTgt spid="52"/>
                                        </p:tgtEl>
                                      </p:cBhvr>
                                    </p:animEffect>
                                  </p:childTnLst>
                                </p:cTn>
                              </p:par>
                              <p:par>
                                <p:cTn id="47" presetID="10" presetClass="entr" presetSubtype="0" fill="hold" nodeType="withEffect">
                                  <p:stCondLst>
                                    <p:cond delay="570"/>
                                  </p:stCondLst>
                                  <p:childTnLst>
                                    <p:set>
                                      <p:cBhvr>
                                        <p:cTn id="48" dur="1" fill="hold">
                                          <p:stCondLst>
                                            <p:cond delay="0"/>
                                          </p:stCondLst>
                                        </p:cTn>
                                        <p:tgtEl>
                                          <p:spTgt spid="53"/>
                                        </p:tgtEl>
                                        <p:attrNameLst>
                                          <p:attrName>style.visibility</p:attrName>
                                        </p:attrNameLst>
                                      </p:cBhvr>
                                      <p:to>
                                        <p:strVal val="visible"/>
                                      </p:to>
                                    </p:set>
                                    <p:animEffect transition="in" filter="fade">
                                      <p:cBhvr>
                                        <p:cTn id="49" dur="400"/>
                                        <p:tgtEl>
                                          <p:spTgt spid="53"/>
                                        </p:tgtEl>
                                      </p:cBhvr>
                                    </p:animEffect>
                                  </p:childTnLst>
                                </p:cTn>
                              </p:par>
                              <p:par>
                                <p:cTn id="50" presetID="10" presetClass="entr" presetSubtype="0" fill="hold" nodeType="withEffect">
                                  <p:stCondLst>
                                    <p:cond delay="570"/>
                                  </p:stCondLst>
                                  <p:childTnLst>
                                    <p:set>
                                      <p:cBhvr>
                                        <p:cTn id="51" dur="1" fill="hold">
                                          <p:stCondLst>
                                            <p:cond delay="0"/>
                                          </p:stCondLst>
                                        </p:cTn>
                                        <p:tgtEl>
                                          <p:spTgt spid="54"/>
                                        </p:tgtEl>
                                        <p:attrNameLst>
                                          <p:attrName>style.visibility</p:attrName>
                                        </p:attrNameLst>
                                      </p:cBhvr>
                                      <p:to>
                                        <p:strVal val="visible"/>
                                      </p:to>
                                    </p:set>
                                    <p:animEffect transition="in" filter="fade">
                                      <p:cBhvr>
                                        <p:cTn id="52" dur="400"/>
                                        <p:tgtEl>
                                          <p:spTgt spid="54"/>
                                        </p:tgtEl>
                                      </p:cBhvr>
                                    </p:animEffect>
                                  </p:childTnLst>
                                </p:cTn>
                              </p:par>
                              <p:par>
                                <p:cTn id="53" presetID="10" presetClass="entr" presetSubtype="0" fill="hold" nodeType="withEffect">
                                  <p:stCondLst>
                                    <p:cond delay="570"/>
                                  </p:stCondLst>
                                  <p:childTnLst>
                                    <p:set>
                                      <p:cBhvr>
                                        <p:cTn id="54" dur="1" fill="hold">
                                          <p:stCondLst>
                                            <p:cond delay="0"/>
                                          </p:stCondLst>
                                        </p:cTn>
                                        <p:tgtEl>
                                          <p:spTgt spid="55"/>
                                        </p:tgtEl>
                                        <p:attrNameLst>
                                          <p:attrName>style.visibility</p:attrName>
                                        </p:attrNameLst>
                                      </p:cBhvr>
                                      <p:to>
                                        <p:strVal val="visible"/>
                                      </p:to>
                                    </p:set>
                                    <p:animEffect transition="in" filter="fade">
                                      <p:cBhvr>
                                        <p:cTn id="55" dur="400"/>
                                        <p:tgtEl>
                                          <p:spTgt spid="55"/>
                                        </p:tgtEl>
                                      </p:cBhvr>
                                    </p:animEffect>
                                  </p:childTnLst>
                                </p:cTn>
                              </p:par>
                              <p:par>
                                <p:cTn id="56" presetID="10" presetClass="entr" presetSubtype="0" fill="hold" nodeType="withEffect">
                                  <p:stCondLst>
                                    <p:cond delay="570"/>
                                  </p:stCondLst>
                                  <p:childTnLst>
                                    <p:set>
                                      <p:cBhvr>
                                        <p:cTn id="57" dur="1" fill="hold">
                                          <p:stCondLst>
                                            <p:cond delay="0"/>
                                          </p:stCondLst>
                                        </p:cTn>
                                        <p:tgtEl>
                                          <p:spTgt spid="56"/>
                                        </p:tgtEl>
                                        <p:attrNameLst>
                                          <p:attrName>style.visibility</p:attrName>
                                        </p:attrNameLst>
                                      </p:cBhvr>
                                      <p:to>
                                        <p:strVal val="visible"/>
                                      </p:to>
                                    </p:set>
                                    <p:animEffect transition="in" filter="fade">
                                      <p:cBhvr>
                                        <p:cTn id="58" dur="400"/>
                                        <p:tgtEl>
                                          <p:spTgt spid="56"/>
                                        </p:tgtEl>
                                      </p:cBhvr>
                                    </p:animEffect>
                                  </p:childTnLst>
                                </p:cTn>
                              </p:par>
                              <p:par>
                                <p:cTn id="59" presetID="10" presetClass="entr" presetSubtype="0" fill="hold" nodeType="withEffect">
                                  <p:stCondLst>
                                    <p:cond delay="570"/>
                                  </p:stCondLst>
                                  <p:childTnLst>
                                    <p:set>
                                      <p:cBhvr>
                                        <p:cTn id="60" dur="1" fill="hold">
                                          <p:stCondLst>
                                            <p:cond delay="0"/>
                                          </p:stCondLst>
                                        </p:cTn>
                                        <p:tgtEl>
                                          <p:spTgt spid="57"/>
                                        </p:tgtEl>
                                        <p:attrNameLst>
                                          <p:attrName>style.visibility</p:attrName>
                                        </p:attrNameLst>
                                      </p:cBhvr>
                                      <p:to>
                                        <p:strVal val="visible"/>
                                      </p:to>
                                    </p:set>
                                    <p:animEffect transition="in" filter="fade">
                                      <p:cBhvr>
                                        <p:cTn id="61" dur="400"/>
                                        <p:tgtEl>
                                          <p:spTgt spid="57"/>
                                        </p:tgtEl>
                                      </p:cBhvr>
                                    </p:animEffect>
                                  </p:childTnLst>
                                </p:cTn>
                              </p:par>
                              <p:par>
                                <p:cTn id="62" presetID="10" presetClass="entr" presetSubtype="0" fill="hold" nodeType="withEffect">
                                  <p:stCondLst>
                                    <p:cond delay="790"/>
                                  </p:stCondLst>
                                  <p:childTnLst>
                                    <p:set>
                                      <p:cBhvr>
                                        <p:cTn id="63" dur="1" fill="hold">
                                          <p:stCondLst>
                                            <p:cond delay="0"/>
                                          </p:stCondLst>
                                        </p:cTn>
                                        <p:tgtEl>
                                          <p:spTgt spid="58"/>
                                        </p:tgtEl>
                                        <p:attrNameLst>
                                          <p:attrName>style.visibility</p:attrName>
                                        </p:attrNameLst>
                                      </p:cBhvr>
                                      <p:to>
                                        <p:strVal val="visible"/>
                                      </p:to>
                                    </p:set>
                                    <p:animEffect transition="in" filter="fade">
                                      <p:cBhvr>
                                        <p:cTn id="64" dur="400"/>
                                        <p:tgtEl>
                                          <p:spTgt spid="58"/>
                                        </p:tgtEl>
                                      </p:cBhvr>
                                    </p:animEffect>
                                  </p:childTnLst>
                                </p:cTn>
                              </p:par>
                              <p:par>
                                <p:cTn id="65" presetID="10" presetClass="entr" presetSubtype="0" fill="hold" nodeType="withEffect">
                                  <p:stCondLst>
                                    <p:cond delay="850"/>
                                  </p:stCondLst>
                                  <p:childTnLst>
                                    <p:set>
                                      <p:cBhvr>
                                        <p:cTn id="66" dur="1" fill="hold">
                                          <p:stCondLst>
                                            <p:cond delay="0"/>
                                          </p:stCondLst>
                                        </p:cTn>
                                        <p:tgtEl>
                                          <p:spTgt spid="59"/>
                                        </p:tgtEl>
                                        <p:attrNameLst>
                                          <p:attrName>style.visibility</p:attrName>
                                        </p:attrNameLst>
                                      </p:cBhvr>
                                      <p:to>
                                        <p:strVal val="visible"/>
                                      </p:to>
                                    </p:set>
                                    <p:animEffect transition="in" filter="fade">
                                      <p:cBhvr>
                                        <p:cTn id="67" dur="400"/>
                                        <p:tgtEl>
                                          <p:spTgt spid="59"/>
                                        </p:tgtEl>
                                      </p:cBhvr>
                                    </p:animEffect>
                                  </p:childTnLst>
                                </p:cTn>
                              </p:par>
                              <p:par>
                                <p:cTn id="68" presetID="10" presetClass="entr" presetSubtype="0" fill="hold" nodeType="withEffect">
                                  <p:stCondLst>
                                    <p:cond delay="910"/>
                                  </p:stCondLst>
                                  <p:childTnLst>
                                    <p:set>
                                      <p:cBhvr>
                                        <p:cTn id="69" dur="1" fill="hold">
                                          <p:stCondLst>
                                            <p:cond delay="0"/>
                                          </p:stCondLst>
                                        </p:cTn>
                                        <p:tgtEl>
                                          <p:spTgt spid="60"/>
                                        </p:tgtEl>
                                        <p:attrNameLst>
                                          <p:attrName>style.visibility</p:attrName>
                                        </p:attrNameLst>
                                      </p:cBhvr>
                                      <p:to>
                                        <p:strVal val="visible"/>
                                      </p:to>
                                    </p:set>
                                    <p:animEffect transition="in" filter="fade">
                                      <p:cBhvr>
                                        <p:cTn id="70" dur="400"/>
                                        <p:tgtEl>
                                          <p:spTgt spid="60"/>
                                        </p:tgtEl>
                                      </p:cBhvr>
                                    </p:animEffect>
                                  </p:childTnLst>
                                </p:cTn>
                              </p:par>
                              <p:par>
                                <p:cTn id="71" presetID="10" presetClass="entr" presetSubtype="0" fill="hold" nodeType="withEffect">
                                  <p:stCondLst>
                                    <p:cond delay="990"/>
                                  </p:stCondLst>
                                  <p:childTnLst>
                                    <p:set>
                                      <p:cBhvr>
                                        <p:cTn id="72" dur="1" fill="hold">
                                          <p:stCondLst>
                                            <p:cond delay="0"/>
                                          </p:stCondLst>
                                        </p:cTn>
                                        <p:tgtEl>
                                          <p:spTgt spid="61"/>
                                        </p:tgtEl>
                                        <p:attrNameLst>
                                          <p:attrName>style.visibility</p:attrName>
                                        </p:attrNameLst>
                                      </p:cBhvr>
                                      <p:to>
                                        <p:strVal val="visible"/>
                                      </p:to>
                                    </p:set>
                                    <p:animEffect transition="in" filter="fade">
                                      <p:cBhvr>
                                        <p:cTn id="73" dur="400"/>
                                        <p:tgtEl>
                                          <p:spTgt spid="61"/>
                                        </p:tgtEl>
                                      </p:cBhvr>
                                    </p:animEffect>
                                  </p:childTnLst>
                                </p:cTn>
                              </p:par>
                              <p:par>
                                <p:cTn id="74" presetID="10" presetClass="entr" presetSubtype="0" fill="hold" nodeType="withEffect">
                                  <p:stCondLst>
                                    <p:cond delay="990"/>
                                  </p:stCondLst>
                                  <p:childTnLst>
                                    <p:set>
                                      <p:cBhvr>
                                        <p:cTn id="75" dur="1" fill="hold">
                                          <p:stCondLst>
                                            <p:cond delay="0"/>
                                          </p:stCondLst>
                                        </p:cTn>
                                        <p:tgtEl>
                                          <p:spTgt spid="62"/>
                                        </p:tgtEl>
                                        <p:attrNameLst>
                                          <p:attrName>style.visibility</p:attrName>
                                        </p:attrNameLst>
                                      </p:cBhvr>
                                      <p:to>
                                        <p:strVal val="visible"/>
                                      </p:to>
                                    </p:set>
                                    <p:animEffect transition="in" filter="fade">
                                      <p:cBhvr>
                                        <p:cTn id="76" dur="400"/>
                                        <p:tgtEl>
                                          <p:spTgt spid="62"/>
                                        </p:tgtEl>
                                      </p:cBhvr>
                                    </p:animEffect>
                                  </p:childTnLst>
                                </p:cTn>
                              </p:par>
                              <p:par>
                                <p:cTn id="77" presetID="10" presetClass="entr" presetSubtype="0" fill="hold" nodeType="withEffect">
                                  <p:stCondLst>
                                    <p:cond delay="990"/>
                                  </p:stCondLst>
                                  <p:childTnLst>
                                    <p:set>
                                      <p:cBhvr>
                                        <p:cTn id="78" dur="1" fill="hold">
                                          <p:stCondLst>
                                            <p:cond delay="0"/>
                                          </p:stCondLst>
                                        </p:cTn>
                                        <p:tgtEl>
                                          <p:spTgt spid="63"/>
                                        </p:tgtEl>
                                        <p:attrNameLst>
                                          <p:attrName>style.visibility</p:attrName>
                                        </p:attrNameLst>
                                      </p:cBhvr>
                                      <p:to>
                                        <p:strVal val="visible"/>
                                      </p:to>
                                    </p:set>
                                    <p:animEffect transition="in" filter="fade">
                                      <p:cBhvr>
                                        <p:cTn id="79" dur="400"/>
                                        <p:tgtEl>
                                          <p:spTgt spid="63"/>
                                        </p:tgtEl>
                                      </p:cBhvr>
                                    </p:animEffect>
                                  </p:childTnLst>
                                </p:cTn>
                              </p:par>
                              <p:par>
                                <p:cTn id="80" presetID="10" presetClass="entr" presetSubtype="0" fill="hold" nodeType="withEffect">
                                  <p:stCondLst>
                                    <p:cond delay="990"/>
                                  </p:stCondLst>
                                  <p:childTnLst>
                                    <p:set>
                                      <p:cBhvr>
                                        <p:cTn id="81" dur="1" fill="hold">
                                          <p:stCondLst>
                                            <p:cond delay="0"/>
                                          </p:stCondLst>
                                        </p:cTn>
                                        <p:tgtEl>
                                          <p:spTgt spid="64"/>
                                        </p:tgtEl>
                                        <p:attrNameLst>
                                          <p:attrName>style.visibility</p:attrName>
                                        </p:attrNameLst>
                                      </p:cBhvr>
                                      <p:to>
                                        <p:strVal val="visible"/>
                                      </p:to>
                                    </p:set>
                                    <p:animEffect transition="in" filter="fade">
                                      <p:cBhvr>
                                        <p:cTn id="82" dur="400"/>
                                        <p:tgtEl>
                                          <p:spTgt spid="64"/>
                                        </p:tgtEl>
                                      </p:cBhvr>
                                    </p:animEffect>
                                  </p:childTnLst>
                                </p:cTn>
                              </p:par>
                              <p:par>
                                <p:cTn id="83" presetID="10" presetClass="entr" presetSubtype="0" fill="hold" nodeType="withEffect">
                                  <p:stCondLst>
                                    <p:cond delay="990"/>
                                  </p:stCondLst>
                                  <p:childTnLst>
                                    <p:set>
                                      <p:cBhvr>
                                        <p:cTn id="84" dur="1" fill="hold">
                                          <p:stCondLst>
                                            <p:cond delay="0"/>
                                          </p:stCondLst>
                                        </p:cTn>
                                        <p:tgtEl>
                                          <p:spTgt spid="65"/>
                                        </p:tgtEl>
                                        <p:attrNameLst>
                                          <p:attrName>style.visibility</p:attrName>
                                        </p:attrNameLst>
                                      </p:cBhvr>
                                      <p:to>
                                        <p:strVal val="visible"/>
                                      </p:to>
                                    </p:set>
                                    <p:animEffect transition="in" filter="fade">
                                      <p:cBhvr>
                                        <p:cTn id="85" dur="400"/>
                                        <p:tgtEl>
                                          <p:spTgt spid="65"/>
                                        </p:tgtEl>
                                      </p:cBhvr>
                                    </p:animEffect>
                                  </p:childTnLst>
                                </p:cTn>
                              </p:par>
                              <p:par>
                                <p:cTn id="86" presetID="10" presetClass="entr" presetSubtype="0" fill="hold" nodeType="withEffect">
                                  <p:stCondLst>
                                    <p:cond delay="990"/>
                                  </p:stCondLst>
                                  <p:childTnLst>
                                    <p:set>
                                      <p:cBhvr>
                                        <p:cTn id="87" dur="1" fill="hold">
                                          <p:stCondLst>
                                            <p:cond delay="0"/>
                                          </p:stCondLst>
                                        </p:cTn>
                                        <p:tgtEl>
                                          <p:spTgt spid="66"/>
                                        </p:tgtEl>
                                        <p:attrNameLst>
                                          <p:attrName>style.visibility</p:attrName>
                                        </p:attrNameLst>
                                      </p:cBhvr>
                                      <p:to>
                                        <p:strVal val="visible"/>
                                      </p:to>
                                    </p:set>
                                    <p:animEffect transition="in" filter="fade">
                                      <p:cBhvr>
                                        <p:cTn id="88" dur="400"/>
                                        <p:tgtEl>
                                          <p:spTgt spid="66"/>
                                        </p:tgtEl>
                                      </p:cBhvr>
                                    </p:animEffect>
                                  </p:childTnLst>
                                </p:cTn>
                              </p:par>
                              <p:par>
                                <p:cTn id="89" presetID="10" presetClass="entr" presetSubtype="0" fill="hold" nodeType="withEffect">
                                  <p:stCondLst>
                                    <p:cond delay="990"/>
                                  </p:stCondLst>
                                  <p:childTnLst>
                                    <p:set>
                                      <p:cBhvr>
                                        <p:cTn id="90" dur="1" fill="hold">
                                          <p:stCondLst>
                                            <p:cond delay="0"/>
                                          </p:stCondLst>
                                        </p:cTn>
                                        <p:tgtEl>
                                          <p:spTgt spid="67"/>
                                        </p:tgtEl>
                                        <p:attrNameLst>
                                          <p:attrName>style.visibility</p:attrName>
                                        </p:attrNameLst>
                                      </p:cBhvr>
                                      <p:to>
                                        <p:strVal val="visible"/>
                                      </p:to>
                                    </p:set>
                                    <p:animEffect transition="in" filter="fade">
                                      <p:cBhvr>
                                        <p:cTn id="91" dur="400"/>
                                        <p:tgtEl>
                                          <p:spTgt spid="67"/>
                                        </p:tgtEl>
                                      </p:cBhvr>
                                    </p:animEffect>
                                  </p:childTnLst>
                                </p:cTn>
                              </p:par>
                              <p:par>
                                <p:cTn id="92" presetID="10" presetClass="entr" presetSubtype="0" fill="hold" nodeType="withEffect">
                                  <p:stCondLst>
                                    <p:cond delay="1210"/>
                                  </p:stCondLst>
                                  <p:childTnLst>
                                    <p:set>
                                      <p:cBhvr>
                                        <p:cTn id="93" dur="1" fill="hold">
                                          <p:stCondLst>
                                            <p:cond delay="0"/>
                                          </p:stCondLst>
                                        </p:cTn>
                                        <p:tgtEl>
                                          <p:spTgt spid="68"/>
                                        </p:tgtEl>
                                        <p:attrNameLst>
                                          <p:attrName>style.visibility</p:attrName>
                                        </p:attrNameLst>
                                      </p:cBhvr>
                                      <p:to>
                                        <p:strVal val="visible"/>
                                      </p:to>
                                    </p:set>
                                    <p:animEffect transition="in" filter="fade">
                                      <p:cBhvr>
                                        <p:cTn id="94" dur="400"/>
                                        <p:tgtEl>
                                          <p:spTgt spid="68"/>
                                        </p:tgtEl>
                                      </p:cBhvr>
                                    </p:animEffect>
                                  </p:childTnLst>
                                </p:cTn>
                              </p:par>
                              <p:par>
                                <p:cTn id="95" presetID="10" presetClass="entr" presetSubtype="0" fill="hold" nodeType="withEffect">
                                  <p:stCondLst>
                                    <p:cond delay="1270"/>
                                  </p:stCondLst>
                                  <p:childTnLst>
                                    <p:set>
                                      <p:cBhvr>
                                        <p:cTn id="96" dur="1" fill="hold">
                                          <p:stCondLst>
                                            <p:cond delay="0"/>
                                          </p:stCondLst>
                                        </p:cTn>
                                        <p:tgtEl>
                                          <p:spTgt spid="69"/>
                                        </p:tgtEl>
                                        <p:attrNameLst>
                                          <p:attrName>style.visibility</p:attrName>
                                        </p:attrNameLst>
                                      </p:cBhvr>
                                      <p:to>
                                        <p:strVal val="visible"/>
                                      </p:to>
                                    </p:set>
                                    <p:animEffect transition="in" filter="fade">
                                      <p:cBhvr>
                                        <p:cTn id="97" dur="400"/>
                                        <p:tgtEl>
                                          <p:spTgt spid="69"/>
                                        </p:tgtEl>
                                      </p:cBhvr>
                                    </p:animEffect>
                                  </p:childTnLst>
                                </p:cTn>
                              </p:par>
                              <p:par>
                                <p:cTn id="98" presetID="10" presetClass="entr" presetSubtype="0" fill="hold" nodeType="withEffect">
                                  <p:stCondLst>
                                    <p:cond delay="1330"/>
                                  </p:stCondLst>
                                  <p:childTnLst>
                                    <p:set>
                                      <p:cBhvr>
                                        <p:cTn id="99" dur="1" fill="hold">
                                          <p:stCondLst>
                                            <p:cond delay="0"/>
                                          </p:stCondLst>
                                        </p:cTn>
                                        <p:tgtEl>
                                          <p:spTgt spid="70"/>
                                        </p:tgtEl>
                                        <p:attrNameLst>
                                          <p:attrName>style.visibility</p:attrName>
                                        </p:attrNameLst>
                                      </p:cBhvr>
                                      <p:to>
                                        <p:strVal val="visible"/>
                                      </p:to>
                                    </p:set>
                                    <p:animEffect transition="in" filter="fade">
                                      <p:cBhvr>
                                        <p:cTn id="100" dur="400"/>
                                        <p:tgtEl>
                                          <p:spTgt spid="70"/>
                                        </p:tgtEl>
                                      </p:cBhvr>
                                    </p:animEffect>
                                  </p:childTnLst>
                                </p:cTn>
                              </p:par>
                              <p:par>
                                <p:cTn id="101" presetID="10" presetClass="entr" presetSubtype="0" fill="hold" nodeType="withEffect">
                                  <p:stCondLst>
                                    <p:cond delay="1410"/>
                                  </p:stCondLst>
                                  <p:childTnLst>
                                    <p:set>
                                      <p:cBhvr>
                                        <p:cTn id="102" dur="1" fill="hold">
                                          <p:stCondLst>
                                            <p:cond delay="0"/>
                                          </p:stCondLst>
                                        </p:cTn>
                                        <p:tgtEl>
                                          <p:spTgt spid="71"/>
                                        </p:tgtEl>
                                        <p:attrNameLst>
                                          <p:attrName>style.visibility</p:attrName>
                                        </p:attrNameLst>
                                      </p:cBhvr>
                                      <p:to>
                                        <p:strVal val="visible"/>
                                      </p:to>
                                    </p:set>
                                    <p:animEffect transition="in" filter="fade">
                                      <p:cBhvr>
                                        <p:cTn id="103" dur="400"/>
                                        <p:tgtEl>
                                          <p:spTgt spid="71"/>
                                        </p:tgtEl>
                                      </p:cBhvr>
                                    </p:animEffect>
                                  </p:childTnLst>
                                </p:cTn>
                              </p:par>
                              <p:par>
                                <p:cTn id="104" presetID="10" presetClass="entr" presetSubtype="0" fill="hold" nodeType="withEffect">
                                  <p:stCondLst>
                                    <p:cond delay="1410"/>
                                  </p:stCondLst>
                                  <p:childTnLst>
                                    <p:set>
                                      <p:cBhvr>
                                        <p:cTn id="105" dur="1" fill="hold">
                                          <p:stCondLst>
                                            <p:cond delay="0"/>
                                          </p:stCondLst>
                                        </p:cTn>
                                        <p:tgtEl>
                                          <p:spTgt spid="72"/>
                                        </p:tgtEl>
                                        <p:attrNameLst>
                                          <p:attrName>style.visibility</p:attrName>
                                        </p:attrNameLst>
                                      </p:cBhvr>
                                      <p:to>
                                        <p:strVal val="visible"/>
                                      </p:to>
                                    </p:set>
                                    <p:animEffect transition="in" filter="fade">
                                      <p:cBhvr>
                                        <p:cTn id="106" dur="400"/>
                                        <p:tgtEl>
                                          <p:spTgt spid="72"/>
                                        </p:tgtEl>
                                      </p:cBhvr>
                                    </p:animEffect>
                                  </p:childTnLst>
                                </p:cTn>
                              </p:par>
                              <p:par>
                                <p:cTn id="107" presetID="10" presetClass="entr" presetSubtype="0" fill="hold" nodeType="withEffect">
                                  <p:stCondLst>
                                    <p:cond delay="141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400"/>
                                        <p:tgtEl>
                                          <p:spTgt spid="73"/>
                                        </p:tgtEl>
                                      </p:cBhvr>
                                    </p:animEffect>
                                  </p:childTnLst>
                                </p:cTn>
                              </p:par>
                              <p:par>
                                <p:cTn id="110" presetID="10" presetClass="entr" presetSubtype="0" fill="hold" nodeType="withEffect">
                                  <p:stCondLst>
                                    <p:cond delay="1410"/>
                                  </p:stCondLst>
                                  <p:childTnLst>
                                    <p:set>
                                      <p:cBhvr>
                                        <p:cTn id="111" dur="1" fill="hold">
                                          <p:stCondLst>
                                            <p:cond delay="0"/>
                                          </p:stCondLst>
                                        </p:cTn>
                                        <p:tgtEl>
                                          <p:spTgt spid="74"/>
                                        </p:tgtEl>
                                        <p:attrNameLst>
                                          <p:attrName>style.visibility</p:attrName>
                                        </p:attrNameLst>
                                      </p:cBhvr>
                                      <p:to>
                                        <p:strVal val="visible"/>
                                      </p:to>
                                    </p:set>
                                    <p:animEffect transition="in" filter="fade">
                                      <p:cBhvr>
                                        <p:cTn id="112" dur="400"/>
                                        <p:tgtEl>
                                          <p:spTgt spid="74"/>
                                        </p:tgtEl>
                                      </p:cBhvr>
                                    </p:animEffect>
                                  </p:childTnLst>
                                </p:cTn>
                              </p:par>
                              <p:par>
                                <p:cTn id="113" presetID="10" presetClass="entr" presetSubtype="0" fill="hold" nodeType="withEffect">
                                  <p:stCondLst>
                                    <p:cond delay="1410"/>
                                  </p:stCondLst>
                                  <p:childTnLst>
                                    <p:set>
                                      <p:cBhvr>
                                        <p:cTn id="114" dur="1" fill="hold">
                                          <p:stCondLst>
                                            <p:cond delay="0"/>
                                          </p:stCondLst>
                                        </p:cTn>
                                        <p:tgtEl>
                                          <p:spTgt spid="75"/>
                                        </p:tgtEl>
                                        <p:attrNameLst>
                                          <p:attrName>style.visibility</p:attrName>
                                        </p:attrNameLst>
                                      </p:cBhvr>
                                      <p:to>
                                        <p:strVal val="visible"/>
                                      </p:to>
                                    </p:set>
                                    <p:animEffect transition="in" filter="fade">
                                      <p:cBhvr>
                                        <p:cTn id="115" dur="400"/>
                                        <p:tgtEl>
                                          <p:spTgt spid="75"/>
                                        </p:tgtEl>
                                      </p:cBhvr>
                                    </p:animEffect>
                                  </p:childTnLst>
                                </p:cTn>
                              </p:par>
                              <p:par>
                                <p:cTn id="116" presetID="10" presetClass="entr" presetSubtype="0" fill="hold" nodeType="withEffect">
                                  <p:stCondLst>
                                    <p:cond delay="1410"/>
                                  </p:stCondLst>
                                  <p:childTnLst>
                                    <p:set>
                                      <p:cBhvr>
                                        <p:cTn id="117" dur="1" fill="hold">
                                          <p:stCondLst>
                                            <p:cond delay="0"/>
                                          </p:stCondLst>
                                        </p:cTn>
                                        <p:tgtEl>
                                          <p:spTgt spid="76"/>
                                        </p:tgtEl>
                                        <p:attrNameLst>
                                          <p:attrName>style.visibility</p:attrName>
                                        </p:attrNameLst>
                                      </p:cBhvr>
                                      <p:to>
                                        <p:strVal val="visible"/>
                                      </p:to>
                                    </p:set>
                                    <p:animEffect transition="in" filter="fade">
                                      <p:cBhvr>
                                        <p:cTn id="118" dur="400"/>
                                        <p:tgtEl>
                                          <p:spTgt spid="76"/>
                                        </p:tgtEl>
                                      </p:cBhvr>
                                    </p:animEffect>
                                  </p:childTnLst>
                                </p:cTn>
                              </p:par>
                              <p:par>
                                <p:cTn id="119" presetID="10" presetClass="entr" presetSubtype="0" fill="hold" nodeType="withEffect">
                                  <p:stCondLst>
                                    <p:cond delay="1410"/>
                                  </p:stCondLst>
                                  <p:childTnLst>
                                    <p:set>
                                      <p:cBhvr>
                                        <p:cTn id="120" dur="1" fill="hold">
                                          <p:stCondLst>
                                            <p:cond delay="0"/>
                                          </p:stCondLst>
                                        </p:cTn>
                                        <p:tgtEl>
                                          <p:spTgt spid="77"/>
                                        </p:tgtEl>
                                        <p:attrNameLst>
                                          <p:attrName>style.visibility</p:attrName>
                                        </p:attrNameLst>
                                      </p:cBhvr>
                                      <p:to>
                                        <p:strVal val="visible"/>
                                      </p:to>
                                    </p:set>
                                    <p:animEffect transition="in" filter="fade">
                                      <p:cBhvr>
                                        <p:cTn id="121" dur="400"/>
                                        <p:tgtEl>
                                          <p:spTgt spid="77"/>
                                        </p:tgtEl>
                                      </p:cBhvr>
                                    </p:animEffect>
                                  </p:childTnLst>
                                </p:cTn>
                              </p:par>
                              <p:par>
                                <p:cTn id="122" presetID="10" presetClass="entr" presetSubtype="0" fill="hold" nodeType="withEffect">
                                  <p:stCondLst>
                                    <p:cond delay="1630"/>
                                  </p:stCondLst>
                                  <p:childTnLst>
                                    <p:set>
                                      <p:cBhvr>
                                        <p:cTn id="123" dur="1" fill="hold">
                                          <p:stCondLst>
                                            <p:cond delay="0"/>
                                          </p:stCondLst>
                                        </p:cTn>
                                        <p:tgtEl>
                                          <p:spTgt spid="78"/>
                                        </p:tgtEl>
                                        <p:attrNameLst>
                                          <p:attrName>style.visibility</p:attrName>
                                        </p:attrNameLst>
                                      </p:cBhvr>
                                      <p:to>
                                        <p:strVal val="visible"/>
                                      </p:to>
                                    </p:set>
                                    <p:animEffect transition="in" filter="fade">
                                      <p:cBhvr>
                                        <p:cTn id="124" dur="400"/>
                                        <p:tgtEl>
                                          <p:spTgt spid="78"/>
                                        </p:tgtEl>
                                      </p:cBhvr>
                                    </p:animEffect>
                                  </p:childTnLst>
                                </p:cTn>
                              </p:par>
                              <p:par>
                                <p:cTn id="125" presetID="10" presetClass="entr" presetSubtype="0" fill="hold" nodeType="withEffect">
                                  <p:stCondLst>
                                    <p:cond delay="1690"/>
                                  </p:stCondLst>
                                  <p:childTnLst>
                                    <p:set>
                                      <p:cBhvr>
                                        <p:cTn id="126" dur="1" fill="hold">
                                          <p:stCondLst>
                                            <p:cond delay="0"/>
                                          </p:stCondLst>
                                        </p:cTn>
                                        <p:tgtEl>
                                          <p:spTgt spid="79"/>
                                        </p:tgtEl>
                                        <p:attrNameLst>
                                          <p:attrName>style.visibility</p:attrName>
                                        </p:attrNameLst>
                                      </p:cBhvr>
                                      <p:to>
                                        <p:strVal val="visible"/>
                                      </p:to>
                                    </p:set>
                                    <p:animEffect transition="in" filter="fade">
                                      <p:cBhvr>
                                        <p:cTn id="127" dur="400"/>
                                        <p:tgtEl>
                                          <p:spTgt spid="79"/>
                                        </p:tgtEl>
                                      </p:cBhvr>
                                    </p:animEffect>
                                  </p:childTnLst>
                                </p:cTn>
                              </p:par>
                              <p:par>
                                <p:cTn id="128" presetID="10" presetClass="entr" presetSubtype="0" fill="hold" nodeType="withEffect">
                                  <p:stCondLst>
                                    <p:cond delay="1750"/>
                                  </p:stCondLst>
                                  <p:childTnLst>
                                    <p:set>
                                      <p:cBhvr>
                                        <p:cTn id="129" dur="1" fill="hold">
                                          <p:stCondLst>
                                            <p:cond delay="0"/>
                                          </p:stCondLst>
                                        </p:cTn>
                                        <p:tgtEl>
                                          <p:spTgt spid="80"/>
                                        </p:tgtEl>
                                        <p:attrNameLst>
                                          <p:attrName>style.visibility</p:attrName>
                                        </p:attrNameLst>
                                      </p:cBhvr>
                                      <p:to>
                                        <p:strVal val="visible"/>
                                      </p:to>
                                    </p:set>
                                    <p:animEffect transition="in" filter="fade">
                                      <p:cBhvr>
                                        <p:cTn id="130" dur="400"/>
                                        <p:tgtEl>
                                          <p:spTgt spid="80"/>
                                        </p:tgtEl>
                                      </p:cBhvr>
                                    </p:animEffect>
                                  </p:childTnLst>
                                </p:cTn>
                              </p:par>
                              <p:par>
                                <p:cTn id="131" presetID="10" presetClass="entr" presetSubtype="0" fill="hold" nodeType="withEffect">
                                  <p:stCondLst>
                                    <p:cond delay="1830"/>
                                  </p:stCondLst>
                                  <p:childTnLst>
                                    <p:set>
                                      <p:cBhvr>
                                        <p:cTn id="132" dur="1" fill="hold">
                                          <p:stCondLst>
                                            <p:cond delay="0"/>
                                          </p:stCondLst>
                                        </p:cTn>
                                        <p:tgtEl>
                                          <p:spTgt spid="81"/>
                                        </p:tgtEl>
                                        <p:attrNameLst>
                                          <p:attrName>style.visibility</p:attrName>
                                        </p:attrNameLst>
                                      </p:cBhvr>
                                      <p:to>
                                        <p:strVal val="visible"/>
                                      </p:to>
                                    </p:set>
                                    <p:animEffect transition="in" filter="fade">
                                      <p:cBhvr>
                                        <p:cTn id="133" dur="400"/>
                                        <p:tgtEl>
                                          <p:spTgt spid="81"/>
                                        </p:tgtEl>
                                      </p:cBhvr>
                                    </p:animEffect>
                                  </p:childTnLst>
                                </p:cTn>
                              </p:par>
                              <p:par>
                                <p:cTn id="134" presetID="10" presetClass="entr" presetSubtype="0" fill="hold" nodeType="withEffect">
                                  <p:stCondLst>
                                    <p:cond delay="1830"/>
                                  </p:stCondLst>
                                  <p:childTnLst>
                                    <p:set>
                                      <p:cBhvr>
                                        <p:cTn id="135" dur="1" fill="hold">
                                          <p:stCondLst>
                                            <p:cond delay="0"/>
                                          </p:stCondLst>
                                        </p:cTn>
                                        <p:tgtEl>
                                          <p:spTgt spid="82"/>
                                        </p:tgtEl>
                                        <p:attrNameLst>
                                          <p:attrName>style.visibility</p:attrName>
                                        </p:attrNameLst>
                                      </p:cBhvr>
                                      <p:to>
                                        <p:strVal val="visible"/>
                                      </p:to>
                                    </p:set>
                                    <p:animEffect transition="in" filter="fade">
                                      <p:cBhvr>
                                        <p:cTn id="136" dur="400"/>
                                        <p:tgtEl>
                                          <p:spTgt spid="82"/>
                                        </p:tgtEl>
                                      </p:cBhvr>
                                    </p:animEffect>
                                  </p:childTnLst>
                                </p:cTn>
                              </p:par>
                              <p:par>
                                <p:cTn id="137" presetID="10" presetClass="entr" presetSubtype="0" fill="hold" nodeType="withEffect">
                                  <p:stCondLst>
                                    <p:cond delay="1830"/>
                                  </p:stCondLst>
                                  <p:childTnLst>
                                    <p:set>
                                      <p:cBhvr>
                                        <p:cTn id="138" dur="1" fill="hold">
                                          <p:stCondLst>
                                            <p:cond delay="0"/>
                                          </p:stCondLst>
                                        </p:cTn>
                                        <p:tgtEl>
                                          <p:spTgt spid="83"/>
                                        </p:tgtEl>
                                        <p:attrNameLst>
                                          <p:attrName>style.visibility</p:attrName>
                                        </p:attrNameLst>
                                      </p:cBhvr>
                                      <p:to>
                                        <p:strVal val="visible"/>
                                      </p:to>
                                    </p:set>
                                    <p:animEffect transition="in" filter="fade">
                                      <p:cBhvr>
                                        <p:cTn id="139" dur="400"/>
                                        <p:tgtEl>
                                          <p:spTgt spid="83"/>
                                        </p:tgtEl>
                                      </p:cBhvr>
                                    </p:animEffect>
                                  </p:childTnLst>
                                </p:cTn>
                              </p:par>
                              <p:par>
                                <p:cTn id="140" presetID="10" presetClass="entr" presetSubtype="0" fill="hold" nodeType="withEffect">
                                  <p:stCondLst>
                                    <p:cond delay="1830"/>
                                  </p:stCondLst>
                                  <p:childTnLst>
                                    <p:set>
                                      <p:cBhvr>
                                        <p:cTn id="141" dur="1" fill="hold">
                                          <p:stCondLst>
                                            <p:cond delay="0"/>
                                          </p:stCondLst>
                                        </p:cTn>
                                        <p:tgtEl>
                                          <p:spTgt spid="84"/>
                                        </p:tgtEl>
                                        <p:attrNameLst>
                                          <p:attrName>style.visibility</p:attrName>
                                        </p:attrNameLst>
                                      </p:cBhvr>
                                      <p:to>
                                        <p:strVal val="visible"/>
                                      </p:to>
                                    </p:set>
                                    <p:animEffect transition="in" filter="fade">
                                      <p:cBhvr>
                                        <p:cTn id="142" dur="400"/>
                                        <p:tgtEl>
                                          <p:spTgt spid="84"/>
                                        </p:tgtEl>
                                      </p:cBhvr>
                                    </p:animEffect>
                                  </p:childTnLst>
                                </p:cTn>
                              </p:par>
                              <p:par>
                                <p:cTn id="143" presetID="10" presetClass="entr" presetSubtype="0" fill="hold" nodeType="withEffect">
                                  <p:stCondLst>
                                    <p:cond delay="1830"/>
                                  </p:stCondLst>
                                  <p:childTnLst>
                                    <p:set>
                                      <p:cBhvr>
                                        <p:cTn id="144" dur="1" fill="hold">
                                          <p:stCondLst>
                                            <p:cond delay="0"/>
                                          </p:stCondLst>
                                        </p:cTn>
                                        <p:tgtEl>
                                          <p:spTgt spid="85"/>
                                        </p:tgtEl>
                                        <p:attrNameLst>
                                          <p:attrName>style.visibility</p:attrName>
                                        </p:attrNameLst>
                                      </p:cBhvr>
                                      <p:to>
                                        <p:strVal val="visible"/>
                                      </p:to>
                                    </p:set>
                                    <p:animEffect transition="in" filter="fade">
                                      <p:cBhvr>
                                        <p:cTn id="145" dur="400"/>
                                        <p:tgtEl>
                                          <p:spTgt spid="85"/>
                                        </p:tgtEl>
                                      </p:cBhvr>
                                    </p:animEffect>
                                  </p:childTnLst>
                                </p:cTn>
                              </p:par>
                              <p:par>
                                <p:cTn id="146" presetID="10" presetClass="entr" presetSubtype="0" fill="hold" nodeType="withEffect">
                                  <p:stCondLst>
                                    <p:cond delay="1830"/>
                                  </p:stCondLst>
                                  <p:childTnLst>
                                    <p:set>
                                      <p:cBhvr>
                                        <p:cTn id="147" dur="1" fill="hold">
                                          <p:stCondLst>
                                            <p:cond delay="0"/>
                                          </p:stCondLst>
                                        </p:cTn>
                                        <p:tgtEl>
                                          <p:spTgt spid="86"/>
                                        </p:tgtEl>
                                        <p:attrNameLst>
                                          <p:attrName>style.visibility</p:attrName>
                                        </p:attrNameLst>
                                      </p:cBhvr>
                                      <p:to>
                                        <p:strVal val="visible"/>
                                      </p:to>
                                    </p:set>
                                    <p:animEffect transition="in" filter="fade">
                                      <p:cBhvr>
                                        <p:cTn id="148" dur="400"/>
                                        <p:tgtEl>
                                          <p:spTgt spid="86"/>
                                        </p:tgtEl>
                                      </p:cBhvr>
                                    </p:animEffect>
                                  </p:childTnLst>
                                </p:cTn>
                              </p:par>
                              <p:par>
                                <p:cTn id="149" presetID="10" presetClass="entr" presetSubtype="0" fill="hold" nodeType="withEffect">
                                  <p:stCondLst>
                                    <p:cond delay="1830"/>
                                  </p:stCondLst>
                                  <p:childTnLst>
                                    <p:set>
                                      <p:cBhvr>
                                        <p:cTn id="150" dur="1" fill="hold">
                                          <p:stCondLst>
                                            <p:cond delay="0"/>
                                          </p:stCondLst>
                                        </p:cTn>
                                        <p:tgtEl>
                                          <p:spTgt spid="87"/>
                                        </p:tgtEl>
                                        <p:attrNameLst>
                                          <p:attrName>style.visibility</p:attrName>
                                        </p:attrNameLst>
                                      </p:cBhvr>
                                      <p:to>
                                        <p:strVal val="visible"/>
                                      </p:to>
                                    </p:set>
                                    <p:animEffect transition="in" filter="fade">
                                      <p:cBhvr>
                                        <p:cTn id="151" dur="400"/>
                                        <p:tgtEl>
                                          <p:spTgt spid="87"/>
                                        </p:tgtEl>
                                      </p:cBhvr>
                                    </p:animEffect>
                                  </p:childTnLst>
                                </p:cTn>
                              </p:par>
                              <p:par>
                                <p:cTn id="152" presetID="10" presetClass="entr" presetSubtype="0" fill="hold" nodeType="withEffect">
                                  <p:stCondLst>
                                    <p:cond delay="2400"/>
                                  </p:stCondLst>
                                  <p:childTnLst>
                                    <p:set>
                                      <p:cBhvr>
                                        <p:cTn id="153" dur="1" fill="hold">
                                          <p:stCondLst>
                                            <p:cond delay="0"/>
                                          </p:stCondLst>
                                        </p:cTn>
                                        <p:tgtEl>
                                          <p:spTgt spid="88"/>
                                        </p:tgtEl>
                                        <p:attrNameLst>
                                          <p:attrName>style.visibility</p:attrName>
                                        </p:attrNameLst>
                                      </p:cBhvr>
                                      <p:to>
                                        <p:strVal val="visible"/>
                                      </p:to>
                                    </p:set>
                                    <p:animEffect transition="in" filter="fade">
                                      <p:cBhvr>
                                        <p:cTn id="154" dur="400"/>
                                        <p:tgtEl>
                                          <p:spTgt spid="88"/>
                                        </p:tgtEl>
                                      </p:cBhvr>
                                    </p:animEffect>
                                  </p:childTnLst>
                                </p:cTn>
                              </p:par>
                              <p:par>
                                <p:cTn id="155" presetID="10" presetClass="entr" presetSubtype="0" fill="hold" nodeType="withEffect">
                                  <p:stCondLst>
                                    <p:cond delay="2400"/>
                                  </p:stCondLst>
                                  <p:childTnLst>
                                    <p:set>
                                      <p:cBhvr>
                                        <p:cTn id="156" dur="1" fill="hold">
                                          <p:stCondLst>
                                            <p:cond delay="0"/>
                                          </p:stCondLst>
                                        </p:cTn>
                                        <p:tgtEl>
                                          <p:spTgt spid="89"/>
                                        </p:tgtEl>
                                        <p:attrNameLst>
                                          <p:attrName>style.visibility</p:attrName>
                                        </p:attrNameLst>
                                      </p:cBhvr>
                                      <p:to>
                                        <p:strVal val="visible"/>
                                      </p:to>
                                    </p:set>
                                    <p:animEffect transition="in" filter="fade">
                                      <p:cBhvr>
                                        <p:cTn id="157" dur="400"/>
                                        <p:tgtEl>
                                          <p:spTgt spid="89"/>
                                        </p:tgtEl>
                                      </p:cBhvr>
                                    </p:animEffect>
                                  </p:childTnLst>
                                </p:cTn>
                              </p:par>
                              <p:par>
                                <p:cTn id="158" presetID="10" presetClass="entr" presetSubtype="0" fill="hold" nodeType="withEffect">
                                  <p:stCondLst>
                                    <p:cond delay="2400"/>
                                  </p:stCondLst>
                                  <p:childTnLst>
                                    <p:set>
                                      <p:cBhvr>
                                        <p:cTn id="159" dur="1" fill="hold">
                                          <p:stCondLst>
                                            <p:cond delay="0"/>
                                          </p:stCondLst>
                                        </p:cTn>
                                        <p:tgtEl>
                                          <p:spTgt spid="90"/>
                                        </p:tgtEl>
                                        <p:attrNameLst>
                                          <p:attrName>style.visibility</p:attrName>
                                        </p:attrNameLst>
                                      </p:cBhvr>
                                      <p:to>
                                        <p:strVal val="visible"/>
                                      </p:to>
                                    </p:set>
                                    <p:animEffect transition="in" filter="fade">
                                      <p:cBhvr>
                                        <p:cTn id="160" dur="400"/>
                                        <p:tgtEl>
                                          <p:spTgt spid="90"/>
                                        </p:tgtEl>
                                      </p:cBhvr>
                                    </p:animEffect>
                                  </p:childTnLst>
                                </p:cTn>
                              </p:par>
                              <p:par>
                                <p:cTn id="161" presetID="10" presetClass="entr" presetSubtype="0" fill="hold" nodeType="withEffect">
                                  <p:stCondLst>
                                    <p:cond delay="2400"/>
                                  </p:stCondLst>
                                  <p:childTnLst>
                                    <p:set>
                                      <p:cBhvr>
                                        <p:cTn id="162" dur="1" fill="hold">
                                          <p:stCondLst>
                                            <p:cond delay="0"/>
                                          </p:stCondLst>
                                        </p:cTn>
                                        <p:tgtEl>
                                          <p:spTgt spid="91"/>
                                        </p:tgtEl>
                                        <p:attrNameLst>
                                          <p:attrName>style.visibility</p:attrName>
                                        </p:attrNameLst>
                                      </p:cBhvr>
                                      <p:to>
                                        <p:strVal val="visible"/>
                                      </p:to>
                                    </p:set>
                                    <p:animEffect transition="in" filter="fade">
                                      <p:cBhvr>
                                        <p:cTn id="163" dur="4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orange"/>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3"/>
          <p:cNvPicPr>
            <a:picLocks noChangeAspect="1"/>
          </p:cNvPicPr>
          <p:nvPr/>
        </p:nvPicPr>
        <p:blipFill>
          <a:blip r:embed="rId4"/>
          <a:stretch>
            <a:fillRect/>
          </a:stretch>
        </p:blipFill>
        <p:spPr>
          <a:xfrm>
            <a:off x="5262601" y="1828800"/>
            <a:ext cx="1666494" cy="237744"/>
          </a:xfrm>
          <a:prstGeom prst="rect">
            <a:avLst/>
          </a:prstGeom>
        </p:spPr>
      </p:pic>
      <p:pic>
        <p:nvPicPr>
          <p:cNvPr id="14" name="o13" descr="NETTOYAGE"/>
          <p:cNvPicPr>
            <a:picLocks noChangeAspect="1"/>
          </p:cNvPicPr>
          <p:nvPr/>
        </p:nvPicPr>
        <p:blipFill>
          <a:blip r:embed="rId5"/>
          <a:stretch>
            <a:fillRect/>
          </a:stretch>
        </p:blipFill>
        <p:spPr>
          <a:xfrm>
            <a:off x="3791560" y="2331720"/>
            <a:ext cx="4608576"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4 fantômes cachés dans les données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70" name="o69"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71" name="barre_fantome" descr="image.gif"/>
          <p:cNvPicPr>
            <a:picLocks noChangeAspect="1"/>
          </p:cNvPicPr>
          <p:nvPr/>
        </p:nvPicPr>
        <p:blipFill>
          <a:blip r:embed="rId7"/>
          <a:stretch>
            <a:fillRect/>
          </a:stretch>
        </p:blipFill>
        <p:spPr>
          <a:xfrm>
            <a:off x="1720307" y="6291072"/>
            <a:ext cx="310896" cy="310896"/>
          </a:xfrm>
          <a:prstGeom prst="rect">
            <a:avLst/>
          </a:prstGeom>
        </p:spPr>
      </p:pic>
      <p:pic>
        <p:nvPicPr>
          <p:cNvPr id="72" name="barre_pacman" descr="image.gif"/>
          <p:cNvPicPr>
            <a:picLocks noChangeAspect="1"/>
          </p:cNvPicPr>
          <p:nvPr/>
        </p:nvPicPr>
        <p:blipFill>
          <a:blip r:embed="rId6"/>
          <a:stretch>
            <a:fillRect/>
          </a:stretch>
        </p:blipFill>
        <p:spPr>
          <a:xfrm>
            <a:off x="2287235" y="6291072"/>
            <a:ext cx="310896" cy="310896"/>
          </a:xfrm>
          <a:prstGeom prst="rect">
            <a:avLst/>
          </a:prstGeom>
        </p:spPr>
      </p:pic>
      <p:sp>
        <p:nvSpPr>
          <p:cNvPr id="73"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2"/>
                                        </p:tgtEl>
                                        <p:attrNameLst>
                                          <p:attrName>ppt_x</p:attrName>
                                          <p:attrName>ppt_y</p:attrName>
                                        </p:attrNameLst>
                                      </p:cBhvr>
                                    </p:animMotion>
                                  </p:childTnLst>
                                </p:cTn>
                              </p:par>
                              <p:par>
                                <p:cTn id="9" presetID="1" presetClass="exit" presetSubtype="0" fill="hold" nodeType="withEffect">
                                  <p:stCondLst>
                                    <p:cond delay="613"/>
                                  </p:stCondLst>
                                  <p:childTnLst>
                                    <p:set>
                                      <p:cBhvr>
                                        <p:cTn id="10" dur="1" fill="hold">
                                          <p:stCondLst>
                                            <p:cond delay="0"/>
                                          </p:stCondLst>
                                        </p:cTn>
                                        <p:tgtEl>
                                          <p:spTgt spid="73"/>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pic>
        <p:nvPicPr>
          <p:cNvPr id="2" name="o1" descr="LEVEL 3 → NETTOYAGE"/>
          <p:cNvPicPr>
            <a:picLocks noChangeAspect="1"/>
          </p:cNvPicPr>
          <p:nvPr/>
        </p:nvPicPr>
        <p:blipFill>
          <a:blip r:embed="rId3"/>
          <a:stretch>
            <a:fillRect/>
          </a:stretch>
        </p:blipFill>
        <p:spPr>
          <a:xfrm>
            <a:off x="548640" y="411480"/>
            <a:ext cx="2779776" cy="146304"/>
          </a:xfrm>
          <a:prstGeom prst="rect">
            <a:avLst/>
          </a:prstGeom>
        </p:spPr>
      </p:pic>
      <p:pic>
        <p:nvPicPr>
          <p:cNvPr id="3" name="o2" descr="4 fantômes cachés dans les données"/>
          <p:cNvPicPr>
            <a:picLocks noChangeAspect="1"/>
          </p:cNvPicPr>
          <p:nvPr/>
        </p:nvPicPr>
        <p:blipFill>
          <a:blip r:embed="rId4"/>
          <a:stretch>
            <a:fillRect/>
          </a:stretch>
        </p:blipFill>
        <p:spPr>
          <a:xfrm>
            <a:off x="548640" y="777240"/>
            <a:ext cx="9326880" cy="274320"/>
          </a:xfrm>
          <a:prstGeom prst="rect">
            <a:avLst/>
          </a:prstGeom>
        </p:spPr>
      </p:pic>
      <p:pic>
        <p:nvPicPr>
          <p:cNvPr id="4" name="o3" descr="orange"/>
          <p:cNvPicPr>
            <a:picLocks noChangeAspect="1"/>
          </p:cNvPicPr>
          <p:nvPr/>
        </p:nvPicPr>
        <p:blipFill>
          <a:blip r:embed="rId5"/>
          <a:stretch>
            <a:fillRect/>
          </a:stretch>
        </p:blipFill>
        <p:spPr>
          <a:xfrm>
            <a:off x="11073384" y="365760"/>
            <a:ext cx="566928" cy="566928"/>
          </a:xfrm>
          <a:prstGeom prst="rect">
            <a:avLst/>
          </a:prstGeom>
        </p:spPr>
      </p:pic>
      <p:pic>
        <p:nvPicPr>
          <p:cNvPr id="32" name="o31"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35" name="o34"/>
          <p:cNvSpPr/>
          <p:nvPr/>
        </p:nvSpPr>
        <p:spPr>
          <a:xfrm>
            <a:off x="548640" y="1645920"/>
            <a:ext cx="3337560" cy="1920240"/>
          </a:xfrm>
          <a:prstGeom prst="roundRect">
            <a:avLst>
              <a:gd name="adj" fmla="val 6667"/>
            </a:avLst>
          </a:prstGeom>
          <a:solidFill>
            <a:srgbClr val="000000"/>
          </a:solidFill>
          <a:ln w="28575">
            <a:solidFill>
              <a:srgbClr val="2121DE"/>
            </a:solidFill>
            <a:prstDash val="solid"/>
          </a:ln>
        </p:spPr>
      </p:sp>
      <p:sp>
        <p:nvSpPr>
          <p:cNvPr id="36" name="o35"/>
          <p:cNvSpPr/>
          <p:nvPr/>
        </p:nvSpPr>
        <p:spPr>
          <a:xfrm>
            <a:off x="617220" y="1714500"/>
            <a:ext cx="3200400" cy="1783080"/>
          </a:xfrm>
          <a:prstGeom prst="roundRect">
            <a:avLst>
              <a:gd name="adj" fmla="val 3333"/>
            </a:avLst>
          </a:prstGeom>
          <a:ln w="12700">
            <a:solidFill>
              <a:srgbClr val="2121DE"/>
            </a:solidFill>
            <a:prstDash val="solid"/>
          </a:ln>
        </p:spPr>
      </p:sp>
      <p:pic>
        <p:nvPicPr>
          <p:cNvPr id="37" name="o36" descr="fantôme"/>
          <p:cNvPicPr>
            <a:picLocks noChangeAspect="1"/>
          </p:cNvPicPr>
          <p:nvPr/>
        </p:nvPicPr>
        <p:blipFill>
          <a:blip r:embed="rId8"/>
          <a:stretch>
            <a:fillRect/>
          </a:stretch>
        </p:blipFill>
        <p:spPr>
          <a:xfrm>
            <a:off x="804672" y="1901952"/>
            <a:ext cx="548640" cy="548640"/>
          </a:xfrm>
          <a:prstGeom prst="rect">
            <a:avLst/>
          </a:prstGeom>
        </p:spPr>
      </p:pic>
      <p:pic>
        <p:nvPicPr>
          <p:cNvPr id="38" name="o37" descr="fantôme mangé"/>
          <p:cNvPicPr>
            <a:picLocks noChangeAspect="1"/>
          </p:cNvPicPr>
          <p:nvPr/>
        </p:nvPicPr>
        <p:blipFill>
          <a:blip r:embed="rId9"/>
          <a:stretch>
            <a:fillRect/>
          </a:stretch>
        </p:blipFill>
        <p:spPr>
          <a:xfrm>
            <a:off x="804672" y="1901952"/>
            <a:ext cx="548640" cy="548640"/>
          </a:xfrm>
          <a:prstGeom prst="rect">
            <a:avLst/>
          </a:prstGeom>
        </p:spPr>
      </p:pic>
      <p:pic>
        <p:nvPicPr>
          <p:cNvPr id="39" name="o38" descr="271"/>
          <p:cNvPicPr>
            <a:picLocks noChangeAspect="1"/>
          </p:cNvPicPr>
          <p:nvPr/>
        </p:nvPicPr>
        <p:blipFill>
          <a:blip r:embed="rId10"/>
          <a:stretch>
            <a:fillRect/>
          </a:stretch>
        </p:blipFill>
        <p:spPr>
          <a:xfrm>
            <a:off x="1554480" y="1920240"/>
            <a:ext cx="822960" cy="274320"/>
          </a:xfrm>
          <a:prstGeom prst="rect">
            <a:avLst/>
          </a:prstGeom>
        </p:spPr>
      </p:pic>
      <p:sp>
        <p:nvSpPr>
          <p:cNvPr id="40" name="o39"/>
          <p:cNvSpPr txBox="1"/>
          <p:nvPr/>
        </p:nvSpPr>
        <p:spPr>
          <a:xfrm>
            <a:off x="1554480" y="226771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années manquantes</a:t>
            </a:r>
            <a:endParaRPr lang="en-US" sz="1400" dirty="0"/>
          </a:p>
        </p:txBody>
      </p:sp>
      <p:sp>
        <p:nvSpPr>
          <p:cNvPr id="41" name="o40"/>
          <p:cNvSpPr txBox="1"/>
          <p:nvPr/>
        </p:nvSpPr>
        <p:spPr>
          <a:xfrm>
            <a:off x="804672" y="269748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118 retrouvées grâce à une fiche jumelle, 153 supprimées</a:t>
            </a:r>
            <a:endParaRPr lang="en-US" sz="1400" dirty="0"/>
          </a:p>
        </p:txBody>
      </p:sp>
      <p:sp>
        <p:nvSpPr>
          <p:cNvPr id="42" name="o41"/>
          <p:cNvSpPr/>
          <p:nvPr/>
        </p:nvSpPr>
        <p:spPr>
          <a:xfrm>
            <a:off x="4114800" y="1645920"/>
            <a:ext cx="3337560" cy="1920240"/>
          </a:xfrm>
          <a:prstGeom prst="roundRect">
            <a:avLst>
              <a:gd name="adj" fmla="val 6667"/>
            </a:avLst>
          </a:prstGeom>
          <a:solidFill>
            <a:srgbClr val="000000"/>
          </a:solidFill>
          <a:ln w="28575">
            <a:solidFill>
              <a:srgbClr val="2121DE"/>
            </a:solidFill>
            <a:prstDash val="solid"/>
          </a:ln>
        </p:spPr>
      </p:sp>
      <p:sp>
        <p:nvSpPr>
          <p:cNvPr id="43" name="o42"/>
          <p:cNvSpPr/>
          <p:nvPr/>
        </p:nvSpPr>
        <p:spPr>
          <a:xfrm>
            <a:off x="4183380" y="1714500"/>
            <a:ext cx="3200400" cy="1783080"/>
          </a:xfrm>
          <a:prstGeom prst="roundRect">
            <a:avLst>
              <a:gd name="adj" fmla="val 3333"/>
            </a:avLst>
          </a:prstGeom>
          <a:ln w="12700">
            <a:solidFill>
              <a:srgbClr val="2121DE"/>
            </a:solidFill>
            <a:prstDash val="solid"/>
          </a:ln>
        </p:spPr>
      </p:sp>
      <p:pic>
        <p:nvPicPr>
          <p:cNvPr id="44" name="o43" descr="fantôme"/>
          <p:cNvPicPr>
            <a:picLocks noChangeAspect="1"/>
          </p:cNvPicPr>
          <p:nvPr/>
        </p:nvPicPr>
        <p:blipFill>
          <a:blip r:embed="rId11"/>
          <a:stretch>
            <a:fillRect/>
          </a:stretch>
        </p:blipFill>
        <p:spPr>
          <a:xfrm>
            <a:off x="4370832" y="1901952"/>
            <a:ext cx="548640" cy="548640"/>
          </a:xfrm>
          <a:prstGeom prst="rect">
            <a:avLst/>
          </a:prstGeom>
        </p:spPr>
      </p:pic>
      <p:pic>
        <p:nvPicPr>
          <p:cNvPr id="45" name="o44" descr="fantôme mangé"/>
          <p:cNvPicPr>
            <a:picLocks noChangeAspect="1"/>
          </p:cNvPicPr>
          <p:nvPr/>
        </p:nvPicPr>
        <p:blipFill>
          <a:blip r:embed="rId9"/>
          <a:stretch>
            <a:fillRect/>
          </a:stretch>
        </p:blipFill>
        <p:spPr>
          <a:xfrm>
            <a:off x="4370832" y="1901952"/>
            <a:ext cx="548640" cy="548640"/>
          </a:xfrm>
          <a:prstGeom prst="rect">
            <a:avLst/>
          </a:prstGeom>
        </p:spPr>
      </p:pic>
      <p:pic>
        <p:nvPicPr>
          <p:cNvPr id="46" name="o45" descr="149"/>
          <p:cNvPicPr>
            <a:picLocks noChangeAspect="1"/>
          </p:cNvPicPr>
          <p:nvPr/>
        </p:nvPicPr>
        <p:blipFill>
          <a:blip r:embed="rId12"/>
          <a:stretch>
            <a:fillRect/>
          </a:stretch>
        </p:blipFill>
        <p:spPr>
          <a:xfrm>
            <a:off x="5120640" y="1920240"/>
            <a:ext cx="822960" cy="274320"/>
          </a:xfrm>
          <a:prstGeom prst="rect">
            <a:avLst/>
          </a:prstGeom>
        </p:spPr>
      </p:pic>
      <p:sp>
        <p:nvSpPr>
          <p:cNvPr id="47" name="o46"/>
          <p:cNvSpPr txBox="1"/>
          <p:nvPr/>
        </p:nvSpPr>
        <p:spPr>
          <a:xfrm>
            <a:off x="5120640" y="226771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fiches « (JP sales) »</a:t>
            </a:r>
            <a:endParaRPr lang="en-US" sz="1400" dirty="0"/>
          </a:p>
        </p:txBody>
      </p:sp>
      <p:sp>
        <p:nvSpPr>
          <p:cNvPr id="48" name="o47"/>
          <p:cNvSpPr txBox="1"/>
          <p:nvPr/>
        </p:nvSpPr>
        <p:spPr>
          <a:xfrm>
            <a:off x="4370832" y="269748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fusionnées : maximum par région, sans double comptage</a:t>
            </a:r>
            <a:endParaRPr lang="en-US" sz="1400" dirty="0"/>
          </a:p>
        </p:txBody>
      </p:sp>
      <p:sp>
        <p:nvSpPr>
          <p:cNvPr id="49" name="o48"/>
          <p:cNvSpPr/>
          <p:nvPr/>
        </p:nvSpPr>
        <p:spPr>
          <a:xfrm>
            <a:off x="548640" y="3794760"/>
            <a:ext cx="3337560" cy="1920240"/>
          </a:xfrm>
          <a:prstGeom prst="roundRect">
            <a:avLst>
              <a:gd name="adj" fmla="val 6667"/>
            </a:avLst>
          </a:prstGeom>
          <a:solidFill>
            <a:srgbClr val="000000"/>
          </a:solidFill>
          <a:ln w="28575">
            <a:solidFill>
              <a:srgbClr val="2121DE"/>
            </a:solidFill>
            <a:prstDash val="solid"/>
          </a:ln>
        </p:spPr>
      </p:sp>
      <p:sp>
        <p:nvSpPr>
          <p:cNvPr id="50" name="o49"/>
          <p:cNvSpPr/>
          <p:nvPr/>
        </p:nvSpPr>
        <p:spPr>
          <a:xfrm>
            <a:off x="617220" y="3863340"/>
            <a:ext cx="3200400" cy="1783080"/>
          </a:xfrm>
          <a:prstGeom prst="roundRect">
            <a:avLst>
              <a:gd name="adj" fmla="val 3333"/>
            </a:avLst>
          </a:prstGeom>
          <a:ln w="12700">
            <a:solidFill>
              <a:srgbClr val="2121DE"/>
            </a:solidFill>
            <a:prstDash val="solid"/>
          </a:ln>
        </p:spPr>
      </p:sp>
      <p:pic>
        <p:nvPicPr>
          <p:cNvPr id="51" name="o50" descr="fantôme"/>
          <p:cNvPicPr>
            <a:picLocks noChangeAspect="1"/>
          </p:cNvPicPr>
          <p:nvPr/>
        </p:nvPicPr>
        <p:blipFill>
          <a:blip r:embed="rId13"/>
          <a:stretch>
            <a:fillRect/>
          </a:stretch>
        </p:blipFill>
        <p:spPr>
          <a:xfrm>
            <a:off x="804672" y="4050792"/>
            <a:ext cx="548640" cy="548640"/>
          </a:xfrm>
          <a:prstGeom prst="rect">
            <a:avLst/>
          </a:prstGeom>
        </p:spPr>
      </p:pic>
      <p:pic>
        <p:nvPicPr>
          <p:cNvPr id="52" name="o51" descr="fantôme mangé"/>
          <p:cNvPicPr>
            <a:picLocks noChangeAspect="1"/>
          </p:cNvPicPr>
          <p:nvPr/>
        </p:nvPicPr>
        <p:blipFill>
          <a:blip r:embed="rId9"/>
          <a:stretch>
            <a:fillRect/>
          </a:stretch>
        </p:blipFill>
        <p:spPr>
          <a:xfrm>
            <a:off x="804672" y="4050792"/>
            <a:ext cx="548640" cy="548640"/>
          </a:xfrm>
          <a:prstGeom prst="rect">
            <a:avLst/>
          </a:prstGeom>
        </p:spPr>
      </p:pic>
      <p:pic>
        <p:nvPicPr>
          <p:cNvPr id="53" name="o52" descr="10"/>
          <p:cNvPicPr>
            <a:picLocks noChangeAspect="1"/>
          </p:cNvPicPr>
          <p:nvPr/>
        </p:nvPicPr>
        <p:blipFill>
          <a:blip r:embed="rId14"/>
          <a:stretch>
            <a:fillRect/>
          </a:stretch>
        </p:blipFill>
        <p:spPr>
          <a:xfrm>
            <a:off x="1554480" y="4069080"/>
            <a:ext cx="548640" cy="274320"/>
          </a:xfrm>
          <a:prstGeom prst="rect">
            <a:avLst/>
          </a:prstGeom>
        </p:spPr>
      </p:pic>
      <p:sp>
        <p:nvSpPr>
          <p:cNvPr id="54" name="o53"/>
          <p:cNvSpPr txBox="1"/>
          <p:nvPr/>
        </p:nvSpPr>
        <p:spPr>
          <a:xfrm>
            <a:off x="1554480" y="441655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dates impossibles</a:t>
            </a:r>
            <a:endParaRPr lang="en-US" sz="1400" dirty="0"/>
          </a:p>
        </p:txBody>
      </p:sp>
      <p:sp>
        <p:nvSpPr>
          <p:cNvPr id="55" name="o54"/>
          <p:cNvSpPr txBox="1"/>
          <p:nvPr/>
        </p:nvSpPr>
        <p:spPr>
          <a:xfrm>
            <a:off x="804672" y="484632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ex. un jeu DS daté de 1985 : 5 corrigées, 5 supprimées</a:t>
            </a:r>
            <a:endParaRPr lang="en-US" sz="1400" dirty="0"/>
          </a:p>
        </p:txBody>
      </p:sp>
      <p:sp>
        <p:nvSpPr>
          <p:cNvPr id="56" name="o55"/>
          <p:cNvSpPr/>
          <p:nvPr/>
        </p:nvSpPr>
        <p:spPr>
          <a:xfrm>
            <a:off x="4114800" y="3794760"/>
            <a:ext cx="3337560" cy="1920240"/>
          </a:xfrm>
          <a:prstGeom prst="roundRect">
            <a:avLst>
              <a:gd name="adj" fmla="val 6667"/>
            </a:avLst>
          </a:prstGeom>
          <a:solidFill>
            <a:srgbClr val="000000"/>
          </a:solidFill>
          <a:ln w="28575">
            <a:solidFill>
              <a:srgbClr val="2121DE"/>
            </a:solidFill>
            <a:prstDash val="solid"/>
          </a:ln>
        </p:spPr>
      </p:sp>
      <p:sp>
        <p:nvSpPr>
          <p:cNvPr id="57" name="o56"/>
          <p:cNvSpPr/>
          <p:nvPr/>
        </p:nvSpPr>
        <p:spPr>
          <a:xfrm>
            <a:off x="4183380" y="3863340"/>
            <a:ext cx="3200400" cy="1783080"/>
          </a:xfrm>
          <a:prstGeom prst="roundRect">
            <a:avLst>
              <a:gd name="adj" fmla="val 3333"/>
            </a:avLst>
          </a:prstGeom>
          <a:ln w="12700">
            <a:solidFill>
              <a:srgbClr val="2121DE"/>
            </a:solidFill>
            <a:prstDash val="solid"/>
          </a:ln>
        </p:spPr>
      </p:sp>
      <p:pic>
        <p:nvPicPr>
          <p:cNvPr id="58" name="o57" descr="fantôme"/>
          <p:cNvPicPr>
            <a:picLocks noChangeAspect="1"/>
          </p:cNvPicPr>
          <p:nvPr/>
        </p:nvPicPr>
        <p:blipFill>
          <a:blip r:embed="rId15"/>
          <a:stretch>
            <a:fillRect/>
          </a:stretch>
        </p:blipFill>
        <p:spPr>
          <a:xfrm>
            <a:off x="4370832" y="4050792"/>
            <a:ext cx="548640" cy="548640"/>
          </a:xfrm>
          <a:prstGeom prst="rect">
            <a:avLst/>
          </a:prstGeom>
        </p:spPr>
      </p:pic>
      <p:pic>
        <p:nvPicPr>
          <p:cNvPr id="59" name="o58" descr="fantôme mangé"/>
          <p:cNvPicPr>
            <a:picLocks noChangeAspect="1"/>
          </p:cNvPicPr>
          <p:nvPr/>
        </p:nvPicPr>
        <p:blipFill>
          <a:blip r:embed="rId9"/>
          <a:stretch>
            <a:fillRect/>
          </a:stretch>
        </p:blipFill>
        <p:spPr>
          <a:xfrm>
            <a:off x="4370832" y="4050792"/>
            <a:ext cx="548640" cy="548640"/>
          </a:xfrm>
          <a:prstGeom prst="rect">
            <a:avLst/>
          </a:prstGeom>
        </p:spPr>
      </p:pic>
      <p:pic>
        <p:nvPicPr>
          <p:cNvPr id="60" name="o59" descr="261"/>
          <p:cNvPicPr>
            <a:picLocks noChangeAspect="1"/>
          </p:cNvPicPr>
          <p:nvPr/>
        </p:nvPicPr>
        <p:blipFill>
          <a:blip r:embed="rId16"/>
          <a:stretch>
            <a:fillRect/>
          </a:stretch>
        </p:blipFill>
        <p:spPr>
          <a:xfrm>
            <a:off x="5120640" y="4069080"/>
            <a:ext cx="822960" cy="274320"/>
          </a:xfrm>
          <a:prstGeom prst="rect">
            <a:avLst/>
          </a:prstGeom>
        </p:spPr>
      </p:pic>
      <p:sp>
        <p:nvSpPr>
          <p:cNvPr id="61" name="o60"/>
          <p:cNvSpPr txBox="1"/>
          <p:nvPr/>
        </p:nvSpPr>
        <p:spPr>
          <a:xfrm>
            <a:off x="5120640" y="441655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éditeurs inconnus</a:t>
            </a:r>
            <a:endParaRPr lang="en-US" sz="1400" dirty="0"/>
          </a:p>
        </p:txBody>
      </p:sp>
      <p:sp>
        <p:nvSpPr>
          <p:cNvPr id="62" name="o61"/>
          <p:cNvSpPr txBox="1"/>
          <p:nvPr/>
        </p:nvSpPr>
        <p:spPr>
          <a:xfrm>
            <a:off x="4370832" y="484632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58 vides + 203 « Unknown », regroupés en une seule catégorie</a:t>
            </a:r>
            <a:endParaRPr lang="en-US" sz="1400" dirty="0"/>
          </a:p>
        </p:txBody>
      </p:sp>
      <p:pic>
        <p:nvPicPr>
          <p:cNvPr id="63" name="o62" descr="Pac-Man"/>
          <p:cNvPicPr>
            <a:picLocks noChangeAspect="1"/>
          </p:cNvPicPr>
          <p:nvPr/>
        </p:nvPicPr>
        <p:blipFill>
          <a:blip r:embed="rId17"/>
          <a:stretch>
            <a:fillRect/>
          </a:stretch>
        </p:blipFill>
        <p:spPr>
          <a:xfrm>
            <a:off x="9089136" y="1691640"/>
            <a:ext cx="1280160" cy="1280160"/>
          </a:xfrm>
          <a:prstGeom prst="rect">
            <a:avLst/>
          </a:prstGeom>
        </p:spPr>
      </p:pic>
      <p:pic>
        <p:nvPicPr>
          <p:cNvPr id="64" name="o63" descr="99,3%"/>
          <p:cNvPicPr>
            <a:picLocks noChangeAspect="1"/>
          </p:cNvPicPr>
          <p:nvPr/>
        </p:nvPicPr>
        <p:blipFill>
          <a:blip r:embed="rId18"/>
          <a:stretch>
            <a:fillRect/>
          </a:stretch>
        </p:blipFill>
        <p:spPr>
          <a:xfrm>
            <a:off x="8723376" y="3246120"/>
            <a:ext cx="2011680" cy="402336"/>
          </a:xfrm>
          <a:prstGeom prst="rect">
            <a:avLst/>
          </a:prstGeom>
        </p:spPr>
      </p:pic>
      <p:sp>
        <p:nvSpPr>
          <p:cNvPr id="65" name="o64"/>
          <p:cNvSpPr txBox="1"/>
          <p:nvPr/>
        </p:nvSpPr>
        <p:spPr>
          <a:xfrm>
            <a:off x="7818120" y="3794760"/>
            <a:ext cx="3822192" cy="320040"/>
          </a:xfrm>
          <a:prstGeom prst="rect">
            <a:avLst/>
          </a:prstGeom>
          <a:noFill/>
          <a:ln/>
        </p:spPr>
        <p:txBody>
          <a:bodyPr wrap="square" lIns="0" tIns="0" rIns="0" bIns="0" rtlCol="0" anchor="t"/>
          <a:lstStyle/>
          <a:p>
            <a:pPr marL="0" indent="0" algn="ctr">
              <a:buNone/>
            </a:pPr>
            <a:r>
              <a:rPr lang="en-US" sz="1500" dirty="0">
                <a:solidFill>
                  <a:srgbClr val="C4C4E4"/>
                </a:solidFill>
                <a:latin typeface="Arial" pitchFamily="34" charset="0"/>
                <a:ea typeface="Arial" pitchFamily="34" charset="-122"/>
                <a:cs typeface="Arial" pitchFamily="34" charset="-120"/>
              </a:rPr>
              <a:t>des ventes conservées</a:t>
            </a:r>
            <a:endParaRPr lang="en-US" sz="1500" dirty="0"/>
          </a:p>
        </p:txBody>
      </p:sp>
      <p:sp>
        <p:nvSpPr>
          <p:cNvPr id="66" name="o65"/>
          <p:cNvSpPr txBox="1"/>
          <p:nvPr/>
        </p:nvSpPr>
        <p:spPr>
          <a:xfrm>
            <a:off x="7818120" y="4297680"/>
            <a:ext cx="3822192" cy="365760"/>
          </a:xfrm>
          <a:prstGeom prst="rect">
            <a:avLst/>
          </a:prstGeom>
          <a:noFill/>
          <a:ln/>
        </p:spPr>
        <p:txBody>
          <a:bodyPr wrap="square" lIns="0" tIns="0" rIns="0" bIns="0" rtlCol="0" anchor="t"/>
          <a:lstStyle/>
          <a:p>
            <a:pPr marL="0" indent="0" algn="ctr">
              <a:buNone/>
            </a:pPr>
            <a:r>
              <a:rPr lang="en-US" sz="1800" b="1" dirty="0">
                <a:solidFill>
                  <a:srgbClr val="FFFFFF"/>
                </a:solidFill>
                <a:latin typeface="Arial" pitchFamily="34" charset="0"/>
                <a:ea typeface="Arial" pitchFamily="34" charset="-122"/>
                <a:cs typeface="Arial" pitchFamily="34" charset="-120"/>
              </a:rPr>
              <a:t>16 598 → 16 326 jeux</a:t>
            </a:r>
            <a:endParaRPr lang="en-US" sz="1800" dirty="0"/>
          </a:p>
        </p:txBody>
      </p:sp>
      <p:sp>
        <p:nvSpPr>
          <p:cNvPr id="67" name="o66"/>
          <p:cNvSpPr txBox="1"/>
          <p:nvPr/>
        </p:nvSpPr>
        <p:spPr>
          <a:xfrm>
            <a:off x="7818120" y="4663440"/>
            <a:ext cx="3822192" cy="274320"/>
          </a:xfrm>
          <a:prstGeom prst="rect">
            <a:avLst/>
          </a:prstGeom>
          <a:noFill/>
          <a:ln/>
        </p:spPr>
        <p:txBody>
          <a:bodyPr wrap="square" lIns="0" tIns="0" rIns="0" bIns="0" rtlCol="0" anchor="t"/>
          <a:lstStyle/>
          <a:p>
            <a:pPr marL="0" indent="0" algn="ctr">
              <a:buNone/>
            </a:pPr>
            <a:r>
              <a:rPr lang="en-US" sz="1200" dirty="0">
                <a:solidFill>
                  <a:srgbClr val="C4C4E4"/>
                </a:solidFill>
                <a:latin typeface="Arial" pitchFamily="34" charset="0"/>
                <a:ea typeface="Arial" pitchFamily="34" charset="-122"/>
                <a:cs typeface="Arial" pitchFamily="34" charset="-120"/>
              </a:rPr>
              <a:t>11 239 titres uniques · 114 fiches fusionnées</a:t>
            </a:r>
            <a:endParaRPr lang="en-US" sz="1200" dirty="0"/>
          </a:p>
        </p:txBody>
      </p:sp>
      <p:sp>
        <p:nvSpPr>
          <p:cNvPr id="68" name="o67"/>
          <p:cNvSpPr txBox="1"/>
          <p:nvPr/>
        </p:nvSpPr>
        <p:spPr>
          <a:xfrm>
            <a:off x="7818120" y="5257800"/>
            <a:ext cx="3822192" cy="274320"/>
          </a:xfrm>
          <a:prstGeom prst="rect">
            <a:avLst/>
          </a:prstGeom>
          <a:noFill/>
          <a:ln/>
        </p:spPr>
        <p:txBody>
          <a:bodyPr wrap="square" lIns="0" tIns="0" rIns="0" bIns="0" rtlCol="0" anchor="t"/>
          <a:lstStyle/>
          <a:p>
            <a:pPr marL="0" indent="0" algn="ctr">
              <a:buNone/>
            </a:pPr>
            <a:r>
              <a:rPr lang="en-US" sz="1300" i="1" dirty="0">
                <a:solidFill>
                  <a:srgbClr val="7C7CAA"/>
                </a:solidFill>
                <a:latin typeface="Arial" pitchFamily="34" charset="0"/>
                <a:ea typeface="Arial" pitchFamily="34" charset="-122"/>
                <a:cs typeface="Arial" pitchFamily="34" charset="-120"/>
              </a:rPr>
              <a:t>Chaque bug corrigé = un fantôme mangé</a:t>
            </a:r>
            <a:endParaRPr lang="en-US" sz="1300" dirty="0"/>
          </a:p>
        </p:txBody>
      </p:sp>
      <p:pic>
        <p:nvPicPr>
          <p:cNvPr id="121" name="barre_fantome" descr="image.gif"/>
          <p:cNvPicPr>
            <a:picLocks noChangeAspect="1"/>
          </p:cNvPicPr>
          <p:nvPr/>
        </p:nvPicPr>
        <p:blipFill>
          <a:blip r:embed="rId8"/>
          <a:stretch>
            <a:fillRect/>
          </a:stretch>
        </p:blipFill>
        <p:spPr>
          <a:xfrm>
            <a:off x="1987213" y="6291072"/>
            <a:ext cx="310896" cy="310896"/>
          </a:xfrm>
          <a:prstGeom prst="rect">
            <a:avLst/>
          </a:prstGeom>
        </p:spPr>
      </p:pic>
      <p:pic>
        <p:nvPicPr>
          <p:cNvPr id="122" name="barre_pacman" descr="image.gif"/>
          <p:cNvPicPr>
            <a:picLocks noChangeAspect="1"/>
          </p:cNvPicPr>
          <p:nvPr/>
        </p:nvPicPr>
        <p:blipFill>
          <a:blip r:embed="rId7"/>
          <a:stretch>
            <a:fillRect/>
          </a:stretch>
        </p:blipFill>
        <p:spPr>
          <a:xfrm>
            <a:off x="2554141" y="6291072"/>
            <a:ext cx="310896" cy="310896"/>
          </a:xfrm>
          <a:prstGeom prst="rect">
            <a:avLst/>
          </a:prstGeom>
        </p:spPr>
      </p:pic>
      <p:sp>
        <p:nvSpPr>
          <p:cNvPr id="123"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2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22"/>
                                        </p:tgtEl>
                                        <p:attrNameLst>
                                          <p:attrName>ppt_x</p:attrName>
                                          <p:attrName>ppt_y</p:attrName>
                                        </p:attrNameLst>
                                      </p:cBhvr>
                                    </p:animMotion>
                                  </p:childTnLst>
                                </p:cTn>
                              </p:par>
                              <p:par>
                                <p:cTn id="9" presetID="1" presetClass="exit" presetSubtype="0" fill="hold" nodeType="withEffect">
                                  <p:stCondLst>
                                    <p:cond delay="483"/>
                                  </p:stCondLst>
                                  <p:childTnLst>
                                    <p:set>
                                      <p:cBhvr>
                                        <p:cTn id="10" dur="1" fill="hold">
                                          <p:stCondLst>
                                            <p:cond delay="0"/>
                                          </p:stCondLst>
                                        </p:cTn>
                                        <p:tgtEl>
                                          <p:spTgt spid="123"/>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35"/>
                                        </p:tgtEl>
                                        <p:attrNameLst>
                                          <p:attrName>style.visibility</p:attrName>
                                        </p:attrNameLst>
                                      </p:cBhvr>
                                      <p:to>
                                        <p:strVal val="visible"/>
                                      </p:to>
                                    </p:set>
                                    <p:animEffect transition="in" filter="fade">
                                      <p:cBhvr>
                                        <p:cTn id="13" dur="400"/>
                                        <p:tgtEl>
                                          <p:spTgt spid="35"/>
                                        </p:tgtEl>
                                      </p:cBhvr>
                                    </p:animEffect>
                                  </p:childTnLst>
                                </p:cTn>
                              </p:par>
                              <p:par>
                                <p:cTn id="14" presetID="10" presetClass="entr" presetSubtype="0" fill="hold" nodeType="withEffect">
                                  <p:stCondLst>
                                    <p:cond delay="150"/>
                                  </p:stCondLst>
                                  <p:childTnLst>
                                    <p:set>
                                      <p:cBhvr>
                                        <p:cTn id="15" dur="1" fill="hold">
                                          <p:stCondLst>
                                            <p:cond delay="0"/>
                                          </p:stCondLst>
                                        </p:cTn>
                                        <p:tgtEl>
                                          <p:spTgt spid="36"/>
                                        </p:tgtEl>
                                        <p:attrNameLst>
                                          <p:attrName>style.visibility</p:attrName>
                                        </p:attrNameLst>
                                      </p:cBhvr>
                                      <p:to>
                                        <p:strVal val="visible"/>
                                      </p:to>
                                    </p:set>
                                    <p:animEffect transition="in" filter="fade">
                                      <p:cBhvr>
                                        <p:cTn id="16" dur="400"/>
                                        <p:tgtEl>
                                          <p:spTgt spid="36"/>
                                        </p:tgtEl>
                                      </p:cBhvr>
                                    </p:animEffect>
                                  </p:childTnLst>
                                </p:cTn>
                              </p:par>
                              <p:par>
                                <p:cTn id="17" presetID="10" presetClass="entr" presetSubtype="0" fill="hold" nodeType="withEffect">
                                  <p:stCondLst>
                                    <p:cond delay="150"/>
                                  </p:stCondLst>
                                  <p:childTnLst>
                                    <p:set>
                                      <p:cBhvr>
                                        <p:cTn id="18" dur="1" fill="hold">
                                          <p:stCondLst>
                                            <p:cond delay="0"/>
                                          </p:stCondLst>
                                        </p:cTn>
                                        <p:tgtEl>
                                          <p:spTgt spid="37"/>
                                        </p:tgtEl>
                                        <p:attrNameLst>
                                          <p:attrName>style.visibility</p:attrName>
                                        </p:attrNameLst>
                                      </p:cBhvr>
                                      <p:to>
                                        <p:strVal val="visible"/>
                                      </p:to>
                                    </p:set>
                                    <p:animEffect transition="in" filter="fade">
                                      <p:cBhvr>
                                        <p:cTn id="19" dur="400"/>
                                        <p:tgtEl>
                                          <p:spTgt spid="37"/>
                                        </p:tgtEl>
                                      </p:cBhvr>
                                    </p:animEffect>
                                  </p:childTnLst>
                                </p:cTn>
                              </p:par>
                              <p:par>
                                <p:cTn id="20" presetID="1" presetClass="exit" presetSubtype="0" fill="hold" nodeType="withEffect">
                                  <p:stCondLst>
                                    <p:cond delay="1600"/>
                                  </p:stCondLst>
                                  <p:childTnLst>
                                    <p:set>
                                      <p:cBhvr>
                                        <p:cTn id="21" dur="1" fill="hold">
                                          <p:stCondLst>
                                            <p:cond delay="0"/>
                                          </p:stCondLst>
                                        </p:cTn>
                                        <p:tgtEl>
                                          <p:spTgt spid="37"/>
                                        </p:tgtEl>
                                        <p:attrNameLst>
                                          <p:attrName>style.visibility</p:attrName>
                                        </p:attrNameLst>
                                      </p:cBhvr>
                                      <p:to>
                                        <p:strVal val="hidden"/>
                                      </p:to>
                                    </p:set>
                                  </p:childTnLst>
                                </p:cTn>
                              </p:par>
                              <p:par>
                                <p:cTn id="22" presetID="1" presetClass="entr" presetSubtype="0" fill="hold" nodeType="withEffect">
                                  <p:stCondLst>
                                    <p:cond delay="1600"/>
                                  </p:stCondLst>
                                  <p:childTnLst>
                                    <p:set>
                                      <p:cBhvr>
                                        <p:cTn id="23" dur="1" fill="hold">
                                          <p:stCondLst>
                                            <p:cond delay="0"/>
                                          </p:stCondLst>
                                        </p:cTn>
                                        <p:tgtEl>
                                          <p:spTgt spid="38"/>
                                        </p:tgtEl>
                                        <p:attrNameLst>
                                          <p:attrName>style.visibility</p:attrName>
                                        </p:attrNameLst>
                                      </p:cBhvr>
                                      <p:to>
                                        <p:strVal val="visible"/>
                                      </p:to>
                                    </p:set>
                                  </p:childTnLst>
                                </p:cTn>
                              </p:par>
                              <p:par>
                                <p:cTn id="24" presetID="10" presetClass="entr" presetSubtype="0" fill="hold" nodeType="withEffect">
                                  <p:stCondLst>
                                    <p:cond delay="15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nodeType="withEffect">
                                  <p:stCondLst>
                                    <p:cond delay="15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nodeType="withEffect">
                                  <p:stCondLst>
                                    <p:cond delay="15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nodeType="withEffect">
                                  <p:stCondLst>
                                    <p:cond delay="33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nodeType="withEffect">
                                  <p:stCondLst>
                                    <p:cond delay="33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nodeType="withEffect">
                                  <p:stCondLst>
                                    <p:cond delay="33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 presetClass="exit" presetSubtype="0" fill="hold" nodeType="withEffect">
                                  <p:stCondLst>
                                    <p:cond delay="1950"/>
                                  </p:stCondLst>
                                  <p:childTnLst>
                                    <p:set>
                                      <p:cBhvr>
                                        <p:cTn id="43" dur="1" fill="hold">
                                          <p:stCondLst>
                                            <p:cond delay="0"/>
                                          </p:stCondLst>
                                        </p:cTn>
                                        <p:tgtEl>
                                          <p:spTgt spid="44"/>
                                        </p:tgtEl>
                                        <p:attrNameLst>
                                          <p:attrName>style.visibility</p:attrName>
                                        </p:attrNameLst>
                                      </p:cBhvr>
                                      <p:to>
                                        <p:strVal val="hidden"/>
                                      </p:to>
                                    </p:set>
                                  </p:childTnLst>
                                </p:cTn>
                              </p:par>
                              <p:par>
                                <p:cTn id="44" presetID="1" presetClass="entr" presetSubtype="0" fill="hold" nodeType="withEffect">
                                  <p:stCondLst>
                                    <p:cond delay="1950"/>
                                  </p:stCondLst>
                                  <p:childTnLst>
                                    <p:set>
                                      <p:cBhvr>
                                        <p:cTn id="45" dur="1" fill="hold">
                                          <p:stCondLst>
                                            <p:cond delay="0"/>
                                          </p:stCondLst>
                                        </p:cTn>
                                        <p:tgtEl>
                                          <p:spTgt spid="45"/>
                                        </p:tgtEl>
                                        <p:attrNameLst>
                                          <p:attrName>style.visibility</p:attrName>
                                        </p:attrNameLst>
                                      </p:cBhvr>
                                      <p:to>
                                        <p:strVal val="visible"/>
                                      </p:to>
                                    </p:set>
                                  </p:childTnLst>
                                </p:cTn>
                              </p:par>
                              <p:par>
                                <p:cTn id="46" presetID="10" presetClass="entr" presetSubtype="0" fill="hold" nodeType="withEffect">
                                  <p:stCondLst>
                                    <p:cond delay="33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childTnLst>
                                </p:cTn>
                              </p:par>
                              <p:par>
                                <p:cTn id="49" presetID="10" presetClass="entr" presetSubtype="0" fill="hold" nodeType="withEffect">
                                  <p:stCondLst>
                                    <p:cond delay="330"/>
                                  </p:stCondLst>
                                  <p:childTnLst>
                                    <p:set>
                                      <p:cBhvr>
                                        <p:cTn id="50" dur="1" fill="hold">
                                          <p:stCondLst>
                                            <p:cond delay="0"/>
                                          </p:stCondLst>
                                        </p:cTn>
                                        <p:tgtEl>
                                          <p:spTgt spid="47"/>
                                        </p:tgtEl>
                                        <p:attrNameLst>
                                          <p:attrName>style.visibility</p:attrName>
                                        </p:attrNameLst>
                                      </p:cBhvr>
                                      <p:to>
                                        <p:strVal val="visible"/>
                                      </p:to>
                                    </p:set>
                                    <p:animEffect transition="in" filter="fade">
                                      <p:cBhvr>
                                        <p:cTn id="51" dur="400"/>
                                        <p:tgtEl>
                                          <p:spTgt spid="47"/>
                                        </p:tgtEl>
                                      </p:cBhvr>
                                    </p:animEffect>
                                  </p:childTnLst>
                                </p:cTn>
                              </p:par>
                              <p:par>
                                <p:cTn id="52" presetID="10" presetClass="entr" presetSubtype="0" fill="hold" nodeType="withEffect">
                                  <p:stCondLst>
                                    <p:cond delay="330"/>
                                  </p:stCondLst>
                                  <p:childTnLst>
                                    <p:set>
                                      <p:cBhvr>
                                        <p:cTn id="53" dur="1" fill="hold">
                                          <p:stCondLst>
                                            <p:cond delay="0"/>
                                          </p:stCondLst>
                                        </p:cTn>
                                        <p:tgtEl>
                                          <p:spTgt spid="48"/>
                                        </p:tgtEl>
                                        <p:attrNameLst>
                                          <p:attrName>style.visibility</p:attrName>
                                        </p:attrNameLst>
                                      </p:cBhvr>
                                      <p:to>
                                        <p:strVal val="visible"/>
                                      </p:to>
                                    </p:set>
                                    <p:animEffect transition="in" filter="fade">
                                      <p:cBhvr>
                                        <p:cTn id="54" dur="400"/>
                                        <p:tgtEl>
                                          <p:spTgt spid="48"/>
                                        </p:tgtEl>
                                      </p:cBhvr>
                                    </p:animEffect>
                                  </p:childTnLst>
                                </p:cTn>
                              </p:par>
                              <p:par>
                                <p:cTn id="55" presetID="10" presetClass="entr" presetSubtype="0" fill="hold" nodeType="withEffect">
                                  <p:stCondLst>
                                    <p:cond delay="51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400"/>
                                        <p:tgtEl>
                                          <p:spTgt spid="49"/>
                                        </p:tgtEl>
                                      </p:cBhvr>
                                    </p:animEffect>
                                  </p:childTnLst>
                                </p:cTn>
                              </p:par>
                              <p:par>
                                <p:cTn id="58" presetID="10" presetClass="entr" presetSubtype="0" fill="hold" nodeType="withEffect">
                                  <p:stCondLst>
                                    <p:cond delay="510"/>
                                  </p:stCondLst>
                                  <p:childTnLst>
                                    <p:set>
                                      <p:cBhvr>
                                        <p:cTn id="59" dur="1" fill="hold">
                                          <p:stCondLst>
                                            <p:cond delay="0"/>
                                          </p:stCondLst>
                                        </p:cTn>
                                        <p:tgtEl>
                                          <p:spTgt spid="50"/>
                                        </p:tgtEl>
                                        <p:attrNameLst>
                                          <p:attrName>style.visibility</p:attrName>
                                        </p:attrNameLst>
                                      </p:cBhvr>
                                      <p:to>
                                        <p:strVal val="visible"/>
                                      </p:to>
                                    </p:set>
                                    <p:animEffect transition="in" filter="fade">
                                      <p:cBhvr>
                                        <p:cTn id="60" dur="400"/>
                                        <p:tgtEl>
                                          <p:spTgt spid="50"/>
                                        </p:tgtEl>
                                      </p:cBhvr>
                                    </p:animEffect>
                                  </p:childTnLst>
                                </p:cTn>
                              </p:par>
                              <p:par>
                                <p:cTn id="61" presetID="10" presetClass="entr" presetSubtype="0" fill="hold" nodeType="withEffect">
                                  <p:stCondLst>
                                    <p:cond delay="5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00"/>
                                        <p:tgtEl>
                                          <p:spTgt spid="51"/>
                                        </p:tgtEl>
                                      </p:cBhvr>
                                    </p:animEffect>
                                  </p:childTnLst>
                                </p:cTn>
                              </p:par>
                              <p:par>
                                <p:cTn id="64" presetID="1" presetClass="exit" presetSubtype="0" fill="hold" nodeType="withEffect">
                                  <p:stCondLst>
                                    <p:cond delay="2300"/>
                                  </p:stCondLst>
                                  <p:childTnLst>
                                    <p:set>
                                      <p:cBhvr>
                                        <p:cTn id="65" dur="1" fill="hold">
                                          <p:stCondLst>
                                            <p:cond delay="0"/>
                                          </p:stCondLst>
                                        </p:cTn>
                                        <p:tgtEl>
                                          <p:spTgt spid="51"/>
                                        </p:tgtEl>
                                        <p:attrNameLst>
                                          <p:attrName>style.visibility</p:attrName>
                                        </p:attrNameLst>
                                      </p:cBhvr>
                                      <p:to>
                                        <p:strVal val="hidden"/>
                                      </p:to>
                                    </p:set>
                                  </p:childTnLst>
                                </p:cTn>
                              </p:par>
                              <p:par>
                                <p:cTn id="66" presetID="1" presetClass="entr" presetSubtype="0" fill="hold" nodeType="withEffect">
                                  <p:stCondLst>
                                    <p:cond delay="2300"/>
                                  </p:stCondLst>
                                  <p:childTnLst>
                                    <p:set>
                                      <p:cBhvr>
                                        <p:cTn id="67" dur="1" fill="hold">
                                          <p:stCondLst>
                                            <p:cond delay="0"/>
                                          </p:stCondLst>
                                        </p:cTn>
                                        <p:tgtEl>
                                          <p:spTgt spid="52"/>
                                        </p:tgtEl>
                                        <p:attrNameLst>
                                          <p:attrName>style.visibility</p:attrName>
                                        </p:attrNameLst>
                                      </p:cBhvr>
                                      <p:to>
                                        <p:strVal val="visible"/>
                                      </p:to>
                                    </p:set>
                                  </p:childTnLst>
                                </p:cTn>
                              </p:par>
                              <p:par>
                                <p:cTn id="68" presetID="10" presetClass="entr" presetSubtype="0" fill="hold" nodeType="withEffect">
                                  <p:stCondLst>
                                    <p:cond delay="51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nodeType="withEffect">
                                  <p:stCondLst>
                                    <p:cond delay="51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nodeType="withEffect">
                                  <p:stCondLst>
                                    <p:cond delay="51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nodeType="withEffect">
                                  <p:stCondLst>
                                    <p:cond delay="69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nodeType="withEffect">
                                  <p:stCondLst>
                                    <p:cond delay="69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nodeType="withEffect">
                                  <p:stCondLst>
                                    <p:cond delay="69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 presetClass="exit" presetSubtype="0" fill="hold" nodeType="withEffect">
                                  <p:stCondLst>
                                    <p:cond delay="2650"/>
                                  </p:stCondLst>
                                  <p:childTnLst>
                                    <p:set>
                                      <p:cBhvr>
                                        <p:cTn id="87" dur="1" fill="hold">
                                          <p:stCondLst>
                                            <p:cond delay="0"/>
                                          </p:stCondLst>
                                        </p:cTn>
                                        <p:tgtEl>
                                          <p:spTgt spid="58"/>
                                        </p:tgtEl>
                                        <p:attrNameLst>
                                          <p:attrName>style.visibility</p:attrName>
                                        </p:attrNameLst>
                                      </p:cBhvr>
                                      <p:to>
                                        <p:strVal val="hidden"/>
                                      </p:to>
                                    </p:set>
                                  </p:childTnLst>
                                </p:cTn>
                              </p:par>
                              <p:par>
                                <p:cTn id="88" presetID="1" presetClass="entr" presetSubtype="0" fill="hold" nodeType="withEffect">
                                  <p:stCondLst>
                                    <p:cond delay="2650"/>
                                  </p:stCondLst>
                                  <p:childTnLst>
                                    <p:set>
                                      <p:cBhvr>
                                        <p:cTn id="89" dur="1" fill="hold">
                                          <p:stCondLst>
                                            <p:cond delay="0"/>
                                          </p:stCondLst>
                                        </p:cTn>
                                        <p:tgtEl>
                                          <p:spTgt spid="59"/>
                                        </p:tgtEl>
                                        <p:attrNameLst>
                                          <p:attrName>style.visibility</p:attrName>
                                        </p:attrNameLst>
                                      </p:cBhvr>
                                      <p:to>
                                        <p:strVal val="visible"/>
                                      </p:to>
                                    </p:set>
                                  </p:childTnLst>
                                </p:cTn>
                              </p:par>
                              <p:par>
                                <p:cTn id="90" presetID="10" presetClass="entr" presetSubtype="0" fill="hold" nodeType="withEffect">
                                  <p:stCondLst>
                                    <p:cond delay="690"/>
                                  </p:stCondLst>
                                  <p:childTnLst>
                                    <p:set>
                                      <p:cBhvr>
                                        <p:cTn id="91" dur="1" fill="hold">
                                          <p:stCondLst>
                                            <p:cond delay="0"/>
                                          </p:stCondLst>
                                        </p:cTn>
                                        <p:tgtEl>
                                          <p:spTgt spid="60"/>
                                        </p:tgtEl>
                                        <p:attrNameLst>
                                          <p:attrName>style.visibility</p:attrName>
                                        </p:attrNameLst>
                                      </p:cBhvr>
                                      <p:to>
                                        <p:strVal val="visible"/>
                                      </p:to>
                                    </p:set>
                                    <p:animEffect transition="in" filter="fade">
                                      <p:cBhvr>
                                        <p:cTn id="92" dur="400"/>
                                        <p:tgtEl>
                                          <p:spTgt spid="60"/>
                                        </p:tgtEl>
                                      </p:cBhvr>
                                    </p:animEffect>
                                  </p:childTnLst>
                                </p:cTn>
                              </p:par>
                              <p:par>
                                <p:cTn id="93" presetID="10" presetClass="entr" presetSubtype="0" fill="hold" nodeType="withEffect">
                                  <p:stCondLst>
                                    <p:cond delay="690"/>
                                  </p:stCondLst>
                                  <p:childTnLst>
                                    <p:set>
                                      <p:cBhvr>
                                        <p:cTn id="94" dur="1" fill="hold">
                                          <p:stCondLst>
                                            <p:cond delay="0"/>
                                          </p:stCondLst>
                                        </p:cTn>
                                        <p:tgtEl>
                                          <p:spTgt spid="61"/>
                                        </p:tgtEl>
                                        <p:attrNameLst>
                                          <p:attrName>style.visibility</p:attrName>
                                        </p:attrNameLst>
                                      </p:cBhvr>
                                      <p:to>
                                        <p:strVal val="visible"/>
                                      </p:to>
                                    </p:set>
                                    <p:animEffect transition="in" filter="fade">
                                      <p:cBhvr>
                                        <p:cTn id="95" dur="400"/>
                                        <p:tgtEl>
                                          <p:spTgt spid="61"/>
                                        </p:tgtEl>
                                      </p:cBhvr>
                                    </p:animEffect>
                                  </p:childTnLst>
                                </p:cTn>
                              </p:par>
                              <p:par>
                                <p:cTn id="96" presetID="10" presetClass="entr" presetSubtype="0" fill="hold" nodeType="withEffect">
                                  <p:stCondLst>
                                    <p:cond delay="690"/>
                                  </p:stCondLst>
                                  <p:childTnLst>
                                    <p:set>
                                      <p:cBhvr>
                                        <p:cTn id="97" dur="1" fill="hold">
                                          <p:stCondLst>
                                            <p:cond delay="0"/>
                                          </p:stCondLst>
                                        </p:cTn>
                                        <p:tgtEl>
                                          <p:spTgt spid="62"/>
                                        </p:tgtEl>
                                        <p:attrNameLst>
                                          <p:attrName>style.visibility</p:attrName>
                                        </p:attrNameLst>
                                      </p:cBhvr>
                                      <p:to>
                                        <p:strVal val="visible"/>
                                      </p:to>
                                    </p:set>
                                    <p:animEffect transition="in" filter="fade">
                                      <p:cBhvr>
                                        <p:cTn id="98" dur="400"/>
                                        <p:tgtEl>
                                          <p:spTgt spid="62"/>
                                        </p:tgtEl>
                                      </p:cBhvr>
                                    </p:animEffect>
                                  </p:childTnLst>
                                </p:cTn>
                              </p:par>
                              <p:par>
                                <p:cTn id="99" presetID="10" presetClass="entr" presetSubtype="0" fill="hold" nodeType="withEffect">
                                  <p:stCondLst>
                                    <p:cond delay="1000"/>
                                  </p:stCondLst>
                                  <p:childTnLst>
                                    <p:set>
                                      <p:cBhvr>
                                        <p:cTn id="100" dur="1" fill="hold">
                                          <p:stCondLst>
                                            <p:cond delay="0"/>
                                          </p:stCondLst>
                                        </p:cTn>
                                        <p:tgtEl>
                                          <p:spTgt spid="63"/>
                                        </p:tgtEl>
                                        <p:attrNameLst>
                                          <p:attrName>style.visibility</p:attrName>
                                        </p:attrNameLst>
                                      </p:cBhvr>
                                      <p:to>
                                        <p:strVal val="visible"/>
                                      </p:to>
                                    </p:set>
                                    <p:animEffect transition="in" filter="fade">
                                      <p:cBhvr>
                                        <p:cTn id="101" dur="400"/>
                                        <p:tgtEl>
                                          <p:spTgt spid="63"/>
                                        </p:tgtEl>
                                      </p:cBhvr>
                                    </p:animEffect>
                                  </p:childTnLst>
                                </p:cTn>
                              </p:par>
                              <p:par>
                                <p:cTn id="102" presetID="10" presetClass="entr" presetSubtype="0" fill="hold" nodeType="withEffect">
                                  <p:stCondLst>
                                    <p:cond delay="1000"/>
                                  </p:stCondLst>
                                  <p:childTnLst>
                                    <p:set>
                                      <p:cBhvr>
                                        <p:cTn id="103" dur="1" fill="hold">
                                          <p:stCondLst>
                                            <p:cond delay="0"/>
                                          </p:stCondLst>
                                        </p:cTn>
                                        <p:tgtEl>
                                          <p:spTgt spid="64"/>
                                        </p:tgtEl>
                                        <p:attrNameLst>
                                          <p:attrName>style.visibility</p:attrName>
                                        </p:attrNameLst>
                                      </p:cBhvr>
                                      <p:to>
                                        <p:strVal val="visible"/>
                                      </p:to>
                                    </p:set>
                                    <p:animEffect transition="in" filter="fade">
                                      <p:cBhvr>
                                        <p:cTn id="104" dur="400"/>
                                        <p:tgtEl>
                                          <p:spTgt spid="64"/>
                                        </p:tgtEl>
                                      </p:cBhvr>
                                    </p:animEffect>
                                  </p:childTnLst>
                                </p:cTn>
                              </p:par>
                              <p:par>
                                <p:cTn id="105" presetID="10" presetClass="entr" presetSubtype="0" fill="hold" nodeType="withEffect">
                                  <p:stCondLst>
                                    <p:cond delay="1000"/>
                                  </p:stCondLst>
                                  <p:childTnLst>
                                    <p:set>
                                      <p:cBhvr>
                                        <p:cTn id="106" dur="1" fill="hold">
                                          <p:stCondLst>
                                            <p:cond delay="0"/>
                                          </p:stCondLst>
                                        </p:cTn>
                                        <p:tgtEl>
                                          <p:spTgt spid="65"/>
                                        </p:tgtEl>
                                        <p:attrNameLst>
                                          <p:attrName>style.visibility</p:attrName>
                                        </p:attrNameLst>
                                      </p:cBhvr>
                                      <p:to>
                                        <p:strVal val="visible"/>
                                      </p:to>
                                    </p:set>
                                    <p:animEffect transition="in" filter="fade">
                                      <p:cBhvr>
                                        <p:cTn id="107" dur="400"/>
                                        <p:tgtEl>
                                          <p:spTgt spid="65"/>
                                        </p:tgtEl>
                                      </p:cBhvr>
                                    </p:animEffect>
                                  </p:childTnLst>
                                </p:cTn>
                              </p:par>
                              <p:par>
                                <p:cTn id="108" presetID="10" presetClass="entr" presetSubtype="0" fill="hold" nodeType="withEffect">
                                  <p:stCondLst>
                                    <p:cond delay="1000"/>
                                  </p:stCondLst>
                                  <p:childTnLst>
                                    <p:set>
                                      <p:cBhvr>
                                        <p:cTn id="109" dur="1" fill="hold">
                                          <p:stCondLst>
                                            <p:cond delay="0"/>
                                          </p:stCondLst>
                                        </p:cTn>
                                        <p:tgtEl>
                                          <p:spTgt spid="66"/>
                                        </p:tgtEl>
                                        <p:attrNameLst>
                                          <p:attrName>style.visibility</p:attrName>
                                        </p:attrNameLst>
                                      </p:cBhvr>
                                      <p:to>
                                        <p:strVal val="visible"/>
                                      </p:to>
                                    </p:set>
                                    <p:animEffect transition="in" filter="fade">
                                      <p:cBhvr>
                                        <p:cTn id="110" dur="400"/>
                                        <p:tgtEl>
                                          <p:spTgt spid="66"/>
                                        </p:tgtEl>
                                      </p:cBhvr>
                                    </p:animEffect>
                                  </p:childTnLst>
                                </p:cTn>
                              </p:par>
                              <p:par>
                                <p:cTn id="111" presetID="10" presetClass="entr" presetSubtype="0" fill="hold" nodeType="withEffect">
                                  <p:stCondLst>
                                    <p:cond delay="1000"/>
                                  </p:stCondLst>
                                  <p:childTnLst>
                                    <p:set>
                                      <p:cBhvr>
                                        <p:cTn id="112" dur="1" fill="hold">
                                          <p:stCondLst>
                                            <p:cond delay="0"/>
                                          </p:stCondLst>
                                        </p:cTn>
                                        <p:tgtEl>
                                          <p:spTgt spid="67"/>
                                        </p:tgtEl>
                                        <p:attrNameLst>
                                          <p:attrName>style.visibility</p:attrName>
                                        </p:attrNameLst>
                                      </p:cBhvr>
                                      <p:to>
                                        <p:strVal val="visible"/>
                                      </p:to>
                                    </p:set>
                                    <p:animEffect transition="in" filter="fade">
                                      <p:cBhvr>
                                        <p:cTn id="113" dur="400"/>
                                        <p:tgtEl>
                                          <p:spTgt spid="67"/>
                                        </p:tgtEl>
                                      </p:cBhvr>
                                    </p:animEffect>
                                  </p:childTnLst>
                                </p:cTn>
                              </p:par>
                              <p:par>
                                <p:cTn id="114" presetID="10" presetClass="entr" presetSubtype="0" fill="hold" nodeType="withEffect">
                                  <p:stCondLst>
                                    <p:cond delay="1000"/>
                                  </p:stCondLst>
                                  <p:childTnLst>
                                    <p:set>
                                      <p:cBhvr>
                                        <p:cTn id="115" dur="1" fill="hold">
                                          <p:stCondLst>
                                            <p:cond delay="0"/>
                                          </p:stCondLst>
                                        </p:cTn>
                                        <p:tgtEl>
                                          <p:spTgt spid="68"/>
                                        </p:tgtEl>
                                        <p:attrNameLst>
                                          <p:attrName>style.visibility</p:attrName>
                                        </p:attrNameLst>
                                      </p:cBhvr>
                                      <p:to>
                                        <p:strVal val="visible"/>
                                      </p:to>
                                    </p:set>
                                    <p:animEffect transition="in" filter="fade">
                                      <p:cBhvr>
                                        <p:cTn id="116"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apple"/>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4"/>
          <p:cNvPicPr>
            <a:picLocks noChangeAspect="1"/>
          </p:cNvPicPr>
          <p:nvPr/>
        </p:nvPicPr>
        <p:blipFill>
          <a:blip r:embed="rId4"/>
          <a:stretch>
            <a:fillRect/>
          </a:stretch>
        </p:blipFill>
        <p:spPr>
          <a:xfrm>
            <a:off x="5262601" y="1828800"/>
            <a:ext cx="1666494" cy="237744"/>
          </a:xfrm>
          <a:prstGeom prst="rect">
            <a:avLst/>
          </a:prstGeom>
        </p:spPr>
      </p:pic>
      <p:pic>
        <p:nvPicPr>
          <p:cNvPr id="14" name="o13" descr="INSIGHTS"/>
          <p:cNvPicPr>
            <a:picLocks noChangeAspect="1"/>
          </p:cNvPicPr>
          <p:nvPr/>
        </p:nvPicPr>
        <p:blipFill>
          <a:blip r:embed="rId5"/>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4 découvertes sur l'industrie du jeu vidéo</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64" name="o63"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65" name="barre_fantome" descr="image.gif"/>
          <p:cNvPicPr>
            <a:picLocks noChangeAspect="1"/>
          </p:cNvPicPr>
          <p:nvPr/>
        </p:nvPicPr>
        <p:blipFill>
          <a:blip r:embed="rId7"/>
          <a:stretch>
            <a:fillRect/>
          </a:stretch>
        </p:blipFill>
        <p:spPr>
          <a:xfrm>
            <a:off x="2254119" y="6291072"/>
            <a:ext cx="310896" cy="310896"/>
          </a:xfrm>
          <a:prstGeom prst="rect">
            <a:avLst/>
          </a:prstGeom>
        </p:spPr>
      </p:pic>
      <p:pic>
        <p:nvPicPr>
          <p:cNvPr id="66" name="barre_pacman" descr="image.gif"/>
          <p:cNvPicPr>
            <a:picLocks noChangeAspect="1"/>
          </p:cNvPicPr>
          <p:nvPr/>
        </p:nvPicPr>
        <p:blipFill>
          <a:blip r:embed="rId6"/>
          <a:stretch>
            <a:fillRect/>
          </a:stretch>
        </p:blipFill>
        <p:spPr>
          <a:xfrm>
            <a:off x="2821047" y="6291072"/>
            <a:ext cx="310896" cy="310896"/>
          </a:xfrm>
          <a:prstGeom prst="rect">
            <a:avLst/>
          </a:prstGeom>
        </p:spPr>
      </p:pic>
      <p:sp>
        <p:nvSpPr>
          <p:cNvPr id="67"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6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6"/>
                                        </p:tgtEl>
                                        <p:attrNameLst>
                                          <p:attrName>ppt_x</p:attrName>
                                          <p:attrName>ppt_y</p:attrName>
                                        </p:attrNameLst>
                                      </p:cBhvr>
                                    </p:animMotion>
                                  </p:childTnLst>
                                </p:cTn>
                              </p:par>
                              <p:par>
                                <p:cTn id="9" presetID="1" presetClass="exit" presetSubtype="0" fill="hold" nodeType="withEffect">
                                  <p:stCondLst>
                                    <p:cond delay="354"/>
                                  </p:stCondLst>
                                  <p:childTnLst>
                                    <p:set>
                                      <p:cBhvr>
                                        <p:cTn id="10" dur="1" fill="hold">
                                          <p:stCondLst>
                                            <p:cond delay="0"/>
                                          </p:stCondLst>
                                        </p:cTn>
                                        <p:tgtEl>
                                          <p:spTgt spid="67"/>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pic>
        <p:nvPicPr>
          <p:cNvPr id="2" name="o1" descr="LEVEL 4 → INSIGHT 1/4"/>
          <p:cNvPicPr>
            <a:picLocks noChangeAspect="1"/>
          </p:cNvPicPr>
          <p:nvPr/>
        </p:nvPicPr>
        <p:blipFill>
          <a:blip r:embed="rId3"/>
          <a:stretch>
            <a:fillRect/>
          </a:stretch>
        </p:blipFill>
        <p:spPr>
          <a:xfrm>
            <a:off x="548640" y="411480"/>
            <a:ext cx="3072384" cy="146304"/>
          </a:xfrm>
          <a:prstGeom prst="rect">
            <a:avLst/>
          </a:prstGeom>
        </p:spPr>
      </p:pic>
      <p:pic>
        <p:nvPicPr>
          <p:cNvPr id="3" name="o2" descr="Un marché de blockbusters"/>
          <p:cNvPicPr>
            <a:picLocks noChangeAspect="1"/>
          </p:cNvPicPr>
          <p:nvPr/>
        </p:nvPicPr>
        <p:blipFill>
          <a:blip r:embed="rId4"/>
          <a:stretch>
            <a:fillRect/>
          </a:stretch>
        </p:blipFill>
        <p:spPr>
          <a:xfrm>
            <a:off x="548640" y="777240"/>
            <a:ext cx="685800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26" name="o25"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9" name="o28"/>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30" name="o29"/>
          <p:cNvSpPr/>
          <p:nvPr/>
        </p:nvSpPr>
        <p:spPr>
          <a:xfrm>
            <a:off x="8183880" y="1691640"/>
            <a:ext cx="3456432" cy="2468880"/>
          </a:xfrm>
          <a:prstGeom prst="roundRect">
            <a:avLst>
              <a:gd name="adj" fmla="val 5185"/>
            </a:avLst>
          </a:prstGeom>
          <a:solidFill>
            <a:srgbClr val="000000"/>
          </a:solidFill>
          <a:ln w="28575">
            <a:solidFill>
              <a:srgbClr val="2121DE"/>
            </a:solidFill>
            <a:prstDash val="solid"/>
          </a:ln>
        </p:spPr>
      </p:sp>
      <p:sp>
        <p:nvSpPr>
          <p:cNvPr id="31" name="o30"/>
          <p:cNvSpPr/>
          <p:nvPr/>
        </p:nvSpPr>
        <p:spPr>
          <a:xfrm>
            <a:off x="8252460" y="1760220"/>
            <a:ext cx="3319272" cy="2331720"/>
          </a:xfrm>
          <a:prstGeom prst="roundRect">
            <a:avLst>
              <a:gd name="adj" fmla="val 2549"/>
            </a:avLst>
          </a:prstGeom>
          <a:ln w="12700">
            <a:solidFill>
              <a:srgbClr val="2121DE"/>
            </a:solidFill>
            <a:prstDash val="solid"/>
          </a:ln>
        </p:spPr>
      </p:sp>
      <p:pic>
        <p:nvPicPr>
          <p:cNvPr id="32" name="o31" descr="10%"/>
          <p:cNvPicPr>
            <a:picLocks noChangeAspect="1"/>
          </p:cNvPicPr>
          <p:nvPr/>
        </p:nvPicPr>
        <p:blipFill>
          <a:blip r:embed="rId10"/>
          <a:stretch>
            <a:fillRect/>
          </a:stretch>
        </p:blipFill>
        <p:spPr>
          <a:xfrm>
            <a:off x="8503920" y="2011680"/>
            <a:ext cx="1152144" cy="384048"/>
          </a:xfrm>
          <a:prstGeom prst="rect">
            <a:avLst/>
          </a:prstGeom>
        </p:spPr>
      </p:pic>
      <p:sp>
        <p:nvSpPr>
          <p:cNvPr id="33" name="o32"/>
          <p:cNvSpPr txBox="1"/>
          <p:nvPr/>
        </p:nvSpPr>
        <p:spPr>
          <a:xfrm>
            <a:off x="9747504" y="2011680"/>
            <a:ext cx="1463040" cy="384048"/>
          </a:xfrm>
          <a:prstGeom prst="rect">
            <a:avLst/>
          </a:prstGeom>
          <a:noFill/>
          <a:ln/>
        </p:spPr>
        <p:txBody>
          <a:bodyPr wrap="square" lIns="0" tIns="0" rIns="0" bIns="0" rtlCol="0" anchor="b"/>
          <a:lstStyle/>
          <a:p>
            <a:pPr marL="0" indent="0">
              <a:buNone/>
            </a:pPr>
            <a:r>
              <a:rPr lang="en-US" sz="1800" dirty="0">
                <a:solidFill>
                  <a:srgbClr val="C4C4E4"/>
                </a:solidFill>
                <a:latin typeface="Arial" pitchFamily="34" charset="0"/>
                <a:ea typeface="Arial" pitchFamily="34" charset="-122"/>
                <a:cs typeface="Arial" pitchFamily="34" charset="-120"/>
              </a:rPr>
              <a:t>des jeux</a:t>
            </a:r>
            <a:endParaRPr lang="en-US" sz="1800" dirty="0"/>
          </a:p>
        </p:txBody>
      </p:sp>
      <p:sp>
        <p:nvSpPr>
          <p:cNvPr id="34" name="o33"/>
          <p:cNvSpPr txBox="1"/>
          <p:nvPr/>
        </p:nvSpPr>
        <p:spPr>
          <a:xfrm>
            <a:off x="8503920" y="2606040"/>
            <a:ext cx="2743200" cy="320040"/>
          </a:xfrm>
          <a:prstGeom prst="rect">
            <a:avLst/>
          </a:prstGeom>
          <a:noFill/>
          <a:ln/>
        </p:spPr>
        <p:txBody>
          <a:bodyPr wrap="square" lIns="0" tIns="0" rIns="0" bIns="0" rtlCol="0" anchor="t"/>
          <a:lstStyle/>
          <a:p>
            <a:pPr marL="0" indent="0">
              <a:buNone/>
            </a:pPr>
            <a:r>
              <a:rPr lang="en-US" sz="1600" dirty="0">
                <a:solidFill>
                  <a:srgbClr val="7C7CAA"/>
                </a:solidFill>
                <a:latin typeface="Arial" pitchFamily="34" charset="0"/>
                <a:ea typeface="Arial" pitchFamily="34" charset="-122"/>
                <a:cs typeface="Arial" pitchFamily="34" charset="-120"/>
              </a:rPr>
              <a:t>réalisent</a:t>
            </a:r>
            <a:endParaRPr lang="en-US" sz="1600" dirty="0"/>
          </a:p>
        </p:txBody>
      </p:sp>
      <p:pic>
        <p:nvPicPr>
          <p:cNvPr id="35" name="o34" descr="59%"/>
          <p:cNvPicPr>
            <a:picLocks noChangeAspect="1"/>
          </p:cNvPicPr>
          <p:nvPr/>
        </p:nvPicPr>
        <p:blipFill>
          <a:blip r:embed="rId11"/>
          <a:stretch>
            <a:fillRect/>
          </a:stretch>
        </p:blipFill>
        <p:spPr>
          <a:xfrm>
            <a:off x="8503920" y="3063240"/>
            <a:ext cx="1152144" cy="384048"/>
          </a:xfrm>
          <a:prstGeom prst="rect">
            <a:avLst/>
          </a:prstGeom>
        </p:spPr>
      </p:pic>
      <p:sp>
        <p:nvSpPr>
          <p:cNvPr id="36" name="o35"/>
          <p:cNvSpPr txBox="1"/>
          <p:nvPr/>
        </p:nvSpPr>
        <p:spPr>
          <a:xfrm>
            <a:off x="9747504" y="3063240"/>
            <a:ext cx="1645920" cy="384048"/>
          </a:xfrm>
          <a:prstGeom prst="rect">
            <a:avLst/>
          </a:prstGeom>
          <a:noFill/>
          <a:ln/>
        </p:spPr>
        <p:txBody>
          <a:bodyPr wrap="square" lIns="0" tIns="0" rIns="0" bIns="0" rtlCol="0" anchor="b"/>
          <a:lstStyle/>
          <a:p>
            <a:pPr marL="0" indent="0">
              <a:buNone/>
            </a:pPr>
            <a:r>
              <a:rPr lang="en-US" sz="1800" dirty="0">
                <a:solidFill>
                  <a:srgbClr val="C4C4E4"/>
                </a:solidFill>
                <a:latin typeface="Arial" pitchFamily="34" charset="0"/>
                <a:ea typeface="Arial" pitchFamily="34" charset="-122"/>
                <a:cs typeface="Arial" pitchFamily="34" charset="-120"/>
              </a:rPr>
              <a:t>des ventes</a:t>
            </a:r>
            <a:endParaRPr lang="en-US" sz="1800" dirty="0"/>
          </a:p>
        </p:txBody>
      </p:sp>
      <p:sp>
        <p:nvSpPr>
          <p:cNvPr id="37" name="o36"/>
          <p:cNvSpPr/>
          <p:nvPr/>
        </p:nvSpPr>
        <p:spPr>
          <a:xfrm>
            <a:off x="8183880" y="4389120"/>
            <a:ext cx="3456432" cy="1645920"/>
          </a:xfrm>
          <a:prstGeom prst="roundRect">
            <a:avLst>
              <a:gd name="adj" fmla="val 7778"/>
            </a:avLst>
          </a:prstGeom>
          <a:solidFill>
            <a:srgbClr val="000000"/>
          </a:solidFill>
          <a:ln w="28575">
            <a:solidFill>
              <a:srgbClr val="2121DE"/>
            </a:solidFill>
            <a:prstDash val="solid"/>
          </a:ln>
        </p:spPr>
      </p:sp>
      <p:sp>
        <p:nvSpPr>
          <p:cNvPr id="38" name="o37"/>
          <p:cNvSpPr/>
          <p:nvPr/>
        </p:nvSpPr>
        <p:spPr>
          <a:xfrm>
            <a:off x="8252460" y="4457700"/>
            <a:ext cx="3319272" cy="1508760"/>
          </a:xfrm>
          <a:prstGeom prst="roundRect">
            <a:avLst>
              <a:gd name="adj" fmla="val 3939"/>
            </a:avLst>
          </a:prstGeom>
          <a:ln w="12700">
            <a:solidFill>
              <a:srgbClr val="2121DE"/>
            </a:solidFill>
            <a:prstDash val="solid"/>
          </a:ln>
        </p:spPr>
      </p:sp>
      <p:pic>
        <p:nvPicPr>
          <p:cNvPr id="39" name="o38" descr="0,17 M"/>
          <p:cNvPicPr>
            <a:picLocks noChangeAspect="1"/>
          </p:cNvPicPr>
          <p:nvPr/>
        </p:nvPicPr>
        <p:blipFill>
          <a:blip r:embed="rId12"/>
          <a:stretch>
            <a:fillRect/>
          </a:stretch>
        </p:blipFill>
        <p:spPr>
          <a:xfrm>
            <a:off x="8503920" y="4663440"/>
            <a:ext cx="1536192" cy="256032"/>
          </a:xfrm>
          <a:prstGeom prst="rect">
            <a:avLst/>
          </a:prstGeom>
        </p:spPr>
      </p:pic>
      <p:sp>
        <p:nvSpPr>
          <p:cNvPr id="40" name="o39"/>
          <p:cNvSpPr txBox="1"/>
          <p:nvPr/>
        </p:nvSpPr>
        <p:spPr>
          <a:xfrm>
            <a:off x="8503920" y="5074920"/>
            <a:ext cx="2926080" cy="7772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ventes médianes d'un jeu : la plupart des titres vendent très peu</a:t>
            </a:r>
            <a:endParaRPr lang="en-US" sz="1400" dirty="0"/>
          </a:p>
        </p:txBody>
      </p:sp>
      <p:pic>
        <p:nvPicPr>
          <p:cNvPr id="51" name="barre_fantome" descr="image.gif"/>
          <p:cNvPicPr>
            <a:picLocks noChangeAspect="1"/>
          </p:cNvPicPr>
          <p:nvPr/>
        </p:nvPicPr>
        <p:blipFill>
          <a:blip r:embed="rId8"/>
          <a:stretch>
            <a:fillRect/>
          </a:stretch>
        </p:blipFill>
        <p:spPr>
          <a:xfrm>
            <a:off x="2521025" y="6291072"/>
            <a:ext cx="310896" cy="310896"/>
          </a:xfrm>
          <a:prstGeom prst="rect">
            <a:avLst/>
          </a:prstGeom>
        </p:spPr>
      </p:pic>
      <p:pic>
        <p:nvPicPr>
          <p:cNvPr id="52" name="barre_pacman" descr="image.gif"/>
          <p:cNvPicPr>
            <a:picLocks noChangeAspect="1"/>
          </p:cNvPicPr>
          <p:nvPr/>
        </p:nvPicPr>
        <p:blipFill>
          <a:blip r:embed="rId7"/>
          <a:stretch>
            <a:fillRect/>
          </a:stretch>
        </p:blipFill>
        <p:spPr>
          <a:xfrm>
            <a:off x="3087953" y="6291072"/>
            <a:ext cx="310896" cy="310896"/>
          </a:xfrm>
          <a:prstGeom prst="rect">
            <a:avLst/>
          </a:prstGeom>
        </p:spPr>
      </p:pic>
      <p:sp>
        <p:nvSpPr>
          <p:cNvPr id="53"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2"/>
                                        </p:tgtEl>
                                        <p:attrNameLst>
                                          <p:attrName>ppt_x</p:attrName>
                                          <p:attrName>ppt_y</p:attrName>
                                        </p:attrNameLst>
                                      </p:cBhvr>
                                    </p:animMotion>
                                  </p:childTnLst>
                                </p:cTn>
                              </p:par>
                              <p:par>
                                <p:cTn id="9" presetID="1" presetClass="exit" presetSubtype="0" fill="hold" nodeType="withEffect">
                                  <p:stCondLst>
                                    <p:cond delay="225"/>
                                  </p:stCondLst>
                                  <p:childTnLst>
                                    <p:set>
                                      <p:cBhvr>
                                        <p:cTn id="10" dur="1" fill="hold">
                                          <p:stCondLst>
                                            <p:cond delay="0"/>
                                          </p:stCondLst>
                                        </p:cTn>
                                        <p:tgtEl>
                                          <p:spTgt spid="53"/>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par>
                                <p:cTn id="14" presetID="10" presetClass="entr" presetSubtype="0" fill="hold" nodeType="withEffect">
                                  <p:stCondLst>
                                    <p:cond delay="60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00"/>
                                        <p:tgtEl>
                                          <p:spTgt spid="30"/>
                                        </p:tgtEl>
                                      </p:cBhvr>
                                    </p:animEffect>
                                  </p:childTnLst>
                                </p:cTn>
                              </p:par>
                              <p:par>
                                <p:cTn id="17" presetID="10" presetClass="entr" presetSubtype="0" fill="hold" nodeType="withEffect">
                                  <p:stCondLst>
                                    <p:cond delay="60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400"/>
                                        <p:tgtEl>
                                          <p:spTgt spid="31"/>
                                        </p:tgtEl>
                                      </p:cBhvr>
                                    </p:animEffect>
                                  </p:childTnLst>
                                </p:cTn>
                              </p:par>
                              <p:par>
                                <p:cTn id="20" presetID="10" presetClass="entr" presetSubtype="0" fill="hold" nodeType="withEffect">
                                  <p:stCondLst>
                                    <p:cond delay="60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par>
                                <p:cTn id="23" presetID="10" presetClass="entr" presetSubtype="0" fill="hold" nodeType="withEffect">
                                  <p:stCondLst>
                                    <p:cond delay="60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400"/>
                                        <p:tgtEl>
                                          <p:spTgt spid="33"/>
                                        </p:tgtEl>
                                      </p:cBhvr>
                                    </p:animEffect>
                                  </p:childTnLst>
                                </p:cTn>
                              </p:par>
                              <p:par>
                                <p:cTn id="26" presetID="10" presetClass="entr" presetSubtype="0" fill="hold" nodeType="withEffect">
                                  <p:stCondLst>
                                    <p:cond delay="60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400"/>
                                        <p:tgtEl>
                                          <p:spTgt spid="34"/>
                                        </p:tgtEl>
                                      </p:cBhvr>
                                    </p:animEffect>
                                  </p:childTnLst>
                                </p:cTn>
                              </p:par>
                              <p:par>
                                <p:cTn id="29" presetID="10" presetClass="entr" presetSubtype="0" fill="hold" nodeType="withEffect">
                                  <p:stCondLst>
                                    <p:cond delay="90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00"/>
                                        <p:tgtEl>
                                          <p:spTgt spid="35"/>
                                        </p:tgtEl>
                                      </p:cBhvr>
                                    </p:animEffect>
                                  </p:childTnLst>
                                </p:cTn>
                              </p:par>
                              <p:par>
                                <p:cTn id="32" presetID="10" presetClass="entr" presetSubtype="0" fill="hold" nodeType="withEffect">
                                  <p:stCondLst>
                                    <p:cond delay="90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00"/>
                                        <p:tgtEl>
                                          <p:spTgt spid="36"/>
                                        </p:tgtEl>
                                      </p:cBhvr>
                                    </p:animEffect>
                                  </p:childTnLst>
                                </p:cTn>
                              </p:par>
                              <p:par>
                                <p:cTn id="35" presetID="10" presetClass="entr" presetSubtype="0" fill="hold" nodeType="withEffect">
                                  <p:stCondLst>
                                    <p:cond delay="120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par>
                                <p:cTn id="38" presetID="10" presetClass="entr" presetSubtype="0" fill="hold" nodeType="withEffect">
                                  <p:stCondLst>
                                    <p:cond delay="120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nodeType="withEffect">
                                  <p:stCondLst>
                                    <p:cond delay="120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par>
                                <p:cTn id="44" presetID="10" presetClass="entr" presetSubtype="0" fill="hold" nodeType="withEffect">
                                  <p:stCondLst>
                                    <p:cond delay="1200"/>
                                  </p:stCondLst>
                                  <p:childTnLst>
                                    <p:set>
                                      <p:cBhvr>
                                        <p:cTn id="45" dur="1" fill="hold">
                                          <p:stCondLst>
                                            <p:cond delay="0"/>
                                          </p:stCondLst>
                                        </p:cTn>
                                        <p:tgtEl>
                                          <p:spTgt spid="40"/>
                                        </p:tgtEl>
                                        <p:attrNameLst>
                                          <p:attrName>style.visibility</p:attrName>
                                        </p:attrNameLst>
                                      </p:cBhvr>
                                      <p:to>
                                        <p:strVal val="visible"/>
                                      </p:to>
                                    </p:set>
                                    <p:animEffect transition="in" filter="fade">
                                      <p:cBhvr>
                                        <p:cTn id="46"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pic>
        <p:nvPicPr>
          <p:cNvPr id="2" name="o1" descr="LEVEL 4 → INSIGHT 2/4"/>
          <p:cNvPicPr>
            <a:picLocks noChangeAspect="1"/>
          </p:cNvPicPr>
          <p:nvPr/>
        </p:nvPicPr>
        <p:blipFill>
          <a:blip r:embed="rId3"/>
          <a:stretch>
            <a:fillRect/>
          </a:stretch>
        </p:blipFill>
        <p:spPr>
          <a:xfrm>
            <a:off x="548640" y="411480"/>
            <a:ext cx="3072384" cy="146304"/>
          </a:xfrm>
          <a:prstGeom prst="rect">
            <a:avLst/>
          </a:prstGeom>
        </p:spPr>
      </p:pic>
      <p:pic>
        <p:nvPicPr>
          <p:cNvPr id="3" name="o2" descr="2008 : l'âge d'or, puis le virage"/>
          <p:cNvPicPr>
            <a:picLocks noChangeAspect="1"/>
          </p:cNvPicPr>
          <p:nvPr/>
        </p:nvPicPr>
        <p:blipFill>
          <a:blip r:embed="rId4"/>
          <a:stretch>
            <a:fillRect/>
          </a:stretch>
        </p:blipFill>
        <p:spPr>
          <a:xfrm>
            <a:off x="548640" y="777240"/>
            <a:ext cx="905256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23" name="o22"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6" name="o25"/>
          <p:cNvGraphicFramePr/>
          <p:nvPr/>
        </p:nvGraphicFramePr>
        <p:xfrm>
          <a:off x="457200" y="1600200"/>
          <a:ext cx="777240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27" name="o26"/>
          <p:cNvSpPr/>
          <p:nvPr/>
        </p:nvSpPr>
        <p:spPr>
          <a:xfrm>
            <a:off x="8549640" y="1691640"/>
            <a:ext cx="3090672" cy="1828800"/>
          </a:xfrm>
          <a:prstGeom prst="roundRect">
            <a:avLst>
              <a:gd name="adj" fmla="val 7000"/>
            </a:avLst>
          </a:prstGeom>
          <a:solidFill>
            <a:srgbClr val="000000"/>
          </a:solidFill>
          <a:ln w="28575">
            <a:solidFill>
              <a:srgbClr val="FFE600"/>
            </a:solidFill>
            <a:prstDash val="solid"/>
          </a:ln>
        </p:spPr>
      </p:sp>
      <p:sp>
        <p:nvSpPr>
          <p:cNvPr id="28" name="o27"/>
          <p:cNvSpPr/>
          <p:nvPr/>
        </p:nvSpPr>
        <p:spPr>
          <a:xfrm>
            <a:off x="8618220" y="1760220"/>
            <a:ext cx="2953512" cy="1691640"/>
          </a:xfrm>
          <a:prstGeom prst="roundRect">
            <a:avLst>
              <a:gd name="adj" fmla="val 3514"/>
            </a:avLst>
          </a:prstGeom>
          <a:ln w="12700">
            <a:solidFill>
              <a:srgbClr val="FFE600"/>
            </a:solidFill>
            <a:prstDash val="solid"/>
          </a:ln>
        </p:spPr>
      </p:sp>
      <p:pic>
        <p:nvPicPr>
          <p:cNvPr id="29" name="o28" descr="688 M"/>
          <p:cNvPicPr>
            <a:picLocks noChangeAspect="1"/>
          </p:cNvPicPr>
          <p:nvPr/>
        </p:nvPicPr>
        <p:blipFill>
          <a:blip r:embed="rId10"/>
          <a:stretch>
            <a:fillRect/>
          </a:stretch>
        </p:blipFill>
        <p:spPr>
          <a:xfrm>
            <a:off x="8869680" y="2011680"/>
            <a:ext cx="1920240" cy="384048"/>
          </a:xfrm>
          <a:prstGeom prst="rect">
            <a:avLst/>
          </a:prstGeom>
        </p:spPr>
      </p:pic>
      <p:sp>
        <p:nvSpPr>
          <p:cNvPr id="30" name="o29"/>
          <p:cNvSpPr txBox="1"/>
          <p:nvPr/>
        </p:nvSpPr>
        <p:spPr>
          <a:xfrm>
            <a:off x="8869680" y="2606040"/>
            <a:ext cx="2560320" cy="68580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d'exemplaires en 2008, le record</a:t>
            </a:r>
            <a:endParaRPr lang="en-US" sz="1400" dirty="0"/>
          </a:p>
        </p:txBody>
      </p:sp>
      <p:sp>
        <p:nvSpPr>
          <p:cNvPr id="31" name="o30"/>
          <p:cNvSpPr/>
          <p:nvPr/>
        </p:nvSpPr>
        <p:spPr>
          <a:xfrm>
            <a:off x="8549640" y="3703320"/>
            <a:ext cx="3090672" cy="1371600"/>
          </a:xfrm>
          <a:prstGeom prst="roundRect">
            <a:avLst>
              <a:gd name="adj" fmla="val 9333"/>
            </a:avLst>
          </a:prstGeom>
          <a:solidFill>
            <a:srgbClr val="000000"/>
          </a:solidFill>
          <a:ln w="28575">
            <a:solidFill>
              <a:srgbClr val="2121DE"/>
            </a:solidFill>
            <a:prstDash val="solid"/>
          </a:ln>
        </p:spPr>
      </p:sp>
      <p:sp>
        <p:nvSpPr>
          <p:cNvPr id="32" name="o31"/>
          <p:cNvSpPr/>
          <p:nvPr/>
        </p:nvSpPr>
        <p:spPr>
          <a:xfrm>
            <a:off x="8618220" y="3771900"/>
            <a:ext cx="2953512" cy="1234440"/>
          </a:xfrm>
          <a:prstGeom prst="roundRect">
            <a:avLst>
              <a:gd name="adj" fmla="val 4815"/>
            </a:avLst>
          </a:prstGeom>
          <a:ln w="12700">
            <a:solidFill>
              <a:srgbClr val="2121DE"/>
            </a:solidFill>
            <a:prstDash val="solid"/>
          </a:ln>
        </p:spPr>
      </p:sp>
      <p:pic>
        <p:nvPicPr>
          <p:cNvPr id="33" name="o32" descr="45%"/>
          <p:cNvPicPr>
            <a:picLocks noChangeAspect="1"/>
          </p:cNvPicPr>
          <p:nvPr/>
        </p:nvPicPr>
        <p:blipFill>
          <a:blip r:embed="rId11"/>
          <a:stretch>
            <a:fillRect/>
          </a:stretch>
        </p:blipFill>
        <p:spPr>
          <a:xfrm>
            <a:off x="8869680" y="3931920"/>
            <a:ext cx="768096" cy="256032"/>
          </a:xfrm>
          <a:prstGeom prst="rect">
            <a:avLst/>
          </a:prstGeom>
        </p:spPr>
      </p:pic>
      <p:sp>
        <p:nvSpPr>
          <p:cNvPr id="34" name="o33"/>
          <p:cNvSpPr txBox="1"/>
          <p:nvPr/>
        </p:nvSpPr>
        <p:spPr>
          <a:xfrm>
            <a:off x="8869680" y="4315968"/>
            <a:ext cx="2606040" cy="594360"/>
          </a:xfrm>
          <a:prstGeom prst="rect">
            <a:avLst/>
          </a:prstGeom>
          <a:noFill/>
          <a:ln/>
        </p:spPr>
        <p:txBody>
          <a:bodyPr wrap="square" lIns="0" tIns="0" rIns="0" bIns="0" rtlCol="0" anchor="t"/>
          <a:lstStyle/>
          <a:p>
            <a:pPr marL="0" indent="0">
              <a:buNone/>
            </a:pPr>
            <a:r>
              <a:rPr lang="en-US" sz="1200" dirty="0">
                <a:solidFill>
                  <a:srgbClr val="C4C4E4"/>
                </a:solidFill>
                <a:latin typeface="Arial" pitchFamily="34" charset="0"/>
                <a:ea typeface="Arial" pitchFamily="34" charset="-122"/>
                <a:cs typeface="Arial" pitchFamily="34" charset="-120"/>
              </a:rPr>
              <a:t>des ventes viennent de la 7e génération : Wii, DS, X360, PS3, PSP</a:t>
            </a:r>
            <a:endParaRPr lang="en-US" sz="1200" dirty="0"/>
          </a:p>
        </p:txBody>
      </p:sp>
      <p:pic>
        <p:nvPicPr>
          <p:cNvPr id="35" name="o34" descr="attention"/>
          <p:cNvPicPr>
            <a:picLocks noChangeAspect="1"/>
          </p:cNvPicPr>
          <p:nvPr/>
        </p:nvPicPr>
        <p:blipFill>
          <a:blip r:embed="rId12"/>
          <a:stretch>
            <a:fillRect/>
          </a:stretch>
        </p:blipFill>
        <p:spPr>
          <a:xfrm>
            <a:off x="8595360" y="5321808"/>
            <a:ext cx="292608" cy="292608"/>
          </a:xfrm>
          <a:prstGeom prst="rect">
            <a:avLst/>
          </a:prstGeom>
        </p:spPr>
      </p:pic>
      <p:sp>
        <p:nvSpPr>
          <p:cNvPr id="36" name="o35"/>
          <p:cNvSpPr txBox="1"/>
          <p:nvPr/>
        </p:nvSpPr>
        <p:spPr>
          <a:xfrm>
            <a:off x="9006840" y="5230368"/>
            <a:ext cx="2633472" cy="868680"/>
          </a:xfrm>
          <a:prstGeom prst="rect">
            <a:avLst/>
          </a:prstGeom>
          <a:noFill/>
          <a:ln/>
        </p:spPr>
        <p:txBody>
          <a:bodyPr wrap="square" lIns="0" tIns="0" rIns="0" bIns="0" rtlCol="0" anchor="t"/>
          <a:lstStyle/>
          <a:p>
            <a:pPr marL="0" indent="0">
              <a:buNone/>
            </a:pPr>
            <a:r>
              <a:rPr lang="en-US" sz="1200" dirty="0">
                <a:solidFill>
                  <a:srgbClr val="C4C4E4"/>
                </a:solidFill>
                <a:latin typeface="Arial" pitchFamily="34" charset="0"/>
                <a:ea typeface="Arial" pitchFamily="34" charset="-122"/>
                <a:cs typeface="Arial" pitchFamily="34" charset="-120"/>
              </a:rPr>
              <a:t>La baisse après 2009 reflète la montée du dématérialisé et du mobile, absents des données. 2016 est incomplète (gris).</a:t>
            </a:r>
            <a:endParaRPr lang="en-US" sz="1200" dirty="0"/>
          </a:p>
        </p:txBody>
      </p:sp>
      <p:pic>
        <p:nvPicPr>
          <p:cNvPr id="48" name="barre_fantome" descr="image.gif"/>
          <p:cNvPicPr>
            <a:picLocks noChangeAspect="1"/>
          </p:cNvPicPr>
          <p:nvPr/>
        </p:nvPicPr>
        <p:blipFill>
          <a:blip r:embed="rId8"/>
          <a:stretch>
            <a:fillRect/>
          </a:stretch>
        </p:blipFill>
        <p:spPr>
          <a:xfrm>
            <a:off x="2787931" y="6291072"/>
            <a:ext cx="310896" cy="310896"/>
          </a:xfrm>
          <a:prstGeom prst="rect">
            <a:avLst/>
          </a:prstGeom>
        </p:spPr>
      </p:pic>
      <p:pic>
        <p:nvPicPr>
          <p:cNvPr id="49" name="barre_pacman" descr="image.gif"/>
          <p:cNvPicPr>
            <a:picLocks noChangeAspect="1"/>
          </p:cNvPicPr>
          <p:nvPr/>
        </p:nvPicPr>
        <p:blipFill>
          <a:blip r:embed="rId7"/>
          <a:stretch>
            <a:fillRect/>
          </a:stretch>
        </p:blipFill>
        <p:spPr>
          <a:xfrm>
            <a:off x="3354859" y="6291072"/>
            <a:ext cx="310896" cy="310896"/>
          </a:xfrm>
          <a:prstGeom prst="rect">
            <a:avLst/>
          </a:prstGeom>
        </p:spPr>
      </p:pic>
      <p:sp>
        <p:nvSpPr>
          <p:cNvPr id="50"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9"/>
                                        </p:tgtEl>
                                        <p:attrNameLst>
                                          <p:attrName>ppt_x</p:attrName>
                                          <p:attrName>ppt_y</p:attrName>
                                        </p:attrNameLst>
                                      </p:cBhvr>
                                    </p:animMotion>
                                  </p:childTnLst>
                                </p:cTn>
                              </p:par>
                              <p:par>
                                <p:cTn id="9" presetID="1" presetClass="exit" presetSubtype="0" fill="hold" nodeType="withEffect">
                                  <p:stCondLst>
                                    <p:cond delay="96"/>
                                  </p:stCondLst>
                                  <p:childTnLst>
                                    <p:set>
                                      <p:cBhvr>
                                        <p:cTn id="10" dur="1" fill="hold">
                                          <p:stCondLst>
                                            <p:cond delay="0"/>
                                          </p:stCondLst>
                                        </p:cTn>
                                        <p:tgtEl>
                                          <p:spTgt spid="50"/>
                                        </p:tgtEl>
                                        <p:attrNameLst>
                                          <p:attrName>style.visibility</p:attrName>
                                        </p:attrNameLst>
                                      </p:cBhvr>
                                      <p:to>
                                        <p:strVal val="hidden"/>
                                      </p:to>
                                    </p:set>
                                  </p:childTnLst>
                                </p:cTn>
                              </p:par>
                              <p:par>
                                <p:cTn id="11" presetID="1" presetClass="exit" presetSubtype="0" fill="hold" nodeType="withEffect">
                                  <p:stCondLst>
                                    <p:cond delay="867"/>
                                  </p:stCondLst>
                                  <p:childTnLst>
                                    <p:set>
                                      <p:cBhvr>
                                        <p:cTn id="12" dur="1" fill="hold">
                                          <p:stCondLst>
                                            <p:cond delay="0"/>
                                          </p:stCondLst>
                                        </p:cTn>
                                        <p:tgtEl>
                                          <p:spTgt spid="51"/>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60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par>
                                <p:cTn id="19" presetID="10" presetClass="entr" presetSubtype="0" fill="hold" nodeType="withEffect">
                                  <p:stCondLst>
                                    <p:cond delay="60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nodeType="withEffect">
                                  <p:stCondLst>
                                    <p:cond delay="6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par>
                                <p:cTn id="25" presetID="10" presetClass="entr" presetSubtype="0" fill="hold" nodeType="withEffect">
                                  <p:stCondLst>
                                    <p:cond delay="60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par>
                                <p:cTn id="28" presetID="10" presetClass="entr" presetSubtype="0" fill="hold" nodeType="withEffect">
                                  <p:stCondLst>
                                    <p:cond delay="90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par>
                                <p:cTn id="31" presetID="10" presetClass="entr" presetSubtype="0" fill="hold" nodeType="withEffect">
                                  <p:stCondLst>
                                    <p:cond delay="90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400"/>
                                        <p:tgtEl>
                                          <p:spTgt spid="32"/>
                                        </p:tgtEl>
                                      </p:cBhvr>
                                    </p:animEffect>
                                  </p:childTnLst>
                                </p:cTn>
                              </p:par>
                              <p:par>
                                <p:cTn id="34" presetID="10" presetClass="entr" presetSubtype="0" fill="hold" nodeType="withEffect">
                                  <p:stCondLst>
                                    <p:cond delay="90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400"/>
                                        <p:tgtEl>
                                          <p:spTgt spid="33"/>
                                        </p:tgtEl>
                                      </p:cBhvr>
                                    </p:animEffect>
                                  </p:childTnLst>
                                </p:cTn>
                              </p:par>
                              <p:par>
                                <p:cTn id="37" presetID="10" presetClass="entr" presetSubtype="0" fill="hold" nodeType="withEffect">
                                  <p:stCondLst>
                                    <p:cond delay="9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nodeType="withEffect">
                                  <p:stCondLst>
                                    <p:cond delay="120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nodeType="withEffect">
                                  <p:stCondLst>
                                    <p:cond delay="120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pic>
        <p:nvPicPr>
          <p:cNvPr id="2" name="o1" descr="LEVEL 4 → INSIGHT 3/4"/>
          <p:cNvPicPr>
            <a:picLocks noChangeAspect="1"/>
          </p:cNvPicPr>
          <p:nvPr/>
        </p:nvPicPr>
        <p:blipFill>
          <a:blip r:embed="rId3"/>
          <a:stretch>
            <a:fillRect/>
          </a:stretch>
        </p:blipFill>
        <p:spPr>
          <a:xfrm>
            <a:off x="548640" y="411480"/>
            <a:ext cx="3072384" cy="146304"/>
          </a:xfrm>
          <a:prstGeom prst="rect">
            <a:avLst/>
          </a:prstGeom>
        </p:spPr>
      </p:pic>
      <p:pic>
        <p:nvPicPr>
          <p:cNvPr id="3" name="o2" descr="Deux mondes : Occident et Japon"/>
          <p:cNvPicPr>
            <a:picLocks noChangeAspect="1"/>
          </p:cNvPicPr>
          <p:nvPr/>
        </p:nvPicPr>
        <p:blipFill>
          <a:blip r:embed="rId4"/>
          <a:stretch>
            <a:fillRect/>
          </a:stretch>
        </p:blipFill>
        <p:spPr>
          <a:xfrm>
            <a:off x="548640" y="777240"/>
            <a:ext cx="850392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20" name="o19"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3" name="o22"/>
          <p:cNvGraphicFramePr/>
          <p:nvPr/>
        </p:nvGraphicFramePr>
        <p:xfrm>
          <a:off x="457200" y="1600200"/>
          <a:ext cx="704088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24" name="o23"/>
          <p:cNvSpPr/>
          <p:nvPr/>
        </p:nvSpPr>
        <p:spPr>
          <a:xfrm>
            <a:off x="8001000" y="1691640"/>
            <a:ext cx="3639312" cy="1298448"/>
          </a:xfrm>
          <a:prstGeom prst="roundRect">
            <a:avLst>
              <a:gd name="adj" fmla="val 9859"/>
            </a:avLst>
          </a:prstGeom>
          <a:solidFill>
            <a:srgbClr val="000000"/>
          </a:solidFill>
          <a:ln w="28575">
            <a:solidFill>
              <a:srgbClr val="2121DE"/>
            </a:solidFill>
            <a:prstDash val="solid"/>
          </a:ln>
        </p:spPr>
      </p:sp>
      <p:sp>
        <p:nvSpPr>
          <p:cNvPr id="25" name="o24"/>
          <p:cNvSpPr/>
          <p:nvPr/>
        </p:nvSpPr>
        <p:spPr>
          <a:xfrm>
            <a:off x="8069580" y="1760220"/>
            <a:ext cx="3502152" cy="1161288"/>
          </a:xfrm>
          <a:prstGeom prst="roundRect">
            <a:avLst>
              <a:gd name="adj" fmla="val 5118"/>
            </a:avLst>
          </a:prstGeom>
          <a:ln w="12700">
            <a:solidFill>
              <a:srgbClr val="2121DE"/>
            </a:solidFill>
            <a:prstDash val="solid"/>
          </a:ln>
        </p:spPr>
      </p:sp>
      <p:pic>
        <p:nvPicPr>
          <p:cNvPr id="26" name="o25" descr="27%"/>
          <p:cNvPicPr>
            <a:picLocks noChangeAspect="1"/>
          </p:cNvPicPr>
          <p:nvPr/>
        </p:nvPicPr>
        <p:blipFill>
          <a:blip r:embed="rId10"/>
          <a:stretch>
            <a:fillRect/>
          </a:stretch>
        </p:blipFill>
        <p:spPr>
          <a:xfrm>
            <a:off x="8275320" y="2194560"/>
            <a:ext cx="715518" cy="237744"/>
          </a:xfrm>
          <a:prstGeom prst="rect">
            <a:avLst/>
          </a:prstGeom>
        </p:spPr>
      </p:pic>
      <p:sp>
        <p:nvSpPr>
          <p:cNvPr id="27" name="o26"/>
          <p:cNvSpPr txBox="1"/>
          <p:nvPr/>
        </p:nvSpPr>
        <p:spPr>
          <a:xfrm>
            <a:off x="9509760" y="1828800"/>
            <a:ext cx="1965960" cy="1024128"/>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des ventes au Japon sont des RPG, contre 8 % en Occident</a:t>
            </a:r>
            <a:endParaRPr lang="en-US" sz="1300" dirty="0"/>
          </a:p>
        </p:txBody>
      </p:sp>
      <p:sp>
        <p:nvSpPr>
          <p:cNvPr id="28" name="o27"/>
          <p:cNvSpPr/>
          <p:nvPr/>
        </p:nvSpPr>
        <p:spPr>
          <a:xfrm>
            <a:off x="8001000" y="3154680"/>
            <a:ext cx="3639312" cy="1298448"/>
          </a:xfrm>
          <a:prstGeom prst="roundRect">
            <a:avLst>
              <a:gd name="adj" fmla="val 9859"/>
            </a:avLst>
          </a:prstGeom>
          <a:solidFill>
            <a:srgbClr val="000000"/>
          </a:solidFill>
          <a:ln w="28575">
            <a:solidFill>
              <a:srgbClr val="2121DE"/>
            </a:solidFill>
            <a:prstDash val="solid"/>
          </a:ln>
        </p:spPr>
      </p:sp>
      <p:sp>
        <p:nvSpPr>
          <p:cNvPr id="29" name="o28"/>
          <p:cNvSpPr/>
          <p:nvPr/>
        </p:nvSpPr>
        <p:spPr>
          <a:xfrm>
            <a:off x="8069580" y="3223260"/>
            <a:ext cx="3502152" cy="1161288"/>
          </a:xfrm>
          <a:prstGeom prst="roundRect">
            <a:avLst>
              <a:gd name="adj" fmla="val 5118"/>
            </a:avLst>
          </a:prstGeom>
          <a:ln w="12700">
            <a:solidFill>
              <a:srgbClr val="2121DE"/>
            </a:solidFill>
            <a:prstDash val="solid"/>
          </a:ln>
        </p:spPr>
      </p:sp>
      <p:pic>
        <p:nvPicPr>
          <p:cNvPr id="30" name="o29" descr="0,01"/>
          <p:cNvPicPr>
            <a:picLocks noChangeAspect="1"/>
          </p:cNvPicPr>
          <p:nvPr/>
        </p:nvPicPr>
        <p:blipFill>
          <a:blip r:embed="rId11"/>
          <a:stretch>
            <a:fillRect/>
          </a:stretch>
        </p:blipFill>
        <p:spPr>
          <a:xfrm>
            <a:off x="8275320" y="3657600"/>
            <a:ext cx="953262" cy="237744"/>
          </a:xfrm>
          <a:prstGeom prst="rect">
            <a:avLst/>
          </a:prstGeom>
        </p:spPr>
      </p:pic>
      <p:sp>
        <p:nvSpPr>
          <p:cNvPr id="31" name="o30"/>
          <p:cNvSpPr txBox="1"/>
          <p:nvPr/>
        </p:nvSpPr>
        <p:spPr>
          <a:xfrm>
            <a:off x="9509760" y="3291840"/>
            <a:ext cx="1965960" cy="1024128"/>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de divergence entre Amérique du Nord et Europe : des goûts quasi identiques</a:t>
            </a:r>
            <a:endParaRPr lang="en-US" sz="1300" dirty="0"/>
          </a:p>
        </p:txBody>
      </p:sp>
      <p:sp>
        <p:nvSpPr>
          <p:cNvPr id="32" name="o31"/>
          <p:cNvSpPr/>
          <p:nvPr/>
        </p:nvSpPr>
        <p:spPr>
          <a:xfrm>
            <a:off x="8001000" y="4617720"/>
            <a:ext cx="3639312" cy="1298448"/>
          </a:xfrm>
          <a:prstGeom prst="roundRect">
            <a:avLst>
              <a:gd name="adj" fmla="val 9859"/>
            </a:avLst>
          </a:prstGeom>
          <a:solidFill>
            <a:srgbClr val="000000"/>
          </a:solidFill>
          <a:ln w="28575">
            <a:solidFill>
              <a:srgbClr val="2121DE"/>
            </a:solidFill>
            <a:prstDash val="solid"/>
          </a:ln>
        </p:spPr>
      </p:sp>
      <p:sp>
        <p:nvSpPr>
          <p:cNvPr id="33" name="o32"/>
          <p:cNvSpPr/>
          <p:nvPr/>
        </p:nvSpPr>
        <p:spPr>
          <a:xfrm>
            <a:off x="8069580" y="4686300"/>
            <a:ext cx="3502152" cy="1161288"/>
          </a:xfrm>
          <a:prstGeom prst="roundRect">
            <a:avLst>
              <a:gd name="adj" fmla="val 5118"/>
            </a:avLst>
          </a:prstGeom>
          <a:ln w="12700">
            <a:solidFill>
              <a:srgbClr val="2121DE"/>
            </a:solidFill>
            <a:prstDash val="solid"/>
          </a:ln>
        </p:spPr>
      </p:sp>
      <p:pic>
        <p:nvPicPr>
          <p:cNvPr id="34" name="o33" descr="77%"/>
          <p:cNvPicPr>
            <a:picLocks noChangeAspect="1"/>
          </p:cNvPicPr>
          <p:nvPr/>
        </p:nvPicPr>
        <p:blipFill>
          <a:blip r:embed="rId12"/>
          <a:stretch>
            <a:fillRect/>
          </a:stretch>
        </p:blipFill>
        <p:spPr>
          <a:xfrm>
            <a:off x="8275320" y="5120640"/>
            <a:ext cx="715518" cy="237744"/>
          </a:xfrm>
          <a:prstGeom prst="rect">
            <a:avLst/>
          </a:prstGeom>
        </p:spPr>
      </p:pic>
      <p:sp>
        <p:nvSpPr>
          <p:cNvPr id="35" name="o34"/>
          <p:cNvSpPr txBox="1"/>
          <p:nvPr/>
        </p:nvSpPr>
        <p:spPr>
          <a:xfrm>
            <a:off x="9509760" y="4754880"/>
            <a:ext cx="1965960" cy="1024128"/>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des jeux ultra-régionaux (outliers culturels) sont japonais</a:t>
            </a:r>
            <a:endParaRPr lang="en-US" sz="1300" dirty="0"/>
          </a:p>
        </p:txBody>
      </p:sp>
      <p:pic>
        <p:nvPicPr>
          <p:cNvPr id="54" name="barre_fantome" descr="image.gif"/>
          <p:cNvPicPr>
            <a:picLocks noChangeAspect="1"/>
          </p:cNvPicPr>
          <p:nvPr/>
        </p:nvPicPr>
        <p:blipFill>
          <a:blip r:embed="rId8"/>
          <a:stretch>
            <a:fillRect/>
          </a:stretch>
        </p:blipFill>
        <p:spPr>
          <a:xfrm>
            <a:off x="3054837" y="6291072"/>
            <a:ext cx="310896" cy="310896"/>
          </a:xfrm>
          <a:prstGeom prst="rect">
            <a:avLst/>
          </a:prstGeom>
        </p:spPr>
      </p:pic>
      <p:pic>
        <p:nvPicPr>
          <p:cNvPr id="55" name="barre_pacman" descr="image.gif"/>
          <p:cNvPicPr>
            <a:picLocks noChangeAspect="1"/>
          </p:cNvPicPr>
          <p:nvPr/>
        </p:nvPicPr>
        <p:blipFill>
          <a:blip r:embed="rId7"/>
          <a:stretch>
            <a:fillRect/>
          </a:stretch>
        </p:blipFill>
        <p:spPr>
          <a:xfrm>
            <a:off x="3621765" y="6291072"/>
            <a:ext cx="310896" cy="310896"/>
          </a:xfrm>
          <a:prstGeom prst="rect">
            <a:avLst/>
          </a:prstGeom>
        </p:spPr>
      </p:pic>
      <p:sp>
        <p:nvSpPr>
          <p:cNvPr id="5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4"/>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5"/>
                                        </p:tgtEl>
                                        <p:attrNameLst>
                                          <p:attrName>ppt_x</p:attrName>
                                          <p:attrName>ppt_y</p:attrName>
                                        </p:attrNameLst>
                                      </p:cBhvr>
                                    </p:animMotion>
                                  </p:childTnLst>
                                </p:cTn>
                              </p:par>
                              <p:par>
                                <p:cTn id="9" presetID="1" presetClass="exit" presetSubtype="0" fill="hold" nodeType="withEffect">
                                  <p:stCondLst>
                                    <p:cond delay="738"/>
                                  </p:stCondLst>
                                  <p:childTnLst>
                                    <p:set>
                                      <p:cBhvr>
                                        <p:cTn id="10" dur="1" fill="hold">
                                          <p:stCondLst>
                                            <p:cond delay="0"/>
                                          </p:stCondLst>
                                        </p:cTn>
                                        <p:tgtEl>
                                          <p:spTgt spid="56"/>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00"/>
                                        <p:tgtEl>
                                          <p:spTgt spid="23"/>
                                        </p:tgtEl>
                                      </p:cBhvr>
                                    </p:animEffect>
                                  </p:childTnLst>
                                </p:cTn>
                              </p:par>
                              <p:par>
                                <p:cTn id="14" presetID="10" presetClass="entr" presetSubtype="0" fill="hold" nodeType="withEffect">
                                  <p:stCondLst>
                                    <p:cond delay="60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00"/>
                                        <p:tgtEl>
                                          <p:spTgt spid="24"/>
                                        </p:tgtEl>
                                      </p:cBhvr>
                                    </p:animEffect>
                                  </p:childTnLst>
                                </p:cTn>
                              </p:par>
                              <p:par>
                                <p:cTn id="17" presetID="10" presetClass="entr" presetSubtype="0" fill="hold" nodeType="withEffect">
                                  <p:stCondLst>
                                    <p:cond delay="6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00"/>
                                        <p:tgtEl>
                                          <p:spTgt spid="25"/>
                                        </p:tgtEl>
                                      </p:cBhvr>
                                    </p:animEffect>
                                  </p:childTnLst>
                                </p:cTn>
                              </p:par>
                              <p:par>
                                <p:cTn id="20" presetID="10" presetClass="entr" presetSubtype="0" fill="hold" nodeType="withEffect">
                                  <p:stCondLst>
                                    <p:cond delay="60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par>
                                <p:cTn id="23" presetID="10" presetClass="entr" presetSubtype="0" fill="hold" nodeType="withEffect">
                                  <p:stCondLst>
                                    <p:cond delay="6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00"/>
                                        <p:tgtEl>
                                          <p:spTgt spid="27"/>
                                        </p:tgtEl>
                                      </p:cBhvr>
                                    </p:animEffect>
                                  </p:childTnLst>
                                </p:cTn>
                              </p:par>
                              <p:par>
                                <p:cTn id="26" presetID="10" presetClass="entr" presetSubtype="0" fill="hold" nodeType="withEffect">
                                  <p:stCondLst>
                                    <p:cond delay="90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00"/>
                                        <p:tgtEl>
                                          <p:spTgt spid="28"/>
                                        </p:tgtEl>
                                      </p:cBhvr>
                                    </p:animEffect>
                                  </p:childTnLst>
                                </p:cTn>
                              </p:par>
                              <p:par>
                                <p:cTn id="29" presetID="10" presetClass="entr" presetSubtype="0" fill="hold" nodeType="withEffect">
                                  <p:stCondLst>
                                    <p:cond delay="90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9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nodeType="withEffect">
                                  <p:stCondLst>
                                    <p:cond delay="90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nodeType="withEffect">
                                  <p:stCondLst>
                                    <p:cond delay="120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nodeType="withEffect">
                                  <p:stCondLst>
                                    <p:cond delay="120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nodeType="withEffect">
                                  <p:stCondLst>
                                    <p:cond delay="120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nodeType="withEffect">
                                  <p:stCondLst>
                                    <p:cond delay="120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pic>
        <p:nvPicPr>
          <p:cNvPr id="2" name="o1" descr="LEVEL 4 → INSIGHT 4/4"/>
          <p:cNvPicPr>
            <a:picLocks noChangeAspect="1"/>
          </p:cNvPicPr>
          <p:nvPr/>
        </p:nvPicPr>
        <p:blipFill>
          <a:blip r:embed="rId3"/>
          <a:stretch>
            <a:fillRect/>
          </a:stretch>
        </p:blipFill>
        <p:spPr>
          <a:xfrm>
            <a:off x="548640" y="411480"/>
            <a:ext cx="3072384" cy="146304"/>
          </a:xfrm>
          <a:prstGeom prst="rect">
            <a:avLst/>
          </a:prstGeom>
        </p:spPr>
      </p:pic>
      <p:pic>
        <p:nvPicPr>
          <p:cNvPr id="3" name="o2" descr="L'Action et le Tir prennent tout"/>
          <p:cNvPicPr>
            <a:picLocks noChangeAspect="1"/>
          </p:cNvPicPr>
          <p:nvPr/>
        </p:nvPicPr>
        <p:blipFill>
          <a:blip r:embed="rId4"/>
          <a:stretch>
            <a:fillRect/>
          </a:stretch>
        </p:blipFill>
        <p:spPr>
          <a:xfrm>
            <a:off x="548640" y="777240"/>
            <a:ext cx="877824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17" name="o16"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0" name="o19"/>
          <p:cNvGraphicFramePr/>
          <p:nvPr/>
        </p:nvGraphicFramePr>
        <p:xfrm>
          <a:off x="457200" y="1600200"/>
          <a:ext cx="722376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21" name="o20"/>
          <p:cNvSpPr/>
          <p:nvPr/>
        </p:nvSpPr>
        <p:spPr>
          <a:xfrm>
            <a:off x="8183880" y="1691640"/>
            <a:ext cx="3456432" cy="2057400"/>
          </a:xfrm>
          <a:prstGeom prst="roundRect">
            <a:avLst>
              <a:gd name="adj" fmla="val 6222"/>
            </a:avLst>
          </a:prstGeom>
          <a:solidFill>
            <a:srgbClr val="000000"/>
          </a:solidFill>
          <a:ln w="28575">
            <a:solidFill>
              <a:srgbClr val="FF2D2D"/>
            </a:solidFill>
            <a:prstDash val="solid"/>
          </a:ln>
        </p:spPr>
      </p:sp>
      <p:sp>
        <p:nvSpPr>
          <p:cNvPr id="22" name="o21"/>
          <p:cNvSpPr/>
          <p:nvPr/>
        </p:nvSpPr>
        <p:spPr>
          <a:xfrm>
            <a:off x="8252460" y="1760220"/>
            <a:ext cx="3319272" cy="1920240"/>
          </a:xfrm>
          <a:prstGeom prst="roundRect">
            <a:avLst>
              <a:gd name="adj" fmla="val 3095"/>
            </a:avLst>
          </a:prstGeom>
          <a:ln w="12700">
            <a:solidFill>
              <a:srgbClr val="FF2D2D"/>
            </a:solidFill>
            <a:prstDash val="solid"/>
          </a:ln>
        </p:spPr>
      </p:sp>
      <p:pic>
        <p:nvPicPr>
          <p:cNvPr id="23" name="o22" descr="ACTION + TIR"/>
          <p:cNvPicPr>
            <a:picLocks noChangeAspect="1"/>
          </p:cNvPicPr>
          <p:nvPr/>
        </p:nvPicPr>
        <p:blipFill>
          <a:blip r:embed="rId10"/>
          <a:stretch>
            <a:fillRect/>
          </a:stretch>
        </p:blipFill>
        <p:spPr>
          <a:xfrm>
            <a:off x="8503920" y="1965960"/>
            <a:ext cx="1536192" cy="128016"/>
          </a:xfrm>
          <a:prstGeom prst="rect">
            <a:avLst/>
          </a:prstGeom>
        </p:spPr>
      </p:pic>
      <p:pic>
        <p:nvPicPr>
          <p:cNvPr id="24" name="o23" descr="18%→45%"/>
          <p:cNvPicPr>
            <a:picLocks noChangeAspect="1"/>
          </p:cNvPicPr>
          <p:nvPr/>
        </p:nvPicPr>
        <p:blipFill>
          <a:blip r:embed="rId11"/>
          <a:stretch>
            <a:fillRect/>
          </a:stretch>
        </p:blipFill>
        <p:spPr>
          <a:xfrm>
            <a:off x="8503920" y="2377440"/>
            <a:ext cx="2176272" cy="310896"/>
          </a:xfrm>
          <a:prstGeom prst="rect">
            <a:avLst/>
          </a:prstGeom>
        </p:spPr>
      </p:pic>
      <p:sp>
        <p:nvSpPr>
          <p:cNvPr id="25" name="o24"/>
          <p:cNvSpPr txBox="1"/>
          <p:nvPr/>
        </p:nvSpPr>
        <p:spPr>
          <a:xfrm>
            <a:off x="8503920" y="2926080"/>
            <a:ext cx="292608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des ventes, entre 1995–1999 et 2010–2016</a:t>
            </a:r>
            <a:endParaRPr lang="en-US" sz="1400" dirty="0"/>
          </a:p>
        </p:txBody>
      </p:sp>
      <p:sp>
        <p:nvSpPr>
          <p:cNvPr id="26" name="o25"/>
          <p:cNvSpPr/>
          <p:nvPr/>
        </p:nvSpPr>
        <p:spPr>
          <a:xfrm>
            <a:off x="8183880" y="3931920"/>
            <a:ext cx="3456432" cy="2103120"/>
          </a:xfrm>
          <a:prstGeom prst="roundRect">
            <a:avLst>
              <a:gd name="adj" fmla="val 6087"/>
            </a:avLst>
          </a:prstGeom>
          <a:solidFill>
            <a:srgbClr val="000000"/>
          </a:solidFill>
          <a:ln w="28575">
            <a:solidFill>
              <a:srgbClr val="2121DE"/>
            </a:solidFill>
            <a:prstDash val="solid"/>
          </a:ln>
        </p:spPr>
      </p:sp>
      <p:sp>
        <p:nvSpPr>
          <p:cNvPr id="27" name="o26"/>
          <p:cNvSpPr/>
          <p:nvPr/>
        </p:nvSpPr>
        <p:spPr>
          <a:xfrm>
            <a:off x="8252460" y="4000500"/>
            <a:ext cx="3319272" cy="1965960"/>
          </a:xfrm>
          <a:prstGeom prst="roundRect">
            <a:avLst>
              <a:gd name="adj" fmla="val 3023"/>
            </a:avLst>
          </a:prstGeom>
          <a:ln w="12700">
            <a:solidFill>
              <a:srgbClr val="2121DE"/>
            </a:solidFill>
            <a:prstDash val="solid"/>
          </a:ln>
        </p:spPr>
      </p:sp>
      <p:pic>
        <p:nvPicPr>
          <p:cNvPr id="28" name="o27" descr="PIEGE"/>
          <p:cNvPicPr>
            <a:picLocks noChangeAspect="1"/>
          </p:cNvPicPr>
          <p:nvPr/>
        </p:nvPicPr>
        <p:blipFill>
          <a:blip r:embed="rId12"/>
          <a:stretch>
            <a:fillRect/>
          </a:stretch>
        </p:blipFill>
        <p:spPr>
          <a:xfrm>
            <a:off x="8503920" y="4187952"/>
            <a:ext cx="640080" cy="128016"/>
          </a:xfrm>
          <a:prstGeom prst="rect">
            <a:avLst/>
          </a:prstGeom>
        </p:spPr>
      </p:pic>
      <p:sp>
        <p:nvSpPr>
          <p:cNvPr id="29" name="o28"/>
          <p:cNvSpPr txBox="1"/>
          <p:nvPr/>
        </p:nvSpPr>
        <p:spPr>
          <a:xfrm>
            <a:off x="8503920" y="4462272"/>
            <a:ext cx="3017520" cy="411480"/>
          </a:xfrm>
          <a:prstGeom prst="rect">
            <a:avLst/>
          </a:prstGeom>
          <a:noFill/>
          <a:ln/>
        </p:spPr>
        <p:txBody>
          <a:bodyPr wrap="square" lIns="0" tIns="0" rIns="0" bIns="0" rtlCol="0" anchor="t"/>
          <a:lstStyle/>
          <a:p>
            <a:pPr marL="0" indent="0">
              <a:buNone/>
            </a:pPr>
            <a:r>
              <a:rPr lang="en-US" sz="2000" b="1" dirty="0">
                <a:solidFill>
                  <a:srgbClr val="FFFFFF"/>
                </a:solidFill>
                <a:latin typeface="Arial" pitchFamily="34" charset="0"/>
                <a:ea typeface="Arial" pitchFamily="34" charset="-122"/>
                <a:cs typeface="Arial" pitchFamily="34" charset="-120"/>
              </a:rPr>
              <a:t>Fréquent ≠ rentable</a:t>
            </a:r>
            <a:endParaRPr lang="en-US" sz="2000" dirty="0"/>
          </a:p>
        </p:txBody>
      </p:sp>
      <p:sp>
        <p:nvSpPr>
          <p:cNvPr id="30" name="o29"/>
          <p:cNvSpPr txBox="1"/>
          <p:nvPr/>
        </p:nvSpPr>
        <p:spPr>
          <a:xfrm>
            <a:off x="8503920" y="4892040"/>
            <a:ext cx="2926080" cy="1005840"/>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L'Aventure vend 3 fois moins que son poids dans le catalogue. Les Plates-formes chutent de 12 % à 5 % des ventes.</a:t>
            </a:r>
            <a:endParaRPr lang="en-US" sz="1300" dirty="0"/>
          </a:p>
        </p:txBody>
      </p:sp>
      <p:pic>
        <p:nvPicPr>
          <p:cNvPr id="48" name="barre_fantome" descr="image.gif"/>
          <p:cNvPicPr>
            <a:picLocks noChangeAspect="1"/>
          </p:cNvPicPr>
          <p:nvPr/>
        </p:nvPicPr>
        <p:blipFill>
          <a:blip r:embed="rId8"/>
          <a:stretch>
            <a:fillRect/>
          </a:stretch>
        </p:blipFill>
        <p:spPr>
          <a:xfrm>
            <a:off x="3321743" y="6291072"/>
            <a:ext cx="310896" cy="310896"/>
          </a:xfrm>
          <a:prstGeom prst="rect">
            <a:avLst/>
          </a:prstGeom>
        </p:spPr>
      </p:pic>
      <p:pic>
        <p:nvPicPr>
          <p:cNvPr id="49" name="barre_pacman" descr="image.gif"/>
          <p:cNvPicPr>
            <a:picLocks noChangeAspect="1"/>
          </p:cNvPicPr>
          <p:nvPr/>
        </p:nvPicPr>
        <p:blipFill>
          <a:blip r:embed="rId7"/>
          <a:stretch>
            <a:fillRect/>
          </a:stretch>
        </p:blipFill>
        <p:spPr>
          <a:xfrm>
            <a:off x="3888671" y="6291072"/>
            <a:ext cx="310896" cy="310896"/>
          </a:xfrm>
          <a:prstGeom prst="rect">
            <a:avLst/>
          </a:prstGeom>
        </p:spPr>
      </p:pic>
      <p:sp>
        <p:nvSpPr>
          <p:cNvPr id="50"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9"/>
                                        </p:tgtEl>
                                        <p:attrNameLst>
                                          <p:attrName>ppt_x</p:attrName>
                                          <p:attrName>ppt_y</p:attrName>
                                        </p:attrNameLst>
                                      </p:cBhvr>
                                    </p:animMotion>
                                  </p:childTnLst>
                                </p:cTn>
                              </p:par>
                              <p:par>
                                <p:cTn id="9" presetID="1" presetClass="exit" presetSubtype="0" fill="hold" nodeType="withEffect">
                                  <p:stCondLst>
                                    <p:cond delay="608"/>
                                  </p:stCondLst>
                                  <p:childTnLst>
                                    <p:set>
                                      <p:cBhvr>
                                        <p:cTn id="10" dur="1" fill="hold">
                                          <p:stCondLst>
                                            <p:cond delay="0"/>
                                          </p:stCondLst>
                                        </p:cTn>
                                        <p:tgtEl>
                                          <p:spTgt spid="50"/>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par>
                                <p:cTn id="14" presetID="10" presetClass="entr" presetSubtype="0" fill="hold" nodeType="withEffect">
                                  <p:stCondLst>
                                    <p:cond delay="60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400"/>
                                        <p:tgtEl>
                                          <p:spTgt spid="21"/>
                                        </p:tgtEl>
                                      </p:cBhvr>
                                    </p:animEffect>
                                  </p:childTnLst>
                                </p:cTn>
                              </p:par>
                              <p:par>
                                <p:cTn id="17" presetID="10" presetClass="entr" presetSubtype="0" fill="hold" nodeType="withEffect">
                                  <p:stCondLst>
                                    <p:cond delay="6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0" presetID="10" presetClass="entr" presetSubtype="0" fill="hold" nodeType="withEffect">
                                  <p:stCondLst>
                                    <p:cond delay="60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3" presetID="10" presetClass="entr" presetSubtype="0" fill="hold" nodeType="withEffect">
                                  <p:stCondLst>
                                    <p:cond delay="60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nodeType="withEffect">
                                  <p:stCondLst>
                                    <p:cond delay="6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nodeType="withEffect">
                                  <p:stCondLst>
                                    <p:cond delay="100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10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100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100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100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melon"/>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5"/>
          <p:cNvPicPr>
            <a:picLocks noChangeAspect="1"/>
          </p:cNvPicPr>
          <p:nvPr/>
        </p:nvPicPr>
        <p:blipFill>
          <a:blip r:embed="rId4"/>
          <a:stretch>
            <a:fillRect/>
          </a:stretch>
        </p:blipFill>
        <p:spPr>
          <a:xfrm>
            <a:off x="5262601" y="1828800"/>
            <a:ext cx="1666494" cy="237744"/>
          </a:xfrm>
          <a:prstGeom prst="rect">
            <a:avLst/>
          </a:prstGeom>
        </p:spPr>
      </p:pic>
      <p:pic>
        <p:nvPicPr>
          <p:cNvPr id="14" name="o13" descr="BOSS FINAL"/>
          <p:cNvPicPr>
            <a:picLocks noChangeAspect="1"/>
          </p:cNvPicPr>
          <p:nvPr/>
        </p:nvPicPr>
        <p:blipFill>
          <a:blip r:embed="rId5"/>
          <a:stretch>
            <a:fillRect/>
          </a:stretch>
        </p:blipFill>
        <p:spPr>
          <a:xfrm>
            <a:off x="3535528" y="2331720"/>
            <a:ext cx="5120640"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Le Market Power Index des éditeurs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49" name="o48"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53" name="barre_fantome" descr="image.gif"/>
          <p:cNvPicPr>
            <a:picLocks noChangeAspect="1"/>
          </p:cNvPicPr>
          <p:nvPr/>
        </p:nvPicPr>
        <p:blipFill>
          <a:blip r:embed="rId7"/>
          <a:stretch>
            <a:fillRect/>
          </a:stretch>
        </p:blipFill>
        <p:spPr>
          <a:xfrm>
            <a:off x="3588649" y="6291072"/>
            <a:ext cx="310896" cy="310896"/>
          </a:xfrm>
          <a:prstGeom prst="rect">
            <a:avLst/>
          </a:prstGeom>
        </p:spPr>
      </p:pic>
      <p:pic>
        <p:nvPicPr>
          <p:cNvPr id="54" name="barre_pacman" descr="image.gif"/>
          <p:cNvPicPr>
            <a:picLocks noChangeAspect="1"/>
          </p:cNvPicPr>
          <p:nvPr/>
        </p:nvPicPr>
        <p:blipFill>
          <a:blip r:embed="rId6"/>
          <a:stretch>
            <a:fillRect/>
          </a:stretch>
        </p:blipFill>
        <p:spPr>
          <a:xfrm>
            <a:off x="4155577" y="6291072"/>
            <a:ext cx="310896" cy="310896"/>
          </a:xfrm>
          <a:prstGeom prst="rect">
            <a:avLst/>
          </a:prstGeom>
        </p:spPr>
      </p:pic>
      <p:sp>
        <p:nvSpPr>
          <p:cNvPr id="55"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4"/>
                                        </p:tgtEl>
                                        <p:attrNameLst>
                                          <p:attrName>ppt_x</p:attrName>
                                          <p:attrName>ppt_y</p:attrName>
                                        </p:attrNameLst>
                                      </p:cBhvr>
                                    </p:animMotion>
                                  </p:childTnLst>
                                </p:cTn>
                              </p:par>
                              <p:par>
                                <p:cTn id="9" presetID="1" presetClass="exit" presetSubtype="0" fill="hold" nodeType="withEffect">
                                  <p:stCondLst>
                                    <p:cond delay="479"/>
                                  </p:stCondLst>
                                  <p:childTnLst>
                                    <p:set>
                                      <p:cBhvr>
                                        <p:cTn id="10" dur="1" fill="hold">
                                          <p:stCondLst>
                                            <p:cond delay="0"/>
                                          </p:stCondLst>
                                        </p:cTn>
                                        <p:tgtEl>
                                          <p:spTgt spid="55"/>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a:effectLst/>
      </p:bgPr>
    </p:bg>
    <p:spTree>
      <p:nvGrpSpPr>
        <p:cNvPr id="1" name=""/>
        <p:cNvGrpSpPr/>
        <p:nvPr/>
      </p:nvGrpSpPr>
      <p:grpSpPr>
        <a:xfrm>
          <a:off x="0" y="0"/>
          <a:ext cx="0" cy="0"/>
          <a:chOff x="0" y="0"/>
          <a:chExt cx="0" cy="0"/>
        </a:xfrm>
      </p:grpSpPr>
      <p:pic>
        <p:nvPicPr>
          <p:cNvPr id="2" name="o1" descr="LEVEL 5 → MARKET POWER INDEX"/>
          <p:cNvPicPr>
            <a:picLocks noChangeAspect="1"/>
          </p:cNvPicPr>
          <p:nvPr/>
        </p:nvPicPr>
        <p:blipFill>
          <a:blip r:embed="rId3"/>
          <a:stretch>
            <a:fillRect/>
          </a:stretch>
        </p:blipFill>
        <p:spPr>
          <a:xfrm>
            <a:off x="548640" y="411480"/>
            <a:ext cx="4096512" cy="146304"/>
          </a:xfrm>
          <a:prstGeom prst="rect">
            <a:avLst/>
          </a:prstGeom>
        </p:spPr>
      </p:pic>
      <p:pic>
        <p:nvPicPr>
          <p:cNvPr id="3" name="o2" descr="Nintendo, boss hors catégorie"/>
          <p:cNvPicPr>
            <a:picLocks noChangeAspect="1"/>
          </p:cNvPicPr>
          <p:nvPr/>
        </p:nvPicPr>
        <p:blipFill>
          <a:blip r:embed="rId4"/>
          <a:stretch>
            <a:fillRect/>
          </a:stretch>
        </p:blipFill>
        <p:spPr>
          <a:xfrm>
            <a:off x="548640" y="777240"/>
            <a:ext cx="7955280" cy="274320"/>
          </a:xfrm>
          <a:prstGeom prst="rect">
            <a:avLst/>
          </a:prstGeom>
        </p:spPr>
      </p:pic>
      <p:pic>
        <p:nvPicPr>
          <p:cNvPr id="4" name="o3" descr="melon"/>
          <p:cNvPicPr>
            <a:picLocks noChangeAspect="1"/>
          </p:cNvPicPr>
          <p:nvPr/>
        </p:nvPicPr>
        <p:blipFill>
          <a:blip r:embed="rId5"/>
          <a:stretch>
            <a:fillRect/>
          </a:stretch>
        </p:blipFill>
        <p:spPr>
          <a:xfrm>
            <a:off x="11073384" y="365760"/>
            <a:ext cx="566928" cy="566928"/>
          </a:xfrm>
          <a:prstGeom prst="rect">
            <a:avLst/>
          </a:prstGeom>
        </p:spPr>
      </p:pic>
      <p:pic>
        <p:nvPicPr>
          <p:cNvPr id="11" name="o10"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14" name="o13"/>
          <p:cNvGraphicFramePr/>
          <p:nvPr/>
        </p:nvGraphicFramePr>
        <p:xfrm>
          <a:off x="457200" y="1600200"/>
          <a:ext cx="6309360" cy="3840480"/>
        </p:xfrm>
        <a:graphic>
          <a:graphicData uri="http://schemas.openxmlformats.org/drawingml/2006/chart">
            <c:chart xmlns:c="http://schemas.openxmlformats.org/drawingml/2006/chart" xmlns:r="http://schemas.openxmlformats.org/officeDocument/2006/relationships" r:id="rId9"/>
          </a:graphicData>
        </a:graphic>
      </p:graphicFrame>
      <p:pic>
        <p:nvPicPr>
          <p:cNvPr id="15" name="o14" descr="trophée"/>
          <p:cNvPicPr>
            <a:picLocks noChangeAspect="1"/>
          </p:cNvPicPr>
          <p:nvPr/>
        </p:nvPicPr>
        <p:blipFill>
          <a:blip r:embed="rId10"/>
          <a:stretch>
            <a:fillRect/>
          </a:stretch>
        </p:blipFill>
        <p:spPr>
          <a:xfrm>
            <a:off x="548640" y="5559552"/>
            <a:ext cx="347472" cy="347472"/>
          </a:xfrm>
          <a:prstGeom prst="rect">
            <a:avLst/>
          </a:prstGeom>
        </p:spPr>
      </p:pic>
      <p:sp>
        <p:nvSpPr>
          <p:cNvPr id="16" name="o15"/>
          <p:cNvSpPr txBox="1"/>
          <p:nvPr/>
        </p:nvSpPr>
        <p:spPr>
          <a:xfrm>
            <a:off x="1051560" y="5486400"/>
            <a:ext cx="5760720" cy="50292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Le pouvoir de marché récompense le taux de succès, pas la taille du catalogue.</a:t>
            </a:r>
            <a:endParaRPr lang="en-US" sz="1400" dirty="0"/>
          </a:p>
        </p:txBody>
      </p:sp>
      <p:sp>
        <p:nvSpPr>
          <p:cNvPr id="17" name="o16"/>
          <p:cNvSpPr/>
          <p:nvPr/>
        </p:nvSpPr>
        <p:spPr>
          <a:xfrm>
            <a:off x="7086600" y="1645920"/>
            <a:ext cx="4553712" cy="4389120"/>
          </a:xfrm>
          <a:prstGeom prst="roundRect">
            <a:avLst>
              <a:gd name="adj" fmla="val 2917"/>
            </a:avLst>
          </a:prstGeom>
          <a:solidFill>
            <a:srgbClr val="000000"/>
          </a:solidFill>
          <a:ln w="28575">
            <a:solidFill>
              <a:srgbClr val="FFE600"/>
            </a:solidFill>
            <a:prstDash val="solid"/>
          </a:ln>
        </p:spPr>
      </p:sp>
      <p:sp>
        <p:nvSpPr>
          <p:cNvPr id="18" name="o17"/>
          <p:cNvSpPr/>
          <p:nvPr/>
        </p:nvSpPr>
        <p:spPr>
          <a:xfrm>
            <a:off x="7155180" y="1714500"/>
            <a:ext cx="4416552" cy="4251960"/>
          </a:xfrm>
          <a:prstGeom prst="roundRect">
            <a:avLst>
              <a:gd name="adj" fmla="val 1398"/>
            </a:avLst>
          </a:prstGeom>
          <a:ln w="12700">
            <a:solidFill>
              <a:srgbClr val="FFE600"/>
            </a:solidFill>
            <a:prstDash val="solid"/>
          </a:ln>
        </p:spPr>
      </p:sp>
      <p:pic>
        <p:nvPicPr>
          <p:cNvPr id="19" name="o18" descr="boss"/>
          <p:cNvPicPr>
            <a:picLocks noChangeAspect="1"/>
          </p:cNvPicPr>
          <p:nvPr/>
        </p:nvPicPr>
        <p:blipFill>
          <a:blip r:embed="rId8"/>
          <a:stretch>
            <a:fillRect/>
          </a:stretch>
        </p:blipFill>
        <p:spPr>
          <a:xfrm>
            <a:off x="7406640" y="1920240"/>
            <a:ext cx="502920" cy="502920"/>
          </a:xfrm>
          <a:prstGeom prst="rect">
            <a:avLst/>
          </a:prstGeom>
        </p:spPr>
      </p:pic>
      <p:pic>
        <p:nvPicPr>
          <p:cNvPr id="20" name="o19" descr="BOSS : NINTENDO"/>
          <p:cNvPicPr>
            <a:picLocks noChangeAspect="1"/>
          </p:cNvPicPr>
          <p:nvPr/>
        </p:nvPicPr>
        <p:blipFill>
          <a:blip r:embed="rId11"/>
          <a:stretch>
            <a:fillRect/>
          </a:stretch>
        </p:blipFill>
        <p:spPr>
          <a:xfrm>
            <a:off x="8092440" y="2057400"/>
            <a:ext cx="2471166" cy="164592"/>
          </a:xfrm>
          <a:prstGeom prst="rect">
            <a:avLst/>
          </a:prstGeom>
        </p:spPr>
      </p:pic>
      <p:pic>
        <p:nvPicPr>
          <p:cNvPr id="21" name="o20" descr="95,5"/>
          <p:cNvPicPr>
            <a:picLocks noChangeAspect="1"/>
          </p:cNvPicPr>
          <p:nvPr/>
        </p:nvPicPr>
        <p:blipFill>
          <a:blip r:embed="rId12"/>
          <a:stretch>
            <a:fillRect/>
          </a:stretch>
        </p:blipFill>
        <p:spPr>
          <a:xfrm>
            <a:off x="7406640" y="2651760"/>
            <a:ext cx="1828800" cy="457200"/>
          </a:xfrm>
          <a:prstGeom prst="rect">
            <a:avLst/>
          </a:prstGeom>
        </p:spPr>
      </p:pic>
      <p:sp>
        <p:nvSpPr>
          <p:cNvPr id="22" name="o21"/>
          <p:cNvSpPr txBox="1"/>
          <p:nvPr/>
        </p:nvSpPr>
        <p:spPr>
          <a:xfrm>
            <a:off x="9372600" y="2651760"/>
            <a:ext cx="1097280" cy="457200"/>
          </a:xfrm>
          <a:prstGeom prst="rect">
            <a:avLst/>
          </a:prstGeom>
          <a:noFill/>
          <a:ln/>
        </p:spPr>
        <p:txBody>
          <a:bodyPr wrap="square" lIns="0" tIns="0" rIns="0" bIns="0" rtlCol="0" anchor="b"/>
          <a:lstStyle/>
          <a:p>
            <a:pPr marL="0" indent="0">
              <a:buNone/>
            </a:pPr>
            <a:r>
              <a:rPr lang="en-US" sz="2000" dirty="0">
                <a:solidFill>
                  <a:srgbClr val="C4C4E4"/>
                </a:solidFill>
                <a:latin typeface="Arial" pitchFamily="34" charset="0"/>
                <a:ea typeface="Arial" pitchFamily="34" charset="-122"/>
                <a:cs typeface="Arial" pitchFamily="34" charset="-120"/>
              </a:rPr>
              <a:t>/100</a:t>
            </a:r>
            <a:endParaRPr lang="en-US" sz="2000" dirty="0"/>
          </a:p>
        </p:txBody>
      </p:sp>
      <p:sp>
        <p:nvSpPr>
          <p:cNvPr id="23" name="o22"/>
          <p:cNvSpPr txBox="1"/>
          <p:nvPr/>
        </p:nvSpPr>
        <p:spPr>
          <a:xfrm>
            <a:off x="7406640" y="3474720"/>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Part de marché</a:t>
            </a:r>
            <a:endParaRPr lang="en-US" sz="1300" dirty="0"/>
          </a:p>
        </p:txBody>
      </p:sp>
      <p:sp>
        <p:nvSpPr>
          <p:cNvPr id="24" name="o23"/>
          <p:cNvSpPr/>
          <p:nvPr/>
        </p:nvSpPr>
        <p:spPr>
          <a:xfrm>
            <a:off x="9281160" y="3538728"/>
            <a:ext cx="68580" cy="146304"/>
          </a:xfrm>
          <a:prstGeom prst="rect">
            <a:avLst/>
          </a:prstGeom>
          <a:solidFill>
            <a:srgbClr val="FFE600"/>
          </a:solidFill>
          <a:ln/>
        </p:spPr>
      </p:sp>
      <p:sp>
        <p:nvSpPr>
          <p:cNvPr id="25" name="o24"/>
          <p:cNvSpPr/>
          <p:nvPr/>
        </p:nvSpPr>
        <p:spPr>
          <a:xfrm>
            <a:off x="9371686" y="3538728"/>
            <a:ext cx="68580" cy="146304"/>
          </a:xfrm>
          <a:prstGeom prst="rect">
            <a:avLst/>
          </a:prstGeom>
          <a:solidFill>
            <a:srgbClr val="FFE600"/>
          </a:solidFill>
          <a:ln/>
        </p:spPr>
      </p:sp>
      <p:sp>
        <p:nvSpPr>
          <p:cNvPr id="26" name="o25"/>
          <p:cNvSpPr/>
          <p:nvPr/>
        </p:nvSpPr>
        <p:spPr>
          <a:xfrm>
            <a:off x="9462211" y="3538728"/>
            <a:ext cx="68580" cy="146304"/>
          </a:xfrm>
          <a:prstGeom prst="rect">
            <a:avLst/>
          </a:prstGeom>
          <a:solidFill>
            <a:srgbClr val="FFE600"/>
          </a:solidFill>
          <a:ln/>
        </p:spPr>
      </p:sp>
      <p:sp>
        <p:nvSpPr>
          <p:cNvPr id="27" name="o26"/>
          <p:cNvSpPr/>
          <p:nvPr/>
        </p:nvSpPr>
        <p:spPr>
          <a:xfrm>
            <a:off x="9552737" y="3538728"/>
            <a:ext cx="68580" cy="146304"/>
          </a:xfrm>
          <a:prstGeom prst="rect">
            <a:avLst/>
          </a:prstGeom>
          <a:solidFill>
            <a:srgbClr val="FFE600"/>
          </a:solidFill>
          <a:ln/>
        </p:spPr>
      </p:sp>
      <p:sp>
        <p:nvSpPr>
          <p:cNvPr id="28" name="o27"/>
          <p:cNvSpPr/>
          <p:nvPr/>
        </p:nvSpPr>
        <p:spPr>
          <a:xfrm>
            <a:off x="9643262" y="3538728"/>
            <a:ext cx="68580" cy="146304"/>
          </a:xfrm>
          <a:prstGeom prst="rect">
            <a:avLst/>
          </a:prstGeom>
          <a:solidFill>
            <a:srgbClr val="FFE600"/>
          </a:solidFill>
          <a:ln/>
        </p:spPr>
      </p:sp>
      <p:sp>
        <p:nvSpPr>
          <p:cNvPr id="29" name="o28"/>
          <p:cNvSpPr/>
          <p:nvPr/>
        </p:nvSpPr>
        <p:spPr>
          <a:xfrm>
            <a:off x="9733788" y="3538728"/>
            <a:ext cx="68580" cy="146304"/>
          </a:xfrm>
          <a:prstGeom prst="rect">
            <a:avLst/>
          </a:prstGeom>
          <a:solidFill>
            <a:srgbClr val="FFE600"/>
          </a:solidFill>
          <a:ln/>
        </p:spPr>
      </p:sp>
      <p:sp>
        <p:nvSpPr>
          <p:cNvPr id="30" name="o29"/>
          <p:cNvSpPr/>
          <p:nvPr/>
        </p:nvSpPr>
        <p:spPr>
          <a:xfrm>
            <a:off x="9824314" y="3538728"/>
            <a:ext cx="68580" cy="146304"/>
          </a:xfrm>
          <a:prstGeom prst="rect">
            <a:avLst/>
          </a:prstGeom>
          <a:solidFill>
            <a:srgbClr val="FFE600"/>
          </a:solidFill>
          <a:ln/>
        </p:spPr>
      </p:sp>
      <p:sp>
        <p:nvSpPr>
          <p:cNvPr id="31" name="o30"/>
          <p:cNvSpPr/>
          <p:nvPr/>
        </p:nvSpPr>
        <p:spPr>
          <a:xfrm>
            <a:off x="9914839" y="3538728"/>
            <a:ext cx="68580" cy="146304"/>
          </a:xfrm>
          <a:prstGeom prst="rect">
            <a:avLst/>
          </a:prstGeom>
          <a:solidFill>
            <a:srgbClr val="FFE600"/>
          </a:solidFill>
          <a:ln/>
        </p:spPr>
      </p:sp>
      <p:sp>
        <p:nvSpPr>
          <p:cNvPr id="32" name="o31"/>
          <p:cNvSpPr/>
          <p:nvPr/>
        </p:nvSpPr>
        <p:spPr>
          <a:xfrm>
            <a:off x="10005365" y="3538728"/>
            <a:ext cx="68580" cy="146304"/>
          </a:xfrm>
          <a:prstGeom prst="rect">
            <a:avLst/>
          </a:prstGeom>
          <a:solidFill>
            <a:srgbClr val="FFE600"/>
          </a:solidFill>
          <a:ln/>
        </p:spPr>
      </p:sp>
      <p:sp>
        <p:nvSpPr>
          <p:cNvPr id="33" name="o32"/>
          <p:cNvSpPr/>
          <p:nvPr/>
        </p:nvSpPr>
        <p:spPr>
          <a:xfrm>
            <a:off x="10095890" y="3538728"/>
            <a:ext cx="68580" cy="146304"/>
          </a:xfrm>
          <a:prstGeom prst="rect">
            <a:avLst/>
          </a:prstGeom>
          <a:solidFill>
            <a:srgbClr val="FFE600"/>
          </a:solidFill>
          <a:ln/>
        </p:spPr>
      </p:sp>
      <p:sp>
        <p:nvSpPr>
          <p:cNvPr id="34" name="o33"/>
          <p:cNvSpPr/>
          <p:nvPr/>
        </p:nvSpPr>
        <p:spPr>
          <a:xfrm>
            <a:off x="10186416" y="3538728"/>
            <a:ext cx="68580" cy="146304"/>
          </a:xfrm>
          <a:prstGeom prst="rect">
            <a:avLst/>
          </a:prstGeom>
          <a:solidFill>
            <a:srgbClr val="FFE600"/>
          </a:solidFill>
          <a:ln/>
        </p:spPr>
      </p:sp>
      <p:sp>
        <p:nvSpPr>
          <p:cNvPr id="35" name="o34"/>
          <p:cNvSpPr/>
          <p:nvPr/>
        </p:nvSpPr>
        <p:spPr>
          <a:xfrm>
            <a:off x="10276942" y="3538728"/>
            <a:ext cx="68580" cy="146304"/>
          </a:xfrm>
          <a:prstGeom prst="rect">
            <a:avLst/>
          </a:prstGeom>
          <a:solidFill>
            <a:srgbClr val="FFE600"/>
          </a:solidFill>
          <a:ln/>
        </p:spPr>
      </p:sp>
      <p:sp>
        <p:nvSpPr>
          <p:cNvPr id="36" name="o35"/>
          <p:cNvSpPr/>
          <p:nvPr/>
        </p:nvSpPr>
        <p:spPr>
          <a:xfrm>
            <a:off x="10367467" y="3538728"/>
            <a:ext cx="68580" cy="146304"/>
          </a:xfrm>
          <a:prstGeom prst="rect">
            <a:avLst/>
          </a:prstGeom>
          <a:solidFill>
            <a:srgbClr val="FFE600"/>
          </a:solidFill>
          <a:ln/>
        </p:spPr>
      </p:sp>
      <p:sp>
        <p:nvSpPr>
          <p:cNvPr id="37" name="o36"/>
          <p:cNvSpPr/>
          <p:nvPr/>
        </p:nvSpPr>
        <p:spPr>
          <a:xfrm>
            <a:off x="10457993" y="3538728"/>
            <a:ext cx="68580" cy="146304"/>
          </a:xfrm>
          <a:prstGeom prst="rect">
            <a:avLst/>
          </a:prstGeom>
          <a:solidFill>
            <a:srgbClr val="FFE600"/>
          </a:solidFill>
          <a:ln/>
        </p:spPr>
      </p:sp>
      <p:sp>
        <p:nvSpPr>
          <p:cNvPr id="38" name="o37"/>
          <p:cNvSpPr/>
          <p:nvPr/>
        </p:nvSpPr>
        <p:spPr>
          <a:xfrm>
            <a:off x="10548518" y="3538728"/>
            <a:ext cx="68580" cy="146304"/>
          </a:xfrm>
          <a:prstGeom prst="rect">
            <a:avLst/>
          </a:prstGeom>
          <a:solidFill>
            <a:srgbClr val="FFE600"/>
          </a:solidFill>
          <a:ln/>
        </p:spPr>
      </p:sp>
      <p:sp>
        <p:nvSpPr>
          <p:cNvPr id="39" name="o38"/>
          <p:cNvSpPr/>
          <p:nvPr/>
        </p:nvSpPr>
        <p:spPr>
          <a:xfrm>
            <a:off x="10639044" y="3538728"/>
            <a:ext cx="68580" cy="146304"/>
          </a:xfrm>
          <a:prstGeom prst="rect">
            <a:avLst/>
          </a:prstGeom>
          <a:solidFill>
            <a:srgbClr val="FFE600"/>
          </a:solidFill>
          <a:ln/>
        </p:spPr>
      </p:sp>
      <p:sp>
        <p:nvSpPr>
          <p:cNvPr id="40" name="o39"/>
          <p:cNvSpPr/>
          <p:nvPr/>
        </p:nvSpPr>
        <p:spPr>
          <a:xfrm>
            <a:off x="10729570" y="3538728"/>
            <a:ext cx="68580" cy="146304"/>
          </a:xfrm>
          <a:prstGeom prst="rect">
            <a:avLst/>
          </a:prstGeom>
          <a:solidFill>
            <a:srgbClr val="FFE600"/>
          </a:solidFill>
          <a:ln/>
        </p:spPr>
      </p:sp>
      <p:sp>
        <p:nvSpPr>
          <p:cNvPr id="41" name="o40"/>
          <p:cNvSpPr/>
          <p:nvPr/>
        </p:nvSpPr>
        <p:spPr>
          <a:xfrm>
            <a:off x="10820095" y="3538728"/>
            <a:ext cx="68580" cy="146304"/>
          </a:xfrm>
          <a:prstGeom prst="rect">
            <a:avLst/>
          </a:prstGeom>
          <a:solidFill>
            <a:srgbClr val="FFE600"/>
          </a:solidFill>
          <a:ln/>
        </p:spPr>
      </p:sp>
      <p:sp>
        <p:nvSpPr>
          <p:cNvPr id="42" name="o41"/>
          <p:cNvSpPr/>
          <p:nvPr/>
        </p:nvSpPr>
        <p:spPr>
          <a:xfrm>
            <a:off x="10910621" y="3538728"/>
            <a:ext cx="68580" cy="146304"/>
          </a:xfrm>
          <a:prstGeom prst="rect">
            <a:avLst/>
          </a:prstGeom>
          <a:solidFill>
            <a:srgbClr val="FFE600"/>
          </a:solidFill>
          <a:ln/>
        </p:spPr>
      </p:sp>
      <p:sp>
        <p:nvSpPr>
          <p:cNvPr id="43" name="o42"/>
          <p:cNvSpPr/>
          <p:nvPr/>
        </p:nvSpPr>
        <p:spPr>
          <a:xfrm>
            <a:off x="11001146" y="3538728"/>
            <a:ext cx="68580" cy="146304"/>
          </a:xfrm>
          <a:prstGeom prst="rect">
            <a:avLst/>
          </a:prstGeom>
          <a:solidFill>
            <a:srgbClr val="FFE600"/>
          </a:solidFill>
          <a:ln/>
        </p:spPr>
      </p:sp>
      <p:sp>
        <p:nvSpPr>
          <p:cNvPr id="44" name="o43"/>
          <p:cNvSpPr txBox="1"/>
          <p:nvPr/>
        </p:nvSpPr>
        <p:spPr>
          <a:xfrm>
            <a:off x="11164824" y="3474720"/>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45" name="o44"/>
          <p:cNvSpPr txBox="1"/>
          <p:nvPr/>
        </p:nvSpPr>
        <p:spPr>
          <a:xfrm>
            <a:off x="7406640" y="3904488"/>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Leadership (&gt; 30 %)</a:t>
            </a:r>
            <a:endParaRPr lang="en-US" sz="1300" dirty="0"/>
          </a:p>
        </p:txBody>
      </p:sp>
      <p:sp>
        <p:nvSpPr>
          <p:cNvPr id="46" name="o45"/>
          <p:cNvSpPr/>
          <p:nvPr/>
        </p:nvSpPr>
        <p:spPr>
          <a:xfrm>
            <a:off x="9281160" y="3968496"/>
            <a:ext cx="68580" cy="146304"/>
          </a:xfrm>
          <a:prstGeom prst="rect">
            <a:avLst/>
          </a:prstGeom>
          <a:solidFill>
            <a:srgbClr val="FFE600"/>
          </a:solidFill>
          <a:ln/>
        </p:spPr>
      </p:sp>
      <p:sp>
        <p:nvSpPr>
          <p:cNvPr id="47" name="o46"/>
          <p:cNvSpPr/>
          <p:nvPr/>
        </p:nvSpPr>
        <p:spPr>
          <a:xfrm>
            <a:off x="9371686" y="3968496"/>
            <a:ext cx="68580" cy="146304"/>
          </a:xfrm>
          <a:prstGeom prst="rect">
            <a:avLst/>
          </a:prstGeom>
          <a:solidFill>
            <a:srgbClr val="FFE600"/>
          </a:solidFill>
          <a:ln/>
        </p:spPr>
      </p:sp>
      <p:sp>
        <p:nvSpPr>
          <p:cNvPr id="48" name="o47"/>
          <p:cNvSpPr/>
          <p:nvPr/>
        </p:nvSpPr>
        <p:spPr>
          <a:xfrm>
            <a:off x="9462211" y="3968496"/>
            <a:ext cx="68580" cy="146304"/>
          </a:xfrm>
          <a:prstGeom prst="rect">
            <a:avLst/>
          </a:prstGeom>
          <a:solidFill>
            <a:srgbClr val="FFE600"/>
          </a:solidFill>
          <a:ln/>
        </p:spPr>
      </p:sp>
      <p:sp>
        <p:nvSpPr>
          <p:cNvPr id="49" name="o48"/>
          <p:cNvSpPr/>
          <p:nvPr/>
        </p:nvSpPr>
        <p:spPr>
          <a:xfrm>
            <a:off x="9552737" y="3968496"/>
            <a:ext cx="68580" cy="146304"/>
          </a:xfrm>
          <a:prstGeom prst="rect">
            <a:avLst/>
          </a:prstGeom>
          <a:solidFill>
            <a:srgbClr val="FFE600"/>
          </a:solidFill>
          <a:ln/>
        </p:spPr>
      </p:sp>
      <p:sp>
        <p:nvSpPr>
          <p:cNvPr id="50" name="o49"/>
          <p:cNvSpPr/>
          <p:nvPr/>
        </p:nvSpPr>
        <p:spPr>
          <a:xfrm>
            <a:off x="9643262" y="3968496"/>
            <a:ext cx="68580" cy="146304"/>
          </a:xfrm>
          <a:prstGeom prst="rect">
            <a:avLst/>
          </a:prstGeom>
          <a:solidFill>
            <a:srgbClr val="FFE600"/>
          </a:solidFill>
          <a:ln/>
        </p:spPr>
      </p:sp>
      <p:sp>
        <p:nvSpPr>
          <p:cNvPr id="51" name="o50"/>
          <p:cNvSpPr/>
          <p:nvPr/>
        </p:nvSpPr>
        <p:spPr>
          <a:xfrm>
            <a:off x="9733788" y="3968496"/>
            <a:ext cx="68580" cy="146304"/>
          </a:xfrm>
          <a:prstGeom prst="rect">
            <a:avLst/>
          </a:prstGeom>
          <a:solidFill>
            <a:srgbClr val="FFE600"/>
          </a:solidFill>
          <a:ln/>
        </p:spPr>
      </p:sp>
      <p:sp>
        <p:nvSpPr>
          <p:cNvPr id="52" name="o51"/>
          <p:cNvSpPr/>
          <p:nvPr/>
        </p:nvSpPr>
        <p:spPr>
          <a:xfrm>
            <a:off x="9824314" y="3968496"/>
            <a:ext cx="68580" cy="146304"/>
          </a:xfrm>
          <a:prstGeom prst="rect">
            <a:avLst/>
          </a:prstGeom>
          <a:solidFill>
            <a:srgbClr val="FFE600"/>
          </a:solidFill>
          <a:ln/>
        </p:spPr>
      </p:sp>
      <p:sp>
        <p:nvSpPr>
          <p:cNvPr id="53" name="o52"/>
          <p:cNvSpPr/>
          <p:nvPr/>
        </p:nvSpPr>
        <p:spPr>
          <a:xfrm>
            <a:off x="9914839" y="3968496"/>
            <a:ext cx="68580" cy="146304"/>
          </a:xfrm>
          <a:prstGeom prst="rect">
            <a:avLst/>
          </a:prstGeom>
          <a:solidFill>
            <a:srgbClr val="FFE600"/>
          </a:solidFill>
          <a:ln/>
        </p:spPr>
      </p:sp>
      <p:sp>
        <p:nvSpPr>
          <p:cNvPr id="54" name="o53"/>
          <p:cNvSpPr/>
          <p:nvPr/>
        </p:nvSpPr>
        <p:spPr>
          <a:xfrm>
            <a:off x="10005365" y="3968496"/>
            <a:ext cx="68580" cy="146304"/>
          </a:xfrm>
          <a:prstGeom prst="rect">
            <a:avLst/>
          </a:prstGeom>
          <a:solidFill>
            <a:srgbClr val="FFE600"/>
          </a:solidFill>
          <a:ln/>
        </p:spPr>
      </p:sp>
      <p:sp>
        <p:nvSpPr>
          <p:cNvPr id="55" name="o54"/>
          <p:cNvSpPr/>
          <p:nvPr/>
        </p:nvSpPr>
        <p:spPr>
          <a:xfrm>
            <a:off x="10095890" y="3968496"/>
            <a:ext cx="68580" cy="146304"/>
          </a:xfrm>
          <a:prstGeom prst="rect">
            <a:avLst/>
          </a:prstGeom>
          <a:solidFill>
            <a:srgbClr val="FFE600"/>
          </a:solidFill>
          <a:ln/>
        </p:spPr>
      </p:sp>
      <p:sp>
        <p:nvSpPr>
          <p:cNvPr id="56" name="o55"/>
          <p:cNvSpPr/>
          <p:nvPr/>
        </p:nvSpPr>
        <p:spPr>
          <a:xfrm>
            <a:off x="10186416" y="3968496"/>
            <a:ext cx="68580" cy="146304"/>
          </a:xfrm>
          <a:prstGeom prst="rect">
            <a:avLst/>
          </a:prstGeom>
          <a:solidFill>
            <a:srgbClr val="FFE600"/>
          </a:solidFill>
          <a:ln/>
        </p:spPr>
      </p:sp>
      <p:sp>
        <p:nvSpPr>
          <p:cNvPr id="57" name="o56"/>
          <p:cNvSpPr/>
          <p:nvPr/>
        </p:nvSpPr>
        <p:spPr>
          <a:xfrm>
            <a:off x="10276942" y="3968496"/>
            <a:ext cx="68580" cy="146304"/>
          </a:xfrm>
          <a:prstGeom prst="rect">
            <a:avLst/>
          </a:prstGeom>
          <a:solidFill>
            <a:srgbClr val="FFE600"/>
          </a:solidFill>
          <a:ln/>
        </p:spPr>
      </p:sp>
      <p:sp>
        <p:nvSpPr>
          <p:cNvPr id="58" name="o57"/>
          <p:cNvSpPr/>
          <p:nvPr/>
        </p:nvSpPr>
        <p:spPr>
          <a:xfrm>
            <a:off x="10367467" y="3968496"/>
            <a:ext cx="68580" cy="146304"/>
          </a:xfrm>
          <a:prstGeom prst="rect">
            <a:avLst/>
          </a:prstGeom>
          <a:solidFill>
            <a:srgbClr val="FFE600"/>
          </a:solidFill>
          <a:ln/>
        </p:spPr>
      </p:sp>
      <p:sp>
        <p:nvSpPr>
          <p:cNvPr id="59" name="o58"/>
          <p:cNvSpPr/>
          <p:nvPr/>
        </p:nvSpPr>
        <p:spPr>
          <a:xfrm>
            <a:off x="10457993" y="3968496"/>
            <a:ext cx="68580" cy="146304"/>
          </a:xfrm>
          <a:prstGeom prst="rect">
            <a:avLst/>
          </a:prstGeom>
          <a:solidFill>
            <a:srgbClr val="FFE600"/>
          </a:solidFill>
          <a:ln/>
        </p:spPr>
      </p:sp>
      <p:sp>
        <p:nvSpPr>
          <p:cNvPr id="60" name="o59"/>
          <p:cNvSpPr/>
          <p:nvPr/>
        </p:nvSpPr>
        <p:spPr>
          <a:xfrm>
            <a:off x="10548518" y="3968496"/>
            <a:ext cx="68580" cy="146304"/>
          </a:xfrm>
          <a:prstGeom prst="rect">
            <a:avLst/>
          </a:prstGeom>
          <a:solidFill>
            <a:srgbClr val="FFE600"/>
          </a:solidFill>
          <a:ln/>
        </p:spPr>
      </p:sp>
      <p:sp>
        <p:nvSpPr>
          <p:cNvPr id="61" name="o60"/>
          <p:cNvSpPr/>
          <p:nvPr/>
        </p:nvSpPr>
        <p:spPr>
          <a:xfrm>
            <a:off x="10639044" y="3968496"/>
            <a:ext cx="68580" cy="146304"/>
          </a:xfrm>
          <a:prstGeom prst="rect">
            <a:avLst/>
          </a:prstGeom>
          <a:solidFill>
            <a:srgbClr val="FFE600"/>
          </a:solidFill>
          <a:ln/>
        </p:spPr>
      </p:sp>
      <p:sp>
        <p:nvSpPr>
          <p:cNvPr id="62" name="o61"/>
          <p:cNvSpPr/>
          <p:nvPr/>
        </p:nvSpPr>
        <p:spPr>
          <a:xfrm>
            <a:off x="10729570" y="3968496"/>
            <a:ext cx="68580" cy="146304"/>
          </a:xfrm>
          <a:prstGeom prst="rect">
            <a:avLst/>
          </a:prstGeom>
          <a:solidFill>
            <a:srgbClr val="FFE600"/>
          </a:solidFill>
          <a:ln/>
        </p:spPr>
      </p:sp>
      <p:sp>
        <p:nvSpPr>
          <p:cNvPr id="63" name="o62"/>
          <p:cNvSpPr/>
          <p:nvPr/>
        </p:nvSpPr>
        <p:spPr>
          <a:xfrm>
            <a:off x="10820095" y="3968496"/>
            <a:ext cx="68580" cy="146304"/>
          </a:xfrm>
          <a:prstGeom prst="rect">
            <a:avLst/>
          </a:prstGeom>
          <a:solidFill>
            <a:srgbClr val="FFE600"/>
          </a:solidFill>
          <a:ln/>
        </p:spPr>
      </p:sp>
      <p:sp>
        <p:nvSpPr>
          <p:cNvPr id="64" name="o63"/>
          <p:cNvSpPr/>
          <p:nvPr/>
        </p:nvSpPr>
        <p:spPr>
          <a:xfrm>
            <a:off x="10910621" y="3968496"/>
            <a:ext cx="68580" cy="146304"/>
          </a:xfrm>
          <a:prstGeom prst="rect">
            <a:avLst/>
          </a:prstGeom>
          <a:solidFill>
            <a:srgbClr val="FFE600"/>
          </a:solidFill>
          <a:ln/>
        </p:spPr>
      </p:sp>
      <p:sp>
        <p:nvSpPr>
          <p:cNvPr id="65" name="o64"/>
          <p:cNvSpPr/>
          <p:nvPr/>
        </p:nvSpPr>
        <p:spPr>
          <a:xfrm>
            <a:off x="11001146" y="3968496"/>
            <a:ext cx="68580" cy="146304"/>
          </a:xfrm>
          <a:prstGeom prst="rect">
            <a:avLst/>
          </a:prstGeom>
          <a:solidFill>
            <a:srgbClr val="FFE600"/>
          </a:solidFill>
          <a:ln/>
        </p:spPr>
      </p:sp>
      <p:sp>
        <p:nvSpPr>
          <p:cNvPr id="66" name="o65"/>
          <p:cNvSpPr txBox="1"/>
          <p:nvPr/>
        </p:nvSpPr>
        <p:spPr>
          <a:xfrm>
            <a:off x="11164824" y="3904488"/>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67" name="o66"/>
          <p:cNvSpPr txBox="1"/>
          <p:nvPr/>
        </p:nvSpPr>
        <p:spPr>
          <a:xfrm>
            <a:off x="7406640" y="4334256"/>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Diversité des genres</a:t>
            </a:r>
            <a:endParaRPr lang="en-US" sz="1300" dirty="0"/>
          </a:p>
        </p:txBody>
      </p:sp>
      <p:sp>
        <p:nvSpPr>
          <p:cNvPr id="68" name="o67"/>
          <p:cNvSpPr/>
          <p:nvPr/>
        </p:nvSpPr>
        <p:spPr>
          <a:xfrm>
            <a:off x="9281160" y="4398264"/>
            <a:ext cx="68580" cy="146304"/>
          </a:xfrm>
          <a:prstGeom prst="rect">
            <a:avLst/>
          </a:prstGeom>
          <a:solidFill>
            <a:srgbClr val="FFE600"/>
          </a:solidFill>
          <a:ln/>
        </p:spPr>
      </p:sp>
      <p:sp>
        <p:nvSpPr>
          <p:cNvPr id="69" name="o68"/>
          <p:cNvSpPr/>
          <p:nvPr/>
        </p:nvSpPr>
        <p:spPr>
          <a:xfrm>
            <a:off x="9371686" y="4398264"/>
            <a:ext cx="68580" cy="146304"/>
          </a:xfrm>
          <a:prstGeom prst="rect">
            <a:avLst/>
          </a:prstGeom>
          <a:solidFill>
            <a:srgbClr val="FFE600"/>
          </a:solidFill>
          <a:ln/>
        </p:spPr>
      </p:sp>
      <p:sp>
        <p:nvSpPr>
          <p:cNvPr id="70" name="o69"/>
          <p:cNvSpPr/>
          <p:nvPr/>
        </p:nvSpPr>
        <p:spPr>
          <a:xfrm>
            <a:off x="9462211" y="4398264"/>
            <a:ext cx="68580" cy="146304"/>
          </a:xfrm>
          <a:prstGeom prst="rect">
            <a:avLst/>
          </a:prstGeom>
          <a:solidFill>
            <a:srgbClr val="FFE600"/>
          </a:solidFill>
          <a:ln/>
        </p:spPr>
      </p:sp>
      <p:sp>
        <p:nvSpPr>
          <p:cNvPr id="71" name="o70"/>
          <p:cNvSpPr/>
          <p:nvPr/>
        </p:nvSpPr>
        <p:spPr>
          <a:xfrm>
            <a:off x="9552737" y="4398264"/>
            <a:ext cx="68580" cy="146304"/>
          </a:xfrm>
          <a:prstGeom prst="rect">
            <a:avLst/>
          </a:prstGeom>
          <a:solidFill>
            <a:srgbClr val="FFE600"/>
          </a:solidFill>
          <a:ln/>
        </p:spPr>
      </p:sp>
      <p:sp>
        <p:nvSpPr>
          <p:cNvPr id="72" name="o71"/>
          <p:cNvSpPr/>
          <p:nvPr/>
        </p:nvSpPr>
        <p:spPr>
          <a:xfrm>
            <a:off x="9643262" y="4398264"/>
            <a:ext cx="68580" cy="146304"/>
          </a:xfrm>
          <a:prstGeom prst="rect">
            <a:avLst/>
          </a:prstGeom>
          <a:solidFill>
            <a:srgbClr val="FFE600"/>
          </a:solidFill>
          <a:ln/>
        </p:spPr>
      </p:sp>
      <p:sp>
        <p:nvSpPr>
          <p:cNvPr id="73" name="o72"/>
          <p:cNvSpPr/>
          <p:nvPr/>
        </p:nvSpPr>
        <p:spPr>
          <a:xfrm>
            <a:off x="9733788" y="4398264"/>
            <a:ext cx="68580" cy="146304"/>
          </a:xfrm>
          <a:prstGeom prst="rect">
            <a:avLst/>
          </a:prstGeom>
          <a:solidFill>
            <a:srgbClr val="FFE600"/>
          </a:solidFill>
          <a:ln/>
        </p:spPr>
      </p:sp>
      <p:sp>
        <p:nvSpPr>
          <p:cNvPr id="74" name="o73"/>
          <p:cNvSpPr/>
          <p:nvPr/>
        </p:nvSpPr>
        <p:spPr>
          <a:xfrm>
            <a:off x="9824314" y="4398264"/>
            <a:ext cx="68580" cy="146304"/>
          </a:xfrm>
          <a:prstGeom prst="rect">
            <a:avLst/>
          </a:prstGeom>
          <a:solidFill>
            <a:srgbClr val="FFE600"/>
          </a:solidFill>
          <a:ln/>
        </p:spPr>
      </p:sp>
      <p:sp>
        <p:nvSpPr>
          <p:cNvPr id="75" name="o74"/>
          <p:cNvSpPr/>
          <p:nvPr/>
        </p:nvSpPr>
        <p:spPr>
          <a:xfrm>
            <a:off x="9914839" y="4398264"/>
            <a:ext cx="68580" cy="146304"/>
          </a:xfrm>
          <a:prstGeom prst="rect">
            <a:avLst/>
          </a:prstGeom>
          <a:solidFill>
            <a:srgbClr val="FFE600"/>
          </a:solidFill>
          <a:ln/>
        </p:spPr>
      </p:sp>
      <p:sp>
        <p:nvSpPr>
          <p:cNvPr id="76" name="o75"/>
          <p:cNvSpPr/>
          <p:nvPr/>
        </p:nvSpPr>
        <p:spPr>
          <a:xfrm>
            <a:off x="10005365" y="4398264"/>
            <a:ext cx="68580" cy="146304"/>
          </a:xfrm>
          <a:prstGeom prst="rect">
            <a:avLst/>
          </a:prstGeom>
          <a:solidFill>
            <a:srgbClr val="FFE600"/>
          </a:solidFill>
          <a:ln/>
        </p:spPr>
      </p:sp>
      <p:sp>
        <p:nvSpPr>
          <p:cNvPr id="77" name="o76"/>
          <p:cNvSpPr/>
          <p:nvPr/>
        </p:nvSpPr>
        <p:spPr>
          <a:xfrm>
            <a:off x="10095890" y="4398264"/>
            <a:ext cx="68580" cy="146304"/>
          </a:xfrm>
          <a:prstGeom prst="rect">
            <a:avLst/>
          </a:prstGeom>
          <a:solidFill>
            <a:srgbClr val="FFE600"/>
          </a:solidFill>
          <a:ln/>
        </p:spPr>
      </p:sp>
      <p:sp>
        <p:nvSpPr>
          <p:cNvPr id="78" name="o77"/>
          <p:cNvSpPr/>
          <p:nvPr/>
        </p:nvSpPr>
        <p:spPr>
          <a:xfrm>
            <a:off x="10186416" y="4398264"/>
            <a:ext cx="68580" cy="146304"/>
          </a:xfrm>
          <a:prstGeom prst="rect">
            <a:avLst/>
          </a:prstGeom>
          <a:solidFill>
            <a:srgbClr val="FFE600"/>
          </a:solidFill>
          <a:ln/>
        </p:spPr>
      </p:sp>
      <p:sp>
        <p:nvSpPr>
          <p:cNvPr id="79" name="o78"/>
          <p:cNvSpPr/>
          <p:nvPr/>
        </p:nvSpPr>
        <p:spPr>
          <a:xfrm>
            <a:off x="10276942" y="4398264"/>
            <a:ext cx="68580" cy="146304"/>
          </a:xfrm>
          <a:prstGeom prst="rect">
            <a:avLst/>
          </a:prstGeom>
          <a:solidFill>
            <a:srgbClr val="FFE600"/>
          </a:solidFill>
          <a:ln/>
        </p:spPr>
      </p:sp>
      <p:sp>
        <p:nvSpPr>
          <p:cNvPr id="80" name="o79"/>
          <p:cNvSpPr/>
          <p:nvPr/>
        </p:nvSpPr>
        <p:spPr>
          <a:xfrm>
            <a:off x="10367467" y="4398264"/>
            <a:ext cx="68580" cy="146304"/>
          </a:xfrm>
          <a:prstGeom prst="rect">
            <a:avLst/>
          </a:prstGeom>
          <a:solidFill>
            <a:srgbClr val="FFE600"/>
          </a:solidFill>
          <a:ln/>
        </p:spPr>
      </p:sp>
      <p:sp>
        <p:nvSpPr>
          <p:cNvPr id="81" name="o80"/>
          <p:cNvSpPr/>
          <p:nvPr/>
        </p:nvSpPr>
        <p:spPr>
          <a:xfrm>
            <a:off x="10457993" y="4398264"/>
            <a:ext cx="68580" cy="146304"/>
          </a:xfrm>
          <a:prstGeom prst="rect">
            <a:avLst/>
          </a:prstGeom>
          <a:solidFill>
            <a:srgbClr val="FFE600"/>
          </a:solidFill>
          <a:ln/>
        </p:spPr>
      </p:sp>
      <p:sp>
        <p:nvSpPr>
          <p:cNvPr id="82" name="o81"/>
          <p:cNvSpPr/>
          <p:nvPr/>
        </p:nvSpPr>
        <p:spPr>
          <a:xfrm>
            <a:off x="10548518" y="4398264"/>
            <a:ext cx="68580" cy="146304"/>
          </a:xfrm>
          <a:prstGeom prst="rect">
            <a:avLst/>
          </a:prstGeom>
          <a:solidFill>
            <a:srgbClr val="FFE600"/>
          </a:solidFill>
          <a:ln/>
        </p:spPr>
      </p:sp>
      <p:sp>
        <p:nvSpPr>
          <p:cNvPr id="83" name="o82"/>
          <p:cNvSpPr/>
          <p:nvPr/>
        </p:nvSpPr>
        <p:spPr>
          <a:xfrm>
            <a:off x="10639044" y="4398264"/>
            <a:ext cx="68580" cy="146304"/>
          </a:xfrm>
          <a:prstGeom prst="rect">
            <a:avLst/>
          </a:prstGeom>
          <a:solidFill>
            <a:srgbClr val="FFE600"/>
          </a:solidFill>
          <a:ln/>
        </p:spPr>
      </p:sp>
      <p:sp>
        <p:nvSpPr>
          <p:cNvPr id="84" name="o83"/>
          <p:cNvSpPr/>
          <p:nvPr/>
        </p:nvSpPr>
        <p:spPr>
          <a:xfrm>
            <a:off x="10729570" y="4398264"/>
            <a:ext cx="68580" cy="146304"/>
          </a:xfrm>
          <a:prstGeom prst="rect">
            <a:avLst/>
          </a:prstGeom>
          <a:solidFill>
            <a:srgbClr val="FFE600"/>
          </a:solidFill>
          <a:ln/>
        </p:spPr>
      </p:sp>
      <p:sp>
        <p:nvSpPr>
          <p:cNvPr id="85" name="o84"/>
          <p:cNvSpPr/>
          <p:nvPr/>
        </p:nvSpPr>
        <p:spPr>
          <a:xfrm>
            <a:off x="10820095" y="4398264"/>
            <a:ext cx="68580" cy="146304"/>
          </a:xfrm>
          <a:prstGeom prst="rect">
            <a:avLst/>
          </a:prstGeom>
          <a:solidFill>
            <a:srgbClr val="FFE600"/>
          </a:solidFill>
          <a:ln/>
        </p:spPr>
      </p:sp>
      <p:sp>
        <p:nvSpPr>
          <p:cNvPr id="86" name="o85"/>
          <p:cNvSpPr/>
          <p:nvPr/>
        </p:nvSpPr>
        <p:spPr>
          <a:xfrm>
            <a:off x="10910621" y="4398264"/>
            <a:ext cx="68580" cy="146304"/>
          </a:xfrm>
          <a:prstGeom prst="rect">
            <a:avLst/>
          </a:prstGeom>
          <a:solidFill>
            <a:srgbClr val="FFE600"/>
          </a:solidFill>
          <a:ln/>
        </p:spPr>
      </p:sp>
      <p:sp>
        <p:nvSpPr>
          <p:cNvPr id="87" name="o86"/>
          <p:cNvSpPr/>
          <p:nvPr/>
        </p:nvSpPr>
        <p:spPr>
          <a:xfrm>
            <a:off x="11001146" y="4398264"/>
            <a:ext cx="68580" cy="146304"/>
          </a:xfrm>
          <a:prstGeom prst="rect">
            <a:avLst/>
          </a:prstGeom>
          <a:solidFill>
            <a:srgbClr val="FFE600"/>
          </a:solidFill>
          <a:ln/>
        </p:spPr>
      </p:sp>
      <p:sp>
        <p:nvSpPr>
          <p:cNvPr id="88" name="o87"/>
          <p:cNvSpPr txBox="1"/>
          <p:nvPr/>
        </p:nvSpPr>
        <p:spPr>
          <a:xfrm>
            <a:off x="11164824" y="4334256"/>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98</a:t>
            </a:r>
            <a:endParaRPr lang="en-US" sz="1300" dirty="0"/>
          </a:p>
        </p:txBody>
      </p:sp>
      <p:sp>
        <p:nvSpPr>
          <p:cNvPr id="89" name="o88"/>
          <p:cNvSpPr txBox="1"/>
          <p:nvPr/>
        </p:nvSpPr>
        <p:spPr>
          <a:xfrm>
            <a:off x="7406640" y="4764024"/>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Constance régionale</a:t>
            </a:r>
            <a:endParaRPr lang="en-US" sz="1300" dirty="0"/>
          </a:p>
        </p:txBody>
      </p:sp>
      <p:sp>
        <p:nvSpPr>
          <p:cNvPr id="90" name="o89"/>
          <p:cNvSpPr/>
          <p:nvPr/>
        </p:nvSpPr>
        <p:spPr>
          <a:xfrm>
            <a:off x="9281160" y="4828032"/>
            <a:ext cx="68580" cy="146304"/>
          </a:xfrm>
          <a:prstGeom prst="rect">
            <a:avLst/>
          </a:prstGeom>
          <a:solidFill>
            <a:srgbClr val="00FFFF"/>
          </a:solidFill>
          <a:ln/>
        </p:spPr>
      </p:sp>
      <p:sp>
        <p:nvSpPr>
          <p:cNvPr id="91" name="o90"/>
          <p:cNvSpPr/>
          <p:nvPr/>
        </p:nvSpPr>
        <p:spPr>
          <a:xfrm>
            <a:off x="9371686" y="4828032"/>
            <a:ext cx="68580" cy="146304"/>
          </a:xfrm>
          <a:prstGeom prst="rect">
            <a:avLst/>
          </a:prstGeom>
          <a:solidFill>
            <a:srgbClr val="00FFFF"/>
          </a:solidFill>
          <a:ln/>
        </p:spPr>
      </p:sp>
      <p:sp>
        <p:nvSpPr>
          <p:cNvPr id="92" name="o91"/>
          <p:cNvSpPr/>
          <p:nvPr/>
        </p:nvSpPr>
        <p:spPr>
          <a:xfrm>
            <a:off x="9462211" y="4828032"/>
            <a:ext cx="68580" cy="146304"/>
          </a:xfrm>
          <a:prstGeom prst="rect">
            <a:avLst/>
          </a:prstGeom>
          <a:solidFill>
            <a:srgbClr val="00FFFF"/>
          </a:solidFill>
          <a:ln/>
        </p:spPr>
      </p:sp>
      <p:sp>
        <p:nvSpPr>
          <p:cNvPr id="93" name="o92"/>
          <p:cNvSpPr/>
          <p:nvPr/>
        </p:nvSpPr>
        <p:spPr>
          <a:xfrm>
            <a:off x="9552737" y="4828032"/>
            <a:ext cx="68580" cy="146304"/>
          </a:xfrm>
          <a:prstGeom prst="rect">
            <a:avLst/>
          </a:prstGeom>
          <a:solidFill>
            <a:srgbClr val="00FFFF"/>
          </a:solidFill>
          <a:ln/>
        </p:spPr>
      </p:sp>
      <p:sp>
        <p:nvSpPr>
          <p:cNvPr id="94" name="o93"/>
          <p:cNvSpPr/>
          <p:nvPr/>
        </p:nvSpPr>
        <p:spPr>
          <a:xfrm>
            <a:off x="9643262" y="4828032"/>
            <a:ext cx="68580" cy="146304"/>
          </a:xfrm>
          <a:prstGeom prst="rect">
            <a:avLst/>
          </a:prstGeom>
          <a:solidFill>
            <a:srgbClr val="00FFFF"/>
          </a:solidFill>
          <a:ln/>
        </p:spPr>
      </p:sp>
      <p:sp>
        <p:nvSpPr>
          <p:cNvPr id="95" name="o94"/>
          <p:cNvSpPr/>
          <p:nvPr/>
        </p:nvSpPr>
        <p:spPr>
          <a:xfrm>
            <a:off x="9733788" y="4828032"/>
            <a:ext cx="68580" cy="146304"/>
          </a:xfrm>
          <a:prstGeom prst="rect">
            <a:avLst/>
          </a:prstGeom>
          <a:solidFill>
            <a:srgbClr val="00FFFF"/>
          </a:solidFill>
          <a:ln/>
        </p:spPr>
      </p:sp>
      <p:sp>
        <p:nvSpPr>
          <p:cNvPr id="96" name="o95"/>
          <p:cNvSpPr/>
          <p:nvPr/>
        </p:nvSpPr>
        <p:spPr>
          <a:xfrm>
            <a:off x="9824314" y="4828032"/>
            <a:ext cx="68580" cy="146304"/>
          </a:xfrm>
          <a:prstGeom prst="rect">
            <a:avLst/>
          </a:prstGeom>
          <a:solidFill>
            <a:srgbClr val="00FFFF"/>
          </a:solidFill>
          <a:ln/>
        </p:spPr>
      </p:sp>
      <p:sp>
        <p:nvSpPr>
          <p:cNvPr id="97" name="o96"/>
          <p:cNvSpPr/>
          <p:nvPr/>
        </p:nvSpPr>
        <p:spPr>
          <a:xfrm>
            <a:off x="9914839" y="4828032"/>
            <a:ext cx="68580" cy="146304"/>
          </a:xfrm>
          <a:prstGeom prst="rect">
            <a:avLst/>
          </a:prstGeom>
          <a:solidFill>
            <a:srgbClr val="00FFFF"/>
          </a:solidFill>
          <a:ln/>
        </p:spPr>
      </p:sp>
      <p:sp>
        <p:nvSpPr>
          <p:cNvPr id="98" name="o97"/>
          <p:cNvSpPr/>
          <p:nvPr/>
        </p:nvSpPr>
        <p:spPr>
          <a:xfrm>
            <a:off x="10005365" y="4828032"/>
            <a:ext cx="68580" cy="146304"/>
          </a:xfrm>
          <a:prstGeom prst="rect">
            <a:avLst/>
          </a:prstGeom>
          <a:solidFill>
            <a:srgbClr val="00FFFF"/>
          </a:solidFill>
          <a:ln/>
        </p:spPr>
      </p:sp>
      <p:sp>
        <p:nvSpPr>
          <p:cNvPr id="99" name="o98"/>
          <p:cNvSpPr/>
          <p:nvPr/>
        </p:nvSpPr>
        <p:spPr>
          <a:xfrm>
            <a:off x="10095890" y="4828032"/>
            <a:ext cx="68580" cy="146304"/>
          </a:xfrm>
          <a:prstGeom prst="rect">
            <a:avLst/>
          </a:prstGeom>
          <a:solidFill>
            <a:srgbClr val="00FFFF"/>
          </a:solidFill>
          <a:ln/>
        </p:spPr>
      </p:sp>
      <p:sp>
        <p:nvSpPr>
          <p:cNvPr id="100" name="o99"/>
          <p:cNvSpPr/>
          <p:nvPr/>
        </p:nvSpPr>
        <p:spPr>
          <a:xfrm>
            <a:off x="10186416" y="4828032"/>
            <a:ext cx="68580" cy="146304"/>
          </a:xfrm>
          <a:prstGeom prst="rect">
            <a:avLst/>
          </a:prstGeom>
          <a:solidFill>
            <a:srgbClr val="00FFFF"/>
          </a:solidFill>
          <a:ln/>
        </p:spPr>
      </p:sp>
      <p:sp>
        <p:nvSpPr>
          <p:cNvPr id="101" name="o100"/>
          <p:cNvSpPr/>
          <p:nvPr/>
        </p:nvSpPr>
        <p:spPr>
          <a:xfrm>
            <a:off x="10276942" y="4828032"/>
            <a:ext cx="68580" cy="146304"/>
          </a:xfrm>
          <a:prstGeom prst="rect">
            <a:avLst/>
          </a:prstGeom>
          <a:solidFill>
            <a:srgbClr val="00FFFF"/>
          </a:solidFill>
          <a:ln/>
        </p:spPr>
      </p:sp>
      <p:sp>
        <p:nvSpPr>
          <p:cNvPr id="102" name="o101"/>
          <p:cNvSpPr/>
          <p:nvPr/>
        </p:nvSpPr>
        <p:spPr>
          <a:xfrm>
            <a:off x="10367467" y="4828032"/>
            <a:ext cx="68580" cy="146304"/>
          </a:xfrm>
          <a:prstGeom prst="rect">
            <a:avLst/>
          </a:prstGeom>
          <a:solidFill>
            <a:srgbClr val="00FFFF"/>
          </a:solidFill>
          <a:ln/>
        </p:spPr>
      </p:sp>
      <p:sp>
        <p:nvSpPr>
          <p:cNvPr id="103" name="o102"/>
          <p:cNvSpPr/>
          <p:nvPr/>
        </p:nvSpPr>
        <p:spPr>
          <a:xfrm>
            <a:off x="10457993" y="4828032"/>
            <a:ext cx="68580" cy="146304"/>
          </a:xfrm>
          <a:prstGeom prst="rect">
            <a:avLst/>
          </a:prstGeom>
          <a:solidFill>
            <a:srgbClr val="00FFFF"/>
          </a:solidFill>
          <a:ln/>
        </p:spPr>
      </p:sp>
      <p:sp>
        <p:nvSpPr>
          <p:cNvPr id="104" name="o103"/>
          <p:cNvSpPr/>
          <p:nvPr/>
        </p:nvSpPr>
        <p:spPr>
          <a:xfrm>
            <a:off x="10548518" y="4828032"/>
            <a:ext cx="68580" cy="146304"/>
          </a:xfrm>
          <a:prstGeom prst="rect">
            <a:avLst/>
          </a:prstGeom>
          <a:solidFill>
            <a:srgbClr val="00FFFF"/>
          </a:solidFill>
          <a:ln/>
        </p:spPr>
      </p:sp>
      <p:sp>
        <p:nvSpPr>
          <p:cNvPr id="105" name="o104"/>
          <p:cNvSpPr/>
          <p:nvPr/>
        </p:nvSpPr>
        <p:spPr>
          <a:xfrm>
            <a:off x="10639044" y="4828032"/>
            <a:ext cx="68580" cy="146304"/>
          </a:xfrm>
          <a:prstGeom prst="rect">
            <a:avLst/>
          </a:prstGeom>
          <a:solidFill>
            <a:srgbClr val="00FFFF"/>
          </a:solidFill>
          <a:ln/>
        </p:spPr>
      </p:sp>
      <p:sp>
        <p:nvSpPr>
          <p:cNvPr id="106" name="o105"/>
          <p:cNvSpPr/>
          <p:nvPr/>
        </p:nvSpPr>
        <p:spPr>
          <a:xfrm>
            <a:off x="10729570" y="4828032"/>
            <a:ext cx="68580" cy="146304"/>
          </a:xfrm>
          <a:prstGeom prst="rect">
            <a:avLst/>
          </a:prstGeom>
          <a:solidFill>
            <a:srgbClr val="00FFFF"/>
          </a:solidFill>
          <a:ln/>
        </p:spPr>
      </p:sp>
      <p:sp>
        <p:nvSpPr>
          <p:cNvPr id="107" name="o106"/>
          <p:cNvSpPr/>
          <p:nvPr/>
        </p:nvSpPr>
        <p:spPr>
          <a:xfrm>
            <a:off x="10820095" y="4828032"/>
            <a:ext cx="68580" cy="146304"/>
          </a:xfrm>
          <a:prstGeom prst="rect">
            <a:avLst/>
          </a:prstGeom>
          <a:solidFill>
            <a:srgbClr val="1A1A4A"/>
          </a:solidFill>
          <a:ln/>
        </p:spPr>
      </p:sp>
      <p:sp>
        <p:nvSpPr>
          <p:cNvPr id="108" name="o107"/>
          <p:cNvSpPr/>
          <p:nvPr/>
        </p:nvSpPr>
        <p:spPr>
          <a:xfrm>
            <a:off x="10910621" y="4828032"/>
            <a:ext cx="68580" cy="146304"/>
          </a:xfrm>
          <a:prstGeom prst="rect">
            <a:avLst/>
          </a:prstGeom>
          <a:solidFill>
            <a:srgbClr val="1A1A4A"/>
          </a:solidFill>
          <a:ln/>
        </p:spPr>
      </p:sp>
      <p:sp>
        <p:nvSpPr>
          <p:cNvPr id="109" name="o108"/>
          <p:cNvSpPr/>
          <p:nvPr/>
        </p:nvSpPr>
        <p:spPr>
          <a:xfrm>
            <a:off x="11001146" y="4828032"/>
            <a:ext cx="68580" cy="146304"/>
          </a:xfrm>
          <a:prstGeom prst="rect">
            <a:avLst/>
          </a:prstGeom>
          <a:solidFill>
            <a:srgbClr val="1A1A4A"/>
          </a:solidFill>
          <a:ln/>
        </p:spPr>
      </p:sp>
      <p:sp>
        <p:nvSpPr>
          <p:cNvPr id="110" name="o109"/>
          <p:cNvSpPr txBox="1"/>
          <p:nvPr/>
        </p:nvSpPr>
        <p:spPr>
          <a:xfrm>
            <a:off x="11164824" y="4764024"/>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86</a:t>
            </a:r>
            <a:endParaRPr lang="en-US" sz="1300" dirty="0"/>
          </a:p>
        </p:txBody>
      </p:sp>
      <p:sp>
        <p:nvSpPr>
          <p:cNvPr id="111" name="o110"/>
          <p:cNvSpPr txBox="1"/>
          <p:nvPr/>
        </p:nvSpPr>
        <p:spPr>
          <a:xfrm>
            <a:off x="7406640" y="5193792"/>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Taux de hits</a:t>
            </a:r>
            <a:endParaRPr lang="en-US" sz="1300" dirty="0"/>
          </a:p>
        </p:txBody>
      </p:sp>
      <p:sp>
        <p:nvSpPr>
          <p:cNvPr id="112" name="o111"/>
          <p:cNvSpPr/>
          <p:nvPr/>
        </p:nvSpPr>
        <p:spPr>
          <a:xfrm>
            <a:off x="9281160" y="5257800"/>
            <a:ext cx="68580" cy="146304"/>
          </a:xfrm>
          <a:prstGeom prst="rect">
            <a:avLst/>
          </a:prstGeom>
          <a:solidFill>
            <a:srgbClr val="00FFFF"/>
          </a:solidFill>
          <a:ln/>
        </p:spPr>
      </p:sp>
      <p:sp>
        <p:nvSpPr>
          <p:cNvPr id="113" name="o112"/>
          <p:cNvSpPr/>
          <p:nvPr/>
        </p:nvSpPr>
        <p:spPr>
          <a:xfrm>
            <a:off x="9371686" y="5257800"/>
            <a:ext cx="68580" cy="146304"/>
          </a:xfrm>
          <a:prstGeom prst="rect">
            <a:avLst/>
          </a:prstGeom>
          <a:solidFill>
            <a:srgbClr val="00FFFF"/>
          </a:solidFill>
          <a:ln/>
        </p:spPr>
      </p:sp>
      <p:sp>
        <p:nvSpPr>
          <p:cNvPr id="114" name="o113"/>
          <p:cNvSpPr/>
          <p:nvPr/>
        </p:nvSpPr>
        <p:spPr>
          <a:xfrm>
            <a:off x="9462211" y="5257800"/>
            <a:ext cx="68580" cy="146304"/>
          </a:xfrm>
          <a:prstGeom prst="rect">
            <a:avLst/>
          </a:prstGeom>
          <a:solidFill>
            <a:srgbClr val="00FFFF"/>
          </a:solidFill>
          <a:ln/>
        </p:spPr>
      </p:sp>
      <p:sp>
        <p:nvSpPr>
          <p:cNvPr id="115" name="o114"/>
          <p:cNvSpPr/>
          <p:nvPr/>
        </p:nvSpPr>
        <p:spPr>
          <a:xfrm>
            <a:off x="9552737" y="5257800"/>
            <a:ext cx="68580" cy="146304"/>
          </a:xfrm>
          <a:prstGeom prst="rect">
            <a:avLst/>
          </a:prstGeom>
          <a:solidFill>
            <a:srgbClr val="00FFFF"/>
          </a:solidFill>
          <a:ln/>
        </p:spPr>
      </p:sp>
      <p:sp>
        <p:nvSpPr>
          <p:cNvPr id="116" name="o115"/>
          <p:cNvSpPr/>
          <p:nvPr/>
        </p:nvSpPr>
        <p:spPr>
          <a:xfrm>
            <a:off x="9643262" y="5257800"/>
            <a:ext cx="68580" cy="146304"/>
          </a:xfrm>
          <a:prstGeom prst="rect">
            <a:avLst/>
          </a:prstGeom>
          <a:solidFill>
            <a:srgbClr val="00FFFF"/>
          </a:solidFill>
          <a:ln/>
        </p:spPr>
      </p:sp>
      <p:sp>
        <p:nvSpPr>
          <p:cNvPr id="117" name="o116"/>
          <p:cNvSpPr/>
          <p:nvPr/>
        </p:nvSpPr>
        <p:spPr>
          <a:xfrm>
            <a:off x="9733788" y="5257800"/>
            <a:ext cx="68580" cy="146304"/>
          </a:xfrm>
          <a:prstGeom prst="rect">
            <a:avLst/>
          </a:prstGeom>
          <a:solidFill>
            <a:srgbClr val="00FFFF"/>
          </a:solidFill>
          <a:ln/>
        </p:spPr>
      </p:sp>
      <p:sp>
        <p:nvSpPr>
          <p:cNvPr id="118" name="o117"/>
          <p:cNvSpPr/>
          <p:nvPr/>
        </p:nvSpPr>
        <p:spPr>
          <a:xfrm>
            <a:off x="9824314" y="5257800"/>
            <a:ext cx="68580" cy="146304"/>
          </a:xfrm>
          <a:prstGeom prst="rect">
            <a:avLst/>
          </a:prstGeom>
          <a:solidFill>
            <a:srgbClr val="00FFFF"/>
          </a:solidFill>
          <a:ln/>
        </p:spPr>
      </p:sp>
      <p:sp>
        <p:nvSpPr>
          <p:cNvPr id="119" name="o118"/>
          <p:cNvSpPr/>
          <p:nvPr/>
        </p:nvSpPr>
        <p:spPr>
          <a:xfrm>
            <a:off x="9914839" y="5257800"/>
            <a:ext cx="68580" cy="146304"/>
          </a:xfrm>
          <a:prstGeom prst="rect">
            <a:avLst/>
          </a:prstGeom>
          <a:solidFill>
            <a:srgbClr val="00FFFF"/>
          </a:solidFill>
          <a:ln/>
        </p:spPr>
      </p:sp>
      <p:sp>
        <p:nvSpPr>
          <p:cNvPr id="120" name="o119"/>
          <p:cNvSpPr/>
          <p:nvPr/>
        </p:nvSpPr>
        <p:spPr>
          <a:xfrm>
            <a:off x="10005365" y="5257800"/>
            <a:ext cx="68580" cy="146304"/>
          </a:xfrm>
          <a:prstGeom prst="rect">
            <a:avLst/>
          </a:prstGeom>
          <a:solidFill>
            <a:srgbClr val="00FFFF"/>
          </a:solidFill>
          <a:ln/>
        </p:spPr>
      </p:sp>
      <p:sp>
        <p:nvSpPr>
          <p:cNvPr id="121" name="o120"/>
          <p:cNvSpPr/>
          <p:nvPr/>
        </p:nvSpPr>
        <p:spPr>
          <a:xfrm>
            <a:off x="10095890" y="5257800"/>
            <a:ext cx="68580" cy="146304"/>
          </a:xfrm>
          <a:prstGeom prst="rect">
            <a:avLst/>
          </a:prstGeom>
          <a:solidFill>
            <a:srgbClr val="00FFFF"/>
          </a:solidFill>
          <a:ln/>
        </p:spPr>
      </p:sp>
      <p:sp>
        <p:nvSpPr>
          <p:cNvPr id="122" name="o121"/>
          <p:cNvSpPr/>
          <p:nvPr/>
        </p:nvSpPr>
        <p:spPr>
          <a:xfrm>
            <a:off x="10186416" y="5257800"/>
            <a:ext cx="68580" cy="146304"/>
          </a:xfrm>
          <a:prstGeom prst="rect">
            <a:avLst/>
          </a:prstGeom>
          <a:solidFill>
            <a:srgbClr val="00FFFF"/>
          </a:solidFill>
          <a:ln/>
        </p:spPr>
      </p:sp>
      <p:sp>
        <p:nvSpPr>
          <p:cNvPr id="123" name="o122"/>
          <p:cNvSpPr/>
          <p:nvPr/>
        </p:nvSpPr>
        <p:spPr>
          <a:xfrm>
            <a:off x="10276942" y="5257800"/>
            <a:ext cx="68580" cy="146304"/>
          </a:xfrm>
          <a:prstGeom prst="rect">
            <a:avLst/>
          </a:prstGeom>
          <a:solidFill>
            <a:srgbClr val="00FFFF"/>
          </a:solidFill>
          <a:ln/>
        </p:spPr>
      </p:sp>
      <p:sp>
        <p:nvSpPr>
          <p:cNvPr id="124" name="o123"/>
          <p:cNvSpPr/>
          <p:nvPr/>
        </p:nvSpPr>
        <p:spPr>
          <a:xfrm>
            <a:off x="10367467" y="5257800"/>
            <a:ext cx="68580" cy="146304"/>
          </a:xfrm>
          <a:prstGeom prst="rect">
            <a:avLst/>
          </a:prstGeom>
          <a:solidFill>
            <a:srgbClr val="00FFFF"/>
          </a:solidFill>
          <a:ln/>
        </p:spPr>
      </p:sp>
      <p:sp>
        <p:nvSpPr>
          <p:cNvPr id="125" name="o124"/>
          <p:cNvSpPr/>
          <p:nvPr/>
        </p:nvSpPr>
        <p:spPr>
          <a:xfrm>
            <a:off x="10457993" y="5257800"/>
            <a:ext cx="68580" cy="146304"/>
          </a:xfrm>
          <a:prstGeom prst="rect">
            <a:avLst/>
          </a:prstGeom>
          <a:solidFill>
            <a:srgbClr val="00FFFF"/>
          </a:solidFill>
          <a:ln/>
        </p:spPr>
      </p:sp>
      <p:sp>
        <p:nvSpPr>
          <p:cNvPr id="126" name="o125"/>
          <p:cNvSpPr/>
          <p:nvPr/>
        </p:nvSpPr>
        <p:spPr>
          <a:xfrm>
            <a:off x="10548518" y="5257800"/>
            <a:ext cx="68580" cy="146304"/>
          </a:xfrm>
          <a:prstGeom prst="rect">
            <a:avLst/>
          </a:prstGeom>
          <a:solidFill>
            <a:srgbClr val="00FFFF"/>
          </a:solidFill>
          <a:ln/>
        </p:spPr>
      </p:sp>
      <p:sp>
        <p:nvSpPr>
          <p:cNvPr id="127" name="o126"/>
          <p:cNvSpPr/>
          <p:nvPr/>
        </p:nvSpPr>
        <p:spPr>
          <a:xfrm>
            <a:off x="10639044" y="5257800"/>
            <a:ext cx="68580" cy="146304"/>
          </a:xfrm>
          <a:prstGeom prst="rect">
            <a:avLst/>
          </a:prstGeom>
          <a:solidFill>
            <a:srgbClr val="00FFFF"/>
          </a:solidFill>
          <a:ln/>
        </p:spPr>
      </p:sp>
      <p:sp>
        <p:nvSpPr>
          <p:cNvPr id="128" name="o127"/>
          <p:cNvSpPr/>
          <p:nvPr/>
        </p:nvSpPr>
        <p:spPr>
          <a:xfrm>
            <a:off x="10729570" y="5257800"/>
            <a:ext cx="68580" cy="146304"/>
          </a:xfrm>
          <a:prstGeom prst="rect">
            <a:avLst/>
          </a:prstGeom>
          <a:solidFill>
            <a:srgbClr val="00FFFF"/>
          </a:solidFill>
          <a:ln/>
        </p:spPr>
      </p:sp>
      <p:sp>
        <p:nvSpPr>
          <p:cNvPr id="129" name="o128"/>
          <p:cNvSpPr/>
          <p:nvPr/>
        </p:nvSpPr>
        <p:spPr>
          <a:xfrm>
            <a:off x="10820095" y="5257800"/>
            <a:ext cx="68580" cy="146304"/>
          </a:xfrm>
          <a:prstGeom prst="rect">
            <a:avLst/>
          </a:prstGeom>
          <a:solidFill>
            <a:srgbClr val="00FFFF"/>
          </a:solidFill>
          <a:ln/>
        </p:spPr>
      </p:sp>
      <p:sp>
        <p:nvSpPr>
          <p:cNvPr id="130" name="o129"/>
          <p:cNvSpPr/>
          <p:nvPr/>
        </p:nvSpPr>
        <p:spPr>
          <a:xfrm>
            <a:off x="10910621" y="5257800"/>
            <a:ext cx="68580" cy="146304"/>
          </a:xfrm>
          <a:prstGeom prst="rect">
            <a:avLst/>
          </a:prstGeom>
          <a:solidFill>
            <a:srgbClr val="00FFFF"/>
          </a:solidFill>
          <a:ln/>
        </p:spPr>
      </p:sp>
      <p:sp>
        <p:nvSpPr>
          <p:cNvPr id="131" name="o130"/>
          <p:cNvSpPr/>
          <p:nvPr/>
        </p:nvSpPr>
        <p:spPr>
          <a:xfrm>
            <a:off x="11001146" y="5257800"/>
            <a:ext cx="68580" cy="146304"/>
          </a:xfrm>
          <a:prstGeom prst="rect">
            <a:avLst/>
          </a:prstGeom>
          <a:solidFill>
            <a:srgbClr val="1A1A4A"/>
          </a:solidFill>
          <a:ln/>
        </p:spPr>
      </p:sp>
      <p:sp>
        <p:nvSpPr>
          <p:cNvPr id="132" name="o131"/>
          <p:cNvSpPr txBox="1"/>
          <p:nvPr/>
        </p:nvSpPr>
        <p:spPr>
          <a:xfrm>
            <a:off x="11164824" y="5193792"/>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94</a:t>
            </a:r>
            <a:endParaRPr lang="en-US" sz="1300" dirty="0"/>
          </a:p>
        </p:txBody>
      </p:sp>
      <p:sp>
        <p:nvSpPr>
          <p:cNvPr id="133" name="o132"/>
          <p:cNvSpPr txBox="1"/>
          <p:nvPr/>
        </p:nvSpPr>
        <p:spPr>
          <a:xfrm>
            <a:off x="7406640" y="5486400"/>
            <a:ext cx="3913632" cy="384048"/>
          </a:xfrm>
          <a:prstGeom prst="rect">
            <a:avLst/>
          </a:prstGeom>
          <a:noFill/>
          <a:ln/>
        </p:spPr>
        <p:txBody>
          <a:bodyPr wrap="square" lIns="0" tIns="0" rIns="0" bIns="0" rtlCol="0" anchor="t"/>
          <a:lstStyle/>
          <a:p>
            <a:pPr marL="0" indent="0">
              <a:buNone/>
            </a:pPr>
            <a:r>
              <a:rPr lang="en-US" sz="1200" dirty="0">
                <a:solidFill>
                  <a:srgbClr val="FFE600"/>
                </a:solidFill>
                <a:latin typeface="Arial" pitchFamily="34" charset="0"/>
                <a:ea typeface="Arial" pitchFamily="34" charset="-122"/>
                <a:cs typeface="Arial" pitchFamily="34" charset="-120"/>
              </a:rPr>
              <a:t>1er dans 100 % des pondérations testées · 20 % des ventes · 10/10 des jeux les plus vendus</a:t>
            </a:r>
            <a:endParaRPr lang="en-US" sz="1200" dirty="0"/>
          </a:p>
        </p:txBody>
      </p:sp>
      <p:pic>
        <p:nvPicPr>
          <p:cNvPr id="375" name="barre_fantome" descr="image.gif"/>
          <p:cNvPicPr>
            <a:picLocks noChangeAspect="1"/>
          </p:cNvPicPr>
          <p:nvPr/>
        </p:nvPicPr>
        <p:blipFill>
          <a:blip r:embed="rId8"/>
          <a:stretch>
            <a:fillRect/>
          </a:stretch>
        </p:blipFill>
        <p:spPr>
          <a:xfrm>
            <a:off x="3855555" y="6291072"/>
            <a:ext cx="310896" cy="310896"/>
          </a:xfrm>
          <a:prstGeom prst="rect">
            <a:avLst/>
          </a:prstGeom>
        </p:spPr>
      </p:pic>
      <p:pic>
        <p:nvPicPr>
          <p:cNvPr id="376" name="barre_pacman" descr="image.gif"/>
          <p:cNvPicPr>
            <a:picLocks noChangeAspect="1"/>
          </p:cNvPicPr>
          <p:nvPr/>
        </p:nvPicPr>
        <p:blipFill>
          <a:blip r:embed="rId7"/>
          <a:stretch>
            <a:fillRect/>
          </a:stretch>
        </p:blipFill>
        <p:spPr>
          <a:xfrm>
            <a:off x="4422483" y="6291072"/>
            <a:ext cx="310896" cy="310896"/>
          </a:xfrm>
          <a:prstGeom prst="rect">
            <a:avLst/>
          </a:prstGeom>
        </p:spPr>
      </p:pic>
      <p:sp>
        <p:nvSpPr>
          <p:cNvPr id="377"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7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376"/>
                                        </p:tgtEl>
                                        <p:attrNameLst>
                                          <p:attrName>ppt_x</p:attrName>
                                          <p:attrName>ppt_y</p:attrName>
                                        </p:attrNameLst>
                                      </p:cBhvr>
                                    </p:animMotion>
                                  </p:childTnLst>
                                </p:cTn>
                              </p:par>
                              <p:par>
                                <p:cTn id="9" presetID="1" presetClass="exit" presetSubtype="0" fill="hold" nodeType="withEffect">
                                  <p:stCondLst>
                                    <p:cond delay="350"/>
                                  </p:stCondLst>
                                  <p:childTnLst>
                                    <p:set>
                                      <p:cBhvr>
                                        <p:cTn id="10" dur="1" fill="hold">
                                          <p:stCondLst>
                                            <p:cond delay="0"/>
                                          </p:stCondLst>
                                        </p:cTn>
                                        <p:tgtEl>
                                          <p:spTgt spid="377"/>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nodeType="withEffect">
                                  <p:stCondLst>
                                    <p:cond delay="30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nodeType="withEffect">
                                  <p:stCondLst>
                                    <p:cond delay="30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nodeType="withEffect">
                                  <p:stCondLst>
                                    <p:cond delay="6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60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nodeType="withEffect">
                                  <p:stCondLst>
                                    <p:cond delay="60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nodeType="withEffect">
                                  <p:stCondLst>
                                    <p:cond delay="6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6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nodeType="withEffect">
                                  <p:stCondLst>
                                    <p:cond delay="60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nodeType="withEffect">
                                  <p:stCondLst>
                                    <p:cond delay="100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nodeType="withEffect">
                                  <p:stCondLst>
                                    <p:cond delay="100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nodeType="withEffect">
                                  <p:stCondLst>
                                    <p:cond delay="100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nodeType="withEffect">
                                  <p:stCondLst>
                                    <p:cond delay="10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nodeType="withEffect">
                                  <p:stCondLst>
                                    <p:cond delay="100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nodeType="withEffect">
                                  <p:stCondLst>
                                    <p:cond delay="100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nodeType="withEffect">
                                  <p:stCondLst>
                                    <p:cond delay="100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nodeType="withEffect">
                                  <p:stCondLst>
                                    <p:cond delay="100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nodeType="withEffect">
                                  <p:stCondLst>
                                    <p:cond delay="100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nodeType="withEffect">
                                  <p:stCondLst>
                                    <p:cond delay="100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nodeType="withEffect">
                                  <p:stCondLst>
                                    <p:cond delay="100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nodeType="withEffect">
                                  <p:stCondLst>
                                    <p:cond delay="100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nodeType="withEffect">
                                  <p:stCondLst>
                                    <p:cond delay="100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par>
                                <p:cTn id="77" presetID="10" presetClass="entr" presetSubtype="0" fill="hold" nodeType="withEffect">
                                  <p:stCondLst>
                                    <p:cond delay="100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400"/>
                                        <p:tgtEl>
                                          <p:spTgt spid="36"/>
                                        </p:tgtEl>
                                      </p:cBhvr>
                                    </p:animEffect>
                                  </p:childTnLst>
                                </p:cTn>
                              </p:par>
                              <p:par>
                                <p:cTn id="80" presetID="10" presetClass="entr" presetSubtype="0" fill="hold" nodeType="withEffect">
                                  <p:stCondLst>
                                    <p:cond delay="1000"/>
                                  </p:stCondLst>
                                  <p:childTnLst>
                                    <p:set>
                                      <p:cBhvr>
                                        <p:cTn id="81" dur="1" fill="hold">
                                          <p:stCondLst>
                                            <p:cond delay="0"/>
                                          </p:stCondLst>
                                        </p:cTn>
                                        <p:tgtEl>
                                          <p:spTgt spid="37"/>
                                        </p:tgtEl>
                                        <p:attrNameLst>
                                          <p:attrName>style.visibility</p:attrName>
                                        </p:attrNameLst>
                                      </p:cBhvr>
                                      <p:to>
                                        <p:strVal val="visible"/>
                                      </p:to>
                                    </p:set>
                                    <p:animEffect transition="in" filter="fade">
                                      <p:cBhvr>
                                        <p:cTn id="82" dur="400"/>
                                        <p:tgtEl>
                                          <p:spTgt spid="37"/>
                                        </p:tgtEl>
                                      </p:cBhvr>
                                    </p:animEffect>
                                  </p:childTnLst>
                                </p:cTn>
                              </p:par>
                              <p:par>
                                <p:cTn id="83" presetID="10" presetClass="entr" presetSubtype="0" fill="hold" nodeType="withEffect">
                                  <p:stCondLst>
                                    <p:cond delay="1000"/>
                                  </p:stCondLst>
                                  <p:childTnLst>
                                    <p:set>
                                      <p:cBhvr>
                                        <p:cTn id="84" dur="1" fill="hold">
                                          <p:stCondLst>
                                            <p:cond delay="0"/>
                                          </p:stCondLst>
                                        </p:cTn>
                                        <p:tgtEl>
                                          <p:spTgt spid="38"/>
                                        </p:tgtEl>
                                        <p:attrNameLst>
                                          <p:attrName>style.visibility</p:attrName>
                                        </p:attrNameLst>
                                      </p:cBhvr>
                                      <p:to>
                                        <p:strVal val="visible"/>
                                      </p:to>
                                    </p:set>
                                    <p:animEffect transition="in" filter="fade">
                                      <p:cBhvr>
                                        <p:cTn id="85" dur="400"/>
                                        <p:tgtEl>
                                          <p:spTgt spid="38"/>
                                        </p:tgtEl>
                                      </p:cBhvr>
                                    </p:animEffect>
                                  </p:childTnLst>
                                </p:cTn>
                              </p:par>
                              <p:par>
                                <p:cTn id="86" presetID="10" presetClass="entr" presetSubtype="0" fill="hold" nodeType="withEffect">
                                  <p:stCondLst>
                                    <p:cond delay="10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0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0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0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0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0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25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25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25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00"/>
                                        <p:tgtEl>
                                          <p:spTgt spid="47"/>
                                        </p:tgtEl>
                                      </p:cBhvr>
                                    </p:animEffect>
                                  </p:childTnLst>
                                </p:cTn>
                              </p:par>
                              <p:par>
                                <p:cTn id="113" presetID="10" presetClass="entr" presetSubtype="0" fill="hold" nodeType="withEffect">
                                  <p:stCondLst>
                                    <p:cond delay="1250"/>
                                  </p:stCondLst>
                                  <p:childTnLst>
                                    <p:set>
                                      <p:cBhvr>
                                        <p:cTn id="114" dur="1" fill="hold">
                                          <p:stCondLst>
                                            <p:cond delay="0"/>
                                          </p:stCondLst>
                                        </p:cTn>
                                        <p:tgtEl>
                                          <p:spTgt spid="48"/>
                                        </p:tgtEl>
                                        <p:attrNameLst>
                                          <p:attrName>style.visibility</p:attrName>
                                        </p:attrNameLst>
                                      </p:cBhvr>
                                      <p:to>
                                        <p:strVal val="visible"/>
                                      </p:to>
                                    </p:set>
                                    <p:animEffect transition="in" filter="fade">
                                      <p:cBhvr>
                                        <p:cTn id="115" dur="400"/>
                                        <p:tgtEl>
                                          <p:spTgt spid="48"/>
                                        </p:tgtEl>
                                      </p:cBhvr>
                                    </p:animEffect>
                                  </p:childTnLst>
                                </p:cTn>
                              </p:par>
                              <p:par>
                                <p:cTn id="116" presetID="10" presetClass="entr" presetSubtype="0" fill="hold" nodeType="withEffect">
                                  <p:stCondLst>
                                    <p:cond delay="125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400"/>
                                        <p:tgtEl>
                                          <p:spTgt spid="49"/>
                                        </p:tgtEl>
                                      </p:cBhvr>
                                    </p:animEffect>
                                  </p:childTnLst>
                                </p:cTn>
                              </p:par>
                              <p:par>
                                <p:cTn id="119" presetID="10" presetClass="entr" presetSubtype="0" fill="hold" nodeType="withEffect">
                                  <p:stCondLst>
                                    <p:cond delay="1250"/>
                                  </p:stCondLst>
                                  <p:childTnLst>
                                    <p:set>
                                      <p:cBhvr>
                                        <p:cTn id="120" dur="1" fill="hold">
                                          <p:stCondLst>
                                            <p:cond delay="0"/>
                                          </p:stCondLst>
                                        </p:cTn>
                                        <p:tgtEl>
                                          <p:spTgt spid="50"/>
                                        </p:tgtEl>
                                        <p:attrNameLst>
                                          <p:attrName>style.visibility</p:attrName>
                                        </p:attrNameLst>
                                      </p:cBhvr>
                                      <p:to>
                                        <p:strVal val="visible"/>
                                      </p:to>
                                    </p:set>
                                    <p:animEffect transition="in" filter="fade">
                                      <p:cBhvr>
                                        <p:cTn id="121" dur="400"/>
                                        <p:tgtEl>
                                          <p:spTgt spid="50"/>
                                        </p:tgtEl>
                                      </p:cBhvr>
                                    </p:animEffect>
                                  </p:childTnLst>
                                </p:cTn>
                              </p:par>
                              <p:par>
                                <p:cTn id="122" presetID="10" presetClass="entr" presetSubtype="0" fill="hold" nodeType="withEffect">
                                  <p:stCondLst>
                                    <p:cond delay="125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4" dur="400"/>
                                        <p:tgtEl>
                                          <p:spTgt spid="51"/>
                                        </p:tgtEl>
                                      </p:cBhvr>
                                    </p:animEffect>
                                  </p:childTnLst>
                                </p:cTn>
                              </p:par>
                              <p:par>
                                <p:cTn id="125" presetID="10" presetClass="entr" presetSubtype="0" fill="hold" nodeType="withEffect">
                                  <p:stCondLst>
                                    <p:cond delay="1250"/>
                                  </p:stCondLst>
                                  <p:childTnLst>
                                    <p:set>
                                      <p:cBhvr>
                                        <p:cTn id="126" dur="1" fill="hold">
                                          <p:stCondLst>
                                            <p:cond delay="0"/>
                                          </p:stCondLst>
                                        </p:cTn>
                                        <p:tgtEl>
                                          <p:spTgt spid="52"/>
                                        </p:tgtEl>
                                        <p:attrNameLst>
                                          <p:attrName>style.visibility</p:attrName>
                                        </p:attrNameLst>
                                      </p:cBhvr>
                                      <p:to>
                                        <p:strVal val="visible"/>
                                      </p:to>
                                    </p:set>
                                    <p:animEffect transition="in" filter="fade">
                                      <p:cBhvr>
                                        <p:cTn id="127" dur="400"/>
                                        <p:tgtEl>
                                          <p:spTgt spid="52"/>
                                        </p:tgtEl>
                                      </p:cBhvr>
                                    </p:animEffect>
                                  </p:childTnLst>
                                </p:cTn>
                              </p:par>
                              <p:par>
                                <p:cTn id="128" presetID="10" presetClass="entr" presetSubtype="0" fill="hold" nodeType="withEffect">
                                  <p:stCondLst>
                                    <p:cond delay="1250"/>
                                  </p:stCondLst>
                                  <p:childTnLst>
                                    <p:set>
                                      <p:cBhvr>
                                        <p:cTn id="129" dur="1" fill="hold">
                                          <p:stCondLst>
                                            <p:cond delay="0"/>
                                          </p:stCondLst>
                                        </p:cTn>
                                        <p:tgtEl>
                                          <p:spTgt spid="53"/>
                                        </p:tgtEl>
                                        <p:attrNameLst>
                                          <p:attrName>style.visibility</p:attrName>
                                        </p:attrNameLst>
                                      </p:cBhvr>
                                      <p:to>
                                        <p:strVal val="visible"/>
                                      </p:to>
                                    </p:set>
                                    <p:animEffect transition="in" filter="fade">
                                      <p:cBhvr>
                                        <p:cTn id="130" dur="400"/>
                                        <p:tgtEl>
                                          <p:spTgt spid="53"/>
                                        </p:tgtEl>
                                      </p:cBhvr>
                                    </p:animEffect>
                                  </p:childTnLst>
                                </p:cTn>
                              </p:par>
                              <p:par>
                                <p:cTn id="131" presetID="10" presetClass="entr" presetSubtype="0" fill="hold" nodeType="withEffect">
                                  <p:stCondLst>
                                    <p:cond delay="1250"/>
                                  </p:stCondLst>
                                  <p:childTnLst>
                                    <p:set>
                                      <p:cBhvr>
                                        <p:cTn id="132" dur="1" fill="hold">
                                          <p:stCondLst>
                                            <p:cond delay="0"/>
                                          </p:stCondLst>
                                        </p:cTn>
                                        <p:tgtEl>
                                          <p:spTgt spid="54"/>
                                        </p:tgtEl>
                                        <p:attrNameLst>
                                          <p:attrName>style.visibility</p:attrName>
                                        </p:attrNameLst>
                                      </p:cBhvr>
                                      <p:to>
                                        <p:strVal val="visible"/>
                                      </p:to>
                                    </p:set>
                                    <p:animEffect transition="in" filter="fade">
                                      <p:cBhvr>
                                        <p:cTn id="133" dur="400"/>
                                        <p:tgtEl>
                                          <p:spTgt spid="54"/>
                                        </p:tgtEl>
                                      </p:cBhvr>
                                    </p:animEffect>
                                  </p:childTnLst>
                                </p:cTn>
                              </p:par>
                              <p:par>
                                <p:cTn id="134" presetID="10" presetClass="entr" presetSubtype="0" fill="hold" nodeType="withEffect">
                                  <p:stCondLst>
                                    <p:cond delay="1250"/>
                                  </p:stCondLst>
                                  <p:childTnLst>
                                    <p:set>
                                      <p:cBhvr>
                                        <p:cTn id="135" dur="1" fill="hold">
                                          <p:stCondLst>
                                            <p:cond delay="0"/>
                                          </p:stCondLst>
                                        </p:cTn>
                                        <p:tgtEl>
                                          <p:spTgt spid="55"/>
                                        </p:tgtEl>
                                        <p:attrNameLst>
                                          <p:attrName>style.visibility</p:attrName>
                                        </p:attrNameLst>
                                      </p:cBhvr>
                                      <p:to>
                                        <p:strVal val="visible"/>
                                      </p:to>
                                    </p:set>
                                    <p:animEffect transition="in" filter="fade">
                                      <p:cBhvr>
                                        <p:cTn id="136" dur="400"/>
                                        <p:tgtEl>
                                          <p:spTgt spid="55"/>
                                        </p:tgtEl>
                                      </p:cBhvr>
                                    </p:animEffect>
                                  </p:childTnLst>
                                </p:cTn>
                              </p:par>
                              <p:par>
                                <p:cTn id="137" presetID="10" presetClass="entr" presetSubtype="0" fill="hold" nodeType="withEffect">
                                  <p:stCondLst>
                                    <p:cond delay="1250"/>
                                  </p:stCondLst>
                                  <p:childTnLst>
                                    <p:set>
                                      <p:cBhvr>
                                        <p:cTn id="138" dur="1" fill="hold">
                                          <p:stCondLst>
                                            <p:cond delay="0"/>
                                          </p:stCondLst>
                                        </p:cTn>
                                        <p:tgtEl>
                                          <p:spTgt spid="56"/>
                                        </p:tgtEl>
                                        <p:attrNameLst>
                                          <p:attrName>style.visibility</p:attrName>
                                        </p:attrNameLst>
                                      </p:cBhvr>
                                      <p:to>
                                        <p:strVal val="visible"/>
                                      </p:to>
                                    </p:set>
                                    <p:animEffect transition="in" filter="fade">
                                      <p:cBhvr>
                                        <p:cTn id="139" dur="400"/>
                                        <p:tgtEl>
                                          <p:spTgt spid="56"/>
                                        </p:tgtEl>
                                      </p:cBhvr>
                                    </p:animEffect>
                                  </p:childTnLst>
                                </p:cTn>
                              </p:par>
                              <p:par>
                                <p:cTn id="140" presetID="10" presetClass="entr" presetSubtype="0" fill="hold" nodeType="withEffect">
                                  <p:stCondLst>
                                    <p:cond delay="1250"/>
                                  </p:stCondLst>
                                  <p:childTnLst>
                                    <p:set>
                                      <p:cBhvr>
                                        <p:cTn id="141" dur="1" fill="hold">
                                          <p:stCondLst>
                                            <p:cond delay="0"/>
                                          </p:stCondLst>
                                        </p:cTn>
                                        <p:tgtEl>
                                          <p:spTgt spid="57"/>
                                        </p:tgtEl>
                                        <p:attrNameLst>
                                          <p:attrName>style.visibility</p:attrName>
                                        </p:attrNameLst>
                                      </p:cBhvr>
                                      <p:to>
                                        <p:strVal val="visible"/>
                                      </p:to>
                                    </p:set>
                                    <p:animEffect transition="in" filter="fade">
                                      <p:cBhvr>
                                        <p:cTn id="142" dur="400"/>
                                        <p:tgtEl>
                                          <p:spTgt spid="57"/>
                                        </p:tgtEl>
                                      </p:cBhvr>
                                    </p:animEffect>
                                  </p:childTnLst>
                                </p:cTn>
                              </p:par>
                              <p:par>
                                <p:cTn id="143" presetID="10" presetClass="entr" presetSubtype="0" fill="hold" nodeType="withEffect">
                                  <p:stCondLst>
                                    <p:cond delay="1250"/>
                                  </p:stCondLst>
                                  <p:childTnLst>
                                    <p:set>
                                      <p:cBhvr>
                                        <p:cTn id="144" dur="1" fill="hold">
                                          <p:stCondLst>
                                            <p:cond delay="0"/>
                                          </p:stCondLst>
                                        </p:cTn>
                                        <p:tgtEl>
                                          <p:spTgt spid="58"/>
                                        </p:tgtEl>
                                        <p:attrNameLst>
                                          <p:attrName>style.visibility</p:attrName>
                                        </p:attrNameLst>
                                      </p:cBhvr>
                                      <p:to>
                                        <p:strVal val="visible"/>
                                      </p:to>
                                    </p:set>
                                    <p:animEffect transition="in" filter="fade">
                                      <p:cBhvr>
                                        <p:cTn id="145" dur="400"/>
                                        <p:tgtEl>
                                          <p:spTgt spid="58"/>
                                        </p:tgtEl>
                                      </p:cBhvr>
                                    </p:animEffect>
                                  </p:childTnLst>
                                </p:cTn>
                              </p:par>
                              <p:par>
                                <p:cTn id="146" presetID="10" presetClass="entr" presetSubtype="0" fill="hold" nodeType="withEffect">
                                  <p:stCondLst>
                                    <p:cond delay="1250"/>
                                  </p:stCondLst>
                                  <p:childTnLst>
                                    <p:set>
                                      <p:cBhvr>
                                        <p:cTn id="147" dur="1" fill="hold">
                                          <p:stCondLst>
                                            <p:cond delay="0"/>
                                          </p:stCondLst>
                                        </p:cTn>
                                        <p:tgtEl>
                                          <p:spTgt spid="59"/>
                                        </p:tgtEl>
                                        <p:attrNameLst>
                                          <p:attrName>style.visibility</p:attrName>
                                        </p:attrNameLst>
                                      </p:cBhvr>
                                      <p:to>
                                        <p:strVal val="visible"/>
                                      </p:to>
                                    </p:set>
                                    <p:animEffect transition="in" filter="fade">
                                      <p:cBhvr>
                                        <p:cTn id="148" dur="400"/>
                                        <p:tgtEl>
                                          <p:spTgt spid="59"/>
                                        </p:tgtEl>
                                      </p:cBhvr>
                                    </p:animEffect>
                                  </p:childTnLst>
                                </p:cTn>
                              </p:par>
                              <p:par>
                                <p:cTn id="149" presetID="10" presetClass="entr" presetSubtype="0" fill="hold" nodeType="withEffect">
                                  <p:stCondLst>
                                    <p:cond delay="1250"/>
                                  </p:stCondLst>
                                  <p:childTnLst>
                                    <p:set>
                                      <p:cBhvr>
                                        <p:cTn id="150" dur="1" fill="hold">
                                          <p:stCondLst>
                                            <p:cond delay="0"/>
                                          </p:stCondLst>
                                        </p:cTn>
                                        <p:tgtEl>
                                          <p:spTgt spid="60"/>
                                        </p:tgtEl>
                                        <p:attrNameLst>
                                          <p:attrName>style.visibility</p:attrName>
                                        </p:attrNameLst>
                                      </p:cBhvr>
                                      <p:to>
                                        <p:strVal val="visible"/>
                                      </p:to>
                                    </p:set>
                                    <p:animEffect transition="in" filter="fade">
                                      <p:cBhvr>
                                        <p:cTn id="151" dur="400"/>
                                        <p:tgtEl>
                                          <p:spTgt spid="60"/>
                                        </p:tgtEl>
                                      </p:cBhvr>
                                    </p:animEffect>
                                  </p:childTnLst>
                                </p:cTn>
                              </p:par>
                              <p:par>
                                <p:cTn id="152" presetID="10" presetClass="entr" presetSubtype="0" fill="hold" nodeType="withEffect">
                                  <p:stCondLst>
                                    <p:cond delay="1250"/>
                                  </p:stCondLst>
                                  <p:childTnLst>
                                    <p:set>
                                      <p:cBhvr>
                                        <p:cTn id="153" dur="1" fill="hold">
                                          <p:stCondLst>
                                            <p:cond delay="0"/>
                                          </p:stCondLst>
                                        </p:cTn>
                                        <p:tgtEl>
                                          <p:spTgt spid="61"/>
                                        </p:tgtEl>
                                        <p:attrNameLst>
                                          <p:attrName>style.visibility</p:attrName>
                                        </p:attrNameLst>
                                      </p:cBhvr>
                                      <p:to>
                                        <p:strVal val="visible"/>
                                      </p:to>
                                    </p:set>
                                    <p:animEffect transition="in" filter="fade">
                                      <p:cBhvr>
                                        <p:cTn id="154" dur="400"/>
                                        <p:tgtEl>
                                          <p:spTgt spid="61"/>
                                        </p:tgtEl>
                                      </p:cBhvr>
                                    </p:animEffect>
                                  </p:childTnLst>
                                </p:cTn>
                              </p:par>
                              <p:par>
                                <p:cTn id="155" presetID="10" presetClass="entr" presetSubtype="0" fill="hold" nodeType="withEffect">
                                  <p:stCondLst>
                                    <p:cond delay="1250"/>
                                  </p:stCondLst>
                                  <p:childTnLst>
                                    <p:set>
                                      <p:cBhvr>
                                        <p:cTn id="156" dur="1" fill="hold">
                                          <p:stCondLst>
                                            <p:cond delay="0"/>
                                          </p:stCondLst>
                                        </p:cTn>
                                        <p:tgtEl>
                                          <p:spTgt spid="62"/>
                                        </p:tgtEl>
                                        <p:attrNameLst>
                                          <p:attrName>style.visibility</p:attrName>
                                        </p:attrNameLst>
                                      </p:cBhvr>
                                      <p:to>
                                        <p:strVal val="visible"/>
                                      </p:to>
                                    </p:set>
                                    <p:animEffect transition="in" filter="fade">
                                      <p:cBhvr>
                                        <p:cTn id="157" dur="400"/>
                                        <p:tgtEl>
                                          <p:spTgt spid="62"/>
                                        </p:tgtEl>
                                      </p:cBhvr>
                                    </p:animEffect>
                                  </p:childTnLst>
                                </p:cTn>
                              </p:par>
                              <p:par>
                                <p:cTn id="158" presetID="10" presetClass="entr" presetSubtype="0" fill="hold" nodeType="withEffect">
                                  <p:stCondLst>
                                    <p:cond delay="1250"/>
                                  </p:stCondLst>
                                  <p:childTnLst>
                                    <p:set>
                                      <p:cBhvr>
                                        <p:cTn id="159" dur="1" fill="hold">
                                          <p:stCondLst>
                                            <p:cond delay="0"/>
                                          </p:stCondLst>
                                        </p:cTn>
                                        <p:tgtEl>
                                          <p:spTgt spid="63"/>
                                        </p:tgtEl>
                                        <p:attrNameLst>
                                          <p:attrName>style.visibility</p:attrName>
                                        </p:attrNameLst>
                                      </p:cBhvr>
                                      <p:to>
                                        <p:strVal val="visible"/>
                                      </p:to>
                                    </p:set>
                                    <p:animEffect transition="in" filter="fade">
                                      <p:cBhvr>
                                        <p:cTn id="160" dur="400"/>
                                        <p:tgtEl>
                                          <p:spTgt spid="63"/>
                                        </p:tgtEl>
                                      </p:cBhvr>
                                    </p:animEffect>
                                  </p:childTnLst>
                                </p:cTn>
                              </p:par>
                              <p:par>
                                <p:cTn id="161" presetID="10" presetClass="entr" presetSubtype="0" fill="hold" nodeType="withEffect">
                                  <p:stCondLst>
                                    <p:cond delay="1250"/>
                                  </p:stCondLst>
                                  <p:childTnLst>
                                    <p:set>
                                      <p:cBhvr>
                                        <p:cTn id="162" dur="1" fill="hold">
                                          <p:stCondLst>
                                            <p:cond delay="0"/>
                                          </p:stCondLst>
                                        </p:cTn>
                                        <p:tgtEl>
                                          <p:spTgt spid="64"/>
                                        </p:tgtEl>
                                        <p:attrNameLst>
                                          <p:attrName>style.visibility</p:attrName>
                                        </p:attrNameLst>
                                      </p:cBhvr>
                                      <p:to>
                                        <p:strVal val="visible"/>
                                      </p:to>
                                    </p:set>
                                    <p:animEffect transition="in" filter="fade">
                                      <p:cBhvr>
                                        <p:cTn id="163" dur="400"/>
                                        <p:tgtEl>
                                          <p:spTgt spid="64"/>
                                        </p:tgtEl>
                                      </p:cBhvr>
                                    </p:animEffect>
                                  </p:childTnLst>
                                </p:cTn>
                              </p:par>
                              <p:par>
                                <p:cTn id="164" presetID="10" presetClass="entr" presetSubtype="0" fill="hold" nodeType="withEffect">
                                  <p:stCondLst>
                                    <p:cond delay="1250"/>
                                  </p:stCondLst>
                                  <p:childTnLst>
                                    <p:set>
                                      <p:cBhvr>
                                        <p:cTn id="165" dur="1" fill="hold">
                                          <p:stCondLst>
                                            <p:cond delay="0"/>
                                          </p:stCondLst>
                                        </p:cTn>
                                        <p:tgtEl>
                                          <p:spTgt spid="65"/>
                                        </p:tgtEl>
                                        <p:attrNameLst>
                                          <p:attrName>style.visibility</p:attrName>
                                        </p:attrNameLst>
                                      </p:cBhvr>
                                      <p:to>
                                        <p:strVal val="visible"/>
                                      </p:to>
                                    </p:set>
                                    <p:animEffect transition="in" filter="fade">
                                      <p:cBhvr>
                                        <p:cTn id="166" dur="400"/>
                                        <p:tgtEl>
                                          <p:spTgt spid="65"/>
                                        </p:tgtEl>
                                      </p:cBhvr>
                                    </p:animEffect>
                                  </p:childTnLst>
                                </p:cTn>
                              </p:par>
                              <p:par>
                                <p:cTn id="167" presetID="10" presetClass="entr" presetSubtype="0" fill="hold" nodeType="withEffect">
                                  <p:stCondLst>
                                    <p:cond delay="1250"/>
                                  </p:stCondLst>
                                  <p:childTnLst>
                                    <p:set>
                                      <p:cBhvr>
                                        <p:cTn id="168" dur="1" fill="hold">
                                          <p:stCondLst>
                                            <p:cond delay="0"/>
                                          </p:stCondLst>
                                        </p:cTn>
                                        <p:tgtEl>
                                          <p:spTgt spid="66"/>
                                        </p:tgtEl>
                                        <p:attrNameLst>
                                          <p:attrName>style.visibility</p:attrName>
                                        </p:attrNameLst>
                                      </p:cBhvr>
                                      <p:to>
                                        <p:strVal val="visible"/>
                                      </p:to>
                                    </p:set>
                                    <p:animEffect transition="in" filter="fade">
                                      <p:cBhvr>
                                        <p:cTn id="169" dur="400"/>
                                        <p:tgtEl>
                                          <p:spTgt spid="66"/>
                                        </p:tgtEl>
                                      </p:cBhvr>
                                    </p:animEffect>
                                  </p:childTnLst>
                                </p:cTn>
                              </p:par>
                              <p:par>
                                <p:cTn id="170" presetID="10" presetClass="entr" presetSubtype="0" fill="hold" nodeType="withEffect">
                                  <p:stCondLst>
                                    <p:cond delay="1500"/>
                                  </p:stCondLst>
                                  <p:childTnLst>
                                    <p:set>
                                      <p:cBhvr>
                                        <p:cTn id="171" dur="1" fill="hold">
                                          <p:stCondLst>
                                            <p:cond delay="0"/>
                                          </p:stCondLst>
                                        </p:cTn>
                                        <p:tgtEl>
                                          <p:spTgt spid="67"/>
                                        </p:tgtEl>
                                        <p:attrNameLst>
                                          <p:attrName>style.visibility</p:attrName>
                                        </p:attrNameLst>
                                      </p:cBhvr>
                                      <p:to>
                                        <p:strVal val="visible"/>
                                      </p:to>
                                    </p:set>
                                    <p:animEffect transition="in" filter="fade">
                                      <p:cBhvr>
                                        <p:cTn id="172" dur="400"/>
                                        <p:tgtEl>
                                          <p:spTgt spid="67"/>
                                        </p:tgtEl>
                                      </p:cBhvr>
                                    </p:animEffect>
                                  </p:childTnLst>
                                </p:cTn>
                              </p:par>
                              <p:par>
                                <p:cTn id="173" presetID="10" presetClass="entr" presetSubtype="0" fill="hold" nodeType="withEffect">
                                  <p:stCondLst>
                                    <p:cond delay="1500"/>
                                  </p:stCondLst>
                                  <p:childTnLst>
                                    <p:set>
                                      <p:cBhvr>
                                        <p:cTn id="174" dur="1" fill="hold">
                                          <p:stCondLst>
                                            <p:cond delay="0"/>
                                          </p:stCondLst>
                                        </p:cTn>
                                        <p:tgtEl>
                                          <p:spTgt spid="68"/>
                                        </p:tgtEl>
                                        <p:attrNameLst>
                                          <p:attrName>style.visibility</p:attrName>
                                        </p:attrNameLst>
                                      </p:cBhvr>
                                      <p:to>
                                        <p:strVal val="visible"/>
                                      </p:to>
                                    </p:set>
                                    <p:animEffect transition="in" filter="fade">
                                      <p:cBhvr>
                                        <p:cTn id="175" dur="400"/>
                                        <p:tgtEl>
                                          <p:spTgt spid="68"/>
                                        </p:tgtEl>
                                      </p:cBhvr>
                                    </p:animEffect>
                                  </p:childTnLst>
                                </p:cTn>
                              </p:par>
                              <p:par>
                                <p:cTn id="176" presetID="10" presetClass="entr" presetSubtype="0" fill="hold" nodeType="withEffect">
                                  <p:stCondLst>
                                    <p:cond delay="1500"/>
                                  </p:stCondLst>
                                  <p:childTnLst>
                                    <p:set>
                                      <p:cBhvr>
                                        <p:cTn id="177" dur="1" fill="hold">
                                          <p:stCondLst>
                                            <p:cond delay="0"/>
                                          </p:stCondLst>
                                        </p:cTn>
                                        <p:tgtEl>
                                          <p:spTgt spid="69"/>
                                        </p:tgtEl>
                                        <p:attrNameLst>
                                          <p:attrName>style.visibility</p:attrName>
                                        </p:attrNameLst>
                                      </p:cBhvr>
                                      <p:to>
                                        <p:strVal val="visible"/>
                                      </p:to>
                                    </p:set>
                                    <p:animEffect transition="in" filter="fade">
                                      <p:cBhvr>
                                        <p:cTn id="178" dur="400"/>
                                        <p:tgtEl>
                                          <p:spTgt spid="69"/>
                                        </p:tgtEl>
                                      </p:cBhvr>
                                    </p:animEffect>
                                  </p:childTnLst>
                                </p:cTn>
                              </p:par>
                              <p:par>
                                <p:cTn id="179" presetID="10" presetClass="entr" presetSubtype="0" fill="hold" nodeType="withEffect">
                                  <p:stCondLst>
                                    <p:cond delay="1500"/>
                                  </p:stCondLst>
                                  <p:childTnLst>
                                    <p:set>
                                      <p:cBhvr>
                                        <p:cTn id="180" dur="1" fill="hold">
                                          <p:stCondLst>
                                            <p:cond delay="0"/>
                                          </p:stCondLst>
                                        </p:cTn>
                                        <p:tgtEl>
                                          <p:spTgt spid="70"/>
                                        </p:tgtEl>
                                        <p:attrNameLst>
                                          <p:attrName>style.visibility</p:attrName>
                                        </p:attrNameLst>
                                      </p:cBhvr>
                                      <p:to>
                                        <p:strVal val="visible"/>
                                      </p:to>
                                    </p:set>
                                    <p:animEffect transition="in" filter="fade">
                                      <p:cBhvr>
                                        <p:cTn id="181" dur="400"/>
                                        <p:tgtEl>
                                          <p:spTgt spid="70"/>
                                        </p:tgtEl>
                                      </p:cBhvr>
                                    </p:animEffect>
                                  </p:childTnLst>
                                </p:cTn>
                              </p:par>
                              <p:par>
                                <p:cTn id="182" presetID="10" presetClass="entr" presetSubtype="0" fill="hold" nodeType="withEffect">
                                  <p:stCondLst>
                                    <p:cond delay="1500"/>
                                  </p:stCondLst>
                                  <p:childTnLst>
                                    <p:set>
                                      <p:cBhvr>
                                        <p:cTn id="183" dur="1" fill="hold">
                                          <p:stCondLst>
                                            <p:cond delay="0"/>
                                          </p:stCondLst>
                                        </p:cTn>
                                        <p:tgtEl>
                                          <p:spTgt spid="71"/>
                                        </p:tgtEl>
                                        <p:attrNameLst>
                                          <p:attrName>style.visibility</p:attrName>
                                        </p:attrNameLst>
                                      </p:cBhvr>
                                      <p:to>
                                        <p:strVal val="visible"/>
                                      </p:to>
                                    </p:set>
                                    <p:animEffect transition="in" filter="fade">
                                      <p:cBhvr>
                                        <p:cTn id="184" dur="400"/>
                                        <p:tgtEl>
                                          <p:spTgt spid="71"/>
                                        </p:tgtEl>
                                      </p:cBhvr>
                                    </p:animEffect>
                                  </p:childTnLst>
                                </p:cTn>
                              </p:par>
                              <p:par>
                                <p:cTn id="185" presetID="10" presetClass="entr" presetSubtype="0" fill="hold" nodeType="withEffect">
                                  <p:stCondLst>
                                    <p:cond delay="1500"/>
                                  </p:stCondLst>
                                  <p:childTnLst>
                                    <p:set>
                                      <p:cBhvr>
                                        <p:cTn id="186" dur="1" fill="hold">
                                          <p:stCondLst>
                                            <p:cond delay="0"/>
                                          </p:stCondLst>
                                        </p:cTn>
                                        <p:tgtEl>
                                          <p:spTgt spid="72"/>
                                        </p:tgtEl>
                                        <p:attrNameLst>
                                          <p:attrName>style.visibility</p:attrName>
                                        </p:attrNameLst>
                                      </p:cBhvr>
                                      <p:to>
                                        <p:strVal val="visible"/>
                                      </p:to>
                                    </p:set>
                                    <p:animEffect transition="in" filter="fade">
                                      <p:cBhvr>
                                        <p:cTn id="187" dur="400"/>
                                        <p:tgtEl>
                                          <p:spTgt spid="72"/>
                                        </p:tgtEl>
                                      </p:cBhvr>
                                    </p:animEffect>
                                  </p:childTnLst>
                                </p:cTn>
                              </p:par>
                              <p:par>
                                <p:cTn id="188" presetID="10" presetClass="entr" presetSubtype="0" fill="hold" nodeType="withEffect">
                                  <p:stCondLst>
                                    <p:cond delay="1500"/>
                                  </p:stCondLst>
                                  <p:childTnLst>
                                    <p:set>
                                      <p:cBhvr>
                                        <p:cTn id="189" dur="1" fill="hold">
                                          <p:stCondLst>
                                            <p:cond delay="0"/>
                                          </p:stCondLst>
                                        </p:cTn>
                                        <p:tgtEl>
                                          <p:spTgt spid="73"/>
                                        </p:tgtEl>
                                        <p:attrNameLst>
                                          <p:attrName>style.visibility</p:attrName>
                                        </p:attrNameLst>
                                      </p:cBhvr>
                                      <p:to>
                                        <p:strVal val="visible"/>
                                      </p:to>
                                    </p:set>
                                    <p:animEffect transition="in" filter="fade">
                                      <p:cBhvr>
                                        <p:cTn id="190" dur="400"/>
                                        <p:tgtEl>
                                          <p:spTgt spid="73"/>
                                        </p:tgtEl>
                                      </p:cBhvr>
                                    </p:animEffect>
                                  </p:childTnLst>
                                </p:cTn>
                              </p:par>
                              <p:par>
                                <p:cTn id="191" presetID="10" presetClass="entr" presetSubtype="0" fill="hold" nodeType="withEffect">
                                  <p:stCondLst>
                                    <p:cond delay="1500"/>
                                  </p:stCondLst>
                                  <p:childTnLst>
                                    <p:set>
                                      <p:cBhvr>
                                        <p:cTn id="192" dur="1" fill="hold">
                                          <p:stCondLst>
                                            <p:cond delay="0"/>
                                          </p:stCondLst>
                                        </p:cTn>
                                        <p:tgtEl>
                                          <p:spTgt spid="74"/>
                                        </p:tgtEl>
                                        <p:attrNameLst>
                                          <p:attrName>style.visibility</p:attrName>
                                        </p:attrNameLst>
                                      </p:cBhvr>
                                      <p:to>
                                        <p:strVal val="visible"/>
                                      </p:to>
                                    </p:set>
                                    <p:animEffect transition="in" filter="fade">
                                      <p:cBhvr>
                                        <p:cTn id="193" dur="400"/>
                                        <p:tgtEl>
                                          <p:spTgt spid="74"/>
                                        </p:tgtEl>
                                      </p:cBhvr>
                                    </p:animEffect>
                                  </p:childTnLst>
                                </p:cTn>
                              </p:par>
                              <p:par>
                                <p:cTn id="194" presetID="10" presetClass="entr" presetSubtype="0" fill="hold" nodeType="withEffect">
                                  <p:stCondLst>
                                    <p:cond delay="1500"/>
                                  </p:stCondLst>
                                  <p:childTnLst>
                                    <p:set>
                                      <p:cBhvr>
                                        <p:cTn id="195" dur="1" fill="hold">
                                          <p:stCondLst>
                                            <p:cond delay="0"/>
                                          </p:stCondLst>
                                        </p:cTn>
                                        <p:tgtEl>
                                          <p:spTgt spid="75"/>
                                        </p:tgtEl>
                                        <p:attrNameLst>
                                          <p:attrName>style.visibility</p:attrName>
                                        </p:attrNameLst>
                                      </p:cBhvr>
                                      <p:to>
                                        <p:strVal val="visible"/>
                                      </p:to>
                                    </p:set>
                                    <p:animEffect transition="in" filter="fade">
                                      <p:cBhvr>
                                        <p:cTn id="196" dur="400"/>
                                        <p:tgtEl>
                                          <p:spTgt spid="75"/>
                                        </p:tgtEl>
                                      </p:cBhvr>
                                    </p:animEffect>
                                  </p:childTnLst>
                                </p:cTn>
                              </p:par>
                              <p:par>
                                <p:cTn id="197" presetID="10" presetClass="entr" presetSubtype="0" fill="hold" nodeType="withEffect">
                                  <p:stCondLst>
                                    <p:cond delay="1500"/>
                                  </p:stCondLst>
                                  <p:childTnLst>
                                    <p:set>
                                      <p:cBhvr>
                                        <p:cTn id="198" dur="1" fill="hold">
                                          <p:stCondLst>
                                            <p:cond delay="0"/>
                                          </p:stCondLst>
                                        </p:cTn>
                                        <p:tgtEl>
                                          <p:spTgt spid="76"/>
                                        </p:tgtEl>
                                        <p:attrNameLst>
                                          <p:attrName>style.visibility</p:attrName>
                                        </p:attrNameLst>
                                      </p:cBhvr>
                                      <p:to>
                                        <p:strVal val="visible"/>
                                      </p:to>
                                    </p:set>
                                    <p:animEffect transition="in" filter="fade">
                                      <p:cBhvr>
                                        <p:cTn id="199" dur="400"/>
                                        <p:tgtEl>
                                          <p:spTgt spid="76"/>
                                        </p:tgtEl>
                                      </p:cBhvr>
                                    </p:animEffect>
                                  </p:childTnLst>
                                </p:cTn>
                              </p:par>
                              <p:par>
                                <p:cTn id="200" presetID="10" presetClass="entr" presetSubtype="0" fill="hold" nodeType="withEffect">
                                  <p:stCondLst>
                                    <p:cond delay="1500"/>
                                  </p:stCondLst>
                                  <p:childTnLst>
                                    <p:set>
                                      <p:cBhvr>
                                        <p:cTn id="201" dur="1" fill="hold">
                                          <p:stCondLst>
                                            <p:cond delay="0"/>
                                          </p:stCondLst>
                                        </p:cTn>
                                        <p:tgtEl>
                                          <p:spTgt spid="77"/>
                                        </p:tgtEl>
                                        <p:attrNameLst>
                                          <p:attrName>style.visibility</p:attrName>
                                        </p:attrNameLst>
                                      </p:cBhvr>
                                      <p:to>
                                        <p:strVal val="visible"/>
                                      </p:to>
                                    </p:set>
                                    <p:animEffect transition="in" filter="fade">
                                      <p:cBhvr>
                                        <p:cTn id="202" dur="400"/>
                                        <p:tgtEl>
                                          <p:spTgt spid="77"/>
                                        </p:tgtEl>
                                      </p:cBhvr>
                                    </p:animEffect>
                                  </p:childTnLst>
                                </p:cTn>
                              </p:par>
                              <p:par>
                                <p:cTn id="203" presetID="10" presetClass="entr" presetSubtype="0" fill="hold" nodeType="withEffect">
                                  <p:stCondLst>
                                    <p:cond delay="1500"/>
                                  </p:stCondLst>
                                  <p:childTnLst>
                                    <p:set>
                                      <p:cBhvr>
                                        <p:cTn id="204" dur="1" fill="hold">
                                          <p:stCondLst>
                                            <p:cond delay="0"/>
                                          </p:stCondLst>
                                        </p:cTn>
                                        <p:tgtEl>
                                          <p:spTgt spid="78"/>
                                        </p:tgtEl>
                                        <p:attrNameLst>
                                          <p:attrName>style.visibility</p:attrName>
                                        </p:attrNameLst>
                                      </p:cBhvr>
                                      <p:to>
                                        <p:strVal val="visible"/>
                                      </p:to>
                                    </p:set>
                                    <p:animEffect transition="in" filter="fade">
                                      <p:cBhvr>
                                        <p:cTn id="205" dur="400"/>
                                        <p:tgtEl>
                                          <p:spTgt spid="78"/>
                                        </p:tgtEl>
                                      </p:cBhvr>
                                    </p:animEffect>
                                  </p:childTnLst>
                                </p:cTn>
                              </p:par>
                              <p:par>
                                <p:cTn id="206" presetID="10" presetClass="entr" presetSubtype="0" fill="hold" nodeType="withEffect">
                                  <p:stCondLst>
                                    <p:cond delay="1500"/>
                                  </p:stCondLst>
                                  <p:childTnLst>
                                    <p:set>
                                      <p:cBhvr>
                                        <p:cTn id="207" dur="1" fill="hold">
                                          <p:stCondLst>
                                            <p:cond delay="0"/>
                                          </p:stCondLst>
                                        </p:cTn>
                                        <p:tgtEl>
                                          <p:spTgt spid="79"/>
                                        </p:tgtEl>
                                        <p:attrNameLst>
                                          <p:attrName>style.visibility</p:attrName>
                                        </p:attrNameLst>
                                      </p:cBhvr>
                                      <p:to>
                                        <p:strVal val="visible"/>
                                      </p:to>
                                    </p:set>
                                    <p:animEffect transition="in" filter="fade">
                                      <p:cBhvr>
                                        <p:cTn id="208" dur="400"/>
                                        <p:tgtEl>
                                          <p:spTgt spid="79"/>
                                        </p:tgtEl>
                                      </p:cBhvr>
                                    </p:animEffect>
                                  </p:childTnLst>
                                </p:cTn>
                              </p:par>
                              <p:par>
                                <p:cTn id="209" presetID="10" presetClass="entr" presetSubtype="0" fill="hold" nodeType="withEffect">
                                  <p:stCondLst>
                                    <p:cond delay="1500"/>
                                  </p:stCondLst>
                                  <p:childTnLst>
                                    <p:set>
                                      <p:cBhvr>
                                        <p:cTn id="210" dur="1" fill="hold">
                                          <p:stCondLst>
                                            <p:cond delay="0"/>
                                          </p:stCondLst>
                                        </p:cTn>
                                        <p:tgtEl>
                                          <p:spTgt spid="80"/>
                                        </p:tgtEl>
                                        <p:attrNameLst>
                                          <p:attrName>style.visibility</p:attrName>
                                        </p:attrNameLst>
                                      </p:cBhvr>
                                      <p:to>
                                        <p:strVal val="visible"/>
                                      </p:to>
                                    </p:set>
                                    <p:animEffect transition="in" filter="fade">
                                      <p:cBhvr>
                                        <p:cTn id="211" dur="400"/>
                                        <p:tgtEl>
                                          <p:spTgt spid="80"/>
                                        </p:tgtEl>
                                      </p:cBhvr>
                                    </p:animEffect>
                                  </p:childTnLst>
                                </p:cTn>
                              </p:par>
                              <p:par>
                                <p:cTn id="212" presetID="10" presetClass="entr" presetSubtype="0" fill="hold" nodeType="withEffect">
                                  <p:stCondLst>
                                    <p:cond delay="1500"/>
                                  </p:stCondLst>
                                  <p:childTnLst>
                                    <p:set>
                                      <p:cBhvr>
                                        <p:cTn id="213" dur="1" fill="hold">
                                          <p:stCondLst>
                                            <p:cond delay="0"/>
                                          </p:stCondLst>
                                        </p:cTn>
                                        <p:tgtEl>
                                          <p:spTgt spid="81"/>
                                        </p:tgtEl>
                                        <p:attrNameLst>
                                          <p:attrName>style.visibility</p:attrName>
                                        </p:attrNameLst>
                                      </p:cBhvr>
                                      <p:to>
                                        <p:strVal val="visible"/>
                                      </p:to>
                                    </p:set>
                                    <p:animEffect transition="in" filter="fade">
                                      <p:cBhvr>
                                        <p:cTn id="214" dur="400"/>
                                        <p:tgtEl>
                                          <p:spTgt spid="81"/>
                                        </p:tgtEl>
                                      </p:cBhvr>
                                    </p:animEffect>
                                  </p:childTnLst>
                                </p:cTn>
                              </p:par>
                              <p:par>
                                <p:cTn id="215" presetID="10" presetClass="entr" presetSubtype="0" fill="hold" nodeType="withEffect">
                                  <p:stCondLst>
                                    <p:cond delay="1500"/>
                                  </p:stCondLst>
                                  <p:childTnLst>
                                    <p:set>
                                      <p:cBhvr>
                                        <p:cTn id="216" dur="1" fill="hold">
                                          <p:stCondLst>
                                            <p:cond delay="0"/>
                                          </p:stCondLst>
                                        </p:cTn>
                                        <p:tgtEl>
                                          <p:spTgt spid="82"/>
                                        </p:tgtEl>
                                        <p:attrNameLst>
                                          <p:attrName>style.visibility</p:attrName>
                                        </p:attrNameLst>
                                      </p:cBhvr>
                                      <p:to>
                                        <p:strVal val="visible"/>
                                      </p:to>
                                    </p:set>
                                    <p:animEffect transition="in" filter="fade">
                                      <p:cBhvr>
                                        <p:cTn id="217" dur="400"/>
                                        <p:tgtEl>
                                          <p:spTgt spid="82"/>
                                        </p:tgtEl>
                                      </p:cBhvr>
                                    </p:animEffect>
                                  </p:childTnLst>
                                </p:cTn>
                              </p:par>
                              <p:par>
                                <p:cTn id="218" presetID="10" presetClass="entr" presetSubtype="0" fill="hold" nodeType="withEffect">
                                  <p:stCondLst>
                                    <p:cond delay="1500"/>
                                  </p:stCondLst>
                                  <p:childTnLst>
                                    <p:set>
                                      <p:cBhvr>
                                        <p:cTn id="219" dur="1" fill="hold">
                                          <p:stCondLst>
                                            <p:cond delay="0"/>
                                          </p:stCondLst>
                                        </p:cTn>
                                        <p:tgtEl>
                                          <p:spTgt spid="83"/>
                                        </p:tgtEl>
                                        <p:attrNameLst>
                                          <p:attrName>style.visibility</p:attrName>
                                        </p:attrNameLst>
                                      </p:cBhvr>
                                      <p:to>
                                        <p:strVal val="visible"/>
                                      </p:to>
                                    </p:set>
                                    <p:animEffect transition="in" filter="fade">
                                      <p:cBhvr>
                                        <p:cTn id="220" dur="400"/>
                                        <p:tgtEl>
                                          <p:spTgt spid="83"/>
                                        </p:tgtEl>
                                      </p:cBhvr>
                                    </p:animEffect>
                                  </p:childTnLst>
                                </p:cTn>
                              </p:par>
                              <p:par>
                                <p:cTn id="221" presetID="10" presetClass="entr" presetSubtype="0" fill="hold" nodeType="withEffect">
                                  <p:stCondLst>
                                    <p:cond delay="1500"/>
                                  </p:stCondLst>
                                  <p:childTnLst>
                                    <p:set>
                                      <p:cBhvr>
                                        <p:cTn id="222" dur="1" fill="hold">
                                          <p:stCondLst>
                                            <p:cond delay="0"/>
                                          </p:stCondLst>
                                        </p:cTn>
                                        <p:tgtEl>
                                          <p:spTgt spid="84"/>
                                        </p:tgtEl>
                                        <p:attrNameLst>
                                          <p:attrName>style.visibility</p:attrName>
                                        </p:attrNameLst>
                                      </p:cBhvr>
                                      <p:to>
                                        <p:strVal val="visible"/>
                                      </p:to>
                                    </p:set>
                                    <p:animEffect transition="in" filter="fade">
                                      <p:cBhvr>
                                        <p:cTn id="223" dur="400"/>
                                        <p:tgtEl>
                                          <p:spTgt spid="84"/>
                                        </p:tgtEl>
                                      </p:cBhvr>
                                    </p:animEffect>
                                  </p:childTnLst>
                                </p:cTn>
                              </p:par>
                              <p:par>
                                <p:cTn id="224" presetID="10" presetClass="entr" presetSubtype="0" fill="hold" nodeType="withEffect">
                                  <p:stCondLst>
                                    <p:cond delay="1500"/>
                                  </p:stCondLst>
                                  <p:childTnLst>
                                    <p:set>
                                      <p:cBhvr>
                                        <p:cTn id="225" dur="1" fill="hold">
                                          <p:stCondLst>
                                            <p:cond delay="0"/>
                                          </p:stCondLst>
                                        </p:cTn>
                                        <p:tgtEl>
                                          <p:spTgt spid="85"/>
                                        </p:tgtEl>
                                        <p:attrNameLst>
                                          <p:attrName>style.visibility</p:attrName>
                                        </p:attrNameLst>
                                      </p:cBhvr>
                                      <p:to>
                                        <p:strVal val="visible"/>
                                      </p:to>
                                    </p:set>
                                    <p:animEffect transition="in" filter="fade">
                                      <p:cBhvr>
                                        <p:cTn id="226" dur="400"/>
                                        <p:tgtEl>
                                          <p:spTgt spid="85"/>
                                        </p:tgtEl>
                                      </p:cBhvr>
                                    </p:animEffect>
                                  </p:childTnLst>
                                </p:cTn>
                              </p:par>
                              <p:par>
                                <p:cTn id="227" presetID="10" presetClass="entr" presetSubtype="0" fill="hold" nodeType="withEffect">
                                  <p:stCondLst>
                                    <p:cond delay="1500"/>
                                  </p:stCondLst>
                                  <p:childTnLst>
                                    <p:set>
                                      <p:cBhvr>
                                        <p:cTn id="228" dur="1" fill="hold">
                                          <p:stCondLst>
                                            <p:cond delay="0"/>
                                          </p:stCondLst>
                                        </p:cTn>
                                        <p:tgtEl>
                                          <p:spTgt spid="86"/>
                                        </p:tgtEl>
                                        <p:attrNameLst>
                                          <p:attrName>style.visibility</p:attrName>
                                        </p:attrNameLst>
                                      </p:cBhvr>
                                      <p:to>
                                        <p:strVal val="visible"/>
                                      </p:to>
                                    </p:set>
                                    <p:animEffect transition="in" filter="fade">
                                      <p:cBhvr>
                                        <p:cTn id="229" dur="400"/>
                                        <p:tgtEl>
                                          <p:spTgt spid="86"/>
                                        </p:tgtEl>
                                      </p:cBhvr>
                                    </p:animEffect>
                                  </p:childTnLst>
                                </p:cTn>
                              </p:par>
                              <p:par>
                                <p:cTn id="230" presetID="10" presetClass="entr" presetSubtype="0" fill="hold" nodeType="withEffect">
                                  <p:stCondLst>
                                    <p:cond delay="1500"/>
                                  </p:stCondLst>
                                  <p:childTnLst>
                                    <p:set>
                                      <p:cBhvr>
                                        <p:cTn id="231" dur="1" fill="hold">
                                          <p:stCondLst>
                                            <p:cond delay="0"/>
                                          </p:stCondLst>
                                        </p:cTn>
                                        <p:tgtEl>
                                          <p:spTgt spid="87"/>
                                        </p:tgtEl>
                                        <p:attrNameLst>
                                          <p:attrName>style.visibility</p:attrName>
                                        </p:attrNameLst>
                                      </p:cBhvr>
                                      <p:to>
                                        <p:strVal val="visible"/>
                                      </p:to>
                                    </p:set>
                                    <p:animEffect transition="in" filter="fade">
                                      <p:cBhvr>
                                        <p:cTn id="232" dur="400"/>
                                        <p:tgtEl>
                                          <p:spTgt spid="87"/>
                                        </p:tgtEl>
                                      </p:cBhvr>
                                    </p:animEffect>
                                  </p:childTnLst>
                                </p:cTn>
                              </p:par>
                              <p:par>
                                <p:cTn id="233" presetID="10" presetClass="entr" presetSubtype="0" fill="hold" nodeType="withEffect">
                                  <p:stCondLst>
                                    <p:cond delay="1500"/>
                                  </p:stCondLst>
                                  <p:childTnLst>
                                    <p:set>
                                      <p:cBhvr>
                                        <p:cTn id="234" dur="1" fill="hold">
                                          <p:stCondLst>
                                            <p:cond delay="0"/>
                                          </p:stCondLst>
                                        </p:cTn>
                                        <p:tgtEl>
                                          <p:spTgt spid="88"/>
                                        </p:tgtEl>
                                        <p:attrNameLst>
                                          <p:attrName>style.visibility</p:attrName>
                                        </p:attrNameLst>
                                      </p:cBhvr>
                                      <p:to>
                                        <p:strVal val="visible"/>
                                      </p:to>
                                    </p:set>
                                    <p:animEffect transition="in" filter="fade">
                                      <p:cBhvr>
                                        <p:cTn id="235" dur="400"/>
                                        <p:tgtEl>
                                          <p:spTgt spid="88"/>
                                        </p:tgtEl>
                                      </p:cBhvr>
                                    </p:animEffect>
                                  </p:childTnLst>
                                </p:cTn>
                              </p:par>
                              <p:par>
                                <p:cTn id="236" presetID="10" presetClass="entr" presetSubtype="0" fill="hold" nodeType="withEffect">
                                  <p:stCondLst>
                                    <p:cond delay="1750"/>
                                  </p:stCondLst>
                                  <p:childTnLst>
                                    <p:set>
                                      <p:cBhvr>
                                        <p:cTn id="237" dur="1" fill="hold">
                                          <p:stCondLst>
                                            <p:cond delay="0"/>
                                          </p:stCondLst>
                                        </p:cTn>
                                        <p:tgtEl>
                                          <p:spTgt spid="89"/>
                                        </p:tgtEl>
                                        <p:attrNameLst>
                                          <p:attrName>style.visibility</p:attrName>
                                        </p:attrNameLst>
                                      </p:cBhvr>
                                      <p:to>
                                        <p:strVal val="visible"/>
                                      </p:to>
                                    </p:set>
                                    <p:animEffect transition="in" filter="fade">
                                      <p:cBhvr>
                                        <p:cTn id="238" dur="400"/>
                                        <p:tgtEl>
                                          <p:spTgt spid="89"/>
                                        </p:tgtEl>
                                      </p:cBhvr>
                                    </p:animEffect>
                                  </p:childTnLst>
                                </p:cTn>
                              </p:par>
                              <p:par>
                                <p:cTn id="239" presetID="10" presetClass="entr" presetSubtype="0" fill="hold" nodeType="withEffect">
                                  <p:stCondLst>
                                    <p:cond delay="1750"/>
                                  </p:stCondLst>
                                  <p:childTnLst>
                                    <p:set>
                                      <p:cBhvr>
                                        <p:cTn id="240" dur="1" fill="hold">
                                          <p:stCondLst>
                                            <p:cond delay="0"/>
                                          </p:stCondLst>
                                        </p:cTn>
                                        <p:tgtEl>
                                          <p:spTgt spid="90"/>
                                        </p:tgtEl>
                                        <p:attrNameLst>
                                          <p:attrName>style.visibility</p:attrName>
                                        </p:attrNameLst>
                                      </p:cBhvr>
                                      <p:to>
                                        <p:strVal val="visible"/>
                                      </p:to>
                                    </p:set>
                                    <p:animEffect transition="in" filter="fade">
                                      <p:cBhvr>
                                        <p:cTn id="241" dur="400"/>
                                        <p:tgtEl>
                                          <p:spTgt spid="90"/>
                                        </p:tgtEl>
                                      </p:cBhvr>
                                    </p:animEffect>
                                  </p:childTnLst>
                                </p:cTn>
                              </p:par>
                              <p:par>
                                <p:cTn id="242" presetID="10" presetClass="entr" presetSubtype="0" fill="hold" nodeType="withEffect">
                                  <p:stCondLst>
                                    <p:cond delay="1750"/>
                                  </p:stCondLst>
                                  <p:childTnLst>
                                    <p:set>
                                      <p:cBhvr>
                                        <p:cTn id="243" dur="1" fill="hold">
                                          <p:stCondLst>
                                            <p:cond delay="0"/>
                                          </p:stCondLst>
                                        </p:cTn>
                                        <p:tgtEl>
                                          <p:spTgt spid="91"/>
                                        </p:tgtEl>
                                        <p:attrNameLst>
                                          <p:attrName>style.visibility</p:attrName>
                                        </p:attrNameLst>
                                      </p:cBhvr>
                                      <p:to>
                                        <p:strVal val="visible"/>
                                      </p:to>
                                    </p:set>
                                    <p:animEffect transition="in" filter="fade">
                                      <p:cBhvr>
                                        <p:cTn id="244" dur="400"/>
                                        <p:tgtEl>
                                          <p:spTgt spid="91"/>
                                        </p:tgtEl>
                                      </p:cBhvr>
                                    </p:animEffect>
                                  </p:childTnLst>
                                </p:cTn>
                              </p:par>
                              <p:par>
                                <p:cTn id="245" presetID="10" presetClass="entr" presetSubtype="0" fill="hold" nodeType="withEffect">
                                  <p:stCondLst>
                                    <p:cond delay="1750"/>
                                  </p:stCondLst>
                                  <p:childTnLst>
                                    <p:set>
                                      <p:cBhvr>
                                        <p:cTn id="246" dur="1" fill="hold">
                                          <p:stCondLst>
                                            <p:cond delay="0"/>
                                          </p:stCondLst>
                                        </p:cTn>
                                        <p:tgtEl>
                                          <p:spTgt spid="92"/>
                                        </p:tgtEl>
                                        <p:attrNameLst>
                                          <p:attrName>style.visibility</p:attrName>
                                        </p:attrNameLst>
                                      </p:cBhvr>
                                      <p:to>
                                        <p:strVal val="visible"/>
                                      </p:to>
                                    </p:set>
                                    <p:animEffect transition="in" filter="fade">
                                      <p:cBhvr>
                                        <p:cTn id="247" dur="400"/>
                                        <p:tgtEl>
                                          <p:spTgt spid="92"/>
                                        </p:tgtEl>
                                      </p:cBhvr>
                                    </p:animEffect>
                                  </p:childTnLst>
                                </p:cTn>
                              </p:par>
                              <p:par>
                                <p:cTn id="248" presetID="10" presetClass="entr" presetSubtype="0" fill="hold" nodeType="withEffect">
                                  <p:stCondLst>
                                    <p:cond delay="1750"/>
                                  </p:stCondLst>
                                  <p:childTnLst>
                                    <p:set>
                                      <p:cBhvr>
                                        <p:cTn id="249" dur="1" fill="hold">
                                          <p:stCondLst>
                                            <p:cond delay="0"/>
                                          </p:stCondLst>
                                        </p:cTn>
                                        <p:tgtEl>
                                          <p:spTgt spid="93"/>
                                        </p:tgtEl>
                                        <p:attrNameLst>
                                          <p:attrName>style.visibility</p:attrName>
                                        </p:attrNameLst>
                                      </p:cBhvr>
                                      <p:to>
                                        <p:strVal val="visible"/>
                                      </p:to>
                                    </p:set>
                                    <p:animEffect transition="in" filter="fade">
                                      <p:cBhvr>
                                        <p:cTn id="250" dur="400"/>
                                        <p:tgtEl>
                                          <p:spTgt spid="93"/>
                                        </p:tgtEl>
                                      </p:cBhvr>
                                    </p:animEffect>
                                  </p:childTnLst>
                                </p:cTn>
                              </p:par>
                              <p:par>
                                <p:cTn id="251" presetID="10" presetClass="entr" presetSubtype="0" fill="hold" nodeType="withEffect">
                                  <p:stCondLst>
                                    <p:cond delay="1750"/>
                                  </p:stCondLst>
                                  <p:childTnLst>
                                    <p:set>
                                      <p:cBhvr>
                                        <p:cTn id="252" dur="1" fill="hold">
                                          <p:stCondLst>
                                            <p:cond delay="0"/>
                                          </p:stCondLst>
                                        </p:cTn>
                                        <p:tgtEl>
                                          <p:spTgt spid="94"/>
                                        </p:tgtEl>
                                        <p:attrNameLst>
                                          <p:attrName>style.visibility</p:attrName>
                                        </p:attrNameLst>
                                      </p:cBhvr>
                                      <p:to>
                                        <p:strVal val="visible"/>
                                      </p:to>
                                    </p:set>
                                    <p:animEffect transition="in" filter="fade">
                                      <p:cBhvr>
                                        <p:cTn id="253" dur="400"/>
                                        <p:tgtEl>
                                          <p:spTgt spid="94"/>
                                        </p:tgtEl>
                                      </p:cBhvr>
                                    </p:animEffect>
                                  </p:childTnLst>
                                </p:cTn>
                              </p:par>
                              <p:par>
                                <p:cTn id="254" presetID="10" presetClass="entr" presetSubtype="0" fill="hold" nodeType="withEffect">
                                  <p:stCondLst>
                                    <p:cond delay="1750"/>
                                  </p:stCondLst>
                                  <p:childTnLst>
                                    <p:set>
                                      <p:cBhvr>
                                        <p:cTn id="255" dur="1" fill="hold">
                                          <p:stCondLst>
                                            <p:cond delay="0"/>
                                          </p:stCondLst>
                                        </p:cTn>
                                        <p:tgtEl>
                                          <p:spTgt spid="95"/>
                                        </p:tgtEl>
                                        <p:attrNameLst>
                                          <p:attrName>style.visibility</p:attrName>
                                        </p:attrNameLst>
                                      </p:cBhvr>
                                      <p:to>
                                        <p:strVal val="visible"/>
                                      </p:to>
                                    </p:set>
                                    <p:animEffect transition="in" filter="fade">
                                      <p:cBhvr>
                                        <p:cTn id="256" dur="400"/>
                                        <p:tgtEl>
                                          <p:spTgt spid="95"/>
                                        </p:tgtEl>
                                      </p:cBhvr>
                                    </p:animEffect>
                                  </p:childTnLst>
                                </p:cTn>
                              </p:par>
                              <p:par>
                                <p:cTn id="257" presetID="10" presetClass="entr" presetSubtype="0" fill="hold" nodeType="withEffect">
                                  <p:stCondLst>
                                    <p:cond delay="1750"/>
                                  </p:stCondLst>
                                  <p:childTnLst>
                                    <p:set>
                                      <p:cBhvr>
                                        <p:cTn id="258" dur="1" fill="hold">
                                          <p:stCondLst>
                                            <p:cond delay="0"/>
                                          </p:stCondLst>
                                        </p:cTn>
                                        <p:tgtEl>
                                          <p:spTgt spid="96"/>
                                        </p:tgtEl>
                                        <p:attrNameLst>
                                          <p:attrName>style.visibility</p:attrName>
                                        </p:attrNameLst>
                                      </p:cBhvr>
                                      <p:to>
                                        <p:strVal val="visible"/>
                                      </p:to>
                                    </p:set>
                                    <p:animEffect transition="in" filter="fade">
                                      <p:cBhvr>
                                        <p:cTn id="259" dur="400"/>
                                        <p:tgtEl>
                                          <p:spTgt spid="96"/>
                                        </p:tgtEl>
                                      </p:cBhvr>
                                    </p:animEffect>
                                  </p:childTnLst>
                                </p:cTn>
                              </p:par>
                              <p:par>
                                <p:cTn id="260" presetID="10" presetClass="entr" presetSubtype="0" fill="hold" nodeType="withEffect">
                                  <p:stCondLst>
                                    <p:cond delay="1750"/>
                                  </p:stCondLst>
                                  <p:childTnLst>
                                    <p:set>
                                      <p:cBhvr>
                                        <p:cTn id="261" dur="1" fill="hold">
                                          <p:stCondLst>
                                            <p:cond delay="0"/>
                                          </p:stCondLst>
                                        </p:cTn>
                                        <p:tgtEl>
                                          <p:spTgt spid="97"/>
                                        </p:tgtEl>
                                        <p:attrNameLst>
                                          <p:attrName>style.visibility</p:attrName>
                                        </p:attrNameLst>
                                      </p:cBhvr>
                                      <p:to>
                                        <p:strVal val="visible"/>
                                      </p:to>
                                    </p:set>
                                    <p:animEffect transition="in" filter="fade">
                                      <p:cBhvr>
                                        <p:cTn id="262" dur="400"/>
                                        <p:tgtEl>
                                          <p:spTgt spid="97"/>
                                        </p:tgtEl>
                                      </p:cBhvr>
                                    </p:animEffect>
                                  </p:childTnLst>
                                </p:cTn>
                              </p:par>
                              <p:par>
                                <p:cTn id="263" presetID="10" presetClass="entr" presetSubtype="0" fill="hold" nodeType="withEffect">
                                  <p:stCondLst>
                                    <p:cond delay="1750"/>
                                  </p:stCondLst>
                                  <p:childTnLst>
                                    <p:set>
                                      <p:cBhvr>
                                        <p:cTn id="264" dur="1" fill="hold">
                                          <p:stCondLst>
                                            <p:cond delay="0"/>
                                          </p:stCondLst>
                                        </p:cTn>
                                        <p:tgtEl>
                                          <p:spTgt spid="98"/>
                                        </p:tgtEl>
                                        <p:attrNameLst>
                                          <p:attrName>style.visibility</p:attrName>
                                        </p:attrNameLst>
                                      </p:cBhvr>
                                      <p:to>
                                        <p:strVal val="visible"/>
                                      </p:to>
                                    </p:set>
                                    <p:animEffect transition="in" filter="fade">
                                      <p:cBhvr>
                                        <p:cTn id="265" dur="400"/>
                                        <p:tgtEl>
                                          <p:spTgt spid="98"/>
                                        </p:tgtEl>
                                      </p:cBhvr>
                                    </p:animEffect>
                                  </p:childTnLst>
                                </p:cTn>
                              </p:par>
                              <p:par>
                                <p:cTn id="266" presetID="10" presetClass="entr" presetSubtype="0" fill="hold" nodeType="withEffect">
                                  <p:stCondLst>
                                    <p:cond delay="1750"/>
                                  </p:stCondLst>
                                  <p:childTnLst>
                                    <p:set>
                                      <p:cBhvr>
                                        <p:cTn id="267" dur="1" fill="hold">
                                          <p:stCondLst>
                                            <p:cond delay="0"/>
                                          </p:stCondLst>
                                        </p:cTn>
                                        <p:tgtEl>
                                          <p:spTgt spid="99"/>
                                        </p:tgtEl>
                                        <p:attrNameLst>
                                          <p:attrName>style.visibility</p:attrName>
                                        </p:attrNameLst>
                                      </p:cBhvr>
                                      <p:to>
                                        <p:strVal val="visible"/>
                                      </p:to>
                                    </p:set>
                                    <p:animEffect transition="in" filter="fade">
                                      <p:cBhvr>
                                        <p:cTn id="268" dur="400"/>
                                        <p:tgtEl>
                                          <p:spTgt spid="99"/>
                                        </p:tgtEl>
                                      </p:cBhvr>
                                    </p:animEffect>
                                  </p:childTnLst>
                                </p:cTn>
                              </p:par>
                              <p:par>
                                <p:cTn id="269" presetID="10" presetClass="entr" presetSubtype="0" fill="hold" nodeType="withEffect">
                                  <p:stCondLst>
                                    <p:cond delay="1750"/>
                                  </p:stCondLst>
                                  <p:childTnLst>
                                    <p:set>
                                      <p:cBhvr>
                                        <p:cTn id="270" dur="1" fill="hold">
                                          <p:stCondLst>
                                            <p:cond delay="0"/>
                                          </p:stCondLst>
                                        </p:cTn>
                                        <p:tgtEl>
                                          <p:spTgt spid="100"/>
                                        </p:tgtEl>
                                        <p:attrNameLst>
                                          <p:attrName>style.visibility</p:attrName>
                                        </p:attrNameLst>
                                      </p:cBhvr>
                                      <p:to>
                                        <p:strVal val="visible"/>
                                      </p:to>
                                    </p:set>
                                    <p:animEffect transition="in" filter="fade">
                                      <p:cBhvr>
                                        <p:cTn id="271" dur="400"/>
                                        <p:tgtEl>
                                          <p:spTgt spid="100"/>
                                        </p:tgtEl>
                                      </p:cBhvr>
                                    </p:animEffect>
                                  </p:childTnLst>
                                </p:cTn>
                              </p:par>
                              <p:par>
                                <p:cTn id="272" presetID="10" presetClass="entr" presetSubtype="0" fill="hold" nodeType="withEffect">
                                  <p:stCondLst>
                                    <p:cond delay="1750"/>
                                  </p:stCondLst>
                                  <p:childTnLst>
                                    <p:set>
                                      <p:cBhvr>
                                        <p:cTn id="273" dur="1" fill="hold">
                                          <p:stCondLst>
                                            <p:cond delay="0"/>
                                          </p:stCondLst>
                                        </p:cTn>
                                        <p:tgtEl>
                                          <p:spTgt spid="101"/>
                                        </p:tgtEl>
                                        <p:attrNameLst>
                                          <p:attrName>style.visibility</p:attrName>
                                        </p:attrNameLst>
                                      </p:cBhvr>
                                      <p:to>
                                        <p:strVal val="visible"/>
                                      </p:to>
                                    </p:set>
                                    <p:animEffect transition="in" filter="fade">
                                      <p:cBhvr>
                                        <p:cTn id="274" dur="400"/>
                                        <p:tgtEl>
                                          <p:spTgt spid="101"/>
                                        </p:tgtEl>
                                      </p:cBhvr>
                                    </p:animEffect>
                                  </p:childTnLst>
                                </p:cTn>
                              </p:par>
                              <p:par>
                                <p:cTn id="275" presetID="10" presetClass="entr" presetSubtype="0" fill="hold" nodeType="withEffect">
                                  <p:stCondLst>
                                    <p:cond delay="1750"/>
                                  </p:stCondLst>
                                  <p:childTnLst>
                                    <p:set>
                                      <p:cBhvr>
                                        <p:cTn id="276" dur="1" fill="hold">
                                          <p:stCondLst>
                                            <p:cond delay="0"/>
                                          </p:stCondLst>
                                        </p:cTn>
                                        <p:tgtEl>
                                          <p:spTgt spid="102"/>
                                        </p:tgtEl>
                                        <p:attrNameLst>
                                          <p:attrName>style.visibility</p:attrName>
                                        </p:attrNameLst>
                                      </p:cBhvr>
                                      <p:to>
                                        <p:strVal val="visible"/>
                                      </p:to>
                                    </p:set>
                                    <p:animEffect transition="in" filter="fade">
                                      <p:cBhvr>
                                        <p:cTn id="277" dur="400"/>
                                        <p:tgtEl>
                                          <p:spTgt spid="102"/>
                                        </p:tgtEl>
                                      </p:cBhvr>
                                    </p:animEffect>
                                  </p:childTnLst>
                                </p:cTn>
                              </p:par>
                              <p:par>
                                <p:cTn id="278" presetID="10" presetClass="entr" presetSubtype="0" fill="hold" nodeType="withEffect">
                                  <p:stCondLst>
                                    <p:cond delay="1750"/>
                                  </p:stCondLst>
                                  <p:childTnLst>
                                    <p:set>
                                      <p:cBhvr>
                                        <p:cTn id="279" dur="1" fill="hold">
                                          <p:stCondLst>
                                            <p:cond delay="0"/>
                                          </p:stCondLst>
                                        </p:cTn>
                                        <p:tgtEl>
                                          <p:spTgt spid="103"/>
                                        </p:tgtEl>
                                        <p:attrNameLst>
                                          <p:attrName>style.visibility</p:attrName>
                                        </p:attrNameLst>
                                      </p:cBhvr>
                                      <p:to>
                                        <p:strVal val="visible"/>
                                      </p:to>
                                    </p:set>
                                    <p:animEffect transition="in" filter="fade">
                                      <p:cBhvr>
                                        <p:cTn id="280" dur="400"/>
                                        <p:tgtEl>
                                          <p:spTgt spid="103"/>
                                        </p:tgtEl>
                                      </p:cBhvr>
                                    </p:animEffect>
                                  </p:childTnLst>
                                </p:cTn>
                              </p:par>
                              <p:par>
                                <p:cTn id="281" presetID="10" presetClass="entr" presetSubtype="0" fill="hold" nodeType="withEffect">
                                  <p:stCondLst>
                                    <p:cond delay="1750"/>
                                  </p:stCondLst>
                                  <p:childTnLst>
                                    <p:set>
                                      <p:cBhvr>
                                        <p:cTn id="282" dur="1" fill="hold">
                                          <p:stCondLst>
                                            <p:cond delay="0"/>
                                          </p:stCondLst>
                                        </p:cTn>
                                        <p:tgtEl>
                                          <p:spTgt spid="104"/>
                                        </p:tgtEl>
                                        <p:attrNameLst>
                                          <p:attrName>style.visibility</p:attrName>
                                        </p:attrNameLst>
                                      </p:cBhvr>
                                      <p:to>
                                        <p:strVal val="visible"/>
                                      </p:to>
                                    </p:set>
                                    <p:animEffect transition="in" filter="fade">
                                      <p:cBhvr>
                                        <p:cTn id="283" dur="400"/>
                                        <p:tgtEl>
                                          <p:spTgt spid="104"/>
                                        </p:tgtEl>
                                      </p:cBhvr>
                                    </p:animEffect>
                                  </p:childTnLst>
                                </p:cTn>
                              </p:par>
                              <p:par>
                                <p:cTn id="284" presetID="10" presetClass="entr" presetSubtype="0" fill="hold" nodeType="withEffect">
                                  <p:stCondLst>
                                    <p:cond delay="1750"/>
                                  </p:stCondLst>
                                  <p:childTnLst>
                                    <p:set>
                                      <p:cBhvr>
                                        <p:cTn id="285" dur="1" fill="hold">
                                          <p:stCondLst>
                                            <p:cond delay="0"/>
                                          </p:stCondLst>
                                        </p:cTn>
                                        <p:tgtEl>
                                          <p:spTgt spid="105"/>
                                        </p:tgtEl>
                                        <p:attrNameLst>
                                          <p:attrName>style.visibility</p:attrName>
                                        </p:attrNameLst>
                                      </p:cBhvr>
                                      <p:to>
                                        <p:strVal val="visible"/>
                                      </p:to>
                                    </p:set>
                                    <p:animEffect transition="in" filter="fade">
                                      <p:cBhvr>
                                        <p:cTn id="286" dur="400"/>
                                        <p:tgtEl>
                                          <p:spTgt spid="105"/>
                                        </p:tgtEl>
                                      </p:cBhvr>
                                    </p:animEffect>
                                  </p:childTnLst>
                                </p:cTn>
                              </p:par>
                              <p:par>
                                <p:cTn id="287" presetID="10" presetClass="entr" presetSubtype="0" fill="hold" nodeType="withEffect">
                                  <p:stCondLst>
                                    <p:cond delay="1750"/>
                                  </p:stCondLst>
                                  <p:childTnLst>
                                    <p:set>
                                      <p:cBhvr>
                                        <p:cTn id="288" dur="1" fill="hold">
                                          <p:stCondLst>
                                            <p:cond delay="0"/>
                                          </p:stCondLst>
                                        </p:cTn>
                                        <p:tgtEl>
                                          <p:spTgt spid="106"/>
                                        </p:tgtEl>
                                        <p:attrNameLst>
                                          <p:attrName>style.visibility</p:attrName>
                                        </p:attrNameLst>
                                      </p:cBhvr>
                                      <p:to>
                                        <p:strVal val="visible"/>
                                      </p:to>
                                    </p:set>
                                    <p:animEffect transition="in" filter="fade">
                                      <p:cBhvr>
                                        <p:cTn id="289" dur="400"/>
                                        <p:tgtEl>
                                          <p:spTgt spid="106"/>
                                        </p:tgtEl>
                                      </p:cBhvr>
                                    </p:animEffect>
                                  </p:childTnLst>
                                </p:cTn>
                              </p:par>
                              <p:par>
                                <p:cTn id="290" presetID="10" presetClass="entr" presetSubtype="0" fill="hold" nodeType="withEffect">
                                  <p:stCondLst>
                                    <p:cond delay="1750"/>
                                  </p:stCondLst>
                                  <p:childTnLst>
                                    <p:set>
                                      <p:cBhvr>
                                        <p:cTn id="291" dur="1" fill="hold">
                                          <p:stCondLst>
                                            <p:cond delay="0"/>
                                          </p:stCondLst>
                                        </p:cTn>
                                        <p:tgtEl>
                                          <p:spTgt spid="107"/>
                                        </p:tgtEl>
                                        <p:attrNameLst>
                                          <p:attrName>style.visibility</p:attrName>
                                        </p:attrNameLst>
                                      </p:cBhvr>
                                      <p:to>
                                        <p:strVal val="visible"/>
                                      </p:to>
                                    </p:set>
                                    <p:animEffect transition="in" filter="fade">
                                      <p:cBhvr>
                                        <p:cTn id="292" dur="400"/>
                                        <p:tgtEl>
                                          <p:spTgt spid="107"/>
                                        </p:tgtEl>
                                      </p:cBhvr>
                                    </p:animEffect>
                                  </p:childTnLst>
                                </p:cTn>
                              </p:par>
                              <p:par>
                                <p:cTn id="293" presetID="10" presetClass="entr" presetSubtype="0" fill="hold" nodeType="withEffect">
                                  <p:stCondLst>
                                    <p:cond delay="1750"/>
                                  </p:stCondLst>
                                  <p:childTnLst>
                                    <p:set>
                                      <p:cBhvr>
                                        <p:cTn id="294" dur="1" fill="hold">
                                          <p:stCondLst>
                                            <p:cond delay="0"/>
                                          </p:stCondLst>
                                        </p:cTn>
                                        <p:tgtEl>
                                          <p:spTgt spid="108"/>
                                        </p:tgtEl>
                                        <p:attrNameLst>
                                          <p:attrName>style.visibility</p:attrName>
                                        </p:attrNameLst>
                                      </p:cBhvr>
                                      <p:to>
                                        <p:strVal val="visible"/>
                                      </p:to>
                                    </p:set>
                                    <p:animEffect transition="in" filter="fade">
                                      <p:cBhvr>
                                        <p:cTn id="295" dur="400"/>
                                        <p:tgtEl>
                                          <p:spTgt spid="108"/>
                                        </p:tgtEl>
                                      </p:cBhvr>
                                    </p:animEffect>
                                  </p:childTnLst>
                                </p:cTn>
                              </p:par>
                              <p:par>
                                <p:cTn id="296" presetID="10" presetClass="entr" presetSubtype="0" fill="hold" nodeType="withEffect">
                                  <p:stCondLst>
                                    <p:cond delay="1750"/>
                                  </p:stCondLst>
                                  <p:childTnLst>
                                    <p:set>
                                      <p:cBhvr>
                                        <p:cTn id="297" dur="1" fill="hold">
                                          <p:stCondLst>
                                            <p:cond delay="0"/>
                                          </p:stCondLst>
                                        </p:cTn>
                                        <p:tgtEl>
                                          <p:spTgt spid="109"/>
                                        </p:tgtEl>
                                        <p:attrNameLst>
                                          <p:attrName>style.visibility</p:attrName>
                                        </p:attrNameLst>
                                      </p:cBhvr>
                                      <p:to>
                                        <p:strVal val="visible"/>
                                      </p:to>
                                    </p:set>
                                    <p:animEffect transition="in" filter="fade">
                                      <p:cBhvr>
                                        <p:cTn id="298" dur="400"/>
                                        <p:tgtEl>
                                          <p:spTgt spid="109"/>
                                        </p:tgtEl>
                                      </p:cBhvr>
                                    </p:animEffect>
                                  </p:childTnLst>
                                </p:cTn>
                              </p:par>
                              <p:par>
                                <p:cTn id="299" presetID="10" presetClass="entr" presetSubtype="0" fill="hold" nodeType="withEffect">
                                  <p:stCondLst>
                                    <p:cond delay="1750"/>
                                  </p:stCondLst>
                                  <p:childTnLst>
                                    <p:set>
                                      <p:cBhvr>
                                        <p:cTn id="300" dur="1" fill="hold">
                                          <p:stCondLst>
                                            <p:cond delay="0"/>
                                          </p:stCondLst>
                                        </p:cTn>
                                        <p:tgtEl>
                                          <p:spTgt spid="110"/>
                                        </p:tgtEl>
                                        <p:attrNameLst>
                                          <p:attrName>style.visibility</p:attrName>
                                        </p:attrNameLst>
                                      </p:cBhvr>
                                      <p:to>
                                        <p:strVal val="visible"/>
                                      </p:to>
                                    </p:set>
                                    <p:animEffect transition="in" filter="fade">
                                      <p:cBhvr>
                                        <p:cTn id="301" dur="400"/>
                                        <p:tgtEl>
                                          <p:spTgt spid="110"/>
                                        </p:tgtEl>
                                      </p:cBhvr>
                                    </p:animEffect>
                                  </p:childTnLst>
                                </p:cTn>
                              </p:par>
                              <p:par>
                                <p:cTn id="302" presetID="10" presetClass="entr" presetSubtype="0" fill="hold" nodeType="withEffect">
                                  <p:stCondLst>
                                    <p:cond delay="2000"/>
                                  </p:stCondLst>
                                  <p:childTnLst>
                                    <p:set>
                                      <p:cBhvr>
                                        <p:cTn id="303" dur="1" fill="hold">
                                          <p:stCondLst>
                                            <p:cond delay="0"/>
                                          </p:stCondLst>
                                        </p:cTn>
                                        <p:tgtEl>
                                          <p:spTgt spid="111"/>
                                        </p:tgtEl>
                                        <p:attrNameLst>
                                          <p:attrName>style.visibility</p:attrName>
                                        </p:attrNameLst>
                                      </p:cBhvr>
                                      <p:to>
                                        <p:strVal val="visible"/>
                                      </p:to>
                                    </p:set>
                                    <p:animEffect transition="in" filter="fade">
                                      <p:cBhvr>
                                        <p:cTn id="304" dur="400"/>
                                        <p:tgtEl>
                                          <p:spTgt spid="111"/>
                                        </p:tgtEl>
                                      </p:cBhvr>
                                    </p:animEffect>
                                  </p:childTnLst>
                                </p:cTn>
                              </p:par>
                              <p:par>
                                <p:cTn id="305" presetID="10" presetClass="entr" presetSubtype="0" fill="hold" nodeType="withEffect">
                                  <p:stCondLst>
                                    <p:cond delay="2000"/>
                                  </p:stCondLst>
                                  <p:childTnLst>
                                    <p:set>
                                      <p:cBhvr>
                                        <p:cTn id="306" dur="1" fill="hold">
                                          <p:stCondLst>
                                            <p:cond delay="0"/>
                                          </p:stCondLst>
                                        </p:cTn>
                                        <p:tgtEl>
                                          <p:spTgt spid="112"/>
                                        </p:tgtEl>
                                        <p:attrNameLst>
                                          <p:attrName>style.visibility</p:attrName>
                                        </p:attrNameLst>
                                      </p:cBhvr>
                                      <p:to>
                                        <p:strVal val="visible"/>
                                      </p:to>
                                    </p:set>
                                    <p:animEffect transition="in" filter="fade">
                                      <p:cBhvr>
                                        <p:cTn id="307" dur="400"/>
                                        <p:tgtEl>
                                          <p:spTgt spid="112"/>
                                        </p:tgtEl>
                                      </p:cBhvr>
                                    </p:animEffect>
                                  </p:childTnLst>
                                </p:cTn>
                              </p:par>
                              <p:par>
                                <p:cTn id="308" presetID="10" presetClass="entr" presetSubtype="0" fill="hold" nodeType="withEffect">
                                  <p:stCondLst>
                                    <p:cond delay="2000"/>
                                  </p:stCondLst>
                                  <p:childTnLst>
                                    <p:set>
                                      <p:cBhvr>
                                        <p:cTn id="309" dur="1" fill="hold">
                                          <p:stCondLst>
                                            <p:cond delay="0"/>
                                          </p:stCondLst>
                                        </p:cTn>
                                        <p:tgtEl>
                                          <p:spTgt spid="113"/>
                                        </p:tgtEl>
                                        <p:attrNameLst>
                                          <p:attrName>style.visibility</p:attrName>
                                        </p:attrNameLst>
                                      </p:cBhvr>
                                      <p:to>
                                        <p:strVal val="visible"/>
                                      </p:to>
                                    </p:set>
                                    <p:animEffect transition="in" filter="fade">
                                      <p:cBhvr>
                                        <p:cTn id="310" dur="400"/>
                                        <p:tgtEl>
                                          <p:spTgt spid="113"/>
                                        </p:tgtEl>
                                      </p:cBhvr>
                                    </p:animEffect>
                                  </p:childTnLst>
                                </p:cTn>
                              </p:par>
                              <p:par>
                                <p:cTn id="311" presetID="10" presetClass="entr" presetSubtype="0" fill="hold" nodeType="withEffect">
                                  <p:stCondLst>
                                    <p:cond delay="2000"/>
                                  </p:stCondLst>
                                  <p:childTnLst>
                                    <p:set>
                                      <p:cBhvr>
                                        <p:cTn id="312" dur="1" fill="hold">
                                          <p:stCondLst>
                                            <p:cond delay="0"/>
                                          </p:stCondLst>
                                        </p:cTn>
                                        <p:tgtEl>
                                          <p:spTgt spid="114"/>
                                        </p:tgtEl>
                                        <p:attrNameLst>
                                          <p:attrName>style.visibility</p:attrName>
                                        </p:attrNameLst>
                                      </p:cBhvr>
                                      <p:to>
                                        <p:strVal val="visible"/>
                                      </p:to>
                                    </p:set>
                                    <p:animEffect transition="in" filter="fade">
                                      <p:cBhvr>
                                        <p:cTn id="313" dur="400"/>
                                        <p:tgtEl>
                                          <p:spTgt spid="114"/>
                                        </p:tgtEl>
                                      </p:cBhvr>
                                    </p:animEffect>
                                  </p:childTnLst>
                                </p:cTn>
                              </p:par>
                              <p:par>
                                <p:cTn id="314" presetID="10" presetClass="entr" presetSubtype="0" fill="hold" nodeType="withEffect">
                                  <p:stCondLst>
                                    <p:cond delay="2000"/>
                                  </p:stCondLst>
                                  <p:childTnLst>
                                    <p:set>
                                      <p:cBhvr>
                                        <p:cTn id="315" dur="1" fill="hold">
                                          <p:stCondLst>
                                            <p:cond delay="0"/>
                                          </p:stCondLst>
                                        </p:cTn>
                                        <p:tgtEl>
                                          <p:spTgt spid="115"/>
                                        </p:tgtEl>
                                        <p:attrNameLst>
                                          <p:attrName>style.visibility</p:attrName>
                                        </p:attrNameLst>
                                      </p:cBhvr>
                                      <p:to>
                                        <p:strVal val="visible"/>
                                      </p:to>
                                    </p:set>
                                    <p:animEffect transition="in" filter="fade">
                                      <p:cBhvr>
                                        <p:cTn id="316" dur="400"/>
                                        <p:tgtEl>
                                          <p:spTgt spid="115"/>
                                        </p:tgtEl>
                                      </p:cBhvr>
                                    </p:animEffect>
                                  </p:childTnLst>
                                </p:cTn>
                              </p:par>
                              <p:par>
                                <p:cTn id="317" presetID="10" presetClass="entr" presetSubtype="0" fill="hold" nodeType="withEffect">
                                  <p:stCondLst>
                                    <p:cond delay="2000"/>
                                  </p:stCondLst>
                                  <p:childTnLst>
                                    <p:set>
                                      <p:cBhvr>
                                        <p:cTn id="318" dur="1" fill="hold">
                                          <p:stCondLst>
                                            <p:cond delay="0"/>
                                          </p:stCondLst>
                                        </p:cTn>
                                        <p:tgtEl>
                                          <p:spTgt spid="116"/>
                                        </p:tgtEl>
                                        <p:attrNameLst>
                                          <p:attrName>style.visibility</p:attrName>
                                        </p:attrNameLst>
                                      </p:cBhvr>
                                      <p:to>
                                        <p:strVal val="visible"/>
                                      </p:to>
                                    </p:set>
                                    <p:animEffect transition="in" filter="fade">
                                      <p:cBhvr>
                                        <p:cTn id="319" dur="400"/>
                                        <p:tgtEl>
                                          <p:spTgt spid="116"/>
                                        </p:tgtEl>
                                      </p:cBhvr>
                                    </p:animEffect>
                                  </p:childTnLst>
                                </p:cTn>
                              </p:par>
                              <p:par>
                                <p:cTn id="320" presetID="10" presetClass="entr" presetSubtype="0" fill="hold" nodeType="withEffect">
                                  <p:stCondLst>
                                    <p:cond delay="2000"/>
                                  </p:stCondLst>
                                  <p:childTnLst>
                                    <p:set>
                                      <p:cBhvr>
                                        <p:cTn id="321" dur="1" fill="hold">
                                          <p:stCondLst>
                                            <p:cond delay="0"/>
                                          </p:stCondLst>
                                        </p:cTn>
                                        <p:tgtEl>
                                          <p:spTgt spid="117"/>
                                        </p:tgtEl>
                                        <p:attrNameLst>
                                          <p:attrName>style.visibility</p:attrName>
                                        </p:attrNameLst>
                                      </p:cBhvr>
                                      <p:to>
                                        <p:strVal val="visible"/>
                                      </p:to>
                                    </p:set>
                                    <p:animEffect transition="in" filter="fade">
                                      <p:cBhvr>
                                        <p:cTn id="322" dur="400"/>
                                        <p:tgtEl>
                                          <p:spTgt spid="117"/>
                                        </p:tgtEl>
                                      </p:cBhvr>
                                    </p:animEffect>
                                  </p:childTnLst>
                                </p:cTn>
                              </p:par>
                              <p:par>
                                <p:cTn id="323" presetID="10" presetClass="entr" presetSubtype="0" fill="hold" nodeType="withEffect">
                                  <p:stCondLst>
                                    <p:cond delay="2000"/>
                                  </p:stCondLst>
                                  <p:childTnLst>
                                    <p:set>
                                      <p:cBhvr>
                                        <p:cTn id="324" dur="1" fill="hold">
                                          <p:stCondLst>
                                            <p:cond delay="0"/>
                                          </p:stCondLst>
                                        </p:cTn>
                                        <p:tgtEl>
                                          <p:spTgt spid="118"/>
                                        </p:tgtEl>
                                        <p:attrNameLst>
                                          <p:attrName>style.visibility</p:attrName>
                                        </p:attrNameLst>
                                      </p:cBhvr>
                                      <p:to>
                                        <p:strVal val="visible"/>
                                      </p:to>
                                    </p:set>
                                    <p:animEffect transition="in" filter="fade">
                                      <p:cBhvr>
                                        <p:cTn id="325" dur="400"/>
                                        <p:tgtEl>
                                          <p:spTgt spid="118"/>
                                        </p:tgtEl>
                                      </p:cBhvr>
                                    </p:animEffect>
                                  </p:childTnLst>
                                </p:cTn>
                              </p:par>
                              <p:par>
                                <p:cTn id="326" presetID="10" presetClass="entr" presetSubtype="0" fill="hold" nodeType="withEffect">
                                  <p:stCondLst>
                                    <p:cond delay="2000"/>
                                  </p:stCondLst>
                                  <p:childTnLst>
                                    <p:set>
                                      <p:cBhvr>
                                        <p:cTn id="327" dur="1" fill="hold">
                                          <p:stCondLst>
                                            <p:cond delay="0"/>
                                          </p:stCondLst>
                                        </p:cTn>
                                        <p:tgtEl>
                                          <p:spTgt spid="119"/>
                                        </p:tgtEl>
                                        <p:attrNameLst>
                                          <p:attrName>style.visibility</p:attrName>
                                        </p:attrNameLst>
                                      </p:cBhvr>
                                      <p:to>
                                        <p:strVal val="visible"/>
                                      </p:to>
                                    </p:set>
                                    <p:animEffect transition="in" filter="fade">
                                      <p:cBhvr>
                                        <p:cTn id="328" dur="400"/>
                                        <p:tgtEl>
                                          <p:spTgt spid="119"/>
                                        </p:tgtEl>
                                      </p:cBhvr>
                                    </p:animEffect>
                                  </p:childTnLst>
                                </p:cTn>
                              </p:par>
                              <p:par>
                                <p:cTn id="329" presetID="10" presetClass="entr" presetSubtype="0" fill="hold" nodeType="withEffect">
                                  <p:stCondLst>
                                    <p:cond delay="2000"/>
                                  </p:stCondLst>
                                  <p:childTnLst>
                                    <p:set>
                                      <p:cBhvr>
                                        <p:cTn id="330" dur="1" fill="hold">
                                          <p:stCondLst>
                                            <p:cond delay="0"/>
                                          </p:stCondLst>
                                        </p:cTn>
                                        <p:tgtEl>
                                          <p:spTgt spid="120"/>
                                        </p:tgtEl>
                                        <p:attrNameLst>
                                          <p:attrName>style.visibility</p:attrName>
                                        </p:attrNameLst>
                                      </p:cBhvr>
                                      <p:to>
                                        <p:strVal val="visible"/>
                                      </p:to>
                                    </p:set>
                                    <p:animEffect transition="in" filter="fade">
                                      <p:cBhvr>
                                        <p:cTn id="331" dur="400"/>
                                        <p:tgtEl>
                                          <p:spTgt spid="120"/>
                                        </p:tgtEl>
                                      </p:cBhvr>
                                    </p:animEffect>
                                  </p:childTnLst>
                                </p:cTn>
                              </p:par>
                              <p:par>
                                <p:cTn id="332" presetID="10" presetClass="entr" presetSubtype="0" fill="hold" nodeType="withEffect">
                                  <p:stCondLst>
                                    <p:cond delay="2000"/>
                                  </p:stCondLst>
                                  <p:childTnLst>
                                    <p:set>
                                      <p:cBhvr>
                                        <p:cTn id="333" dur="1" fill="hold">
                                          <p:stCondLst>
                                            <p:cond delay="0"/>
                                          </p:stCondLst>
                                        </p:cTn>
                                        <p:tgtEl>
                                          <p:spTgt spid="121"/>
                                        </p:tgtEl>
                                        <p:attrNameLst>
                                          <p:attrName>style.visibility</p:attrName>
                                        </p:attrNameLst>
                                      </p:cBhvr>
                                      <p:to>
                                        <p:strVal val="visible"/>
                                      </p:to>
                                    </p:set>
                                    <p:animEffect transition="in" filter="fade">
                                      <p:cBhvr>
                                        <p:cTn id="334" dur="400"/>
                                        <p:tgtEl>
                                          <p:spTgt spid="121"/>
                                        </p:tgtEl>
                                      </p:cBhvr>
                                    </p:animEffect>
                                  </p:childTnLst>
                                </p:cTn>
                              </p:par>
                              <p:par>
                                <p:cTn id="335" presetID="10" presetClass="entr" presetSubtype="0" fill="hold" nodeType="withEffect">
                                  <p:stCondLst>
                                    <p:cond delay="2000"/>
                                  </p:stCondLst>
                                  <p:childTnLst>
                                    <p:set>
                                      <p:cBhvr>
                                        <p:cTn id="336" dur="1" fill="hold">
                                          <p:stCondLst>
                                            <p:cond delay="0"/>
                                          </p:stCondLst>
                                        </p:cTn>
                                        <p:tgtEl>
                                          <p:spTgt spid="122"/>
                                        </p:tgtEl>
                                        <p:attrNameLst>
                                          <p:attrName>style.visibility</p:attrName>
                                        </p:attrNameLst>
                                      </p:cBhvr>
                                      <p:to>
                                        <p:strVal val="visible"/>
                                      </p:to>
                                    </p:set>
                                    <p:animEffect transition="in" filter="fade">
                                      <p:cBhvr>
                                        <p:cTn id="337" dur="400"/>
                                        <p:tgtEl>
                                          <p:spTgt spid="122"/>
                                        </p:tgtEl>
                                      </p:cBhvr>
                                    </p:animEffect>
                                  </p:childTnLst>
                                </p:cTn>
                              </p:par>
                              <p:par>
                                <p:cTn id="338" presetID="10" presetClass="entr" presetSubtype="0" fill="hold" nodeType="withEffect">
                                  <p:stCondLst>
                                    <p:cond delay="2000"/>
                                  </p:stCondLst>
                                  <p:childTnLst>
                                    <p:set>
                                      <p:cBhvr>
                                        <p:cTn id="339" dur="1" fill="hold">
                                          <p:stCondLst>
                                            <p:cond delay="0"/>
                                          </p:stCondLst>
                                        </p:cTn>
                                        <p:tgtEl>
                                          <p:spTgt spid="123"/>
                                        </p:tgtEl>
                                        <p:attrNameLst>
                                          <p:attrName>style.visibility</p:attrName>
                                        </p:attrNameLst>
                                      </p:cBhvr>
                                      <p:to>
                                        <p:strVal val="visible"/>
                                      </p:to>
                                    </p:set>
                                    <p:animEffect transition="in" filter="fade">
                                      <p:cBhvr>
                                        <p:cTn id="340" dur="400"/>
                                        <p:tgtEl>
                                          <p:spTgt spid="123"/>
                                        </p:tgtEl>
                                      </p:cBhvr>
                                    </p:animEffect>
                                  </p:childTnLst>
                                </p:cTn>
                              </p:par>
                              <p:par>
                                <p:cTn id="341" presetID="10" presetClass="entr" presetSubtype="0" fill="hold" nodeType="withEffect">
                                  <p:stCondLst>
                                    <p:cond delay="2000"/>
                                  </p:stCondLst>
                                  <p:childTnLst>
                                    <p:set>
                                      <p:cBhvr>
                                        <p:cTn id="342" dur="1" fill="hold">
                                          <p:stCondLst>
                                            <p:cond delay="0"/>
                                          </p:stCondLst>
                                        </p:cTn>
                                        <p:tgtEl>
                                          <p:spTgt spid="124"/>
                                        </p:tgtEl>
                                        <p:attrNameLst>
                                          <p:attrName>style.visibility</p:attrName>
                                        </p:attrNameLst>
                                      </p:cBhvr>
                                      <p:to>
                                        <p:strVal val="visible"/>
                                      </p:to>
                                    </p:set>
                                    <p:animEffect transition="in" filter="fade">
                                      <p:cBhvr>
                                        <p:cTn id="343" dur="400"/>
                                        <p:tgtEl>
                                          <p:spTgt spid="124"/>
                                        </p:tgtEl>
                                      </p:cBhvr>
                                    </p:animEffect>
                                  </p:childTnLst>
                                </p:cTn>
                              </p:par>
                              <p:par>
                                <p:cTn id="344" presetID="10" presetClass="entr" presetSubtype="0" fill="hold" nodeType="withEffect">
                                  <p:stCondLst>
                                    <p:cond delay="2000"/>
                                  </p:stCondLst>
                                  <p:childTnLst>
                                    <p:set>
                                      <p:cBhvr>
                                        <p:cTn id="345" dur="1" fill="hold">
                                          <p:stCondLst>
                                            <p:cond delay="0"/>
                                          </p:stCondLst>
                                        </p:cTn>
                                        <p:tgtEl>
                                          <p:spTgt spid="125"/>
                                        </p:tgtEl>
                                        <p:attrNameLst>
                                          <p:attrName>style.visibility</p:attrName>
                                        </p:attrNameLst>
                                      </p:cBhvr>
                                      <p:to>
                                        <p:strVal val="visible"/>
                                      </p:to>
                                    </p:set>
                                    <p:animEffect transition="in" filter="fade">
                                      <p:cBhvr>
                                        <p:cTn id="346" dur="400"/>
                                        <p:tgtEl>
                                          <p:spTgt spid="125"/>
                                        </p:tgtEl>
                                      </p:cBhvr>
                                    </p:animEffect>
                                  </p:childTnLst>
                                </p:cTn>
                              </p:par>
                              <p:par>
                                <p:cTn id="347" presetID="10" presetClass="entr" presetSubtype="0" fill="hold" nodeType="withEffect">
                                  <p:stCondLst>
                                    <p:cond delay="2000"/>
                                  </p:stCondLst>
                                  <p:childTnLst>
                                    <p:set>
                                      <p:cBhvr>
                                        <p:cTn id="348" dur="1" fill="hold">
                                          <p:stCondLst>
                                            <p:cond delay="0"/>
                                          </p:stCondLst>
                                        </p:cTn>
                                        <p:tgtEl>
                                          <p:spTgt spid="126"/>
                                        </p:tgtEl>
                                        <p:attrNameLst>
                                          <p:attrName>style.visibility</p:attrName>
                                        </p:attrNameLst>
                                      </p:cBhvr>
                                      <p:to>
                                        <p:strVal val="visible"/>
                                      </p:to>
                                    </p:set>
                                    <p:animEffect transition="in" filter="fade">
                                      <p:cBhvr>
                                        <p:cTn id="349" dur="400"/>
                                        <p:tgtEl>
                                          <p:spTgt spid="126"/>
                                        </p:tgtEl>
                                      </p:cBhvr>
                                    </p:animEffect>
                                  </p:childTnLst>
                                </p:cTn>
                              </p:par>
                              <p:par>
                                <p:cTn id="350" presetID="10" presetClass="entr" presetSubtype="0" fill="hold" nodeType="withEffect">
                                  <p:stCondLst>
                                    <p:cond delay="2000"/>
                                  </p:stCondLst>
                                  <p:childTnLst>
                                    <p:set>
                                      <p:cBhvr>
                                        <p:cTn id="351" dur="1" fill="hold">
                                          <p:stCondLst>
                                            <p:cond delay="0"/>
                                          </p:stCondLst>
                                        </p:cTn>
                                        <p:tgtEl>
                                          <p:spTgt spid="127"/>
                                        </p:tgtEl>
                                        <p:attrNameLst>
                                          <p:attrName>style.visibility</p:attrName>
                                        </p:attrNameLst>
                                      </p:cBhvr>
                                      <p:to>
                                        <p:strVal val="visible"/>
                                      </p:to>
                                    </p:set>
                                    <p:animEffect transition="in" filter="fade">
                                      <p:cBhvr>
                                        <p:cTn id="352" dur="400"/>
                                        <p:tgtEl>
                                          <p:spTgt spid="127"/>
                                        </p:tgtEl>
                                      </p:cBhvr>
                                    </p:animEffect>
                                  </p:childTnLst>
                                </p:cTn>
                              </p:par>
                              <p:par>
                                <p:cTn id="353" presetID="10" presetClass="entr" presetSubtype="0" fill="hold" nodeType="withEffect">
                                  <p:stCondLst>
                                    <p:cond delay="2000"/>
                                  </p:stCondLst>
                                  <p:childTnLst>
                                    <p:set>
                                      <p:cBhvr>
                                        <p:cTn id="354" dur="1" fill="hold">
                                          <p:stCondLst>
                                            <p:cond delay="0"/>
                                          </p:stCondLst>
                                        </p:cTn>
                                        <p:tgtEl>
                                          <p:spTgt spid="128"/>
                                        </p:tgtEl>
                                        <p:attrNameLst>
                                          <p:attrName>style.visibility</p:attrName>
                                        </p:attrNameLst>
                                      </p:cBhvr>
                                      <p:to>
                                        <p:strVal val="visible"/>
                                      </p:to>
                                    </p:set>
                                    <p:animEffect transition="in" filter="fade">
                                      <p:cBhvr>
                                        <p:cTn id="355" dur="400"/>
                                        <p:tgtEl>
                                          <p:spTgt spid="128"/>
                                        </p:tgtEl>
                                      </p:cBhvr>
                                    </p:animEffect>
                                  </p:childTnLst>
                                </p:cTn>
                              </p:par>
                              <p:par>
                                <p:cTn id="356" presetID="10" presetClass="entr" presetSubtype="0" fill="hold" nodeType="withEffect">
                                  <p:stCondLst>
                                    <p:cond delay="2000"/>
                                  </p:stCondLst>
                                  <p:childTnLst>
                                    <p:set>
                                      <p:cBhvr>
                                        <p:cTn id="357" dur="1" fill="hold">
                                          <p:stCondLst>
                                            <p:cond delay="0"/>
                                          </p:stCondLst>
                                        </p:cTn>
                                        <p:tgtEl>
                                          <p:spTgt spid="129"/>
                                        </p:tgtEl>
                                        <p:attrNameLst>
                                          <p:attrName>style.visibility</p:attrName>
                                        </p:attrNameLst>
                                      </p:cBhvr>
                                      <p:to>
                                        <p:strVal val="visible"/>
                                      </p:to>
                                    </p:set>
                                    <p:animEffect transition="in" filter="fade">
                                      <p:cBhvr>
                                        <p:cTn id="358" dur="400"/>
                                        <p:tgtEl>
                                          <p:spTgt spid="129"/>
                                        </p:tgtEl>
                                      </p:cBhvr>
                                    </p:animEffect>
                                  </p:childTnLst>
                                </p:cTn>
                              </p:par>
                              <p:par>
                                <p:cTn id="359" presetID="10" presetClass="entr" presetSubtype="0" fill="hold" nodeType="withEffect">
                                  <p:stCondLst>
                                    <p:cond delay="2000"/>
                                  </p:stCondLst>
                                  <p:childTnLst>
                                    <p:set>
                                      <p:cBhvr>
                                        <p:cTn id="360" dur="1" fill="hold">
                                          <p:stCondLst>
                                            <p:cond delay="0"/>
                                          </p:stCondLst>
                                        </p:cTn>
                                        <p:tgtEl>
                                          <p:spTgt spid="130"/>
                                        </p:tgtEl>
                                        <p:attrNameLst>
                                          <p:attrName>style.visibility</p:attrName>
                                        </p:attrNameLst>
                                      </p:cBhvr>
                                      <p:to>
                                        <p:strVal val="visible"/>
                                      </p:to>
                                    </p:set>
                                    <p:animEffect transition="in" filter="fade">
                                      <p:cBhvr>
                                        <p:cTn id="361" dur="400"/>
                                        <p:tgtEl>
                                          <p:spTgt spid="130"/>
                                        </p:tgtEl>
                                      </p:cBhvr>
                                    </p:animEffect>
                                  </p:childTnLst>
                                </p:cTn>
                              </p:par>
                              <p:par>
                                <p:cTn id="362" presetID="10" presetClass="entr" presetSubtype="0" fill="hold" nodeType="withEffect">
                                  <p:stCondLst>
                                    <p:cond delay="2000"/>
                                  </p:stCondLst>
                                  <p:childTnLst>
                                    <p:set>
                                      <p:cBhvr>
                                        <p:cTn id="363" dur="1" fill="hold">
                                          <p:stCondLst>
                                            <p:cond delay="0"/>
                                          </p:stCondLst>
                                        </p:cTn>
                                        <p:tgtEl>
                                          <p:spTgt spid="131"/>
                                        </p:tgtEl>
                                        <p:attrNameLst>
                                          <p:attrName>style.visibility</p:attrName>
                                        </p:attrNameLst>
                                      </p:cBhvr>
                                      <p:to>
                                        <p:strVal val="visible"/>
                                      </p:to>
                                    </p:set>
                                    <p:animEffect transition="in" filter="fade">
                                      <p:cBhvr>
                                        <p:cTn id="364" dur="400"/>
                                        <p:tgtEl>
                                          <p:spTgt spid="131"/>
                                        </p:tgtEl>
                                      </p:cBhvr>
                                    </p:animEffect>
                                  </p:childTnLst>
                                </p:cTn>
                              </p:par>
                              <p:par>
                                <p:cTn id="365" presetID="10" presetClass="entr" presetSubtype="0" fill="hold" nodeType="withEffect">
                                  <p:stCondLst>
                                    <p:cond delay="2000"/>
                                  </p:stCondLst>
                                  <p:childTnLst>
                                    <p:set>
                                      <p:cBhvr>
                                        <p:cTn id="366" dur="1" fill="hold">
                                          <p:stCondLst>
                                            <p:cond delay="0"/>
                                          </p:stCondLst>
                                        </p:cTn>
                                        <p:tgtEl>
                                          <p:spTgt spid="132"/>
                                        </p:tgtEl>
                                        <p:attrNameLst>
                                          <p:attrName>style.visibility</p:attrName>
                                        </p:attrNameLst>
                                      </p:cBhvr>
                                      <p:to>
                                        <p:strVal val="visible"/>
                                      </p:to>
                                    </p:set>
                                    <p:animEffect transition="in" filter="fade">
                                      <p:cBhvr>
                                        <p:cTn id="367" dur="400"/>
                                        <p:tgtEl>
                                          <p:spTgt spid="132"/>
                                        </p:tgtEl>
                                      </p:cBhvr>
                                    </p:animEffect>
                                  </p:childTnLst>
                                </p:cTn>
                              </p:par>
                              <p:par>
                                <p:cTn id="368" presetID="10" presetClass="entr" presetSubtype="0" fill="hold" nodeType="withEffect">
                                  <p:stCondLst>
                                    <p:cond delay="2300"/>
                                  </p:stCondLst>
                                  <p:childTnLst>
                                    <p:set>
                                      <p:cBhvr>
                                        <p:cTn id="369" dur="1" fill="hold">
                                          <p:stCondLst>
                                            <p:cond delay="0"/>
                                          </p:stCondLst>
                                        </p:cTn>
                                        <p:tgtEl>
                                          <p:spTgt spid="133"/>
                                        </p:tgtEl>
                                        <p:attrNameLst>
                                          <p:attrName>style.visibility</p:attrName>
                                        </p:attrNameLst>
                                      </p:cBhvr>
                                      <p:to>
                                        <p:strVal val="visible"/>
                                      </p:to>
                                    </p:set>
                                    <p:animEffect transition="in" filter="fade">
                                      <p:cBhvr>
                                        <p:cTn id="370" dur="4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txBody>
          <a:bodyPr/>
          <a:lstStyle/>
          <a:p>
            <a:endParaRPr/>
          </a:p>
        </p:txBody>
      </p:sp>
      <p:sp>
        <p:nvSpPr>
          <p:cNvPr id="3" name="o2"/>
          <p:cNvSpPr/>
          <p:nvPr/>
        </p:nvSpPr>
        <p:spPr>
          <a:xfrm>
            <a:off x="342900" y="297180"/>
            <a:ext cx="11505895" cy="5760720"/>
          </a:xfrm>
          <a:prstGeom prst="roundRect">
            <a:avLst>
              <a:gd name="adj" fmla="val 2778"/>
            </a:avLst>
          </a:prstGeom>
          <a:ln w="12700">
            <a:solidFill>
              <a:srgbClr val="2121DE"/>
            </a:solidFill>
            <a:prstDash val="solid"/>
          </a:ln>
        </p:spPr>
        <p:txBody>
          <a:bodyPr/>
          <a:lstStyle/>
          <a:p>
            <a:endParaRPr/>
          </a:p>
        </p:txBody>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txBody>
          <a:bodyPr/>
          <a:lstStyle/>
          <a:p>
            <a:endParaRPr/>
          </a:p>
        </p:txBody>
      </p:sp>
      <p:sp>
        <p:nvSpPr>
          <p:cNvPr id="5" name="o4"/>
          <p:cNvSpPr/>
          <p:nvPr/>
        </p:nvSpPr>
        <p:spPr>
          <a:xfrm>
            <a:off x="937260" y="891540"/>
            <a:ext cx="1417320" cy="320040"/>
          </a:xfrm>
          <a:prstGeom prst="roundRect">
            <a:avLst>
              <a:gd name="adj" fmla="val 12857"/>
            </a:avLst>
          </a:prstGeom>
          <a:ln w="12700">
            <a:solidFill>
              <a:srgbClr val="2121DE"/>
            </a:solidFill>
            <a:prstDash val="solid"/>
          </a:ln>
        </p:spPr>
        <p:txBody>
          <a:bodyPr/>
          <a:lstStyle/>
          <a:p>
            <a:endParaRPr/>
          </a:p>
        </p:txBody>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txBody>
          <a:bodyPr/>
          <a:lstStyle/>
          <a:p>
            <a:endParaRPr/>
          </a:p>
        </p:txBody>
      </p:sp>
      <p:sp>
        <p:nvSpPr>
          <p:cNvPr id="7" name="o6"/>
          <p:cNvSpPr/>
          <p:nvPr/>
        </p:nvSpPr>
        <p:spPr>
          <a:xfrm>
            <a:off x="9837115" y="891540"/>
            <a:ext cx="1417320" cy="320040"/>
          </a:xfrm>
          <a:prstGeom prst="roundRect">
            <a:avLst>
              <a:gd name="adj" fmla="val 12857"/>
            </a:avLst>
          </a:prstGeom>
          <a:ln w="12700">
            <a:solidFill>
              <a:srgbClr val="2121DE"/>
            </a:solidFill>
            <a:prstDash val="solid"/>
          </a:ln>
        </p:spPr>
        <p:txBody>
          <a:bodyPr/>
          <a:lstStyle/>
          <a:p>
            <a:endParaRPr/>
          </a:p>
        </p:txBody>
      </p:sp>
      <p:pic>
        <p:nvPicPr>
          <p:cNvPr id="8" name="o7" descr="cloche"/>
          <p:cNvPicPr>
            <a:picLocks noChangeAspect="1"/>
          </p:cNvPicPr>
          <p:nvPr/>
        </p:nvPicPr>
        <p:blipFill>
          <a:blip r:embed="rId3"/>
          <a:stretch>
            <a:fillRect/>
          </a:stretch>
        </p:blipFill>
        <p:spPr>
          <a:xfrm>
            <a:off x="1097280" y="1508760"/>
            <a:ext cx="548640" cy="548640"/>
          </a:xfrm>
          <a:prstGeom prst="rect">
            <a:avLst/>
          </a:prstGeom>
        </p:spPr>
      </p:pic>
      <p:pic>
        <p:nvPicPr>
          <p:cNvPr id="9" name="o8" descr="LEVEL 6"/>
          <p:cNvPicPr>
            <a:picLocks noChangeAspect="1"/>
          </p:cNvPicPr>
          <p:nvPr/>
        </p:nvPicPr>
        <p:blipFill>
          <a:blip r:embed="rId4"/>
          <a:stretch>
            <a:fillRect/>
          </a:stretch>
        </p:blipFill>
        <p:spPr>
          <a:xfrm>
            <a:off x="1783080" y="1664208"/>
            <a:ext cx="1408176" cy="201168"/>
          </a:xfrm>
          <a:prstGeom prst="rect">
            <a:avLst/>
          </a:prstGeom>
        </p:spPr>
      </p:pic>
      <p:pic>
        <p:nvPicPr>
          <p:cNvPr id="10" name="o9" descr="LIVE"/>
          <p:cNvPicPr>
            <a:picLocks noChangeAspect="1"/>
          </p:cNvPicPr>
          <p:nvPr/>
        </p:nvPicPr>
        <p:blipFill>
          <a:blip r:embed="rId5"/>
          <a:stretch>
            <a:fillRect/>
          </a:stretch>
        </p:blipFill>
        <p:spPr>
          <a:xfrm>
            <a:off x="1097280" y="2331720"/>
            <a:ext cx="2779776" cy="694944"/>
          </a:xfrm>
          <a:prstGeom prst="rect">
            <a:avLst/>
          </a:prstGeom>
        </p:spPr>
      </p:pic>
      <p:pic>
        <p:nvPicPr>
          <p:cNvPr id="11" name="o10" descr="DEMO"/>
          <p:cNvPicPr>
            <a:picLocks noChangeAspect="1"/>
          </p:cNvPicPr>
          <p:nvPr/>
        </p:nvPicPr>
        <p:blipFill>
          <a:blip r:embed="rId6"/>
          <a:stretch>
            <a:fillRect/>
          </a:stretch>
        </p:blipFill>
        <p:spPr>
          <a:xfrm>
            <a:off x="1097280" y="3154680"/>
            <a:ext cx="2779776" cy="694944"/>
          </a:xfrm>
          <a:prstGeom prst="rect">
            <a:avLst/>
          </a:prstGeom>
        </p:spPr>
      </p:pic>
      <p:pic>
        <p:nvPicPr>
          <p:cNvPr id="12" name="o11" descr="INSERT COIN"/>
          <p:cNvPicPr>
            <a:picLocks noChangeAspect="1"/>
          </p:cNvPicPr>
          <p:nvPr/>
        </p:nvPicPr>
        <p:blipFill>
          <a:blip r:embed="rId7"/>
          <a:stretch>
            <a:fillRect/>
          </a:stretch>
        </p:blipFill>
        <p:spPr>
          <a:xfrm>
            <a:off x="1097280" y="4114800"/>
            <a:ext cx="1877568" cy="170688"/>
          </a:xfrm>
          <a:prstGeom prst="rect">
            <a:avLst/>
          </a:prstGeom>
        </p:spPr>
      </p:pic>
      <p:sp>
        <p:nvSpPr>
          <p:cNvPr id="13" name="o12"/>
          <p:cNvSpPr txBox="1"/>
          <p:nvPr/>
        </p:nvSpPr>
        <p:spPr>
          <a:xfrm>
            <a:off x="1097280" y="4526280"/>
            <a:ext cx="4754880" cy="365760"/>
          </a:xfrm>
          <a:prstGeom prst="rect">
            <a:avLst/>
          </a:prstGeom>
          <a:noFill/>
          <a:ln/>
        </p:spPr>
        <p:txBody>
          <a:bodyPr wrap="square" lIns="0" tIns="0" rIns="0" bIns="0" rtlCol="0" anchor="t"/>
          <a:lstStyle/>
          <a:p>
            <a:pPr marL="0" indent="0">
              <a:buNone/>
            </a:pPr>
            <a:r>
              <a:rPr lang="en-US" sz="1800" dirty="0">
                <a:solidFill>
                  <a:srgbClr val="C4C4E4"/>
                </a:solidFill>
                <a:latin typeface="Arial" pitchFamily="34" charset="0"/>
                <a:ea typeface="Arial" pitchFamily="34" charset="-122"/>
                <a:cs typeface="Arial" pitchFamily="34" charset="-120"/>
              </a:rPr>
              <a:t>Interface Streamlit · 9 pages</a:t>
            </a:r>
            <a:endParaRPr lang="en-US" sz="1800" dirty="0"/>
          </a:p>
        </p:txBody>
      </p:sp>
      <p:sp>
        <p:nvSpPr>
          <p:cNvPr id="14" name="o13"/>
          <p:cNvSpPr txBox="1"/>
          <p:nvPr/>
        </p:nvSpPr>
        <p:spPr>
          <a:xfrm>
            <a:off x="1097280" y="4937760"/>
            <a:ext cx="4937760" cy="320040"/>
          </a:xfrm>
          <a:prstGeom prst="rect">
            <a:avLst/>
          </a:prstGeom>
          <a:noFill/>
          <a:ln/>
        </p:spPr>
        <p:txBody>
          <a:bodyPr wrap="square" lIns="0" tIns="0" rIns="0" bIns="0" rtlCol="0" anchor="t"/>
          <a:lstStyle/>
          <a:p>
            <a:pPr marL="0" indent="0">
              <a:buNone/>
            </a:pPr>
            <a:r>
              <a:rPr lang="en-US" sz="1400" b="1" dirty="0">
                <a:solidFill>
                  <a:srgbClr val="00FFFF"/>
                </a:solidFill>
                <a:latin typeface="Courier New" pitchFamily="34" charset="0"/>
                <a:ea typeface="Courier New" pitchFamily="34" charset="-122"/>
                <a:cs typeface="Courier New" pitchFamily="34" charset="-120"/>
              </a:rPr>
              <a:t>python run_app.py  →  localhost:8501</a:t>
            </a:r>
            <a:endParaRPr lang="en-US" sz="1400" dirty="0"/>
          </a:p>
        </p:txBody>
      </p:sp>
      <p:sp>
        <p:nvSpPr>
          <p:cNvPr id="15" name="o14"/>
          <p:cNvSpPr/>
          <p:nvPr/>
        </p:nvSpPr>
        <p:spPr>
          <a:xfrm>
            <a:off x="6263640" y="1463040"/>
            <a:ext cx="5120640" cy="1024128"/>
          </a:xfrm>
          <a:prstGeom prst="roundRect">
            <a:avLst>
              <a:gd name="adj" fmla="val 8929"/>
            </a:avLst>
          </a:prstGeom>
          <a:solidFill>
            <a:srgbClr val="000000"/>
          </a:solidFill>
          <a:ln w="28575">
            <a:solidFill>
              <a:srgbClr val="2121DE"/>
            </a:solidFill>
            <a:prstDash val="solid"/>
          </a:ln>
        </p:spPr>
      </p:sp>
      <p:sp>
        <p:nvSpPr>
          <p:cNvPr id="16" name="o15"/>
          <p:cNvSpPr/>
          <p:nvPr/>
        </p:nvSpPr>
        <p:spPr>
          <a:xfrm>
            <a:off x="6332220" y="1531620"/>
            <a:ext cx="4983480" cy="886968"/>
          </a:xfrm>
          <a:prstGeom prst="roundRect">
            <a:avLst>
              <a:gd name="adj" fmla="val 2577"/>
            </a:avLst>
          </a:prstGeom>
          <a:ln w="12700">
            <a:solidFill>
              <a:srgbClr val="2121DE"/>
            </a:solidFill>
            <a:prstDash val="solid"/>
          </a:ln>
        </p:spPr>
      </p:sp>
      <p:pic>
        <p:nvPicPr>
          <p:cNvPr id="17" name="o16" descr="Régler les poids du MPI"/>
          <p:cNvPicPr>
            <a:picLocks noChangeAspect="1"/>
          </p:cNvPicPr>
          <p:nvPr/>
        </p:nvPicPr>
        <p:blipFill>
          <a:blip r:embed="rId8"/>
          <a:stretch>
            <a:fillRect/>
          </a:stretch>
        </p:blipFill>
        <p:spPr>
          <a:xfrm>
            <a:off x="6537960" y="1755648"/>
            <a:ext cx="438912" cy="438912"/>
          </a:xfrm>
          <a:prstGeom prst="rect">
            <a:avLst/>
          </a:prstGeom>
        </p:spPr>
      </p:pic>
      <p:pic>
        <p:nvPicPr>
          <p:cNvPr id="18" name="o17" descr="QUETE 1"/>
          <p:cNvPicPr>
            <a:picLocks noChangeAspect="1"/>
          </p:cNvPicPr>
          <p:nvPr/>
        </p:nvPicPr>
        <p:blipFill>
          <a:blip r:embed="rId9"/>
          <a:stretch>
            <a:fillRect/>
          </a:stretch>
        </p:blipFill>
        <p:spPr>
          <a:xfrm>
            <a:off x="7223760" y="1645920"/>
            <a:ext cx="768096" cy="109728"/>
          </a:xfrm>
          <a:prstGeom prst="rect">
            <a:avLst/>
          </a:prstGeom>
        </p:spPr>
      </p:pic>
      <p:sp>
        <p:nvSpPr>
          <p:cNvPr id="19" name="o18"/>
          <p:cNvSpPr txBox="1"/>
          <p:nvPr/>
        </p:nvSpPr>
        <p:spPr>
          <a:xfrm>
            <a:off x="7223760" y="1847088"/>
            <a:ext cx="4023360" cy="32004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Régler les poids du MPI</a:t>
            </a:r>
            <a:endParaRPr lang="en-US" sz="1600" dirty="0"/>
          </a:p>
        </p:txBody>
      </p:sp>
      <p:sp>
        <p:nvSpPr>
          <p:cNvPr id="20" name="o19"/>
          <p:cNvSpPr txBox="1"/>
          <p:nvPr/>
        </p:nvSpPr>
        <p:spPr>
          <a:xfrm>
            <a:off x="7223760" y="2157984"/>
            <a:ext cx="4023360" cy="256032"/>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le classement des éditeurs change en direct</a:t>
            </a:r>
            <a:endParaRPr lang="en-US" sz="1300" dirty="0"/>
          </a:p>
        </p:txBody>
      </p:sp>
      <p:sp>
        <p:nvSpPr>
          <p:cNvPr id="21" name="o20"/>
          <p:cNvSpPr/>
          <p:nvPr/>
        </p:nvSpPr>
        <p:spPr>
          <a:xfrm>
            <a:off x="6263640" y="2651760"/>
            <a:ext cx="5120640" cy="1024128"/>
          </a:xfrm>
          <a:prstGeom prst="roundRect">
            <a:avLst>
              <a:gd name="adj" fmla="val 8929"/>
            </a:avLst>
          </a:prstGeom>
          <a:solidFill>
            <a:srgbClr val="000000"/>
          </a:solidFill>
          <a:ln w="28575">
            <a:solidFill>
              <a:srgbClr val="2121DE"/>
            </a:solidFill>
            <a:prstDash val="solid"/>
          </a:ln>
        </p:spPr>
      </p:sp>
      <p:sp>
        <p:nvSpPr>
          <p:cNvPr id="22" name="o21"/>
          <p:cNvSpPr/>
          <p:nvPr/>
        </p:nvSpPr>
        <p:spPr>
          <a:xfrm>
            <a:off x="6332220" y="2720340"/>
            <a:ext cx="4983480" cy="886968"/>
          </a:xfrm>
          <a:prstGeom prst="roundRect">
            <a:avLst>
              <a:gd name="adj" fmla="val 2577"/>
            </a:avLst>
          </a:prstGeom>
          <a:ln w="12700">
            <a:solidFill>
              <a:srgbClr val="2121DE"/>
            </a:solidFill>
            <a:prstDash val="solid"/>
          </a:ln>
        </p:spPr>
      </p:sp>
      <p:pic>
        <p:nvPicPr>
          <p:cNvPr id="23" name="o22" descr="Cliquer sur un jeu"/>
          <p:cNvPicPr>
            <a:picLocks noChangeAspect="1"/>
          </p:cNvPicPr>
          <p:nvPr/>
        </p:nvPicPr>
        <p:blipFill>
          <a:blip r:embed="rId10"/>
          <a:stretch>
            <a:fillRect/>
          </a:stretch>
        </p:blipFill>
        <p:spPr>
          <a:xfrm>
            <a:off x="6537960" y="2944368"/>
            <a:ext cx="438912" cy="438912"/>
          </a:xfrm>
          <a:prstGeom prst="rect">
            <a:avLst/>
          </a:prstGeom>
        </p:spPr>
      </p:pic>
      <p:pic>
        <p:nvPicPr>
          <p:cNvPr id="24" name="o23" descr="QUETE 2"/>
          <p:cNvPicPr>
            <a:picLocks noChangeAspect="1"/>
          </p:cNvPicPr>
          <p:nvPr/>
        </p:nvPicPr>
        <p:blipFill>
          <a:blip r:embed="rId11"/>
          <a:stretch>
            <a:fillRect/>
          </a:stretch>
        </p:blipFill>
        <p:spPr>
          <a:xfrm>
            <a:off x="7223760" y="2834640"/>
            <a:ext cx="768096" cy="109728"/>
          </a:xfrm>
          <a:prstGeom prst="rect">
            <a:avLst/>
          </a:prstGeom>
        </p:spPr>
      </p:pic>
      <p:sp>
        <p:nvSpPr>
          <p:cNvPr id="25" name="o24"/>
          <p:cNvSpPr txBox="1"/>
          <p:nvPr/>
        </p:nvSpPr>
        <p:spPr>
          <a:xfrm>
            <a:off x="7223760" y="3035808"/>
            <a:ext cx="4023360" cy="32004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Cliquer sur un jeu</a:t>
            </a:r>
            <a:endParaRPr lang="en-US" sz="1600" dirty="0"/>
          </a:p>
        </p:txBody>
      </p:sp>
      <p:sp>
        <p:nvSpPr>
          <p:cNvPr id="26" name="o25"/>
          <p:cNvSpPr txBox="1"/>
          <p:nvPr/>
        </p:nvSpPr>
        <p:spPr>
          <a:xfrm>
            <a:off x="7223760" y="3346704"/>
            <a:ext cx="4023360" cy="256032"/>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sa fiche et son profil régional s'ouvrent</a:t>
            </a:r>
            <a:endParaRPr lang="en-US" sz="1300" dirty="0"/>
          </a:p>
        </p:txBody>
      </p:sp>
      <p:sp>
        <p:nvSpPr>
          <p:cNvPr id="27" name="o26"/>
          <p:cNvSpPr/>
          <p:nvPr/>
        </p:nvSpPr>
        <p:spPr>
          <a:xfrm>
            <a:off x="6263640" y="3840480"/>
            <a:ext cx="5120640" cy="1024128"/>
          </a:xfrm>
          <a:prstGeom prst="roundRect">
            <a:avLst>
              <a:gd name="adj" fmla="val 8929"/>
            </a:avLst>
          </a:prstGeom>
          <a:solidFill>
            <a:srgbClr val="000000"/>
          </a:solidFill>
          <a:ln w="28575">
            <a:solidFill>
              <a:srgbClr val="2121DE"/>
            </a:solidFill>
            <a:prstDash val="solid"/>
          </a:ln>
        </p:spPr>
      </p:sp>
      <p:sp>
        <p:nvSpPr>
          <p:cNvPr id="28" name="o27"/>
          <p:cNvSpPr/>
          <p:nvPr/>
        </p:nvSpPr>
        <p:spPr>
          <a:xfrm>
            <a:off x="6332220" y="3909060"/>
            <a:ext cx="4983480" cy="886968"/>
          </a:xfrm>
          <a:prstGeom prst="roundRect">
            <a:avLst>
              <a:gd name="adj" fmla="val 2577"/>
            </a:avLst>
          </a:prstGeom>
          <a:ln w="12700">
            <a:solidFill>
              <a:srgbClr val="2121DE"/>
            </a:solidFill>
            <a:prstDash val="solid"/>
          </a:ln>
        </p:spPr>
      </p:sp>
      <p:pic>
        <p:nvPicPr>
          <p:cNvPr id="29" name="o28" descr="Filtrer période, genre, constructeur"/>
          <p:cNvPicPr>
            <a:picLocks noChangeAspect="1"/>
          </p:cNvPicPr>
          <p:nvPr/>
        </p:nvPicPr>
        <p:blipFill>
          <a:blip r:embed="rId12"/>
          <a:stretch>
            <a:fillRect/>
          </a:stretch>
        </p:blipFill>
        <p:spPr>
          <a:xfrm>
            <a:off x="6537960" y="4133088"/>
            <a:ext cx="438912" cy="438912"/>
          </a:xfrm>
          <a:prstGeom prst="rect">
            <a:avLst/>
          </a:prstGeom>
        </p:spPr>
      </p:pic>
      <p:pic>
        <p:nvPicPr>
          <p:cNvPr id="30" name="o29" descr="QUETE 3"/>
          <p:cNvPicPr>
            <a:picLocks noChangeAspect="1"/>
          </p:cNvPicPr>
          <p:nvPr/>
        </p:nvPicPr>
        <p:blipFill>
          <a:blip r:embed="rId13"/>
          <a:stretch>
            <a:fillRect/>
          </a:stretch>
        </p:blipFill>
        <p:spPr>
          <a:xfrm>
            <a:off x="7223760" y="4023360"/>
            <a:ext cx="768096" cy="109728"/>
          </a:xfrm>
          <a:prstGeom prst="rect">
            <a:avLst/>
          </a:prstGeom>
        </p:spPr>
      </p:pic>
      <p:sp>
        <p:nvSpPr>
          <p:cNvPr id="31" name="o30"/>
          <p:cNvSpPr txBox="1"/>
          <p:nvPr/>
        </p:nvSpPr>
        <p:spPr>
          <a:xfrm>
            <a:off x="7223760" y="4224528"/>
            <a:ext cx="4023360" cy="32004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Filtrer période, genre, constructeur</a:t>
            </a:r>
            <a:endParaRPr lang="en-US" sz="1600" dirty="0"/>
          </a:p>
        </p:txBody>
      </p:sp>
      <p:sp>
        <p:nvSpPr>
          <p:cNvPr id="32" name="o31"/>
          <p:cNvSpPr txBox="1"/>
          <p:nvPr/>
        </p:nvSpPr>
        <p:spPr>
          <a:xfrm>
            <a:off x="7223760" y="4535424"/>
            <a:ext cx="4023360" cy="256032"/>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toutes les pages suivent le filtre</a:t>
            </a:r>
            <a:endParaRPr lang="en-US" sz="1300" dirty="0"/>
          </a:p>
        </p:txBody>
      </p:sp>
      <p:pic>
        <p:nvPicPr>
          <p:cNvPr id="36" name="o35" descr="super pac-gomme"/>
          <p:cNvPicPr>
            <a:picLocks noChangeAspect="1"/>
          </p:cNvPicPr>
          <p:nvPr/>
        </p:nvPicPr>
        <p:blipFill>
          <a:blip r:embed="rId14"/>
          <a:stretch>
            <a:fillRect/>
          </a:stretch>
        </p:blipFill>
        <p:spPr>
          <a:xfrm>
            <a:off x="11448288" y="6355080"/>
            <a:ext cx="182880" cy="182880"/>
          </a:xfrm>
          <a:prstGeom prst="rect">
            <a:avLst/>
          </a:prstGeom>
        </p:spPr>
      </p:pic>
      <p:pic>
        <p:nvPicPr>
          <p:cNvPr id="59" name="barre_fantome" descr="image.gif"/>
          <p:cNvPicPr>
            <a:picLocks noChangeAspect="1"/>
          </p:cNvPicPr>
          <p:nvPr/>
        </p:nvPicPr>
        <p:blipFill>
          <a:blip r:embed="rId16"/>
          <a:stretch>
            <a:fillRect/>
          </a:stretch>
        </p:blipFill>
        <p:spPr>
          <a:xfrm>
            <a:off x="4122461" y="6291072"/>
            <a:ext cx="310896" cy="310896"/>
          </a:xfrm>
          <a:prstGeom prst="rect">
            <a:avLst/>
          </a:prstGeom>
        </p:spPr>
      </p:pic>
      <p:pic>
        <p:nvPicPr>
          <p:cNvPr id="60" name="barre_pacman" descr="image.gif"/>
          <p:cNvPicPr>
            <a:picLocks noChangeAspect="1"/>
          </p:cNvPicPr>
          <p:nvPr/>
        </p:nvPicPr>
        <p:blipFill>
          <a:blip r:embed="rId15"/>
          <a:stretch>
            <a:fillRect/>
          </a:stretch>
        </p:blipFill>
        <p:spPr>
          <a:xfrm>
            <a:off x="4689389" y="6291072"/>
            <a:ext cx="310896" cy="310896"/>
          </a:xfrm>
          <a:prstGeom prst="rect">
            <a:avLst/>
          </a:prstGeom>
        </p:spPr>
      </p:pic>
      <p:sp>
        <p:nvSpPr>
          <p:cNvPr id="61"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0"/>
                                        </p:tgtEl>
                                        <p:attrNameLst>
                                          <p:attrName>ppt_x</p:attrName>
                                          <p:attrName>ppt_y</p:attrName>
                                        </p:attrNameLst>
                                      </p:cBhvr>
                                    </p:animMotion>
                                  </p:childTnLst>
                                </p:cTn>
                              </p:par>
                              <p:par>
                                <p:cTn id="9" presetID="1" presetClass="exit" presetSubtype="0" fill="hold" nodeType="withEffect">
                                  <p:stCondLst>
                                    <p:cond delay="221"/>
                                  </p:stCondLst>
                                  <p:childTnLst>
                                    <p:set>
                                      <p:cBhvr>
                                        <p:cTn id="10" dur="1" fill="hold">
                                          <p:stCondLst>
                                            <p:cond delay="0"/>
                                          </p:stCondLst>
                                        </p:cTn>
                                        <p:tgtEl>
                                          <p:spTgt spid="61"/>
                                        </p:tgtEl>
                                        <p:attrNameLst>
                                          <p:attrName>style.visibility</p:attrName>
                                        </p:attrNameLst>
                                      </p:cBhvr>
                                      <p:to>
                                        <p:strVal val="hidden"/>
                                      </p:to>
                                    </p:set>
                                  </p:childTnLst>
                                </p:cTn>
                              </p:par>
                              <p:par>
                                <p:cTn id="11" presetID="10" presetClass="entr" presetSubtype="0" fill="hold" nodeType="withEffect">
                                  <p:stCondLst>
                                    <p:cond delay="30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nodeType="withEffect">
                                  <p:stCondLst>
                                    <p:cond delay="30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nodeType="withEffect">
                                  <p:stCondLst>
                                    <p:cond delay="30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nodeType="withEffect">
                                  <p:stCondLst>
                                    <p:cond delay="30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nodeType="withEffect">
                                  <p:stCondLst>
                                    <p:cond delay="30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nodeType="withEffect">
                                  <p:stCondLst>
                                    <p:cond delay="30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nodeType="withEffect">
                                  <p:stCondLst>
                                    <p:cond delay="60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nodeType="withEffect">
                                  <p:stCondLst>
                                    <p:cond delay="60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nodeType="withEffect">
                                  <p:stCondLst>
                                    <p:cond delay="60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par>
                                <p:cTn id="38" presetID="10" presetClass="entr" presetSubtype="0" fill="hold" nodeType="withEffect">
                                  <p:stCondLst>
                                    <p:cond delay="60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00"/>
                                        <p:tgtEl>
                                          <p:spTgt spid="24"/>
                                        </p:tgtEl>
                                      </p:cBhvr>
                                    </p:animEffect>
                                  </p:childTnLst>
                                </p:cTn>
                              </p:par>
                              <p:par>
                                <p:cTn id="41" presetID="10" presetClass="entr" presetSubtype="0" fill="hold" nodeType="withEffect">
                                  <p:stCondLst>
                                    <p:cond delay="60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00"/>
                                        <p:tgtEl>
                                          <p:spTgt spid="25"/>
                                        </p:tgtEl>
                                      </p:cBhvr>
                                    </p:animEffect>
                                  </p:childTnLst>
                                </p:cTn>
                              </p:par>
                              <p:par>
                                <p:cTn id="44" presetID="10" presetClass="entr" presetSubtype="0" fill="hold" nodeType="withEffect">
                                  <p:stCondLst>
                                    <p:cond delay="6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00"/>
                                        <p:tgtEl>
                                          <p:spTgt spid="26"/>
                                        </p:tgtEl>
                                      </p:cBhvr>
                                    </p:animEffect>
                                  </p:childTnLst>
                                </p:cTn>
                              </p:par>
                              <p:par>
                                <p:cTn id="47" presetID="10" presetClass="entr" presetSubtype="0" fill="hold" nodeType="withEffect">
                                  <p:stCondLst>
                                    <p:cond delay="90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00"/>
                                        <p:tgtEl>
                                          <p:spTgt spid="27"/>
                                        </p:tgtEl>
                                      </p:cBhvr>
                                    </p:animEffect>
                                  </p:childTnLst>
                                </p:cTn>
                              </p:par>
                              <p:par>
                                <p:cTn id="50" presetID="10" presetClass="entr" presetSubtype="0" fill="hold" nodeType="withEffect">
                                  <p:stCondLst>
                                    <p:cond delay="90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par>
                                <p:cTn id="53" presetID="10" presetClass="entr" presetSubtype="0" fill="hold" nodeType="withEffect">
                                  <p:stCondLst>
                                    <p:cond delay="90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par>
                                <p:cTn id="56" presetID="10" presetClass="entr" presetSubtype="0" fill="hold" nodeType="withEffect">
                                  <p:stCondLst>
                                    <p:cond delay="90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00"/>
                                        <p:tgtEl>
                                          <p:spTgt spid="30"/>
                                        </p:tgtEl>
                                      </p:cBhvr>
                                    </p:animEffect>
                                  </p:childTnLst>
                                </p:cTn>
                              </p:par>
                              <p:par>
                                <p:cTn id="59" presetID="10" presetClass="entr" presetSubtype="0" fill="hold" nodeType="withEffect">
                                  <p:stCondLst>
                                    <p:cond delay="90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400"/>
                                        <p:tgtEl>
                                          <p:spTgt spid="31"/>
                                        </p:tgtEl>
                                      </p:cBhvr>
                                    </p:animEffect>
                                  </p:childTnLst>
                                </p:cTn>
                              </p:par>
                              <p:par>
                                <p:cTn id="62" presetID="10" presetClass="entr" presetSubtype="0" fill="hold" nodeType="withEffect">
                                  <p:stCondLst>
                                    <p:cond delay="90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a:effectLst/>
      </p:bgPr>
    </p:bg>
    <p:spTree>
      <p:nvGrpSpPr>
        <p:cNvPr id="1" name=""/>
        <p:cNvGrpSpPr/>
        <p:nvPr/>
      </p:nvGrpSpPr>
      <p:grpSpPr>
        <a:xfrm>
          <a:off x="0" y="0"/>
          <a:ext cx="0" cy="0"/>
          <a:chOff x="0" y="0"/>
          <a:chExt cx="0" cy="0"/>
        </a:xfrm>
      </p:grpSpPr>
      <p:pic>
        <p:nvPicPr>
          <p:cNvPr id="2" name="o1" descr="BONUS → NIVEAU SUIVANT"/>
          <p:cNvPicPr>
            <a:picLocks noChangeAspect="1"/>
          </p:cNvPicPr>
          <p:nvPr/>
        </p:nvPicPr>
        <p:blipFill>
          <a:blip r:embed="rId3"/>
          <a:stretch>
            <a:fillRect/>
          </a:stretch>
        </p:blipFill>
        <p:spPr>
          <a:xfrm>
            <a:off x="548640" y="411480"/>
            <a:ext cx="3218688" cy="146304"/>
          </a:xfrm>
          <a:prstGeom prst="rect">
            <a:avLst/>
          </a:prstGeom>
        </p:spPr>
      </p:pic>
      <p:pic>
        <p:nvPicPr>
          <p:cNvPr id="3" name="o2" descr="Angles morts et niveau suivant"/>
          <p:cNvPicPr>
            <a:picLocks noChangeAspect="1"/>
          </p:cNvPicPr>
          <p:nvPr/>
        </p:nvPicPr>
        <p:blipFill>
          <a:blip r:embed="rId4"/>
          <a:stretch>
            <a:fillRect/>
          </a:stretch>
        </p:blipFill>
        <p:spPr>
          <a:xfrm>
            <a:off x="548640" y="777240"/>
            <a:ext cx="8229600" cy="274320"/>
          </a:xfrm>
          <a:prstGeom prst="rect">
            <a:avLst/>
          </a:prstGeom>
        </p:spPr>
      </p:pic>
      <p:pic>
        <p:nvPicPr>
          <p:cNvPr id="4" name="o3" descr="key"/>
          <p:cNvPicPr>
            <a:picLocks noChangeAspect="1"/>
          </p:cNvPicPr>
          <p:nvPr/>
        </p:nvPicPr>
        <p:blipFill>
          <a:blip r:embed="rId5"/>
          <a:stretch>
            <a:fillRect/>
          </a:stretch>
        </p:blipFill>
        <p:spPr>
          <a:xfrm>
            <a:off x="11073384" y="365760"/>
            <a:ext cx="566928" cy="566928"/>
          </a:xfrm>
          <a:prstGeom prst="rect">
            <a:avLst/>
          </a:prstGeom>
        </p:spPr>
      </p:pic>
      <p:pic>
        <p:nvPicPr>
          <p:cNvPr id="5" name="o4"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9" name="o8"/>
          <p:cNvSpPr/>
          <p:nvPr/>
        </p:nvSpPr>
        <p:spPr>
          <a:xfrm>
            <a:off x="548640" y="1645920"/>
            <a:ext cx="5486400" cy="4389120"/>
          </a:xfrm>
          <a:prstGeom prst="roundRect">
            <a:avLst>
              <a:gd name="adj" fmla="val 2917"/>
            </a:avLst>
          </a:prstGeom>
          <a:solidFill>
            <a:srgbClr val="000000"/>
          </a:solidFill>
          <a:ln w="28575">
            <a:solidFill>
              <a:srgbClr val="2121DE"/>
            </a:solidFill>
            <a:prstDash val="solid"/>
          </a:ln>
        </p:spPr>
        <p:txBody>
          <a:bodyPr/>
          <a:lstStyle/>
          <a:p>
            <a:endParaRPr/>
          </a:p>
        </p:txBody>
      </p:sp>
      <p:sp>
        <p:nvSpPr>
          <p:cNvPr id="10" name="o9"/>
          <p:cNvSpPr/>
          <p:nvPr/>
        </p:nvSpPr>
        <p:spPr>
          <a:xfrm>
            <a:off x="617220" y="1714500"/>
            <a:ext cx="5349240" cy="4251960"/>
          </a:xfrm>
          <a:prstGeom prst="roundRect">
            <a:avLst>
              <a:gd name="adj" fmla="val 1398"/>
            </a:avLst>
          </a:prstGeom>
          <a:ln w="12700">
            <a:solidFill>
              <a:srgbClr val="2121DE"/>
            </a:solidFill>
            <a:prstDash val="solid"/>
          </a:ln>
        </p:spPr>
        <p:txBody>
          <a:bodyPr/>
          <a:lstStyle/>
          <a:p>
            <a:endParaRPr/>
          </a:p>
        </p:txBody>
      </p:sp>
      <p:pic>
        <p:nvPicPr>
          <p:cNvPr id="11" name="o10" descr="ANGLES MORTS DE LA SOURCE"/>
          <p:cNvPicPr>
            <a:picLocks noChangeAspect="1"/>
          </p:cNvPicPr>
          <p:nvPr/>
        </p:nvPicPr>
        <p:blipFill>
          <a:blip r:embed="rId10"/>
          <a:stretch>
            <a:fillRect/>
          </a:stretch>
        </p:blipFill>
        <p:spPr>
          <a:xfrm>
            <a:off x="914400" y="1965960"/>
            <a:ext cx="3657600" cy="146304"/>
          </a:xfrm>
          <a:prstGeom prst="rect">
            <a:avLst/>
          </a:prstGeom>
        </p:spPr>
      </p:pic>
      <p:pic>
        <p:nvPicPr>
          <p:cNvPr id="12" name="o11" descr="attention"/>
          <p:cNvPicPr>
            <a:picLocks noChangeAspect="1"/>
          </p:cNvPicPr>
          <p:nvPr/>
        </p:nvPicPr>
        <p:blipFill>
          <a:blip r:embed="rId11"/>
          <a:stretch>
            <a:fillRect/>
          </a:stretch>
        </p:blipFill>
        <p:spPr>
          <a:xfrm>
            <a:off x="914400" y="2505456"/>
            <a:ext cx="329184" cy="329184"/>
          </a:xfrm>
          <a:prstGeom prst="rect">
            <a:avLst/>
          </a:prstGeom>
        </p:spPr>
      </p:pic>
      <p:sp>
        <p:nvSpPr>
          <p:cNvPr id="13" name="o12"/>
          <p:cNvSpPr txBox="1"/>
          <p:nvPr/>
        </p:nvSpPr>
        <p:spPr>
          <a:xfrm>
            <a:off x="1463040" y="2468880"/>
            <a:ext cx="4389120" cy="365760"/>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Pas de ventes dématérialisées ni mobiles</a:t>
            </a:r>
            <a:endParaRPr lang="en-US" sz="1700" dirty="0"/>
          </a:p>
        </p:txBody>
      </p:sp>
      <p:sp>
        <p:nvSpPr>
          <p:cNvPr id="14" name="o13"/>
          <p:cNvSpPr txBox="1"/>
          <p:nvPr/>
        </p:nvSpPr>
        <p:spPr>
          <a:xfrm>
            <a:off x="1463040" y="2852928"/>
            <a:ext cx="434340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Steam, PSN, App Store : invisibles dans VGChartz</a:t>
            </a:r>
            <a:endParaRPr lang="en-US" sz="1400" dirty="0"/>
          </a:p>
        </p:txBody>
      </p:sp>
      <p:pic>
        <p:nvPicPr>
          <p:cNvPr id="15" name="o14" descr="attention"/>
          <p:cNvPicPr>
            <a:picLocks noChangeAspect="1"/>
          </p:cNvPicPr>
          <p:nvPr/>
        </p:nvPicPr>
        <p:blipFill>
          <a:blip r:embed="rId11"/>
          <a:stretch>
            <a:fillRect/>
          </a:stretch>
        </p:blipFill>
        <p:spPr>
          <a:xfrm>
            <a:off x="914400" y="3602736"/>
            <a:ext cx="329184" cy="329184"/>
          </a:xfrm>
          <a:prstGeom prst="rect">
            <a:avLst/>
          </a:prstGeom>
        </p:spPr>
      </p:pic>
      <p:sp>
        <p:nvSpPr>
          <p:cNvPr id="16" name="o15"/>
          <p:cNvSpPr txBox="1"/>
          <p:nvPr/>
        </p:nvSpPr>
        <p:spPr>
          <a:xfrm>
            <a:off x="1463040" y="3566160"/>
            <a:ext cx="4389120" cy="365760"/>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Année 2016 incomplète</a:t>
            </a:r>
            <a:endParaRPr lang="en-US" sz="1700" dirty="0"/>
          </a:p>
        </p:txBody>
      </p:sp>
      <p:sp>
        <p:nvSpPr>
          <p:cNvPr id="17" name="o16"/>
          <p:cNvSpPr txBox="1"/>
          <p:nvPr/>
        </p:nvSpPr>
        <p:spPr>
          <a:xfrm>
            <a:off x="1463040" y="3950208"/>
            <a:ext cx="434340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le fichier s'arrête en cours d'année</a:t>
            </a:r>
            <a:endParaRPr lang="en-US" sz="1400" dirty="0"/>
          </a:p>
        </p:txBody>
      </p:sp>
      <p:pic>
        <p:nvPicPr>
          <p:cNvPr id="18" name="o17" descr="attention"/>
          <p:cNvPicPr>
            <a:picLocks noChangeAspect="1"/>
          </p:cNvPicPr>
          <p:nvPr/>
        </p:nvPicPr>
        <p:blipFill>
          <a:blip r:embed="rId11"/>
          <a:stretch>
            <a:fillRect/>
          </a:stretch>
        </p:blipFill>
        <p:spPr>
          <a:xfrm>
            <a:off x="914400" y="4700016"/>
            <a:ext cx="329184" cy="329184"/>
          </a:xfrm>
          <a:prstGeom prst="rect">
            <a:avLst/>
          </a:prstGeom>
        </p:spPr>
      </p:pic>
      <p:sp>
        <p:nvSpPr>
          <p:cNvPr id="19" name="o18"/>
          <p:cNvSpPr txBox="1"/>
          <p:nvPr/>
        </p:nvSpPr>
        <p:spPr>
          <a:xfrm>
            <a:off x="1463040" y="4663440"/>
            <a:ext cx="4389120" cy="365760"/>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Régions parfois mal saisies</a:t>
            </a:r>
            <a:endParaRPr lang="en-US" sz="1700" dirty="0"/>
          </a:p>
        </p:txBody>
      </p:sp>
      <p:sp>
        <p:nvSpPr>
          <p:cNvPr id="20" name="o19"/>
          <p:cNvSpPr txBox="1"/>
          <p:nvPr/>
        </p:nvSpPr>
        <p:spPr>
          <a:xfrm>
            <a:off x="1463040" y="5047488"/>
            <a:ext cx="434340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ex. ventes européennes de Gran Turismo 4 en « reste du monde »</a:t>
            </a:r>
            <a:endParaRPr lang="en-US" sz="1400" dirty="0"/>
          </a:p>
        </p:txBody>
      </p:sp>
      <p:sp>
        <p:nvSpPr>
          <p:cNvPr id="21" name="o20"/>
          <p:cNvSpPr/>
          <p:nvPr/>
        </p:nvSpPr>
        <p:spPr>
          <a:xfrm>
            <a:off x="6400800" y="1645920"/>
            <a:ext cx="5239512" cy="4389120"/>
          </a:xfrm>
          <a:prstGeom prst="roundRect">
            <a:avLst>
              <a:gd name="adj" fmla="val 2917"/>
            </a:avLst>
          </a:prstGeom>
          <a:solidFill>
            <a:srgbClr val="000000"/>
          </a:solidFill>
          <a:ln w="28575">
            <a:solidFill>
              <a:srgbClr val="00FFFF"/>
            </a:solidFill>
            <a:prstDash val="solid"/>
          </a:ln>
        </p:spPr>
        <p:txBody>
          <a:bodyPr/>
          <a:lstStyle/>
          <a:p>
            <a:endParaRPr/>
          </a:p>
        </p:txBody>
      </p:sp>
      <p:sp>
        <p:nvSpPr>
          <p:cNvPr id="22" name="o21"/>
          <p:cNvSpPr/>
          <p:nvPr/>
        </p:nvSpPr>
        <p:spPr>
          <a:xfrm>
            <a:off x="6469380" y="1714500"/>
            <a:ext cx="5102352" cy="4251960"/>
          </a:xfrm>
          <a:prstGeom prst="roundRect">
            <a:avLst>
              <a:gd name="adj" fmla="val 1398"/>
            </a:avLst>
          </a:prstGeom>
          <a:ln w="12700">
            <a:solidFill>
              <a:srgbClr val="00FFFF"/>
            </a:solidFill>
            <a:prstDash val="solid"/>
          </a:ln>
        </p:spPr>
        <p:txBody>
          <a:bodyPr/>
          <a:lstStyle/>
          <a:p>
            <a:endParaRPr/>
          </a:p>
        </p:txBody>
      </p:sp>
      <p:pic>
        <p:nvPicPr>
          <p:cNvPr id="23" name="o22" descr="clé"/>
          <p:cNvPicPr>
            <a:picLocks noChangeAspect="1"/>
          </p:cNvPicPr>
          <p:nvPr/>
        </p:nvPicPr>
        <p:blipFill>
          <a:blip r:embed="rId5"/>
          <a:stretch>
            <a:fillRect/>
          </a:stretch>
        </p:blipFill>
        <p:spPr>
          <a:xfrm>
            <a:off x="8563356" y="1920240"/>
            <a:ext cx="914400" cy="914400"/>
          </a:xfrm>
          <a:prstGeom prst="rect">
            <a:avLst/>
          </a:prstGeom>
        </p:spPr>
      </p:pic>
      <p:pic>
        <p:nvPicPr>
          <p:cNvPr id="24" name="o23" descr="NEXT LEVEL"/>
          <p:cNvPicPr>
            <a:picLocks noChangeAspect="1"/>
          </p:cNvPicPr>
          <p:nvPr/>
        </p:nvPicPr>
        <p:blipFill>
          <a:blip r:embed="rId12"/>
          <a:stretch>
            <a:fillRect/>
          </a:stretch>
        </p:blipFill>
        <p:spPr>
          <a:xfrm>
            <a:off x="8014716" y="3063240"/>
            <a:ext cx="2011680" cy="201168"/>
          </a:xfrm>
          <a:prstGeom prst="rect">
            <a:avLst/>
          </a:prstGeom>
        </p:spPr>
      </p:pic>
      <p:pic>
        <p:nvPicPr>
          <p:cNvPr id="25" name="o24" descr="BDD 2"/>
          <p:cNvPicPr>
            <a:picLocks noChangeAspect="1"/>
          </p:cNvPicPr>
          <p:nvPr/>
        </p:nvPicPr>
        <p:blipFill>
          <a:blip r:embed="rId13"/>
          <a:stretch>
            <a:fillRect/>
          </a:stretch>
        </p:blipFill>
        <p:spPr>
          <a:xfrm>
            <a:off x="7603236" y="3566160"/>
            <a:ext cx="2834640" cy="566928"/>
          </a:xfrm>
          <a:prstGeom prst="rect">
            <a:avLst/>
          </a:prstGeom>
        </p:spPr>
      </p:pic>
      <p:sp>
        <p:nvSpPr>
          <p:cNvPr id="26" name="o25"/>
          <p:cNvSpPr txBox="1"/>
          <p:nvPr/>
        </p:nvSpPr>
        <p:spPr>
          <a:xfrm>
            <a:off x="6858000" y="4389120"/>
            <a:ext cx="4325112" cy="685800"/>
          </a:xfrm>
          <a:prstGeom prst="rect">
            <a:avLst/>
          </a:prstGeom>
          <a:noFill/>
          <a:ln/>
        </p:spPr>
        <p:txBody>
          <a:bodyPr wrap="square" lIns="0" tIns="0" rIns="0" bIns="0" rtlCol="0" anchor="t"/>
          <a:lstStyle/>
          <a:p>
            <a:pPr marL="0" indent="0" algn="ctr">
              <a:buNone/>
            </a:pPr>
            <a:r>
              <a:rPr lang="en-US" sz="1500" dirty="0">
                <a:solidFill>
                  <a:srgbClr val="C4C4E4"/>
                </a:solidFill>
                <a:latin typeface="Arial" pitchFamily="34" charset="0"/>
                <a:ea typeface="Arial" pitchFamily="34" charset="-122"/>
                <a:cs typeface="Arial" pitchFamily="34" charset="-120"/>
              </a:rPr>
              <a:t>Les ventes ne disent pas si un jeu est bon : une deuxième source pour le mesurer</a:t>
            </a:r>
            <a:endParaRPr lang="en-US" sz="1500" dirty="0"/>
          </a:p>
        </p:txBody>
      </p:sp>
      <p:pic>
        <p:nvPicPr>
          <p:cNvPr id="27" name="o26" descr="→ A VOUS !"/>
          <p:cNvPicPr>
            <a:picLocks noChangeAspect="1"/>
          </p:cNvPicPr>
          <p:nvPr/>
        </p:nvPicPr>
        <p:blipFill>
          <a:blip r:embed="rId14"/>
          <a:stretch>
            <a:fillRect/>
          </a:stretch>
        </p:blipFill>
        <p:spPr>
          <a:xfrm>
            <a:off x="8196453" y="5303520"/>
            <a:ext cx="1648206" cy="164592"/>
          </a:xfrm>
          <a:prstGeom prst="rect">
            <a:avLst/>
          </a:prstGeom>
        </p:spPr>
      </p:pic>
      <p:pic>
        <p:nvPicPr>
          <p:cNvPr id="72" name="barre_fantome" descr="image.gif"/>
          <p:cNvPicPr>
            <a:picLocks noChangeAspect="1"/>
          </p:cNvPicPr>
          <p:nvPr/>
        </p:nvPicPr>
        <p:blipFill>
          <a:blip r:embed="rId8"/>
          <a:stretch>
            <a:fillRect/>
          </a:stretch>
        </p:blipFill>
        <p:spPr>
          <a:xfrm>
            <a:off x="4389367" y="6291072"/>
            <a:ext cx="310896" cy="310896"/>
          </a:xfrm>
          <a:prstGeom prst="rect">
            <a:avLst/>
          </a:prstGeom>
        </p:spPr>
      </p:pic>
      <p:pic>
        <p:nvPicPr>
          <p:cNvPr id="73" name="barre_pacman" descr="image.gif"/>
          <p:cNvPicPr>
            <a:picLocks noChangeAspect="1"/>
          </p:cNvPicPr>
          <p:nvPr/>
        </p:nvPicPr>
        <p:blipFill>
          <a:blip r:embed="rId7"/>
          <a:stretch>
            <a:fillRect/>
          </a:stretch>
        </p:blipFill>
        <p:spPr>
          <a:xfrm>
            <a:off x="4956295" y="6291072"/>
            <a:ext cx="310896" cy="310896"/>
          </a:xfrm>
          <a:prstGeom prst="rect">
            <a:avLst/>
          </a:prstGeom>
        </p:spPr>
      </p:pic>
      <p:sp>
        <p:nvSpPr>
          <p:cNvPr id="74"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2"/>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3"/>
                                        </p:tgtEl>
                                        <p:attrNameLst>
                                          <p:attrName>ppt_x</p:attrName>
                                          <p:attrName>ppt_y</p:attrName>
                                        </p:attrNameLst>
                                      </p:cBhvr>
                                    </p:animMotion>
                                  </p:childTnLst>
                                </p:cTn>
                              </p:par>
                              <p:par>
                                <p:cTn id="9" presetID="1" presetClass="exit" presetSubtype="0" fill="hold" nodeType="withEffect">
                                  <p:stCondLst>
                                    <p:cond delay="92"/>
                                  </p:stCondLst>
                                  <p:childTnLst>
                                    <p:set>
                                      <p:cBhvr>
                                        <p:cTn id="10" dur="1" fill="hold">
                                          <p:stCondLst>
                                            <p:cond delay="0"/>
                                          </p:stCondLst>
                                        </p:cTn>
                                        <p:tgtEl>
                                          <p:spTgt spid="74"/>
                                        </p:tgtEl>
                                        <p:attrNameLst>
                                          <p:attrName>style.visibility</p:attrName>
                                        </p:attrNameLst>
                                      </p:cBhvr>
                                      <p:to>
                                        <p:strVal val="hidden"/>
                                      </p:to>
                                    </p:set>
                                  </p:childTnLst>
                                </p:cTn>
                              </p:par>
                              <p:par>
                                <p:cTn id="11" presetID="1" presetClass="exit" presetSubtype="0" fill="hold" nodeType="withEffect">
                                  <p:stCondLst>
                                    <p:cond delay="862"/>
                                  </p:stCondLst>
                                  <p:childTnLst>
                                    <p:set>
                                      <p:cBhvr>
                                        <p:cTn id="12" dur="1" fill="hold">
                                          <p:stCondLst>
                                            <p:cond delay="0"/>
                                          </p:stCondLst>
                                        </p:cTn>
                                        <p:tgtEl>
                                          <p:spTgt spid="75"/>
                                        </p:tgtEl>
                                        <p:attrNameLst>
                                          <p:attrName>style.visibility</p:attrName>
                                        </p:attrNameLst>
                                      </p:cBhvr>
                                      <p:to>
                                        <p:strVal val="hidden"/>
                                      </p:to>
                                    </p:set>
                                  </p:childTnLst>
                                </p:cTn>
                              </p:par>
                              <p:par>
                                <p:cTn id="13" presetID="1" presetClass="exit" presetSubtype="0" fill="hold" nodeType="withEffect">
                                  <p:stCondLst>
                                    <p:cond delay="780"/>
                                  </p:stCondLst>
                                  <p:childTnLst>
                                    <p:set>
                                      <p:cBhvr>
                                        <p:cTn id="14" dur="1" fill="hold">
                                          <p:stCondLst>
                                            <p:cond delay="0"/>
                                          </p:stCondLst>
                                        </p:cTn>
                                        <p:tgtEl>
                                          <p:spTgt spid="5"/>
                                        </p:tgtEl>
                                        <p:attrNameLst>
                                          <p:attrName>style.visibility</p:attrName>
                                        </p:attrNameLst>
                                      </p:cBhvr>
                                      <p:to>
                                        <p:strVal val="hidden"/>
                                      </p:to>
                                    </p:set>
                                  </p:childTnLst>
                                </p:cTn>
                              </p:par>
                              <p:par>
                                <p:cTn id="15" presetID="10" presetClass="entr" presetSubtype="0" fill="hold" nodeType="withEffect">
                                  <p:stCondLst>
                                    <p:cond delay="2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nodeType="withEffect">
                                  <p:stCondLst>
                                    <p:cond delay="20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nodeType="withEffect">
                                  <p:stCondLst>
                                    <p:cond delay="20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nodeType="withEffect">
                                  <p:stCondLst>
                                    <p:cond delay="4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nodeType="withEffect">
                                  <p:stCondLst>
                                    <p:cond delay="4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nodeType="withEffect">
                                  <p:stCondLst>
                                    <p:cond delay="40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nodeType="withEffect">
                                  <p:stCondLst>
                                    <p:cond delay="65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nodeType="withEffect">
                                  <p:stCondLst>
                                    <p:cond delay="65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nodeType="withEffect">
                                  <p:stCondLst>
                                    <p:cond delay="65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nodeType="withEffect">
                                  <p:stCondLst>
                                    <p:cond delay="90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nodeType="withEffect">
                                  <p:stCondLst>
                                    <p:cond delay="90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nodeType="withEffect">
                                  <p:stCondLst>
                                    <p:cond delay="90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nodeType="withEffect">
                                  <p:stCondLst>
                                    <p:cond delay="130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par>
                                <p:cTn id="54" presetID="10" presetClass="entr" presetSubtype="0" fill="hold" nodeType="withEffect">
                                  <p:stCondLst>
                                    <p:cond delay="13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par>
                                <p:cTn id="57" presetID="10" presetClass="entr" presetSubtype="0" fill="hold" nodeType="withEffect">
                                  <p:stCondLst>
                                    <p:cond delay="130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00"/>
                                        <p:tgtEl>
                                          <p:spTgt spid="23"/>
                                        </p:tgtEl>
                                      </p:cBhvr>
                                    </p:animEffect>
                                  </p:childTnLst>
                                </p:cTn>
                              </p:par>
                              <p:par>
                                <p:cTn id="60" presetID="10" presetClass="entr" presetSubtype="0" fill="hold" nodeType="withEffect">
                                  <p:stCondLst>
                                    <p:cond delay="13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00"/>
                                        <p:tgtEl>
                                          <p:spTgt spid="24"/>
                                        </p:tgtEl>
                                      </p:cBhvr>
                                    </p:animEffect>
                                  </p:childTnLst>
                                </p:cTn>
                              </p:par>
                              <p:par>
                                <p:cTn id="63" presetID="10" presetClass="entr" presetSubtype="0" fill="hold" nodeType="withEffect">
                                  <p:stCondLst>
                                    <p:cond delay="13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00"/>
                                        <p:tgtEl>
                                          <p:spTgt spid="25"/>
                                        </p:tgtEl>
                                      </p:cBhvr>
                                    </p:animEffect>
                                  </p:childTnLst>
                                </p:cTn>
                              </p:par>
                              <p:par>
                                <p:cTn id="66" presetID="10" presetClass="entr" presetSubtype="0" fill="hold" nodeType="withEffect">
                                  <p:stCondLst>
                                    <p:cond delay="130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400"/>
                                        <p:tgtEl>
                                          <p:spTgt spid="26"/>
                                        </p:tgtEl>
                                      </p:cBhvr>
                                    </p:animEffect>
                                  </p:childTnLst>
                                </p:cTn>
                              </p:par>
                              <p:par>
                                <p:cTn id="69" presetID="10" presetClass="entr" presetSubtype="0" fill="hold" nodeType="withEffect">
                                  <p:stCondLst>
                                    <p:cond delay="170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DATA WRANGLING · PROJET FINAL"/>
          <p:cNvPicPr>
            <a:picLocks noChangeAspect="1"/>
          </p:cNvPicPr>
          <p:nvPr/>
        </p:nvPicPr>
        <p:blipFill>
          <a:blip r:embed="rId3"/>
          <a:stretch>
            <a:fillRect/>
          </a:stretch>
        </p:blipFill>
        <p:spPr>
          <a:xfrm>
            <a:off x="3974439" y="530352"/>
            <a:ext cx="4242816" cy="146304"/>
          </a:xfrm>
          <a:prstGeom prst="rect">
            <a:avLst/>
          </a:prstGeom>
        </p:spPr>
      </p:pic>
      <p:pic>
        <p:nvPicPr>
          <p:cNvPr id="3" name="o2" descr="VENTES MONDIALES"/>
          <p:cNvPicPr>
            <a:picLocks noChangeAspect="1"/>
          </p:cNvPicPr>
          <p:nvPr/>
        </p:nvPicPr>
        <p:blipFill>
          <a:blip r:embed="rId4"/>
          <a:stretch>
            <a:fillRect/>
          </a:stretch>
        </p:blipFill>
        <p:spPr>
          <a:xfrm>
            <a:off x="2438247" y="960120"/>
            <a:ext cx="7315200" cy="457200"/>
          </a:xfrm>
          <a:prstGeom prst="rect">
            <a:avLst/>
          </a:prstGeom>
        </p:spPr>
      </p:pic>
      <p:pic>
        <p:nvPicPr>
          <p:cNvPr id="4" name="o3" descr="DE JEUX VIDEO"/>
          <p:cNvPicPr>
            <a:picLocks noChangeAspect="1"/>
          </p:cNvPicPr>
          <p:nvPr/>
        </p:nvPicPr>
        <p:blipFill>
          <a:blip r:embed="rId5"/>
          <a:stretch>
            <a:fillRect/>
          </a:stretch>
        </p:blipFill>
        <p:spPr>
          <a:xfrm>
            <a:off x="3124047" y="1600200"/>
            <a:ext cx="5943600" cy="457200"/>
          </a:xfrm>
          <a:prstGeom prst="rect">
            <a:avLst/>
          </a:prstGeom>
        </p:spPr>
      </p:pic>
      <p:sp>
        <p:nvSpPr>
          <p:cNvPr id="5" name="o4"/>
          <p:cNvSpPr txBox="1"/>
          <p:nvPr/>
        </p:nvSpPr>
        <p:spPr>
          <a:xfrm>
            <a:off x="1371600" y="2423160"/>
            <a:ext cx="9448495" cy="411480"/>
          </a:xfrm>
          <a:prstGeom prst="rect">
            <a:avLst/>
          </a:prstGeom>
          <a:noFill/>
        </p:spPr>
        <p:txBody>
          <a:bodyPr wrap="square" lIns="0" tIns="0" rIns="0" bIns="0" anchor="t">
            <a:spAutoFit/>
          </a:bodyPr>
          <a:lstStyle/>
          <a:p>
            <a:pPr algn="ctr"/>
            <a:r>
              <a:rPr sz="2000" b="0" i="0">
                <a:solidFill>
                  <a:srgbClr val="C4C4E4"/>
                </a:solidFill>
                <a:latin typeface="Arial"/>
              </a:rPr>
              <a:t>1980 – 2016  ·  16 719 jeux  ·  Partie 2 : la base Metacritic</a:t>
            </a:r>
          </a:p>
        </p:txBody>
      </p:sp>
      <p:pic>
        <p:nvPicPr>
          <p:cNvPr id="6" name="o5" descr="image-1-8.gif"/>
          <p:cNvPicPr>
            <a:picLocks noChangeAspect="1"/>
          </p:cNvPicPr>
          <p:nvPr/>
        </p:nvPicPr>
        <p:blipFill>
          <a:blip r:embed="rId6"/>
          <a:stretch>
            <a:fillRect/>
          </a:stretch>
        </p:blipFill>
        <p:spPr>
          <a:xfrm>
            <a:off x="822960" y="3172968"/>
            <a:ext cx="420624" cy="420624"/>
          </a:xfrm>
          <a:prstGeom prst="rect">
            <a:avLst/>
          </a:prstGeom>
        </p:spPr>
      </p:pic>
      <p:pic>
        <p:nvPicPr>
          <p:cNvPr id="7" name="o6" descr="image-1-7.gif"/>
          <p:cNvPicPr>
            <a:picLocks noChangeAspect="1"/>
          </p:cNvPicPr>
          <p:nvPr/>
        </p:nvPicPr>
        <p:blipFill>
          <a:blip r:embed="rId7"/>
          <a:stretch>
            <a:fillRect/>
          </a:stretch>
        </p:blipFill>
        <p:spPr>
          <a:xfrm>
            <a:off x="1371600" y="3172968"/>
            <a:ext cx="420624" cy="420624"/>
          </a:xfrm>
          <a:prstGeom prst="rect">
            <a:avLst/>
          </a:prstGeom>
        </p:spPr>
      </p:pic>
      <p:pic>
        <p:nvPicPr>
          <p:cNvPr id="8" name="o7" descr="image-1-6.gif"/>
          <p:cNvPicPr>
            <a:picLocks noChangeAspect="1"/>
          </p:cNvPicPr>
          <p:nvPr/>
        </p:nvPicPr>
        <p:blipFill>
          <a:blip r:embed="rId8"/>
          <a:stretch>
            <a:fillRect/>
          </a:stretch>
        </p:blipFill>
        <p:spPr>
          <a:xfrm>
            <a:off x="1920240" y="3172968"/>
            <a:ext cx="420624" cy="420624"/>
          </a:xfrm>
          <a:prstGeom prst="rect">
            <a:avLst/>
          </a:prstGeom>
        </p:spPr>
      </p:pic>
      <p:pic>
        <p:nvPicPr>
          <p:cNvPr id="9" name="o8" descr="image-1-15.gif"/>
          <p:cNvPicPr>
            <a:picLocks noChangeAspect="1"/>
          </p:cNvPicPr>
          <p:nvPr/>
        </p:nvPicPr>
        <p:blipFill>
          <a:blip r:embed="rId9"/>
          <a:stretch>
            <a:fillRect/>
          </a:stretch>
        </p:blipFill>
        <p:spPr>
          <a:xfrm>
            <a:off x="2468879" y="3172968"/>
            <a:ext cx="420624" cy="420624"/>
          </a:xfrm>
          <a:prstGeom prst="rect">
            <a:avLst/>
          </a:prstGeom>
        </p:spPr>
      </p:pic>
      <p:pic>
        <p:nvPicPr>
          <p:cNvPr id="10" name="o9" descr="image-1-14.gif"/>
          <p:cNvPicPr>
            <a:picLocks noChangeAspect="1"/>
          </p:cNvPicPr>
          <p:nvPr/>
        </p:nvPicPr>
        <p:blipFill>
          <a:blip r:embed="rId10"/>
          <a:stretch>
            <a:fillRect/>
          </a:stretch>
        </p:blipFill>
        <p:spPr>
          <a:xfrm>
            <a:off x="3108960" y="3172968"/>
            <a:ext cx="420624" cy="420624"/>
          </a:xfrm>
          <a:prstGeom prst="rect">
            <a:avLst/>
          </a:prstGeom>
        </p:spPr>
      </p:pic>
      <p:sp>
        <p:nvSpPr>
          <p:cNvPr id="11" name="o10"/>
          <p:cNvSpPr/>
          <p:nvPr/>
        </p:nvSpPr>
        <p:spPr>
          <a:xfrm>
            <a:off x="37490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11"/>
          <p:cNvSpPr/>
          <p:nvPr/>
        </p:nvSpPr>
        <p:spPr>
          <a:xfrm>
            <a:off x="41148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12"/>
          <p:cNvSpPr/>
          <p:nvPr/>
        </p:nvSpPr>
        <p:spPr>
          <a:xfrm>
            <a:off x="44805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13"/>
          <p:cNvSpPr/>
          <p:nvPr/>
        </p:nvSpPr>
        <p:spPr>
          <a:xfrm>
            <a:off x="48463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14"/>
          <p:cNvSpPr/>
          <p:nvPr/>
        </p:nvSpPr>
        <p:spPr>
          <a:xfrm>
            <a:off x="52120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15"/>
          <p:cNvSpPr/>
          <p:nvPr/>
        </p:nvSpPr>
        <p:spPr>
          <a:xfrm>
            <a:off x="55778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16"/>
          <p:cNvSpPr/>
          <p:nvPr/>
        </p:nvSpPr>
        <p:spPr>
          <a:xfrm>
            <a:off x="59436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17"/>
          <p:cNvSpPr/>
          <p:nvPr/>
        </p:nvSpPr>
        <p:spPr>
          <a:xfrm>
            <a:off x="63093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18"/>
          <p:cNvSpPr/>
          <p:nvPr/>
        </p:nvSpPr>
        <p:spPr>
          <a:xfrm>
            <a:off x="66751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19"/>
          <p:cNvSpPr/>
          <p:nvPr/>
        </p:nvSpPr>
        <p:spPr>
          <a:xfrm>
            <a:off x="70408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20"/>
          <p:cNvSpPr/>
          <p:nvPr/>
        </p:nvSpPr>
        <p:spPr>
          <a:xfrm>
            <a:off x="74066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21"/>
          <p:cNvSpPr/>
          <p:nvPr/>
        </p:nvSpPr>
        <p:spPr>
          <a:xfrm>
            <a:off x="77724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p:nvPr/>
        </p:nvSpPr>
        <p:spPr>
          <a:xfrm>
            <a:off x="81381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23"/>
          <p:cNvSpPr/>
          <p:nvPr/>
        </p:nvSpPr>
        <p:spPr>
          <a:xfrm>
            <a:off x="85039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24"/>
          <p:cNvSpPr/>
          <p:nvPr/>
        </p:nvSpPr>
        <p:spPr>
          <a:xfrm>
            <a:off x="88696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25"/>
          <p:cNvSpPr/>
          <p:nvPr/>
        </p:nvSpPr>
        <p:spPr>
          <a:xfrm>
            <a:off x="92354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26"/>
          <p:cNvSpPr/>
          <p:nvPr/>
        </p:nvSpPr>
        <p:spPr>
          <a:xfrm>
            <a:off x="96012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o27" descr="PLAYER 2"/>
          <p:cNvPicPr>
            <a:picLocks noChangeAspect="1"/>
          </p:cNvPicPr>
          <p:nvPr/>
        </p:nvPicPr>
        <p:blipFill>
          <a:blip r:embed="rId11"/>
          <a:stretch>
            <a:fillRect/>
          </a:stretch>
        </p:blipFill>
        <p:spPr>
          <a:xfrm>
            <a:off x="5510631" y="4069080"/>
            <a:ext cx="1170432" cy="146304"/>
          </a:xfrm>
          <a:prstGeom prst="rect">
            <a:avLst/>
          </a:prstGeom>
        </p:spPr>
      </p:pic>
      <p:pic>
        <p:nvPicPr>
          <p:cNvPr id="29" name="o28" descr="MOHAMED BEN AMOR"/>
          <p:cNvPicPr>
            <a:picLocks noChangeAspect="1"/>
          </p:cNvPicPr>
          <p:nvPr/>
        </p:nvPicPr>
        <p:blipFill>
          <a:blip r:embed="rId12"/>
          <a:stretch>
            <a:fillRect/>
          </a:stretch>
        </p:blipFill>
        <p:spPr>
          <a:xfrm>
            <a:off x="4193895" y="4343400"/>
            <a:ext cx="3803904" cy="237744"/>
          </a:xfrm>
          <a:prstGeom prst="rect">
            <a:avLst/>
          </a:prstGeom>
        </p:spPr>
      </p:pic>
      <p:pic>
        <p:nvPicPr>
          <p:cNvPr id="30" name="o29" descr="CONTINUE ?"/>
          <p:cNvPicPr>
            <a:picLocks noChangeAspect="1"/>
          </p:cNvPicPr>
          <p:nvPr/>
        </p:nvPicPr>
        <p:blipFill>
          <a:blip r:embed="rId13"/>
          <a:stretch>
            <a:fillRect/>
          </a:stretch>
        </p:blipFill>
        <p:spPr>
          <a:xfrm>
            <a:off x="5181447" y="4892040"/>
            <a:ext cx="1828800" cy="182880"/>
          </a:xfrm>
          <a:prstGeom prst="rect">
            <a:avLst/>
          </a:prstGeom>
        </p:spPr>
      </p:pic>
      <p:pic>
        <p:nvPicPr>
          <p:cNvPr id="31" name="o30" descr="© 2026 PGE3 · 23 OCTOBRE"/>
          <p:cNvPicPr>
            <a:picLocks noChangeAspect="1"/>
          </p:cNvPicPr>
          <p:nvPr/>
        </p:nvPicPr>
        <p:blipFill>
          <a:blip r:embed="rId14"/>
          <a:stretch>
            <a:fillRect/>
          </a:stretch>
        </p:blipFill>
        <p:spPr>
          <a:xfrm>
            <a:off x="4559655" y="5440680"/>
            <a:ext cx="3072384" cy="128016"/>
          </a:xfrm>
          <a:prstGeom prst="rect">
            <a:avLst/>
          </a:prstGeom>
        </p:spPr>
      </p:pic>
      <p:pic>
        <p:nvPicPr>
          <p:cNvPr id="32" name="o31" descr="image-1-13.gif"/>
          <p:cNvPicPr>
            <a:picLocks noChangeAspect="1"/>
          </p:cNvPicPr>
          <p:nvPr/>
        </p:nvPicPr>
        <p:blipFill>
          <a:blip r:embed="rId15"/>
          <a:stretch>
            <a:fillRect/>
          </a:stretch>
        </p:blipFill>
        <p:spPr>
          <a:xfrm>
            <a:off x="11448288" y="6355080"/>
            <a:ext cx="182880" cy="182880"/>
          </a:xfrm>
          <a:prstGeom prst="rect">
            <a:avLst/>
          </a:prstGeom>
        </p:spPr>
      </p:pic>
      <p:pic>
        <p:nvPicPr>
          <p:cNvPr id="33" name="barre_fantome" descr="image.gif"/>
          <p:cNvPicPr>
            <a:picLocks noChangeAspect="1"/>
          </p:cNvPicPr>
          <p:nvPr/>
        </p:nvPicPr>
        <p:blipFill>
          <a:blip r:embed="rId9"/>
          <a:stretch>
            <a:fillRect/>
          </a:stretch>
        </p:blipFill>
        <p:spPr>
          <a:xfrm>
            <a:off x="4656273" y="6291072"/>
            <a:ext cx="310896" cy="310896"/>
          </a:xfrm>
          <a:prstGeom prst="rect">
            <a:avLst/>
          </a:prstGeom>
        </p:spPr>
      </p:pic>
      <p:pic>
        <p:nvPicPr>
          <p:cNvPr id="34" name="barre_pacman" descr="image.gif"/>
          <p:cNvPicPr>
            <a:picLocks noChangeAspect="1"/>
          </p:cNvPicPr>
          <p:nvPr/>
        </p:nvPicPr>
        <p:blipFill>
          <a:blip r:embed="rId10"/>
          <a:stretch>
            <a:fillRect/>
          </a:stretch>
        </p:blipFill>
        <p:spPr>
          <a:xfrm>
            <a:off x="5223201" y="6291072"/>
            <a:ext cx="310896" cy="310896"/>
          </a:xfrm>
          <a:prstGeom prst="rect">
            <a:avLst/>
          </a:prstGeom>
        </p:spPr>
      </p:pic>
      <p:sp>
        <p:nvSpPr>
          <p:cNvPr id="35"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679768101"/>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34"/>
                                        </p:tgtEl>
                                        <p:attrNameLst>
                                          <p:attrName>ppt_x</p:attrName>
                                          <p:attrName>ppt_y</p:attrName>
                                        </p:attrNameLst>
                                      </p:cBhvr>
                                    </p:animMotion>
                                  </p:childTnLst>
                                </p:cTn>
                              </p:par>
                              <p:par>
                                <p:cTn id="9" presetID="1" presetClass="exit" presetSubtype="0" fill="hold" nodeType="withEffect">
                                  <p:stCondLst>
                                    <p:cond delay="733"/>
                                  </p:stCondLst>
                                  <p:childTnLst>
                                    <p:set>
                                      <p:cBhvr>
                                        <p:cTn id="10" dur="1" fill="hold">
                                          <p:stCondLst>
                                            <p:cond delay="0"/>
                                          </p:stCondLst>
                                        </p:cTn>
                                        <p:tgtEl>
                                          <p:spTgt spid="3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MENU → CHOISIS TON NIVEAU"/>
          <p:cNvPicPr>
            <a:picLocks noChangeAspect="1"/>
          </p:cNvPicPr>
          <p:nvPr/>
        </p:nvPicPr>
        <p:blipFill>
          <a:blip r:embed="rId3"/>
          <a:stretch>
            <a:fillRect/>
          </a:stretch>
        </p:blipFill>
        <p:spPr>
          <a:xfrm>
            <a:off x="548640" y="411480"/>
            <a:ext cx="3657600" cy="146304"/>
          </a:xfrm>
          <a:prstGeom prst="rect">
            <a:avLst/>
          </a:prstGeom>
        </p:spPr>
      </p:pic>
      <p:pic>
        <p:nvPicPr>
          <p:cNvPr id="3" name="o2" descr="Le parcours de ma partie"/>
          <p:cNvPicPr>
            <a:picLocks noChangeAspect="1"/>
          </p:cNvPicPr>
          <p:nvPr/>
        </p:nvPicPr>
        <p:blipFill>
          <a:blip r:embed="rId4"/>
          <a:stretch>
            <a:fillRect/>
          </a:stretch>
        </p:blipFill>
        <p:spPr>
          <a:xfrm>
            <a:off x="548640" y="777240"/>
            <a:ext cx="6583679" cy="274320"/>
          </a:xfrm>
          <a:prstGeom prst="rect">
            <a:avLst/>
          </a:prstGeom>
        </p:spPr>
      </p:pic>
      <p:pic>
        <p:nvPicPr>
          <p:cNvPr id="4" name="o3" descr="icone_etoile.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LEVEL 1"/>
          <p:cNvPicPr>
            <a:picLocks noChangeAspect="1"/>
          </p:cNvPicPr>
          <p:nvPr/>
        </p:nvPicPr>
        <p:blipFill>
          <a:blip r:embed="rId6"/>
          <a:stretch>
            <a:fillRect/>
          </a:stretch>
        </p:blipFill>
        <p:spPr>
          <a:xfrm>
            <a:off x="896111" y="1920240"/>
            <a:ext cx="1024128" cy="146304"/>
          </a:xfrm>
          <a:prstGeom prst="rect">
            <a:avLst/>
          </a:prstGeom>
        </p:spPr>
      </p:pic>
      <p:pic>
        <p:nvPicPr>
          <p:cNvPr id="8" name="o7" descr="image-2-7.png"/>
          <p:cNvPicPr>
            <a:picLocks noChangeAspect="1"/>
          </p:cNvPicPr>
          <p:nvPr/>
        </p:nvPicPr>
        <p:blipFill>
          <a:blip r:embed="rId7"/>
          <a:stretch>
            <a:fillRect/>
          </a:stretch>
        </p:blipFill>
        <p:spPr>
          <a:xfrm>
            <a:off x="1042416" y="2286000"/>
            <a:ext cx="731520" cy="731520"/>
          </a:xfrm>
          <a:prstGeom prst="rect">
            <a:avLst/>
          </a:prstGeom>
        </p:spPr>
      </p:pic>
      <p:pic>
        <p:nvPicPr>
          <p:cNvPr id="9" name="o8" descr="MISSION"/>
          <p:cNvPicPr>
            <a:picLocks noChangeAspect="1"/>
          </p:cNvPicPr>
          <p:nvPr/>
        </p:nvPicPr>
        <p:blipFill>
          <a:blip r:embed="rId8"/>
          <a:stretch>
            <a:fillRect/>
          </a:stretch>
        </p:blipFill>
        <p:spPr>
          <a:xfrm>
            <a:off x="864107" y="3246120"/>
            <a:ext cx="1088136" cy="155448"/>
          </a:xfrm>
          <a:prstGeom prst="rect">
            <a:avLst/>
          </a:prstGeom>
        </p:spPr>
      </p:pic>
      <p:sp>
        <p:nvSpPr>
          <p:cNvPr id="10" name="o9"/>
          <p:cNvSpPr txBox="1"/>
          <p:nvPr/>
        </p:nvSpPr>
        <p:spPr>
          <a:xfrm>
            <a:off x="640080"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La 2e source</a:t>
            </a:r>
          </a:p>
        </p:txBody>
      </p:sp>
      <p:sp>
        <p:nvSpPr>
          <p:cNvPr id="11" name="o10"/>
          <p:cNvSpPr/>
          <p:nvPr/>
        </p:nvSpPr>
        <p:spPr>
          <a:xfrm>
            <a:off x="242316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11"/>
          <p:cNvSpPr/>
          <p:nvPr/>
        </p:nvSpPr>
        <p:spPr>
          <a:xfrm>
            <a:off x="2491740"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o12" descr="LEVEL 2"/>
          <p:cNvPicPr>
            <a:picLocks noChangeAspect="1"/>
          </p:cNvPicPr>
          <p:nvPr/>
        </p:nvPicPr>
        <p:blipFill>
          <a:blip r:embed="rId9"/>
          <a:stretch>
            <a:fillRect/>
          </a:stretch>
        </p:blipFill>
        <p:spPr>
          <a:xfrm>
            <a:off x="2770632" y="1920240"/>
            <a:ext cx="1024128" cy="146304"/>
          </a:xfrm>
          <a:prstGeom prst="rect">
            <a:avLst/>
          </a:prstGeom>
        </p:spPr>
      </p:pic>
      <p:pic>
        <p:nvPicPr>
          <p:cNvPr id="14" name="o13" descr="image-2-10.png"/>
          <p:cNvPicPr>
            <a:picLocks noChangeAspect="1"/>
          </p:cNvPicPr>
          <p:nvPr/>
        </p:nvPicPr>
        <p:blipFill>
          <a:blip r:embed="rId10"/>
          <a:stretch>
            <a:fillRect/>
          </a:stretch>
        </p:blipFill>
        <p:spPr>
          <a:xfrm>
            <a:off x="2916936" y="2286000"/>
            <a:ext cx="731520" cy="731520"/>
          </a:xfrm>
          <a:prstGeom prst="rect">
            <a:avLst/>
          </a:prstGeom>
        </p:spPr>
      </p:pic>
      <p:pic>
        <p:nvPicPr>
          <p:cNvPr id="15" name="o14" descr="NETTOYAGE"/>
          <p:cNvPicPr>
            <a:picLocks noChangeAspect="1"/>
          </p:cNvPicPr>
          <p:nvPr/>
        </p:nvPicPr>
        <p:blipFill>
          <a:blip r:embed="rId11"/>
          <a:stretch>
            <a:fillRect/>
          </a:stretch>
        </p:blipFill>
        <p:spPr>
          <a:xfrm>
            <a:off x="2583179" y="3246120"/>
            <a:ext cx="1399032" cy="155448"/>
          </a:xfrm>
          <a:prstGeom prst="rect">
            <a:avLst/>
          </a:prstGeom>
        </p:spPr>
      </p:pic>
      <p:sp>
        <p:nvSpPr>
          <p:cNvPr id="16" name="o15"/>
          <p:cNvSpPr txBox="1"/>
          <p:nvPr/>
        </p:nvSpPr>
        <p:spPr>
          <a:xfrm>
            <a:off x="2514600"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Nouveaux fantômes</a:t>
            </a:r>
          </a:p>
        </p:txBody>
      </p:sp>
      <p:sp>
        <p:nvSpPr>
          <p:cNvPr id="17" name="o16"/>
          <p:cNvSpPr/>
          <p:nvPr/>
        </p:nvSpPr>
        <p:spPr>
          <a:xfrm>
            <a:off x="429767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17"/>
          <p:cNvSpPr/>
          <p:nvPr/>
        </p:nvSpPr>
        <p:spPr>
          <a:xfrm>
            <a:off x="436625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o18" descr="LEVEL 3"/>
          <p:cNvPicPr>
            <a:picLocks noChangeAspect="1"/>
          </p:cNvPicPr>
          <p:nvPr/>
        </p:nvPicPr>
        <p:blipFill>
          <a:blip r:embed="rId12"/>
          <a:stretch>
            <a:fillRect/>
          </a:stretch>
        </p:blipFill>
        <p:spPr>
          <a:xfrm>
            <a:off x="4645151" y="1920240"/>
            <a:ext cx="1024128" cy="146304"/>
          </a:xfrm>
          <a:prstGeom prst="rect">
            <a:avLst/>
          </a:prstGeom>
        </p:spPr>
      </p:pic>
      <p:pic>
        <p:nvPicPr>
          <p:cNvPr id="20" name="o19" descr="image-2-13.png"/>
          <p:cNvPicPr>
            <a:picLocks noChangeAspect="1"/>
          </p:cNvPicPr>
          <p:nvPr/>
        </p:nvPicPr>
        <p:blipFill>
          <a:blip r:embed="rId13"/>
          <a:stretch>
            <a:fillRect/>
          </a:stretch>
        </p:blipFill>
        <p:spPr>
          <a:xfrm>
            <a:off x="4791455" y="2286000"/>
            <a:ext cx="731520" cy="731520"/>
          </a:xfrm>
          <a:prstGeom prst="rect">
            <a:avLst/>
          </a:prstGeom>
        </p:spPr>
      </p:pic>
      <p:pic>
        <p:nvPicPr>
          <p:cNvPr id="21" name="o20" descr="JOINTURE"/>
          <p:cNvPicPr>
            <a:picLocks noChangeAspect="1"/>
          </p:cNvPicPr>
          <p:nvPr/>
        </p:nvPicPr>
        <p:blipFill>
          <a:blip r:embed="rId14"/>
          <a:stretch>
            <a:fillRect/>
          </a:stretch>
        </p:blipFill>
        <p:spPr>
          <a:xfrm>
            <a:off x="4535423" y="3246120"/>
            <a:ext cx="1243584" cy="155448"/>
          </a:xfrm>
          <a:prstGeom prst="rect">
            <a:avLst/>
          </a:prstGeom>
        </p:spPr>
      </p:pic>
      <p:sp>
        <p:nvSpPr>
          <p:cNvPr id="22" name="o21"/>
          <p:cNvSpPr txBox="1"/>
          <p:nvPr/>
        </p:nvSpPr>
        <p:spPr>
          <a:xfrm>
            <a:off x="4389119"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Relier 2 bases</a:t>
            </a:r>
          </a:p>
        </p:txBody>
      </p:sp>
      <p:sp>
        <p:nvSpPr>
          <p:cNvPr id="23" name="o22"/>
          <p:cNvSpPr/>
          <p:nvPr/>
        </p:nvSpPr>
        <p:spPr>
          <a:xfrm>
            <a:off x="617219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23"/>
          <p:cNvSpPr/>
          <p:nvPr/>
        </p:nvSpPr>
        <p:spPr>
          <a:xfrm>
            <a:off x="624077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o24" descr="LEVEL 4"/>
          <p:cNvPicPr>
            <a:picLocks noChangeAspect="1"/>
          </p:cNvPicPr>
          <p:nvPr/>
        </p:nvPicPr>
        <p:blipFill>
          <a:blip r:embed="rId15"/>
          <a:stretch>
            <a:fillRect/>
          </a:stretch>
        </p:blipFill>
        <p:spPr>
          <a:xfrm>
            <a:off x="6519671" y="1920240"/>
            <a:ext cx="1024128" cy="146304"/>
          </a:xfrm>
          <a:prstGeom prst="rect">
            <a:avLst/>
          </a:prstGeom>
        </p:spPr>
      </p:pic>
      <p:pic>
        <p:nvPicPr>
          <p:cNvPr id="26" name="o25" descr="image-10-3.png"/>
          <p:cNvPicPr>
            <a:picLocks noChangeAspect="1"/>
          </p:cNvPicPr>
          <p:nvPr/>
        </p:nvPicPr>
        <p:blipFill>
          <a:blip r:embed="rId16"/>
          <a:stretch>
            <a:fillRect/>
          </a:stretch>
        </p:blipFill>
        <p:spPr>
          <a:xfrm>
            <a:off x="6665975" y="2286000"/>
            <a:ext cx="731520" cy="731520"/>
          </a:xfrm>
          <a:prstGeom prst="rect">
            <a:avLst/>
          </a:prstGeom>
        </p:spPr>
      </p:pic>
      <p:pic>
        <p:nvPicPr>
          <p:cNvPr id="27" name="o26" descr="INSIGHTS"/>
          <p:cNvPicPr>
            <a:picLocks noChangeAspect="1"/>
          </p:cNvPicPr>
          <p:nvPr/>
        </p:nvPicPr>
        <p:blipFill>
          <a:blip r:embed="rId17"/>
          <a:stretch>
            <a:fillRect/>
          </a:stretch>
        </p:blipFill>
        <p:spPr>
          <a:xfrm>
            <a:off x="6409943" y="3246120"/>
            <a:ext cx="1243584" cy="155448"/>
          </a:xfrm>
          <a:prstGeom prst="rect">
            <a:avLst/>
          </a:prstGeom>
        </p:spPr>
      </p:pic>
      <p:sp>
        <p:nvSpPr>
          <p:cNvPr id="28" name="o27"/>
          <p:cNvSpPr txBox="1"/>
          <p:nvPr/>
        </p:nvSpPr>
        <p:spPr>
          <a:xfrm>
            <a:off x="6263639"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4 découvertes</a:t>
            </a:r>
          </a:p>
        </p:txBody>
      </p:sp>
      <p:sp>
        <p:nvSpPr>
          <p:cNvPr id="29" name="o28"/>
          <p:cNvSpPr/>
          <p:nvPr/>
        </p:nvSpPr>
        <p:spPr>
          <a:xfrm>
            <a:off x="804671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29"/>
          <p:cNvSpPr/>
          <p:nvPr/>
        </p:nvSpPr>
        <p:spPr>
          <a:xfrm>
            <a:off x="811529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o30" descr="LEVEL 5"/>
          <p:cNvPicPr>
            <a:picLocks noChangeAspect="1"/>
          </p:cNvPicPr>
          <p:nvPr/>
        </p:nvPicPr>
        <p:blipFill>
          <a:blip r:embed="rId18"/>
          <a:stretch>
            <a:fillRect/>
          </a:stretch>
        </p:blipFill>
        <p:spPr>
          <a:xfrm>
            <a:off x="8394192" y="1920240"/>
            <a:ext cx="1024128" cy="146304"/>
          </a:xfrm>
          <a:prstGeom prst="rect">
            <a:avLst/>
          </a:prstGeom>
        </p:spPr>
      </p:pic>
      <p:pic>
        <p:nvPicPr>
          <p:cNvPr id="32" name="o31" descr="image-14-1.png"/>
          <p:cNvPicPr>
            <a:picLocks noChangeAspect="1"/>
          </p:cNvPicPr>
          <p:nvPr/>
        </p:nvPicPr>
        <p:blipFill>
          <a:blip r:embed="rId19"/>
          <a:stretch>
            <a:fillRect/>
          </a:stretch>
        </p:blipFill>
        <p:spPr>
          <a:xfrm>
            <a:off x="8540496" y="2286000"/>
            <a:ext cx="731520" cy="731520"/>
          </a:xfrm>
          <a:prstGeom prst="rect">
            <a:avLst/>
          </a:prstGeom>
        </p:spPr>
      </p:pic>
      <p:pic>
        <p:nvPicPr>
          <p:cNvPr id="33" name="o32" descr="BOSS"/>
          <p:cNvPicPr>
            <a:picLocks noChangeAspect="1"/>
          </p:cNvPicPr>
          <p:nvPr/>
        </p:nvPicPr>
        <p:blipFill>
          <a:blip r:embed="rId20"/>
          <a:stretch>
            <a:fillRect/>
          </a:stretch>
        </p:blipFill>
        <p:spPr>
          <a:xfrm>
            <a:off x="8595359" y="3246120"/>
            <a:ext cx="621792" cy="155448"/>
          </a:xfrm>
          <a:prstGeom prst="rect">
            <a:avLst/>
          </a:prstGeom>
        </p:spPr>
      </p:pic>
      <p:sp>
        <p:nvSpPr>
          <p:cNvPr id="34" name="o33"/>
          <p:cNvSpPr txBox="1"/>
          <p:nvPr/>
        </p:nvSpPr>
        <p:spPr>
          <a:xfrm>
            <a:off x="8138159"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MPI + qualité</a:t>
            </a:r>
          </a:p>
        </p:txBody>
      </p:sp>
      <p:sp>
        <p:nvSpPr>
          <p:cNvPr id="35" name="o34"/>
          <p:cNvSpPr/>
          <p:nvPr/>
        </p:nvSpPr>
        <p:spPr>
          <a:xfrm>
            <a:off x="99212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35"/>
          <p:cNvSpPr/>
          <p:nvPr/>
        </p:nvSpPr>
        <p:spPr>
          <a:xfrm>
            <a:off x="99898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7" name="o36" descr="LEVEL 6"/>
          <p:cNvPicPr>
            <a:picLocks noChangeAspect="1"/>
          </p:cNvPicPr>
          <p:nvPr/>
        </p:nvPicPr>
        <p:blipFill>
          <a:blip r:embed="rId21"/>
          <a:stretch>
            <a:fillRect/>
          </a:stretch>
        </p:blipFill>
        <p:spPr>
          <a:xfrm>
            <a:off x="10268712" y="1920240"/>
            <a:ext cx="1024128" cy="146304"/>
          </a:xfrm>
          <a:prstGeom prst="rect">
            <a:avLst/>
          </a:prstGeom>
        </p:spPr>
      </p:pic>
      <p:pic>
        <p:nvPicPr>
          <p:cNvPr id="38" name="o37" descr="image-16-1.png"/>
          <p:cNvPicPr>
            <a:picLocks noChangeAspect="1"/>
          </p:cNvPicPr>
          <p:nvPr/>
        </p:nvPicPr>
        <p:blipFill>
          <a:blip r:embed="rId22"/>
          <a:stretch>
            <a:fillRect/>
          </a:stretch>
        </p:blipFill>
        <p:spPr>
          <a:xfrm>
            <a:off x="10415016" y="2286000"/>
            <a:ext cx="731520" cy="731520"/>
          </a:xfrm>
          <a:prstGeom prst="rect">
            <a:avLst/>
          </a:prstGeom>
        </p:spPr>
      </p:pic>
      <p:pic>
        <p:nvPicPr>
          <p:cNvPr id="39" name="o38" descr="LIVE DEMO"/>
          <p:cNvPicPr>
            <a:picLocks noChangeAspect="1"/>
          </p:cNvPicPr>
          <p:nvPr/>
        </p:nvPicPr>
        <p:blipFill>
          <a:blip r:embed="rId23"/>
          <a:stretch>
            <a:fillRect/>
          </a:stretch>
        </p:blipFill>
        <p:spPr>
          <a:xfrm>
            <a:off x="10081260" y="3246120"/>
            <a:ext cx="1399032" cy="155448"/>
          </a:xfrm>
          <a:prstGeom prst="rect">
            <a:avLst/>
          </a:prstGeom>
        </p:spPr>
      </p:pic>
      <p:sp>
        <p:nvSpPr>
          <p:cNvPr id="40" name="o39"/>
          <p:cNvSpPr txBox="1"/>
          <p:nvPr/>
        </p:nvSpPr>
        <p:spPr>
          <a:xfrm>
            <a:off x="10012680"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L'appli enrichie</a:t>
            </a:r>
          </a:p>
        </p:txBody>
      </p:sp>
      <p:sp>
        <p:nvSpPr>
          <p:cNvPr id="41" name="o40"/>
          <p:cNvSpPr/>
          <p:nvPr/>
        </p:nvSpPr>
        <p:spPr>
          <a:xfrm>
            <a:off x="548640" y="4983480"/>
            <a:ext cx="11091672" cy="795528"/>
          </a:xfrm>
          <a:prstGeom prst="roundRect">
            <a:avLst>
              <a:gd name="adj" fmla="val 16091"/>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41"/>
          <p:cNvSpPr/>
          <p:nvPr/>
        </p:nvSpPr>
        <p:spPr>
          <a:xfrm>
            <a:off x="617219" y="5052060"/>
            <a:ext cx="10954512" cy="658368"/>
          </a:xfrm>
          <a:prstGeom prst="roundRect">
            <a:avLst>
              <a:gd name="adj" fmla="val 9027"/>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3" name="o42" descr="image-17-12.png"/>
          <p:cNvPicPr>
            <a:picLocks noChangeAspect="1"/>
          </p:cNvPicPr>
          <p:nvPr/>
        </p:nvPicPr>
        <p:blipFill>
          <a:blip r:embed="rId24"/>
          <a:stretch>
            <a:fillRect/>
          </a:stretch>
        </p:blipFill>
        <p:spPr>
          <a:xfrm>
            <a:off x="868680" y="5120640"/>
            <a:ext cx="502920" cy="502920"/>
          </a:xfrm>
          <a:prstGeom prst="rect">
            <a:avLst/>
          </a:prstGeom>
        </p:spPr>
      </p:pic>
      <p:pic>
        <p:nvPicPr>
          <p:cNvPr id="44" name="o43" descr="BONUS"/>
          <p:cNvPicPr>
            <a:picLocks noChangeAspect="1"/>
          </p:cNvPicPr>
          <p:nvPr/>
        </p:nvPicPr>
        <p:blipFill>
          <a:blip r:embed="rId25"/>
          <a:stretch>
            <a:fillRect/>
          </a:stretch>
        </p:blipFill>
        <p:spPr>
          <a:xfrm>
            <a:off x="1554480" y="5294376"/>
            <a:ext cx="777240" cy="155448"/>
          </a:xfrm>
          <a:prstGeom prst="rect">
            <a:avLst/>
          </a:prstGeom>
        </p:spPr>
      </p:pic>
      <p:sp>
        <p:nvSpPr>
          <p:cNvPr id="45" name="o44"/>
          <p:cNvSpPr txBox="1"/>
          <p:nvPr/>
        </p:nvSpPr>
        <p:spPr>
          <a:xfrm>
            <a:off x="2514600" y="5248656"/>
            <a:ext cx="8778240" cy="292608"/>
          </a:xfrm>
          <a:prstGeom prst="rect">
            <a:avLst/>
          </a:prstGeom>
          <a:noFill/>
        </p:spPr>
        <p:txBody>
          <a:bodyPr wrap="square" lIns="0" tIns="0" rIns="0" bIns="0" anchor="t">
            <a:spAutoFit/>
          </a:bodyPr>
          <a:lstStyle/>
          <a:p>
            <a:pPr algn="l"/>
            <a:r>
              <a:rPr sz="1600" b="0" i="0">
                <a:solidFill>
                  <a:srgbClr val="C4C4E4"/>
                </a:solidFill>
                <a:latin typeface="Arial"/>
              </a:rPr>
              <a:t>Le prix de la prestation avant / après, puis les limites et nos recommandations au client</a:t>
            </a:r>
          </a:p>
        </p:txBody>
      </p:sp>
      <p:pic>
        <p:nvPicPr>
          <p:cNvPr id="46" name="o45" descr="image-1-13.gif"/>
          <p:cNvPicPr>
            <a:picLocks noChangeAspect="1"/>
          </p:cNvPicPr>
          <p:nvPr/>
        </p:nvPicPr>
        <p:blipFill>
          <a:blip r:embed="rId26"/>
          <a:stretch>
            <a:fillRect/>
          </a:stretch>
        </p:blipFill>
        <p:spPr>
          <a:xfrm>
            <a:off x="11448288" y="6355080"/>
            <a:ext cx="182880" cy="182880"/>
          </a:xfrm>
          <a:prstGeom prst="rect">
            <a:avLst/>
          </a:prstGeom>
        </p:spPr>
      </p:pic>
      <p:pic>
        <p:nvPicPr>
          <p:cNvPr id="47" name="barre_fantome" descr="image.gif"/>
          <p:cNvPicPr>
            <a:picLocks noChangeAspect="1"/>
          </p:cNvPicPr>
          <p:nvPr/>
        </p:nvPicPr>
        <p:blipFill>
          <a:blip r:embed="rId27"/>
          <a:stretch>
            <a:fillRect/>
          </a:stretch>
        </p:blipFill>
        <p:spPr>
          <a:xfrm>
            <a:off x="4923179" y="6291072"/>
            <a:ext cx="310896" cy="310896"/>
          </a:xfrm>
          <a:prstGeom prst="rect">
            <a:avLst/>
          </a:prstGeom>
        </p:spPr>
      </p:pic>
      <p:pic>
        <p:nvPicPr>
          <p:cNvPr id="48" name="barre_pacman" descr="image.gif"/>
          <p:cNvPicPr>
            <a:picLocks noChangeAspect="1"/>
          </p:cNvPicPr>
          <p:nvPr/>
        </p:nvPicPr>
        <p:blipFill>
          <a:blip r:embed="rId28"/>
          <a:stretch>
            <a:fillRect/>
          </a:stretch>
        </p:blipFill>
        <p:spPr>
          <a:xfrm>
            <a:off x="5490107" y="6291072"/>
            <a:ext cx="310896" cy="310896"/>
          </a:xfrm>
          <a:prstGeom prst="rect">
            <a:avLst/>
          </a:prstGeom>
        </p:spPr>
      </p:pic>
      <p:sp>
        <p:nvSpPr>
          <p:cNvPr id="49"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421772937"/>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8"/>
                                        </p:tgtEl>
                                        <p:attrNameLst>
                                          <p:attrName>ppt_x</p:attrName>
                                          <p:attrName>ppt_y</p:attrName>
                                        </p:attrNameLst>
                                      </p:cBhvr>
                                    </p:animMotion>
                                  </p:childTnLst>
                                </p:cTn>
                              </p:par>
                              <p:par>
                                <p:cTn id="9" presetID="1" presetClass="exit" presetSubtype="0" fill="hold" nodeType="withEffect">
                                  <p:stCondLst>
                                    <p:cond delay="604"/>
                                  </p:stCondLst>
                                  <p:childTnLst>
                                    <p:set>
                                      <p:cBhvr>
                                        <p:cTn id="10"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2-7.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1"/>
          <p:cNvPicPr>
            <a:picLocks noChangeAspect="1"/>
          </p:cNvPicPr>
          <p:nvPr/>
        </p:nvPicPr>
        <p:blipFill>
          <a:blip r:embed="rId4"/>
          <a:stretch>
            <a:fillRect/>
          </a:stretch>
        </p:blipFill>
        <p:spPr>
          <a:xfrm>
            <a:off x="5263743" y="1828800"/>
            <a:ext cx="1664208" cy="237744"/>
          </a:xfrm>
          <a:prstGeom prst="rect">
            <a:avLst/>
          </a:prstGeom>
        </p:spPr>
      </p:pic>
      <p:pic>
        <p:nvPicPr>
          <p:cNvPr id="14" name="o13" descr="MISSION"/>
          <p:cNvPicPr>
            <a:picLocks noChangeAspect="1"/>
          </p:cNvPicPr>
          <p:nvPr/>
        </p:nvPicPr>
        <p:blipFill>
          <a:blip r:embed="rId5"/>
          <a:stretch>
            <a:fillRect/>
          </a:stretch>
        </p:blipFill>
        <p:spPr>
          <a:xfrm>
            <a:off x="4303623" y="2331720"/>
            <a:ext cx="3584448"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Pourquoi une deuxième source ?</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gif"/>
          <p:cNvPicPr>
            <a:picLocks noChangeAspect="1"/>
          </p:cNvPicPr>
          <p:nvPr/>
        </p:nvPicPr>
        <p:blipFill>
          <a:blip r:embed="rId9"/>
          <a:stretch>
            <a:fillRect/>
          </a:stretch>
        </p:blipFill>
        <p:spPr>
          <a:xfrm>
            <a:off x="5190084" y="6291072"/>
            <a:ext cx="310896" cy="310896"/>
          </a:xfrm>
          <a:prstGeom prst="rect">
            <a:avLst/>
          </a:prstGeom>
        </p:spPr>
      </p:pic>
      <p:pic>
        <p:nvPicPr>
          <p:cNvPr id="41" name="barre_pacman" descr="image.gif"/>
          <p:cNvPicPr>
            <a:picLocks noChangeAspect="1"/>
          </p:cNvPicPr>
          <p:nvPr/>
        </p:nvPicPr>
        <p:blipFill>
          <a:blip r:embed="rId10"/>
          <a:stretch>
            <a:fillRect/>
          </a:stretch>
        </p:blipFill>
        <p:spPr>
          <a:xfrm>
            <a:off x="5757012" y="6291072"/>
            <a:ext cx="310896" cy="310896"/>
          </a:xfrm>
          <a:prstGeom prst="rect">
            <a:avLst/>
          </a:prstGeom>
        </p:spPr>
      </p:pic>
      <p:sp>
        <p:nvSpPr>
          <p:cNvPr id="42"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590646513"/>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475"/>
                                  </p:stCondLst>
                                  <p:childTnLst>
                                    <p:set>
                                      <p:cBhvr>
                                        <p:cTn id="10" dur="1" fill="hold">
                                          <p:stCondLst>
                                            <p:cond delay="0"/>
                                          </p:stCondLst>
                                        </p:cTn>
                                        <p:tgtEl>
                                          <p:spTgt spid="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La demande du client"/>
          <p:cNvPicPr>
            <a:picLocks noChangeAspect="1"/>
          </p:cNvPicPr>
          <p:nvPr/>
        </p:nvPicPr>
        <p:blipFill>
          <a:blip r:embed="rId4"/>
          <a:stretch>
            <a:fillRect/>
          </a:stretch>
        </p:blipFill>
        <p:spPr>
          <a:xfrm>
            <a:off x="548640" y="777240"/>
            <a:ext cx="548640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3566160" cy="502920"/>
          </a:xfrm>
          <a:prstGeom prst="roundRect">
            <a:avLst>
              <a:gd name="adj" fmla="val 25454"/>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60220"/>
            <a:ext cx="3429000" cy="365760"/>
          </a:xfrm>
          <a:prstGeom prst="roundRect">
            <a:avLst>
              <a:gd name="adj" fmla="val 16250"/>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QUETE : 2E SOURCE"/>
          <p:cNvPicPr>
            <a:picLocks noChangeAspect="1"/>
          </p:cNvPicPr>
          <p:nvPr/>
        </p:nvPicPr>
        <p:blipFill>
          <a:blip r:embed="rId6"/>
          <a:stretch>
            <a:fillRect/>
          </a:stretch>
        </p:blipFill>
        <p:spPr>
          <a:xfrm>
            <a:off x="1088136" y="1874519"/>
            <a:ext cx="2487168" cy="146304"/>
          </a:xfrm>
          <a:prstGeom prst="rect">
            <a:avLst/>
          </a:prstGeom>
        </p:spPr>
      </p:pic>
      <p:sp>
        <p:nvSpPr>
          <p:cNvPr id="8" name="o7"/>
          <p:cNvSpPr txBox="1"/>
          <p:nvPr/>
        </p:nvSpPr>
        <p:spPr>
          <a:xfrm>
            <a:off x="548640" y="2560320"/>
            <a:ext cx="5669280" cy="1188720"/>
          </a:xfrm>
          <a:prstGeom prst="rect">
            <a:avLst/>
          </a:prstGeom>
          <a:noFill/>
        </p:spPr>
        <p:txBody>
          <a:bodyPr wrap="square" lIns="0" tIns="0" rIns="0" bIns="0" anchor="t">
            <a:spAutoFit/>
          </a:bodyPr>
          <a:lstStyle/>
          <a:p>
            <a:pPr algn="l"/>
            <a:r>
              <a:rPr sz="3400" b="1" i="0">
                <a:solidFill>
                  <a:srgbClr val="FFFFFF"/>
                </a:solidFill>
                <a:latin typeface="Arial"/>
              </a:rPr>
              <a:t>Une bonne note fait-elle </a:t>
            </a:r>
            <a:r>
              <a:rPr sz="3400" b="1" i="0">
                <a:solidFill>
                  <a:srgbClr val="FFE600"/>
                </a:solidFill>
                <a:latin typeface="Arial"/>
              </a:rPr>
              <a:t>vendre</a:t>
            </a:r>
            <a:r>
              <a:rPr sz="3400" b="1" i="0">
                <a:solidFill>
                  <a:srgbClr val="FFFFFF"/>
                </a:solidFill>
                <a:latin typeface="Arial"/>
              </a:rPr>
              <a:t> ?</a:t>
            </a:r>
          </a:p>
        </p:txBody>
      </p:sp>
      <p:sp>
        <p:nvSpPr>
          <p:cNvPr id="9" name="o8"/>
          <p:cNvSpPr txBox="1"/>
          <p:nvPr/>
        </p:nvSpPr>
        <p:spPr>
          <a:xfrm>
            <a:off x="548640" y="3886200"/>
            <a:ext cx="5486400" cy="914400"/>
          </a:xfrm>
          <a:prstGeom prst="rect">
            <a:avLst/>
          </a:prstGeom>
          <a:noFill/>
        </p:spPr>
        <p:txBody>
          <a:bodyPr wrap="square" lIns="0" tIns="0" rIns="0" bIns="0" anchor="t">
            <a:spAutoFit/>
          </a:bodyPr>
          <a:lstStyle/>
          <a:p>
            <a:pPr algn="l"/>
            <a:r>
              <a:rPr sz="1800" b="0" i="0">
                <a:solidFill>
                  <a:srgbClr val="C4C4E4"/>
                </a:solidFill>
                <a:latin typeface="Arial"/>
              </a:rPr>
              <a:t>Les ventes disent combien un jeu s'est vendu, pas s'il était bon. La deuxième base apporte l'avis de la presse et des joueurs sur chaque jeu.</a:t>
            </a:r>
          </a:p>
        </p:txBody>
      </p:sp>
      <p:sp>
        <p:nvSpPr>
          <p:cNvPr id="10" name="o9"/>
          <p:cNvSpPr txBox="1"/>
          <p:nvPr/>
        </p:nvSpPr>
        <p:spPr>
          <a:xfrm>
            <a:off x="548640" y="5074920"/>
            <a:ext cx="5486400" cy="457200"/>
          </a:xfrm>
          <a:prstGeom prst="rect">
            <a:avLst/>
          </a:prstGeom>
          <a:noFill/>
        </p:spPr>
        <p:txBody>
          <a:bodyPr wrap="square" lIns="0" tIns="0" rIns="0" bIns="0" anchor="t">
            <a:spAutoFit/>
          </a:bodyPr>
          <a:lstStyle/>
          <a:p>
            <a:pPr algn="l"/>
            <a:r>
              <a:rPr sz="1100" b="0" i="0">
                <a:solidFill>
                  <a:srgbClr val="7C7CAA"/>
                </a:solidFill>
                <a:latin typeface="Arial"/>
              </a:rPr>
              <a:t>Source : Video Game Sales with Ratings (Kaggle, rush4ratio) · scraping Metacritic du 22/12/2016 · licence non précisée, usage pédagogique</a:t>
            </a:r>
          </a:p>
        </p:txBody>
      </p:sp>
      <p:sp>
        <p:nvSpPr>
          <p:cNvPr id="11" name="o10"/>
          <p:cNvSpPr/>
          <p:nvPr/>
        </p:nvSpPr>
        <p:spPr>
          <a:xfrm>
            <a:off x="6446520"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11"/>
          <p:cNvSpPr/>
          <p:nvPr/>
        </p:nvSpPr>
        <p:spPr>
          <a:xfrm>
            <a:off x="6515100"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o12" descr="16 719"/>
          <p:cNvPicPr>
            <a:picLocks noChangeAspect="1"/>
          </p:cNvPicPr>
          <p:nvPr/>
        </p:nvPicPr>
        <p:blipFill>
          <a:blip r:embed="rId7"/>
          <a:stretch>
            <a:fillRect/>
          </a:stretch>
        </p:blipFill>
        <p:spPr>
          <a:xfrm>
            <a:off x="6720840" y="1965960"/>
            <a:ext cx="1975104" cy="329184"/>
          </a:xfrm>
          <a:prstGeom prst="rect">
            <a:avLst/>
          </a:prstGeom>
        </p:spPr>
      </p:pic>
      <p:sp>
        <p:nvSpPr>
          <p:cNvPr id="14" name="o13"/>
          <p:cNvSpPr txBox="1"/>
          <p:nvPr/>
        </p:nvSpPr>
        <p:spPr>
          <a:xfrm>
            <a:off x="6720840" y="2523744"/>
            <a:ext cx="1874519" cy="859536"/>
          </a:xfrm>
          <a:prstGeom prst="rect">
            <a:avLst/>
          </a:prstGeom>
          <a:noFill/>
        </p:spPr>
        <p:txBody>
          <a:bodyPr wrap="square" lIns="0" tIns="0" rIns="0" bIns="0" anchor="t">
            <a:spAutoFit/>
          </a:bodyPr>
          <a:lstStyle/>
          <a:p>
            <a:pPr algn="l"/>
            <a:r>
              <a:rPr sz="1400" b="0" i="0">
                <a:solidFill>
                  <a:srgbClr val="C4C4E4"/>
                </a:solidFill>
                <a:latin typeface="Arial"/>
              </a:rPr>
              <a:t>lignes : un jeu sur une plateforme, comme vgsales</a:t>
            </a:r>
          </a:p>
        </p:txBody>
      </p:sp>
      <p:sp>
        <p:nvSpPr>
          <p:cNvPr id="15" name="o14"/>
          <p:cNvSpPr/>
          <p:nvPr/>
        </p:nvSpPr>
        <p:spPr>
          <a:xfrm>
            <a:off x="9043416"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15"/>
          <p:cNvSpPr/>
          <p:nvPr/>
        </p:nvSpPr>
        <p:spPr>
          <a:xfrm>
            <a:off x="9111996"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o16" descr="6"/>
          <p:cNvPicPr>
            <a:picLocks noChangeAspect="1"/>
          </p:cNvPicPr>
          <p:nvPr/>
        </p:nvPicPr>
        <p:blipFill>
          <a:blip r:embed="rId8"/>
          <a:stretch>
            <a:fillRect/>
          </a:stretch>
        </p:blipFill>
        <p:spPr>
          <a:xfrm>
            <a:off x="9317736" y="1965960"/>
            <a:ext cx="329184" cy="329184"/>
          </a:xfrm>
          <a:prstGeom prst="rect">
            <a:avLst/>
          </a:prstGeom>
        </p:spPr>
      </p:pic>
      <p:sp>
        <p:nvSpPr>
          <p:cNvPr id="18" name="o17"/>
          <p:cNvSpPr txBox="1"/>
          <p:nvPr/>
        </p:nvSpPr>
        <p:spPr>
          <a:xfrm>
            <a:off x="9317736" y="2523744"/>
            <a:ext cx="1874519" cy="859536"/>
          </a:xfrm>
          <a:prstGeom prst="rect">
            <a:avLst/>
          </a:prstGeom>
          <a:noFill/>
        </p:spPr>
        <p:txBody>
          <a:bodyPr wrap="square" lIns="0" tIns="0" rIns="0" bIns="0" anchor="t">
            <a:spAutoFit/>
          </a:bodyPr>
          <a:lstStyle/>
          <a:p>
            <a:pPr algn="l"/>
            <a:r>
              <a:rPr sz="1400" b="0" i="0">
                <a:solidFill>
                  <a:srgbClr val="C4C4E4"/>
                </a:solidFill>
                <a:latin typeface="Arial"/>
              </a:rPr>
              <a:t>colonnes nouvelles : notes, nombre d'avis, studio, âge</a:t>
            </a:r>
          </a:p>
        </p:txBody>
      </p:sp>
      <p:sp>
        <p:nvSpPr>
          <p:cNvPr id="19" name="o18"/>
          <p:cNvSpPr/>
          <p:nvPr/>
        </p:nvSpPr>
        <p:spPr>
          <a:xfrm>
            <a:off x="6446520"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19"/>
          <p:cNvSpPr/>
          <p:nvPr/>
        </p:nvSpPr>
        <p:spPr>
          <a:xfrm>
            <a:off x="6515100"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o20" descr="51%"/>
          <p:cNvPicPr>
            <a:picLocks noChangeAspect="1"/>
          </p:cNvPicPr>
          <p:nvPr/>
        </p:nvPicPr>
        <p:blipFill>
          <a:blip r:embed="rId9"/>
          <a:stretch>
            <a:fillRect/>
          </a:stretch>
        </p:blipFill>
        <p:spPr>
          <a:xfrm>
            <a:off x="6720840" y="4023359"/>
            <a:ext cx="987552" cy="329184"/>
          </a:xfrm>
          <a:prstGeom prst="rect">
            <a:avLst/>
          </a:prstGeom>
        </p:spPr>
      </p:pic>
      <p:sp>
        <p:nvSpPr>
          <p:cNvPr id="22" name="o21"/>
          <p:cNvSpPr txBox="1"/>
          <p:nvPr/>
        </p:nvSpPr>
        <p:spPr>
          <a:xfrm>
            <a:off x="6720840" y="4581144"/>
            <a:ext cx="1874519" cy="859536"/>
          </a:xfrm>
          <a:prstGeom prst="rect">
            <a:avLst/>
          </a:prstGeom>
          <a:noFill/>
        </p:spPr>
        <p:txBody>
          <a:bodyPr wrap="square" lIns="0" tIns="0" rIns="0" bIns="0" anchor="t">
            <a:spAutoFit/>
          </a:bodyPr>
          <a:lstStyle/>
          <a:p>
            <a:pPr algn="l"/>
            <a:r>
              <a:rPr sz="1400" b="0" i="0">
                <a:solidFill>
                  <a:srgbClr val="C4C4E4"/>
                </a:solidFill>
                <a:latin typeface="Arial"/>
              </a:rPr>
              <a:t>de notes presse manquantes dans le brut</a:t>
            </a:r>
          </a:p>
        </p:txBody>
      </p:sp>
      <p:sp>
        <p:nvSpPr>
          <p:cNvPr id="23" name="o22"/>
          <p:cNvSpPr/>
          <p:nvPr/>
        </p:nvSpPr>
        <p:spPr>
          <a:xfrm>
            <a:off x="9043416"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23"/>
          <p:cNvSpPr/>
          <p:nvPr/>
        </p:nvSpPr>
        <p:spPr>
          <a:xfrm>
            <a:off x="9111996"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o24" descr="99,7%"/>
          <p:cNvPicPr>
            <a:picLocks noChangeAspect="1"/>
          </p:cNvPicPr>
          <p:nvPr/>
        </p:nvPicPr>
        <p:blipFill>
          <a:blip r:embed="rId10"/>
          <a:stretch>
            <a:fillRect/>
          </a:stretch>
        </p:blipFill>
        <p:spPr>
          <a:xfrm>
            <a:off x="9317736" y="4023359"/>
            <a:ext cx="1645919" cy="329184"/>
          </a:xfrm>
          <a:prstGeom prst="rect">
            <a:avLst/>
          </a:prstGeom>
        </p:spPr>
      </p:pic>
      <p:sp>
        <p:nvSpPr>
          <p:cNvPr id="26" name="o25"/>
          <p:cNvSpPr txBox="1"/>
          <p:nvPr/>
        </p:nvSpPr>
        <p:spPr>
          <a:xfrm>
            <a:off x="9317736" y="4581144"/>
            <a:ext cx="1874519" cy="859536"/>
          </a:xfrm>
          <a:prstGeom prst="rect">
            <a:avLst/>
          </a:prstGeom>
          <a:noFill/>
        </p:spPr>
        <p:txBody>
          <a:bodyPr wrap="square" lIns="0" tIns="0" rIns="0" bIns="0" anchor="t">
            <a:spAutoFit/>
          </a:bodyPr>
          <a:lstStyle/>
          <a:p>
            <a:pPr algn="l"/>
            <a:r>
              <a:rPr sz="1400" b="0" i="0">
                <a:solidFill>
                  <a:srgbClr val="C4C4E4"/>
                </a:solidFill>
                <a:latin typeface="Arial"/>
              </a:rPr>
              <a:t>des jeux de vgsales retrouvés dans Metacritic</a:t>
            </a:r>
          </a:p>
        </p:txBody>
      </p:sp>
      <p:pic>
        <p:nvPicPr>
          <p:cNvPr id="27" name="o26"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28" name="barre_fantome" descr="image.gif"/>
          <p:cNvPicPr>
            <a:picLocks noChangeAspect="1"/>
          </p:cNvPicPr>
          <p:nvPr/>
        </p:nvPicPr>
        <p:blipFill>
          <a:blip r:embed="rId12"/>
          <a:stretch>
            <a:fillRect/>
          </a:stretch>
        </p:blipFill>
        <p:spPr>
          <a:xfrm>
            <a:off x="5456990" y="6291072"/>
            <a:ext cx="310896" cy="310896"/>
          </a:xfrm>
          <a:prstGeom prst="rect">
            <a:avLst/>
          </a:prstGeom>
        </p:spPr>
      </p:pic>
      <p:pic>
        <p:nvPicPr>
          <p:cNvPr id="29" name="barre_pacman" descr="image.gif"/>
          <p:cNvPicPr>
            <a:picLocks noChangeAspect="1"/>
          </p:cNvPicPr>
          <p:nvPr/>
        </p:nvPicPr>
        <p:blipFill>
          <a:blip r:embed="rId13"/>
          <a:stretch>
            <a:fillRect/>
          </a:stretch>
        </p:blipFill>
        <p:spPr>
          <a:xfrm>
            <a:off x="6023918" y="6291072"/>
            <a:ext cx="310896" cy="310896"/>
          </a:xfrm>
          <a:prstGeom prst="rect">
            <a:avLst/>
          </a:prstGeom>
        </p:spPr>
      </p:pic>
      <p:sp>
        <p:nvSpPr>
          <p:cNvPr id="30"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812516845"/>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2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29"/>
                                        </p:tgtEl>
                                        <p:attrNameLst>
                                          <p:attrName>ppt_x</p:attrName>
                                          <p:attrName>ppt_y</p:attrName>
                                        </p:attrNameLst>
                                      </p:cBhvr>
                                    </p:animMotion>
                                  </p:childTnLst>
                                </p:cTn>
                              </p:par>
                              <p:par>
                                <p:cTn id="9" presetID="1" presetClass="exit" presetSubtype="0" fill="hold" nodeType="withEffect">
                                  <p:stCondLst>
                                    <p:cond delay="346"/>
                                  </p:stCondLst>
                                  <p:childTnLst>
                                    <p:set>
                                      <p:cBhvr>
                                        <p:cTn id="10"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Pourquoi cette base ?"/>
          <p:cNvPicPr>
            <a:picLocks noChangeAspect="1"/>
          </p:cNvPicPr>
          <p:nvPr/>
        </p:nvPicPr>
        <p:blipFill>
          <a:blip r:embed="rId4"/>
          <a:stretch>
            <a:fillRect/>
          </a:stretch>
        </p:blipFill>
        <p:spPr>
          <a:xfrm>
            <a:off x="548640" y="777240"/>
            <a:ext cx="576072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pic>
        <p:nvPicPr>
          <p:cNvPr id="5" name="o4" descr="image-6-17.png"/>
          <p:cNvPicPr>
            <a:picLocks noChangeAspect="1"/>
          </p:cNvPicPr>
          <p:nvPr/>
        </p:nvPicPr>
        <p:blipFill>
          <a:blip r:embed="rId6"/>
          <a:stretch>
            <a:fillRect/>
          </a:stretch>
        </p:blipFill>
        <p:spPr>
          <a:xfrm>
            <a:off x="594360" y="1783080"/>
            <a:ext cx="502920" cy="502920"/>
          </a:xfrm>
          <a:prstGeom prst="rect">
            <a:avLst/>
          </a:prstGeom>
        </p:spPr>
      </p:pic>
      <p:sp>
        <p:nvSpPr>
          <p:cNvPr id="6" name="o5"/>
          <p:cNvSpPr txBox="1"/>
          <p:nvPr/>
        </p:nvSpPr>
        <p:spPr>
          <a:xfrm>
            <a:off x="1325880" y="1764792"/>
            <a:ext cx="4480560" cy="365760"/>
          </a:xfrm>
          <a:prstGeom prst="rect">
            <a:avLst/>
          </a:prstGeom>
          <a:noFill/>
        </p:spPr>
        <p:txBody>
          <a:bodyPr wrap="square" lIns="0" tIns="0" rIns="0" bIns="0" anchor="t">
            <a:spAutoFit/>
          </a:bodyPr>
          <a:lstStyle/>
          <a:p>
            <a:pPr algn="l"/>
            <a:r>
              <a:rPr sz="2000" b="1" i="0">
                <a:solidFill>
                  <a:srgbClr val="FFFFFF"/>
                </a:solidFill>
                <a:latin typeface="Arial"/>
              </a:rPr>
              <a:t>Jeux vidéo, 1980-2016</a:t>
            </a:r>
          </a:p>
        </p:txBody>
      </p:sp>
      <p:sp>
        <p:nvSpPr>
          <p:cNvPr id="7" name="o6"/>
          <p:cNvSpPr txBox="1"/>
          <p:nvPr/>
        </p:nvSpPr>
        <p:spPr>
          <a:xfrm>
            <a:off x="1325880" y="2167128"/>
            <a:ext cx="4480560" cy="320040"/>
          </a:xfrm>
          <a:prstGeom prst="rect">
            <a:avLst/>
          </a:prstGeom>
          <a:noFill/>
        </p:spPr>
        <p:txBody>
          <a:bodyPr wrap="square" lIns="0" tIns="0" rIns="0" bIns="0" anchor="t">
            <a:spAutoFit/>
          </a:bodyPr>
          <a:lstStyle/>
          <a:p>
            <a:pPr algn="l"/>
            <a:r>
              <a:rPr sz="1500" b="0" i="0">
                <a:solidFill>
                  <a:srgbClr val="C4C4E4"/>
                </a:solidFill>
                <a:latin typeface="Arial"/>
              </a:rPr>
              <a:t>la même période que nos ventes</a:t>
            </a:r>
          </a:p>
        </p:txBody>
      </p:sp>
      <p:pic>
        <p:nvPicPr>
          <p:cNvPr id="8" name="o7" descr="image-6-17.png"/>
          <p:cNvPicPr>
            <a:picLocks noChangeAspect="1"/>
          </p:cNvPicPr>
          <p:nvPr/>
        </p:nvPicPr>
        <p:blipFill>
          <a:blip r:embed="rId6"/>
          <a:stretch>
            <a:fillRect/>
          </a:stretch>
        </p:blipFill>
        <p:spPr>
          <a:xfrm>
            <a:off x="594360" y="2807208"/>
            <a:ext cx="502920" cy="502920"/>
          </a:xfrm>
          <a:prstGeom prst="rect">
            <a:avLst/>
          </a:prstGeom>
        </p:spPr>
      </p:pic>
      <p:sp>
        <p:nvSpPr>
          <p:cNvPr id="9" name="o8"/>
          <p:cNvSpPr txBox="1"/>
          <p:nvPr/>
        </p:nvSpPr>
        <p:spPr>
          <a:xfrm>
            <a:off x="1325880" y="2788920"/>
            <a:ext cx="4480560" cy="365760"/>
          </a:xfrm>
          <a:prstGeom prst="rect">
            <a:avLst/>
          </a:prstGeom>
          <a:noFill/>
        </p:spPr>
        <p:txBody>
          <a:bodyPr wrap="square" lIns="0" tIns="0" rIns="0" bIns="0" anchor="t">
            <a:spAutoFit/>
          </a:bodyPr>
          <a:lstStyle/>
          <a:p>
            <a:pPr algn="l"/>
            <a:r>
              <a:rPr sz="2000" b="1" i="0">
                <a:solidFill>
                  <a:srgbClr val="FFFFFF"/>
                </a:solidFill>
                <a:latin typeface="Arial"/>
              </a:rPr>
              <a:t>Une clé commune</a:t>
            </a:r>
          </a:p>
        </p:txBody>
      </p:sp>
      <p:sp>
        <p:nvSpPr>
          <p:cNvPr id="10" name="o9"/>
          <p:cNvSpPr txBox="1"/>
          <p:nvPr/>
        </p:nvSpPr>
        <p:spPr>
          <a:xfrm>
            <a:off x="1325880" y="3191256"/>
            <a:ext cx="4480560" cy="320040"/>
          </a:xfrm>
          <a:prstGeom prst="rect">
            <a:avLst/>
          </a:prstGeom>
          <a:noFill/>
        </p:spPr>
        <p:txBody>
          <a:bodyPr wrap="square" lIns="0" tIns="0" rIns="0" bIns="0" anchor="t">
            <a:spAutoFit/>
          </a:bodyPr>
          <a:lstStyle/>
          <a:p>
            <a:pPr algn="l"/>
            <a:r>
              <a:rPr sz="1500" b="0" i="0">
                <a:solidFill>
                  <a:srgbClr val="C4C4E4"/>
                </a:solidFill>
                <a:latin typeface="Arial"/>
              </a:rPr>
              <a:t>nom + plateforme + année</a:t>
            </a:r>
          </a:p>
        </p:txBody>
      </p:sp>
      <p:pic>
        <p:nvPicPr>
          <p:cNvPr id="11" name="o10" descr="image-6-17.png"/>
          <p:cNvPicPr>
            <a:picLocks noChangeAspect="1"/>
          </p:cNvPicPr>
          <p:nvPr/>
        </p:nvPicPr>
        <p:blipFill>
          <a:blip r:embed="rId6"/>
          <a:stretch>
            <a:fillRect/>
          </a:stretch>
        </p:blipFill>
        <p:spPr>
          <a:xfrm>
            <a:off x="594360" y="3831336"/>
            <a:ext cx="502920" cy="502920"/>
          </a:xfrm>
          <a:prstGeom prst="rect">
            <a:avLst/>
          </a:prstGeom>
        </p:spPr>
      </p:pic>
      <p:sp>
        <p:nvSpPr>
          <p:cNvPr id="12" name="o11"/>
          <p:cNvSpPr txBox="1"/>
          <p:nvPr/>
        </p:nvSpPr>
        <p:spPr>
          <a:xfrm>
            <a:off x="1325880" y="3813048"/>
            <a:ext cx="4480560" cy="365760"/>
          </a:xfrm>
          <a:prstGeom prst="rect">
            <a:avLst/>
          </a:prstGeom>
          <a:noFill/>
        </p:spPr>
        <p:txBody>
          <a:bodyPr wrap="square" lIns="0" tIns="0" rIns="0" bIns="0" anchor="t">
            <a:spAutoFit/>
          </a:bodyPr>
          <a:lstStyle/>
          <a:p>
            <a:pPr algn="l"/>
            <a:r>
              <a:rPr sz="2000" b="1" i="0">
                <a:solidFill>
                  <a:srgbClr val="FFFFFF"/>
                </a:solidFill>
                <a:latin typeface="Arial"/>
              </a:rPr>
              <a:t>Une information nouvelle</a:t>
            </a:r>
          </a:p>
        </p:txBody>
      </p:sp>
      <p:sp>
        <p:nvSpPr>
          <p:cNvPr id="13" name="o12"/>
          <p:cNvSpPr txBox="1"/>
          <p:nvPr/>
        </p:nvSpPr>
        <p:spPr>
          <a:xfrm>
            <a:off x="1325880" y="4215384"/>
            <a:ext cx="4480560" cy="320040"/>
          </a:xfrm>
          <a:prstGeom prst="rect">
            <a:avLst/>
          </a:prstGeom>
          <a:noFill/>
        </p:spPr>
        <p:txBody>
          <a:bodyPr wrap="square" lIns="0" tIns="0" rIns="0" bIns="0" anchor="t">
            <a:spAutoFit/>
          </a:bodyPr>
          <a:lstStyle/>
          <a:p>
            <a:pPr algn="l"/>
            <a:r>
              <a:rPr sz="1500" b="0" i="0">
                <a:solidFill>
                  <a:srgbClr val="C4C4E4"/>
                </a:solidFill>
                <a:latin typeface="Arial"/>
              </a:rPr>
              <a:t>notes, studio, classification d'âge</a:t>
            </a:r>
          </a:p>
        </p:txBody>
      </p:sp>
      <p:pic>
        <p:nvPicPr>
          <p:cNvPr id="14" name="o13" descr="image-6-17.png"/>
          <p:cNvPicPr>
            <a:picLocks noChangeAspect="1"/>
          </p:cNvPicPr>
          <p:nvPr/>
        </p:nvPicPr>
        <p:blipFill>
          <a:blip r:embed="rId6"/>
          <a:stretch>
            <a:fillRect/>
          </a:stretch>
        </p:blipFill>
        <p:spPr>
          <a:xfrm>
            <a:off x="594360" y="4855464"/>
            <a:ext cx="502920" cy="502920"/>
          </a:xfrm>
          <a:prstGeom prst="rect">
            <a:avLst/>
          </a:prstGeom>
        </p:spPr>
      </p:pic>
      <p:sp>
        <p:nvSpPr>
          <p:cNvPr id="15" name="o14"/>
          <p:cNvSpPr txBox="1"/>
          <p:nvPr/>
        </p:nvSpPr>
        <p:spPr>
          <a:xfrm>
            <a:off x="1325880" y="4837176"/>
            <a:ext cx="4480560" cy="365760"/>
          </a:xfrm>
          <a:prstGeom prst="rect">
            <a:avLst/>
          </a:prstGeom>
          <a:noFill/>
        </p:spPr>
        <p:txBody>
          <a:bodyPr wrap="square" lIns="0" tIns="0" rIns="0" bIns="0" anchor="t">
            <a:spAutoFit/>
          </a:bodyPr>
          <a:lstStyle/>
          <a:p>
            <a:pPr algn="l"/>
            <a:r>
              <a:rPr sz="2000" b="1" i="0">
                <a:solidFill>
                  <a:srgbClr val="FFFFFF"/>
                </a:solidFill>
                <a:latin typeface="Arial"/>
              </a:rPr>
              <a:t>Une source citable</a:t>
            </a:r>
          </a:p>
        </p:txBody>
      </p:sp>
      <p:sp>
        <p:nvSpPr>
          <p:cNvPr id="16" name="o15"/>
          <p:cNvSpPr txBox="1"/>
          <p:nvPr/>
        </p:nvSpPr>
        <p:spPr>
          <a:xfrm>
            <a:off x="1325880" y="5239512"/>
            <a:ext cx="4480560" cy="320040"/>
          </a:xfrm>
          <a:prstGeom prst="rect">
            <a:avLst/>
          </a:prstGeom>
          <a:noFill/>
        </p:spPr>
        <p:txBody>
          <a:bodyPr wrap="square" lIns="0" tIns="0" rIns="0" bIns="0" anchor="t">
            <a:spAutoFit/>
          </a:bodyPr>
          <a:lstStyle/>
          <a:p>
            <a:pPr algn="l"/>
            <a:r>
              <a:rPr sz="1500" b="0" i="0">
                <a:solidFill>
                  <a:srgbClr val="C4C4E4"/>
                </a:solidFill>
                <a:latin typeface="Arial"/>
              </a:rPr>
              <a:t>Kaggle, scraping daté du 22/12/2016</a:t>
            </a:r>
          </a:p>
        </p:txBody>
      </p:sp>
      <p:sp>
        <p:nvSpPr>
          <p:cNvPr id="17" name="o16"/>
          <p:cNvSpPr/>
          <p:nvPr/>
        </p:nvSpPr>
        <p:spPr>
          <a:xfrm>
            <a:off x="6309360" y="1691640"/>
            <a:ext cx="5330952" cy="4343400"/>
          </a:xfrm>
          <a:prstGeom prst="roundRect">
            <a:avLst>
              <a:gd name="adj" fmla="val 294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17"/>
          <p:cNvSpPr/>
          <p:nvPr/>
        </p:nvSpPr>
        <p:spPr>
          <a:xfrm>
            <a:off x="6377940" y="1760220"/>
            <a:ext cx="5193792" cy="4206240"/>
          </a:xfrm>
          <a:prstGeom prst="roundRect">
            <a:avLst>
              <a:gd name="adj" fmla="val 1413"/>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o18" descr="FICHE DE JEU"/>
          <p:cNvPicPr>
            <a:picLocks noChangeAspect="1"/>
          </p:cNvPicPr>
          <p:nvPr/>
        </p:nvPicPr>
        <p:blipFill>
          <a:blip r:embed="rId7"/>
          <a:stretch>
            <a:fillRect/>
          </a:stretch>
        </p:blipFill>
        <p:spPr>
          <a:xfrm>
            <a:off x="6629400" y="1965960"/>
            <a:ext cx="1755648" cy="146304"/>
          </a:xfrm>
          <a:prstGeom prst="rect">
            <a:avLst/>
          </a:prstGeom>
        </p:spPr>
      </p:pic>
      <p:sp>
        <p:nvSpPr>
          <p:cNvPr id="20" name="o19"/>
          <p:cNvSpPr txBox="1"/>
          <p:nvPr/>
        </p:nvSpPr>
        <p:spPr>
          <a:xfrm>
            <a:off x="6629400" y="2286000"/>
            <a:ext cx="4754880" cy="365760"/>
          </a:xfrm>
          <a:prstGeom prst="rect">
            <a:avLst/>
          </a:prstGeom>
          <a:noFill/>
        </p:spPr>
        <p:txBody>
          <a:bodyPr wrap="square" lIns="0" tIns="0" rIns="0" bIns="0" anchor="t">
            <a:spAutoFit/>
          </a:bodyPr>
          <a:lstStyle/>
          <a:p>
            <a:pPr algn="l"/>
            <a:r>
              <a:rPr sz="2000" b="1" i="0">
                <a:solidFill>
                  <a:srgbClr val="FFFFFF"/>
                </a:solidFill>
                <a:latin typeface="Arial"/>
              </a:rPr>
              <a:t>Grand Theft Auto V · PS3 · 2013</a:t>
            </a:r>
          </a:p>
        </p:txBody>
      </p:sp>
      <p:pic>
        <p:nvPicPr>
          <p:cNvPr id="21" name="o20" descr="BASE 1"/>
          <p:cNvPicPr>
            <a:picLocks noChangeAspect="1"/>
          </p:cNvPicPr>
          <p:nvPr/>
        </p:nvPicPr>
        <p:blipFill>
          <a:blip r:embed="rId8"/>
          <a:stretch>
            <a:fillRect/>
          </a:stretch>
        </p:blipFill>
        <p:spPr>
          <a:xfrm>
            <a:off x="6629400" y="2990088"/>
            <a:ext cx="713232" cy="118872"/>
          </a:xfrm>
          <a:prstGeom prst="rect">
            <a:avLst/>
          </a:prstGeom>
        </p:spPr>
      </p:pic>
      <p:sp>
        <p:nvSpPr>
          <p:cNvPr id="22" name="o21"/>
          <p:cNvSpPr txBox="1"/>
          <p:nvPr/>
        </p:nvSpPr>
        <p:spPr>
          <a:xfrm>
            <a:off x="7589520" y="2926080"/>
            <a:ext cx="1554480" cy="365760"/>
          </a:xfrm>
          <a:prstGeom prst="rect">
            <a:avLst/>
          </a:prstGeom>
          <a:noFill/>
        </p:spPr>
        <p:txBody>
          <a:bodyPr wrap="square" lIns="0" tIns="0" rIns="0" bIns="0" anchor="t">
            <a:spAutoFit/>
          </a:bodyPr>
          <a:lstStyle/>
          <a:p>
            <a:pPr algn="l"/>
            <a:r>
              <a:rPr sz="1500" b="0" i="0">
                <a:solidFill>
                  <a:srgbClr val="C4C4E4"/>
                </a:solidFill>
                <a:latin typeface="Arial"/>
              </a:rPr>
              <a:t>ventes</a:t>
            </a:r>
          </a:p>
        </p:txBody>
      </p:sp>
      <p:sp>
        <p:nvSpPr>
          <p:cNvPr id="23" name="o22"/>
          <p:cNvSpPr txBox="1"/>
          <p:nvPr/>
        </p:nvSpPr>
        <p:spPr>
          <a:xfrm>
            <a:off x="9144000" y="2926080"/>
            <a:ext cx="2286000" cy="365760"/>
          </a:xfrm>
          <a:prstGeom prst="rect">
            <a:avLst/>
          </a:prstGeom>
          <a:noFill/>
        </p:spPr>
        <p:txBody>
          <a:bodyPr wrap="square" lIns="0" tIns="0" rIns="0" bIns="0" anchor="t">
            <a:spAutoFit/>
          </a:bodyPr>
          <a:lstStyle/>
          <a:p>
            <a:pPr algn="l"/>
            <a:r>
              <a:rPr sz="1600" b="1" i="0">
                <a:solidFill>
                  <a:srgbClr val="00FFFF"/>
                </a:solidFill>
                <a:latin typeface="Arial"/>
              </a:rPr>
              <a:t>21,40 M</a:t>
            </a:r>
          </a:p>
        </p:txBody>
      </p:sp>
      <p:pic>
        <p:nvPicPr>
          <p:cNvPr id="24" name="o23" descr="BASE 2"/>
          <p:cNvPicPr>
            <a:picLocks noChangeAspect="1"/>
          </p:cNvPicPr>
          <p:nvPr/>
        </p:nvPicPr>
        <p:blipFill>
          <a:blip r:embed="rId9"/>
          <a:stretch>
            <a:fillRect/>
          </a:stretch>
        </p:blipFill>
        <p:spPr>
          <a:xfrm>
            <a:off x="6629400" y="3557016"/>
            <a:ext cx="713232" cy="118872"/>
          </a:xfrm>
          <a:prstGeom prst="rect">
            <a:avLst/>
          </a:prstGeom>
        </p:spPr>
      </p:pic>
      <p:sp>
        <p:nvSpPr>
          <p:cNvPr id="25" name="o24"/>
          <p:cNvSpPr txBox="1"/>
          <p:nvPr/>
        </p:nvSpPr>
        <p:spPr>
          <a:xfrm>
            <a:off x="7589520" y="3493008"/>
            <a:ext cx="1554480" cy="365760"/>
          </a:xfrm>
          <a:prstGeom prst="rect">
            <a:avLst/>
          </a:prstGeom>
          <a:noFill/>
        </p:spPr>
        <p:txBody>
          <a:bodyPr wrap="square" lIns="0" tIns="0" rIns="0" bIns="0" anchor="t">
            <a:spAutoFit/>
          </a:bodyPr>
          <a:lstStyle/>
          <a:p>
            <a:pPr algn="l"/>
            <a:r>
              <a:rPr sz="1500" b="0" i="0">
                <a:solidFill>
                  <a:srgbClr val="C4C4E4"/>
                </a:solidFill>
                <a:latin typeface="Arial"/>
              </a:rPr>
              <a:t>note presse</a:t>
            </a:r>
          </a:p>
        </p:txBody>
      </p:sp>
      <p:sp>
        <p:nvSpPr>
          <p:cNvPr id="26" name="o25"/>
          <p:cNvSpPr txBox="1"/>
          <p:nvPr/>
        </p:nvSpPr>
        <p:spPr>
          <a:xfrm>
            <a:off x="9144000" y="3493008"/>
            <a:ext cx="2286000" cy="365760"/>
          </a:xfrm>
          <a:prstGeom prst="rect">
            <a:avLst/>
          </a:prstGeom>
          <a:noFill/>
        </p:spPr>
        <p:txBody>
          <a:bodyPr wrap="square" lIns="0" tIns="0" rIns="0" bIns="0" anchor="t">
            <a:spAutoFit/>
          </a:bodyPr>
          <a:lstStyle/>
          <a:p>
            <a:pPr algn="l"/>
            <a:r>
              <a:rPr sz="1600" b="1" i="0">
                <a:solidFill>
                  <a:srgbClr val="FFE600"/>
                </a:solidFill>
                <a:latin typeface="Arial"/>
              </a:rPr>
              <a:t>97/100</a:t>
            </a:r>
          </a:p>
        </p:txBody>
      </p:sp>
      <p:pic>
        <p:nvPicPr>
          <p:cNvPr id="27" name="o26" descr="BASE 2"/>
          <p:cNvPicPr>
            <a:picLocks noChangeAspect="1"/>
          </p:cNvPicPr>
          <p:nvPr/>
        </p:nvPicPr>
        <p:blipFill>
          <a:blip r:embed="rId9"/>
          <a:stretch>
            <a:fillRect/>
          </a:stretch>
        </p:blipFill>
        <p:spPr>
          <a:xfrm>
            <a:off x="6629400" y="4123944"/>
            <a:ext cx="713232" cy="118872"/>
          </a:xfrm>
          <a:prstGeom prst="rect">
            <a:avLst/>
          </a:prstGeom>
        </p:spPr>
      </p:pic>
      <p:sp>
        <p:nvSpPr>
          <p:cNvPr id="28" name="o27"/>
          <p:cNvSpPr txBox="1"/>
          <p:nvPr/>
        </p:nvSpPr>
        <p:spPr>
          <a:xfrm>
            <a:off x="7589520" y="4059936"/>
            <a:ext cx="1554480" cy="365760"/>
          </a:xfrm>
          <a:prstGeom prst="rect">
            <a:avLst/>
          </a:prstGeom>
          <a:noFill/>
        </p:spPr>
        <p:txBody>
          <a:bodyPr wrap="square" lIns="0" tIns="0" rIns="0" bIns="0" anchor="t">
            <a:spAutoFit/>
          </a:bodyPr>
          <a:lstStyle/>
          <a:p>
            <a:pPr algn="l"/>
            <a:r>
              <a:rPr sz="1500" b="0" i="0">
                <a:solidFill>
                  <a:srgbClr val="C4C4E4"/>
                </a:solidFill>
                <a:latin typeface="Arial"/>
              </a:rPr>
              <a:t>note joueurs</a:t>
            </a:r>
          </a:p>
        </p:txBody>
      </p:sp>
      <p:sp>
        <p:nvSpPr>
          <p:cNvPr id="29" name="o28"/>
          <p:cNvSpPr txBox="1"/>
          <p:nvPr/>
        </p:nvSpPr>
        <p:spPr>
          <a:xfrm>
            <a:off x="9144000" y="4059936"/>
            <a:ext cx="2286000" cy="365760"/>
          </a:xfrm>
          <a:prstGeom prst="rect">
            <a:avLst/>
          </a:prstGeom>
          <a:noFill/>
        </p:spPr>
        <p:txBody>
          <a:bodyPr wrap="square" lIns="0" tIns="0" rIns="0" bIns="0" anchor="t">
            <a:spAutoFit/>
          </a:bodyPr>
          <a:lstStyle/>
          <a:p>
            <a:pPr algn="l"/>
            <a:r>
              <a:rPr sz="1600" b="1" i="0">
                <a:solidFill>
                  <a:srgbClr val="FFB8FF"/>
                </a:solidFill>
                <a:latin typeface="Arial"/>
              </a:rPr>
              <a:t>8,2/10</a:t>
            </a:r>
          </a:p>
        </p:txBody>
      </p:sp>
      <p:pic>
        <p:nvPicPr>
          <p:cNvPr id="30" name="o29" descr="BASE 2"/>
          <p:cNvPicPr>
            <a:picLocks noChangeAspect="1"/>
          </p:cNvPicPr>
          <p:nvPr/>
        </p:nvPicPr>
        <p:blipFill>
          <a:blip r:embed="rId9"/>
          <a:stretch>
            <a:fillRect/>
          </a:stretch>
        </p:blipFill>
        <p:spPr>
          <a:xfrm>
            <a:off x="6629400" y="4690872"/>
            <a:ext cx="713232" cy="118872"/>
          </a:xfrm>
          <a:prstGeom prst="rect">
            <a:avLst/>
          </a:prstGeom>
        </p:spPr>
      </p:pic>
      <p:sp>
        <p:nvSpPr>
          <p:cNvPr id="31" name="o30"/>
          <p:cNvSpPr txBox="1"/>
          <p:nvPr/>
        </p:nvSpPr>
        <p:spPr>
          <a:xfrm>
            <a:off x="7589520" y="4626864"/>
            <a:ext cx="1554480" cy="365760"/>
          </a:xfrm>
          <a:prstGeom prst="rect">
            <a:avLst/>
          </a:prstGeom>
          <a:noFill/>
        </p:spPr>
        <p:txBody>
          <a:bodyPr wrap="square" lIns="0" tIns="0" rIns="0" bIns="0" anchor="t">
            <a:spAutoFit/>
          </a:bodyPr>
          <a:lstStyle/>
          <a:p>
            <a:pPr algn="l"/>
            <a:r>
              <a:rPr sz="1500" b="0" i="0">
                <a:solidFill>
                  <a:srgbClr val="C4C4E4"/>
                </a:solidFill>
                <a:latin typeface="Arial"/>
              </a:rPr>
              <a:t>studio</a:t>
            </a:r>
          </a:p>
        </p:txBody>
      </p:sp>
      <p:sp>
        <p:nvSpPr>
          <p:cNvPr id="32" name="o31"/>
          <p:cNvSpPr txBox="1"/>
          <p:nvPr/>
        </p:nvSpPr>
        <p:spPr>
          <a:xfrm>
            <a:off x="9144000" y="4626864"/>
            <a:ext cx="2286000" cy="365760"/>
          </a:xfrm>
          <a:prstGeom prst="rect">
            <a:avLst/>
          </a:prstGeom>
          <a:noFill/>
        </p:spPr>
        <p:txBody>
          <a:bodyPr wrap="square" lIns="0" tIns="0" rIns="0" bIns="0" anchor="t">
            <a:spAutoFit/>
          </a:bodyPr>
          <a:lstStyle/>
          <a:p>
            <a:pPr algn="l"/>
            <a:r>
              <a:rPr sz="1600" b="1" i="0">
                <a:solidFill>
                  <a:srgbClr val="FFB852"/>
                </a:solidFill>
                <a:latin typeface="Arial"/>
              </a:rPr>
              <a:t>Rockstar North</a:t>
            </a:r>
          </a:p>
        </p:txBody>
      </p:sp>
      <p:pic>
        <p:nvPicPr>
          <p:cNvPr id="33" name="o32" descr="BASE 2"/>
          <p:cNvPicPr>
            <a:picLocks noChangeAspect="1"/>
          </p:cNvPicPr>
          <p:nvPr/>
        </p:nvPicPr>
        <p:blipFill>
          <a:blip r:embed="rId9"/>
          <a:stretch>
            <a:fillRect/>
          </a:stretch>
        </p:blipFill>
        <p:spPr>
          <a:xfrm>
            <a:off x="6629400" y="5257800"/>
            <a:ext cx="713232" cy="118872"/>
          </a:xfrm>
          <a:prstGeom prst="rect">
            <a:avLst/>
          </a:prstGeom>
        </p:spPr>
      </p:pic>
      <p:sp>
        <p:nvSpPr>
          <p:cNvPr id="34" name="o33"/>
          <p:cNvSpPr txBox="1"/>
          <p:nvPr/>
        </p:nvSpPr>
        <p:spPr>
          <a:xfrm>
            <a:off x="7589520" y="5193792"/>
            <a:ext cx="1554480" cy="365760"/>
          </a:xfrm>
          <a:prstGeom prst="rect">
            <a:avLst/>
          </a:prstGeom>
          <a:noFill/>
        </p:spPr>
        <p:txBody>
          <a:bodyPr wrap="square" lIns="0" tIns="0" rIns="0" bIns="0" anchor="t">
            <a:spAutoFit/>
          </a:bodyPr>
          <a:lstStyle/>
          <a:p>
            <a:pPr algn="l"/>
            <a:r>
              <a:rPr sz="1500" b="0" i="0">
                <a:solidFill>
                  <a:srgbClr val="C4C4E4"/>
                </a:solidFill>
                <a:latin typeface="Arial"/>
              </a:rPr>
              <a:t>âge (ESRB)</a:t>
            </a:r>
          </a:p>
        </p:txBody>
      </p:sp>
      <p:sp>
        <p:nvSpPr>
          <p:cNvPr id="35" name="o34"/>
          <p:cNvSpPr txBox="1"/>
          <p:nvPr/>
        </p:nvSpPr>
        <p:spPr>
          <a:xfrm>
            <a:off x="9144000" y="5193792"/>
            <a:ext cx="2286000" cy="365760"/>
          </a:xfrm>
          <a:prstGeom prst="rect">
            <a:avLst/>
          </a:prstGeom>
          <a:noFill/>
        </p:spPr>
        <p:txBody>
          <a:bodyPr wrap="square" lIns="0" tIns="0" rIns="0" bIns="0" anchor="t">
            <a:spAutoFit/>
          </a:bodyPr>
          <a:lstStyle/>
          <a:p>
            <a:pPr algn="l"/>
            <a:r>
              <a:rPr sz="1600" b="1" i="0">
                <a:solidFill>
                  <a:srgbClr val="FFB852"/>
                </a:solidFill>
                <a:latin typeface="Arial"/>
              </a:rPr>
              <a:t>M : Adultes (17+)</a:t>
            </a:r>
          </a:p>
        </p:txBody>
      </p:sp>
      <p:pic>
        <p:nvPicPr>
          <p:cNvPr id="36" name="o35"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7" name="barre_fantome" descr="image.gif"/>
          <p:cNvPicPr>
            <a:picLocks noChangeAspect="1"/>
          </p:cNvPicPr>
          <p:nvPr/>
        </p:nvPicPr>
        <p:blipFill>
          <a:blip r:embed="rId11"/>
          <a:stretch>
            <a:fillRect/>
          </a:stretch>
        </p:blipFill>
        <p:spPr>
          <a:xfrm>
            <a:off x="5723896" y="6291072"/>
            <a:ext cx="310896" cy="310896"/>
          </a:xfrm>
          <a:prstGeom prst="rect">
            <a:avLst/>
          </a:prstGeom>
        </p:spPr>
      </p:pic>
      <p:pic>
        <p:nvPicPr>
          <p:cNvPr id="38" name="barre_pacman" descr="image.gif"/>
          <p:cNvPicPr>
            <a:picLocks noChangeAspect="1"/>
          </p:cNvPicPr>
          <p:nvPr/>
        </p:nvPicPr>
        <p:blipFill>
          <a:blip r:embed="rId12"/>
          <a:stretch>
            <a:fillRect/>
          </a:stretch>
        </p:blipFill>
        <p:spPr>
          <a:xfrm>
            <a:off x="6290824" y="6291072"/>
            <a:ext cx="310896" cy="310896"/>
          </a:xfrm>
          <a:prstGeom prst="rect">
            <a:avLst/>
          </a:prstGeom>
        </p:spPr>
      </p:pic>
      <p:sp>
        <p:nvSpPr>
          <p:cNvPr id="39"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556623415"/>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38"/>
                                        </p:tgtEl>
                                        <p:attrNameLst>
                                          <p:attrName>ppt_x</p:attrName>
                                          <p:attrName>ppt_y</p:attrName>
                                        </p:attrNameLst>
                                      </p:cBhvr>
                                    </p:animMotion>
                                  </p:childTnLst>
                                </p:cTn>
                              </p:par>
                              <p:par>
                                <p:cTn id="9" presetID="1" presetClass="exit" presetSubtype="0" fill="hold" nodeType="withEffect">
                                  <p:stCondLst>
                                    <p:cond delay="217"/>
                                  </p:stCondLst>
                                  <p:childTnLst>
                                    <p:set>
                                      <p:cBhvr>
                                        <p:cTn id="10"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2-10.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2"/>
          <p:cNvPicPr>
            <a:picLocks noChangeAspect="1"/>
          </p:cNvPicPr>
          <p:nvPr/>
        </p:nvPicPr>
        <p:blipFill>
          <a:blip r:embed="rId4"/>
          <a:stretch>
            <a:fillRect/>
          </a:stretch>
        </p:blipFill>
        <p:spPr>
          <a:xfrm>
            <a:off x="5263743" y="1828800"/>
            <a:ext cx="1664208" cy="237744"/>
          </a:xfrm>
          <a:prstGeom prst="rect">
            <a:avLst/>
          </a:prstGeom>
        </p:spPr>
      </p:pic>
      <p:pic>
        <p:nvPicPr>
          <p:cNvPr id="14" name="o13" descr="NETTOYAGE"/>
          <p:cNvPicPr>
            <a:picLocks noChangeAspect="1"/>
          </p:cNvPicPr>
          <p:nvPr/>
        </p:nvPicPr>
        <p:blipFill>
          <a:blip r:embed="rId5"/>
          <a:stretch>
            <a:fillRect/>
          </a:stretch>
        </p:blipFill>
        <p:spPr>
          <a:xfrm>
            <a:off x="3791559" y="2331720"/>
            <a:ext cx="4608576"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Les nouveaux fantômes de la base 2</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gif"/>
          <p:cNvPicPr>
            <a:picLocks noChangeAspect="1"/>
          </p:cNvPicPr>
          <p:nvPr/>
        </p:nvPicPr>
        <p:blipFill>
          <a:blip r:embed="rId9"/>
          <a:stretch>
            <a:fillRect/>
          </a:stretch>
        </p:blipFill>
        <p:spPr>
          <a:xfrm>
            <a:off x="5990802" y="6291072"/>
            <a:ext cx="310896" cy="310896"/>
          </a:xfrm>
          <a:prstGeom prst="rect">
            <a:avLst/>
          </a:prstGeom>
        </p:spPr>
      </p:pic>
      <p:pic>
        <p:nvPicPr>
          <p:cNvPr id="41" name="barre_pacman" descr="image.gif"/>
          <p:cNvPicPr>
            <a:picLocks noChangeAspect="1"/>
          </p:cNvPicPr>
          <p:nvPr/>
        </p:nvPicPr>
        <p:blipFill>
          <a:blip r:embed="rId10"/>
          <a:stretch>
            <a:fillRect/>
          </a:stretch>
        </p:blipFill>
        <p:spPr>
          <a:xfrm>
            <a:off x="6557730" y="6291072"/>
            <a:ext cx="310896" cy="310896"/>
          </a:xfrm>
          <a:prstGeom prst="rect">
            <a:avLst/>
          </a:prstGeom>
        </p:spPr>
      </p:pic>
      <p:sp>
        <p:nvSpPr>
          <p:cNvPr id="42"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366492242"/>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88"/>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858"/>
                                  </p:stCondLst>
                                  <p:childTnLst>
                                    <p:set>
                                      <p:cBhvr>
                                        <p:cTn id="12" dur="1" fill="hold">
                                          <p:stCondLst>
                                            <p:cond delay="0"/>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2 → NETTOYAGE"/>
          <p:cNvPicPr>
            <a:picLocks noChangeAspect="1"/>
          </p:cNvPicPr>
          <p:nvPr/>
        </p:nvPicPr>
        <p:blipFill>
          <a:blip r:embed="rId3"/>
          <a:stretch>
            <a:fillRect/>
          </a:stretch>
        </p:blipFill>
        <p:spPr>
          <a:xfrm>
            <a:off x="548640" y="411480"/>
            <a:ext cx="2779776" cy="146304"/>
          </a:xfrm>
          <a:prstGeom prst="rect">
            <a:avLst/>
          </a:prstGeom>
        </p:spPr>
      </p:pic>
      <p:pic>
        <p:nvPicPr>
          <p:cNvPr id="3" name="o2" descr="4 nouveaux fantômes"/>
          <p:cNvPicPr>
            <a:picLocks noChangeAspect="1"/>
          </p:cNvPicPr>
          <p:nvPr/>
        </p:nvPicPr>
        <p:blipFill>
          <a:blip r:embed="rId4"/>
          <a:stretch>
            <a:fillRect/>
          </a:stretch>
        </p:blipFill>
        <p:spPr>
          <a:xfrm>
            <a:off x="548640" y="777240"/>
            <a:ext cx="5212080" cy="274320"/>
          </a:xfrm>
          <a:prstGeom prst="rect">
            <a:avLst/>
          </a:prstGeom>
        </p:spPr>
      </p:pic>
      <p:pic>
        <p:nvPicPr>
          <p:cNvPr id="4" name="o3" descr="image-2-10.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image-17-7.gif"/>
          <p:cNvPicPr>
            <a:picLocks noChangeAspect="1"/>
          </p:cNvPicPr>
          <p:nvPr/>
        </p:nvPicPr>
        <p:blipFill>
          <a:blip r:embed="rId6"/>
          <a:stretch>
            <a:fillRect/>
          </a:stretch>
        </p:blipFill>
        <p:spPr>
          <a:xfrm>
            <a:off x="795528" y="1892808"/>
            <a:ext cx="512064" cy="512064"/>
          </a:xfrm>
          <a:prstGeom prst="rect">
            <a:avLst/>
          </a:prstGeom>
        </p:spPr>
      </p:pic>
      <p:pic>
        <p:nvPicPr>
          <p:cNvPr id="8" name="o7" descr="2 425"/>
          <p:cNvPicPr>
            <a:picLocks noChangeAspect="1"/>
          </p:cNvPicPr>
          <p:nvPr/>
        </p:nvPicPr>
        <p:blipFill>
          <a:blip r:embed="rId7"/>
          <a:stretch>
            <a:fillRect/>
          </a:stretch>
        </p:blipFill>
        <p:spPr>
          <a:xfrm>
            <a:off x="1508760" y="1892808"/>
            <a:ext cx="1280160" cy="256032"/>
          </a:xfrm>
          <a:prstGeom prst="rect">
            <a:avLst/>
          </a:prstGeom>
        </p:spPr>
      </p:pic>
      <p:sp>
        <p:nvSpPr>
          <p:cNvPr id="9" name="o8"/>
          <p:cNvSpPr txBox="1"/>
          <p:nvPr/>
        </p:nvSpPr>
        <p:spPr>
          <a:xfrm>
            <a:off x="1508760" y="2249424"/>
            <a:ext cx="2103120" cy="320040"/>
          </a:xfrm>
          <a:prstGeom prst="rect">
            <a:avLst/>
          </a:prstGeom>
          <a:noFill/>
        </p:spPr>
        <p:txBody>
          <a:bodyPr wrap="square" lIns="0" tIns="0" rIns="0" bIns="0" anchor="t">
            <a:spAutoFit/>
          </a:bodyPr>
          <a:lstStyle/>
          <a:p>
            <a:pPr algn="l"/>
            <a:r>
              <a:rPr sz="1600" b="1" i="0">
                <a:solidFill>
                  <a:srgbClr val="FFFFFF"/>
                </a:solidFill>
                <a:latin typeface="Arial"/>
              </a:rPr>
              <a:t>notes « tbd »</a:t>
            </a:r>
          </a:p>
        </p:txBody>
      </p:sp>
      <p:sp>
        <p:nvSpPr>
          <p:cNvPr id="10" name="o9"/>
          <p:cNvSpPr txBox="1"/>
          <p:nvPr/>
        </p:nvSpPr>
        <p:spPr>
          <a:xfrm>
            <a:off x="795528" y="2670048"/>
            <a:ext cx="2743200" cy="731520"/>
          </a:xfrm>
          <a:prstGeom prst="rect">
            <a:avLst/>
          </a:prstGeom>
          <a:noFill/>
        </p:spPr>
        <p:txBody>
          <a:bodyPr wrap="square" lIns="0" tIns="0" rIns="0" bIns="0" anchor="t">
            <a:spAutoFit/>
          </a:bodyPr>
          <a:lstStyle/>
          <a:p>
            <a:pPr algn="l"/>
            <a:r>
              <a:rPr sz="1400" b="0" i="0">
                <a:solidFill>
                  <a:srgbClr val="C4C4E4"/>
                </a:solidFill>
                <a:latin typeface="Arial"/>
              </a:rPr>
              <a:t>pas une note mais pas assez de votes : valeur manquante</a:t>
            </a:r>
          </a:p>
        </p:txBody>
      </p:sp>
      <p:sp>
        <p:nvSpPr>
          <p:cNvPr id="11" name="o10"/>
          <p:cNvSpPr/>
          <p:nvPr/>
        </p:nvSpPr>
        <p:spPr>
          <a:xfrm>
            <a:off x="3968496"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11"/>
          <p:cNvSpPr/>
          <p:nvPr/>
        </p:nvSpPr>
        <p:spPr>
          <a:xfrm>
            <a:off x="4037076"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o12" descr="image-17-7.gif"/>
          <p:cNvPicPr>
            <a:picLocks noChangeAspect="1"/>
          </p:cNvPicPr>
          <p:nvPr/>
        </p:nvPicPr>
        <p:blipFill>
          <a:blip r:embed="rId6"/>
          <a:stretch>
            <a:fillRect/>
          </a:stretch>
        </p:blipFill>
        <p:spPr>
          <a:xfrm>
            <a:off x="4215383" y="1892808"/>
            <a:ext cx="512064" cy="512064"/>
          </a:xfrm>
          <a:prstGeom prst="rect">
            <a:avLst/>
          </a:prstGeom>
        </p:spPr>
      </p:pic>
      <p:pic>
        <p:nvPicPr>
          <p:cNvPr id="14" name="o13" descr="51%"/>
          <p:cNvPicPr>
            <a:picLocks noChangeAspect="1"/>
          </p:cNvPicPr>
          <p:nvPr/>
        </p:nvPicPr>
        <p:blipFill>
          <a:blip r:embed="rId8"/>
          <a:stretch>
            <a:fillRect/>
          </a:stretch>
        </p:blipFill>
        <p:spPr>
          <a:xfrm>
            <a:off x="4928616" y="1892808"/>
            <a:ext cx="768096" cy="256032"/>
          </a:xfrm>
          <a:prstGeom prst="rect">
            <a:avLst/>
          </a:prstGeom>
        </p:spPr>
      </p:pic>
      <p:sp>
        <p:nvSpPr>
          <p:cNvPr id="15" name="o14"/>
          <p:cNvSpPr txBox="1"/>
          <p:nvPr/>
        </p:nvSpPr>
        <p:spPr>
          <a:xfrm>
            <a:off x="4928616" y="2249424"/>
            <a:ext cx="2103120" cy="320040"/>
          </a:xfrm>
          <a:prstGeom prst="rect">
            <a:avLst/>
          </a:prstGeom>
          <a:noFill/>
        </p:spPr>
        <p:txBody>
          <a:bodyPr wrap="square" lIns="0" tIns="0" rIns="0" bIns="0" anchor="t">
            <a:spAutoFit/>
          </a:bodyPr>
          <a:lstStyle/>
          <a:p>
            <a:pPr algn="l"/>
            <a:r>
              <a:rPr sz="1600" b="1" i="0">
                <a:solidFill>
                  <a:srgbClr val="FFFFFF"/>
                </a:solidFill>
                <a:latin typeface="Arial"/>
              </a:rPr>
              <a:t>sans note presse</a:t>
            </a:r>
          </a:p>
        </p:txBody>
      </p:sp>
      <p:sp>
        <p:nvSpPr>
          <p:cNvPr id="16" name="o15"/>
          <p:cNvSpPr txBox="1"/>
          <p:nvPr/>
        </p:nvSpPr>
        <p:spPr>
          <a:xfrm>
            <a:off x="4215383" y="2670048"/>
            <a:ext cx="2743200" cy="731520"/>
          </a:xfrm>
          <a:prstGeom prst="rect">
            <a:avLst/>
          </a:prstGeom>
          <a:noFill/>
        </p:spPr>
        <p:txBody>
          <a:bodyPr wrap="square" lIns="0" tIns="0" rIns="0" bIns="0" anchor="t">
            <a:spAutoFit/>
          </a:bodyPr>
          <a:lstStyle/>
          <a:p>
            <a:pPr algn="l"/>
            <a:r>
              <a:rPr sz="1400" b="0" i="0">
                <a:solidFill>
                  <a:srgbClr val="C4C4E4"/>
                </a:solidFill>
                <a:latin typeface="Arial"/>
              </a:rPr>
              <a:t>non imputées : quasi aucune note avant 2000</a:t>
            </a:r>
          </a:p>
        </p:txBody>
      </p:sp>
      <p:sp>
        <p:nvSpPr>
          <p:cNvPr id="17" name="o16"/>
          <p:cNvSpPr/>
          <p:nvPr/>
        </p:nvSpPr>
        <p:spPr>
          <a:xfrm>
            <a:off x="548640"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17"/>
          <p:cNvSpPr/>
          <p:nvPr/>
        </p:nvSpPr>
        <p:spPr>
          <a:xfrm>
            <a:off x="617219"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o18" descr="image-17-7.gif"/>
          <p:cNvPicPr>
            <a:picLocks noChangeAspect="1"/>
          </p:cNvPicPr>
          <p:nvPr/>
        </p:nvPicPr>
        <p:blipFill>
          <a:blip r:embed="rId6"/>
          <a:stretch>
            <a:fillRect/>
          </a:stretch>
        </p:blipFill>
        <p:spPr>
          <a:xfrm>
            <a:off x="795528" y="3959352"/>
            <a:ext cx="512064" cy="512064"/>
          </a:xfrm>
          <a:prstGeom prst="rect">
            <a:avLst/>
          </a:prstGeom>
        </p:spPr>
      </p:pic>
      <p:pic>
        <p:nvPicPr>
          <p:cNvPr id="20" name="o19" descr="6"/>
          <p:cNvPicPr>
            <a:picLocks noChangeAspect="1"/>
          </p:cNvPicPr>
          <p:nvPr/>
        </p:nvPicPr>
        <p:blipFill>
          <a:blip r:embed="rId9"/>
          <a:stretch>
            <a:fillRect/>
          </a:stretch>
        </p:blipFill>
        <p:spPr>
          <a:xfrm>
            <a:off x="1508760" y="3959352"/>
            <a:ext cx="256032" cy="256032"/>
          </a:xfrm>
          <a:prstGeom prst="rect">
            <a:avLst/>
          </a:prstGeom>
        </p:spPr>
      </p:pic>
      <p:sp>
        <p:nvSpPr>
          <p:cNvPr id="21" name="o20"/>
          <p:cNvSpPr txBox="1"/>
          <p:nvPr/>
        </p:nvSpPr>
        <p:spPr>
          <a:xfrm>
            <a:off x="1508760" y="4315968"/>
            <a:ext cx="2103120" cy="320040"/>
          </a:xfrm>
          <a:prstGeom prst="rect">
            <a:avLst/>
          </a:prstGeom>
          <a:noFill/>
        </p:spPr>
        <p:txBody>
          <a:bodyPr wrap="square" lIns="0" tIns="0" rIns="0" bIns="0" anchor="t">
            <a:spAutoFit/>
          </a:bodyPr>
          <a:lstStyle/>
          <a:p>
            <a:pPr algn="l"/>
            <a:r>
              <a:rPr sz="1600" b="1" i="0">
                <a:solidFill>
                  <a:srgbClr val="FFFFFF"/>
                </a:solidFill>
                <a:latin typeface="Arial"/>
              </a:rPr>
              <a:t>remakes mal notés</a:t>
            </a:r>
          </a:p>
        </p:txBody>
      </p:sp>
      <p:sp>
        <p:nvSpPr>
          <p:cNvPr id="22" name="o21"/>
          <p:cNvSpPr txBox="1"/>
          <p:nvPr/>
        </p:nvSpPr>
        <p:spPr>
          <a:xfrm>
            <a:off x="795528" y="4736592"/>
            <a:ext cx="2743200" cy="731520"/>
          </a:xfrm>
          <a:prstGeom prst="rect">
            <a:avLst/>
          </a:prstGeom>
          <a:noFill/>
        </p:spPr>
        <p:txBody>
          <a:bodyPr wrap="square" lIns="0" tIns="0" rIns="0" bIns="0" anchor="t">
            <a:spAutoFit/>
          </a:bodyPr>
          <a:lstStyle/>
          <a:p>
            <a:pPr algn="l"/>
            <a:r>
              <a:rPr sz="1400" b="0" i="0">
                <a:solidFill>
                  <a:srgbClr val="C4C4E4"/>
                </a:solidFill>
                <a:latin typeface="Arial"/>
              </a:rPr>
              <a:t>NFS Most Wanted 2005 = 2012 : note retirée plutôt que fausse</a:t>
            </a:r>
          </a:p>
        </p:txBody>
      </p:sp>
      <p:sp>
        <p:nvSpPr>
          <p:cNvPr id="23" name="o22"/>
          <p:cNvSpPr/>
          <p:nvPr/>
        </p:nvSpPr>
        <p:spPr>
          <a:xfrm>
            <a:off x="3968496"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23"/>
          <p:cNvSpPr/>
          <p:nvPr/>
        </p:nvSpPr>
        <p:spPr>
          <a:xfrm>
            <a:off x="4037076"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o24" descr="image-17-7.gif"/>
          <p:cNvPicPr>
            <a:picLocks noChangeAspect="1"/>
          </p:cNvPicPr>
          <p:nvPr/>
        </p:nvPicPr>
        <p:blipFill>
          <a:blip r:embed="rId6"/>
          <a:stretch>
            <a:fillRect/>
          </a:stretch>
        </p:blipFill>
        <p:spPr>
          <a:xfrm>
            <a:off x="4215383" y="3959352"/>
            <a:ext cx="512064" cy="512064"/>
          </a:xfrm>
          <a:prstGeom prst="rect">
            <a:avLst/>
          </a:prstGeom>
        </p:spPr>
      </p:pic>
      <p:pic>
        <p:nvPicPr>
          <p:cNvPr id="26" name="o25" descr="114"/>
          <p:cNvPicPr>
            <a:picLocks noChangeAspect="1"/>
          </p:cNvPicPr>
          <p:nvPr/>
        </p:nvPicPr>
        <p:blipFill>
          <a:blip r:embed="rId10"/>
          <a:stretch>
            <a:fillRect/>
          </a:stretch>
        </p:blipFill>
        <p:spPr>
          <a:xfrm>
            <a:off x="4928616" y="3959352"/>
            <a:ext cx="768096" cy="256032"/>
          </a:xfrm>
          <a:prstGeom prst="rect">
            <a:avLst/>
          </a:prstGeom>
        </p:spPr>
      </p:pic>
      <p:sp>
        <p:nvSpPr>
          <p:cNvPr id="27" name="o26"/>
          <p:cNvSpPr txBox="1"/>
          <p:nvPr/>
        </p:nvSpPr>
        <p:spPr>
          <a:xfrm>
            <a:off x="4928616" y="4315968"/>
            <a:ext cx="2103120" cy="320040"/>
          </a:xfrm>
          <a:prstGeom prst="rect">
            <a:avLst/>
          </a:prstGeom>
          <a:noFill/>
        </p:spPr>
        <p:txBody>
          <a:bodyPr wrap="square" lIns="0" tIns="0" rIns="0" bIns="0" anchor="t">
            <a:spAutoFit/>
          </a:bodyPr>
          <a:lstStyle/>
          <a:p>
            <a:pPr algn="l"/>
            <a:r>
              <a:rPr sz="1600" b="1" i="0">
                <a:solidFill>
                  <a:srgbClr val="FFFFFF"/>
                </a:solidFill>
                <a:latin typeface="Arial"/>
              </a:rPr>
              <a:t>fiches fusionnées</a:t>
            </a:r>
          </a:p>
        </p:txBody>
      </p:sp>
      <p:sp>
        <p:nvSpPr>
          <p:cNvPr id="28" name="o27"/>
          <p:cNvSpPr txBox="1"/>
          <p:nvPr/>
        </p:nvSpPr>
        <p:spPr>
          <a:xfrm>
            <a:off x="4215383" y="4736592"/>
            <a:ext cx="2743200" cy="731520"/>
          </a:xfrm>
          <a:prstGeom prst="rect">
            <a:avLst/>
          </a:prstGeom>
          <a:noFill/>
        </p:spPr>
        <p:txBody>
          <a:bodyPr wrap="square" lIns="0" tIns="0" rIns="0" bIns="0" anchor="t">
            <a:spAutoFit/>
          </a:bodyPr>
          <a:lstStyle/>
          <a:p>
            <a:pPr algn="l"/>
            <a:r>
              <a:rPr sz="1400" b="0" i="0">
                <a:solidFill>
                  <a:srgbClr val="C4C4E4"/>
                </a:solidFill>
                <a:latin typeface="Arial"/>
              </a:rPr>
              <a:t>mêmes règles que la base 1 : mêmes chiffres</a:t>
            </a:r>
          </a:p>
        </p:txBody>
      </p:sp>
      <p:pic>
        <p:nvPicPr>
          <p:cNvPr id="29" name="o28" descr="image-8-19.gif"/>
          <p:cNvPicPr>
            <a:picLocks noChangeAspect="1"/>
          </p:cNvPicPr>
          <p:nvPr/>
        </p:nvPicPr>
        <p:blipFill>
          <a:blip r:embed="rId11"/>
          <a:stretch>
            <a:fillRect/>
          </a:stretch>
        </p:blipFill>
        <p:spPr>
          <a:xfrm>
            <a:off x="8732520" y="1645920"/>
            <a:ext cx="1143000" cy="1143000"/>
          </a:xfrm>
          <a:prstGeom prst="rect">
            <a:avLst/>
          </a:prstGeom>
        </p:spPr>
      </p:pic>
      <p:pic>
        <p:nvPicPr>
          <p:cNvPr id="30" name="o29" descr="16 447"/>
          <p:cNvPicPr>
            <a:picLocks noChangeAspect="1"/>
          </p:cNvPicPr>
          <p:nvPr/>
        </p:nvPicPr>
        <p:blipFill>
          <a:blip r:embed="rId12"/>
          <a:stretch>
            <a:fillRect/>
          </a:stretch>
        </p:blipFill>
        <p:spPr>
          <a:xfrm>
            <a:off x="8494776" y="3154680"/>
            <a:ext cx="2304288" cy="384048"/>
          </a:xfrm>
          <a:prstGeom prst="rect">
            <a:avLst/>
          </a:prstGeom>
        </p:spPr>
      </p:pic>
      <p:sp>
        <p:nvSpPr>
          <p:cNvPr id="31" name="o30"/>
          <p:cNvSpPr txBox="1"/>
          <p:nvPr/>
        </p:nvSpPr>
        <p:spPr>
          <a:xfrm>
            <a:off x="7680960" y="3675887"/>
            <a:ext cx="3931920" cy="320040"/>
          </a:xfrm>
          <a:prstGeom prst="rect">
            <a:avLst/>
          </a:prstGeom>
          <a:noFill/>
        </p:spPr>
        <p:txBody>
          <a:bodyPr wrap="square" lIns="0" tIns="0" rIns="0" bIns="0" anchor="t">
            <a:spAutoFit/>
          </a:bodyPr>
          <a:lstStyle/>
          <a:p>
            <a:pPr algn="ctr"/>
            <a:r>
              <a:rPr sz="1600" b="0" i="0">
                <a:solidFill>
                  <a:srgbClr val="C4C4E4"/>
                </a:solidFill>
                <a:latin typeface="Arial"/>
              </a:rPr>
              <a:t>jeux propres</a:t>
            </a:r>
          </a:p>
        </p:txBody>
      </p:sp>
      <p:sp>
        <p:nvSpPr>
          <p:cNvPr id="32" name="o31"/>
          <p:cNvSpPr txBox="1"/>
          <p:nvPr/>
        </p:nvSpPr>
        <p:spPr>
          <a:xfrm>
            <a:off x="7680960" y="4160520"/>
            <a:ext cx="3931920" cy="365760"/>
          </a:xfrm>
          <a:prstGeom prst="rect">
            <a:avLst/>
          </a:prstGeom>
          <a:noFill/>
        </p:spPr>
        <p:txBody>
          <a:bodyPr wrap="square" lIns="0" tIns="0" rIns="0" bIns="0" anchor="t">
            <a:spAutoFit/>
          </a:bodyPr>
          <a:lstStyle/>
          <a:p>
            <a:pPr algn="ctr"/>
            <a:r>
              <a:rPr sz="2000" b="1" i="0">
                <a:solidFill>
                  <a:srgbClr val="FFFFFF"/>
                </a:solidFill>
                <a:latin typeface="Arial"/>
              </a:rPr>
              <a:t>16 719 → 16 447 lignes</a:t>
            </a:r>
          </a:p>
        </p:txBody>
      </p:sp>
      <p:sp>
        <p:nvSpPr>
          <p:cNvPr id="33" name="o32"/>
          <p:cNvSpPr txBox="1"/>
          <p:nvPr/>
        </p:nvSpPr>
        <p:spPr>
          <a:xfrm>
            <a:off x="7680960" y="4617720"/>
            <a:ext cx="3931920" cy="320040"/>
          </a:xfrm>
          <a:prstGeom prst="rect">
            <a:avLst/>
          </a:prstGeom>
          <a:noFill/>
        </p:spPr>
        <p:txBody>
          <a:bodyPr wrap="square" lIns="0" tIns="0" rIns="0" bIns="0" anchor="t">
            <a:spAutoFit/>
          </a:bodyPr>
          <a:lstStyle/>
          <a:p>
            <a:pPr algn="ctr"/>
            <a:r>
              <a:rPr sz="1300" b="0" i="0">
                <a:solidFill>
                  <a:srgbClr val="C4C4E4"/>
                </a:solidFill>
                <a:latin typeface="Arial"/>
              </a:rPr>
              <a:t>8 061 notes presse · 7 528 notes joueurs</a:t>
            </a:r>
          </a:p>
        </p:txBody>
      </p:sp>
      <p:sp>
        <p:nvSpPr>
          <p:cNvPr id="34" name="o33"/>
          <p:cNvSpPr txBox="1"/>
          <p:nvPr/>
        </p:nvSpPr>
        <p:spPr>
          <a:xfrm>
            <a:off x="7680960" y="5120640"/>
            <a:ext cx="3931920" cy="548640"/>
          </a:xfrm>
          <a:prstGeom prst="rect">
            <a:avLst/>
          </a:prstGeom>
          <a:noFill/>
        </p:spPr>
        <p:txBody>
          <a:bodyPr wrap="square" lIns="0" tIns="0" rIns="0" bIns="0" anchor="t">
            <a:spAutoFit/>
          </a:bodyPr>
          <a:lstStyle/>
          <a:p>
            <a:pPr algn="ctr"/>
            <a:r>
              <a:rPr sz="1400" b="0" i="1">
                <a:solidFill>
                  <a:srgbClr val="7C7CAA"/>
                </a:solidFill>
                <a:latin typeface="Arial"/>
              </a:rPr>
              <a:t>Mêmes règles, mêmes chiffres : le nettoyage de la base 1 est validé</a:t>
            </a:r>
          </a:p>
        </p:txBody>
      </p:sp>
      <p:pic>
        <p:nvPicPr>
          <p:cNvPr id="35" name="o34"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36" name="barre_fantome" descr="image.gif"/>
          <p:cNvPicPr>
            <a:picLocks noChangeAspect="1"/>
          </p:cNvPicPr>
          <p:nvPr/>
        </p:nvPicPr>
        <p:blipFill>
          <a:blip r:embed="rId14"/>
          <a:stretch>
            <a:fillRect/>
          </a:stretch>
        </p:blipFill>
        <p:spPr>
          <a:xfrm>
            <a:off x="6257708" y="6291072"/>
            <a:ext cx="310896" cy="310896"/>
          </a:xfrm>
          <a:prstGeom prst="rect">
            <a:avLst/>
          </a:prstGeom>
        </p:spPr>
      </p:pic>
      <p:pic>
        <p:nvPicPr>
          <p:cNvPr id="37" name="barre_pacman" descr="image.gif"/>
          <p:cNvPicPr>
            <a:picLocks noChangeAspect="1"/>
          </p:cNvPicPr>
          <p:nvPr/>
        </p:nvPicPr>
        <p:blipFill>
          <a:blip r:embed="rId15"/>
          <a:stretch>
            <a:fillRect/>
          </a:stretch>
        </p:blipFill>
        <p:spPr>
          <a:xfrm>
            <a:off x="6824636" y="6291072"/>
            <a:ext cx="310896" cy="310896"/>
          </a:xfrm>
          <a:prstGeom prst="rect">
            <a:avLst/>
          </a:prstGeom>
        </p:spPr>
      </p:pic>
      <p:sp>
        <p:nvSpPr>
          <p:cNvPr id="38"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82405517"/>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6"/>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37"/>
                                        </p:tgtEl>
                                        <p:attrNameLst>
                                          <p:attrName>ppt_x</p:attrName>
                                          <p:attrName>ppt_y</p:attrName>
                                        </p:attrNameLst>
                                      </p:cBhvr>
                                    </p:animMotion>
                                  </p:childTnLst>
                                </p:cTn>
                              </p:par>
                              <p:par>
                                <p:cTn id="9" presetID="1" presetClass="exit" presetSubtype="0" fill="hold" nodeType="withEffect">
                                  <p:stCondLst>
                                    <p:cond delay="729"/>
                                  </p:stCondLst>
                                  <p:childTnLst>
                                    <p:set>
                                      <p:cBhvr>
                                        <p:cTn id="10" dur="1" fill="hold">
                                          <p:stCondLst>
                                            <p:cond delay="0"/>
                                          </p:stCondLst>
                                        </p:cTn>
                                        <p:tgtEl>
                                          <p:spTgt spid="3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2-1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3"/>
          <p:cNvPicPr>
            <a:picLocks noChangeAspect="1"/>
          </p:cNvPicPr>
          <p:nvPr/>
        </p:nvPicPr>
        <p:blipFill>
          <a:blip r:embed="rId4"/>
          <a:stretch>
            <a:fillRect/>
          </a:stretch>
        </p:blipFill>
        <p:spPr>
          <a:xfrm>
            <a:off x="5263743" y="1828800"/>
            <a:ext cx="1664208" cy="237744"/>
          </a:xfrm>
          <a:prstGeom prst="rect">
            <a:avLst/>
          </a:prstGeom>
        </p:spPr>
      </p:pic>
      <p:pic>
        <p:nvPicPr>
          <p:cNvPr id="14" name="o13" descr="JOINTURE"/>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Relier les ventes et les notes</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gif"/>
          <p:cNvPicPr>
            <a:picLocks noChangeAspect="1"/>
          </p:cNvPicPr>
          <p:nvPr/>
        </p:nvPicPr>
        <p:blipFill>
          <a:blip r:embed="rId9"/>
          <a:stretch>
            <a:fillRect/>
          </a:stretch>
        </p:blipFill>
        <p:spPr>
          <a:xfrm>
            <a:off x="6524614" y="6291072"/>
            <a:ext cx="310896" cy="310896"/>
          </a:xfrm>
          <a:prstGeom prst="rect">
            <a:avLst/>
          </a:prstGeom>
        </p:spPr>
      </p:pic>
      <p:pic>
        <p:nvPicPr>
          <p:cNvPr id="41" name="barre_pacman" descr="image.gif"/>
          <p:cNvPicPr>
            <a:picLocks noChangeAspect="1"/>
          </p:cNvPicPr>
          <p:nvPr/>
        </p:nvPicPr>
        <p:blipFill>
          <a:blip r:embed="rId10"/>
          <a:stretch>
            <a:fillRect/>
          </a:stretch>
        </p:blipFill>
        <p:spPr>
          <a:xfrm>
            <a:off x="7091542" y="6291072"/>
            <a:ext cx="310896" cy="310896"/>
          </a:xfrm>
          <a:prstGeom prst="rect">
            <a:avLst/>
          </a:prstGeom>
        </p:spPr>
      </p:pic>
      <p:sp>
        <p:nvSpPr>
          <p:cNvPr id="42"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364909235"/>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600"/>
                                  </p:stCondLst>
                                  <p:childTnLst>
                                    <p:set>
                                      <p:cBhvr>
                                        <p:cTn id="10" dur="1" fill="hold">
                                          <p:stCondLst>
                                            <p:cond delay="0"/>
                                          </p:stCondLst>
                                        </p:cTn>
                                        <p:tgtEl>
                                          <p:spTgt spid="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Une clé pour relier deux bases"/>
          <p:cNvPicPr>
            <a:picLocks noChangeAspect="1"/>
          </p:cNvPicPr>
          <p:nvPr/>
        </p:nvPicPr>
        <p:blipFill>
          <a:blip r:embed="rId4"/>
          <a:stretch>
            <a:fillRect/>
          </a:stretch>
        </p:blipFill>
        <p:spPr>
          <a:xfrm>
            <a:off x="548640" y="777240"/>
            <a:ext cx="8229600"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023360" cy="1783080"/>
          </a:xfrm>
          <a:prstGeom prst="roundRect">
            <a:avLst>
              <a:gd name="adj" fmla="val 7179"/>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14500"/>
            <a:ext cx="3886200" cy="1645920"/>
          </a:xfrm>
          <a:prstGeom prst="roundRect">
            <a:avLst>
              <a:gd name="adj" fmla="val 3611"/>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NOM NORMALISE"/>
          <p:cNvPicPr>
            <a:picLocks noChangeAspect="1"/>
          </p:cNvPicPr>
          <p:nvPr/>
        </p:nvPicPr>
        <p:blipFill>
          <a:blip r:embed="rId6"/>
          <a:stretch>
            <a:fillRect/>
          </a:stretch>
        </p:blipFill>
        <p:spPr>
          <a:xfrm>
            <a:off x="822959" y="1892807"/>
            <a:ext cx="1783080" cy="137160"/>
          </a:xfrm>
          <a:prstGeom prst="rect">
            <a:avLst/>
          </a:prstGeom>
        </p:spPr>
      </p:pic>
      <p:sp>
        <p:nvSpPr>
          <p:cNvPr id="8" name="o7"/>
          <p:cNvSpPr txBox="1"/>
          <p:nvPr/>
        </p:nvSpPr>
        <p:spPr>
          <a:xfrm>
            <a:off x="822959" y="2240280"/>
            <a:ext cx="3474720" cy="365760"/>
          </a:xfrm>
          <a:prstGeom prst="rect">
            <a:avLst/>
          </a:prstGeom>
          <a:noFill/>
        </p:spPr>
        <p:txBody>
          <a:bodyPr wrap="square" lIns="0" tIns="0" rIns="0" bIns="0" anchor="t">
            <a:spAutoFit/>
          </a:bodyPr>
          <a:lstStyle/>
          <a:p>
            <a:pPr algn="l"/>
            <a:r>
              <a:rPr sz="1600" b="0" i="0">
                <a:solidFill>
                  <a:srgbClr val="FFFFFF"/>
                </a:solidFill>
                <a:latin typeface="Arial"/>
              </a:rPr>
              <a:t>WWE SmackDown! vs. RAW 2006</a:t>
            </a:r>
          </a:p>
        </p:txBody>
      </p:sp>
      <p:sp>
        <p:nvSpPr>
          <p:cNvPr id="9" name="o8"/>
          <p:cNvSpPr txBox="1"/>
          <p:nvPr/>
        </p:nvSpPr>
        <p:spPr>
          <a:xfrm>
            <a:off x="822959" y="2560320"/>
            <a:ext cx="3474720" cy="274320"/>
          </a:xfrm>
          <a:prstGeom prst="rect">
            <a:avLst/>
          </a:prstGeom>
          <a:noFill/>
        </p:spPr>
        <p:txBody>
          <a:bodyPr wrap="square" lIns="0" tIns="0" rIns="0" bIns="0" anchor="t">
            <a:spAutoFit/>
          </a:bodyPr>
          <a:lstStyle/>
          <a:p>
            <a:pPr algn="l"/>
            <a:r>
              <a:rPr sz="1400" b="0" i="0">
                <a:solidFill>
                  <a:srgbClr val="7C7CAA"/>
                </a:solidFill>
                <a:latin typeface="Arial"/>
              </a:rPr>
              <a:t>↓</a:t>
            </a:r>
          </a:p>
        </p:txBody>
      </p:sp>
      <p:sp>
        <p:nvSpPr>
          <p:cNvPr id="10" name="o9"/>
          <p:cNvSpPr txBox="1"/>
          <p:nvPr/>
        </p:nvSpPr>
        <p:spPr>
          <a:xfrm>
            <a:off x="822959" y="2834640"/>
            <a:ext cx="3474720" cy="365760"/>
          </a:xfrm>
          <a:prstGeom prst="rect">
            <a:avLst/>
          </a:prstGeom>
          <a:noFill/>
        </p:spPr>
        <p:txBody>
          <a:bodyPr wrap="square" lIns="0" tIns="0" rIns="0" bIns="0" anchor="t">
            <a:spAutoFit/>
          </a:bodyPr>
          <a:lstStyle/>
          <a:p>
            <a:pPr algn="l"/>
            <a:r>
              <a:rPr sz="1600" b="1" i="0">
                <a:solidFill>
                  <a:srgbClr val="00FFFF"/>
                </a:solidFill>
                <a:latin typeface="Courier New"/>
              </a:rPr>
              <a:t>wwesmackdownvsraw2006</a:t>
            </a:r>
          </a:p>
        </p:txBody>
      </p:sp>
      <p:sp>
        <p:nvSpPr>
          <p:cNvPr id="11" name="o10"/>
          <p:cNvSpPr txBox="1"/>
          <p:nvPr/>
        </p:nvSpPr>
        <p:spPr>
          <a:xfrm>
            <a:off x="4572000" y="2286000"/>
            <a:ext cx="228600" cy="457200"/>
          </a:xfrm>
          <a:prstGeom prst="rect">
            <a:avLst/>
          </a:prstGeom>
          <a:noFill/>
        </p:spPr>
        <p:txBody>
          <a:bodyPr wrap="square" lIns="0" tIns="0" rIns="0" bIns="0" anchor="t">
            <a:spAutoFit/>
          </a:bodyPr>
          <a:lstStyle/>
          <a:p>
            <a:pPr algn="ctr"/>
            <a:r>
              <a:rPr sz="2400" b="1" i="0">
                <a:solidFill>
                  <a:srgbClr val="FFE600"/>
                </a:solidFill>
                <a:latin typeface="Arial"/>
              </a:rPr>
              <a:t>+</a:t>
            </a:r>
          </a:p>
        </p:txBody>
      </p:sp>
      <p:sp>
        <p:nvSpPr>
          <p:cNvPr id="12" name="o11"/>
          <p:cNvSpPr/>
          <p:nvPr/>
        </p:nvSpPr>
        <p:spPr>
          <a:xfrm>
            <a:off x="4800600" y="1645920"/>
            <a:ext cx="2103120" cy="1783080"/>
          </a:xfrm>
          <a:prstGeom prst="roundRect">
            <a:avLst>
              <a:gd name="adj" fmla="val 7179"/>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p:nvPr/>
        </p:nvSpPr>
        <p:spPr>
          <a:xfrm>
            <a:off x="4869180" y="1714500"/>
            <a:ext cx="1965960" cy="1645920"/>
          </a:xfrm>
          <a:prstGeom prst="roundRect">
            <a:avLst>
              <a:gd name="adj" fmla="val 3611"/>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o13" descr="PLATEFORME"/>
          <p:cNvPicPr>
            <a:picLocks noChangeAspect="1"/>
          </p:cNvPicPr>
          <p:nvPr/>
        </p:nvPicPr>
        <p:blipFill>
          <a:blip r:embed="rId7"/>
          <a:stretch>
            <a:fillRect/>
          </a:stretch>
        </p:blipFill>
        <p:spPr>
          <a:xfrm>
            <a:off x="5074920" y="1892807"/>
            <a:ext cx="1371600" cy="137160"/>
          </a:xfrm>
          <a:prstGeom prst="rect">
            <a:avLst/>
          </a:prstGeom>
        </p:spPr>
      </p:pic>
      <p:sp>
        <p:nvSpPr>
          <p:cNvPr id="15" name="o14"/>
          <p:cNvSpPr txBox="1"/>
          <p:nvPr/>
        </p:nvSpPr>
        <p:spPr>
          <a:xfrm>
            <a:off x="5074920" y="2240280"/>
            <a:ext cx="1554479" cy="365760"/>
          </a:xfrm>
          <a:prstGeom prst="rect">
            <a:avLst/>
          </a:prstGeom>
          <a:noFill/>
        </p:spPr>
        <p:txBody>
          <a:bodyPr wrap="square" lIns="0" tIns="0" rIns="0" bIns="0" anchor="t">
            <a:spAutoFit/>
          </a:bodyPr>
          <a:lstStyle/>
          <a:p>
            <a:pPr algn="l"/>
            <a:r>
              <a:rPr sz="1600" b="0" i="0">
                <a:solidFill>
                  <a:srgbClr val="FFFFFF"/>
                </a:solidFill>
                <a:latin typeface="Arial"/>
              </a:rPr>
              <a:t>PS2</a:t>
            </a:r>
          </a:p>
        </p:txBody>
      </p:sp>
      <p:sp>
        <p:nvSpPr>
          <p:cNvPr id="16" name="o15"/>
          <p:cNvSpPr txBox="1"/>
          <p:nvPr/>
        </p:nvSpPr>
        <p:spPr>
          <a:xfrm>
            <a:off x="5074920" y="2560320"/>
            <a:ext cx="1554479" cy="274320"/>
          </a:xfrm>
          <a:prstGeom prst="rect">
            <a:avLst/>
          </a:prstGeom>
          <a:noFill/>
        </p:spPr>
        <p:txBody>
          <a:bodyPr wrap="square" lIns="0" tIns="0" rIns="0" bIns="0" anchor="t">
            <a:spAutoFit/>
          </a:bodyPr>
          <a:lstStyle/>
          <a:p>
            <a:pPr algn="l"/>
            <a:r>
              <a:rPr sz="1400" b="0" i="0">
                <a:solidFill>
                  <a:srgbClr val="7C7CAA"/>
                </a:solidFill>
                <a:latin typeface="Arial"/>
              </a:rPr>
              <a:t>↓</a:t>
            </a:r>
          </a:p>
        </p:txBody>
      </p:sp>
      <p:sp>
        <p:nvSpPr>
          <p:cNvPr id="17" name="o16"/>
          <p:cNvSpPr txBox="1"/>
          <p:nvPr/>
        </p:nvSpPr>
        <p:spPr>
          <a:xfrm>
            <a:off x="5074920" y="2834640"/>
            <a:ext cx="1554479" cy="365760"/>
          </a:xfrm>
          <a:prstGeom prst="rect">
            <a:avLst/>
          </a:prstGeom>
          <a:noFill/>
        </p:spPr>
        <p:txBody>
          <a:bodyPr wrap="square" lIns="0" tIns="0" rIns="0" bIns="0" anchor="t">
            <a:spAutoFit/>
          </a:bodyPr>
          <a:lstStyle/>
          <a:p>
            <a:pPr algn="l"/>
            <a:r>
              <a:rPr sz="1600" b="1" i="0">
                <a:solidFill>
                  <a:srgbClr val="FFB8FF"/>
                </a:solidFill>
                <a:latin typeface="Courier New"/>
              </a:rPr>
              <a:t>PS2</a:t>
            </a:r>
          </a:p>
        </p:txBody>
      </p:sp>
      <p:sp>
        <p:nvSpPr>
          <p:cNvPr id="18" name="o17"/>
          <p:cNvSpPr txBox="1"/>
          <p:nvPr/>
        </p:nvSpPr>
        <p:spPr>
          <a:xfrm>
            <a:off x="6903720" y="2286000"/>
            <a:ext cx="228600" cy="457200"/>
          </a:xfrm>
          <a:prstGeom prst="rect">
            <a:avLst/>
          </a:prstGeom>
          <a:noFill/>
        </p:spPr>
        <p:txBody>
          <a:bodyPr wrap="square" lIns="0" tIns="0" rIns="0" bIns="0" anchor="t">
            <a:spAutoFit/>
          </a:bodyPr>
          <a:lstStyle/>
          <a:p>
            <a:pPr algn="ctr"/>
            <a:r>
              <a:rPr sz="2400" b="1" i="0">
                <a:solidFill>
                  <a:srgbClr val="FFE600"/>
                </a:solidFill>
                <a:latin typeface="Arial"/>
              </a:rPr>
              <a:t>+</a:t>
            </a:r>
          </a:p>
        </p:txBody>
      </p:sp>
      <p:sp>
        <p:nvSpPr>
          <p:cNvPr id="19" name="o18"/>
          <p:cNvSpPr/>
          <p:nvPr/>
        </p:nvSpPr>
        <p:spPr>
          <a:xfrm>
            <a:off x="7132320" y="1645920"/>
            <a:ext cx="2103120" cy="1783080"/>
          </a:xfrm>
          <a:prstGeom prst="roundRect">
            <a:avLst>
              <a:gd name="adj" fmla="val 7179"/>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19"/>
          <p:cNvSpPr/>
          <p:nvPr/>
        </p:nvSpPr>
        <p:spPr>
          <a:xfrm>
            <a:off x="7200900" y="1714500"/>
            <a:ext cx="1965960" cy="1645920"/>
          </a:xfrm>
          <a:prstGeom prst="roundRect">
            <a:avLst>
              <a:gd name="adj" fmla="val 3611"/>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o20" descr="ANNEE"/>
          <p:cNvPicPr>
            <a:picLocks noChangeAspect="1"/>
          </p:cNvPicPr>
          <p:nvPr/>
        </p:nvPicPr>
        <p:blipFill>
          <a:blip r:embed="rId8"/>
          <a:stretch>
            <a:fillRect/>
          </a:stretch>
        </p:blipFill>
        <p:spPr>
          <a:xfrm>
            <a:off x="7406640" y="1892807"/>
            <a:ext cx="685800" cy="137160"/>
          </a:xfrm>
          <a:prstGeom prst="rect">
            <a:avLst/>
          </a:prstGeom>
        </p:spPr>
      </p:pic>
      <p:sp>
        <p:nvSpPr>
          <p:cNvPr id="22" name="o21"/>
          <p:cNvSpPr txBox="1"/>
          <p:nvPr/>
        </p:nvSpPr>
        <p:spPr>
          <a:xfrm>
            <a:off x="7406640" y="2240280"/>
            <a:ext cx="1554479" cy="365760"/>
          </a:xfrm>
          <a:prstGeom prst="rect">
            <a:avLst/>
          </a:prstGeom>
          <a:noFill/>
        </p:spPr>
        <p:txBody>
          <a:bodyPr wrap="square" lIns="0" tIns="0" rIns="0" bIns="0" anchor="t">
            <a:spAutoFit/>
          </a:bodyPr>
          <a:lstStyle/>
          <a:p>
            <a:pPr algn="l"/>
            <a:r>
              <a:rPr sz="1600" b="0" i="0">
                <a:solidFill>
                  <a:srgbClr val="FFFFFF"/>
                </a:solidFill>
                <a:latin typeface="Arial"/>
              </a:rPr>
              <a:t>2005</a:t>
            </a:r>
          </a:p>
        </p:txBody>
      </p:sp>
      <p:sp>
        <p:nvSpPr>
          <p:cNvPr id="23" name="o22"/>
          <p:cNvSpPr txBox="1"/>
          <p:nvPr/>
        </p:nvSpPr>
        <p:spPr>
          <a:xfrm>
            <a:off x="7406640" y="2560320"/>
            <a:ext cx="1554479" cy="274320"/>
          </a:xfrm>
          <a:prstGeom prst="rect">
            <a:avLst/>
          </a:prstGeom>
          <a:noFill/>
        </p:spPr>
        <p:txBody>
          <a:bodyPr wrap="square" lIns="0" tIns="0" rIns="0" bIns="0" anchor="t">
            <a:spAutoFit/>
          </a:bodyPr>
          <a:lstStyle/>
          <a:p>
            <a:pPr algn="l"/>
            <a:r>
              <a:rPr sz="1400" b="0" i="0">
                <a:solidFill>
                  <a:srgbClr val="7C7CAA"/>
                </a:solidFill>
                <a:latin typeface="Arial"/>
              </a:rPr>
              <a:t>↓</a:t>
            </a:r>
          </a:p>
        </p:txBody>
      </p:sp>
      <p:sp>
        <p:nvSpPr>
          <p:cNvPr id="24" name="o23"/>
          <p:cNvSpPr txBox="1"/>
          <p:nvPr/>
        </p:nvSpPr>
        <p:spPr>
          <a:xfrm>
            <a:off x="7406640" y="2834640"/>
            <a:ext cx="1554479" cy="365760"/>
          </a:xfrm>
          <a:prstGeom prst="rect">
            <a:avLst/>
          </a:prstGeom>
          <a:noFill/>
        </p:spPr>
        <p:txBody>
          <a:bodyPr wrap="square" lIns="0" tIns="0" rIns="0" bIns="0" anchor="t">
            <a:spAutoFit/>
          </a:bodyPr>
          <a:lstStyle/>
          <a:p>
            <a:pPr algn="l"/>
            <a:r>
              <a:rPr sz="1600" b="1" i="0">
                <a:solidFill>
                  <a:srgbClr val="FFB852"/>
                </a:solidFill>
                <a:latin typeface="Courier New"/>
              </a:rPr>
              <a:t>2005</a:t>
            </a:r>
          </a:p>
        </p:txBody>
      </p:sp>
      <p:pic>
        <p:nvPicPr>
          <p:cNvPr id="25" name="o24" descr="icone_chaine.png"/>
          <p:cNvPicPr>
            <a:picLocks noChangeAspect="1"/>
          </p:cNvPicPr>
          <p:nvPr/>
        </p:nvPicPr>
        <p:blipFill>
          <a:blip r:embed="rId9"/>
          <a:stretch>
            <a:fillRect/>
          </a:stretch>
        </p:blipFill>
        <p:spPr>
          <a:xfrm>
            <a:off x="10104120" y="1874519"/>
            <a:ext cx="1280160" cy="1280160"/>
          </a:xfrm>
          <a:prstGeom prst="rect">
            <a:avLst/>
          </a:prstGeom>
        </p:spPr>
      </p:pic>
      <p:sp>
        <p:nvSpPr>
          <p:cNvPr id="26" name="o25"/>
          <p:cNvSpPr/>
          <p:nvPr/>
        </p:nvSpPr>
        <p:spPr>
          <a:xfrm>
            <a:off x="548640"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26"/>
          <p:cNvSpPr/>
          <p:nvPr/>
        </p:nvSpPr>
        <p:spPr>
          <a:xfrm>
            <a:off x="617219"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o27" descr="99,7%"/>
          <p:cNvPicPr>
            <a:picLocks noChangeAspect="1"/>
          </p:cNvPicPr>
          <p:nvPr/>
        </p:nvPicPr>
        <p:blipFill>
          <a:blip r:embed="rId10"/>
          <a:stretch>
            <a:fillRect/>
          </a:stretch>
        </p:blipFill>
        <p:spPr>
          <a:xfrm>
            <a:off x="822959" y="3977639"/>
            <a:ext cx="1828800" cy="365760"/>
          </a:xfrm>
          <a:prstGeom prst="rect">
            <a:avLst/>
          </a:prstGeom>
        </p:spPr>
      </p:pic>
      <p:sp>
        <p:nvSpPr>
          <p:cNvPr id="29" name="o28"/>
          <p:cNvSpPr txBox="1"/>
          <p:nvPr/>
        </p:nvSpPr>
        <p:spPr>
          <a:xfrm>
            <a:off x="822959" y="4572000"/>
            <a:ext cx="3017520" cy="1325880"/>
          </a:xfrm>
          <a:prstGeom prst="rect">
            <a:avLst/>
          </a:prstGeom>
          <a:noFill/>
        </p:spPr>
        <p:txBody>
          <a:bodyPr wrap="square" lIns="0" tIns="0" rIns="0" bIns="0" anchor="t">
            <a:spAutoFit/>
          </a:bodyPr>
          <a:lstStyle/>
          <a:p>
            <a:pPr algn="l"/>
            <a:r>
              <a:rPr sz="1500" b="0" i="0">
                <a:solidFill>
                  <a:srgbClr val="C4C4E4"/>
                </a:solidFill>
                <a:latin typeface="Arial"/>
              </a:rPr>
              <a:t>des jeux de vgsales retrouvent leur fiche Metacritic</a:t>
            </a:r>
          </a:p>
        </p:txBody>
      </p:sp>
      <p:sp>
        <p:nvSpPr>
          <p:cNvPr id="30" name="o29"/>
          <p:cNvSpPr/>
          <p:nvPr/>
        </p:nvSpPr>
        <p:spPr>
          <a:xfrm>
            <a:off x="4306824"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30"/>
          <p:cNvSpPr/>
          <p:nvPr/>
        </p:nvSpPr>
        <p:spPr>
          <a:xfrm>
            <a:off x="4375404"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o31" descr="44"/>
          <p:cNvPicPr>
            <a:picLocks noChangeAspect="1"/>
          </p:cNvPicPr>
          <p:nvPr/>
        </p:nvPicPr>
        <p:blipFill>
          <a:blip r:embed="rId11"/>
          <a:stretch>
            <a:fillRect/>
          </a:stretch>
        </p:blipFill>
        <p:spPr>
          <a:xfrm>
            <a:off x="4581144" y="3977639"/>
            <a:ext cx="731520" cy="365760"/>
          </a:xfrm>
          <a:prstGeom prst="rect">
            <a:avLst/>
          </a:prstGeom>
        </p:spPr>
      </p:pic>
      <p:sp>
        <p:nvSpPr>
          <p:cNvPr id="33" name="o32"/>
          <p:cNvSpPr txBox="1"/>
          <p:nvPr/>
        </p:nvSpPr>
        <p:spPr>
          <a:xfrm>
            <a:off x="4581144" y="4572000"/>
            <a:ext cx="3017520" cy="1325880"/>
          </a:xfrm>
          <a:prstGeom prst="rect">
            <a:avLst/>
          </a:prstGeom>
          <a:noFill/>
        </p:spPr>
        <p:txBody>
          <a:bodyPr wrap="square" lIns="0" tIns="0" rIns="0" bIns="0" anchor="t">
            <a:spAutoFit/>
          </a:bodyPr>
          <a:lstStyle/>
          <a:p>
            <a:pPr algn="l"/>
            <a:r>
              <a:rPr sz="1500" b="0" i="0">
                <a:solidFill>
                  <a:srgbClr val="C4C4E4"/>
                </a:solidFill>
                <a:latin typeface="Arial"/>
              </a:rPr>
              <a:t>jeux sans partenaire : 0,56 M de ventes, négligeable</a:t>
            </a:r>
          </a:p>
        </p:txBody>
      </p:sp>
      <p:sp>
        <p:nvSpPr>
          <p:cNvPr id="34" name="o33"/>
          <p:cNvSpPr/>
          <p:nvPr/>
        </p:nvSpPr>
        <p:spPr>
          <a:xfrm>
            <a:off x="8065008"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34"/>
          <p:cNvSpPr/>
          <p:nvPr/>
        </p:nvSpPr>
        <p:spPr>
          <a:xfrm>
            <a:off x="8133588"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6" name="o35" descr="186"/>
          <p:cNvPicPr>
            <a:picLocks noChangeAspect="1"/>
          </p:cNvPicPr>
          <p:nvPr/>
        </p:nvPicPr>
        <p:blipFill>
          <a:blip r:embed="rId12"/>
          <a:stretch>
            <a:fillRect/>
          </a:stretch>
        </p:blipFill>
        <p:spPr>
          <a:xfrm>
            <a:off x="8339328" y="3977639"/>
            <a:ext cx="1097280" cy="365760"/>
          </a:xfrm>
          <a:prstGeom prst="rect">
            <a:avLst/>
          </a:prstGeom>
        </p:spPr>
      </p:pic>
      <p:sp>
        <p:nvSpPr>
          <p:cNvPr id="37" name="o36"/>
          <p:cNvSpPr txBox="1"/>
          <p:nvPr/>
        </p:nvSpPr>
        <p:spPr>
          <a:xfrm>
            <a:off x="8339328" y="4572000"/>
            <a:ext cx="3017520" cy="1325880"/>
          </a:xfrm>
          <a:prstGeom prst="rect">
            <a:avLst/>
          </a:prstGeom>
          <a:noFill/>
        </p:spPr>
        <p:txBody>
          <a:bodyPr wrap="square" lIns="0" tIns="0" rIns="0" bIns="0" anchor="t">
            <a:spAutoFit/>
          </a:bodyPr>
          <a:lstStyle/>
          <a:p>
            <a:pPr algn="l"/>
            <a:r>
              <a:rPr sz="1500" b="0" i="0">
                <a:solidFill>
                  <a:srgbClr val="C4C4E4"/>
                </a:solidFill>
                <a:latin typeface="Arial"/>
              </a:rPr>
              <a:t>jeux aux ventes différentes entre les relevés : les ventes viennent toujours de la base 1</a:t>
            </a:r>
          </a:p>
        </p:txBody>
      </p:sp>
      <p:pic>
        <p:nvPicPr>
          <p:cNvPr id="38" name="o37"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39" name="barre_fantome" descr="image.gif"/>
          <p:cNvPicPr>
            <a:picLocks noChangeAspect="1"/>
          </p:cNvPicPr>
          <p:nvPr/>
        </p:nvPicPr>
        <p:blipFill>
          <a:blip r:embed="rId14"/>
          <a:stretch>
            <a:fillRect/>
          </a:stretch>
        </p:blipFill>
        <p:spPr>
          <a:xfrm>
            <a:off x="6791520" y="6291072"/>
            <a:ext cx="310896" cy="310896"/>
          </a:xfrm>
          <a:prstGeom prst="rect">
            <a:avLst/>
          </a:prstGeom>
        </p:spPr>
      </p:pic>
      <p:pic>
        <p:nvPicPr>
          <p:cNvPr id="40" name="barre_pacman" descr="image.gif"/>
          <p:cNvPicPr>
            <a:picLocks noChangeAspect="1"/>
          </p:cNvPicPr>
          <p:nvPr/>
        </p:nvPicPr>
        <p:blipFill>
          <a:blip r:embed="rId15"/>
          <a:stretch>
            <a:fillRect/>
          </a:stretch>
        </p:blipFill>
        <p:spPr>
          <a:xfrm>
            <a:off x="7358448" y="6291072"/>
            <a:ext cx="310896" cy="310896"/>
          </a:xfrm>
          <a:prstGeom prst="rect">
            <a:avLst/>
          </a:prstGeom>
        </p:spPr>
      </p:pic>
      <p:sp>
        <p:nvSpPr>
          <p:cNvPr id="41"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049084247"/>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0"/>
                                        </p:tgtEl>
                                        <p:attrNameLst>
                                          <p:attrName>ppt_x</p:attrName>
                                          <p:attrName>ppt_y</p:attrName>
                                        </p:attrNameLst>
                                      </p:cBhvr>
                                    </p:animMotion>
                                  </p:childTnLst>
                                </p:cTn>
                              </p:par>
                              <p:par>
                                <p:cTn id="9" presetID="1" presetClass="exit" presetSubtype="0" fill="hold" nodeType="withEffect">
                                  <p:stCondLst>
                                    <p:cond delay="471"/>
                                  </p:stCondLst>
                                  <p:childTnLst>
                                    <p:set>
                                      <p:cBhvr>
                                        <p:cTn id="10" dur="1" fill="hold">
                                          <p:stCondLst>
                                            <p:cond delay="0"/>
                                          </p:stCondLst>
                                        </p:cTn>
                                        <p:tgtEl>
                                          <p:spTgt spid="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Relié ≠ noté : le biais"/>
          <p:cNvPicPr>
            <a:picLocks noChangeAspect="1"/>
          </p:cNvPicPr>
          <p:nvPr/>
        </p:nvPicPr>
        <p:blipFill>
          <a:blip r:embed="rId4"/>
          <a:stretch>
            <a:fillRect/>
          </a:stretch>
        </p:blipFill>
        <p:spPr>
          <a:xfrm>
            <a:off x="548640" y="777240"/>
            <a:ext cx="6309359"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49%"/>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9747504" y="2011680"/>
            <a:ext cx="1737360" cy="384048"/>
          </a:xfrm>
          <a:prstGeom prst="rect">
            <a:avLst/>
          </a:prstGeom>
          <a:noFill/>
        </p:spPr>
        <p:txBody>
          <a:bodyPr wrap="square" lIns="0" tIns="0" rIns="0" bIns="0" anchor="ctr">
            <a:spAutoFit/>
          </a:bodyPr>
          <a:lstStyle/>
          <a:p>
            <a:pPr algn="l"/>
            <a:r>
              <a:rPr sz="1800" b="0" i="0">
                <a:solidFill>
                  <a:srgbClr val="C4C4E4"/>
                </a:solidFill>
                <a:latin typeface="Arial"/>
              </a:rPr>
              <a:t>des jeux notés</a:t>
            </a:r>
          </a:p>
        </p:txBody>
      </p:sp>
      <p:sp>
        <p:nvSpPr>
          <p:cNvPr id="10" name="o9"/>
          <p:cNvSpPr txBox="1"/>
          <p:nvPr/>
        </p:nvSpPr>
        <p:spPr>
          <a:xfrm>
            <a:off x="8503920" y="2606040"/>
            <a:ext cx="2743200" cy="320040"/>
          </a:xfrm>
          <a:prstGeom prst="rect">
            <a:avLst/>
          </a:prstGeom>
          <a:noFill/>
        </p:spPr>
        <p:txBody>
          <a:bodyPr wrap="square" lIns="0" tIns="0" rIns="0" bIns="0" anchor="t">
            <a:spAutoFit/>
          </a:bodyPr>
          <a:lstStyle/>
          <a:p>
            <a:pPr algn="l"/>
            <a:r>
              <a:rPr sz="1600" b="0" i="0">
                <a:solidFill>
                  <a:srgbClr val="7C7CAA"/>
                </a:solidFill>
                <a:latin typeface="Arial"/>
              </a:rPr>
              <a:t>mais</a:t>
            </a:r>
          </a:p>
        </p:txBody>
      </p:sp>
      <p:pic>
        <p:nvPicPr>
          <p:cNvPr id="11" name="o10" descr="63%"/>
          <p:cNvPicPr>
            <a:picLocks noChangeAspect="1"/>
          </p:cNvPicPr>
          <p:nvPr/>
        </p:nvPicPr>
        <p:blipFill>
          <a:blip r:embed="rId8"/>
          <a:stretch>
            <a:fillRect/>
          </a:stretch>
        </p:blipFill>
        <p:spPr>
          <a:xfrm>
            <a:off x="8503920" y="3063240"/>
            <a:ext cx="1152144" cy="384048"/>
          </a:xfrm>
          <a:prstGeom prst="rect">
            <a:avLst/>
          </a:prstGeom>
        </p:spPr>
      </p:pic>
      <p:sp>
        <p:nvSpPr>
          <p:cNvPr id="12" name="o11"/>
          <p:cNvSpPr txBox="1"/>
          <p:nvPr/>
        </p:nvSpPr>
        <p:spPr>
          <a:xfrm>
            <a:off x="9747504" y="3063240"/>
            <a:ext cx="1737360" cy="384048"/>
          </a:xfrm>
          <a:prstGeom prst="rect">
            <a:avLst/>
          </a:prstGeom>
          <a:noFill/>
        </p:spPr>
        <p:txBody>
          <a:bodyPr wrap="square" lIns="0" tIns="0" rIns="0" bIns="0" anchor="ctr">
            <a:spAutoFit/>
          </a:bodyPr>
          <a:lstStyle/>
          <a:p>
            <a:pPr algn="l"/>
            <a:r>
              <a:rPr sz="1800" b="0" i="0">
                <a:solidFill>
                  <a:srgbClr val="C4C4E4"/>
                </a:solidFill>
                <a:latin typeface="Arial"/>
              </a:rPr>
              <a:t>des ventes</a:t>
            </a:r>
          </a:p>
        </p:txBody>
      </p:sp>
      <p:sp>
        <p:nvSpPr>
          <p:cNvPr id="13" name="o12"/>
          <p:cNvSpPr/>
          <p:nvPr/>
        </p:nvSpPr>
        <p:spPr>
          <a:xfrm>
            <a:off x="8183879" y="4389120"/>
            <a:ext cx="3456432" cy="1645920"/>
          </a:xfrm>
          <a:prstGeom prst="roundRect">
            <a:avLst>
              <a:gd name="adj" fmla="val 7777"/>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13"/>
          <p:cNvSpPr/>
          <p:nvPr/>
        </p:nvSpPr>
        <p:spPr>
          <a:xfrm>
            <a:off x="8252459" y="4457700"/>
            <a:ext cx="3319272" cy="1508760"/>
          </a:xfrm>
          <a:prstGeom prst="roundRect">
            <a:avLst>
              <a:gd name="adj" fmla="val 3939"/>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o14" descr="image-11-9.png"/>
          <p:cNvPicPr>
            <a:picLocks noChangeAspect="1"/>
          </p:cNvPicPr>
          <p:nvPr/>
        </p:nvPicPr>
        <p:blipFill>
          <a:blip r:embed="rId9"/>
          <a:stretch>
            <a:fillRect/>
          </a:stretch>
        </p:blipFill>
        <p:spPr>
          <a:xfrm>
            <a:off x="8476488" y="4645152"/>
            <a:ext cx="347472" cy="347472"/>
          </a:xfrm>
          <a:prstGeom prst="rect">
            <a:avLst/>
          </a:prstGeom>
        </p:spPr>
      </p:pic>
      <p:pic>
        <p:nvPicPr>
          <p:cNvPr id="16" name="o15" descr="BIAIS"/>
          <p:cNvPicPr>
            <a:picLocks noChangeAspect="1"/>
          </p:cNvPicPr>
          <p:nvPr/>
        </p:nvPicPr>
        <p:blipFill>
          <a:blip r:embed="rId10"/>
          <a:stretch>
            <a:fillRect/>
          </a:stretch>
        </p:blipFill>
        <p:spPr>
          <a:xfrm>
            <a:off x="8961120" y="4727448"/>
            <a:ext cx="685800" cy="137160"/>
          </a:xfrm>
          <a:prstGeom prst="rect">
            <a:avLst/>
          </a:prstGeom>
        </p:spPr>
      </p:pic>
      <p:sp>
        <p:nvSpPr>
          <p:cNvPr id="17" name="o16"/>
          <p:cNvSpPr txBox="1"/>
          <p:nvPr/>
        </p:nvSpPr>
        <p:spPr>
          <a:xfrm>
            <a:off x="8476488" y="5120640"/>
            <a:ext cx="2971800" cy="777240"/>
          </a:xfrm>
          <a:prstGeom prst="rect">
            <a:avLst/>
          </a:prstGeom>
          <a:noFill/>
        </p:spPr>
        <p:txBody>
          <a:bodyPr wrap="square" lIns="0" tIns="0" rIns="0" bIns="0" anchor="t">
            <a:spAutoFit/>
          </a:bodyPr>
          <a:lstStyle/>
          <a:p>
            <a:pPr algn="l"/>
            <a:r>
              <a:rPr sz="1400" b="0" i="0">
                <a:solidFill>
                  <a:srgbClr val="C4C4E4"/>
                </a:solidFill>
                <a:latin typeface="Arial"/>
              </a:rPr>
              <a:t>Les notes décrivent surtout les jeux visibles, sortis entre 2000 et 2016</a:t>
            </a:r>
          </a:p>
        </p:txBody>
      </p:sp>
      <p:pic>
        <p:nvPicPr>
          <p:cNvPr id="18" name="o17"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19" name="barre_fantome" descr="image.gif"/>
          <p:cNvPicPr>
            <a:picLocks noChangeAspect="1"/>
          </p:cNvPicPr>
          <p:nvPr/>
        </p:nvPicPr>
        <p:blipFill>
          <a:blip r:embed="rId12"/>
          <a:stretch>
            <a:fillRect/>
          </a:stretch>
        </p:blipFill>
        <p:spPr>
          <a:xfrm>
            <a:off x="7058426" y="6291072"/>
            <a:ext cx="310896" cy="310896"/>
          </a:xfrm>
          <a:prstGeom prst="rect">
            <a:avLst/>
          </a:prstGeom>
        </p:spPr>
      </p:pic>
      <p:pic>
        <p:nvPicPr>
          <p:cNvPr id="20" name="barre_pacman" descr="image.gif"/>
          <p:cNvPicPr>
            <a:picLocks noChangeAspect="1"/>
          </p:cNvPicPr>
          <p:nvPr/>
        </p:nvPicPr>
        <p:blipFill>
          <a:blip r:embed="rId13"/>
          <a:stretch>
            <a:fillRect/>
          </a:stretch>
        </p:blipFill>
        <p:spPr>
          <a:xfrm>
            <a:off x="7625354" y="6291072"/>
            <a:ext cx="310896" cy="310896"/>
          </a:xfrm>
          <a:prstGeom prst="rect">
            <a:avLst/>
          </a:prstGeom>
        </p:spPr>
      </p:pic>
      <p:sp>
        <p:nvSpPr>
          <p:cNvPr id="21"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229325623"/>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20"/>
                                        </p:tgtEl>
                                        <p:attrNameLst>
                                          <p:attrName>ppt_x</p:attrName>
                                          <p:attrName>ppt_y</p:attrName>
                                        </p:attrNameLst>
                                      </p:cBhvr>
                                    </p:animMotion>
                                  </p:childTnLst>
                                </p:cTn>
                              </p:par>
                              <p:par>
                                <p:cTn id="9" presetID="1" presetClass="exit" presetSubtype="0" fill="hold" nodeType="withEffect">
                                  <p:stCondLst>
                                    <p:cond delay="342"/>
                                  </p:stCondLst>
                                  <p:childTnLst>
                                    <p:set>
                                      <p:cBhvr>
                                        <p:cTn id="10" dur="1" fill="hold">
                                          <p:stCondLst>
                                            <p:cond delay="0"/>
                                          </p:stCondLst>
                                        </p:cTn>
                                        <p:tgtEl>
                                          <p:spTgt spid="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10-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4"/>
          <p:cNvPicPr>
            <a:picLocks noChangeAspect="1"/>
          </p:cNvPicPr>
          <p:nvPr/>
        </p:nvPicPr>
        <p:blipFill>
          <a:blip r:embed="rId4"/>
          <a:stretch>
            <a:fillRect/>
          </a:stretch>
        </p:blipFill>
        <p:spPr>
          <a:xfrm>
            <a:off x="5263743" y="1828800"/>
            <a:ext cx="1664208" cy="237744"/>
          </a:xfrm>
          <a:prstGeom prst="rect">
            <a:avLst/>
          </a:prstGeom>
        </p:spPr>
      </p:pic>
      <p:pic>
        <p:nvPicPr>
          <p:cNvPr id="14" name="o13" descr="INSIGHTS"/>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4 découvertes en croisant notes et ventes</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gif"/>
          <p:cNvPicPr>
            <a:picLocks noChangeAspect="1"/>
          </p:cNvPicPr>
          <p:nvPr/>
        </p:nvPicPr>
        <p:blipFill>
          <a:blip r:embed="rId9"/>
          <a:stretch>
            <a:fillRect/>
          </a:stretch>
        </p:blipFill>
        <p:spPr>
          <a:xfrm>
            <a:off x="7325332" y="6291072"/>
            <a:ext cx="310896" cy="310896"/>
          </a:xfrm>
          <a:prstGeom prst="rect">
            <a:avLst/>
          </a:prstGeom>
        </p:spPr>
      </p:pic>
      <p:pic>
        <p:nvPicPr>
          <p:cNvPr id="41" name="barre_pacman" descr="image.gif"/>
          <p:cNvPicPr>
            <a:picLocks noChangeAspect="1"/>
          </p:cNvPicPr>
          <p:nvPr/>
        </p:nvPicPr>
        <p:blipFill>
          <a:blip r:embed="rId10"/>
          <a:stretch>
            <a:fillRect/>
          </a:stretch>
        </p:blipFill>
        <p:spPr>
          <a:xfrm>
            <a:off x="7892260" y="6291072"/>
            <a:ext cx="310896" cy="310896"/>
          </a:xfrm>
          <a:prstGeom prst="rect">
            <a:avLst/>
          </a:prstGeom>
        </p:spPr>
      </p:pic>
      <p:sp>
        <p:nvSpPr>
          <p:cNvPr id="42"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922061238"/>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212"/>
                                  </p:stCondLst>
                                  <p:childTnLst>
                                    <p:set>
                                      <p:cBhvr>
                                        <p:cTn id="10" dur="1" fill="hold">
                                          <p:stCondLst>
                                            <p:cond delay="0"/>
                                          </p:stCondLst>
                                        </p:cTn>
                                        <p:tgtEl>
                                          <p:spTgt spid="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1/4"/>
          <p:cNvPicPr>
            <a:picLocks noChangeAspect="1"/>
          </p:cNvPicPr>
          <p:nvPr/>
        </p:nvPicPr>
        <p:blipFill>
          <a:blip r:embed="rId3"/>
          <a:stretch>
            <a:fillRect/>
          </a:stretch>
        </p:blipFill>
        <p:spPr>
          <a:xfrm>
            <a:off x="548640" y="411480"/>
            <a:ext cx="3072384" cy="146304"/>
          </a:xfrm>
          <a:prstGeom prst="rect">
            <a:avLst/>
          </a:prstGeom>
        </p:spPr>
      </p:pic>
      <p:pic>
        <p:nvPicPr>
          <p:cNvPr id="3" name="o2" descr="Bien noté = bien vendu ?"/>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13"/>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8503920" y="2578608"/>
            <a:ext cx="2926080" cy="640080"/>
          </a:xfrm>
          <a:prstGeom prst="rect">
            <a:avLst/>
          </a:prstGeom>
          <a:noFill/>
        </p:spPr>
        <p:txBody>
          <a:bodyPr wrap="square" lIns="0" tIns="0" rIns="0" bIns="0" anchor="t">
            <a:spAutoFit/>
          </a:bodyPr>
          <a:lstStyle/>
          <a:p>
            <a:pPr algn="l"/>
            <a:r>
              <a:rPr sz="1500" b="0" i="0">
                <a:solidFill>
                  <a:srgbClr val="C4C4E4"/>
                </a:solidFill>
                <a:latin typeface="Arial"/>
              </a:rPr>
              <a:t>de ventes médianes : 90 et + face à moins de 50</a:t>
            </a:r>
          </a:p>
        </p:txBody>
      </p:sp>
      <p:pic>
        <p:nvPicPr>
          <p:cNvPr id="10" name="o9" descr="4%→62%"/>
          <p:cNvPicPr>
            <a:picLocks noChangeAspect="1"/>
          </p:cNvPicPr>
          <p:nvPr/>
        </p:nvPicPr>
        <p:blipFill>
          <a:blip r:embed="rId8"/>
          <a:stretch>
            <a:fillRect/>
          </a:stretch>
        </p:blipFill>
        <p:spPr>
          <a:xfrm>
            <a:off x="8503920" y="3291840"/>
            <a:ext cx="1645919" cy="274320"/>
          </a:xfrm>
          <a:prstGeom prst="rect">
            <a:avLst/>
          </a:prstGeom>
        </p:spPr>
      </p:pic>
      <p:sp>
        <p:nvSpPr>
          <p:cNvPr id="11" name="o10"/>
          <p:cNvSpPr txBox="1"/>
          <p:nvPr/>
        </p:nvSpPr>
        <p:spPr>
          <a:xfrm>
            <a:off x="8503920" y="3657600"/>
            <a:ext cx="2926080" cy="320040"/>
          </a:xfrm>
          <a:prstGeom prst="rect">
            <a:avLst/>
          </a:prstGeom>
          <a:noFill/>
        </p:spPr>
        <p:txBody>
          <a:bodyPr wrap="square" lIns="0" tIns="0" rIns="0" bIns="0" anchor="t">
            <a:spAutoFit/>
          </a:bodyPr>
          <a:lstStyle/>
          <a:p>
            <a:pPr algn="l"/>
            <a:r>
              <a:rPr sz="1500" b="0" i="0">
                <a:solidFill>
                  <a:srgbClr val="C4C4E4"/>
                </a:solidFill>
                <a:latin typeface="Arial"/>
              </a:rPr>
              <a:t>de jeux à plus d'1 M</a:t>
            </a:r>
          </a:p>
        </p:txBody>
      </p:sp>
      <p:sp>
        <p:nvSpPr>
          <p:cNvPr id="12" name="o11"/>
          <p:cNvSpPr/>
          <p:nvPr/>
        </p:nvSpPr>
        <p:spPr>
          <a:xfrm>
            <a:off x="8183879" y="4389120"/>
            <a:ext cx="3456432" cy="1645920"/>
          </a:xfrm>
          <a:prstGeom prst="roundRect">
            <a:avLst>
              <a:gd name="adj" fmla="val 777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p:nvPr/>
        </p:nvSpPr>
        <p:spPr>
          <a:xfrm>
            <a:off x="8252459" y="4457700"/>
            <a:ext cx="3319272" cy="1508760"/>
          </a:xfrm>
          <a:prstGeom prst="roundRect">
            <a:avLst>
              <a:gd name="adj" fmla="val 393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o13" descr="PIEGE"/>
          <p:cNvPicPr>
            <a:picLocks noChangeAspect="1"/>
          </p:cNvPicPr>
          <p:nvPr/>
        </p:nvPicPr>
        <p:blipFill>
          <a:blip r:embed="rId9"/>
          <a:stretch>
            <a:fillRect/>
          </a:stretch>
        </p:blipFill>
        <p:spPr>
          <a:xfrm>
            <a:off x="8503920" y="4617720"/>
            <a:ext cx="685800" cy="137160"/>
          </a:xfrm>
          <a:prstGeom prst="rect">
            <a:avLst/>
          </a:prstGeom>
        </p:spPr>
      </p:pic>
      <p:sp>
        <p:nvSpPr>
          <p:cNvPr id="15" name="o14"/>
          <p:cNvSpPr txBox="1"/>
          <p:nvPr/>
        </p:nvSpPr>
        <p:spPr>
          <a:xfrm>
            <a:off x="8503920" y="4846320"/>
            <a:ext cx="2926080" cy="365760"/>
          </a:xfrm>
          <a:prstGeom prst="rect">
            <a:avLst/>
          </a:prstGeom>
          <a:noFill/>
        </p:spPr>
        <p:txBody>
          <a:bodyPr wrap="square" lIns="0" tIns="0" rIns="0" bIns="0" anchor="t">
            <a:spAutoFit/>
          </a:bodyPr>
          <a:lstStyle/>
          <a:p>
            <a:pPr algn="l"/>
            <a:r>
              <a:rPr sz="2000" b="1" i="0">
                <a:solidFill>
                  <a:srgbClr val="FFFFFF"/>
                </a:solidFill>
                <a:latin typeface="Arial"/>
              </a:rPr>
              <a:t>Lien ≠ cause</a:t>
            </a:r>
          </a:p>
        </p:txBody>
      </p:sp>
      <p:sp>
        <p:nvSpPr>
          <p:cNvPr id="16" name="o15"/>
          <p:cNvSpPr txBox="1"/>
          <p:nvPr/>
        </p:nvSpPr>
        <p:spPr>
          <a:xfrm>
            <a:off x="8503920" y="5303520"/>
            <a:ext cx="2926080" cy="548640"/>
          </a:xfrm>
          <a:prstGeom prst="rect">
            <a:avLst/>
          </a:prstGeom>
          <a:noFill/>
        </p:spPr>
        <p:txBody>
          <a:bodyPr wrap="square" lIns="0" tIns="0" rIns="0" bIns="0" anchor="t">
            <a:spAutoFit/>
          </a:bodyPr>
          <a:lstStyle/>
          <a:p>
            <a:pPr algn="l"/>
            <a:r>
              <a:rPr sz="1400" b="0" i="0">
                <a:solidFill>
                  <a:srgbClr val="C4C4E4"/>
                </a:solidFill>
                <a:latin typeface="Arial"/>
              </a:rPr>
              <a:t>Wii Play : 58/100 et 29 M d'exemplaires</a:t>
            </a:r>
          </a:p>
        </p:txBody>
      </p:sp>
      <p:pic>
        <p:nvPicPr>
          <p:cNvPr id="17" name="o16"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18" name="barre_fantome" descr="image.gif"/>
          <p:cNvPicPr>
            <a:picLocks noChangeAspect="1"/>
          </p:cNvPicPr>
          <p:nvPr/>
        </p:nvPicPr>
        <p:blipFill>
          <a:blip r:embed="rId11"/>
          <a:stretch>
            <a:fillRect/>
          </a:stretch>
        </p:blipFill>
        <p:spPr>
          <a:xfrm>
            <a:off x="7592238" y="6291072"/>
            <a:ext cx="310896" cy="310896"/>
          </a:xfrm>
          <a:prstGeom prst="rect">
            <a:avLst/>
          </a:prstGeom>
        </p:spPr>
      </p:pic>
      <p:pic>
        <p:nvPicPr>
          <p:cNvPr id="19" name="barre_pacman" descr="image.gif"/>
          <p:cNvPicPr>
            <a:picLocks noChangeAspect="1"/>
          </p:cNvPicPr>
          <p:nvPr/>
        </p:nvPicPr>
        <p:blipFill>
          <a:blip r:embed="rId12"/>
          <a:stretch>
            <a:fillRect/>
          </a:stretch>
        </p:blipFill>
        <p:spPr>
          <a:xfrm>
            <a:off x="8159166" y="6291072"/>
            <a:ext cx="310896" cy="310896"/>
          </a:xfrm>
          <a:prstGeom prst="rect">
            <a:avLst/>
          </a:prstGeom>
        </p:spPr>
      </p:pic>
      <p:sp>
        <p:nvSpPr>
          <p:cNvPr id="20"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259254131"/>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9"/>
                                        </p:tgtEl>
                                        <p:attrNameLst>
                                          <p:attrName>ppt_x</p:attrName>
                                          <p:attrName>ppt_y</p:attrName>
                                        </p:attrNameLst>
                                      </p:cBhvr>
                                    </p:animMotion>
                                  </p:childTnLst>
                                </p:cTn>
                              </p:par>
                              <p:par>
                                <p:cTn id="9" presetID="1" presetClass="exit" presetSubtype="0" fill="hold" nodeType="withEffect">
                                  <p:stCondLst>
                                    <p:cond delay="83"/>
                                  </p:stCondLst>
                                  <p:childTnLst>
                                    <p:set>
                                      <p:cBhvr>
                                        <p:cTn id="10" dur="1" fill="hold">
                                          <p:stCondLst>
                                            <p:cond delay="0"/>
                                          </p:stCondLst>
                                        </p:cTn>
                                        <p:tgtEl>
                                          <p:spTgt spid="20"/>
                                        </p:tgtEl>
                                        <p:attrNameLst>
                                          <p:attrName>style.visibility</p:attrName>
                                        </p:attrNameLst>
                                      </p:cBhvr>
                                      <p:to>
                                        <p:strVal val="hidden"/>
                                      </p:to>
                                    </p:set>
                                  </p:childTnLst>
                                </p:cTn>
                              </p:par>
                              <p:par>
                                <p:cTn id="11" presetID="1" presetClass="exit" presetSubtype="0" fill="hold" nodeType="withEffect">
                                  <p:stCondLst>
                                    <p:cond delay="854"/>
                                  </p:stCondLst>
                                  <p:childTnLst>
                                    <p:set>
                                      <p:cBhvr>
                                        <p:cTn id="12" dur="1" fill="hold">
                                          <p:stCondLst>
                                            <p:cond delay="0"/>
                                          </p:stCondLst>
                                        </p:cTn>
                                        <p:tgtEl>
                                          <p:spTgt spid="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2/4"/>
          <p:cNvPicPr>
            <a:picLocks noChangeAspect="1"/>
          </p:cNvPicPr>
          <p:nvPr/>
        </p:nvPicPr>
        <p:blipFill>
          <a:blip r:embed="rId3"/>
          <a:stretch>
            <a:fillRect/>
          </a:stretch>
        </p:blipFill>
        <p:spPr>
          <a:xfrm>
            <a:off x="548640" y="411480"/>
            <a:ext cx="3072384" cy="146304"/>
          </a:xfrm>
          <a:prstGeom prst="rect">
            <a:avLst/>
          </a:prstGeom>
        </p:spPr>
      </p:pic>
      <p:pic>
        <p:nvPicPr>
          <p:cNvPr id="3" name="o2" descr="Presse et joueurs divorcent"/>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1965960"/>
          </a:xfrm>
          <a:prstGeom prst="roundRect">
            <a:avLst>
              <a:gd name="adj" fmla="val 6511"/>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1828800"/>
          </a:xfrm>
          <a:prstGeom prst="roundRect">
            <a:avLst>
              <a:gd name="adj" fmla="val 3250"/>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 2010"/>
          <p:cNvPicPr>
            <a:picLocks noChangeAspect="1"/>
          </p:cNvPicPr>
          <p:nvPr/>
        </p:nvPicPr>
        <p:blipFill>
          <a:blip r:embed="rId7"/>
          <a:stretch>
            <a:fillRect/>
          </a:stretch>
        </p:blipFill>
        <p:spPr>
          <a:xfrm>
            <a:off x="8503920" y="2011680"/>
            <a:ext cx="1975104" cy="329184"/>
          </a:xfrm>
          <a:prstGeom prst="rect">
            <a:avLst/>
          </a:prstGeom>
        </p:spPr>
      </p:pic>
      <p:sp>
        <p:nvSpPr>
          <p:cNvPr id="9" name="o8"/>
          <p:cNvSpPr txBox="1"/>
          <p:nvPr/>
        </p:nvSpPr>
        <p:spPr>
          <a:xfrm>
            <a:off x="8503920" y="2560320"/>
            <a:ext cx="2926080" cy="822960"/>
          </a:xfrm>
          <a:prstGeom prst="rect">
            <a:avLst/>
          </a:prstGeom>
          <a:noFill/>
        </p:spPr>
        <p:txBody>
          <a:bodyPr wrap="square" lIns="0" tIns="0" rIns="0" bIns="0" anchor="t">
            <a:spAutoFit/>
          </a:bodyPr>
          <a:lstStyle/>
          <a:p>
            <a:pPr algn="l"/>
            <a:r>
              <a:rPr sz="1500" b="0" i="0">
                <a:solidFill>
                  <a:srgbClr val="C4C4E4"/>
                </a:solidFill>
                <a:latin typeface="Arial"/>
              </a:rPr>
              <a:t>les joueurs deviennent plus sévères que la presse</a:t>
            </a:r>
          </a:p>
        </p:txBody>
      </p:sp>
      <p:sp>
        <p:nvSpPr>
          <p:cNvPr id="10" name="o9"/>
          <p:cNvSpPr/>
          <p:nvPr/>
        </p:nvSpPr>
        <p:spPr>
          <a:xfrm>
            <a:off x="8183879" y="3886200"/>
            <a:ext cx="3456432" cy="2148840"/>
          </a:xfrm>
          <a:prstGeom prst="roundRect">
            <a:avLst>
              <a:gd name="adj" fmla="val 595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8252459" y="3954780"/>
            <a:ext cx="3319272" cy="2011680"/>
          </a:xfrm>
          <a:prstGeom prst="roundRect">
            <a:avLst>
              <a:gd name="adj" fmla="val 295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88 VS 32"/>
          <p:cNvPicPr>
            <a:picLocks noChangeAspect="1"/>
          </p:cNvPicPr>
          <p:nvPr/>
        </p:nvPicPr>
        <p:blipFill>
          <a:blip r:embed="rId8"/>
          <a:stretch>
            <a:fillRect/>
          </a:stretch>
        </p:blipFill>
        <p:spPr>
          <a:xfrm>
            <a:off x="8503920" y="4160520"/>
            <a:ext cx="2194560" cy="274320"/>
          </a:xfrm>
          <a:prstGeom prst="rect">
            <a:avLst/>
          </a:prstGeom>
        </p:spPr>
      </p:pic>
      <p:sp>
        <p:nvSpPr>
          <p:cNvPr id="13" name="o12"/>
          <p:cNvSpPr txBox="1"/>
          <p:nvPr/>
        </p:nvSpPr>
        <p:spPr>
          <a:xfrm>
            <a:off x="8503920" y="4572000"/>
            <a:ext cx="2926080" cy="731520"/>
          </a:xfrm>
          <a:prstGeom prst="rect">
            <a:avLst/>
          </a:prstGeom>
          <a:noFill/>
        </p:spPr>
        <p:txBody>
          <a:bodyPr wrap="square" lIns="0" tIns="0" rIns="0" bIns="0" anchor="t">
            <a:spAutoFit/>
          </a:bodyPr>
          <a:lstStyle/>
          <a:p>
            <a:pPr algn="l"/>
            <a:r>
              <a:rPr sz="1400" b="0" i="0">
                <a:solidFill>
                  <a:srgbClr val="C4C4E4"/>
                </a:solidFill>
                <a:latin typeface="Arial"/>
              </a:rPr>
              <a:t>Call of Duty MW3 (2011) : presse contre joueurs, sur plus de 5 000 votes</a:t>
            </a:r>
          </a:p>
        </p:txBody>
      </p:sp>
      <p:sp>
        <p:nvSpPr>
          <p:cNvPr id="14" name="o13"/>
          <p:cNvSpPr txBox="1"/>
          <p:nvPr/>
        </p:nvSpPr>
        <p:spPr>
          <a:xfrm>
            <a:off x="8503920" y="5440680"/>
            <a:ext cx="2926080" cy="320040"/>
          </a:xfrm>
          <a:prstGeom prst="rect">
            <a:avLst/>
          </a:prstGeom>
          <a:noFill/>
        </p:spPr>
        <p:txBody>
          <a:bodyPr wrap="square" lIns="0" tIns="0" rIns="0" bIns="0" anchor="t">
            <a:spAutoFit/>
          </a:bodyPr>
          <a:lstStyle/>
          <a:p>
            <a:pPr algn="l"/>
            <a:r>
              <a:rPr sz="1300" b="0" i="0">
                <a:solidFill>
                  <a:srgbClr val="7C7CAA"/>
                </a:solidFill>
                <a:latin typeface="Arial"/>
              </a:rPr>
              <a:t>corrélation presse / joueurs : 0,58</a:t>
            </a:r>
          </a:p>
        </p:txBody>
      </p:sp>
      <p:pic>
        <p:nvPicPr>
          <p:cNvPr id="15" name="o14"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6" name="barre_fantome" descr="image.gif"/>
          <p:cNvPicPr>
            <a:picLocks noChangeAspect="1"/>
          </p:cNvPicPr>
          <p:nvPr/>
        </p:nvPicPr>
        <p:blipFill>
          <a:blip r:embed="rId10"/>
          <a:stretch>
            <a:fillRect/>
          </a:stretch>
        </p:blipFill>
        <p:spPr>
          <a:xfrm>
            <a:off x="7859144" y="6291072"/>
            <a:ext cx="310896" cy="310896"/>
          </a:xfrm>
          <a:prstGeom prst="rect">
            <a:avLst/>
          </a:prstGeom>
        </p:spPr>
      </p:pic>
      <p:pic>
        <p:nvPicPr>
          <p:cNvPr id="17" name="barre_pacman" descr="image.gif"/>
          <p:cNvPicPr>
            <a:picLocks noChangeAspect="1"/>
          </p:cNvPicPr>
          <p:nvPr/>
        </p:nvPicPr>
        <p:blipFill>
          <a:blip r:embed="rId11"/>
          <a:stretch>
            <a:fillRect/>
          </a:stretch>
        </p:blipFill>
        <p:spPr>
          <a:xfrm>
            <a:off x="8426072" y="6291072"/>
            <a:ext cx="310896" cy="310896"/>
          </a:xfrm>
          <a:prstGeom prst="rect">
            <a:avLst/>
          </a:prstGeom>
        </p:spPr>
      </p:pic>
      <p:sp>
        <p:nvSpPr>
          <p:cNvPr id="1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069970615"/>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6"/>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7"/>
                                        </p:tgtEl>
                                        <p:attrNameLst>
                                          <p:attrName>ppt_x</p:attrName>
                                          <p:attrName>ppt_y</p:attrName>
                                        </p:attrNameLst>
                                      </p:cBhvr>
                                    </p:animMotion>
                                  </p:childTnLst>
                                </p:cTn>
                              </p:par>
                              <p:par>
                                <p:cTn id="9" presetID="1" presetClass="exit" presetSubtype="0" fill="hold" nodeType="withEffect">
                                  <p:stCondLst>
                                    <p:cond delay="725"/>
                                  </p:stCondLst>
                                  <p:childTnLst>
                                    <p:set>
                                      <p:cBhvr>
                                        <p:cTn id="10"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3/4"/>
          <p:cNvPicPr>
            <a:picLocks noChangeAspect="1"/>
          </p:cNvPicPr>
          <p:nvPr/>
        </p:nvPicPr>
        <p:blipFill>
          <a:blip r:embed="rId3"/>
          <a:stretch>
            <a:fillRect/>
          </a:stretch>
        </p:blipFill>
        <p:spPr>
          <a:xfrm>
            <a:off x="548640" y="411480"/>
            <a:ext cx="3072384" cy="146304"/>
          </a:xfrm>
          <a:prstGeom prst="rect">
            <a:avLst/>
          </a:prstGeom>
        </p:spPr>
      </p:pic>
      <p:pic>
        <p:nvPicPr>
          <p:cNvPr id="3" name="o2" descr="Wii et DS : vendues, pas notées"/>
          <p:cNvPicPr>
            <a:picLocks noChangeAspect="1"/>
          </p:cNvPicPr>
          <p:nvPr/>
        </p:nvPicPr>
        <p:blipFill>
          <a:blip r:embed="rId4"/>
          <a:stretch>
            <a:fillRect/>
          </a:stretch>
        </p:blipFill>
        <p:spPr>
          <a:xfrm>
            <a:off x="548640" y="777240"/>
            <a:ext cx="850391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554480"/>
          <a:ext cx="7315200" cy="429768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377440"/>
          </a:xfrm>
          <a:prstGeom prst="roundRect">
            <a:avLst>
              <a:gd name="adj" fmla="val 5384"/>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2240280"/>
          </a:xfrm>
          <a:prstGeom prst="roundRect">
            <a:avLst>
              <a:gd name="adj" fmla="val 265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62,8"/>
          <p:cNvPicPr>
            <a:picLocks noChangeAspect="1"/>
          </p:cNvPicPr>
          <p:nvPr/>
        </p:nvPicPr>
        <p:blipFill>
          <a:blip r:embed="rId7"/>
          <a:stretch>
            <a:fillRect/>
          </a:stretch>
        </p:blipFill>
        <p:spPr>
          <a:xfrm>
            <a:off x="8503920" y="2011680"/>
            <a:ext cx="1536192" cy="384048"/>
          </a:xfrm>
          <a:prstGeom prst="rect">
            <a:avLst/>
          </a:prstGeom>
        </p:spPr>
      </p:pic>
      <p:sp>
        <p:nvSpPr>
          <p:cNvPr id="9" name="o8"/>
          <p:cNvSpPr txBox="1"/>
          <p:nvPr/>
        </p:nvSpPr>
        <p:spPr>
          <a:xfrm>
            <a:off x="8503920" y="2578608"/>
            <a:ext cx="2926080" cy="548640"/>
          </a:xfrm>
          <a:prstGeom prst="rect">
            <a:avLst/>
          </a:prstGeom>
          <a:noFill/>
        </p:spPr>
        <p:txBody>
          <a:bodyPr wrap="square" lIns="0" tIns="0" rIns="0" bIns="0" anchor="t">
            <a:spAutoFit/>
          </a:bodyPr>
          <a:lstStyle/>
          <a:p>
            <a:pPr algn="l"/>
            <a:r>
              <a:rPr sz="1500" b="0" i="0">
                <a:solidFill>
                  <a:srgbClr val="C4C4E4"/>
                </a:solidFill>
                <a:latin typeface="Arial"/>
              </a:rPr>
              <a:t>note moyenne des jeux Wii, la plus basse</a:t>
            </a:r>
          </a:p>
        </p:txBody>
      </p:sp>
      <p:pic>
        <p:nvPicPr>
          <p:cNvPr id="10" name="o9" descr="75,9"/>
          <p:cNvPicPr>
            <a:picLocks noChangeAspect="1"/>
          </p:cNvPicPr>
          <p:nvPr/>
        </p:nvPicPr>
        <p:blipFill>
          <a:blip r:embed="rId8"/>
          <a:stretch>
            <a:fillRect/>
          </a:stretch>
        </p:blipFill>
        <p:spPr>
          <a:xfrm>
            <a:off x="8503920" y="3200400"/>
            <a:ext cx="1097280" cy="274320"/>
          </a:xfrm>
          <a:prstGeom prst="rect">
            <a:avLst/>
          </a:prstGeom>
        </p:spPr>
      </p:pic>
      <p:sp>
        <p:nvSpPr>
          <p:cNvPr id="11" name="o10"/>
          <p:cNvSpPr txBox="1"/>
          <p:nvPr/>
        </p:nvSpPr>
        <p:spPr>
          <a:xfrm>
            <a:off x="9829800" y="3182112"/>
            <a:ext cx="1645920" cy="320040"/>
          </a:xfrm>
          <a:prstGeom prst="rect">
            <a:avLst/>
          </a:prstGeom>
          <a:noFill/>
        </p:spPr>
        <p:txBody>
          <a:bodyPr wrap="square" lIns="0" tIns="0" rIns="0" bIns="0" anchor="ctr">
            <a:spAutoFit/>
          </a:bodyPr>
          <a:lstStyle/>
          <a:p>
            <a:pPr algn="l"/>
            <a:r>
              <a:rPr sz="1500" b="0" i="0">
                <a:solidFill>
                  <a:srgbClr val="C4C4E4"/>
                </a:solidFill>
                <a:latin typeface="Arial"/>
              </a:rPr>
              <a:t>pour le PC</a:t>
            </a:r>
          </a:p>
        </p:txBody>
      </p:sp>
      <p:sp>
        <p:nvSpPr>
          <p:cNvPr id="12" name="o11"/>
          <p:cNvSpPr/>
          <p:nvPr/>
        </p:nvSpPr>
        <p:spPr>
          <a:xfrm>
            <a:off x="8183879" y="4297680"/>
            <a:ext cx="3456432" cy="1737360"/>
          </a:xfrm>
          <a:prstGeom prst="roundRect">
            <a:avLst>
              <a:gd name="adj" fmla="val 7368"/>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p:nvPr/>
        </p:nvSpPr>
        <p:spPr>
          <a:xfrm>
            <a:off x="8252459" y="4366260"/>
            <a:ext cx="3319272" cy="1600200"/>
          </a:xfrm>
          <a:prstGeom prst="roundRect">
            <a:avLst>
              <a:gd name="adj" fmla="val 371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13"/>
          <p:cNvSpPr txBox="1"/>
          <p:nvPr/>
        </p:nvSpPr>
        <p:spPr>
          <a:xfrm>
            <a:off x="8503920" y="4544568"/>
            <a:ext cx="2926080" cy="365760"/>
          </a:xfrm>
          <a:prstGeom prst="rect">
            <a:avLst/>
          </a:prstGeom>
          <a:noFill/>
        </p:spPr>
        <p:txBody>
          <a:bodyPr wrap="square" lIns="0" tIns="0" rIns="0" bIns="0" anchor="t">
            <a:spAutoFit/>
          </a:bodyPr>
          <a:lstStyle/>
          <a:p>
            <a:pPr algn="l"/>
            <a:r>
              <a:rPr sz="2000" b="1" i="0">
                <a:solidFill>
                  <a:srgbClr val="FFFFFF"/>
                </a:solidFill>
                <a:latin typeface="Arial"/>
              </a:rPr>
              <a:t>Ventes ≠ qualité</a:t>
            </a:r>
          </a:p>
        </p:txBody>
      </p:sp>
      <p:sp>
        <p:nvSpPr>
          <p:cNvPr id="15" name="o14"/>
          <p:cNvSpPr txBox="1"/>
          <p:nvPr/>
        </p:nvSpPr>
        <p:spPr>
          <a:xfrm>
            <a:off x="8503920" y="4983480"/>
            <a:ext cx="2926080" cy="822960"/>
          </a:xfrm>
          <a:prstGeom prst="rect">
            <a:avLst/>
          </a:prstGeom>
          <a:noFill/>
        </p:spPr>
        <p:txBody>
          <a:bodyPr wrap="square" lIns="0" tIns="0" rIns="0" bIns="0" anchor="t">
            <a:spAutoFit/>
          </a:bodyPr>
          <a:lstStyle/>
          <a:p>
            <a:pPr algn="l"/>
            <a:r>
              <a:rPr sz="1400" b="0" i="0">
                <a:solidFill>
                  <a:srgbClr val="C4C4E4"/>
                </a:solidFill>
                <a:latin typeface="Arial"/>
              </a:rPr>
              <a:t>beaucoup de petits jeux familiaux à bas prix, mal notés</a:t>
            </a:r>
          </a:p>
        </p:txBody>
      </p:sp>
      <p:sp>
        <p:nvSpPr>
          <p:cNvPr id="16" name="o15"/>
          <p:cNvSpPr/>
          <p:nvPr/>
        </p:nvSpPr>
        <p:spPr>
          <a:xfrm>
            <a:off x="1737360" y="5943600"/>
            <a:ext cx="128016" cy="128016"/>
          </a:xfrm>
          <a:prstGeom prst="rect">
            <a:avLst/>
          </a:prstGeom>
          <a:solidFill>
            <a:srgbClr val="FF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16"/>
          <p:cNvSpPr txBox="1"/>
          <p:nvPr/>
        </p:nvSpPr>
        <p:spPr>
          <a:xfrm>
            <a:off x="193852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Nintendo</a:t>
            </a:r>
          </a:p>
        </p:txBody>
      </p:sp>
      <p:sp>
        <p:nvSpPr>
          <p:cNvPr id="18" name="o17"/>
          <p:cNvSpPr/>
          <p:nvPr/>
        </p:nvSpPr>
        <p:spPr>
          <a:xfrm>
            <a:off x="3200400" y="5943600"/>
            <a:ext cx="128016" cy="128016"/>
          </a:xfrm>
          <a:prstGeom prst="rect">
            <a:avLst/>
          </a:prstGeom>
          <a:solidFill>
            <a:srgbClr val="212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18"/>
          <p:cNvSpPr txBox="1"/>
          <p:nvPr/>
        </p:nvSpPr>
        <p:spPr>
          <a:xfrm>
            <a:off x="340156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Sony</a:t>
            </a:r>
          </a:p>
        </p:txBody>
      </p:sp>
      <p:sp>
        <p:nvSpPr>
          <p:cNvPr id="20" name="o19"/>
          <p:cNvSpPr/>
          <p:nvPr/>
        </p:nvSpPr>
        <p:spPr>
          <a:xfrm>
            <a:off x="4663440" y="5943600"/>
            <a:ext cx="128016" cy="128016"/>
          </a:xfrm>
          <a:prstGeom prst="rect">
            <a:avLst/>
          </a:prstGeom>
          <a:solidFill>
            <a:srgbClr val="00D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20"/>
          <p:cNvSpPr txBox="1"/>
          <p:nvPr/>
        </p:nvSpPr>
        <p:spPr>
          <a:xfrm>
            <a:off x="486460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Microsoft</a:t>
            </a:r>
          </a:p>
        </p:txBody>
      </p:sp>
      <p:sp>
        <p:nvSpPr>
          <p:cNvPr id="22" name="o21"/>
          <p:cNvSpPr/>
          <p:nvPr/>
        </p:nvSpPr>
        <p:spPr>
          <a:xfrm>
            <a:off x="6126480" y="5943600"/>
            <a:ext cx="128016" cy="128016"/>
          </a:xfrm>
          <a:prstGeom prst="rect">
            <a:avLst/>
          </a:prstGeom>
          <a:solidFill>
            <a:srgbClr val="FFE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txBox="1"/>
          <p:nvPr/>
        </p:nvSpPr>
        <p:spPr>
          <a:xfrm>
            <a:off x="632764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PC</a:t>
            </a:r>
          </a:p>
        </p:txBody>
      </p:sp>
      <p:pic>
        <p:nvPicPr>
          <p:cNvPr id="24" name="o23" descr="image-1-13.gif"/>
          <p:cNvPicPr>
            <a:picLocks noChangeAspect="1"/>
          </p:cNvPicPr>
          <p:nvPr/>
        </p:nvPicPr>
        <p:blipFill>
          <a:blip r:embed="rId9"/>
          <a:stretch>
            <a:fillRect/>
          </a:stretch>
        </p:blipFill>
        <p:spPr>
          <a:xfrm>
            <a:off x="11448288" y="6355080"/>
            <a:ext cx="182880" cy="182880"/>
          </a:xfrm>
          <a:prstGeom prst="rect">
            <a:avLst/>
          </a:prstGeom>
        </p:spPr>
      </p:pic>
      <p:pic>
        <p:nvPicPr>
          <p:cNvPr id="25" name="barre_fantome" descr="image.gif"/>
          <p:cNvPicPr>
            <a:picLocks noChangeAspect="1"/>
          </p:cNvPicPr>
          <p:nvPr/>
        </p:nvPicPr>
        <p:blipFill>
          <a:blip r:embed="rId10"/>
          <a:stretch>
            <a:fillRect/>
          </a:stretch>
        </p:blipFill>
        <p:spPr>
          <a:xfrm>
            <a:off x="8126050" y="6291072"/>
            <a:ext cx="310896" cy="310896"/>
          </a:xfrm>
          <a:prstGeom prst="rect">
            <a:avLst/>
          </a:prstGeom>
        </p:spPr>
      </p:pic>
      <p:pic>
        <p:nvPicPr>
          <p:cNvPr id="26" name="barre_pacman" descr="image.gif"/>
          <p:cNvPicPr>
            <a:picLocks noChangeAspect="1"/>
          </p:cNvPicPr>
          <p:nvPr/>
        </p:nvPicPr>
        <p:blipFill>
          <a:blip r:embed="rId11"/>
          <a:stretch>
            <a:fillRect/>
          </a:stretch>
        </p:blipFill>
        <p:spPr>
          <a:xfrm>
            <a:off x="8692978" y="6291072"/>
            <a:ext cx="310896" cy="310896"/>
          </a:xfrm>
          <a:prstGeom prst="rect">
            <a:avLst/>
          </a:prstGeom>
        </p:spPr>
      </p:pic>
      <p:sp>
        <p:nvSpPr>
          <p:cNvPr id="27"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371490303"/>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2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26"/>
                                        </p:tgtEl>
                                        <p:attrNameLst>
                                          <p:attrName>ppt_x</p:attrName>
                                          <p:attrName>ppt_y</p:attrName>
                                        </p:attrNameLst>
                                      </p:cBhvr>
                                    </p:animMotion>
                                  </p:childTnLst>
                                </p:cTn>
                              </p:par>
                              <p:par>
                                <p:cTn id="9" presetID="1" presetClass="exit" presetSubtype="0" fill="hold" nodeType="withEffect">
                                  <p:stCondLst>
                                    <p:cond delay="596"/>
                                  </p:stCondLst>
                                  <p:childTnLst>
                                    <p:set>
                                      <p:cBhvr>
                                        <p:cTn id="10" dur="1" fill="hold">
                                          <p:stCondLst>
                                            <p:cond delay="0"/>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4/4"/>
          <p:cNvPicPr>
            <a:picLocks noChangeAspect="1"/>
          </p:cNvPicPr>
          <p:nvPr/>
        </p:nvPicPr>
        <p:blipFill>
          <a:blip r:embed="rId3"/>
          <a:stretch>
            <a:fillRect/>
          </a:stretch>
        </p:blipFill>
        <p:spPr>
          <a:xfrm>
            <a:off x="548640" y="411480"/>
            <a:ext cx="3072384" cy="146304"/>
          </a:xfrm>
          <a:prstGeom prst="rect">
            <a:avLst/>
          </a:prstGeom>
        </p:spPr>
      </p:pic>
      <p:pic>
        <p:nvPicPr>
          <p:cNvPr id="3" name="o2" descr="L'Europe écoute la critique"/>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103120"/>
          </a:xfrm>
          <a:prstGeom prst="roundRect">
            <a:avLst>
              <a:gd name="adj" fmla="val 6086"/>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1965960"/>
          </a:xfrm>
          <a:prstGeom prst="roundRect">
            <a:avLst>
              <a:gd name="adj" fmla="val 3023"/>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AMERIQUE DU NORD"/>
          <p:cNvPicPr>
            <a:picLocks noChangeAspect="1"/>
          </p:cNvPicPr>
          <p:nvPr/>
        </p:nvPicPr>
        <p:blipFill>
          <a:blip r:embed="rId7"/>
          <a:stretch>
            <a:fillRect/>
          </a:stretch>
        </p:blipFill>
        <p:spPr>
          <a:xfrm>
            <a:off x="8503920" y="1965960"/>
            <a:ext cx="1901952" cy="118872"/>
          </a:xfrm>
          <a:prstGeom prst="rect">
            <a:avLst/>
          </a:prstGeom>
        </p:spPr>
      </p:pic>
      <p:pic>
        <p:nvPicPr>
          <p:cNvPr id="9" name="o8" descr="68%→49%"/>
          <p:cNvPicPr>
            <a:picLocks noChangeAspect="1"/>
          </p:cNvPicPr>
          <p:nvPr/>
        </p:nvPicPr>
        <p:blipFill>
          <a:blip r:embed="rId8"/>
          <a:stretch>
            <a:fillRect/>
          </a:stretch>
        </p:blipFill>
        <p:spPr>
          <a:xfrm>
            <a:off x="8503920" y="2286000"/>
            <a:ext cx="2304288" cy="329184"/>
          </a:xfrm>
          <a:prstGeom prst="rect">
            <a:avLst/>
          </a:prstGeom>
        </p:spPr>
      </p:pic>
      <p:sp>
        <p:nvSpPr>
          <p:cNvPr id="10" name="o9"/>
          <p:cNvSpPr txBox="1"/>
          <p:nvPr/>
        </p:nvSpPr>
        <p:spPr>
          <a:xfrm>
            <a:off x="8503920" y="2788920"/>
            <a:ext cx="2926080" cy="731520"/>
          </a:xfrm>
          <a:prstGeom prst="rect">
            <a:avLst/>
          </a:prstGeom>
          <a:noFill/>
        </p:spPr>
        <p:txBody>
          <a:bodyPr wrap="square" lIns="0" tIns="0" rIns="0" bIns="0" anchor="t">
            <a:spAutoFit/>
          </a:bodyPr>
          <a:lstStyle/>
          <a:p>
            <a:pPr algn="l"/>
            <a:r>
              <a:rPr sz="1500" b="0" i="0">
                <a:solidFill>
                  <a:srgbClr val="C4C4E4"/>
                </a:solidFill>
                <a:latin typeface="Arial"/>
              </a:rPr>
              <a:t>des ventes d'un jeu noté moins de 50, puis 90 et +</a:t>
            </a:r>
          </a:p>
        </p:txBody>
      </p:sp>
      <p:sp>
        <p:nvSpPr>
          <p:cNvPr id="11" name="o10"/>
          <p:cNvSpPr/>
          <p:nvPr/>
        </p:nvSpPr>
        <p:spPr>
          <a:xfrm>
            <a:off x="8183879" y="3977639"/>
            <a:ext cx="3456432" cy="2057400"/>
          </a:xfrm>
          <a:prstGeom prst="roundRect">
            <a:avLst>
              <a:gd name="adj" fmla="val 6222"/>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11"/>
          <p:cNvSpPr/>
          <p:nvPr/>
        </p:nvSpPr>
        <p:spPr>
          <a:xfrm>
            <a:off x="8252459" y="4046220"/>
            <a:ext cx="3319272" cy="1920240"/>
          </a:xfrm>
          <a:prstGeom prst="roundRect">
            <a:avLst>
              <a:gd name="adj" fmla="val 3095"/>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txBox="1"/>
          <p:nvPr/>
        </p:nvSpPr>
        <p:spPr>
          <a:xfrm>
            <a:off x="8503920" y="4206240"/>
            <a:ext cx="2926080" cy="1737360"/>
          </a:xfrm>
          <a:prstGeom prst="rect">
            <a:avLst/>
          </a:prstGeom>
          <a:noFill/>
        </p:spPr>
        <p:txBody>
          <a:bodyPr wrap="square" lIns="0" tIns="0" rIns="0" bIns="0" anchor="t">
            <a:spAutoFit/>
          </a:bodyPr>
          <a:lstStyle/>
          <a:p>
            <a:pPr algn="l">
              <a:spcAft>
                <a:spcPts val="400"/>
              </a:spcAft>
            </a:pPr>
            <a:r>
              <a:rPr sz="1500" b="1" i="0">
                <a:solidFill>
                  <a:srgbClr val="FFB8FF"/>
                </a:solidFill>
                <a:latin typeface="Arial"/>
              </a:rPr>
              <a:t>Europe </a:t>
            </a:r>
            <a:r>
              <a:rPr sz="1500" b="1" i="0">
                <a:solidFill>
                  <a:srgbClr val="FFFFFF"/>
                </a:solidFill>
                <a:latin typeface="Arial"/>
              </a:rPr>
              <a:t>0,37</a:t>
            </a:r>
          </a:p>
          <a:p>
            <a:pPr algn="l">
              <a:spcAft>
                <a:spcPts val="400"/>
              </a:spcAft>
            </a:pPr>
            <a:r>
              <a:rPr sz="1500" b="0" i="0">
                <a:solidFill>
                  <a:srgbClr val="C4C4E4"/>
                </a:solidFill>
                <a:latin typeface="Arial"/>
              </a:rPr>
              <a:t>le marché le plus sensible aux notes</a:t>
            </a:r>
          </a:p>
          <a:p>
            <a:pPr algn="l">
              <a:spcAft>
                <a:spcPts val="400"/>
              </a:spcAft>
            </a:pPr>
            <a:r>
              <a:rPr sz="1500" b="1" i="0">
                <a:solidFill>
                  <a:srgbClr val="FF2D2D"/>
                </a:solidFill>
                <a:latin typeface="Arial"/>
              </a:rPr>
              <a:t>Japon </a:t>
            </a:r>
            <a:r>
              <a:rPr sz="1500" b="1" i="0">
                <a:solidFill>
                  <a:srgbClr val="FFFFFF"/>
                </a:solidFill>
                <a:latin typeface="Arial"/>
              </a:rPr>
              <a:t>0,24</a:t>
            </a:r>
          </a:p>
          <a:p>
            <a:pPr algn="l">
              <a:spcAft>
                <a:spcPts val="400"/>
              </a:spcAft>
            </a:pPr>
            <a:r>
              <a:rPr sz="1500" b="0" i="0">
                <a:solidFill>
                  <a:srgbClr val="C4C4E4"/>
                </a:solidFill>
                <a:latin typeface="Arial"/>
              </a:rPr>
              <a:t>Metacritic = critiques occidentales</a:t>
            </a:r>
          </a:p>
        </p:txBody>
      </p:sp>
      <p:pic>
        <p:nvPicPr>
          <p:cNvPr id="14" name="o13"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5" name="barre_fantome" descr="image.gif"/>
          <p:cNvPicPr>
            <a:picLocks noChangeAspect="1"/>
          </p:cNvPicPr>
          <p:nvPr/>
        </p:nvPicPr>
        <p:blipFill>
          <a:blip r:embed="rId10"/>
          <a:stretch>
            <a:fillRect/>
          </a:stretch>
        </p:blipFill>
        <p:spPr>
          <a:xfrm>
            <a:off x="8392956" y="6291072"/>
            <a:ext cx="310896" cy="310896"/>
          </a:xfrm>
          <a:prstGeom prst="rect">
            <a:avLst/>
          </a:prstGeom>
        </p:spPr>
      </p:pic>
      <p:pic>
        <p:nvPicPr>
          <p:cNvPr id="16" name="barre_pacman" descr="image.gif"/>
          <p:cNvPicPr>
            <a:picLocks noChangeAspect="1"/>
          </p:cNvPicPr>
          <p:nvPr/>
        </p:nvPicPr>
        <p:blipFill>
          <a:blip r:embed="rId11"/>
          <a:stretch>
            <a:fillRect/>
          </a:stretch>
        </p:blipFill>
        <p:spPr>
          <a:xfrm>
            <a:off x="8959884" y="6291072"/>
            <a:ext cx="310896" cy="310896"/>
          </a:xfrm>
          <a:prstGeom prst="rect">
            <a:avLst/>
          </a:prstGeom>
        </p:spPr>
      </p:pic>
      <p:sp>
        <p:nvSpPr>
          <p:cNvPr id="1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630359151"/>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6"/>
                                        </p:tgtEl>
                                        <p:attrNameLst>
                                          <p:attrName>ppt_x</p:attrName>
                                          <p:attrName>ppt_y</p:attrName>
                                        </p:attrNameLst>
                                      </p:cBhvr>
                                    </p:animMotion>
                                  </p:childTnLst>
                                </p:cTn>
                              </p:par>
                              <p:par>
                                <p:cTn id="9" presetID="1" presetClass="exit" presetSubtype="0" fill="hold" nodeType="withEffect">
                                  <p:stCondLst>
                                    <p:cond delay="467"/>
                                  </p:stCondLst>
                                  <p:childTnLst>
                                    <p:set>
                                      <p:cBhvr>
                                        <p:cTn id="10" dur="1" fill="hold">
                                          <p:stCondLst>
                                            <p:cond delay="0"/>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14-1.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5"/>
          <p:cNvPicPr>
            <a:picLocks noChangeAspect="1"/>
          </p:cNvPicPr>
          <p:nvPr/>
        </p:nvPicPr>
        <p:blipFill>
          <a:blip r:embed="rId4"/>
          <a:stretch>
            <a:fillRect/>
          </a:stretch>
        </p:blipFill>
        <p:spPr>
          <a:xfrm>
            <a:off x="5263743" y="1828800"/>
            <a:ext cx="1664208" cy="237744"/>
          </a:xfrm>
          <a:prstGeom prst="rect">
            <a:avLst/>
          </a:prstGeom>
        </p:spPr>
      </p:pic>
      <p:pic>
        <p:nvPicPr>
          <p:cNvPr id="14" name="o13" descr="BOSS"/>
          <p:cNvPicPr>
            <a:picLocks noChangeAspect="1"/>
          </p:cNvPicPr>
          <p:nvPr/>
        </p:nvPicPr>
        <p:blipFill>
          <a:blip r:embed="rId5"/>
          <a:stretch>
            <a:fillRect/>
          </a:stretch>
        </p:blipFill>
        <p:spPr>
          <a:xfrm>
            <a:off x="5071719" y="2331720"/>
            <a:ext cx="2048256"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Le Market Power Index, version 2</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gif"/>
          <p:cNvPicPr>
            <a:picLocks noChangeAspect="1"/>
          </p:cNvPicPr>
          <p:nvPr/>
        </p:nvPicPr>
        <p:blipFill>
          <a:blip r:embed="rId9"/>
          <a:stretch>
            <a:fillRect/>
          </a:stretch>
        </p:blipFill>
        <p:spPr>
          <a:xfrm>
            <a:off x="8659862" y="6291072"/>
            <a:ext cx="310896" cy="310896"/>
          </a:xfrm>
          <a:prstGeom prst="rect">
            <a:avLst/>
          </a:prstGeom>
        </p:spPr>
      </p:pic>
      <p:pic>
        <p:nvPicPr>
          <p:cNvPr id="41" name="barre_pacman" descr="image.gif"/>
          <p:cNvPicPr>
            <a:picLocks noChangeAspect="1"/>
          </p:cNvPicPr>
          <p:nvPr/>
        </p:nvPicPr>
        <p:blipFill>
          <a:blip r:embed="rId10"/>
          <a:stretch>
            <a:fillRect/>
          </a:stretch>
        </p:blipFill>
        <p:spPr>
          <a:xfrm>
            <a:off x="9226790" y="6291072"/>
            <a:ext cx="310896" cy="310896"/>
          </a:xfrm>
          <a:prstGeom prst="rect">
            <a:avLst/>
          </a:prstGeom>
        </p:spPr>
      </p:pic>
      <p:sp>
        <p:nvSpPr>
          <p:cNvPr id="4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333394331"/>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337"/>
                                  </p:stCondLst>
                                  <p:childTnLst>
                                    <p:set>
                                      <p:cBhvr>
                                        <p:cTn id="10" dur="1" fill="hold">
                                          <p:stCondLst>
                                            <p:cond delay="0"/>
                                          </p:stCondLst>
                                        </p:cTn>
                                        <p:tgtEl>
                                          <p:spTgt spid="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5 → MARKET POWER INDEX"/>
          <p:cNvPicPr>
            <a:picLocks noChangeAspect="1"/>
          </p:cNvPicPr>
          <p:nvPr/>
        </p:nvPicPr>
        <p:blipFill>
          <a:blip r:embed="rId3"/>
          <a:stretch>
            <a:fillRect/>
          </a:stretch>
        </p:blipFill>
        <p:spPr>
          <a:xfrm>
            <a:off x="548640" y="411480"/>
            <a:ext cx="4096512" cy="146304"/>
          </a:xfrm>
          <a:prstGeom prst="rect">
            <a:avLst/>
          </a:prstGeom>
        </p:spPr>
      </p:pic>
      <p:pic>
        <p:nvPicPr>
          <p:cNvPr id="3" name="o2" descr="La qualité reclasse les éditeurs"/>
          <p:cNvPicPr>
            <a:picLocks noChangeAspect="1"/>
          </p:cNvPicPr>
          <p:nvPr/>
        </p:nvPicPr>
        <p:blipFill>
          <a:blip r:embed="rId4"/>
          <a:stretch>
            <a:fillRect/>
          </a:stretch>
        </p:blipFill>
        <p:spPr>
          <a:xfrm>
            <a:off x="548640" y="777240"/>
            <a:ext cx="8778240" cy="274320"/>
          </a:xfrm>
          <a:prstGeom prst="rect">
            <a:avLst/>
          </a:prstGeom>
        </p:spPr>
      </p:pic>
      <p:pic>
        <p:nvPicPr>
          <p:cNvPr id="4" name="o3" descr="image-14-1.png"/>
          <p:cNvPicPr>
            <a:picLocks noChangeAspect="1"/>
          </p:cNvPicPr>
          <p:nvPr/>
        </p:nvPicPr>
        <p:blipFill>
          <a:blip r:embed="rId5"/>
          <a:stretch>
            <a:fillRect/>
          </a:stretch>
        </p:blipFill>
        <p:spPr>
          <a:xfrm>
            <a:off x="11073384" y="365760"/>
            <a:ext cx="566928" cy="566928"/>
          </a:xfrm>
          <a:prstGeom prst="rect">
            <a:avLst/>
          </a:prstGeom>
        </p:spPr>
      </p:pic>
      <p:pic>
        <p:nvPicPr>
          <p:cNvPr id="5" name="o4" descr="RANG"/>
          <p:cNvPicPr>
            <a:picLocks noChangeAspect="1"/>
          </p:cNvPicPr>
          <p:nvPr/>
        </p:nvPicPr>
        <p:blipFill>
          <a:blip r:embed="rId6"/>
          <a:stretch>
            <a:fillRect/>
          </a:stretch>
        </p:blipFill>
        <p:spPr>
          <a:xfrm>
            <a:off x="548640" y="1572768"/>
            <a:ext cx="475488" cy="118872"/>
          </a:xfrm>
          <a:prstGeom prst="rect">
            <a:avLst/>
          </a:prstGeom>
        </p:spPr>
      </p:pic>
      <p:pic>
        <p:nvPicPr>
          <p:cNvPr id="6" name="o5" descr="AVANT"/>
          <p:cNvPicPr>
            <a:picLocks noChangeAspect="1"/>
          </p:cNvPicPr>
          <p:nvPr/>
        </p:nvPicPr>
        <p:blipFill>
          <a:blip r:embed="rId7"/>
          <a:stretch>
            <a:fillRect/>
          </a:stretch>
        </p:blipFill>
        <p:spPr>
          <a:xfrm>
            <a:off x="4983480" y="1572768"/>
            <a:ext cx="594360" cy="118872"/>
          </a:xfrm>
          <a:prstGeom prst="rect">
            <a:avLst/>
          </a:prstGeom>
        </p:spPr>
      </p:pic>
      <p:pic>
        <p:nvPicPr>
          <p:cNvPr id="7" name="o6" descr="QUALITE"/>
          <p:cNvPicPr>
            <a:picLocks noChangeAspect="1"/>
          </p:cNvPicPr>
          <p:nvPr/>
        </p:nvPicPr>
        <p:blipFill>
          <a:blip r:embed="rId8"/>
          <a:stretch>
            <a:fillRect/>
          </a:stretch>
        </p:blipFill>
        <p:spPr>
          <a:xfrm>
            <a:off x="6263640" y="1572768"/>
            <a:ext cx="832104" cy="118872"/>
          </a:xfrm>
          <a:prstGeom prst="rect">
            <a:avLst/>
          </a:prstGeom>
        </p:spPr>
      </p:pic>
      <p:pic>
        <p:nvPicPr>
          <p:cNvPr id="8" name="o7" descr=" 1"/>
          <p:cNvPicPr>
            <a:picLocks noChangeAspect="1"/>
          </p:cNvPicPr>
          <p:nvPr/>
        </p:nvPicPr>
        <p:blipFill>
          <a:blip r:embed="rId9"/>
          <a:stretch>
            <a:fillRect/>
          </a:stretch>
        </p:blipFill>
        <p:spPr>
          <a:xfrm>
            <a:off x="548640" y="1920239"/>
            <a:ext cx="365760" cy="182880"/>
          </a:xfrm>
          <a:prstGeom prst="rect">
            <a:avLst/>
          </a:prstGeom>
        </p:spPr>
      </p:pic>
      <p:sp>
        <p:nvSpPr>
          <p:cNvPr id="9" name="o8"/>
          <p:cNvSpPr txBox="1"/>
          <p:nvPr/>
        </p:nvSpPr>
        <p:spPr>
          <a:xfrm>
            <a:off x="1097280" y="1874519"/>
            <a:ext cx="3017520" cy="292608"/>
          </a:xfrm>
          <a:prstGeom prst="rect">
            <a:avLst/>
          </a:prstGeom>
          <a:noFill/>
        </p:spPr>
        <p:txBody>
          <a:bodyPr wrap="square" lIns="0" tIns="0" rIns="0" bIns="0" anchor="t">
            <a:spAutoFit/>
          </a:bodyPr>
          <a:lstStyle/>
          <a:p>
            <a:pPr algn="l"/>
            <a:r>
              <a:rPr sz="1500" b="1" i="0">
                <a:solidFill>
                  <a:srgbClr val="FFE600"/>
                </a:solidFill>
                <a:latin typeface="Arial"/>
              </a:rPr>
              <a:t>Nintendo</a:t>
            </a:r>
          </a:p>
        </p:txBody>
      </p:sp>
      <p:pic>
        <p:nvPicPr>
          <p:cNvPr id="10" name="o9" descr="="/>
          <p:cNvPicPr>
            <a:picLocks noChangeAspect="1"/>
          </p:cNvPicPr>
          <p:nvPr/>
        </p:nvPicPr>
        <p:blipFill>
          <a:blip r:embed="rId10"/>
          <a:stretch>
            <a:fillRect/>
          </a:stretch>
        </p:blipFill>
        <p:spPr>
          <a:xfrm>
            <a:off x="4114800" y="1929384"/>
            <a:ext cx="164592" cy="164592"/>
          </a:xfrm>
          <a:prstGeom prst="rect">
            <a:avLst/>
          </a:prstGeom>
        </p:spPr>
      </p:pic>
      <p:sp>
        <p:nvSpPr>
          <p:cNvPr id="11" name="o10"/>
          <p:cNvSpPr txBox="1"/>
          <p:nvPr/>
        </p:nvSpPr>
        <p:spPr>
          <a:xfrm>
            <a:off x="4983480" y="1874519"/>
            <a:ext cx="731520" cy="292608"/>
          </a:xfrm>
          <a:prstGeom prst="rect">
            <a:avLst/>
          </a:prstGeom>
          <a:noFill/>
        </p:spPr>
        <p:txBody>
          <a:bodyPr wrap="square" lIns="0" tIns="0" rIns="0" bIns="0" anchor="t">
            <a:spAutoFit/>
          </a:bodyPr>
          <a:lstStyle/>
          <a:p>
            <a:pPr algn="l"/>
            <a:r>
              <a:rPr sz="1400" b="0" i="0">
                <a:solidFill>
                  <a:srgbClr val="7C7CAA"/>
                </a:solidFill>
                <a:latin typeface="Arial"/>
              </a:rPr>
              <a:t>1e</a:t>
            </a:r>
          </a:p>
        </p:txBody>
      </p:sp>
      <p:sp>
        <p:nvSpPr>
          <p:cNvPr id="12" name="o11"/>
          <p:cNvSpPr txBox="1"/>
          <p:nvPr/>
        </p:nvSpPr>
        <p:spPr>
          <a:xfrm>
            <a:off x="6263640" y="1874519"/>
            <a:ext cx="822960" cy="292608"/>
          </a:xfrm>
          <a:prstGeom prst="rect">
            <a:avLst/>
          </a:prstGeom>
          <a:noFill/>
        </p:spPr>
        <p:txBody>
          <a:bodyPr wrap="square" lIns="0" tIns="0" rIns="0" bIns="0" anchor="t">
            <a:spAutoFit/>
          </a:bodyPr>
          <a:lstStyle/>
          <a:p>
            <a:pPr algn="l"/>
            <a:r>
              <a:rPr sz="1400" b="0" i="0">
                <a:solidFill>
                  <a:srgbClr val="C4C4E4"/>
                </a:solidFill>
                <a:latin typeface="Arial"/>
              </a:rPr>
              <a:t>79,9</a:t>
            </a:r>
          </a:p>
        </p:txBody>
      </p:sp>
      <p:pic>
        <p:nvPicPr>
          <p:cNvPr id="13" name="o12" descr=" 2"/>
          <p:cNvPicPr>
            <a:picLocks noChangeAspect="1"/>
          </p:cNvPicPr>
          <p:nvPr/>
        </p:nvPicPr>
        <p:blipFill>
          <a:blip r:embed="rId11"/>
          <a:stretch>
            <a:fillRect/>
          </a:stretch>
        </p:blipFill>
        <p:spPr>
          <a:xfrm>
            <a:off x="548640" y="2304287"/>
            <a:ext cx="365760" cy="182880"/>
          </a:xfrm>
          <a:prstGeom prst="rect">
            <a:avLst/>
          </a:prstGeom>
        </p:spPr>
      </p:pic>
      <p:sp>
        <p:nvSpPr>
          <p:cNvPr id="14" name="o13"/>
          <p:cNvSpPr txBox="1"/>
          <p:nvPr/>
        </p:nvSpPr>
        <p:spPr>
          <a:xfrm>
            <a:off x="1097280" y="2258568"/>
            <a:ext cx="3017520" cy="292608"/>
          </a:xfrm>
          <a:prstGeom prst="rect">
            <a:avLst/>
          </a:prstGeom>
          <a:noFill/>
        </p:spPr>
        <p:txBody>
          <a:bodyPr wrap="square" lIns="0" tIns="0" rIns="0" bIns="0" anchor="t">
            <a:spAutoFit/>
          </a:bodyPr>
          <a:lstStyle/>
          <a:p>
            <a:pPr algn="l"/>
            <a:r>
              <a:rPr sz="1500" b="1" i="0">
                <a:solidFill>
                  <a:srgbClr val="FFE600"/>
                </a:solidFill>
                <a:latin typeface="Arial"/>
              </a:rPr>
              <a:t>Electronic Arts</a:t>
            </a:r>
          </a:p>
        </p:txBody>
      </p:sp>
      <p:pic>
        <p:nvPicPr>
          <p:cNvPr id="15" name="o14" descr="="/>
          <p:cNvPicPr>
            <a:picLocks noChangeAspect="1"/>
          </p:cNvPicPr>
          <p:nvPr/>
        </p:nvPicPr>
        <p:blipFill>
          <a:blip r:embed="rId10"/>
          <a:stretch>
            <a:fillRect/>
          </a:stretch>
        </p:blipFill>
        <p:spPr>
          <a:xfrm>
            <a:off x="4114800" y="2313432"/>
            <a:ext cx="164592" cy="164592"/>
          </a:xfrm>
          <a:prstGeom prst="rect">
            <a:avLst/>
          </a:prstGeom>
        </p:spPr>
      </p:pic>
      <p:sp>
        <p:nvSpPr>
          <p:cNvPr id="16" name="o15"/>
          <p:cNvSpPr txBox="1"/>
          <p:nvPr/>
        </p:nvSpPr>
        <p:spPr>
          <a:xfrm>
            <a:off x="4983480" y="2258568"/>
            <a:ext cx="731520" cy="292608"/>
          </a:xfrm>
          <a:prstGeom prst="rect">
            <a:avLst/>
          </a:prstGeom>
          <a:noFill/>
        </p:spPr>
        <p:txBody>
          <a:bodyPr wrap="square" lIns="0" tIns="0" rIns="0" bIns="0" anchor="t">
            <a:spAutoFit/>
          </a:bodyPr>
          <a:lstStyle/>
          <a:p>
            <a:pPr algn="l"/>
            <a:r>
              <a:rPr sz="1400" b="0" i="0">
                <a:solidFill>
                  <a:srgbClr val="7C7CAA"/>
                </a:solidFill>
                <a:latin typeface="Arial"/>
              </a:rPr>
              <a:t>2e</a:t>
            </a:r>
          </a:p>
        </p:txBody>
      </p:sp>
      <p:sp>
        <p:nvSpPr>
          <p:cNvPr id="17" name="o16"/>
          <p:cNvSpPr txBox="1"/>
          <p:nvPr/>
        </p:nvSpPr>
        <p:spPr>
          <a:xfrm>
            <a:off x="6263640" y="2258568"/>
            <a:ext cx="822960" cy="292608"/>
          </a:xfrm>
          <a:prstGeom prst="rect">
            <a:avLst/>
          </a:prstGeom>
          <a:noFill/>
        </p:spPr>
        <p:txBody>
          <a:bodyPr wrap="square" lIns="0" tIns="0" rIns="0" bIns="0" anchor="t">
            <a:spAutoFit/>
          </a:bodyPr>
          <a:lstStyle/>
          <a:p>
            <a:pPr algn="l"/>
            <a:r>
              <a:rPr sz="1400" b="0" i="0">
                <a:solidFill>
                  <a:srgbClr val="C4C4E4"/>
                </a:solidFill>
                <a:latin typeface="Arial"/>
              </a:rPr>
              <a:t>79,2</a:t>
            </a:r>
          </a:p>
        </p:txBody>
      </p:sp>
      <p:pic>
        <p:nvPicPr>
          <p:cNvPr id="18" name="o17" descr=" 3"/>
          <p:cNvPicPr>
            <a:picLocks noChangeAspect="1"/>
          </p:cNvPicPr>
          <p:nvPr/>
        </p:nvPicPr>
        <p:blipFill>
          <a:blip r:embed="rId12"/>
          <a:stretch>
            <a:fillRect/>
          </a:stretch>
        </p:blipFill>
        <p:spPr>
          <a:xfrm>
            <a:off x="548640" y="2688335"/>
            <a:ext cx="365760" cy="182880"/>
          </a:xfrm>
          <a:prstGeom prst="rect">
            <a:avLst/>
          </a:prstGeom>
        </p:spPr>
      </p:pic>
      <p:sp>
        <p:nvSpPr>
          <p:cNvPr id="19" name="o18"/>
          <p:cNvSpPr txBox="1"/>
          <p:nvPr/>
        </p:nvSpPr>
        <p:spPr>
          <a:xfrm>
            <a:off x="1097280" y="2642615"/>
            <a:ext cx="3017520" cy="292608"/>
          </a:xfrm>
          <a:prstGeom prst="rect">
            <a:avLst/>
          </a:prstGeom>
          <a:noFill/>
        </p:spPr>
        <p:txBody>
          <a:bodyPr wrap="square" lIns="0" tIns="0" rIns="0" bIns="0" anchor="t">
            <a:spAutoFit/>
          </a:bodyPr>
          <a:lstStyle/>
          <a:p>
            <a:pPr algn="l"/>
            <a:r>
              <a:rPr sz="1500" b="1" i="0">
                <a:solidFill>
                  <a:srgbClr val="FFE600"/>
                </a:solidFill>
                <a:latin typeface="Arial"/>
              </a:rPr>
              <a:t>Sony</a:t>
            </a:r>
          </a:p>
        </p:txBody>
      </p:sp>
      <p:pic>
        <p:nvPicPr>
          <p:cNvPr id="20" name="o19" descr="="/>
          <p:cNvPicPr>
            <a:picLocks noChangeAspect="1"/>
          </p:cNvPicPr>
          <p:nvPr/>
        </p:nvPicPr>
        <p:blipFill>
          <a:blip r:embed="rId10"/>
          <a:stretch>
            <a:fillRect/>
          </a:stretch>
        </p:blipFill>
        <p:spPr>
          <a:xfrm>
            <a:off x="4114800" y="2697479"/>
            <a:ext cx="164592" cy="164592"/>
          </a:xfrm>
          <a:prstGeom prst="rect">
            <a:avLst/>
          </a:prstGeom>
        </p:spPr>
      </p:pic>
      <p:sp>
        <p:nvSpPr>
          <p:cNvPr id="21" name="o20"/>
          <p:cNvSpPr txBox="1"/>
          <p:nvPr/>
        </p:nvSpPr>
        <p:spPr>
          <a:xfrm>
            <a:off x="4983480" y="2642615"/>
            <a:ext cx="731520" cy="292608"/>
          </a:xfrm>
          <a:prstGeom prst="rect">
            <a:avLst/>
          </a:prstGeom>
          <a:noFill/>
        </p:spPr>
        <p:txBody>
          <a:bodyPr wrap="square" lIns="0" tIns="0" rIns="0" bIns="0" anchor="t">
            <a:spAutoFit/>
          </a:bodyPr>
          <a:lstStyle/>
          <a:p>
            <a:pPr algn="l"/>
            <a:r>
              <a:rPr sz="1400" b="0" i="0">
                <a:solidFill>
                  <a:srgbClr val="7C7CAA"/>
                </a:solidFill>
                <a:latin typeface="Arial"/>
              </a:rPr>
              <a:t>3e</a:t>
            </a:r>
          </a:p>
        </p:txBody>
      </p:sp>
      <p:sp>
        <p:nvSpPr>
          <p:cNvPr id="22" name="o21"/>
          <p:cNvSpPr txBox="1"/>
          <p:nvPr/>
        </p:nvSpPr>
        <p:spPr>
          <a:xfrm>
            <a:off x="6263640" y="2642615"/>
            <a:ext cx="822960" cy="292608"/>
          </a:xfrm>
          <a:prstGeom prst="rect">
            <a:avLst/>
          </a:prstGeom>
          <a:noFill/>
        </p:spPr>
        <p:txBody>
          <a:bodyPr wrap="square" lIns="0" tIns="0" rIns="0" bIns="0" anchor="t">
            <a:spAutoFit/>
          </a:bodyPr>
          <a:lstStyle/>
          <a:p>
            <a:pPr algn="l"/>
            <a:r>
              <a:rPr sz="1400" b="0" i="0">
                <a:solidFill>
                  <a:srgbClr val="C4C4E4"/>
                </a:solidFill>
                <a:latin typeface="Arial"/>
              </a:rPr>
              <a:t>83,5</a:t>
            </a:r>
          </a:p>
        </p:txBody>
      </p:sp>
      <p:pic>
        <p:nvPicPr>
          <p:cNvPr id="23" name="o22" descr=" 4"/>
          <p:cNvPicPr>
            <a:picLocks noChangeAspect="1"/>
          </p:cNvPicPr>
          <p:nvPr/>
        </p:nvPicPr>
        <p:blipFill>
          <a:blip r:embed="rId13"/>
          <a:stretch>
            <a:fillRect/>
          </a:stretch>
        </p:blipFill>
        <p:spPr>
          <a:xfrm>
            <a:off x="548640" y="3072383"/>
            <a:ext cx="365760" cy="182880"/>
          </a:xfrm>
          <a:prstGeom prst="rect">
            <a:avLst/>
          </a:prstGeom>
        </p:spPr>
      </p:pic>
      <p:sp>
        <p:nvSpPr>
          <p:cNvPr id="24" name="o23"/>
          <p:cNvSpPr txBox="1"/>
          <p:nvPr/>
        </p:nvSpPr>
        <p:spPr>
          <a:xfrm>
            <a:off x="1097280" y="3026663"/>
            <a:ext cx="3017520" cy="292608"/>
          </a:xfrm>
          <a:prstGeom prst="rect">
            <a:avLst/>
          </a:prstGeom>
          <a:noFill/>
        </p:spPr>
        <p:txBody>
          <a:bodyPr wrap="square" lIns="0" tIns="0" rIns="0" bIns="0" anchor="t">
            <a:spAutoFit/>
          </a:bodyPr>
          <a:lstStyle/>
          <a:p>
            <a:pPr algn="l"/>
            <a:r>
              <a:rPr sz="1500" b="0" i="0">
                <a:solidFill>
                  <a:srgbClr val="FFFFFF"/>
                </a:solidFill>
                <a:latin typeface="Arial"/>
              </a:rPr>
              <a:t>Activision</a:t>
            </a:r>
          </a:p>
        </p:txBody>
      </p:sp>
      <p:pic>
        <p:nvPicPr>
          <p:cNvPr id="25" name="o24" descr="="/>
          <p:cNvPicPr>
            <a:picLocks noChangeAspect="1"/>
          </p:cNvPicPr>
          <p:nvPr/>
        </p:nvPicPr>
        <p:blipFill>
          <a:blip r:embed="rId10"/>
          <a:stretch>
            <a:fillRect/>
          </a:stretch>
        </p:blipFill>
        <p:spPr>
          <a:xfrm>
            <a:off x="4114800" y="3081527"/>
            <a:ext cx="164592" cy="164592"/>
          </a:xfrm>
          <a:prstGeom prst="rect">
            <a:avLst/>
          </a:prstGeom>
        </p:spPr>
      </p:pic>
      <p:sp>
        <p:nvSpPr>
          <p:cNvPr id="26" name="o25"/>
          <p:cNvSpPr txBox="1"/>
          <p:nvPr/>
        </p:nvSpPr>
        <p:spPr>
          <a:xfrm>
            <a:off x="4983480" y="3026663"/>
            <a:ext cx="731520" cy="292608"/>
          </a:xfrm>
          <a:prstGeom prst="rect">
            <a:avLst/>
          </a:prstGeom>
          <a:noFill/>
        </p:spPr>
        <p:txBody>
          <a:bodyPr wrap="square" lIns="0" tIns="0" rIns="0" bIns="0" anchor="t">
            <a:spAutoFit/>
          </a:bodyPr>
          <a:lstStyle/>
          <a:p>
            <a:pPr algn="l"/>
            <a:r>
              <a:rPr sz="1400" b="0" i="0">
                <a:solidFill>
                  <a:srgbClr val="7C7CAA"/>
                </a:solidFill>
                <a:latin typeface="Arial"/>
              </a:rPr>
              <a:t>4e</a:t>
            </a:r>
          </a:p>
        </p:txBody>
      </p:sp>
      <p:sp>
        <p:nvSpPr>
          <p:cNvPr id="27" name="o26"/>
          <p:cNvSpPr txBox="1"/>
          <p:nvPr/>
        </p:nvSpPr>
        <p:spPr>
          <a:xfrm>
            <a:off x="6263640" y="3026663"/>
            <a:ext cx="822960" cy="292608"/>
          </a:xfrm>
          <a:prstGeom prst="rect">
            <a:avLst/>
          </a:prstGeom>
          <a:noFill/>
        </p:spPr>
        <p:txBody>
          <a:bodyPr wrap="square" lIns="0" tIns="0" rIns="0" bIns="0" anchor="t">
            <a:spAutoFit/>
          </a:bodyPr>
          <a:lstStyle/>
          <a:p>
            <a:pPr algn="l"/>
            <a:r>
              <a:rPr sz="1400" b="0" i="0">
                <a:solidFill>
                  <a:srgbClr val="C4C4E4"/>
                </a:solidFill>
                <a:latin typeface="Arial"/>
              </a:rPr>
              <a:t>79,9</a:t>
            </a:r>
          </a:p>
        </p:txBody>
      </p:sp>
      <p:pic>
        <p:nvPicPr>
          <p:cNvPr id="28" name="o27" descr=" 5"/>
          <p:cNvPicPr>
            <a:picLocks noChangeAspect="1"/>
          </p:cNvPicPr>
          <p:nvPr/>
        </p:nvPicPr>
        <p:blipFill>
          <a:blip r:embed="rId14"/>
          <a:stretch>
            <a:fillRect/>
          </a:stretch>
        </p:blipFill>
        <p:spPr>
          <a:xfrm>
            <a:off x="548640" y="3456431"/>
            <a:ext cx="365760" cy="182880"/>
          </a:xfrm>
          <a:prstGeom prst="rect">
            <a:avLst/>
          </a:prstGeom>
        </p:spPr>
      </p:pic>
      <p:sp>
        <p:nvSpPr>
          <p:cNvPr id="29" name="o28"/>
          <p:cNvSpPr txBox="1"/>
          <p:nvPr/>
        </p:nvSpPr>
        <p:spPr>
          <a:xfrm>
            <a:off x="1097280" y="3410711"/>
            <a:ext cx="3017520" cy="292608"/>
          </a:xfrm>
          <a:prstGeom prst="rect">
            <a:avLst/>
          </a:prstGeom>
          <a:noFill/>
        </p:spPr>
        <p:txBody>
          <a:bodyPr wrap="square" lIns="0" tIns="0" rIns="0" bIns="0" anchor="t">
            <a:spAutoFit/>
          </a:bodyPr>
          <a:lstStyle/>
          <a:p>
            <a:pPr algn="l"/>
            <a:r>
              <a:rPr sz="1500" b="0" i="0">
                <a:solidFill>
                  <a:srgbClr val="FFFFFF"/>
                </a:solidFill>
                <a:latin typeface="Arial"/>
              </a:rPr>
              <a:t>Take-Two</a:t>
            </a:r>
          </a:p>
        </p:txBody>
      </p:sp>
      <p:pic>
        <p:nvPicPr>
          <p:cNvPr id="30" name="o29" descr="▲1"/>
          <p:cNvPicPr>
            <a:picLocks noChangeAspect="1"/>
          </p:cNvPicPr>
          <p:nvPr/>
        </p:nvPicPr>
        <p:blipFill>
          <a:blip r:embed="rId15"/>
          <a:stretch>
            <a:fillRect/>
          </a:stretch>
        </p:blipFill>
        <p:spPr>
          <a:xfrm>
            <a:off x="4114800" y="3465575"/>
            <a:ext cx="329184" cy="164592"/>
          </a:xfrm>
          <a:prstGeom prst="rect">
            <a:avLst/>
          </a:prstGeom>
        </p:spPr>
      </p:pic>
      <p:sp>
        <p:nvSpPr>
          <p:cNvPr id="31" name="o30"/>
          <p:cNvSpPr txBox="1"/>
          <p:nvPr/>
        </p:nvSpPr>
        <p:spPr>
          <a:xfrm>
            <a:off x="4983480" y="3410711"/>
            <a:ext cx="731520" cy="292608"/>
          </a:xfrm>
          <a:prstGeom prst="rect">
            <a:avLst/>
          </a:prstGeom>
          <a:noFill/>
        </p:spPr>
        <p:txBody>
          <a:bodyPr wrap="square" lIns="0" tIns="0" rIns="0" bIns="0" anchor="t">
            <a:spAutoFit/>
          </a:bodyPr>
          <a:lstStyle/>
          <a:p>
            <a:pPr algn="l"/>
            <a:r>
              <a:rPr sz="1400" b="0" i="0">
                <a:solidFill>
                  <a:srgbClr val="7C7CAA"/>
                </a:solidFill>
                <a:latin typeface="Arial"/>
              </a:rPr>
              <a:t>6e</a:t>
            </a:r>
          </a:p>
        </p:txBody>
      </p:sp>
      <p:sp>
        <p:nvSpPr>
          <p:cNvPr id="32" name="o31"/>
          <p:cNvSpPr txBox="1"/>
          <p:nvPr/>
        </p:nvSpPr>
        <p:spPr>
          <a:xfrm>
            <a:off x="6263640" y="3410711"/>
            <a:ext cx="822960" cy="292608"/>
          </a:xfrm>
          <a:prstGeom prst="rect">
            <a:avLst/>
          </a:prstGeom>
          <a:noFill/>
        </p:spPr>
        <p:txBody>
          <a:bodyPr wrap="square" lIns="0" tIns="0" rIns="0" bIns="0" anchor="t">
            <a:spAutoFit/>
          </a:bodyPr>
          <a:lstStyle/>
          <a:p>
            <a:pPr algn="l"/>
            <a:r>
              <a:rPr sz="1400" b="0" i="0">
                <a:solidFill>
                  <a:srgbClr val="C4C4E4"/>
                </a:solidFill>
                <a:latin typeface="Arial"/>
              </a:rPr>
              <a:t>86,5</a:t>
            </a:r>
          </a:p>
        </p:txBody>
      </p:sp>
      <p:pic>
        <p:nvPicPr>
          <p:cNvPr id="33" name="o32" descr=" 6"/>
          <p:cNvPicPr>
            <a:picLocks noChangeAspect="1"/>
          </p:cNvPicPr>
          <p:nvPr/>
        </p:nvPicPr>
        <p:blipFill>
          <a:blip r:embed="rId16"/>
          <a:stretch>
            <a:fillRect/>
          </a:stretch>
        </p:blipFill>
        <p:spPr>
          <a:xfrm>
            <a:off x="548640" y="3840480"/>
            <a:ext cx="365760" cy="182880"/>
          </a:xfrm>
          <a:prstGeom prst="rect">
            <a:avLst/>
          </a:prstGeom>
        </p:spPr>
      </p:pic>
      <p:sp>
        <p:nvSpPr>
          <p:cNvPr id="34" name="o33"/>
          <p:cNvSpPr txBox="1"/>
          <p:nvPr/>
        </p:nvSpPr>
        <p:spPr>
          <a:xfrm>
            <a:off x="1097280" y="3794760"/>
            <a:ext cx="3017520" cy="292608"/>
          </a:xfrm>
          <a:prstGeom prst="rect">
            <a:avLst/>
          </a:prstGeom>
          <a:noFill/>
        </p:spPr>
        <p:txBody>
          <a:bodyPr wrap="square" lIns="0" tIns="0" rIns="0" bIns="0" anchor="t">
            <a:spAutoFit/>
          </a:bodyPr>
          <a:lstStyle/>
          <a:p>
            <a:pPr algn="l"/>
            <a:r>
              <a:rPr sz="1500" b="0" i="0">
                <a:solidFill>
                  <a:srgbClr val="FFFFFF"/>
                </a:solidFill>
                <a:latin typeface="Arial"/>
              </a:rPr>
              <a:t>Bethesda</a:t>
            </a:r>
          </a:p>
        </p:txBody>
      </p:sp>
      <p:pic>
        <p:nvPicPr>
          <p:cNvPr id="35" name="o34" descr="▲3"/>
          <p:cNvPicPr>
            <a:picLocks noChangeAspect="1"/>
          </p:cNvPicPr>
          <p:nvPr/>
        </p:nvPicPr>
        <p:blipFill>
          <a:blip r:embed="rId17"/>
          <a:stretch>
            <a:fillRect/>
          </a:stretch>
        </p:blipFill>
        <p:spPr>
          <a:xfrm>
            <a:off x="4114800" y="3849624"/>
            <a:ext cx="329184" cy="164592"/>
          </a:xfrm>
          <a:prstGeom prst="rect">
            <a:avLst/>
          </a:prstGeom>
        </p:spPr>
      </p:pic>
      <p:sp>
        <p:nvSpPr>
          <p:cNvPr id="36" name="o35"/>
          <p:cNvSpPr txBox="1"/>
          <p:nvPr/>
        </p:nvSpPr>
        <p:spPr>
          <a:xfrm>
            <a:off x="4983480" y="3794760"/>
            <a:ext cx="731520" cy="292608"/>
          </a:xfrm>
          <a:prstGeom prst="rect">
            <a:avLst/>
          </a:prstGeom>
          <a:noFill/>
        </p:spPr>
        <p:txBody>
          <a:bodyPr wrap="square" lIns="0" tIns="0" rIns="0" bIns="0" anchor="t">
            <a:spAutoFit/>
          </a:bodyPr>
          <a:lstStyle/>
          <a:p>
            <a:pPr algn="l"/>
            <a:r>
              <a:rPr sz="1400" b="0" i="0">
                <a:solidFill>
                  <a:srgbClr val="7C7CAA"/>
                </a:solidFill>
                <a:latin typeface="Arial"/>
              </a:rPr>
              <a:t>9e</a:t>
            </a:r>
          </a:p>
        </p:txBody>
      </p:sp>
      <p:sp>
        <p:nvSpPr>
          <p:cNvPr id="37" name="o36"/>
          <p:cNvSpPr txBox="1"/>
          <p:nvPr/>
        </p:nvSpPr>
        <p:spPr>
          <a:xfrm>
            <a:off x="6263640" y="3794760"/>
            <a:ext cx="822960" cy="292608"/>
          </a:xfrm>
          <a:prstGeom prst="rect">
            <a:avLst/>
          </a:prstGeom>
          <a:noFill/>
        </p:spPr>
        <p:txBody>
          <a:bodyPr wrap="square" lIns="0" tIns="0" rIns="0" bIns="0" anchor="t">
            <a:spAutoFit/>
          </a:bodyPr>
          <a:lstStyle/>
          <a:p>
            <a:pPr algn="l"/>
            <a:r>
              <a:rPr sz="1400" b="0" i="0">
                <a:solidFill>
                  <a:srgbClr val="C4C4E4"/>
                </a:solidFill>
                <a:latin typeface="Arial"/>
              </a:rPr>
              <a:t>85,7</a:t>
            </a:r>
          </a:p>
        </p:txBody>
      </p:sp>
      <p:pic>
        <p:nvPicPr>
          <p:cNvPr id="38" name="o37" descr=" 7"/>
          <p:cNvPicPr>
            <a:picLocks noChangeAspect="1"/>
          </p:cNvPicPr>
          <p:nvPr/>
        </p:nvPicPr>
        <p:blipFill>
          <a:blip r:embed="rId18"/>
          <a:stretch>
            <a:fillRect/>
          </a:stretch>
        </p:blipFill>
        <p:spPr>
          <a:xfrm>
            <a:off x="548640" y="4224528"/>
            <a:ext cx="365760" cy="182880"/>
          </a:xfrm>
          <a:prstGeom prst="rect">
            <a:avLst/>
          </a:prstGeom>
        </p:spPr>
      </p:pic>
      <p:sp>
        <p:nvSpPr>
          <p:cNvPr id="39" name="o38"/>
          <p:cNvSpPr txBox="1"/>
          <p:nvPr/>
        </p:nvSpPr>
        <p:spPr>
          <a:xfrm>
            <a:off x="1097280" y="4178808"/>
            <a:ext cx="3017520" cy="292608"/>
          </a:xfrm>
          <a:prstGeom prst="rect">
            <a:avLst/>
          </a:prstGeom>
          <a:noFill/>
        </p:spPr>
        <p:txBody>
          <a:bodyPr wrap="square" lIns="0" tIns="0" rIns="0" bIns="0" anchor="t">
            <a:spAutoFit/>
          </a:bodyPr>
          <a:lstStyle/>
          <a:p>
            <a:pPr algn="l"/>
            <a:r>
              <a:rPr sz="1500" b="0" i="0">
                <a:solidFill>
                  <a:srgbClr val="FFFFFF"/>
                </a:solidFill>
                <a:latin typeface="Arial"/>
              </a:rPr>
              <a:t>Microsoft</a:t>
            </a:r>
          </a:p>
        </p:txBody>
      </p:sp>
      <p:pic>
        <p:nvPicPr>
          <p:cNvPr id="40" name="o39" descr="▲3"/>
          <p:cNvPicPr>
            <a:picLocks noChangeAspect="1"/>
          </p:cNvPicPr>
          <p:nvPr/>
        </p:nvPicPr>
        <p:blipFill>
          <a:blip r:embed="rId17"/>
          <a:stretch>
            <a:fillRect/>
          </a:stretch>
        </p:blipFill>
        <p:spPr>
          <a:xfrm>
            <a:off x="4114800" y="4233672"/>
            <a:ext cx="329184" cy="164592"/>
          </a:xfrm>
          <a:prstGeom prst="rect">
            <a:avLst/>
          </a:prstGeom>
        </p:spPr>
      </p:pic>
      <p:sp>
        <p:nvSpPr>
          <p:cNvPr id="41" name="o40"/>
          <p:cNvSpPr txBox="1"/>
          <p:nvPr/>
        </p:nvSpPr>
        <p:spPr>
          <a:xfrm>
            <a:off x="4983480" y="4178808"/>
            <a:ext cx="731520" cy="292608"/>
          </a:xfrm>
          <a:prstGeom prst="rect">
            <a:avLst/>
          </a:prstGeom>
          <a:noFill/>
        </p:spPr>
        <p:txBody>
          <a:bodyPr wrap="square" lIns="0" tIns="0" rIns="0" bIns="0" anchor="t">
            <a:spAutoFit/>
          </a:bodyPr>
          <a:lstStyle/>
          <a:p>
            <a:pPr algn="l"/>
            <a:r>
              <a:rPr sz="1400" b="0" i="0">
                <a:solidFill>
                  <a:srgbClr val="7C7CAA"/>
                </a:solidFill>
                <a:latin typeface="Arial"/>
              </a:rPr>
              <a:t>10e</a:t>
            </a:r>
          </a:p>
        </p:txBody>
      </p:sp>
      <p:sp>
        <p:nvSpPr>
          <p:cNvPr id="42" name="o41"/>
          <p:cNvSpPr txBox="1"/>
          <p:nvPr/>
        </p:nvSpPr>
        <p:spPr>
          <a:xfrm>
            <a:off x="6263640" y="4178808"/>
            <a:ext cx="822960" cy="292608"/>
          </a:xfrm>
          <a:prstGeom prst="rect">
            <a:avLst/>
          </a:prstGeom>
          <a:noFill/>
        </p:spPr>
        <p:txBody>
          <a:bodyPr wrap="square" lIns="0" tIns="0" rIns="0" bIns="0" anchor="t">
            <a:spAutoFit/>
          </a:bodyPr>
          <a:lstStyle/>
          <a:p>
            <a:pPr algn="l"/>
            <a:r>
              <a:rPr sz="1400" b="0" i="0">
                <a:solidFill>
                  <a:srgbClr val="C4C4E4"/>
                </a:solidFill>
                <a:latin typeface="Arial"/>
              </a:rPr>
              <a:t>82,0</a:t>
            </a:r>
          </a:p>
        </p:txBody>
      </p:sp>
      <p:pic>
        <p:nvPicPr>
          <p:cNvPr id="43" name="o42" descr=" 8"/>
          <p:cNvPicPr>
            <a:picLocks noChangeAspect="1"/>
          </p:cNvPicPr>
          <p:nvPr/>
        </p:nvPicPr>
        <p:blipFill>
          <a:blip r:embed="rId19"/>
          <a:stretch>
            <a:fillRect/>
          </a:stretch>
        </p:blipFill>
        <p:spPr>
          <a:xfrm>
            <a:off x="548640" y="4608576"/>
            <a:ext cx="365760" cy="182880"/>
          </a:xfrm>
          <a:prstGeom prst="rect">
            <a:avLst/>
          </a:prstGeom>
        </p:spPr>
      </p:pic>
      <p:sp>
        <p:nvSpPr>
          <p:cNvPr id="44" name="o43"/>
          <p:cNvSpPr txBox="1"/>
          <p:nvPr/>
        </p:nvSpPr>
        <p:spPr>
          <a:xfrm>
            <a:off x="1097280" y="4562856"/>
            <a:ext cx="3017520" cy="292608"/>
          </a:xfrm>
          <a:prstGeom prst="rect">
            <a:avLst/>
          </a:prstGeom>
          <a:noFill/>
        </p:spPr>
        <p:txBody>
          <a:bodyPr wrap="square" lIns="0" tIns="0" rIns="0" bIns="0" anchor="t">
            <a:spAutoFit/>
          </a:bodyPr>
          <a:lstStyle/>
          <a:p>
            <a:pPr algn="l"/>
            <a:r>
              <a:rPr sz="1500" b="0" i="0">
                <a:solidFill>
                  <a:srgbClr val="FFFFFF"/>
                </a:solidFill>
                <a:latin typeface="Arial"/>
              </a:rPr>
              <a:t>Virgin</a:t>
            </a:r>
          </a:p>
        </p:txBody>
      </p:sp>
      <p:pic>
        <p:nvPicPr>
          <p:cNvPr id="45" name="o44" descr="▲6"/>
          <p:cNvPicPr>
            <a:picLocks noChangeAspect="1"/>
          </p:cNvPicPr>
          <p:nvPr/>
        </p:nvPicPr>
        <p:blipFill>
          <a:blip r:embed="rId20"/>
          <a:stretch>
            <a:fillRect/>
          </a:stretch>
        </p:blipFill>
        <p:spPr>
          <a:xfrm>
            <a:off x="4114800" y="4617720"/>
            <a:ext cx="329184" cy="164592"/>
          </a:xfrm>
          <a:prstGeom prst="rect">
            <a:avLst/>
          </a:prstGeom>
        </p:spPr>
      </p:pic>
      <p:sp>
        <p:nvSpPr>
          <p:cNvPr id="46" name="o45"/>
          <p:cNvSpPr txBox="1"/>
          <p:nvPr/>
        </p:nvSpPr>
        <p:spPr>
          <a:xfrm>
            <a:off x="4983480" y="4562856"/>
            <a:ext cx="731520" cy="292608"/>
          </a:xfrm>
          <a:prstGeom prst="rect">
            <a:avLst/>
          </a:prstGeom>
          <a:noFill/>
        </p:spPr>
        <p:txBody>
          <a:bodyPr wrap="square" lIns="0" tIns="0" rIns="0" bIns="0" anchor="t">
            <a:spAutoFit/>
          </a:bodyPr>
          <a:lstStyle/>
          <a:p>
            <a:pPr algn="l"/>
            <a:r>
              <a:rPr sz="1400" b="0" i="0">
                <a:solidFill>
                  <a:srgbClr val="7C7CAA"/>
                </a:solidFill>
                <a:latin typeface="Arial"/>
              </a:rPr>
              <a:t>14e</a:t>
            </a:r>
          </a:p>
        </p:txBody>
      </p:sp>
      <p:sp>
        <p:nvSpPr>
          <p:cNvPr id="47" name="o46"/>
          <p:cNvSpPr txBox="1"/>
          <p:nvPr/>
        </p:nvSpPr>
        <p:spPr>
          <a:xfrm>
            <a:off x="6263640" y="4562856"/>
            <a:ext cx="822960" cy="292608"/>
          </a:xfrm>
          <a:prstGeom prst="rect">
            <a:avLst/>
          </a:prstGeom>
          <a:noFill/>
        </p:spPr>
        <p:txBody>
          <a:bodyPr wrap="square" lIns="0" tIns="0" rIns="0" bIns="0" anchor="t">
            <a:spAutoFit/>
          </a:bodyPr>
          <a:lstStyle/>
          <a:p>
            <a:pPr algn="l"/>
            <a:r>
              <a:rPr sz="1400" b="0" i="0">
                <a:solidFill>
                  <a:srgbClr val="C4C4E4"/>
                </a:solidFill>
                <a:latin typeface="Arial"/>
              </a:rPr>
              <a:t>86,8</a:t>
            </a:r>
          </a:p>
        </p:txBody>
      </p:sp>
      <p:pic>
        <p:nvPicPr>
          <p:cNvPr id="48" name="o47" descr=" 9"/>
          <p:cNvPicPr>
            <a:picLocks noChangeAspect="1"/>
          </p:cNvPicPr>
          <p:nvPr/>
        </p:nvPicPr>
        <p:blipFill>
          <a:blip r:embed="rId21"/>
          <a:stretch>
            <a:fillRect/>
          </a:stretch>
        </p:blipFill>
        <p:spPr>
          <a:xfrm>
            <a:off x="548640" y="4992624"/>
            <a:ext cx="365760" cy="182880"/>
          </a:xfrm>
          <a:prstGeom prst="rect">
            <a:avLst/>
          </a:prstGeom>
        </p:spPr>
      </p:pic>
      <p:sp>
        <p:nvSpPr>
          <p:cNvPr id="49" name="o48"/>
          <p:cNvSpPr txBox="1"/>
          <p:nvPr/>
        </p:nvSpPr>
        <p:spPr>
          <a:xfrm>
            <a:off x="1097280" y="4946904"/>
            <a:ext cx="3017520" cy="292608"/>
          </a:xfrm>
          <a:prstGeom prst="rect">
            <a:avLst/>
          </a:prstGeom>
          <a:noFill/>
        </p:spPr>
        <p:txBody>
          <a:bodyPr wrap="square" lIns="0" tIns="0" rIns="0" bIns="0" anchor="t">
            <a:spAutoFit/>
          </a:bodyPr>
          <a:lstStyle/>
          <a:p>
            <a:pPr algn="l"/>
            <a:r>
              <a:rPr sz="1500" b="0" i="0">
                <a:solidFill>
                  <a:srgbClr val="FFFFFF"/>
                </a:solidFill>
                <a:latin typeface="Arial"/>
              </a:rPr>
              <a:t>Ubisoft</a:t>
            </a:r>
          </a:p>
        </p:txBody>
      </p:sp>
      <p:pic>
        <p:nvPicPr>
          <p:cNvPr id="50" name="o49" descr="▼1"/>
          <p:cNvPicPr>
            <a:picLocks noChangeAspect="1"/>
          </p:cNvPicPr>
          <p:nvPr/>
        </p:nvPicPr>
        <p:blipFill>
          <a:blip r:embed="rId22"/>
          <a:stretch>
            <a:fillRect/>
          </a:stretch>
        </p:blipFill>
        <p:spPr>
          <a:xfrm>
            <a:off x="4114800" y="5001768"/>
            <a:ext cx="329184" cy="164592"/>
          </a:xfrm>
          <a:prstGeom prst="rect">
            <a:avLst/>
          </a:prstGeom>
        </p:spPr>
      </p:pic>
      <p:sp>
        <p:nvSpPr>
          <p:cNvPr id="51" name="o50"/>
          <p:cNvSpPr txBox="1"/>
          <p:nvPr/>
        </p:nvSpPr>
        <p:spPr>
          <a:xfrm>
            <a:off x="4983480" y="4946904"/>
            <a:ext cx="731520" cy="292608"/>
          </a:xfrm>
          <a:prstGeom prst="rect">
            <a:avLst/>
          </a:prstGeom>
          <a:noFill/>
        </p:spPr>
        <p:txBody>
          <a:bodyPr wrap="square" lIns="0" tIns="0" rIns="0" bIns="0" anchor="t">
            <a:spAutoFit/>
          </a:bodyPr>
          <a:lstStyle/>
          <a:p>
            <a:pPr algn="l"/>
            <a:r>
              <a:rPr sz="1400" b="0" i="0">
                <a:solidFill>
                  <a:srgbClr val="7C7CAA"/>
                </a:solidFill>
                <a:latin typeface="Arial"/>
              </a:rPr>
              <a:t>8e</a:t>
            </a:r>
          </a:p>
        </p:txBody>
      </p:sp>
      <p:sp>
        <p:nvSpPr>
          <p:cNvPr id="52" name="o51"/>
          <p:cNvSpPr txBox="1"/>
          <p:nvPr/>
        </p:nvSpPr>
        <p:spPr>
          <a:xfrm>
            <a:off x="6263640" y="4946904"/>
            <a:ext cx="822960" cy="292608"/>
          </a:xfrm>
          <a:prstGeom prst="rect">
            <a:avLst/>
          </a:prstGeom>
          <a:noFill/>
        </p:spPr>
        <p:txBody>
          <a:bodyPr wrap="square" lIns="0" tIns="0" rIns="0" bIns="0" anchor="t">
            <a:spAutoFit/>
          </a:bodyPr>
          <a:lstStyle/>
          <a:p>
            <a:pPr algn="l"/>
            <a:r>
              <a:rPr sz="1400" b="0" i="0">
                <a:solidFill>
                  <a:srgbClr val="C4C4E4"/>
                </a:solidFill>
                <a:latin typeface="Arial"/>
              </a:rPr>
              <a:t>75,6</a:t>
            </a:r>
          </a:p>
        </p:txBody>
      </p:sp>
      <p:pic>
        <p:nvPicPr>
          <p:cNvPr id="53" name="o52" descr="10"/>
          <p:cNvPicPr>
            <a:picLocks noChangeAspect="1"/>
          </p:cNvPicPr>
          <p:nvPr/>
        </p:nvPicPr>
        <p:blipFill>
          <a:blip r:embed="rId23"/>
          <a:stretch>
            <a:fillRect/>
          </a:stretch>
        </p:blipFill>
        <p:spPr>
          <a:xfrm>
            <a:off x="548640" y="5376672"/>
            <a:ext cx="365760" cy="182880"/>
          </a:xfrm>
          <a:prstGeom prst="rect">
            <a:avLst/>
          </a:prstGeom>
        </p:spPr>
      </p:pic>
      <p:sp>
        <p:nvSpPr>
          <p:cNvPr id="54" name="o53"/>
          <p:cNvSpPr txBox="1"/>
          <p:nvPr/>
        </p:nvSpPr>
        <p:spPr>
          <a:xfrm>
            <a:off x="1097280" y="5330952"/>
            <a:ext cx="3017520" cy="292608"/>
          </a:xfrm>
          <a:prstGeom prst="rect">
            <a:avLst/>
          </a:prstGeom>
          <a:noFill/>
        </p:spPr>
        <p:txBody>
          <a:bodyPr wrap="square" lIns="0" tIns="0" rIns="0" bIns="0" anchor="t">
            <a:spAutoFit/>
          </a:bodyPr>
          <a:lstStyle/>
          <a:p>
            <a:pPr algn="l"/>
            <a:r>
              <a:rPr sz="1500" b="0" i="0">
                <a:solidFill>
                  <a:srgbClr val="FFFFFF"/>
                </a:solidFill>
                <a:latin typeface="Arial"/>
              </a:rPr>
              <a:t>THQ</a:t>
            </a:r>
          </a:p>
        </p:txBody>
      </p:sp>
      <p:pic>
        <p:nvPicPr>
          <p:cNvPr id="55" name="o54" descr="▼5"/>
          <p:cNvPicPr>
            <a:picLocks noChangeAspect="1"/>
          </p:cNvPicPr>
          <p:nvPr/>
        </p:nvPicPr>
        <p:blipFill>
          <a:blip r:embed="rId24"/>
          <a:stretch>
            <a:fillRect/>
          </a:stretch>
        </p:blipFill>
        <p:spPr>
          <a:xfrm>
            <a:off x="4114800" y="5385816"/>
            <a:ext cx="329184" cy="164592"/>
          </a:xfrm>
          <a:prstGeom prst="rect">
            <a:avLst/>
          </a:prstGeom>
        </p:spPr>
      </p:pic>
      <p:sp>
        <p:nvSpPr>
          <p:cNvPr id="56" name="o55"/>
          <p:cNvSpPr txBox="1"/>
          <p:nvPr/>
        </p:nvSpPr>
        <p:spPr>
          <a:xfrm>
            <a:off x="4983480" y="5330952"/>
            <a:ext cx="731520" cy="292608"/>
          </a:xfrm>
          <a:prstGeom prst="rect">
            <a:avLst/>
          </a:prstGeom>
          <a:noFill/>
        </p:spPr>
        <p:txBody>
          <a:bodyPr wrap="square" lIns="0" tIns="0" rIns="0" bIns="0" anchor="t">
            <a:spAutoFit/>
          </a:bodyPr>
          <a:lstStyle/>
          <a:p>
            <a:pPr algn="l"/>
            <a:r>
              <a:rPr sz="1400" b="0" i="0">
                <a:solidFill>
                  <a:srgbClr val="7C7CAA"/>
                </a:solidFill>
                <a:latin typeface="Arial"/>
              </a:rPr>
              <a:t>5e</a:t>
            </a:r>
          </a:p>
        </p:txBody>
      </p:sp>
      <p:sp>
        <p:nvSpPr>
          <p:cNvPr id="57" name="o56"/>
          <p:cNvSpPr txBox="1"/>
          <p:nvPr/>
        </p:nvSpPr>
        <p:spPr>
          <a:xfrm>
            <a:off x="6263640" y="5330952"/>
            <a:ext cx="822960" cy="292608"/>
          </a:xfrm>
          <a:prstGeom prst="rect">
            <a:avLst/>
          </a:prstGeom>
          <a:noFill/>
        </p:spPr>
        <p:txBody>
          <a:bodyPr wrap="square" lIns="0" tIns="0" rIns="0" bIns="0" anchor="t">
            <a:spAutoFit/>
          </a:bodyPr>
          <a:lstStyle/>
          <a:p>
            <a:pPr algn="l"/>
            <a:r>
              <a:rPr sz="1400" b="0" i="0">
                <a:solidFill>
                  <a:srgbClr val="C4C4E4"/>
                </a:solidFill>
                <a:latin typeface="Arial"/>
              </a:rPr>
              <a:t>69,7</a:t>
            </a:r>
          </a:p>
        </p:txBody>
      </p:sp>
      <p:pic>
        <p:nvPicPr>
          <p:cNvPr id="58" name="o57" descr="11"/>
          <p:cNvPicPr>
            <a:picLocks noChangeAspect="1"/>
          </p:cNvPicPr>
          <p:nvPr/>
        </p:nvPicPr>
        <p:blipFill>
          <a:blip r:embed="rId25"/>
          <a:stretch>
            <a:fillRect/>
          </a:stretch>
        </p:blipFill>
        <p:spPr>
          <a:xfrm>
            <a:off x="548640" y="5760720"/>
            <a:ext cx="365760" cy="182880"/>
          </a:xfrm>
          <a:prstGeom prst="rect">
            <a:avLst/>
          </a:prstGeom>
        </p:spPr>
      </p:pic>
      <p:sp>
        <p:nvSpPr>
          <p:cNvPr id="59" name="o58"/>
          <p:cNvSpPr txBox="1"/>
          <p:nvPr/>
        </p:nvSpPr>
        <p:spPr>
          <a:xfrm>
            <a:off x="1097280" y="5715000"/>
            <a:ext cx="3017520" cy="292608"/>
          </a:xfrm>
          <a:prstGeom prst="rect">
            <a:avLst/>
          </a:prstGeom>
          <a:noFill/>
        </p:spPr>
        <p:txBody>
          <a:bodyPr wrap="square" lIns="0" tIns="0" rIns="0" bIns="0" anchor="t">
            <a:spAutoFit/>
          </a:bodyPr>
          <a:lstStyle/>
          <a:p>
            <a:pPr algn="l"/>
            <a:r>
              <a:rPr sz="1500" b="0" i="0">
                <a:solidFill>
                  <a:srgbClr val="FFFFFF"/>
                </a:solidFill>
                <a:latin typeface="Arial"/>
              </a:rPr>
              <a:t>Sega</a:t>
            </a:r>
          </a:p>
        </p:txBody>
      </p:sp>
      <p:pic>
        <p:nvPicPr>
          <p:cNvPr id="60" name="o59" descr="▼4"/>
          <p:cNvPicPr>
            <a:picLocks noChangeAspect="1"/>
          </p:cNvPicPr>
          <p:nvPr/>
        </p:nvPicPr>
        <p:blipFill>
          <a:blip r:embed="rId26"/>
          <a:stretch>
            <a:fillRect/>
          </a:stretch>
        </p:blipFill>
        <p:spPr>
          <a:xfrm>
            <a:off x="4114800" y="5769864"/>
            <a:ext cx="329184" cy="164592"/>
          </a:xfrm>
          <a:prstGeom prst="rect">
            <a:avLst/>
          </a:prstGeom>
        </p:spPr>
      </p:pic>
      <p:sp>
        <p:nvSpPr>
          <p:cNvPr id="61" name="o60"/>
          <p:cNvSpPr txBox="1"/>
          <p:nvPr/>
        </p:nvSpPr>
        <p:spPr>
          <a:xfrm>
            <a:off x="4983480" y="5715000"/>
            <a:ext cx="731520" cy="292608"/>
          </a:xfrm>
          <a:prstGeom prst="rect">
            <a:avLst/>
          </a:prstGeom>
          <a:noFill/>
        </p:spPr>
        <p:txBody>
          <a:bodyPr wrap="square" lIns="0" tIns="0" rIns="0" bIns="0" anchor="t">
            <a:spAutoFit/>
          </a:bodyPr>
          <a:lstStyle/>
          <a:p>
            <a:pPr algn="l"/>
            <a:r>
              <a:rPr sz="1400" b="0" i="0">
                <a:solidFill>
                  <a:srgbClr val="7C7CAA"/>
                </a:solidFill>
                <a:latin typeface="Arial"/>
              </a:rPr>
              <a:t>7e</a:t>
            </a:r>
          </a:p>
        </p:txBody>
      </p:sp>
      <p:sp>
        <p:nvSpPr>
          <p:cNvPr id="62" name="o61"/>
          <p:cNvSpPr txBox="1"/>
          <p:nvPr/>
        </p:nvSpPr>
        <p:spPr>
          <a:xfrm>
            <a:off x="6263640" y="5715000"/>
            <a:ext cx="822960" cy="292608"/>
          </a:xfrm>
          <a:prstGeom prst="rect">
            <a:avLst/>
          </a:prstGeom>
          <a:noFill/>
        </p:spPr>
        <p:txBody>
          <a:bodyPr wrap="square" lIns="0" tIns="0" rIns="0" bIns="0" anchor="t">
            <a:spAutoFit/>
          </a:bodyPr>
          <a:lstStyle/>
          <a:p>
            <a:pPr algn="l"/>
            <a:r>
              <a:rPr sz="1400" b="0" i="0">
                <a:solidFill>
                  <a:srgbClr val="C4C4E4"/>
                </a:solidFill>
                <a:latin typeface="Arial"/>
              </a:rPr>
              <a:t>71,8</a:t>
            </a:r>
          </a:p>
        </p:txBody>
      </p:sp>
      <p:sp>
        <p:nvSpPr>
          <p:cNvPr id="63" name="o62"/>
          <p:cNvSpPr/>
          <p:nvPr/>
        </p:nvSpPr>
        <p:spPr>
          <a:xfrm>
            <a:off x="7589520" y="1600200"/>
            <a:ext cx="4050791" cy="4434840"/>
          </a:xfrm>
          <a:prstGeom prst="roundRect">
            <a:avLst>
              <a:gd name="adj" fmla="val 3160"/>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o63"/>
          <p:cNvSpPr/>
          <p:nvPr/>
        </p:nvSpPr>
        <p:spPr>
          <a:xfrm>
            <a:off x="7658100" y="1668780"/>
            <a:ext cx="3913631" cy="4297679"/>
          </a:xfrm>
          <a:prstGeom prst="roundRect">
            <a:avLst>
              <a:gd name="adj" fmla="val 1518"/>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5" name="o64" descr="image-14-1.png"/>
          <p:cNvPicPr>
            <a:picLocks noChangeAspect="1"/>
          </p:cNvPicPr>
          <p:nvPr/>
        </p:nvPicPr>
        <p:blipFill>
          <a:blip r:embed="rId5"/>
          <a:stretch>
            <a:fillRect/>
          </a:stretch>
        </p:blipFill>
        <p:spPr>
          <a:xfrm>
            <a:off x="7882127" y="1874519"/>
            <a:ext cx="502920" cy="502920"/>
          </a:xfrm>
          <a:prstGeom prst="rect">
            <a:avLst/>
          </a:prstGeom>
        </p:spPr>
      </p:pic>
      <p:pic>
        <p:nvPicPr>
          <p:cNvPr id="66" name="o65" descr="MPI 2.0"/>
          <p:cNvPicPr>
            <a:picLocks noChangeAspect="1"/>
          </p:cNvPicPr>
          <p:nvPr/>
        </p:nvPicPr>
        <p:blipFill>
          <a:blip r:embed="rId27"/>
          <a:stretch>
            <a:fillRect/>
          </a:stretch>
        </p:blipFill>
        <p:spPr>
          <a:xfrm>
            <a:off x="8549640" y="2011680"/>
            <a:ext cx="1664208" cy="237744"/>
          </a:xfrm>
          <a:prstGeom prst="rect">
            <a:avLst/>
          </a:prstGeom>
        </p:spPr>
      </p:pic>
      <p:sp>
        <p:nvSpPr>
          <p:cNvPr id="67" name="o66"/>
          <p:cNvSpPr txBox="1"/>
          <p:nvPr/>
        </p:nvSpPr>
        <p:spPr>
          <a:xfrm>
            <a:off x="7882127" y="2560320"/>
            <a:ext cx="3474720" cy="731520"/>
          </a:xfrm>
          <a:prstGeom prst="rect">
            <a:avLst/>
          </a:prstGeom>
          <a:noFill/>
        </p:spPr>
        <p:txBody>
          <a:bodyPr wrap="square" lIns="0" tIns="0" rIns="0" bIns="0" anchor="t">
            <a:spAutoFit/>
          </a:bodyPr>
          <a:lstStyle/>
          <a:p>
            <a:pPr algn="l"/>
            <a:r>
              <a:rPr sz="1400" b="0" i="0">
                <a:solidFill>
                  <a:srgbClr val="C4C4E4"/>
                </a:solidFill>
                <a:latin typeface="Arial"/>
              </a:rPr>
              <a:t>5 composantes de la partie 1 + la qualité perçue (note presse pondérée par les ventes)</a:t>
            </a:r>
          </a:p>
        </p:txBody>
      </p:sp>
      <p:sp>
        <p:nvSpPr>
          <p:cNvPr id="68" name="o67"/>
          <p:cNvSpPr txBox="1"/>
          <p:nvPr/>
        </p:nvSpPr>
        <p:spPr>
          <a:xfrm>
            <a:off x="7882127" y="3429000"/>
            <a:ext cx="3474720" cy="1371600"/>
          </a:xfrm>
          <a:prstGeom prst="rect">
            <a:avLst/>
          </a:prstGeom>
          <a:noFill/>
        </p:spPr>
        <p:txBody>
          <a:bodyPr wrap="square" lIns="0" tIns="0" rIns="0" bIns="0" anchor="t">
            <a:spAutoFit/>
          </a:bodyPr>
          <a:lstStyle/>
          <a:p>
            <a:pPr algn="l">
              <a:spcAft>
                <a:spcPts val="600"/>
              </a:spcAft>
            </a:pPr>
            <a:r>
              <a:rPr sz="1700" b="1" i="0">
                <a:solidFill>
                  <a:srgbClr val="FFFFFF"/>
                </a:solidFill>
                <a:latin typeface="Arial"/>
              </a:rPr>
              <a:t>Top 3 inchangé</a:t>
            </a:r>
          </a:p>
          <a:p>
            <a:pPr algn="l">
              <a:spcAft>
                <a:spcPts val="600"/>
              </a:spcAft>
            </a:pPr>
            <a:r>
              <a:rPr sz="1500" b="1" i="0">
                <a:solidFill>
                  <a:srgbClr val="00DE00"/>
                </a:solidFill>
                <a:latin typeface="Arial"/>
              </a:rPr>
              <a:t>▲ Premium : </a:t>
            </a:r>
            <a:r>
              <a:rPr sz="1500" b="0" i="0">
                <a:solidFill>
                  <a:srgbClr val="C4C4E4"/>
                </a:solidFill>
                <a:latin typeface="Arial"/>
              </a:rPr>
              <a:t>Bethesda, Microsoft, Virgin</a:t>
            </a:r>
          </a:p>
          <a:p>
            <a:pPr algn="l">
              <a:spcAft>
                <a:spcPts val="600"/>
              </a:spcAft>
            </a:pPr>
            <a:r>
              <a:rPr sz="1500" b="1" i="0">
                <a:solidFill>
                  <a:srgbClr val="FF2D2D"/>
                </a:solidFill>
                <a:latin typeface="Arial"/>
              </a:rPr>
              <a:t>▼ Volume : </a:t>
            </a:r>
            <a:r>
              <a:rPr sz="1500" b="0" i="0">
                <a:solidFill>
                  <a:srgbClr val="C4C4E4"/>
                </a:solidFill>
                <a:latin typeface="Arial"/>
              </a:rPr>
              <a:t>THQ, Sega</a:t>
            </a:r>
          </a:p>
        </p:txBody>
      </p:sp>
      <p:sp>
        <p:nvSpPr>
          <p:cNvPr id="69" name="o68"/>
          <p:cNvSpPr txBox="1"/>
          <p:nvPr/>
        </p:nvSpPr>
        <p:spPr>
          <a:xfrm>
            <a:off x="7882127" y="4983480"/>
            <a:ext cx="3474720" cy="822960"/>
          </a:xfrm>
          <a:prstGeom prst="rect">
            <a:avLst/>
          </a:prstGeom>
          <a:noFill/>
        </p:spPr>
        <p:txBody>
          <a:bodyPr wrap="square" lIns="0" tIns="0" rIns="0" bIns="0" anchor="t">
            <a:spAutoFit/>
          </a:bodyPr>
          <a:lstStyle/>
          <a:p>
            <a:pPr algn="l"/>
            <a:r>
              <a:rPr sz="1400" b="0" i="0">
                <a:solidFill>
                  <a:srgbClr val="FFE600"/>
                </a:solidFill>
                <a:latin typeface="Arial"/>
              </a:rPr>
              <a:t>Deux modèles : beaucoup de jeux moyens, ou moins de jeux mais excellents</a:t>
            </a:r>
          </a:p>
        </p:txBody>
      </p:sp>
      <p:pic>
        <p:nvPicPr>
          <p:cNvPr id="70" name="o69" descr="image-1-13.gif"/>
          <p:cNvPicPr>
            <a:picLocks noChangeAspect="1"/>
          </p:cNvPicPr>
          <p:nvPr/>
        </p:nvPicPr>
        <p:blipFill>
          <a:blip r:embed="rId28"/>
          <a:stretch>
            <a:fillRect/>
          </a:stretch>
        </p:blipFill>
        <p:spPr>
          <a:xfrm>
            <a:off x="11448288" y="6355080"/>
            <a:ext cx="182880" cy="182880"/>
          </a:xfrm>
          <a:prstGeom prst="rect">
            <a:avLst/>
          </a:prstGeom>
        </p:spPr>
      </p:pic>
      <p:pic>
        <p:nvPicPr>
          <p:cNvPr id="71" name="barre_fantome" descr="image.gif"/>
          <p:cNvPicPr>
            <a:picLocks noChangeAspect="1"/>
          </p:cNvPicPr>
          <p:nvPr/>
        </p:nvPicPr>
        <p:blipFill>
          <a:blip r:embed="rId29"/>
          <a:stretch>
            <a:fillRect/>
          </a:stretch>
        </p:blipFill>
        <p:spPr>
          <a:xfrm>
            <a:off x="8926768" y="6291072"/>
            <a:ext cx="310896" cy="310896"/>
          </a:xfrm>
          <a:prstGeom prst="rect">
            <a:avLst/>
          </a:prstGeom>
        </p:spPr>
      </p:pic>
      <p:pic>
        <p:nvPicPr>
          <p:cNvPr id="72" name="barre_pacman" descr="image.gif"/>
          <p:cNvPicPr>
            <a:picLocks noChangeAspect="1"/>
          </p:cNvPicPr>
          <p:nvPr/>
        </p:nvPicPr>
        <p:blipFill>
          <a:blip r:embed="rId30"/>
          <a:stretch>
            <a:fillRect/>
          </a:stretch>
        </p:blipFill>
        <p:spPr>
          <a:xfrm>
            <a:off x="9493696" y="6291072"/>
            <a:ext cx="310896" cy="310896"/>
          </a:xfrm>
          <a:prstGeom prst="rect">
            <a:avLst/>
          </a:prstGeom>
        </p:spPr>
      </p:pic>
      <p:sp>
        <p:nvSpPr>
          <p:cNvPr id="7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91294644"/>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2"/>
                                        </p:tgtEl>
                                        <p:attrNameLst>
                                          <p:attrName>ppt_x</p:attrName>
                                          <p:attrName>ppt_y</p:attrName>
                                        </p:attrNameLst>
                                      </p:cBhvr>
                                    </p:animMotion>
                                  </p:childTnLst>
                                </p:cTn>
                              </p:par>
                              <p:par>
                                <p:cTn id="9" presetID="1" presetClass="exit" presetSubtype="0" fill="hold" nodeType="withEffect">
                                  <p:stCondLst>
                                    <p:cond delay="208"/>
                                  </p:stCondLst>
                                  <p:childTnLst>
                                    <p:set>
                                      <p:cBhvr>
                                        <p:cTn id="10"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image-16-1.png"/>
          <p:cNvPicPr>
            <a:picLocks noChangeAspect="1"/>
          </p:cNvPicPr>
          <p:nvPr/>
        </p:nvPicPr>
        <p:blipFill>
          <a:blip r:embed="rId3"/>
          <a:stretch>
            <a:fillRect/>
          </a:stretch>
        </p:blipFill>
        <p:spPr>
          <a:xfrm>
            <a:off x="1051560" y="1463040"/>
            <a:ext cx="548640" cy="548640"/>
          </a:xfrm>
          <a:prstGeom prst="rect">
            <a:avLst/>
          </a:prstGeom>
        </p:spPr>
      </p:pic>
      <p:pic>
        <p:nvPicPr>
          <p:cNvPr id="9" name="o8" descr="LEVEL 6"/>
          <p:cNvPicPr>
            <a:picLocks noChangeAspect="1"/>
          </p:cNvPicPr>
          <p:nvPr/>
        </p:nvPicPr>
        <p:blipFill>
          <a:blip r:embed="rId4"/>
          <a:stretch>
            <a:fillRect/>
          </a:stretch>
        </p:blipFill>
        <p:spPr>
          <a:xfrm>
            <a:off x="1737360" y="1691640"/>
            <a:ext cx="1664208" cy="237744"/>
          </a:xfrm>
          <a:prstGeom prst="rect">
            <a:avLst/>
          </a:prstGeom>
        </p:spPr>
      </p:pic>
      <p:pic>
        <p:nvPicPr>
          <p:cNvPr id="10" name="o9" descr="LIVE"/>
          <p:cNvPicPr>
            <a:picLocks noChangeAspect="1"/>
          </p:cNvPicPr>
          <p:nvPr/>
        </p:nvPicPr>
        <p:blipFill>
          <a:blip r:embed="rId5"/>
          <a:stretch>
            <a:fillRect/>
          </a:stretch>
        </p:blipFill>
        <p:spPr>
          <a:xfrm>
            <a:off x="1051560" y="2286000"/>
            <a:ext cx="2743200" cy="685800"/>
          </a:xfrm>
          <a:prstGeom prst="rect">
            <a:avLst/>
          </a:prstGeom>
        </p:spPr>
      </p:pic>
      <p:pic>
        <p:nvPicPr>
          <p:cNvPr id="11" name="o10" descr="DEMO"/>
          <p:cNvPicPr>
            <a:picLocks noChangeAspect="1"/>
          </p:cNvPicPr>
          <p:nvPr/>
        </p:nvPicPr>
        <p:blipFill>
          <a:blip r:embed="rId6"/>
          <a:stretch>
            <a:fillRect/>
          </a:stretch>
        </p:blipFill>
        <p:spPr>
          <a:xfrm>
            <a:off x="1051560" y="3108960"/>
            <a:ext cx="2743200" cy="685800"/>
          </a:xfrm>
          <a:prstGeom prst="rect">
            <a:avLst/>
          </a:prstGeom>
        </p:spPr>
      </p:pic>
      <p:pic>
        <p:nvPicPr>
          <p:cNvPr id="12" name="o11" descr="INSERT COIN"/>
          <p:cNvPicPr>
            <a:picLocks noChangeAspect="1"/>
          </p:cNvPicPr>
          <p:nvPr/>
        </p:nvPicPr>
        <p:blipFill>
          <a:blip r:embed="rId7"/>
          <a:stretch>
            <a:fillRect/>
          </a:stretch>
        </p:blipFill>
        <p:spPr>
          <a:xfrm>
            <a:off x="1051560" y="4023360"/>
            <a:ext cx="2212848" cy="201168"/>
          </a:xfrm>
          <a:prstGeom prst="rect">
            <a:avLst/>
          </a:prstGeom>
        </p:spPr>
      </p:pic>
      <p:sp>
        <p:nvSpPr>
          <p:cNvPr id="13" name="o12"/>
          <p:cNvSpPr txBox="1"/>
          <p:nvPr/>
        </p:nvSpPr>
        <p:spPr>
          <a:xfrm>
            <a:off x="1051560" y="4434840"/>
            <a:ext cx="4572000" cy="365760"/>
          </a:xfrm>
          <a:prstGeom prst="rect">
            <a:avLst/>
          </a:prstGeom>
          <a:noFill/>
        </p:spPr>
        <p:txBody>
          <a:bodyPr wrap="square" lIns="0" tIns="0" rIns="0" bIns="0" anchor="t">
            <a:spAutoFit/>
          </a:bodyPr>
          <a:lstStyle/>
          <a:p>
            <a:pPr algn="l"/>
            <a:r>
              <a:rPr sz="2000" b="0" i="0">
                <a:solidFill>
                  <a:srgbClr val="C4C4E4"/>
                </a:solidFill>
                <a:latin typeface="Arial"/>
              </a:rPr>
              <a:t>Interface Streamlit · 9 pages</a:t>
            </a:r>
          </a:p>
        </p:txBody>
      </p:sp>
      <p:sp>
        <p:nvSpPr>
          <p:cNvPr id="14" name="o13"/>
          <p:cNvSpPr txBox="1"/>
          <p:nvPr/>
        </p:nvSpPr>
        <p:spPr>
          <a:xfrm>
            <a:off x="1051560" y="4937760"/>
            <a:ext cx="4572000" cy="320040"/>
          </a:xfrm>
          <a:prstGeom prst="rect">
            <a:avLst/>
          </a:prstGeom>
          <a:noFill/>
        </p:spPr>
        <p:txBody>
          <a:bodyPr wrap="square" lIns="0" tIns="0" rIns="0" bIns="0" anchor="t">
            <a:spAutoFit/>
          </a:bodyPr>
          <a:lstStyle/>
          <a:p>
            <a:pPr algn="l"/>
            <a:r>
              <a:rPr sz="1400" b="1" i="0">
                <a:solidFill>
                  <a:srgbClr val="00FFFF"/>
                </a:solidFill>
                <a:latin typeface="Courier New"/>
              </a:rPr>
              <a:t>python run_app.py  →  localhost:8501</a:t>
            </a:r>
          </a:p>
        </p:txBody>
      </p:sp>
      <p:sp>
        <p:nvSpPr>
          <p:cNvPr id="15" name="o14"/>
          <p:cNvSpPr/>
          <p:nvPr/>
        </p:nvSpPr>
        <p:spPr>
          <a:xfrm>
            <a:off x="6263640" y="146304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15"/>
          <p:cNvSpPr/>
          <p:nvPr/>
        </p:nvSpPr>
        <p:spPr>
          <a:xfrm>
            <a:off x="6332220" y="153162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o16" descr="icone_etoile.png"/>
          <p:cNvPicPr>
            <a:picLocks noChangeAspect="1"/>
          </p:cNvPicPr>
          <p:nvPr/>
        </p:nvPicPr>
        <p:blipFill>
          <a:blip r:embed="rId8"/>
          <a:stretch>
            <a:fillRect/>
          </a:stretch>
        </p:blipFill>
        <p:spPr>
          <a:xfrm>
            <a:off x="6537960" y="1737360"/>
            <a:ext cx="457200" cy="457200"/>
          </a:xfrm>
          <a:prstGeom prst="rect">
            <a:avLst/>
          </a:prstGeom>
        </p:spPr>
      </p:pic>
      <p:pic>
        <p:nvPicPr>
          <p:cNvPr id="18" name="o17" descr="QUETE 1"/>
          <p:cNvPicPr>
            <a:picLocks noChangeAspect="1"/>
          </p:cNvPicPr>
          <p:nvPr/>
        </p:nvPicPr>
        <p:blipFill>
          <a:blip r:embed="rId9"/>
          <a:stretch>
            <a:fillRect/>
          </a:stretch>
        </p:blipFill>
        <p:spPr>
          <a:xfrm>
            <a:off x="7223760" y="1618488"/>
            <a:ext cx="832104" cy="118872"/>
          </a:xfrm>
          <a:prstGeom prst="rect">
            <a:avLst/>
          </a:prstGeom>
        </p:spPr>
      </p:pic>
      <p:sp>
        <p:nvSpPr>
          <p:cNvPr id="19" name="o18"/>
          <p:cNvSpPr txBox="1"/>
          <p:nvPr/>
        </p:nvSpPr>
        <p:spPr>
          <a:xfrm>
            <a:off x="7223760" y="1810512"/>
            <a:ext cx="3840480" cy="320040"/>
          </a:xfrm>
          <a:prstGeom prst="rect">
            <a:avLst/>
          </a:prstGeom>
          <a:noFill/>
        </p:spPr>
        <p:txBody>
          <a:bodyPr wrap="square" lIns="0" tIns="0" rIns="0" bIns="0" anchor="t">
            <a:spAutoFit/>
          </a:bodyPr>
          <a:lstStyle/>
          <a:p>
            <a:pPr algn="l"/>
            <a:r>
              <a:rPr sz="1700" b="1" i="0">
                <a:solidFill>
                  <a:srgbClr val="FFFFFF"/>
                </a:solidFill>
                <a:latin typeface="Arial"/>
              </a:rPr>
              <a:t>Page Notes Metacritic</a:t>
            </a:r>
          </a:p>
        </p:txBody>
      </p:sp>
      <p:sp>
        <p:nvSpPr>
          <p:cNvPr id="20" name="o19"/>
          <p:cNvSpPr txBox="1"/>
          <p:nvPr/>
        </p:nvSpPr>
        <p:spPr>
          <a:xfrm>
            <a:off x="7223760" y="2121408"/>
            <a:ext cx="3886200" cy="274320"/>
          </a:xfrm>
          <a:prstGeom prst="rect">
            <a:avLst/>
          </a:prstGeom>
          <a:noFill/>
        </p:spPr>
        <p:txBody>
          <a:bodyPr wrap="square" lIns="0" tIns="0" rIns="0" bIns="0" anchor="t">
            <a:spAutoFit/>
          </a:bodyPr>
          <a:lstStyle/>
          <a:p>
            <a:pPr algn="l"/>
            <a:r>
              <a:rPr sz="1200" b="0" i="0">
                <a:solidFill>
                  <a:srgbClr val="C4C4E4"/>
                </a:solidFill>
                <a:latin typeface="Arial"/>
              </a:rPr>
              <a:t>clic sur « 90 et + », puis sur GTA V : ventes ET notes</a:t>
            </a:r>
          </a:p>
        </p:txBody>
      </p:sp>
      <p:sp>
        <p:nvSpPr>
          <p:cNvPr id="21" name="o20"/>
          <p:cNvSpPr/>
          <p:nvPr/>
        </p:nvSpPr>
        <p:spPr>
          <a:xfrm>
            <a:off x="6263640" y="265176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21"/>
          <p:cNvSpPr/>
          <p:nvPr/>
        </p:nvSpPr>
        <p:spPr>
          <a:xfrm>
            <a:off x="6332220" y="272034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o22" descr="image-16-6.png"/>
          <p:cNvPicPr>
            <a:picLocks noChangeAspect="1"/>
          </p:cNvPicPr>
          <p:nvPr/>
        </p:nvPicPr>
        <p:blipFill>
          <a:blip r:embed="rId10"/>
          <a:stretch>
            <a:fillRect/>
          </a:stretch>
        </p:blipFill>
        <p:spPr>
          <a:xfrm>
            <a:off x="6537960" y="2926080"/>
            <a:ext cx="457200" cy="457200"/>
          </a:xfrm>
          <a:prstGeom prst="rect">
            <a:avLst/>
          </a:prstGeom>
        </p:spPr>
      </p:pic>
      <p:pic>
        <p:nvPicPr>
          <p:cNvPr id="24" name="o23" descr="QUETE 2"/>
          <p:cNvPicPr>
            <a:picLocks noChangeAspect="1"/>
          </p:cNvPicPr>
          <p:nvPr/>
        </p:nvPicPr>
        <p:blipFill>
          <a:blip r:embed="rId11"/>
          <a:stretch>
            <a:fillRect/>
          </a:stretch>
        </p:blipFill>
        <p:spPr>
          <a:xfrm>
            <a:off x="7223760" y="2807208"/>
            <a:ext cx="832104" cy="118872"/>
          </a:xfrm>
          <a:prstGeom prst="rect">
            <a:avLst/>
          </a:prstGeom>
        </p:spPr>
      </p:pic>
      <p:sp>
        <p:nvSpPr>
          <p:cNvPr id="25" name="o24"/>
          <p:cNvSpPr txBox="1"/>
          <p:nvPr/>
        </p:nvSpPr>
        <p:spPr>
          <a:xfrm>
            <a:off x="7223760" y="2999232"/>
            <a:ext cx="3840480" cy="320040"/>
          </a:xfrm>
          <a:prstGeom prst="rect">
            <a:avLst/>
          </a:prstGeom>
          <a:noFill/>
        </p:spPr>
        <p:txBody>
          <a:bodyPr wrap="square" lIns="0" tIns="0" rIns="0" bIns="0" anchor="t">
            <a:spAutoFit/>
          </a:bodyPr>
          <a:lstStyle/>
          <a:p>
            <a:pPr algn="l"/>
            <a:r>
              <a:rPr sz="1700" b="1" i="0">
                <a:solidFill>
                  <a:srgbClr val="FFFFFF"/>
                </a:solidFill>
                <a:latin typeface="Arial"/>
              </a:rPr>
              <a:t>MPI : activer la qualité perçue</a:t>
            </a:r>
          </a:p>
        </p:txBody>
      </p:sp>
      <p:sp>
        <p:nvSpPr>
          <p:cNvPr id="26" name="o25"/>
          <p:cNvSpPr txBox="1"/>
          <p:nvPr/>
        </p:nvSpPr>
        <p:spPr>
          <a:xfrm>
            <a:off x="7223760" y="3310128"/>
            <a:ext cx="3886200" cy="274320"/>
          </a:xfrm>
          <a:prstGeom prst="rect">
            <a:avLst/>
          </a:prstGeom>
          <a:noFill/>
        </p:spPr>
        <p:txBody>
          <a:bodyPr wrap="square" lIns="0" tIns="0" rIns="0" bIns="0" anchor="t">
            <a:spAutoFit/>
          </a:bodyPr>
          <a:lstStyle/>
          <a:p>
            <a:pPr algn="l"/>
            <a:r>
              <a:rPr sz="1200" b="0" i="0">
                <a:solidFill>
                  <a:srgbClr val="C4C4E4"/>
                </a:solidFill>
                <a:latin typeface="Arial"/>
              </a:rPr>
              <a:t>Bethesda et Microsoft montent, THQ et Sega descendent</a:t>
            </a:r>
          </a:p>
        </p:txBody>
      </p:sp>
      <p:sp>
        <p:nvSpPr>
          <p:cNvPr id="27" name="o26"/>
          <p:cNvSpPr/>
          <p:nvPr/>
        </p:nvSpPr>
        <p:spPr>
          <a:xfrm>
            <a:off x="6263640" y="384048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27"/>
          <p:cNvSpPr/>
          <p:nvPr/>
        </p:nvSpPr>
        <p:spPr>
          <a:xfrm>
            <a:off x="6332220" y="390906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o28" descr="image-16-10.png"/>
          <p:cNvPicPr>
            <a:picLocks noChangeAspect="1"/>
          </p:cNvPicPr>
          <p:nvPr/>
        </p:nvPicPr>
        <p:blipFill>
          <a:blip r:embed="rId12"/>
          <a:stretch>
            <a:fillRect/>
          </a:stretch>
        </p:blipFill>
        <p:spPr>
          <a:xfrm>
            <a:off x="6537960" y="4114800"/>
            <a:ext cx="457200" cy="457200"/>
          </a:xfrm>
          <a:prstGeom prst="rect">
            <a:avLst/>
          </a:prstGeom>
        </p:spPr>
      </p:pic>
      <p:pic>
        <p:nvPicPr>
          <p:cNvPr id="30" name="o29" descr="QUETE 3"/>
          <p:cNvPicPr>
            <a:picLocks noChangeAspect="1"/>
          </p:cNvPicPr>
          <p:nvPr/>
        </p:nvPicPr>
        <p:blipFill>
          <a:blip r:embed="rId13"/>
          <a:stretch>
            <a:fillRect/>
          </a:stretch>
        </p:blipFill>
        <p:spPr>
          <a:xfrm>
            <a:off x="7223760" y="3995928"/>
            <a:ext cx="832104" cy="118872"/>
          </a:xfrm>
          <a:prstGeom prst="rect">
            <a:avLst/>
          </a:prstGeom>
        </p:spPr>
      </p:pic>
      <p:sp>
        <p:nvSpPr>
          <p:cNvPr id="31" name="o30"/>
          <p:cNvSpPr txBox="1"/>
          <p:nvPr/>
        </p:nvSpPr>
        <p:spPr>
          <a:xfrm>
            <a:off x="7223760" y="4187952"/>
            <a:ext cx="3840480" cy="320040"/>
          </a:xfrm>
          <a:prstGeom prst="rect">
            <a:avLst/>
          </a:prstGeom>
          <a:noFill/>
        </p:spPr>
        <p:txBody>
          <a:bodyPr wrap="square" lIns="0" tIns="0" rIns="0" bIns="0" anchor="t">
            <a:spAutoFit/>
          </a:bodyPr>
          <a:lstStyle/>
          <a:p>
            <a:pPr algn="l"/>
            <a:r>
              <a:rPr sz="1700" b="1" i="0">
                <a:solidFill>
                  <a:srgbClr val="FFFFFF"/>
                </a:solidFill>
                <a:latin typeface="Arial"/>
              </a:rPr>
              <a:t>Filtrer les années 80</a:t>
            </a:r>
          </a:p>
        </p:txBody>
      </p:sp>
      <p:sp>
        <p:nvSpPr>
          <p:cNvPr id="32" name="o31"/>
          <p:cNvSpPr txBox="1"/>
          <p:nvPr/>
        </p:nvSpPr>
        <p:spPr>
          <a:xfrm>
            <a:off x="7223760" y="4498848"/>
            <a:ext cx="3886200" cy="274320"/>
          </a:xfrm>
          <a:prstGeom prst="rect">
            <a:avLst/>
          </a:prstGeom>
          <a:noFill/>
        </p:spPr>
        <p:txBody>
          <a:bodyPr wrap="square" lIns="0" tIns="0" rIns="0" bIns="0" anchor="t">
            <a:spAutoFit/>
          </a:bodyPr>
          <a:lstStyle/>
          <a:p>
            <a:pPr algn="l"/>
            <a:r>
              <a:rPr sz="1200" b="0" i="0">
                <a:solidFill>
                  <a:srgbClr val="C4C4E4"/>
                </a:solidFill>
                <a:latin typeface="Arial"/>
              </a:rPr>
              <a:t>l'appli montre le biais : Metacritic ne note rien</a:t>
            </a:r>
          </a:p>
        </p:txBody>
      </p:sp>
      <p:pic>
        <p:nvPicPr>
          <p:cNvPr id="33" name="o32" descr="image-1-13.gif"/>
          <p:cNvPicPr>
            <a:picLocks noChangeAspect="1"/>
          </p:cNvPicPr>
          <p:nvPr/>
        </p:nvPicPr>
        <p:blipFill>
          <a:blip r:embed="rId14"/>
          <a:stretch>
            <a:fillRect/>
          </a:stretch>
        </p:blipFill>
        <p:spPr>
          <a:xfrm>
            <a:off x="11448288" y="6355080"/>
            <a:ext cx="182880" cy="182880"/>
          </a:xfrm>
          <a:prstGeom prst="rect">
            <a:avLst/>
          </a:prstGeom>
        </p:spPr>
      </p:pic>
      <p:pic>
        <p:nvPicPr>
          <p:cNvPr id="34" name="barre_fantome" descr="image.gif"/>
          <p:cNvPicPr>
            <a:picLocks noChangeAspect="1"/>
          </p:cNvPicPr>
          <p:nvPr/>
        </p:nvPicPr>
        <p:blipFill>
          <a:blip r:embed="rId15"/>
          <a:stretch>
            <a:fillRect/>
          </a:stretch>
        </p:blipFill>
        <p:spPr>
          <a:xfrm>
            <a:off x="9193674" y="6291072"/>
            <a:ext cx="310896" cy="310896"/>
          </a:xfrm>
          <a:prstGeom prst="rect">
            <a:avLst/>
          </a:prstGeom>
        </p:spPr>
      </p:pic>
      <p:pic>
        <p:nvPicPr>
          <p:cNvPr id="35" name="barre_pacman" descr="image.gif"/>
          <p:cNvPicPr>
            <a:picLocks noChangeAspect="1"/>
          </p:cNvPicPr>
          <p:nvPr/>
        </p:nvPicPr>
        <p:blipFill>
          <a:blip r:embed="rId16"/>
          <a:stretch>
            <a:fillRect/>
          </a:stretch>
        </p:blipFill>
        <p:spPr>
          <a:xfrm>
            <a:off x="9760602" y="6291072"/>
            <a:ext cx="310896" cy="310896"/>
          </a:xfrm>
          <a:prstGeom prst="rect">
            <a:avLst/>
          </a:prstGeom>
        </p:spPr>
      </p:pic>
      <p:sp>
        <p:nvSpPr>
          <p:cNvPr id="36"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289824913"/>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4"/>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35"/>
                                        </p:tgtEl>
                                        <p:attrNameLst>
                                          <p:attrName>ppt_x</p:attrName>
                                          <p:attrName>ppt_y</p:attrName>
                                        </p:attrNameLst>
                                      </p:cBhvr>
                                    </p:animMotion>
                                  </p:childTnLst>
                                </p:cTn>
                              </p:par>
                              <p:par>
                                <p:cTn id="9" presetID="1" presetClass="exit" presetSubtype="0" fill="hold" nodeType="withEffect">
                                  <p:stCondLst>
                                    <p:cond delay="79"/>
                                  </p:stCondLst>
                                  <p:childTnLst>
                                    <p:set>
                                      <p:cBhvr>
                                        <p:cTn id="10" dur="1" fill="hold">
                                          <p:stCondLst>
                                            <p:cond delay="0"/>
                                          </p:stCondLst>
                                        </p:cTn>
                                        <p:tgtEl>
                                          <p:spTgt spid="36"/>
                                        </p:tgtEl>
                                        <p:attrNameLst>
                                          <p:attrName>style.visibility</p:attrName>
                                        </p:attrNameLst>
                                      </p:cBhvr>
                                      <p:to>
                                        <p:strVal val="hidden"/>
                                      </p:to>
                                    </p:set>
                                  </p:childTnLst>
                                </p:cTn>
                              </p:par>
                              <p:par>
                                <p:cTn id="11" presetID="1" presetClass="exit" presetSubtype="0" fill="hold" nodeType="withEffect">
                                  <p:stCondLst>
                                    <p:cond delay="850"/>
                                  </p:stCondLst>
                                  <p:childTnLst>
                                    <p:set>
                                      <p:cBhvr>
                                        <p:cTn id="12"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BONUS → HIGH SCORE"/>
          <p:cNvPicPr>
            <a:picLocks noChangeAspect="1"/>
          </p:cNvPicPr>
          <p:nvPr/>
        </p:nvPicPr>
        <p:blipFill>
          <a:blip r:embed="rId3"/>
          <a:stretch>
            <a:fillRect/>
          </a:stretch>
        </p:blipFill>
        <p:spPr>
          <a:xfrm>
            <a:off x="548640" y="411480"/>
            <a:ext cx="2633472" cy="146304"/>
          </a:xfrm>
          <a:prstGeom prst="rect">
            <a:avLst/>
          </a:prstGeom>
        </p:spPr>
      </p:pic>
      <p:pic>
        <p:nvPicPr>
          <p:cNvPr id="3" name="o2" descr="Le prix de la prestation"/>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480560" cy="1645920"/>
          </a:xfrm>
          <a:prstGeom prst="roundRect">
            <a:avLst>
              <a:gd name="adj" fmla="val 7777"/>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14500"/>
            <a:ext cx="4343400" cy="1508760"/>
          </a:xfrm>
          <a:prstGeom prst="roundRect">
            <a:avLst>
              <a:gd name="adj" fmla="val 3939"/>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AVANT"/>
          <p:cNvPicPr>
            <a:picLocks noChangeAspect="1"/>
          </p:cNvPicPr>
          <p:nvPr/>
        </p:nvPicPr>
        <p:blipFill>
          <a:blip r:embed="rId6"/>
          <a:stretch>
            <a:fillRect/>
          </a:stretch>
        </p:blipFill>
        <p:spPr>
          <a:xfrm>
            <a:off x="868680" y="1920240"/>
            <a:ext cx="777240" cy="155448"/>
          </a:xfrm>
          <a:prstGeom prst="rect">
            <a:avLst/>
          </a:prstGeom>
        </p:spPr>
      </p:pic>
      <p:pic>
        <p:nvPicPr>
          <p:cNvPr id="8" name="o7" descr="7 200 €"/>
          <p:cNvPicPr>
            <a:picLocks noChangeAspect="1"/>
          </p:cNvPicPr>
          <p:nvPr/>
        </p:nvPicPr>
        <p:blipFill>
          <a:blip r:embed="rId7"/>
          <a:stretch>
            <a:fillRect/>
          </a:stretch>
        </p:blipFill>
        <p:spPr>
          <a:xfrm>
            <a:off x="868680" y="2240280"/>
            <a:ext cx="2688336" cy="384048"/>
          </a:xfrm>
          <a:prstGeom prst="rect">
            <a:avLst/>
          </a:prstGeom>
        </p:spPr>
      </p:pic>
      <p:sp>
        <p:nvSpPr>
          <p:cNvPr id="9" name="o8"/>
          <p:cNvSpPr txBox="1"/>
          <p:nvPr/>
        </p:nvSpPr>
        <p:spPr>
          <a:xfrm>
            <a:off x="868680" y="2788920"/>
            <a:ext cx="3931920" cy="320040"/>
          </a:xfrm>
          <a:prstGeom prst="rect">
            <a:avLst/>
          </a:prstGeom>
          <a:noFill/>
        </p:spPr>
        <p:txBody>
          <a:bodyPr wrap="square" lIns="0" tIns="0" rIns="0" bIns="0" anchor="t">
            <a:spAutoFit/>
          </a:bodyPr>
          <a:lstStyle/>
          <a:p>
            <a:pPr algn="l"/>
            <a:r>
              <a:rPr sz="1400" b="0" i="0">
                <a:solidFill>
                  <a:srgbClr val="C4C4E4"/>
                </a:solidFill>
                <a:latin typeface="Arial"/>
              </a:rPr>
              <a:t>HT · 16 jours · ventes seules</a:t>
            </a:r>
          </a:p>
        </p:txBody>
      </p:sp>
      <p:sp>
        <p:nvSpPr>
          <p:cNvPr id="10" name="o9"/>
          <p:cNvSpPr/>
          <p:nvPr/>
        </p:nvSpPr>
        <p:spPr>
          <a:xfrm>
            <a:off x="548640" y="3520439"/>
            <a:ext cx="4480560" cy="1645920"/>
          </a:xfrm>
          <a:prstGeom prst="roundRect">
            <a:avLst>
              <a:gd name="adj" fmla="val 777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617219" y="3589020"/>
            <a:ext cx="4343400" cy="1508760"/>
          </a:xfrm>
          <a:prstGeom prst="roundRect">
            <a:avLst>
              <a:gd name="adj" fmla="val 3939"/>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APRES"/>
          <p:cNvPicPr>
            <a:picLocks noChangeAspect="1"/>
          </p:cNvPicPr>
          <p:nvPr/>
        </p:nvPicPr>
        <p:blipFill>
          <a:blip r:embed="rId8"/>
          <a:stretch>
            <a:fillRect/>
          </a:stretch>
        </p:blipFill>
        <p:spPr>
          <a:xfrm>
            <a:off x="868680" y="3794759"/>
            <a:ext cx="777240" cy="155448"/>
          </a:xfrm>
          <a:prstGeom prst="rect">
            <a:avLst/>
          </a:prstGeom>
        </p:spPr>
      </p:pic>
      <p:pic>
        <p:nvPicPr>
          <p:cNvPr id="13" name="o12" descr="11 700 €"/>
          <p:cNvPicPr>
            <a:picLocks noChangeAspect="1"/>
          </p:cNvPicPr>
          <p:nvPr/>
        </p:nvPicPr>
        <p:blipFill>
          <a:blip r:embed="rId9"/>
          <a:stretch>
            <a:fillRect/>
          </a:stretch>
        </p:blipFill>
        <p:spPr>
          <a:xfrm>
            <a:off x="868680" y="4114800"/>
            <a:ext cx="3072384" cy="384048"/>
          </a:xfrm>
          <a:prstGeom prst="rect">
            <a:avLst/>
          </a:prstGeom>
        </p:spPr>
      </p:pic>
      <p:sp>
        <p:nvSpPr>
          <p:cNvPr id="14" name="o13"/>
          <p:cNvSpPr txBox="1"/>
          <p:nvPr/>
        </p:nvSpPr>
        <p:spPr>
          <a:xfrm>
            <a:off x="868680" y="4663440"/>
            <a:ext cx="3931920" cy="320040"/>
          </a:xfrm>
          <a:prstGeom prst="rect">
            <a:avLst/>
          </a:prstGeom>
          <a:noFill/>
        </p:spPr>
        <p:txBody>
          <a:bodyPr wrap="square" lIns="0" tIns="0" rIns="0" bIns="0" anchor="t">
            <a:spAutoFit/>
          </a:bodyPr>
          <a:lstStyle/>
          <a:p>
            <a:pPr algn="l"/>
            <a:r>
              <a:rPr sz="1400" b="0" i="0">
                <a:solidFill>
                  <a:srgbClr val="C4C4E4"/>
                </a:solidFill>
                <a:latin typeface="Arial"/>
              </a:rPr>
              <a:t>HT · 26 jours · ventes + notes</a:t>
            </a:r>
          </a:p>
        </p:txBody>
      </p:sp>
      <p:sp>
        <p:nvSpPr>
          <p:cNvPr id="15" name="o14"/>
          <p:cNvSpPr txBox="1"/>
          <p:nvPr/>
        </p:nvSpPr>
        <p:spPr>
          <a:xfrm>
            <a:off x="548640" y="5440680"/>
            <a:ext cx="4480560" cy="640080"/>
          </a:xfrm>
          <a:prstGeom prst="rect">
            <a:avLst/>
          </a:prstGeom>
          <a:noFill/>
        </p:spPr>
        <p:txBody>
          <a:bodyPr wrap="square" lIns="0" tIns="0" rIns="0" bIns="0" anchor="t">
            <a:spAutoFit/>
          </a:bodyPr>
          <a:lstStyle/>
          <a:p>
            <a:pPr algn="l"/>
            <a:r>
              <a:rPr sz="1600" b="1" i="0">
                <a:solidFill>
                  <a:srgbClr val="FFFFFF"/>
                </a:solidFill>
                <a:latin typeface="Arial"/>
              </a:rPr>
              <a:t>+4 500 € HT (+62,5 %)</a:t>
            </a:r>
          </a:p>
          <a:p>
            <a:pPr algn="l"/>
            <a:r>
              <a:rPr sz="1600" b="0" i="0">
                <a:solidFill>
                  <a:srgbClr val="C4C4E4"/>
                </a:solidFill>
                <a:latin typeface="Arial"/>
              </a:rPr>
              <a:t>TJM 450 € · réutilisation de l'existant</a:t>
            </a:r>
          </a:p>
        </p:txBody>
      </p:sp>
      <p:graphicFrame>
        <p:nvGraphicFramePr>
          <p:cNvPr id="16" name="o15"/>
          <p:cNvGraphicFramePr>
            <a:graphicFrameLocks noGrp="1"/>
          </p:cNvGraphicFramePr>
          <p:nvPr/>
        </p:nvGraphicFramePr>
        <p:xfrm>
          <a:off x="5349240" y="1920240"/>
          <a:ext cx="6309360" cy="4114800"/>
        </p:xfrm>
        <a:graphic>
          <a:graphicData uri="http://schemas.openxmlformats.org/drawingml/2006/chart">
            <c:chart xmlns:c="http://schemas.openxmlformats.org/drawingml/2006/chart" xmlns:r="http://schemas.openxmlformats.org/officeDocument/2006/relationships" r:id="rId10"/>
          </a:graphicData>
        </a:graphic>
      </p:graphicFrame>
      <p:pic>
        <p:nvPicPr>
          <p:cNvPr id="17" name="o16" descr="+10 JOURS AVEC LA BASE 2"/>
          <p:cNvPicPr>
            <a:picLocks noChangeAspect="1"/>
          </p:cNvPicPr>
          <p:nvPr/>
        </p:nvPicPr>
        <p:blipFill>
          <a:blip r:embed="rId11"/>
          <a:stretch>
            <a:fillRect/>
          </a:stretch>
        </p:blipFill>
        <p:spPr>
          <a:xfrm>
            <a:off x="5532120" y="1691640"/>
            <a:ext cx="3291839" cy="137160"/>
          </a:xfrm>
          <a:prstGeom prst="rect">
            <a:avLst/>
          </a:prstGeom>
        </p:spPr>
      </p:pic>
      <p:pic>
        <p:nvPicPr>
          <p:cNvPr id="18" name="o17"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19" name="barre_fantome" descr="image.gif"/>
          <p:cNvPicPr>
            <a:picLocks noChangeAspect="1"/>
          </p:cNvPicPr>
          <p:nvPr/>
        </p:nvPicPr>
        <p:blipFill>
          <a:blip r:embed="rId13"/>
          <a:stretch>
            <a:fillRect/>
          </a:stretch>
        </p:blipFill>
        <p:spPr>
          <a:xfrm>
            <a:off x="9460580" y="6291072"/>
            <a:ext cx="310896" cy="310896"/>
          </a:xfrm>
          <a:prstGeom prst="rect">
            <a:avLst/>
          </a:prstGeom>
        </p:spPr>
      </p:pic>
      <p:pic>
        <p:nvPicPr>
          <p:cNvPr id="20" name="barre_pacman" descr="image.gif"/>
          <p:cNvPicPr>
            <a:picLocks noChangeAspect="1"/>
          </p:cNvPicPr>
          <p:nvPr/>
        </p:nvPicPr>
        <p:blipFill>
          <a:blip r:embed="rId14"/>
          <a:stretch>
            <a:fillRect/>
          </a:stretch>
        </p:blipFill>
        <p:spPr>
          <a:xfrm>
            <a:off x="10027508" y="6291072"/>
            <a:ext cx="310896" cy="310896"/>
          </a:xfrm>
          <a:prstGeom prst="rect">
            <a:avLst/>
          </a:prstGeom>
        </p:spPr>
      </p:pic>
      <p:sp>
        <p:nvSpPr>
          <p:cNvPr id="21"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05826285"/>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20"/>
                                        </p:tgtEl>
                                        <p:attrNameLst>
                                          <p:attrName>ppt_x</p:attrName>
                                          <p:attrName>ppt_y</p:attrName>
                                        </p:attrNameLst>
                                      </p:cBhvr>
                                    </p:animMotion>
                                  </p:childTnLst>
                                </p:cTn>
                              </p:par>
                              <p:par>
                                <p:cTn id="9" presetID="1" presetClass="exit" presetSubtype="0" fill="hold" nodeType="withEffect">
                                  <p:stCondLst>
                                    <p:cond delay="721"/>
                                  </p:stCondLst>
                                  <p:childTnLst>
                                    <p:set>
                                      <p:cBhvr>
                                        <p:cTn id="10" dur="1" fill="hold">
                                          <p:stCondLst>
                                            <p:cond delay="0"/>
                                          </p:stCondLst>
                                        </p:cTn>
                                        <p:tgtEl>
                                          <p:spTgt spid="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BONUS → FIN DE PARTIE"/>
          <p:cNvPicPr>
            <a:picLocks noChangeAspect="1"/>
          </p:cNvPicPr>
          <p:nvPr/>
        </p:nvPicPr>
        <p:blipFill>
          <a:blip r:embed="rId3"/>
          <a:stretch>
            <a:fillRect/>
          </a:stretch>
        </p:blipFill>
        <p:spPr>
          <a:xfrm>
            <a:off x="548640" y="411480"/>
            <a:ext cx="3072384" cy="146304"/>
          </a:xfrm>
          <a:prstGeom prst="rect">
            <a:avLst/>
          </a:prstGeom>
        </p:spPr>
      </p:pic>
      <p:pic>
        <p:nvPicPr>
          <p:cNvPr id="3" name="o2" descr="Limites et recommandations"/>
          <p:cNvPicPr>
            <a:picLocks noChangeAspect="1"/>
          </p:cNvPicPr>
          <p:nvPr/>
        </p:nvPicPr>
        <p:blipFill>
          <a:blip r:embed="rId4"/>
          <a:stretch>
            <a:fillRect/>
          </a:stretch>
        </p:blipFill>
        <p:spPr>
          <a:xfrm>
            <a:off x="548640" y="777240"/>
            <a:ext cx="7132320"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00200"/>
            <a:ext cx="5303520" cy="4434840"/>
          </a:xfrm>
          <a:prstGeom prst="roundRect">
            <a:avLst>
              <a:gd name="adj" fmla="val 288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668780"/>
            <a:ext cx="5166359" cy="4297679"/>
          </a:xfrm>
          <a:prstGeom prst="roundRect">
            <a:avLst>
              <a:gd name="adj" fmla="val 138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LIMITES"/>
          <p:cNvPicPr>
            <a:picLocks noChangeAspect="1"/>
          </p:cNvPicPr>
          <p:nvPr/>
        </p:nvPicPr>
        <p:blipFill>
          <a:blip r:embed="rId6"/>
          <a:stretch>
            <a:fillRect/>
          </a:stretch>
        </p:blipFill>
        <p:spPr>
          <a:xfrm>
            <a:off x="868680" y="1874519"/>
            <a:ext cx="1088136" cy="155448"/>
          </a:xfrm>
          <a:prstGeom prst="rect">
            <a:avLst/>
          </a:prstGeom>
        </p:spPr>
      </p:pic>
      <p:pic>
        <p:nvPicPr>
          <p:cNvPr id="8" name="o7" descr="image-11-9.png"/>
          <p:cNvPicPr>
            <a:picLocks noChangeAspect="1"/>
          </p:cNvPicPr>
          <p:nvPr/>
        </p:nvPicPr>
        <p:blipFill>
          <a:blip r:embed="rId7"/>
          <a:stretch>
            <a:fillRect/>
          </a:stretch>
        </p:blipFill>
        <p:spPr>
          <a:xfrm>
            <a:off x="868680" y="2377440"/>
            <a:ext cx="384048" cy="384048"/>
          </a:xfrm>
          <a:prstGeom prst="rect">
            <a:avLst/>
          </a:prstGeom>
        </p:spPr>
      </p:pic>
      <p:sp>
        <p:nvSpPr>
          <p:cNvPr id="9" name="o8"/>
          <p:cNvSpPr txBox="1"/>
          <p:nvPr/>
        </p:nvSpPr>
        <p:spPr>
          <a:xfrm>
            <a:off x="1463040" y="2340864"/>
            <a:ext cx="4206240" cy="347472"/>
          </a:xfrm>
          <a:prstGeom prst="rect">
            <a:avLst/>
          </a:prstGeom>
          <a:noFill/>
        </p:spPr>
        <p:txBody>
          <a:bodyPr wrap="square" lIns="0" tIns="0" rIns="0" bIns="0" anchor="t">
            <a:spAutoFit/>
          </a:bodyPr>
          <a:lstStyle/>
          <a:p>
            <a:pPr algn="l"/>
            <a:r>
              <a:rPr sz="1800" b="1" i="0">
                <a:solidFill>
                  <a:srgbClr val="FFFFFF"/>
                </a:solidFill>
                <a:latin typeface="Arial"/>
              </a:rPr>
              <a:t>Notes partielles</a:t>
            </a:r>
          </a:p>
        </p:txBody>
      </p:sp>
      <p:sp>
        <p:nvSpPr>
          <p:cNvPr id="10" name="o9"/>
          <p:cNvSpPr txBox="1"/>
          <p:nvPr/>
        </p:nvSpPr>
        <p:spPr>
          <a:xfrm>
            <a:off x="1463040" y="2724912"/>
            <a:ext cx="4206240" cy="320040"/>
          </a:xfrm>
          <a:prstGeom prst="rect">
            <a:avLst/>
          </a:prstGeom>
          <a:noFill/>
        </p:spPr>
        <p:txBody>
          <a:bodyPr wrap="square" lIns="0" tIns="0" rIns="0" bIns="0" anchor="t">
            <a:spAutoFit/>
          </a:bodyPr>
          <a:lstStyle/>
          <a:p>
            <a:pPr algn="l"/>
            <a:r>
              <a:rPr sz="1400" b="0" i="0">
                <a:solidFill>
                  <a:srgbClr val="C4C4E4"/>
                </a:solidFill>
                <a:latin typeface="Arial"/>
              </a:rPr>
              <a:t>49 % des jeux, surtout récents et visibles</a:t>
            </a:r>
          </a:p>
        </p:txBody>
      </p:sp>
      <p:pic>
        <p:nvPicPr>
          <p:cNvPr id="11" name="o10" descr="image-11-9.png"/>
          <p:cNvPicPr>
            <a:picLocks noChangeAspect="1"/>
          </p:cNvPicPr>
          <p:nvPr/>
        </p:nvPicPr>
        <p:blipFill>
          <a:blip r:embed="rId7"/>
          <a:stretch>
            <a:fillRect/>
          </a:stretch>
        </p:blipFill>
        <p:spPr>
          <a:xfrm>
            <a:off x="868680" y="3520440"/>
            <a:ext cx="384048" cy="384048"/>
          </a:xfrm>
          <a:prstGeom prst="rect">
            <a:avLst/>
          </a:prstGeom>
        </p:spPr>
      </p:pic>
      <p:sp>
        <p:nvSpPr>
          <p:cNvPr id="12" name="o11"/>
          <p:cNvSpPr txBox="1"/>
          <p:nvPr/>
        </p:nvSpPr>
        <p:spPr>
          <a:xfrm>
            <a:off x="1463040" y="3483864"/>
            <a:ext cx="4206240" cy="347472"/>
          </a:xfrm>
          <a:prstGeom prst="rect">
            <a:avLst/>
          </a:prstGeom>
          <a:noFill/>
        </p:spPr>
        <p:txBody>
          <a:bodyPr wrap="square" lIns="0" tIns="0" rIns="0" bIns="0" anchor="t">
            <a:spAutoFit/>
          </a:bodyPr>
          <a:lstStyle/>
          <a:p>
            <a:pPr algn="l"/>
            <a:r>
              <a:rPr sz="1800" b="1" i="0">
                <a:solidFill>
                  <a:srgbClr val="FFFFFF"/>
                </a:solidFill>
                <a:latin typeface="Arial"/>
              </a:rPr>
              <a:t>Lien ≠ cause</a:t>
            </a:r>
          </a:p>
        </p:txBody>
      </p:sp>
      <p:sp>
        <p:nvSpPr>
          <p:cNvPr id="13" name="o12"/>
          <p:cNvSpPr txBox="1"/>
          <p:nvPr/>
        </p:nvSpPr>
        <p:spPr>
          <a:xfrm>
            <a:off x="1463040" y="3867912"/>
            <a:ext cx="4206240" cy="320040"/>
          </a:xfrm>
          <a:prstGeom prst="rect">
            <a:avLst/>
          </a:prstGeom>
          <a:noFill/>
        </p:spPr>
        <p:txBody>
          <a:bodyPr wrap="square" lIns="0" tIns="0" rIns="0" bIns="0" anchor="t">
            <a:spAutoFit/>
          </a:bodyPr>
          <a:lstStyle/>
          <a:p>
            <a:pPr algn="l"/>
            <a:r>
              <a:rPr sz="1400" b="0" i="0">
                <a:solidFill>
                  <a:srgbClr val="C4C4E4"/>
                </a:solidFill>
                <a:latin typeface="Arial"/>
              </a:rPr>
              <a:t>le marketing peut expliquer note ET ventes</a:t>
            </a:r>
          </a:p>
        </p:txBody>
      </p:sp>
      <p:pic>
        <p:nvPicPr>
          <p:cNvPr id="14" name="o13" descr="image-11-9.png"/>
          <p:cNvPicPr>
            <a:picLocks noChangeAspect="1"/>
          </p:cNvPicPr>
          <p:nvPr/>
        </p:nvPicPr>
        <p:blipFill>
          <a:blip r:embed="rId7"/>
          <a:stretch>
            <a:fillRect/>
          </a:stretch>
        </p:blipFill>
        <p:spPr>
          <a:xfrm>
            <a:off x="868680" y="4663440"/>
            <a:ext cx="384048" cy="384048"/>
          </a:xfrm>
          <a:prstGeom prst="rect">
            <a:avLst/>
          </a:prstGeom>
        </p:spPr>
      </p:pic>
      <p:sp>
        <p:nvSpPr>
          <p:cNvPr id="15" name="o14"/>
          <p:cNvSpPr txBox="1"/>
          <p:nvPr/>
        </p:nvSpPr>
        <p:spPr>
          <a:xfrm>
            <a:off x="1463040" y="4626864"/>
            <a:ext cx="4206240" cy="347472"/>
          </a:xfrm>
          <a:prstGeom prst="rect">
            <a:avLst/>
          </a:prstGeom>
          <a:noFill/>
        </p:spPr>
        <p:txBody>
          <a:bodyPr wrap="square" lIns="0" tIns="0" rIns="0" bIns="0" anchor="t">
            <a:spAutoFit/>
          </a:bodyPr>
          <a:lstStyle/>
          <a:p>
            <a:pPr algn="l"/>
            <a:r>
              <a:rPr sz="1800" b="1" i="0">
                <a:solidFill>
                  <a:srgbClr val="FFFFFF"/>
                </a:solidFill>
                <a:latin typeface="Arial"/>
              </a:rPr>
              <a:t>Source occidentale</a:t>
            </a:r>
          </a:p>
        </p:txBody>
      </p:sp>
      <p:sp>
        <p:nvSpPr>
          <p:cNvPr id="16" name="o15"/>
          <p:cNvSpPr txBox="1"/>
          <p:nvPr/>
        </p:nvSpPr>
        <p:spPr>
          <a:xfrm>
            <a:off x="1463040" y="5010912"/>
            <a:ext cx="4206240" cy="320040"/>
          </a:xfrm>
          <a:prstGeom prst="rect">
            <a:avLst/>
          </a:prstGeom>
          <a:noFill/>
        </p:spPr>
        <p:txBody>
          <a:bodyPr wrap="square" lIns="0" tIns="0" rIns="0" bIns="0" anchor="t">
            <a:spAutoFit/>
          </a:bodyPr>
          <a:lstStyle/>
          <a:p>
            <a:pPr algn="l"/>
            <a:r>
              <a:rPr sz="1400" b="0" i="0">
                <a:solidFill>
                  <a:srgbClr val="C4C4E4"/>
                </a:solidFill>
                <a:latin typeface="Arial"/>
              </a:rPr>
              <a:t>le Japon est mal couvert par Metacritic</a:t>
            </a:r>
          </a:p>
        </p:txBody>
      </p:sp>
      <p:sp>
        <p:nvSpPr>
          <p:cNvPr id="17" name="o16"/>
          <p:cNvSpPr/>
          <p:nvPr/>
        </p:nvSpPr>
        <p:spPr>
          <a:xfrm>
            <a:off x="6336792" y="1600200"/>
            <a:ext cx="5303520" cy="4434840"/>
          </a:xfrm>
          <a:prstGeom prst="roundRect">
            <a:avLst>
              <a:gd name="adj" fmla="val 2886"/>
            </a:avLst>
          </a:prstGeom>
          <a:solidFill>
            <a:srgbClr val="000000"/>
          </a:solidFill>
          <a:ln w="28575">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17"/>
          <p:cNvSpPr/>
          <p:nvPr/>
        </p:nvSpPr>
        <p:spPr>
          <a:xfrm>
            <a:off x="6405372" y="1668780"/>
            <a:ext cx="5166359" cy="4297679"/>
          </a:xfrm>
          <a:prstGeom prst="roundRect">
            <a:avLst>
              <a:gd name="adj" fmla="val 1382"/>
            </a:avLst>
          </a:prstGeom>
          <a:noFill/>
          <a:ln w="12700">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o18" descr="RECOMMANDATIONS"/>
          <p:cNvPicPr>
            <a:picLocks noChangeAspect="1"/>
          </p:cNvPicPr>
          <p:nvPr/>
        </p:nvPicPr>
        <p:blipFill>
          <a:blip r:embed="rId8"/>
          <a:stretch>
            <a:fillRect/>
          </a:stretch>
        </p:blipFill>
        <p:spPr>
          <a:xfrm>
            <a:off x="6656832" y="1874519"/>
            <a:ext cx="2331720" cy="155448"/>
          </a:xfrm>
          <a:prstGeom prst="rect">
            <a:avLst/>
          </a:prstGeom>
        </p:spPr>
      </p:pic>
      <p:pic>
        <p:nvPicPr>
          <p:cNvPr id="20" name="o19" descr="image-6-17.png"/>
          <p:cNvPicPr>
            <a:picLocks noChangeAspect="1"/>
          </p:cNvPicPr>
          <p:nvPr/>
        </p:nvPicPr>
        <p:blipFill>
          <a:blip r:embed="rId9"/>
          <a:stretch>
            <a:fillRect/>
          </a:stretch>
        </p:blipFill>
        <p:spPr>
          <a:xfrm>
            <a:off x="6656832" y="2377440"/>
            <a:ext cx="384048" cy="384048"/>
          </a:xfrm>
          <a:prstGeom prst="rect">
            <a:avLst/>
          </a:prstGeom>
        </p:spPr>
      </p:pic>
      <p:sp>
        <p:nvSpPr>
          <p:cNvPr id="21" name="o20"/>
          <p:cNvSpPr txBox="1"/>
          <p:nvPr/>
        </p:nvSpPr>
        <p:spPr>
          <a:xfrm>
            <a:off x="7251192" y="2340864"/>
            <a:ext cx="4206240" cy="347472"/>
          </a:xfrm>
          <a:prstGeom prst="rect">
            <a:avLst/>
          </a:prstGeom>
          <a:noFill/>
        </p:spPr>
        <p:txBody>
          <a:bodyPr wrap="square" lIns="0" tIns="0" rIns="0" bIns="0" anchor="t">
            <a:spAutoFit/>
          </a:bodyPr>
          <a:lstStyle/>
          <a:p>
            <a:pPr algn="l"/>
            <a:r>
              <a:rPr sz="1800" b="1" i="0">
                <a:solidFill>
                  <a:srgbClr val="FFFFFF"/>
                </a:solidFill>
                <a:latin typeface="Arial"/>
              </a:rPr>
              <a:t>Miser sur la qualité</a:t>
            </a:r>
          </a:p>
        </p:txBody>
      </p:sp>
      <p:sp>
        <p:nvSpPr>
          <p:cNvPr id="22" name="o21"/>
          <p:cNvSpPr txBox="1"/>
          <p:nvPr/>
        </p:nvSpPr>
        <p:spPr>
          <a:xfrm>
            <a:off x="7251192" y="2724912"/>
            <a:ext cx="4206240" cy="320040"/>
          </a:xfrm>
          <a:prstGeom prst="rect">
            <a:avLst/>
          </a:prstGeom>
          <a:noFill/>
        </p:spPr>
        <p:txBody>
          <a:bodyPr wrap="square" lIns="0" tIns="0" rIns="0" bIns="0" anchor="t">
            <a:spAutoFit/>
          </a:bodyPr>
          <a:lstStyle/>
          <a:p>
            <a:pPr algn="l"/>
            <a:r>
              <a:rPr sz="1400" b="0" i="0">
                <a:solidFill>
                  <a:srgbClr val="C4C4E4"/>
                </a:solidFill>
                <a:latin typeface="Arial"/>
              </a:rPr>
              <a:t>les jeux notés 80 et + font 53 % des ventes notées</a:t>
            </a:r>
          </a:p>
        </p:txBody>
      </p:sp>
      <p:pic>
        <p:nvPicPr>
          <p:cNvPr id="23" name="o22" descr="image-6-17.png"/>
          <p:cNvPicPr>
            <a:picLocks noChangeAspect="1"/>
          </p:cNvPicPr>
          <p:nvPr/>
        </p:nvPicPr>
        <p:blipFill>
          <a:blip r:embed="rId9"/>
          <a:stretch>
            <a:fillRect/>
          </a:stretch>
        </p:blipFill>
        <p:spPr>
          <a:xfrm>
            <a:off x="6656832" y="3520440"/>
            <a:ext cx="384048" cy="384048"/>
          </a:xfrm>
          <a:prstGeom prst="rect">
            <a:avLst/>
          </a:prstGeom>
        </p:spPr>
      </p:pic>
      <p:sp>
        <p:nvSpPr>
          <p:cNvPr id="24" name="o23"/>
          <p:cNvSpPr txBox="1"/>
          <p:nvPr/>
        </p:nvSpPr>
        <p:spPr>
          <a:xfrm>
            <a:off x="7251192" y="3483864"/>
            <a:ext cx="4206240" cy="347472"/>
          </a:xfrm>
          <a:prstGeom prst="rect">
            <a:avLst/>
          </a:prstGeom>
          <a:noFill/>
        </p:spPr>
        <p:txBody>
          <a:bodyPr wrap="square" lIns="0" tIns="0" rIns="0" bIns="0" anchor="t">
            <a:spAutoFit/>
          </a:bodyPr>
          <a:lstStyle/>
          <a:p>
            <a:pPr algn="l"/>
            <a:r>
              <a:rPr sz="1800" b="1" i="0">
                <a:solidFill>
                  <a:srgbClr val="FFFFFF"/>
                </a:solidFill>
                <a:latin typeface="Arial"/>
              </a:rPr>
              <a:t>Viser l'Europe</a:t>
            </a:r>
          </a:p>
        </p:txBody>
      </p:sp>
      <p:sp>
        <p:nvSpPr>
          <p:cNvPr id="25" name="o24"/>
          <p:cNvSpPr txBox="1"/>
          <p:nvPr/>
        </p:nvSpPr>
        <p:spPr>
          <a:xfrm>
            <a:off x="7251192" y="3867912"/>
            <a:ext cx="4206240" cy="320040"/>
          </a:xfrm>
          <a:prstGeom prst="rect">
            <a:avLst/>
          </a:prstGeom>
          <a:noFill/>
        </p:spPr>
        <p:txBody>
          <a:bodyPr wrap="square" lIns="0" tIns="0" rIns="0" bIns="0" anchor="t">
            <a:spAutoFit/>
          </a:bodyPr>
          <a:lstStyle/>
          <a:p>
            <a:pPr algn="l"/>
            <a:r>
              <a:rPr sz="1400" b="0" i="0">
                <a:solidFill>
                  <a:srgbClr val="C4C4E4"/>
                </a:solidFill>
                <a:latin typeface="Arial"/>
              </a:rPr>
              <a:t>le marché le plus sensible aux notes</a:t>
            </a:r>
          </a:p>
        </p:txBody>
      </p:sp>
      <p:pic>
        <p:nvPicPr>
          <p:cNvPr id="26" name="o25" descr="image-6-17.png"/>
          <p:cNvPicPr>
            <a:picLocks noChangeAspect="1"/>
          </p:cNvPicPr>
          <p:nvPr/>
        </p:nvPicPr>
        <p:blipFill>
          <a:blip r:embed="rId9"/>
          <a:stretch>
            <a:fillRect/>
          </a:stretch>
        </p:blipFill>
        <p:spPr>
          <a:xfrm>
            <a:off x="6656832" y="4663440"/>
            <a:ext cx="384048" cy="384048"/>
          </a:xfrm>
          <a:prstGeom prst="rect">
            <a:avLst/>
          </a:prstGeom>
        </p:spPr>
      </p:pic>
      <p:sp>
        <p:nvSpPr>
          <p:cNvPr id="27" name="o26"/>
          <p:cNvSpPr txBox="1"/>
          <p:nvPr/>
        </p:nvSpPr>
        <p:spPr>
          <a:xfrm>
            <a:off x="7251192" y="4626864"/>
            <a:ext cx="4206240" cy="347472"/>
          </a:xfrm>
          <a:prstGeom prst="rect">
            <a:avLst/>
          </a:prstGeom>
          <a:noFill/>
        </p:spPr>
        <p:txBody>
          <a:bodyPr wrap="square" lIns="0" tIns="0" rIns="0" bIns="0" anchor="t">
            <a:spAutoFit/>
          </a:bodyPr>
          <a:lstStyle/>
          <a:p>
            <a:pPr algn="l"/>
            <a:r>
              <a:rPr sz="1800" b="1" i="0">
                <a:solidFill>
                  <a:srgbClr val="FFFFFF"/>
                </a:solidFill>
                <a:latin typeface="Arial"/>
              </a:rPr>
              <a:t>Prochaine source</a:t>
            </a:r>
          </a:p>
        </p:txBody>
      </p:sp>
      <p:sp>
        <p:nvSpPr>
          <p:cNvPr id="28" name="o27"/>
          <p:cNvSpPr txBox="1"/>
          <p:nvPr/>
        </p:nvSpPr>
        <p:spPr>
          <a:xfrm>
            <a:off x="7251192" y="5010912"/>
            <a:ext cx="4206240" cy="320040"/>
          </a:xfrm>
          <a:prstGeom prst="rect">
            <a:avLst/>
          </a:prstGeom>
          <a:noFill/>
        </p:spPr>
        <p:txBody>
          <a:bodyPr wrap="square" lIns="0" tIns="0" rIns="0" bIns="0" anchor="t">
            <a:spAutoFit/>
          </a:bodyPr>
          <a:lstStyle/>
          <a:p>
            <a:pPr algn="l"/>
            <a:r>
              <a:rPr sz="1400" b="0" i="0">
                <a:solidFill>
                  <a:srgbClr val="C4C4E4"/>
                </a:solidFill>
                <a:latin typeface="Arial"/>
              </a:rPr>
              <a:t>les ventes dématérialisées (Steam) : l'angle mort de la partie 1</a:t>
            </a:r>
          </a:p>
        </p:txBody>
      </p:sp>
      <p:pic>
        <p:nvPicPr>
          <p:cNvPr id="29" name="o28"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0" name="barre_fantome" descr="image.gif"/>
          <p:cNvPicPr>
            <a:picLocks noChangeAspect="1"/>
          </p:cNvPicPr>
          <p:nvPr/>
        </p:nvPicPr>
        <p:blipFill>
          <a:blip r:embed="rId11"/>
          <a:stretch>
            <a:fillRect/>
          </a:stretch>
        </p:blipFill>
        <p:spPr>
          <a:xfrm>
            <a:off x="9727486" y="6291072"/>
            <a:ext cx="310896" cy="310896"/>
          </a:xfrm>
          <a:prstGeom prst="rect">
            <a:avLst/>
          </a:prstGeom>
        </p:spPr>
      </p:pic>
      <p:pic>
        <p:nvPicPr>
          <p:cNvPr id="31" name="barre_pacman" descr="image.gif"/>
          <p:cNvPicPr>
            <a:picLocks noChangeAspect="1"/>
          </p:cNvPicPr>
          <p:nvPr/>
        </p:nvPicPr>
        <p:blipFill>
          <a:blip r:embed="rId12"/>
          <a:stretch>
            <a:fillRect/>
          </a:stretch>
        </p:blipFill>
        <p:spPr>
          <a:xfrm>
            <a:off x="10294414" y="6291072"/>
            <a:ext cx="310896" cy="310896"/>
          </a:xfrm>
          <a:prstGeom prst="rect">
            <a:avLst/>
          </a:prstGeom>
        </p:spPr>
      </p:pic>
      <p:sp>
        <p:nvSpPr>
          <p:cNvPr id="32"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9449699"/>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31"/>
                                        </p:tgtEl>
                                        <p:attrNameLst>
                                          <p:attrName>ppt_x</p:attrName>
                                          <p:attrName>ppt_y</p:attrName>
                                        </p:attrNameLst>
                                      </p:cBhvr>
                                    </p:animMotion>
                                  </p:childTnLst>
                                </p:cTn>
                              </p:par>
                              <p:par>
                                <p:cTn id="9" presetID="1" presetClass="exit" presetSubtype="0" fill="hold" nodeType="withEffect">
                                  <p:stCondLst>
                                    <p:cond delay="592"/>
                                  </p:stCondLst>
                                  <p:childTnLst>
                                    <p:set>
                                      <p:cBhvr>
                                        <p:cTn id="10" dur="1" fill="hold">
                                          <p:stCondLst>
                                            <p:cond delay="0"/>
                                          </p:stCondLst>
                                        </p:cTn>
                                        <p:tgtEl>
                                          <p:spTgt spid="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GAME OVER ?"/>
          <p:cNvPicPr>
            <a:picLocks noChangeAspect="1"/>
          </p:cNvPicPr>
          <p:nvPr/>
        </p:nvPicPr>
        <p:blipFill>
          <a:blip r:embed="rId3"/>
          <a:stretch>
            <a:fillRect/>
          </a:stretch>
        </p:blipFill>
        <p:spPr>
          <a:xfrm>
            <a:off x="3581247" y="914400"/>
            <a:ext cx="5029200" cy="457200"/>
          </a:xfrm>
          <a:prstGeom prst="rect">
            <a:avLst/>
          </a:prstGeom>
        </p:spPr>
      </p:pic>
      <p:pic>
        <p:nvPicPr>
          <p:cNvPr id="3" name="o2" descr="NON : MISSION ACCOMPLIE"/>
          <p:cNvPicPr>
            <a:picLocks noChangeAspect="1"/>
          </p:cNvPicPr>
          <p:nvPr/>
        </p:nvPicPr>
        <p:blipFill>
          <a:blip r:embed="rId4"/>
          <a:stretch>
            <a:fillRect/>
          </a:stretch>
        </p:blipFill>
        <p:spPr>
          <a:xfrm>
            <a:off x="3361791" y="1645920"/>
            <a:ext cx="5468112" cy="237744"/>
          </a:xfrm>
          <a:prstGeom prst="rect">
            <a:avLst/>
          </a:prstGeom>
        </p:spPr>
      </p:pic>
      <p:pic>
        <p:nvPicPr>
          <p:cNvPr id="4" name="o3" descr="image-1-8.gif"/>
          <p:cNvPicPr>
            <a:picLocks noChangeAspect="1"/>
          </p:cNvPicPr>
          <p:nvPr/>
        </p:nvPicPr>
        <p:blipFill>
          <a:blip r:embed="rId5"/>
          <a:stretch>
            <a:fillRect/>
          </a:stretch>
        </p:blipFill>
        <p:spPr>
          <a:xfrm>
            <a:off x="2194560" y="2514600"/>
            <a:ext cx="420624" cy="420624"/>
          </a:xfrm>
          <a:prstGeom prst="rect">
            <a:avLst/>
          </a:prstGeom>
        </p:spPr>
      </p:pic>
      <p:pic>
        <p:nvPicPr>
          <p:cNvPr id="5" name="o4" descr="image-1-7.gif"/>
          <p:cNvPicPr>
            <a:picLocks noChangeAspect="1"/>
          </p:cNvPicPr>
          <p:nvPr/>
        </p:nvPicPr>
        <p:blipFill>
          <a:blip r:embed="rId6"/>
          <a:stretch>
            <a:fillRect/>
          </a:stretch>
        </p:blipFill>
        <p:spPr>
          <a:xfrm>
            <a:off x="2743200" y="2514600"/>
            <a:ext cx="420624" cy="420624"/>
          </a:xfrm>
          <a:prstGeom prst="rect">
            <a:avLst/>
          </a:prstGeom>
        </p:spPr>
      </p:pic>
      <p:pic>
        <p:nvPicPr>
          <p:cNvPr id="6" name="o5" descr="image-1-6.gif"/>
          <p:cNvPicPr>
            <a:picLocks noChangeAspect="1"/>
          </p:cNvPicPr>
          <p:nvPr/>
        </p:nvPicPr>
        <p:blipFill>
          <a:blip r:embed="rId7"/>
          <a:stretch>
            <a:fillRect/>
          </a:stretch>
        </p:blipFill>
        <p:spPr>
          <a:xfrm>
            <a:off x="3291839" y="2514600"/>
            <a:ext cx="420624" cy="420624"/>
          </a:xfrm>
          <a:prstGeom prst="rect">
            <a:avLst/>
          </a:prstGeom>
        </p:spPr>
      </p:pic>
      <p:pic>
        <p:nvPicPr>
          <p:cNvPr id="7" name="o6" descr="image-1-15.gif"/>
          <p:cNvPicPr>
            <a:picLocks noChangeAspect="1"/>
          </p:cNvPicPr>
          <p:nvPr/>
        </p:nvPicPr>
        <p:blipFill>
          <a:blip r:embed="rId8"/>
          <a:stretch>
            <a:fillRect/>
          </a:stretch>
        </p:blipFill>
        <p:spPr>
          <a:xfrm>
            <a:off x="3840479" y="2514600"/>
            <a:ext cx="420624" cy="420624"/>
          </a:xfrm>
          <a:prstGeom prst="rect">
            <a:avLst/>
          </a:prstGeom>
        </p:spPr>
      </p:pic>
      <p:pic>
        <p:nvPicPr>
          <p:cNvPr id="8" name="o7" descr="image-1-14.gif"/>
          <p:cNvPicPr>
            <a:picLocks noChangeAspect="1"/>
          </p:cNvPicPr>
          <p:nvPr/>
        </p:nvPicPr>
        <p:blipFill>
          <a:blip r:embed="rId9"/>
          <a:stretch>
            <a:fillRect/>
          </a:stretch>
        </p:blipFill>
        <p:spPr>
          <a:xfrm>
            <a:off x="4480560" y="2514600"/>
            <a:ext cx="420624" cy="420624"/>
          </a:xfrm>
          <a:prstGeom prst="rect">
            <a:avLst/>
          </a:prstGeom>
        </p:spPr>
      </p:pic>
      <p:sp>
        <p:nvSpPr>
          <p:cNvPr id="9" name="o8"/>
          <p:cNvSpPr/>
          <p:nvPr/>
        </p:nvSpPr>
        <p:spPr>
          <a:xfrm>
            <a:off x="51206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9"/>
          <p:cNvSpPr/>
          <p:nvPr/>
        </p:nvSpPr>
        <p:spPr>
          <a:xfrm>
            <a:off x="54864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10"/>
          <p:cNvSpPr/>
          <p:nvPr/>
        </p:nvSpPr>
        <p:spPr>
          <a:xfrm>
            <a:off x="58521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11"/>
          <p:cNvSpPr/>
          <p:nvPr/>
        </p:nvSpPr>
        <p:spPr>
          <a:xfrm>
            <a:off x="62179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12"/>
          <p:cNvSpPr/>
          <p:nvPr/>
        </p:nvSpPr>
        <p:spPr>
          <a:xfrm>
            <a:off x="65836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13"/>
          <p:cNvSpPr/>
          <p:nvPr/>
        </p:nvSpPr>
        <p:spPr>
          <a:xfrm>
            <a:off x="69494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14"/>
          <p:cNvSpPr/>
          <p:nvPr/>
        </p:nvSpPr>
        <p:spPr>
          <a:xfrm>
            <a:off x="73152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15"/>
          <p:cNvSpPr/>
          <p:nvPr/>
        </p:nvSpPr>
        <p:spPr>
          <a:xfrm>
            <a:off x="76809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16"/>
          <p:cNvSpPr/>
          <p:nvPr/>
        </p:nvSpPr>
        <p:spPr>
          <a:xfrm>
            <a:off x="80467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17"/>
          <p:cNvSpPr/>
          <p:nvPr/>
        </p:nvSpPr>
        <p:spPr>
          <a:xfrm>
            <a:off x="84124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o18" descr="image-1-13.gif"/>
          <p:cNvPicPr>
            <a:picLocks noChangeAspect="1"/>
          </p:cNvPicPr>
          <p:nvPr/>
        </p:nvPicPr>
        <p:blipFill>
          <a:blip r:embed="rId10"/>
          <a:stretch>
            <a:fillRect/>
          </a:stretch>
        </p:blipFill>
        <p:spPr>
          <a:xfrm>
            <a:off x="8686800" y="2587752"/>
            <a:ext cx="274320" cy="274320"/>
          </a:xfrm>
          <a:prstGeom prst="rect">
            <a:avLst/>
          </a:prstGeom>
        </p:spPr>
      </p:pic>
      <p:sp>
        <p:nvSpPr>
          <p:cNvPr id="20" name="o19"/>
          <p:cNvSpPr txBox="1"/>
          <p:nvPr/>
        </p:nvSpPr>
        <p:spPr>
          <a:xfrm>
            <a:off x="1371600" y="3337560"/>
            <a:ext cx="9448495" cy="411480"/>
          </a:xfrm>
          <a:prstGeom prst="rect">
            <a:avLst/>
          </a:prstGeom>
          <a:noFill/>
        </p:spPr>
        <p:txBody>
          <a:bodyPr wrap="square" lIns="0" tIns="0" rIns="0" bIns="0" anchor="t">
            <a:spAutoFit/>
          </a:bodyPr>
          <a:lstStyle/>
          <a:p>
            <a:pPr algn="ctr"/>
            <a:r>
              <a:rPr sz="2000" b="0" i="0">
                <a:solidFill>
                  <a:srgbClr val="C4C4E4"/>
                </a:solidFill>
                <a:latin typeface="Arial"/>
              </a:rPr>
              <a:t>2 bases · 1 jointure · 1 appli de 9 pages · 38 figures</a:t>
            </a:r>
          </a:p>
        </p:txBody>
      </p:sp>
      <p:pic>
        <p:nvPicPr>
          <p:cNvPr id="21" name="o20" descr="MERCI !"/>
          <p:cNvPicPr>
            <a:picLocks noChangeAspect="1"/>
          </p:cNvPicPr>
          <p:nvPr/>
        </p:nvPicPr>
        <p:blipFill>
          <a:blip r:embed="rId11"/>
          <a:stretch>
            <a:fillRect/>
          </a:stretch>
        </p:blipFill>
        <p:spPr>
          <a:xfrm>
            <a:off x="4751679" y="4069080"/>
            <a:ext cx="2688336" cy="384048"/>
          </a:xfrm>
          <a:prstGeom prst="rect">
            <a:avLst/>
          </a:prstGeom>
        </p:spPr>
      </p:pic>
      <p:pic>
        <p:nvPicPr>
          <p:cNvPr id="22" name="o21" descr="DES QUESTIONS ?"/>
          <p:cNvPicPr>
            <a:picLocks noChangeAspect="1"/>
          </p:cNvPicPr>
          <p:nvPr/>
        </p:nvPicPr>
        <p:blipFill>
          <a:blip r:embed="rId12"/>
          <a:stretch>
            <a:fillRect/>
          </a:stretch>
        </p:blipFill>
        <p:spPr>
          <a:xfrm>
            <a:off x="4587087" y="4754880"/>
            <a:ext cx="3017520" cy="201168"/>
          </a:xfrm>
          <a:prstGeom prst="rect">
            <a:avLst/>
          </a:prstGeom>
        </p:spPr>
      </p:pic>
      <p:pic>
        <p:nvPicPr>
          <p:cNvPr id="23" name="o22" descr="INSERT COIN TO CONTINUE"/>
          <p:cNvPicPr>
            <a:picLocks noChangeAspect="1"/>
          </p:cNvPicPr>
          <p:nvPr/>
        </p:nvPicPr>
        <p:blipFill>
          <a:blip r:embed="rId13"/>
          <a:stretch>
            <a:fillRect/>
          </a:stretch>
        </p:blipFill>
        <p:spPr>
          <a:xfrm>
            <a:off x="4623663" y="5349240"/>
            <a:ext cx="2944368" cy="128016"/>
          </a:xfrm>
          <a:prstGeom prst="rect">
            <a:avLst/>
          </a:prstGeom>
        </p:spPr>
      </p:pic>
      <p:pic>
        <p:nvPicPr>
          <p:cNvPr id="24" name="o23"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25" name="o24" descr="image-1-15.gif"/>
          <p:cNvPicPr>
            <a:picLocks noChangeAspect="1"/>
          </p:cNvPicPr>
          <p:nvPr/>
        </p:nvPicPr>
        <p:blipFill>
          <a:blip r:embed="rId8"/>
          <a:stretch>
            <a:fillRect/>
          </a:stretch>
        </p:blipFill>
        <p:spPr>
          <a:xfrm>
            <a:off x="10524744" y="6291072"/>
            <a:ext cx="310896" cy="310896"/>
          </a:xfrm>
          <a:prstGeom prst="rect">
            <a:avLst/>
          </a:prstGeom>
        </p:spPr>
      </p:pic>
      <p:pic>
        <p:nvPicPr>
          <p:cNvPr id="26" name="o25" descr="image-17-7.gif"/>
          <p:cNvPicPr>
            <a:picLocks noChangeAspect="1"/>
          </p:cNvPicPr>
          <p:nvPr/>
        </p:nvPicPr>
        <p:blipFill>
          <a:blip r:embed="rId14"/>
          <a:stretch>
            <a:fillRect/>
          </a:stretch>
        </p:blipFill>
        <p:spPr>
          <a:xfrm>
            <a:off x="10817352" y="6291072"/>
            <a:ext cx="310896" cy="310896"/>
          </a:xfrm>
          <a:prstGeom prst="rect">
            <a:avLst/>
          </a:prstGeom>
        </p:spPr>
      </p:pic>
      <p:pic>
        <p:nvPicPr>
          <p:cNvPr id="27" name="o26" descr="image-1-14.gif"/>
          <p:cNvPicPr>
            <a:picLocks noChangeAspect="1"/>
          </p:cNvPicPr>
          <p:nvPr/>
        </p:nvPicPr>
        <p:blipFill>
          <a:blip r:embed="rId9"/>
          <a:stretch>
            <a:fillRect/>
          </a:stretch>
        </p:blipFill>
        <p:spPr>
          <a:xfrm>
            <a:off x="11091672" y="6291072"/>
            <a:ext cx="310896" cy="310896"/>
          </a:xfrm>
          <a:prstGeom prst="rect">
            <a:avLst/>
          </a:prstGeom>
        </p:spPr>
      </p:pic>
    </p:spTree>
    <p:extLst>
      <p:ext uri="{BB962C8B-B14F-4D97-AF65-F5344CB8AC3E}">
        <p14:creationId xmlns:p14="http://schemas.microsoft.com/office/powerpoint/2010/main" val="3251639164"/>
      </p:ext>
    </p:extLst>
  </p:cSld>
  <p:clrMapOvr>
    <a:masterClrMapping/>
  </p:clrMapOvr>
  <p:transition spd="fast">
    <p:fade/>
  </p:transition>
</p:sld>
</file>

<file path=ppt/theme/theme1.xml><?xml version="1.0" encoding="utf-8"?>
<a:theme xmlns:a="http://schemas.openxmlformats.org/drawingml/2006/main"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3799</Words>
  <Application>Microsoft Office PowerPoint</Application>
  <PresentationFormat>Grand écran</PresentationFormat>
  <Paragraphs>302</Paragraphs>
  <Slides>38</Slides>
  <Notes>38</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38</vt:i4>
      </vt:variant>
    </vt:vector>
  </HeadingPairs>
  <TitlesOfParts>
    <vt:vector size="41" baseType="lpstr">
      <vt:lpstr>Arial</vt:lpstr>
      <vt:lpstr>Courier New</vt:lpstr>
      <vt:lpstr>Arcade Pac</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BDD 1</dc:title>
  <dc:subject>PptxGenJS Presentation</dc:subject>
  <dc:creator>Kheireddine Bouadi</dc:creator>
  <cp:lastModifiedBy>mohamed ben amor</cp:lastModifiedBy>
  <cp:revision>2</cp:revision>
  <dcterms:created xsi:type="dcterms:W3CDTF">2026-10-22T14:26:01Z</dcterms:created>
  <dcterms:modified xsi:type="dcterms:W3CDTF">2026-10-22T15:36:07Z</dcterms:modified>
</cp:coreProperties>
</file>