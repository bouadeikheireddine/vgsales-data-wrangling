
<file path=[Content_Types].xml><?xml version="1.0" encoding="utf-8"?>
<Types xmlns="http://schemas.openxmlformats.org/package/2006/content-types">
  <Default Extension="gif" ContentType="image/gif"/>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18.png" ContentType="image/png"/>
  <Override PartName="/ppt/media/image18.png" ContentType="image/png"/>
  <Override PartName="/ppt/media/image86.png" ContentType="image/png"/>
  <Override PartName="/ppt/media/image186.png" ContentType="image/png"/>
  <Override PartName="/ppt/media/image116.png" ContentType="image/png"/>
  <Override PartName="/ppt/media/image16.png" ContentType="image/png"/>
  <Override PartName="/ppt/media/image84.png" ContentType="image/png"/>
  <Override PartName="/ppt/media/image184.png" ContentType="image/png"/>
  <Override PartName="/ppt/media/image111.png" ContentType="image/png"/>
  <Override PartName="/ppt/media/image109.png" ContentType="image/png"/>
  <Override PartName="/ppt/media/image77.png" ContentType="image/png"/>
  <Override PartName="/ppt/media/image177.png" ContentType="image/png"/>
  <Override PartName="/ppt/media/image108.png" ContentType="image/png"/>
  <Override PartName="/ppt/media/image76.png" ContentType="image/png"/>
  <Override PartName="/ppt/media/image176.png" ContentType="image/png"/>
  <Override PartName="/ppt/media/image199.png" ContentType="image/png"/>
  <Override PartName="/ppt/media/image201.png" ContentType="image/png"/>
  <Override PartName="/ppt/media/image98.png" ContentType="image/png"/>
  <Override PartName="/ppt/media/image198.png" ContentType="image/png"/>
  <Override PartName="/ppt/media/image200.png" ContentType="image/png"/>
  <Override PartName="/ppt/media/image97.png" ContentType="image/png"/>
  <Override PartName="/ppt/media/image29.png" ContentType="image/png"/>
  <Override PartName="/ppt/media/image129.png" ContentType="image/png"/>
  <Override PartName="/ppt/media/image197.png" ContentType="image/png"/>
  <Override PartName="/ppt/media/image96.png" ContentType="image/png"/>
  <Override PartName="/ppt/media/image28.png" ContentType="image/png"/>
  <Override PartName="/ppt/media/image128.png" ContentType="image/png"/>
  <Override PartName="/ppt/media/image196.png" ContentType="image/png"/>
  <Override PartName="/ppt/media/image95.png" ContentType="image/png"/>
  <Override PartName="/ppt/media/image127.png" ContentType="image/png"/>
  <Override PartName="/ppt/media/image27.png" ContentType="image/png"/>
  <Override PartName="/ppt/media/image195.png" ContentType="image/png"/>
  <Override PartName="/ppt/media/image89.png" ContentType="image/png"/>
  <Override PartName="/ppt/media/image189.png" ContentType="image/png"/>
  <Override PartName="/ppt/media/image88.png" ContentType="image/png"/>
  <Override PartName="/ppt/media/image188.png" ContentType="image/png"/>
  <Override PartName="/ppt/media/image87.png" ContentType="image/png"/>
  <Override PartName="/ppt/media/image119.png" ContentType="image/png"/>
  <Override PartName="/ppt/media/image19.png" ContentType="image/png"/>
  <Override PartName="/ppt/media/image187.png" ContentType="image/png"/>
  <Override PartName="/ppt/media/image79.png" ContentType="image/png"/>
  <Override PartName="/ppt/media/image179.png" ContentType="image/png"/>
  <Override PartName="/ppt/media/image126.png" ContentType="image/png"/>
  <Override PartName="/ppt/media/image94.png" ContentType="image/png"/>
  <Override PartName="/ppt/media/image26.png" ContentType="image/png"/>
  <Override PartName="/ppt/media/image194.png" ContentType="image/png"/>
  <Override PartName="/ppt/media/image78.png" ContentType="image/png"/>
  <Override PartName="/ppt/media/image178.png" ContentType="image/png"/>
  <Override PartName="/ppt/media/image125.png" ContentType="image/png"/>
  <Override PartName="/ppt/media/image93.png" ContentType="image/png"/>
  <Override PartName="/ppt/media/image25.png" ContentType="image/png"/>
  <Override PartName="/ppt/media/image193.png" ContentType="image/png"/>
  <Override PartName="/ppt/media/image124.png" ContentType="image/png"/>
  <Override PartName="/ppt/media/image92.png" ContentType="image/png"/>
  <Override PartName="/ppt/media/image24.png" ContentType="image/png"/>
  <Override PartName="/ppt/media/image192.png" ContentType="image/png"/>
  <Override PartName="/ppt/media/image123.png" ContentType="image/png"/>
  <Override PartName="/ppt/media/image91.png" ContentType="image/png"/>
  <Override PartName="/ppt/media/image23.png" ContentType="image/png"/>
  <Override PartName="/ppt/media/image191.png" ContentType="image/png"/>
  <Override PartName="/ppt/media/image75.png" ContentType="image/png"/>
  <Override PartName="/ppt/media/image107.png" ContentType="image/png"/>
  <Override PartName="/ppt/media/image175.png" ContentType="image/png"/>
  <Override PartName="/ppt/media/image122.png" ContentType="image/png"/>
  <Override PartName="/ppt/media/image90.png" ContentType="image/png"/>
  <Override PartName="/ppt/media/image22.png" ContentType="image/png"/>
  <Override PartName="/ppt/media/image190.png" ContentType="image/png"/>
  <Override PartName="/ppt/media/image74.png" ContentType="image/png"/>
  <Override PartName="/ppt/media/image106.png" ContentType="image/png"/>
  <Override PartName="/ppt/media/image174.png" ContentType="image/png"/>
  <Override PartName="/ppt/media/image121.png" ContentType="image/png"/>
  <Override PartName="/ppt/media/image21.png" ContentType="image/png"/>
  <Override PartName="/ppt/media/image73.png" ContentType="image/png"/>
  <Override PartName="/ppt/media/image173.png" ContentType="image/png"/>
  <Override PartName="/ppt/media/image120.png" ContentType="image/png"/>
  <Override PartName="/ppt/media/image20.png" ContentType="image/png"/>
  <Override PartName="/ppt/media/image72.png" ContentType="image/png"/>
  <Override PartName="/ppt/media/image104.png" ContentType="image/png"/>
  <Override PartName="/ppt/media/image172.png" ContentType="image/png"/>
  <Override PartName="/ppt/media/image71.png" ContentType="image/png"/>
  <Override PartName="/ppt/media/image103.png" ContentType="image/png"/>
  <Override PartName="/ppt/media/image171.png" ContentType="image/png"/>
  <Override PartName="/ppt/media/image70.png" ContentType="image/png"/>
  <Override PartName="/ppt/media/image170.png" ContentType="image/png"/>
  <Override PartName="/ppt/media/image117.png" ContentType="image/png"/>
  <Override PartName="/ppt/media/image17.png" ContentType="image/png"/>
  <Override PartName="/ppt/media/image85.png" ContentType="image/png"/>
  <Override PartName="/ppt/media/image185.png" ContentType="image/png"/>
  <Override PartName="/ppt/media/image69.png" ContentType="image/png"/>
  <Override PartName="/ppt/media/image169.png" ContentType="image/png"/>
  <Override PartName="/ppt/media/image39.png" ContentType="image/png"/>
  <Override PartName="/ppt/media/image139.png" ContentType="image/png"/>
  <Override PartName="/ppt/media/image44.png" ContentType="image/png"/>
  <Override PartName="/ppt/media/image144.png" ContentType="image/png"/>
  <Override PartName="/ppt/media/image45.png" ContentType="image/png"/>
  <Override PartName="/ppt/media/image145.png" ContentType="image/png"/>
  <Override PartName="/ppt/media/image150.png" ContentType="image/png"/>
  <Override PartName="/ppt/media/image50.png" ContentType="image/png"/>
  <Override PartName="/ppt/media/image46.png" ContentType="image/png"/>
  <Override PartName="/ppt/media/image146.png" ContentType="image/png"/>
  <Override PartName="/ppt/media/image151.png" ContentType="image/png"/>
  <Override PartName="/ppt/media/image51.png" ContentType="image/png"/>
  <Override PartName="/ppt/media/image37.png" ContentType="image/png"/>
  <Override PartName="/ppt/media/image137.png" ContentType="image/png"/>
  <Override PartName="/ppt/media/image142.png" ContentType="image/png"/>
  <Override PartName="/ppt/media/image42.png" ContentType="image/png"/>
  <Override PartName="/ppt/media/image100.png" ContentType="image/png"/>
  <Override PartName="/ppt/media/image152.png" ContentType="image/png"/>
  <Override PartName="/ppt/media/image52.png" ContentType="image/png"/>
  <Override PartName="/ppt/media/image208.png" ContentType="image/png"/>
  <Override PartName="/ppt/media/image210.png" ContentType="image/png"/>
  <Override PartName="/ppt/media/image209.png" ContentType="image/png"/>
  <Override PartName="/ppt/media/image11.gif" ContentType="image/gif"/>
  <Override PartName="/ppt/media/image211.png" ContentType="image/png"/>
  <Override PartName="/ppt/media/image212.png" ContentType="image/png"/>
  <Override PartName="/ppt/media/image48.png" ContentType="image/png"/>
  <Override PartName="/ppt/media/image148.png" ContentType="image/png"/>
  <Override PartName="/ppt/media/image153.png" ContentType="image/png"/>
  <Override PartName="/ppt/media/image53.png" ContentType="image/png"/>
  <Override PartName="/ppt/media/image101.png" ContentType="image/png"/>
  <Override PartName="/ppt/media/image5.gif" ContentType="image/gif"/>
  <Override PartName="/ppt/media/image213.png" ContentType="image/png"/>
  <Override PartName="/ppt/media/image155.png" ContentType="image/png"/>
  <Override PartName="/ppt/media/image55.png" ContentType="image/png"/>
  <Override PartName="/ppt/media/image32.png" ContentType="image/png"/>
  <Override PartName="/ppt/media/image132.png" ContentType="image/png"/>
  <Override PartName="/ppt/media/image7.gif" ContentType="image/gif"/>
  <Override PartName="/ppt/media/image215.png" ContentType="image/png"/>
  <Override PartName="/ppt/media/image216.png" ContentType="image/png"/>
  <Override PartName="/ppt/media/image217.png" ContentType="image/png"/>
  <Override PartName="/ppt/media/image218.png" ContentType="image/png"/>
  <Override PartName="/ppt/media/image163.png" ContentType="image/png"/>
  <Override PartName="/ppt/media/image207.png" ContentType="image/png"/>
  <Override PartName="/ppt/media/image36.png" ContentType="image/png"/>
  <Override PartName="/ppt/media/image136.png" ContentType="image/png"/>
  <Override PartName="/ppt/media/image219.png" ContentType="image/png"/>
  <Override PartName="/ppt/media/image206.png" ContentType="image/png"/>
  <Override PartName="/ppt/media/image2.png" ContentType="image/png"/>
  <Override PartName="/ppt/media/image205.png" ContentType="image/png"/>
  <Override PartName="/ppt/media/image1.png" ContentType="image/png"/>
  <Override PartName="/ppt/media/image204.png" ContentType="image/png"/>
  <Override PartName="/ppt/media/image168.png" ContentType="image/png"/>
  <Override PartName="/ppt/media/image203.png" ContentType="image/png"/>
  <Override PartName="/ppt/media/image56.png" ContentType="image/png"/>
  <Override PartName="/ppt/media/image156.png" ContentType="image/png"/>
  <Override PartName="/ppt/media/image202.png" ContentType="image/png"/>
  <Override PartName="/ppt/media/image31.png" ContentType="image/png"/>
  <Override PartName="/ppt/media/image131.png" ContentType="image/png"/>
  <Override PartName="/ppt/media/image6.gif" ContentType="image/gif"/>
  <Override PartName="/ppt/media/image214.png" ContentType="image/png"/>
  <Override PartName="/ppt/media/image38.png" ContentType="image/png"/>
  <Override PartName="/ppt/media/image138.png" ContentType="image/png"/>
  <Override PartName="/ppt/media/image143.png" ContentType="image/png"/>
  <Override PartName="/ppt/media/image43.png" ContentType="image/png"/>
  <Override PartName="/ppt/media/image130.png" ContentType="image/png"/>
  <Override PartName="/ppt/media/image30.png" ContentType="image/png"/>
  <Override PartName="/ppt/media/image147.png" ContentType="image/png"/>
  <Override PartName="/ppt/media/image47.png" ContentType="image/png"/>
  <Override PartName="/ppt/media/image133.png" ContentType="image/png"/>
  <Override PartName="/ppt/media/image33.png" ContentType="image/png"/>
  <Override PartName="/ppt/media/image141.png" ContentType="image/png"/>
  <Override PartName="/ppt/media/image41.png" ContentType="image/png"/>
  <Override PartName="/ppt/media/image9.gif" ContentType="image/gif"/>
  <Override PartName="/ppt/media/image8.gif" ContentType="image/gif"/>
  <Override PartName="/ppt/media/image140.png" ContentType="image/png"/>
  <Override PartName="/ppt/media/image40.png" ContentType="image/png"/>
  <Override PartName="/ppt/media/image159.png" ContentType="image/png"/>
  <Override PartName="/ppt/media/image59.png" ContentType="image/png"/>
  <Override PartName="/ppt/media/image158.png" ContentType="image/png"/>
  <Override PartName="/ppt/media/image58.png" ContentType="image/png"/>
  <Override PartName="/ppt/media/image157.png" ContentType="image/png"/>
  <Override PartName="/ppt/media/image57.png" ContentType="image/png"/>
  <Override PartName="/ppt/media/image149.png" ContentType="image/png"/>
  <Override PartName="/ppt/media/image49.png" ContentType="image/png"/>
  <Override PartName="/ppt/media/image135.png" ContentType="image/png"/>
  <Override PartName="/ppt/media/image35.png" ContentType="image/png"/>
  <Override PartName="/ppt/media/image4.gif" ContentType="image/gif"/>
  <Override PartName="/ppt/media/image134.png" ContentType="image/png"/>
  <Override PartName="/ppt/media/image34.png" ContentType="image/png"/>
  <Override PartName="/ppt/media/image160.png" ContentType="image/png"/>
  <Override PartName="/ppt/media/image60.png" ContentType="image/png"/>
  <Override PartName="/ppt/media/image161.png" ContentType="image/png"/>
  <Override PartName="/ppt/media/image61.png" ContentType="image/png"/>
  <Override PartName="/ppt/media/image162.png" ContentType="image/png"/>
  <Override PartName="/ppt/media/image62.png" ContentType="image/png"/>
  <Override PartName="/ppt/media/image10.png" ContentType="image/png"/>
  <Override PartName="/ppt/media/image110.png" ContentType="image/png"/>
  <Override PartName="/ppt/media/image3.png" ContentType="image/png"/>
  <Override PartName="/ppt/media/image63.gif" ContentType="image/gif"/>
  <Override PartName="/ppt/media/image166.png" ContentType="image/png"/>
  <Override PartName="/ppt/media/image66.png" ContentType="image/png"/>
  <Override PartName="/ppt/media/image14.png" ContentType="image/png"/>
  <Override PartName="/ppt/media/image82.png" ContentType="image/png"/>
  <Override PartName="/ppt/media/image114.png" ContentType="image/png"/>
  <Override PartName="/ppt/media/image182.png" ContentType="image/png"/>
  <Override PartName="/ppt/media/image164.png" ContentType="image/png"/>
  <Override PartName="/ppt/media/image64.png" ContentType="image/png"/>
  <Override PartName="/ppt/media/image167.png" ContentType="image/png"/>
  <Override PartName="/ppt/media/image67.png" ContentType="image/png"/>
  <Override PartName="/ppt/media/image12.png" ContentType="image/png"/>
  <Override PartName="/ppt/media/image112.png" ContentType="image/png"/>
  <Override PartName="/ppt/media/image180.png" ContentType="image/png"/>
  <Override PartName="/ppt/media/image80.png" ContentType="image/png"/>
  <Override PartName="/ppt/media/image165.png" ContentType="image/png"/>
  <Override PartName="/ppt/media/image65.png" ContentType="image/png"/>
  <Override PartName="/ppt/media/image13.png" ContentType="image/png"/>
  <Override PartName="/ppt/media/image81.png" ContentType="image/png"/>
  <Override PartName="/ppt/media/image113.png" ContentType="image/png"/>
  <Override PartName="/ppt/media/image181.png" ContentType="image/png"/>
  <Override PartName="/ppt/media/image83.png" ContentType="image/png"/>
  <Override PartName="/ppt/media/image115.png" ContentType="image/png"/>
  <Override PartName="/ppt/media/image15.png" ContentType="image/png"/>
  <Override PartName="/ppt/media/image183.png" ContentType="image/png"/>
  <Override PartName="/ppt/media/image154.png" ContentType="image/png"/>
  <Override PartName="/ppt/media/image54.png" ContentType="image/png"/>
  <Override PartName="/ppt/media/image68.gif" ContentType="image/gif"/>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slide38.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10.xml" ContentType="application/vnd.openxmlformats-officedocument.drawingml.chart+xml"/>
  <Override PartName="/ppt/charts/chart6.xml" ContentType="application/vnd.openxmlformats-officedocument.drawingml.chart+xml"/>
  <Override PartName="/ppt/charts/chart11.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4.xml.rels" ContentType="application/vnd.openxmlformats-package.relationships+xml"/>
  <Override PartName="/ppt/notesSlides/_rels/notesSlide22.xml.rels" ContentType="application/vnd.openxmlformats-package.relationships+xml"/>
  <Override PartName="/ppt/notesSlides/_rels/notesSlide35.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7.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2.xml" ContentType="application/vnd.openxmlformats-officedocument.presentationml.notesSlide+xml"/>
  <Override PartName="/ppt/notesSlides/notesSlide36.xml" ContentType="application/vnd.openxmlformats-officedocument.presentationml.notesSlide+xml"/>
  <Override PartName="/ppt/notesSlides/notesSlide13.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Part des ventes</c:v>
                </c:pt>
              </c:strCache>
            </c:strRef>
          </c:tx>
          <c:spPr>
            <a:solidFill>
              <a:srgbClr val="ffe600"/>
            </a:solidFill>
            <a:ln w="0">
              <a:noFill/>
            </a:ln>
          </c:spPr>
          <c:invertIfNegative val="0"/>
          <c:dPt>
            <c:idx val="0"/>
            <c:invertIfNegative val="0"/>
            <c:spPr>
              <a:solidFill>
                <a:srgbClr val="ffe600"/>
              </a:solidFill>
              <a:ln w="0">
                <a:noFill/>
              </a:ln>
            </c:spPr>
          </c:dPt>
          <c:dPt>
            <c:idx val="1"/>
            <c:invertIfNegative val="0"/>
            <c:spPr>
              <a:solidFill>
                <a:srgbClr val="2121de"/>
              </a:solidFill>
              <a:ln w="0">
                <a:noFill/>
              </a:ln>
            </c:spPr>
          </c:dPt>
          <c:dPt>
            <c:idx val="2"/>
            <c:invertIfNegative val="0"/>
            <c:spPr>
              <a:solidFill>
                <a:srgbClr val="2121de"/>
              </a:solidFill>
              <a:ln w="0">
                <a:noFill/>
              </a:ln>
            </c:spPr>
          </c:dPt>
          <c:dPt>
            <c:idx val="3"/>
            <c:invertIfNegative val="0"/>
            <c:spPr>
              <a:solidFill>
                <a:srgbClr val="2121de"/>
              </a:solidFill>
              <a:ln w="0">
                <a:noFill/>
              </a:ln>
            </c:spPr>
          </c:dPt>
          <c:dPt>
            <c:idx val="4"/>
            <c:invertIfNegative val="0"/>
            <c:spPr>
              <a:solidFill>
                <a:srgbClr val="2121de"/>
              </a:solidFill>
              <a:ln w="0">
                <a:noFill/>
              </a:ln>
            </c:spPr>
          </c:dPt>
          <c:dPt>
            <c:idx val="5"/>
            <c:invertIfNegative val="0"/>
            <c:spPr>
              <a:solidFill>
                <a:srgbClr val="2121de"/>
              </a:solidFill>
              <a:ln w="0">
                <a:noFill/>
              </a:ln>
            </c:spPr>
          </c:dPt>
          <c:dPt>
            <c:idx val="6"/>
            <c:invertIfNegative val="0"/>
            <c:spPr>
              <a:solidFill>
                <a:srgbClr val="2121de"/>
              </a:solidFill>
              <a:ln w="0">
                <a:noFill/>
              </a:ln>
            </c:spPr>
          </c:dPt>
          <c:dPt>
            <c:idx val="7"/>
            <c:invertIfNegative val="0"/>
            <c:spPr>
              <a:solidFill>
                <a:srgbClr val="2121de"/>
              </a:solidFill>
              <a:ln w="0">
                <a:noFill/>
              </a:ln>
            </c:spPr>
          </c:dPt>
          <c:dPt>
            <c:idx val="8"/>
            <c:invertIfNegative val="0"/>
            <c:spPr>
              <a:solidFill>
                <a:srgbClr val="2121de"/>
              </a:solidFill>
              <a:ln w="0">
                <a:noFill/>
              </a:ln>
            </c:spPr>
          </c:dPt>
          <c:dPt>
            <c:idx val="9"/>
            <c:invertIfNegative val="0"/>
            <c:spPr>
              <a:solidFill>
                <a:srgbClr val="2121de"/>
              </a:solidFill>
              <a:ln w="0">
                <a:noFill/>
              </a:ln>
            </c:spPr>
          </c:dPt>
          <c:dLbls>
            <c:numFmt formatCode="0.0\%" sourceLinked="0"/>
            <c:dLbl>
              <c:idx val="0"/>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2"/>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3"/>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4"/>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5"/>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6"/>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7"/>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8"/>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9"/>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0"/>
                <c:pt idx="0">
                  <c:v>Top 10 %</c:v>
                </c:pt>
                <c:pt idx="1">
                  <c:v>10-20</c:v>
                </c:pt>
                <c:pt idx="2">
                  <c:v>20-30</c:v>
                </c:pt>
                <c:pt idx="3">
                  <c:v>30-40</c:v>
                </c:pt>
                <c:pt idx="4">
                  <c:v>40-50</c:v>
                </c:pt>
                <c:pt idx="5">
                  <c:v>50-60</c:v>
                </c:pt>
                <c:pt idx="6">
                  <c:v>60-70</c:v>
                </c:pt>
                <c:pt idx="7">
                  <c:v>70-80</c:v>
                </c:pt>
                <c:pt idx="8">
                  <c:v>80-90</c:v>
                </c:pt>
                <c:pt idx="9">
                  <c:v>90-100</c:v>
                </c:pt>
              </c:strCache>
            </c:strRef>
          </c:cat>
          <c:val>
            <c:numRef>
              <c:f>0</c:f>
              <c:numCache>
                <c:formatCode>General</c:formatCode>
                <c:ptCount val="10"/>
                <c:pt idx="0">
                  <c:v>58.8</c:v>
                </c:pt>
                <c:pt idx="1">
                  <c:v>15.9</c:v>
                </c:pt>
                <c:pt idx="2">
                  <c:v>9.1</c:v>
                </c:pt>
                <c:pt idx="3">
                  <c:v>5.7</c:v>
                </c:pt>
                <c:pt idx="4">
                  <c:v>3.9</c:v>
                </c:pt>
                <c:pt idx="5">
                  <c:v>2.7</c:v>
                </c:pt>
                <c:pt idx="6">
                  <c:v>1.8</c:v>
                </c:pt>
                <c:pt idx="7">
                  <c:v>1.1</c:v>
                </c:pt>
                <c:pt idx="8">
                  <c:v>0.7</c:v>
                </c:pt>
                <c:pt idx="9">
                  <c:v>0.3</c:v>
                </c:pt>
              </c:numCache>
            </c:numRef>
          </c:val>
        </c:ser>
        <c:gapWidth val="35"/>
        <c:overlap val="0"/>
        <c:axId val="97036407"/>
        <c:axId val="73617274"/>
      </c:barChart>
      <c:catAx>
        <c:axId val="97036407"/>
        <c:scaling>
          <c:orientation val="minMax"/>
        </c:scaling>
        <c:delete val="0"/>
        <c:axPos val="b"/>
        <c:title>
          <c:tx>
            <c:rich>
              <a:bodyPr rot="0"/>
              <a:lstStyle/>
              <a:p>
                <a:pPr>
                  <a:defRPr b="0" sz="1200" spc="-1" strike="noStrike">
                    <a:solidFill>
                      <a:srgbClr val="7c7caa"/>
                    </a:solidFill>
                    <a:latin typeface="Arial"/>
                  </a:defRPr>
                </a:pPr>
                <a:r>
                  <a:rPr b="0" sz="1200" spc="-1" strike="noStrike">
                    <a:solidFill>
                      <a:srgbClr val="7c7caa"/>
                    </a:solidFill>
                    <a:latin typeface="Arial"/>
                  </a:rPr>
                  <a:t>Jeux classés du plus vendu au moins vendu (tranches de 10 %)</a:t>
                </a:r>
              </a:p>
            </c:rich>
          </c:tx>
          <c:overlay val="0"/>
          <c:spPr>
            <a:noFill/>
            <a:ln w="0">
              <a:noFill/>
            </a:ln>
          </c:spPr>
        </c:title>
        <c:numFmt formatCode="General" sourceLinked="0"/>
        <c:majorTickMark val="out"/>
        <c:minorTickMark val="none"/>
        <c:tickLblPos val="low"/>
        <c:spPr>
          <a:ln w="12600">
            <a:solidFill>
              <a:srgbClr val="2121de"/>
            </a:solidFill>
            <a:round/>
          </a:ln>
        </c:spPr>
        <c:txPr>
          <a:bodyPr/>
          <a:lstStyle/>
          <a:p>
            <a:pPr>
              <a:defRPr b="0" sz="1100" spc="-1" strike="noStrike">
                <a:solidFill>
                  <a:srgbClr val="c4c4e4"/>
                </a:solidFill>
                <a:latin typeface="Arial"/>
              </a:defRPr>
            </a:pPr>
          </a:p>
        </c:txPr>
        <c:crossAx val="73617274"/>
        <c:crosses val="autoZero"/>
        <c:auto val="1"/>
        <c:lblAlgn val="ctr"/>
        <c:lblOffset val="100"/>
        <c:noMultiLvlLbl val="0"/>
      </c:catAx>
      <c:valAx>
        <c:axId val="73617274"/>
        <c:scaling>
          <c:orientation val="minMax"/>
        </c:scaling>
        <c:delete val="1"/>
        <c:axPos val="l"/>
        <c:numFmt formatCode="General" sourceLinked="1"/>
        <c:majorTickMark val="out"/>
        <c:minorTickMark val="none"/>
        <c:tickLblPos val="nextTo"/>
        <c:spPr>
          <a:ln w="6480">
            <a:solidFill>
              <a:srgbClr val="8b8b8b"/>
            </a:solidFill>
            <a:round/>
          </a:ln>
        </c:spPr>
        <c:txPr>
          <a:bodyPr/>
          <a:lstStyle/>
          <a:p>
            <a:pPr>
              <a:defRPr b="0" sz="1000" spc="-1" strike="noStrike">
                <a:solidFill>
                  <a:srgbClr val="000000"/>
                </a:solidFill>
                <a:latin typeface="Arial"/>
              </a:defRPr>
            </a:pPr>
          </a:p>
        </c:txPr>
        <c:crossAx val="97036407"/>
        <c:crossBetween val="between"/>
      </c:valAx>
      <c:spPr>
        <a:noFill/>
        <a:ln w="0">
          <a:noFill/>
        </a:ln>
      </c:spPr>
    </c:plotArea>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Ventes (M)</c:v>
                </c:pt>
              </c:strCache>
            </c:strRef>
          </c:tx>
          <c:spPr>
            <a:solidFill>
              <a:srgbClr val="3d3dff"/>
            </a:solidFill>
            <a:ln w="0">
              <a:noFill/>
            </a:ln>
          </c:spPr>
          <c:invertIfNegative val="0"/>
          <c:dPt>
            <c:idx val="0"/>
            <c:invertIfNegative val="0"/>
            <c:spPr>
              <a:solidFill>
                <a:srgbClr val="3d3dff"/>
              </a:solidFill>
              <a:ln w="0">
                <a:noFill/>
              </a:ln>
            </c:spPr>
          </c:dPt>
          <c:dPt>
            <c:idx val="1"/>
            <c:invertIfNegative val="0"/>
            <c:spPr>
              <a:solidFill>
                <a:srgbClr val="3d3dff"/>
              </a:solidFill>
              <a:ln w="0">
                <a:noFill/>
              </a:ln>
            </c:spPr>
          </c:dPt>
          <c:dPt>
            <c:idx val="2"/>
            <c:invertIfNegative val="0"/>
            <c:spPr>
              <a:solidFill>
                <a:srgbClr val="3d3dff"/>
              </a:solidFill>
              <a:ln w="0">
                <a:noFill/>
              </a:ln>
            </c:spPr>
          </c:dPt>
          <c:dPt>
            <c:idx val="3"/>
            <c:invertIfNegative val="0"/>
            <c:spPr>
              <a:solidFill>
                <a:srgbClr val="3d3dff"/>
              </a:solidFill>
              <a:ln w="0">
                <a:noFill/>
              </a:ln>
            </c:spPr>
          </c:dPt>
          <c:dPt>
            <c:idx val="4"/>
            <c:invertIfNegative val="0"/>
            <c:spPr>
              <a:solidFill>
                <a:srgbClr val="3d3dff"/>
              </a:solidFill>
              <a:ln w="0">
                <a:noFill/>
              </a:ln>
            </c:spPr>
          </c:dPt>
          <c:dPt>
            <c:idx val="5"/>
            <c:invertIfNegative val="0"/>
            <c:spPr>
              <a:solidFill>
                <a:srgbClr val="3d3dff"/>
              </a:solidFill>
              <a:ln w="0">
                <a:noFill/>
              </a:ln>
            </c:spPr>
          </c:dPt>
          <c:dPt>
            <c:idx val="6"/>
            <c:invertIfNegative val="0"/>
            <c:spPr>
              <a:solidFill>
                <a:srgbClr val="3d3dff"/>
              </a:solidFill>
              <a:ln w="0">
                <a:noFill/>
              </a:ln>
            </c:spPr>
          </c:dPt>
          <c:dPt>
            <c:idx val="7"/>
            <c:invertIfNegative val="0"/>
            <c:spPr>
              <a:solidFill>
                <a:srgbClr val="3d3dff"/>
              </a:solidFill>
              <a:ln w="0">
                <a:noFill/>
              </a:ln>
            </c:spPr>
          </c:dPt>
          <c:dPt>
            <c:idx val="8"/>
            <c:invertIfNegative val="0"/>
            <c:spPr>
              <a:solidFill>
                <a:srgbClr val="3d3dff"/>
              </a:solidFill>
              <a:ln w="0">
                <a:noFill/>
              </a:ln>
            </c:spPr>
          </c:dPt>
          <c:dPt>
            <c:idx val="9"/>
            <c:invertIfNegative val="0"/>
            <c:spPr>
              <a:solidFill>
                <a:srgbClr val="3d3dff"/>
              </a:solidFill>
              <a:ln w="0">
                <a:noFill/>
              </a:ln>
            </c:spPr>
          </c:dPt>
          <c:dPt>
            <c:idx val="10"/>
            <c:invertIfNegative val="0"/>
            <c:spPr>
              <a:solidFill>
                <a:srgbClr val="3d3dff"/>
              </a:solidFill>
              <a:ln w="0">
                <a:noFill/>
              </a:ln>
            </c:spPr>
          </c:dPt>
          <c:dPt>
            <c:idx val="11"/>
            <c:invertIfNegative val="0"/>
            <c:spPr>
              <a:solidFill>
                <a:srgbClr val="3d3dff"/>
              </a:solidFill>
              <a:ln w="0">
                <a:noFill/>
              </a:ln>
            </c:spPr>
          </c:dPt>
          <c:dPt>
            <c:idx val="12"/>
            <c:invertIfNegative val="0"/>
            <c:spPr>
              <a:solidFill>
                <a:srgbClr val="3d3dff"/>
              </a:solidFill>
              <a:ln w="0">
                <a:noFill/>
              </a:ln>
            </c:spPr>
          </c:dPt>
          <c:dPt>
            <c:idx val="13"/>
            <c:invertIfNegative val="0"/>
            <c:spPr>
              <a:solidFill>
                <a:srgbClr val="3d3dff"/>
              </a:solidFill>
              <a:ln w="0">
                <a:noFill/>
              </a:ln>
            </c:spPr>
          </c:dPt>
          <c:dPt>
            <c:idx val="14"/>
            <c:invertIfNegative val="0"/>
            <c:spPr>
              <a:solidFill>
                <a:srgbClr val="3d3dff"/>
              </a:solidFill>
              <a:ln w="0">
                <a:noFill/>
              </a:ln>
            </c:spPr>
          </c:dPt>
          <c:dPt>
            <c:idx val="15"/>
            <c:invertIfNegative val="0"/>
            <c:spPr>
              <a:solidFill>
                <a:srgbClr val="3d3dff"/>
              </a:solidFill>
              <a:ln w="0">
                <a:noFill/>
              </a:ln>
            </c:spPr>
          </c:dPt>
          <c:dPt>
            <c:idx val="16"/>
            <c:invertIfNegative val="0"/>
            <c:spPr>
              <a:solidFill>
                <a:srgbClr val="3d3dff"/>
              </a:solidFill>
              <a:ln w="0">
                <a:noFill/>
              </a:ln>
            </c:spPr>
          </c:dPt>
          <c:dPt>
            <c:idx val="17"/>
            <c:invertIfNegative val="0"/>
            <c:spPr>
              <a:solidFill>
                <a:srgbClr val="3d3dff"/>
              </a:solidFill>
              <a:ln w="0">
                <a:noFill/>
              </a:ln>
            </c:spPr>
          </c:dPt>
          <c:dPt>
            <c:idx val="18"/>
            <c:invertIfNegative val="0"/>
            <c:spPr>
              <a:solidFill>
                <a:srgbClr val="3d3dff"/>
              </a:solidFill>
              <a:ln w="0">
                <a:noFill/>
              </a:ln>
            </c:spPr>
          </c:dPt>
          <c:dPt>
            <c:idx val="19"/>
            <c:invertIfNegative val="0"/>
            <c:spPr>
              <a:solidFill>
                <a:srgbClr val="3d3dff"/>
              </a:solidFill>
              <a:ln w="0">
                <a:noFill/>
              </a:ln>
            </c:spPr>
          </c:dPt>
          <c:dPt>
            <c:idx val="20"/>
            <c:invertIfNegative val="0"/>
            <c:spPr>
              <a:solidFill>
                <a:srgbClr val="3d3dff"/>
              </a:solidFill>
              <a:ln w="0">
                <a:noFill/>
              </a:ln>
            </c:spPr>
          </c:dPt>
          <c:dPt>
            <c:idx val="21"/>
            <c:invertIfNegative val="0"/>
            <c:spPr>
              <a:solidFill>
                <a:srgbClr val="3d3dff"/>
              </a:solidFill>
              <a:ln w="0">
                <a:noFill/>
              </a:ln>
            </c:spPr>
          </c:dPt>
          <c:dPt>
            <c:idx val="22"/>
            <c:invertIfNegative val="0"/>
            <c:spPr>
              <a:solidFill>
                <a:srgbClr val="3d3dff"/>
              </a:solidFill>
              <a:ln w="0">
                <a:noFill/>
              </a:ln>
            </c:spPr>
          </c:dPt>
          <c:dPt>
            <c:idx val="23"/>
            <c:invertIfNegative val="0"/>
            <c:spPr>
              <a:solidFill>
                <a:srgbClr val="3d3dff"/>
              </a:solidFill>
              <a:ln w="0">
                <a:noFill/>
              </a:ln>
            </c:spPr>
          </c:dPt>
          <c:dPt>
            <c:idx val="24"/>
            <c:invertIfNegative val="0"/>
            <c:spPr>
              <a:solidFill>
                <a:srgbClr val="3d3dff"/>
              </a:solidFill>
              <a:ln w="0">
                <a:noFill/>
              </a:ln>
            </c:spPr>
          </c:dPt>
          <c:dPt>
            <c:idx val="25"/>
            <c:invertIfNegative val="0"/>
            <c:spPr>
              <a:solidFill>
                <a:srgbClr val="3d3dff"/>
              </a:solidFill>
              <a:ln w="0">
                <a:noFill/>
              </a:ln>
            </c:spPr>
          </c:dPt>
          <c:dPt>
            <c:idx val="26"/>
            <c:invertIfNegative val="0"/>
            <c:spPr>
              <a:solidFill>
                <a:srgbClr val="3d3dff"/>
              </a:solidFill>
              <a:ln w="0">
                <a:noFill/>
              </a:ln>
            </c:spPr>
          </c:dPt>
          <c:dPt>
            <c:idx val="27"/>
            <c:invertIfNegative val="0"/>
            <c:spPr>
              <a:solidFill>
                <a:srgbClr val="3d3dff"/>
              </a:solidFill>
              <a:ln w="0">
                <a:noFill/>
              </a:ln>
            </c:spPr>
          </c:dPt>
          <c:dPt>
            <c:idx val="28"/>
            <c:invertIfNegative val="0"/>
            <c:spPr>
              <a:solidFill>
                <a:srgbClr val="ffe600"/>
              </a:solidFill>
              <a:ln w="0">
                <a:noFill/>
              </a:ln>
            </c:spPr>
          </c:dPt>
          <c:dPt>
            <c:idx val="29"/>
            <c:invertIfNegative val="0"/>
            <c:spPr>
              <a:solidFill>
                <a:srgbClr val="3d3dff"/>
              </a:solidFill>
              <a:ln w="0">
                <a:noFill/>
              </a:ln>
            </c:spPr>
          </c:dPt>
          <c:dPt>
            <c:idx val="30"/>
            <c:invertIfNegative val="0"/>
            <c:spPr>
              <a:solidFill>
                <a:srgbClr val="3d3dff"/>
              </a:solidFill>
              <a:ln w="0">
                <a:noFill/>
              </a:ln>
            </c:spPr>
          </c:dPt>
          <c:dPt>
            <c:idx val="31"/>
            <c:invertIfNegative val="0"/>
            <c:spPr>
              <a:solidFill>
                <a:srgbClr val="3d3dff"/>
              </a:solidFill>
              <a:ln w="0">
                <a:noFill/>
              </a:ln>
            </c:spPr>
          </c:dPt>
          <c:dPt>
            <c:idx val="32"/>
            <c:invertIfNegative val="0"/>
            <c:spPr>
              <a:solidFill>
                <a:srgbClr val="3d3dff"/>
              </a:solidFill>
              <a:ln w="0">
                <a:noFill/>
              </a:ln>
            </c:spPr>
          </c:dPt>
          <c:dPt>
            <c:idx val="33"/>
            <c:invertIfNegative val="0"/>
            <c:spPr>
              <a:solidFill>
                <a:srgbClr val="3d3dff"/>
              </a:solidFill>
              <a:ln w="0">
                <a:noFill/>
              </a:ln>
            </c:spPr>
          </c:dPt>
          <c:dPt>
            <c:idx val="34"/>
            <c:invertIfNegative val="0"/>
            <c:spPr>
              <a:solidFill>
                <a:srgbClr val="3d3dff"/>
              </a:solidFill>
              <a:ln w="0">
                <a:noFill/>
              </a:ln>
            </c:spPr>
          </c:dPt>
          <c:dPt>
            <c:idx val="35"/>
            <c:invertIfNegative val="0"/>
            <c:spPr>
              <a:solidFill>
                <a:srgbClr val="3d3dff"/>
              </a:solidFill>
              <a:ln w="0">
                <a:noFill/>
              </a:ln>
            </c:spPr>
          </c:dPt>
          <c:dPt>
            <c:idx val="36"/>
            <c:invertIfNegative val="0"/>
            <c:spPr>
              <a:solidFill>
                <a:srgbClr val="3a3a6a"/>
              </a:solidFill>
              <a:ln w="0">
                <a:noFill/>
              </a:ln>
            </c:spPr>
          </c:dPt>
          <c:dLbls>
            <c:dLbl>
              <c:idx val="0"/>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3"/>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4"/>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5"/>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6"/>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7"/>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8"/>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9"/>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0"/>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1"/>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2"/>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3"/>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4"/>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5"/>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6"/>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7"/>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8"/>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19"/>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0"/>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1"/>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2"/>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3"/>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4"/>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5"/>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6"/>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7"/>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8"/>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29"/>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30"/>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31"/>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32"/>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33"/>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34"/>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35"/>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dLbl>
              <c:idx val="36"/>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dLbl>
            <c:txPr>
              <a:bodyPr wrap="square"/>
              <a:lstStyle/>
              <a:p>
                <a:pPr>
                  <a:defRPr b="0" sz="1000" spc="-1" strike="noStrike">
                    <a:solidFill>
                      <a:srgbClr val="000000"/>
                    </a:solidFill>
                    <a:latin typeface="Arial"/>
                  </a:defRPr>
                </a:pPr>
              </a:p>
            </c:txPr>
            <c:dLblPos val="outEnd"/>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37"/>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strCache>
            </c:strRef>
          </c:cat>
          <c:val>
            <c:numRef>
              <c:f>0</c:f>
              <c:numCache>
                <c:formatCode>General</c:formatCode>
                <c:ptCount val="37"/>
                <c:pt idx="0">
                  <c:v>11.4</c:v>
                </c:pt>
                <c:pt idx="1">
                  <c:v>35.8</c:v>
                </c:pt>
                <c:pt idx="2">
                  <c:v>28.9</c:v>
                </c:pt>
                <c:pt idx="3">
                  <c:v>16.8</c:v>
                </c:pt>
                <c:pt idx="4">
                  <c:v>50.4</c:v>
                </c:pt>
                <c:pt idx="5">
                  <c:v>53.9</c:v>
                </c:pt>
                <c:pt idx="6">
                  <c:v>37.1</c:v>
                </c:pt>
                <c:pt idx="7">
                  <c:v>21.7</c:v>
                </c:pt>
                <c:pt idx="8">
                  <c:v>45.8</c:v>
                </c:pt>
                <c:pt idx="9">
                  <c:v>74.9</c:v>
                </c:pt>
                <c:pt idx="10">
                  <c:v>49.4</c:v>
                </c:pt>
                <c:pt idx="11">
                  <c:v>32.2</c:v>
                </c:pt>
                <c:pt idx="12">
                  <c:v>75.9</c:v>
                </c:pt>
                <c:pt idx="13">
                  <c:v>46</c:v>
                </c:pt>
                <c:pt idx="14">
                  <c:v>79.2</c:v>
                </c:pt>
                <c:pt idx="15">
                  <c:v>88.1</c:v>
                </c:pt>
                <c:pt idx="16">
                  <c:v>199</c:v>
                </c:pt>
                <c:pt idx="17">
                  <c:v>200.9</c:v>
                </c:pt>
                <c:pt idx="18">
                  <c:v>256.5</c:v>
                </c:pt>
                <c:pt idx="19">
                  <c:v>251.2</c:v>
                </c:pt>
                <c:pt idx="20">
                  <c:v>200.4</c:v>
                </c:pt>
                <c:pt idx="21">
                  <c:v>333.4</c:v>
                </c:pt>
                <c:pt idx="22">
                  <c:v>399.5</c:v>
                </c:pt>
                <c:pt idx="23">
                  <c:v>367</c:v>
                </c:pt>
                <c:pt idx="24">
                  <c:v>418.6</c:v>
                </c:pt>
                <c:pt idx="25">
                  <c:v>459.7</c:v>
                </c:pt>
                <c:pt idx="26">
                  <c:v>526</c:v>
                </c:pt>
                <c:pt idx="27">
                  <c:v>612.5</c:v>
                </c:pt>
                <c:pt idx="28">
                  <c:v>688</c:v>
                </c:pt>
                <c:pt idx="29">
                  <c:v>667.7</c:v>
                </c:pt>
                <c:pt idx="30">
                  <c:v>604.7</c:v>
                </c:pt>
                <c:pt idx="31">
                  <c:v>519.5</c:v>
                </c:pt>
                <c:pt idx="32">
                  <c:v>368.5</c:v>
                </c:pt>
                <c:pt idx="33">
                  <c:v>368.6</c:v>
                </c:pt>
                <c:pt idx="34">
                  <c:v>337.1</c:v>
                </c:pt>
                <c:pt idx="35">
                  <c:v>264.4</c:v>
                </c:pt>
                <c:pt idx="36">
                  <c:v>70.9</c:v>
                </c:pt>
              </c:numCache>
            </c:numRef>
          </c:val>
        </c:ser>
        <c:gapWidth val="25"/>
        <c:overlap val="0"/>
        <c:axId val="45347388"/>
        <c:axId val="61271843"/>
      </c:barChart>
      <c:catAx>
        <c:axId val="45347388"/>
        <c:scaling>
          <c:orientation val="minMax"/>
        </c:scaling>
        <c:delete val="0"/>
        <c:axPos val="b"/>
        <c:numFmt formatCode="General" sourceLinked="0"/>
        <c:majorTickMark val="out"/>
        <c:minorTickMark val="none"/>
        <c:tickLblPos val="low"/>
        <c:spPr>
          <a:ln w="12600">
            <a:solidFill>
              <a:srgbClr val="2121de"/>
            </a:solidFill>
            <a:round/>
          </a:ln>
        </c:spPr>
        <c:txPr>
          <a:bodyPr/>
          <a:lstStyle/>
          <a:p>
            <a:pPr>
              <a:defRPr b="0" sz="1100" spc="-1" strike="noStrike">
                <a:solidFill>
                  <a:srgbClr val="c4c4e4"/>
                </a:solidFill>
                <a:latin typeface="Arial"/>
              </a:defRPr>
            </a:pPr>
          </a:p>
        </c:txPr>
        <c:crossAx val="61271843"/>
        <c:crosses val="autoZero"/>
        <c:auto val="1"/>
        <c:lblAlgn val="ctr"/>
        <c:lblOffset val="100"/>
        <c:noMultiLvlLbl val="0"/>
      </c:catAx>
      <c:valAx>
        <c:axId val="61271843"/>
        <c:scaling>
          <c:orientation val="minMax"/>
        </c:scaling>
        <c:delete val="0"/>
        <c:axPos val="l"/>
        <c:majorGridlines>
          <c:spPr>
            <a:ln w="9360">
              <a:solidFill>
                <a:srgbClr val="1a1a4a"/>
              </a:solidFill>
              <a:round/>
            </a:ln>
          </c:spPr>
        </c:majorGridlines>
        <c:title>
          <c:tx>
            <c:rich>
              <a:bodyPr rot="-5400000"/>
              <a:lstStyle/>
              <a:p>
                <a:pPr>
                  <a:defRPr b="0" sz="1200" spc="-1" strike="noStrike">
                    <a:solidFill>
                      <a:srgbClr val="7c7caa"/>
                    </a:solidFill>
                    <a:latin typeface="Arial"/>
                  </a:defRPr>
                </a:pPr>
                <a:r>
                  <a:rPr b="0" sz="1200" spc="-1" strike="noStrike">
                    <a:solidFill>
                      <a:srgbClr val="7c7caa"/>
                    </a:solidFill>
                    <a:latin typeface="Arial"/>
                  </a:rPr>
                  <a:t>Millions d'exemplaires vendus</a:t>
                </a:r>
              </a:p>
            </c:rich>
          </c:tx>
          <c:overlay val="0"/>
          <c:spPr>
            <a:noFill/>
            <a:ln w="0">
              <a:noFill/>
            </a:ln>
          </c:spPr>
        </c:title>
        <c:numFmt formatCode="0" sourceLinked="0"/>
        <c:majorTickMark val="out"/>
        <c:minorTickMark val="none"/>
        <c:tickLblPos val="nextTo"/>
        <c:spPr>
          <a:ln w="12600">
            <a:noFill/>
          </a:ln>
        </c:spPr>
        <c:txPr>
          <a:bodyPr/>
          <a:lstStyle/>
          <a:p>
            <a:pPr>
              <a:defRPr b="0" sz="1100" spc="-1" strike="noStrike">
                <a:solidFill>
                  <a:srgbClr val="c4c4e4"/>
                </a:solidFill>
                <a:latin typeface="Arial"/>
              </a:defRPr>
            </a:pPr>
          </a:p>
        </c:txPr>
        <c:crossAx val="45347388"/>
        <c:crosses val="autoZero"/>
        <c:crossBetween val="between"/>
      </c:valAx>
      <c:spPr>
        <a:noFill/>
        <a:ln w="0">
          <a:noFill/>
        </a:ln>
      </c:spPr>
    </c:plotArea>
    <c:plotVisOnly val="1"/>
    <c:dispBlanksAs val="span"/>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Amérique du Nord</c:v>
                </c:pt>
              </c:strCache>
            </c:strRef>
          </c:tx>
          <c:spPr>
            <a:solidFill>
              <a:srgbClr val="00ffff"/>
            </a:solidFill>
            <a:ln w="0">
              <a:noFill/>
            </a:ln>
          </c:spPr>
          <c:invertIfNegative val="0"/>
          <c:dLbls>
            <c:numFmt formatCode="0\%" sourceLinked="0"/>
            <c:txPr>
              <a:bodyPr wrap="square"/>
              <a:lstStyle/>
              <a:p>
                <a:pPr>
                  <a:defRPr b="1" sz="11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RPG</c:v>
                </c:pt>
                <c:pt idx="1">
                  <c:v>Tir</c:v>
                </c:pt>
                <c:pt idx="2">
                  <c:v>Action</c:v>
                </c:pt>
                <c:pt idx="3">
                  <c:v>Sport</c:v>
                </c:pt>
                <c:pt idx="4">
                  <c:v>Plates-formes</c:v>
                </c:pt>
              </c:strCache>
            </c:strRef>
          </c:cat>
          <c:val>
            <c:numRef>
              <c:f>0</c:f>
              <c:numCache>
                <c:formatCode>General</c:formatCode>
                <c:ptCount val="5"/>
                <c:pt idx="0">
                  <c:v>7.5</c:v>
                </c:pt>
                <c:pt idx="1">
                  <c:v>13.3</c:v>
                </c:pt>
                <c:pt idx="2">
                  <c:v>20</c:v>
                </c:pt>
                <c:pt idx="3">
                  <c:v>15.6</c:v>
                </c:pt>
                <c:pt idx="4">
                  <c:v>10.2</c:v>
                </c:pt>
              </c:numCache>
            </c:numRef>
          </c:val>
        </c:ser>
        <c:ser>
          <c:idx val="1"/>
          <c:order val="1"/>
          <c:tx>
            <c:strRef>
              <c:f>label 1</c:f>
              <c:strCache>
                <c:ptCount val="1"/>
                <c:pt idx="0">
                  <c:v>Europe</c:v>
                </c:pt>
              </c:strCache>
            </c:strRef>
          </c:tx>
          <c:spPr>
            <a:solidFill>
              <a:srgbClr val="ffb8ff"/>
            </a:solidFill>
            <a:ln w="0">
              <a:noFill/>
            </a:ln>
          </c:spPr>
          <c:invertIfNegative val="0"/>
          <c:dLbls>
            <c:numFmt formatCode="0\%" sourceLinked="0"/>
            <c:txPr>
              <a:bodyPr wrap="square"/>
              <a:lstStyle/>
              <a:p>
                <a:pPr>
                  <a:defRPr b="1" sz="11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RPG</c:v>
                </c:pt>
                <c:pt idx="1">
                  <c:v>Tir</c:v>
                </c:pt>
                <c:pt idx="2">
                  <c:v>Action</c:v>
                </c:pt>
                <c:pt idx="3">
                  <c:v>Sport</c:v>
                </c:pt>
                <c:pt idx="4">
                  <c:v>Plates-formes</c:v>
                </c:pt>
              </c:strCache>
            </c:strRef>
          </c:cat>
          <c:val>
            <c:numRef>
              <c:f>1</c:f>
              <c:numCache>
                <c:formatCode>General</c:formatCode>
                <c:ptCount val="5"/>
                <c:pt idx="0">
                  <c:v>7.7</c:v>
                </c:pt>
                <c:pt idx="1">
                  <c:v>12.9</c:v>
                </c:pt>
                <c:pt idx="2">
                  <c:v>21.6</c:v>
                </c:pt>
                <c:pt idx="3">
                  <c:v>15.5</c:v>
                </c:pt>
                <c:pt idx="4">
                  <c:v>8.3</c:v>
                </c:pt>
              </c:numCache>
            </c:numRef>
          </c:val>
        </c:ser>
        <c:ser>
          <c:idx val="2"/>
          <c:order val="2"/>
          <c:tx>
            <c:strRef>
              <c:f>label 2</c:f>
              <c:strCache>
                <c:ptCount val="1"/>
                <c:pt idx="0">
                  <c:v>Japon</c:v>
                </c:pt>
              </c:strCache>
            </c:strRef>
          </c:tx>
          <c:spPr>
            <a:solidFill>
              <a:srgbClr val="ff2d2d"/>
            </a:solidFill>
            <a:ln w="0">
              <a:noFill/>
            </a:ln>
          </c:spPr>
          <c:invertIfNegative val="0"/>
          <c:dLbls>
            <c:numFmt formatCode="0\%" sourceLinked="0"/>
            <c:txPr>
              <a:bodyPr wrap="square"/>
              <a:lstStyle/>
              <a:p>
                <a:pPr>
                  <a:defRPr b="1" sz="11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RPG</c:v>
                </c:pt>
                <c:pt idx="1">
                  <c:v>Tir</c:v>
                </c:pt>
                <c:pt idx="2">
                  <c:v>Action</c:v>
                </c:pt>
                <c:pt idx="3">
                  <c:v>Sport</c:v>
                </c:pt>
                <c:pt idx="4">
                  <c:v>Plates-formes</c:v>
                </c:pt>
              </c:strCache>
            </c:strRef>
          </c:cat>
          <c:val>
            <c:numRef>
              <c:f>2</c:f>
              <c:numCache>
                <c:formatCode>General</c:formatCode>
                <c:ptCount val="5"/>
                <c:pt idx="0">
                  <c:v>27.3</c:v>
                </c:pt>
                <c:pt idx="1">
                  <c:v>3</c:v>
                </c:pt>
                <c:pt idx="2">
                  <c:v>12.3</c:v>
                </c:pt>
                <c:pt idx="3">
                  <c:v>10.5</c:v>
                </c:pt>
                <c:pt idx="4">
                  <c:v>10.2</c:v>
                </c:pt>
              </c:numCache>
            </c:numRef>
          </c:val>
        </c:ser>
        <c:gapWidth val="45"/>
        <c:overlap val="0"/>
        <c:axId val="41268562"/>
        <c:axId val="88983507"/>
      </c:barChart>
      <c:catAx>
        <c:axId val="41268562"/>
        <c:scaling>
          <c:orientation val="maxMin"/>
        </c:scaling>
        <c:delete val="0"/>
        <c:axPos val="b"/>
        <c:numFmt formatCode="General" sourceLinked="0"/>
        <c:majorTickMark val="out"/>
        <c:minorTickMark val="none"/>
        <c:tickLblPos val="nextTo"/>
        <c:spPr>
          <a:ln w="12600">
            <a:solidFill>
              <a:srgbClr val="2121de"/>
            </a:solidFill>
            <a:round/>
          </a:ln>
        </c:spPr>
        <c:txPr>
          <a:bodyPr/>
          <a:lstStyle/>
          <a:p>
            <a:pPr>
              <a:defRPr b="0" sz="1400" spc="-1" strike="noStrike">
                <a:solidFill>
                  <a:srgbClr val="c4c4e4"/>
                </a:solidFill>
                <a:latin typeface="Arial"/>
              </a:defRPr>
            </a:pPr>
          </a:p>
        </c:txPr>
        <c:crossAx val="88983507"/>
        <c:crosses val="autoZero"/>
        <c:auto val="1"/>
        <c:lblAlgn val="ctr"/>
        <c:lblOffset val="100"/>
        <c:noMultiLvlLbl val="0"/>
      </c:catAx>
      <c:valAx>
        <c:axId val="88983507"/>
        <c:scaling>
          <c:orientation val="minMax"/>
        </c:scaling>
        <c:delete val="1"/>
        <c:axPos val="l"/>
        <c:numFmt formatCode="General" sourceLinked="1"/>
        <c:majorTickMark val="out"/>
        <c:minorTickMark val="none"/>
        <c:tickLblPos val="low"/>
        <c:spPr>
          <a:ln w="6480">
            <a:solidFill>
              <a:srgbClr val="8b8b8b"/>
            </a:solidFill>
            <a:round/>
          </a:ln>
        </c:spPr>
        <c:txPr>
          <a:bodyPr/>
          <a:lstStyle/>
          <a:p>
            <a:pPr>
              <a:defRPr b="0" sz="1000" spc="-1" strike="noStrike">
                <a:solidFill>
                  <a:srgbClr val="000000"/>
                </a:solidFill>
                <a:latin typeface="Arial"/>
              </a:defRPr>
            </a:pPr>
          </a:p>
        </c:txPr>
        <c:crossAx val="41268562"/>
        <c:crossBetween val="between"/>
      </c:valAx>
      <c:spPr>
        <a:noFill/>
        <a:ln w="0">
          <a:noFill/>
        </a:ln>
      </c:spPr>
    </c:plotArea>
    <c:legend>
      <c:legendPos val="t"/>
      <c:overlay val="0"/>
      <c:spPr>
        <a:noFill/>
        <a:ln w="0">
          <a:noFill/>
        </a:ln>
      </c:spPr>
      <c:txPr>
        <a:bodyPr/>
        <a:lstStyle/>
        <a:p>
          <a:pPr>
            <a:defRPr b="0" sz="1200" spc="-1" strike="noStrike">
              <a:solidFill>
                <a:srgbClr val="c4c4e4"/>
              </a:solidFill>
              <a:latin typeface="Arial"/>
            </a:defRPr>
          </a:pPr>
        </a:p>
      </c:txPr>
    </c:legend>
    <c:plotVisOnly val="1"/>
    <c:dispBlanksAs val="span"/>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stacked"/>
        <c:varyColors val="0"/>
        <c:ser>
          <c:idx val="0"/>
          <c:order val="0"/>
          <c:tx>
            <c:strRef>
              <c:f>label 0</c:f>
              <c:strCache>
                <c:ptCount val="1"/>
                <c:pt idx="0">
                  <c:v>Action</c:v>
                </c:pt>
              </c:strCache>
            </c:strRef>
          </c:tx>
          <c:spPr>
            <a:solidFill>
              <a:srgbClr val="ff2d2d"/>
            </a:solidFill>
            <a:ln w="0">
              <a:noFill/>
            </a:ln>
          </c:spPr>
          <c:invertIfNegative val="0"/>
          <c:dLbls>
            <c:numFmt formatCode="0\%" sourceLinked="0"/>
            <c:txPr>
              <a:bodyPr wrap="square"/>
              <a:lstStyle/>
              <a:p>
                <a:pPr>
                  <a:defRPr b="1" sz="1200" spc="-1" strike="noStrike">
                    <a:solidFill>
                      <a:srgbClr val="ffffff"/>
                    </a:solidFill>
                    <a:latin typeface="Arial"/>
                  </a:defRPr>
                </a:pPr>
              </a:p>
            </c:txPr>
            <c:dLblPos val="ctr"/>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1995–1999</c:v>
                </c:pt>
                <c:pt idx="1">
                  <c:v>2000–2004</c:v>
                </c:pt>
                <c:pt idx="2">
                  <c:v>2005–2009</c:v>
                </c:pt>
                <c:pt idx="3">
                  <c:v>2010–2016</c:v>
                </c:pt>
              </c:strCache>
            </c:strRef>
          </c:cat>
          <c:val>
            <c:numRef>
              <c:f>0</c:f>
              <c:numCache>
                <c:formatCode>General</c:formatCode>
                <c:ptCount val="4"/>
                <c:pt idx="0">
                  <c:v>12</c:v>
                </c:pt>
                <c:pt idx="1">
                  <c:v>18.9</c:v>
                </c:pt>
                <c:pt idx="2">
                  <c:v>18.4</c:v>
                </c:pt>
                <c:pt idx="3">
                  <c:v>26.9</c:v>
                </c:pt>
              </c:numCache>
            </c:numRef>
          </c:val>
        </c:ser>
        <c:ser>
          <c:idx val="1"/>
          <c:order val="1"/>
          <c:tx>
            <c:strRef>
              <c:f>label 1</c:f>
              <c:strCache>
                <c:ptCount val="1"/>
                <c:pt idx="0">
                  <c:v>Tir</c:v>
                </c:pt>
              </c:strCache>
            </c:strRef>
          </c:tx>
          <c:spPr>
            <a:solidFill>
              <a:srgbClr val="2121de"/>
            </a:solidFill>
            <a:ln w="0">
              <a:noFill/>
            </a:ln>
          </c:spPr>
          <c:invertIfNegative val="0"/>
          <c:dLbls>
            <c:numFmt formatCode="0\%" sourceLinked="0"/>
            <c:txPr>
              <a:bodyPr wrap="square"/>
              <a:lstStyle/>
              <a:p>
                <a:pPr>
                  <a:defRPr b="1" sz="1200" spc="-1" strike="noStrike">
                    <a:solidFill>
                      <a:srgbClr val="ffffff"/>
                    </a:solidFill>
                    <a:latin typeface="Arial"/>
                  </a:defRPr>
                </a:pPr>
              </a:p>
            </c:txPr>
            <c:dLblPos val="ctr"/>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1995–1999</c:v>
                </c:pt>
                <c:pt idx="1">
                  <c:v>2000–2004</c:v>
                </c:pt>
                <c:pt idx="2">
                  <c:v>2005–2009</c:v>
                </c:pt>
                <c:pt idx="3">
                  <c:v>2010–2016</c:v>
                </c:pt>
              </c:strCache>
            </c:strRef>
          </c:cat>
          <c:val>
            <c:numRef>
              <c:f>1</c:f>
              <c:numCache>
                <c:formatCode>General</c:formatCode>
                <c:ptCount val="4"/>
                <c:pt idx="0">
                  <c:v>5.6</c:v>
                </c:pt>
                <c:pt idx="1">
                  <c:v>9</c:v>
                </c:pt>
                <c:pt idx="2">
                  <c:v>9.6</c:v>
                </c:pt>
                <c:pt idx="3">
                  <c:v>18.4</c:v>
                </c:pt>
              </c:numCache>
            </c:numRef>
          </c:val>
        </c:ser>
        <c:ser>
          <c:idx val="2"/>
          <c:order val="2"/>
          <c:tx>
            <c:strRef>
              <c:f>label 2</c:f>
              <c:strCache>
                <c:ptCount val="1"/>
                <c:pt idx="0">
                  <c:v>Autres genres</c:v>
                </c:pt>
              </c:strCache>
            </c:strRef>
          </c:tx>
          <c:spPr>
            <a:solidFill>
              <a:srgbClr val="2c2c44"/>
            </a:solidFill>
            <a:ln w="0">
              <a:noFill/>
            </a:ln>
          </c:spPr>
          <c:invertIfNegative val="0"/>
          <c:dLbls>
            <c:numFmt formatCode="0\%" sourceLinked="0"/>
            <c:txPr>
              <a:bodyPr wrap="square"/>
              <a:lstStyle/>
              <a:p>
                <a:pPr>
                  <a:defRPr b="1" sz="1200" spc="-1" strike="noStrike">
                    <a:solidFill>
                      <a:srgbClr val="ffffff"/>
                    </a:solidFill>
                    <a:latin typeface="Arial"/>
                  </a:defRPr>
                </a:pPr>
              </a:p>
            </c:txPr>
            <c:dLblPos val="ctr"/>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1995–1999</c:v>
                </c:pt>
                <c:pt idx="1">
                  <c:v>2000–2004</c:v>
                </c:pt>
                <c:pt idx="2">
                  <c:v>2005–2009</c:v>
                </c:pt>
                <c:pt idx="3">
                  <c:v>2010–2016</c:v>
                </c:pt>
              </c:strCache>
            </c:strRef>
          </c:cat>
          <c:val>
            <c:numRef>
              <c:f>2</c:f>
              <c:numCache>
                <c:formatCode>General</c:formatCode>
                <c:ptCount val="4"/>
                <c:pt idx="0">
                  <c:v>82.4</c:v>
                </c:pt>
                <c:pt idx="1">
                  <c:v>72.1</c:v>
                </c:pt>
                <c:pt idx="2">
                  <c:v>72</c:v>
                </c:pt>
                <c:pt idx="3">
                  <c:v>54.7</c:v>
                </c:pt>
              </c:numCache>
            </c:numRef>
          </c:val>
        </c:ser>
        <c:gapWidth val="45"/>
        <c:overlap val="100"/>
        <c:axId val="54750681"/>
        <c:axId val="33163827"/>
      </c:barChart>
      <c:catAx>
        <c:axId val="54750681"/>
        <c:scaling>
          <c:orientation val="minMax"/>
        </c:scaling>
        <c:delete val="0"/>
        <c:axPos val="b"/>
        <c:numFmt formatCode="General" sourceLinked="0"/>
        <c:majorTickMark val="out"/>
        <c:minorTickMark val="none"/>
        <c:tickLblPos val="low"/>
        <c:spPr>
          <a:ln w="12600">
            <a:solidFill>
              <a:srgbClr val="2121de"/>
            </a:solidFill>
            <a:round/>
          </a:ln>
        </c:spPr>
        <c:txPr>
          <a:bodyPr/>
          <a:lstStyle/>
          <a:p>
            <a:pPr>
              <a:defRPr b="0" sz="1300" spc="-1" strike="noStrike">
                <a:solidFill>
                  <a:srgbClr val="c4c4e4"/>
                </a:solidFill>
                <a:latin typeface="Arial"/>
              </a:defRPr>
            </a:pPr>
          </a:p>
        </c:txPr>
        <c:crossAx val="33163827"/>
        <c:crosses val="autoZero"/>
        <c:auto val="1"/>
        <c:lblAlgn val="ctr"/>
        <c:lblOffset val="100"/>
        <c:noMultiLvlLbl val="0"/>
      </c:catAx>
      <c:valAx>
        <c:axId val="33163827"/>
        <c:scaling>
          <c:orientation val="minMax"/>
          <c:max val="100"/>
        </c:scaling>
        <c:delete val="1"/>
        <c:axPos val="l"/>
        <c:numFmt formatCode="General" sourceLinked="1"/>
        <c:majorTickMark val="out"/>
        <c:minorTickMark val="none"/>
        <c:tickLblPos val="nextTo"/>
        <c:spPr>
          <a:ln w="6480">
            <a:solidFill>
              <a:srgbClr val="8b8b8b"/>
            </a:solidFill>
            <a:round/>
          </a:ln>
        </c:spPr>
        <c:txPr>
          <a:bodyPr/>
          <a:lstStyle/>
          <a:p>
            <a:pPr>
              <a:defRPr b="0" sz="1000" spc="-1" strike="noStrike">
                <a:solidFill>
                  <a:srgbClr val="000000"/>
                </a:solidFill>
                <a:latin typeface="Arial"/>
              </a:defRPr>
            </a:pPr>
          </a:p>
        </c:txPr>
        <c:crossAx val="54750681"/>
        <c:crossBetween val="between"/>
      </c:valAx>
      <c:spPr>
        <a:noFill/>
        <a:ln w="0">
          <a:noFill/>
        </a:ln>
      </c:spPr>
    </c:plotArea>
    <c:legend>
      <c:legendPos val="t"/>
      <c:overlay val="0"/>
      <c:spPr>
        <a:noFill/>
        <a:ln w="0">
          <a:noFill/>
        </a:ln>
      </c:spPr>
      <c:txPr>
        <a:bodyPr/>
        <a:lstStyle/>
        <a:p>
          <a:pPr>
            <a:defRPr b="0" sz="1200" spc="-1" strike="noStrike">
              <a:solidFill>
                <a:srgbClr val="c4c4e4"/>
              </a:solidFill>
              <a:latin typeface="Arial"/>
            </a:defRPr>
          </a:pPr>
        </a:p>
      </c:txPr>
    </c:legend>
    <c:plotVisOnly val="1"/>
    <c:dispBlanksAs val="span"/>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MPI</c:v>
                </c:pt>
              </c:strCache>
            </c:strRef>
          </c:tx>
          <c:spPr>
            <a:solidFill>
              <a:srgbClr val="ffe600"/>
            </a:solidFill>
            <a:ln w="0">
              <a:noFill/>
            </a:ln>
          </c:spPr>
          <c:invertIfNegative val="0"/>
          <c:dPt>
            <c:idx val="0"/>
            <c:invertIfNegative val="0"/>
            <c:spPr>
              <a:solidFill>
                <a:srgbClr val="ffe600"/>
              </a:solidFill>
              <a:ln w="0">
                <a:noFill/>
              </a:ln>
            </c:spPr>
          </c:dPt>
          <c:dPt>
            <c:idx val="1"/>
            <c:invertIfNegative val="0"/>
            <c:spPr>
              <a:solidFill>
                <a:srgbClr val="3d3dff"/>
              </a:solidFill>
              <a:ln w="0">
                <a:noFill/>
              </a:ln>
            </c:spPr>
          </c:dPt>
          <c:dPt>
            <c:idx val="2"/>
            <c:invertIfNegative val="0"/>
            <c:spPr>
              <a:solidFill>
                <a:srgbClr val="3d3dff"/>
              </a:solidFill>
              <a:ln w="0">
                <a:noFill/>
              </a:ln>
            </c:spPr>
          </c:dPt>
          <c:dPt>
            <c:idx val="3"/>
            <c:invertIfNegative val="0"/>
            <c:spPr>
              <a:solidFill>
                <a:srgbClr val="3d3dff"/>
              </a:solidFill>
              <a:ln w="0">
                <a:noFill/>
              </a:ln>
            </c:spPr>
          </c:dPt>
          <c:dPt>
            <c:idx val="4"/>
            <c:invertIfNegative val="0"/>
            <c:spPr>
              <a:solidFill>
                <a:srgbClr val="3d3dff"/>
              </a:solidFill>
              <a:ln w="0">
                <a:noFill/>
              </a:ln>
            </c:spPr>
          </c:dPt>
          <c:dPt>
            <c:idx val="5"/>
            <c:invertIfNegative val="0"/>
            <c:spPr>
              <a:solidFill>
                <a:srgbClr val="3d3dff"/>
              </a:solidFill>
              <a:ln w="0">
                <a:noFill/>
              </a:ln>
            </c:spPr>
          </c:dPt>
          <c:dPt>
            <c:idx val="6"/>
            <c:invertIfNegative val="0"/>
            <c:spPr>
              <a:solidFill>
                <a:srgbClr val="3d3dff"/>
              </a:solidFill>
              <a:ln w="0">
                <a:noFill/>
              </a:ln>
            </c:spPr>
          </c:dPt>
          <c:dPt>
            <c:idx val="7"/>
            <c:invertIfNegative val="0"/>
            <c:spPr>
              <a:solidFill>
                <a:srgbClr val="3d3dff"/>
              </a:solidFill>
              <a:ln w="0">
                <a:noFill/>
              </a:ln>
            </c:spPr>
          </c:dPt>
          <c:dLbls>
            <c:numFmt formatCode="0.0" sourceLinked="0"/>
            <c:dLbl>
              <c:idx val="0"/>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2"/>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3"/>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4"/>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5"/>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6"/>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7"/>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8"/>
                <c:pt idx="0">
                  <c:v>Nintendo</c:v>
                </c:pt>
                <c:pt idx="1">
                  <c:v>EA</c:v>
                </c:pt>
                <c:pt idx="2">
                  <c:v>Sony</c:v>
                </c:pt>
                <c:pt idx="3">
                  <c:v>Activision</c:v>
                </c:pt>
                <c:pt idx="4">
                  <c:v>THQ</c:v>
                </c:pt>
                <c:pt idx="5">
                  <c:v>Take-Two</c:v>
                </c:pt>
                <c:pt idx="6">
                  <c:v>Sega</c:v>
                </c:pt>
                <c:pt idx="7">
                  <c:v>Ubisoft</c:v>
                </c:pt>
              </c:strCache>
            </c:strRef>
          </c:cat>
          <c:val>
            <c:numRef>
              <c:f>0</c:f>
              <c:numCache>
                <c:formatCode>General</c:formatCode>
                <c:ptCount val="8"/>
                <c:pt idx="0">
                  <c:v>95.5</c:v>
                </c:pt>
                <c:pt idx="1">
                  <c:v>74.5</c:v>
                </c:pt>
                <c:pt idx="2">
                  <c:v>60.5</c:v>
                </c:pt>
                <c:pt idx="3">
                  <c:v>58.8</c:v>
                </c:pt>
                <c:pt idx="4">
                  <c:v>50.8</c:v>
                </c:pt>
                <c:pt idx="5">
                  <c:v>50</c:v>
                </c:pt>
                <c:pt idx="6">
                  <c:v>48.8</c:v>
                </c:pt>
                <c:pt idx="7">
                  <c:v>48.2</c:v>
                </c:pt>
              </c:numCache>
            </c:numRef>
          </c:val>
        </c:ser>
        <c:gapWidth val="35"/>
        <c:overlap val="0"/>
        <c:axId val="99601628"/>
        <c:axId val="30174301"/>
      </c:barChart>
      <c:catAx>
        <c:axId val="99601628"/>
        <c:scaling>
          <c:orientation val="maxMin"/>
        </c:scaling>
        <c:delete val="0"/>
        <c:axPos val="b"/>
        <c:numFmt formatCode="General" sourceLinked="0"/>
        <c:majorTickMark val="out"/>
        <c:minorTickMark val="none"/>
        <c:tickLblPos val="nextTo"/>
        <c:spPr>
          <a:ln w="12600">
            <a:solidFill>
              <a:srgbClr val="2121de"/>
            </a:solidFill>
            <a:round/>
          </a:ln>
        </c:spPr>
        <c:txPr>
          <a:bodyPr/>
          <a:lstStyle/>
          <a:p>
            <a:pPr>
              <a:defRPr b="0" sz="1300" spc="-1" strike="noStrike">
                <a:solidFill>
                  <a:srgbClr val="c4c4e4"/>
                </a:solidFill>
                <a:latin typeface="Arial"/>
              </a:defRPr>
            </a:pPr>
          </a:p>
        </c:txPr>
        <c:crossAx val="30174301"/>
        <c:crosses val="autoZero"/>
        <c:auto val="1"/>
        <c:lblAlgn val="ctr"/>
        <c:lblOffset val="100"/>
        <c:noMultiLvlLbl val="0"/>
      </c:catAx>
      <c:valAx>
        <c:axId val="30174301"/>
        <c:scaling>
          <c:orientation val="minMax"/>
          <c:max val="112"/>
          <c:min val="0"/>
        </c:scaling>
        <c:delete val="1"/>
        <c:axPos val="l"/>
        <c:numFmt formatCode="General" sourceLinked="1"/>
        <c:majorTickMark val="out"/>
        <c:minorTickMark val="none"/>
        <c:tickLblPos val="low"/>
        <c:spPr>
          <a:ln w="6480">
            <a:solidFill>
              <a:srgbClr val="8b8b8b"/>
            </a:solidFill>
            <a:round/>
          </a:ln>
        </c:spPr>
        <c:txPr>
          <a:bodyPr/>
          <a:lstStyle/>
          <a:p>
            <a:pPr>
              <a:defRPr b="0" sz="1000" spc="-1" strike="noStrike">
                <a:solidFill>
                  <a:srgbClr val="000000"/>
                </a:solidFill>
                <a:latin typeface="Arial"/>
              </a:defRPr>
            </a:pPr>
          </a:p>
        </c:txPr>
        <c:crossAx val="99601628"/>
        <c:crossBetween val="between"/>
      </c:valAx>
      <c:spPr>
        <a:noFill/>
        <a:ln w="0">
          <a:noFill/>
        </a:ln>
      </c:spPr>
    </c:plotArea>
    <c:plotVisOnly val="1"/>
    <c:dispBlanksAs val="span"/>
  </c:chart>
  <c:spPr>
    <a:no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1"/>
        <c:ser>
          <c:idx val="0"/>
          <c:order val="0"/>
          <c:tx>
            <c:strRef>
              <c:f>label 0</c:f>
              <c:strCache>
                <c:ptCount val="1"/>
                <c:pt idx="0">
                  <c:v>Part des jeux notés</c:v>
                </c:pt>
              </c:strCache>
            </c:strRef>
          </c:tx>
          <c:spPr>
            <a:solidFill>
              <a:srgbClr val="2121de"/>
            </a:solidFill>
            <a:ln w="0">
              <a:noFill/>
            </a:ln>
          </c:spPr>
          <c:invertIfNegative val="0"/>
          <c:dPt>
            <c:idx val="0"/>
            <c:spPr>
              <a:solidFill>
                <a:srgbClr val="2121de"/>
              </a:solidFill>
              <a:ln w="0">
                <a:noFill/>
              </a:ln>
            </c:spPr>
          </c:dPt>
          <c:dPt>
            <c:idx val="1"/>
            <c:spPr>
              <a:solidFill>
                <a:srgbClr val="2121de"/>
              </a:solidFill>
              <a:ln w="0">
                <a:noFill/>
              </a:ln>
            </c:spPr>
          </c:dPt>
          <c:dPt>
            <c:idx val="2"/>
            <c:spPr>
              <a:solidFill>
                <a:srgbClr val="2121de"/>
              </a:solidFill>
              <a:ln w="0">
                <a:noFill/>
              </a:ln>
            </c:spPr>
          </c:dPt>
          <c:dPt>
            <c:idx val="3"/>
            <c:spPr>
              <a:solidFill>
                <a:srgbClr val="2121de"/>
              </a:solidFill>
              <a:ln w="0">
                <a:noFill/>
              </a:ln>
            </c:spPr>
          </c:dPt>
          <c:dPt>
            <c:idx val="4"/>
            <c:spPr>
              <a:solidFill>
                <a:srgbClr val="ffe600"/>
              </a:solidFill>
              <a:ln w="0">
                <a:noFill/>
              </a:ln>
            </c:spPr>
          </c:dPt>
          <c:dLbls>
            <c:numFmt formatCode="0%" sourceLinked="0"/>
            <c:dLbl>
              <c:idx val="0"/>
              <c:numFmt formatCode="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
              <c:numFmt formatCode="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2"/>
              <c:numFmt formatCode="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3"/>
              <c:numFmt formatCode="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4"/>
              <c:numFmt formatCode="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20 % les
moins vendus</c:v>
                </c:pt>
                <c:pt idx="1">
                  <c:v>2e</c:v>
                </c:pt>
                <c:pt idx="2">
                  <c:v>3e</c:v>
                </c:pt>
                <c:pt idx="3">
                  <c:v>4e</c:v>
                </c:pt>
                <c:pt idx="4">
                  <c:v>20 % les
plus vendus</c:v>
                </c:pt>
              </c:strCache>
            </c:strRef>
          </c:cat>
          <c:val>
            <c:numRef>
              <c:f>0</c:f>
              <c:numCache>
                <c:formatCode>General</c:formatCode>
                <c:ptCount val="5"/>
                <c:pt idx="0">
                  <c:v>0.298836497244336</c:v>
                </c:pt>
                <c:pt idx="1">
                  <c:v>0.426646248085758</c:v>
                </c:pt>
                <c:pt idx="2">
                  <c:v>0.505666156202144</c:v>
                </c:pt>
                <c:pt idx="3">
                  <c:v>0.556202143950995</c:v>
                </c:pt>
                <c:pt idx="4">
                  <c:v>0.654823889739663</c:v>
                </c:pt>
              </c:numCache>
            </c:numRef>
          </c:val>
        </c:ser>
        <c:gapWidth val="35"/>
        <c:overlap val="0"/>
        <c:axId val="53168809"/>
        <c:axId val="66190332"/>
      </c:barChart>
      <c:catAx>
        <c:axId val="53168809"/>
        <c:scaling>
          <c:orientation val="minMax"/>
        </c:scaling>
        <c:delete val="0"/>
        <c:axPos val="b"/>
        <c:title>
          <c:tx>
            <c:rich>
              <a:bodyPr rot="0"/>
              <a:lstStyle/>
              <a:p>
                <a:pPr>
                  <a:defRPr b="0" sz="1200" spc="-1" strike="noStrike">
                    <a:solidFill>
                      <a:srgbClr val="7c7caa"/>
                    </a:solidFill>
                    <a:latin typeface="Arial"/>
                  </a:defRPr>
                </a:pPr>
                <a:r>
                  <a:rPr b="0" sz="1200" spc="-1" strike="noStrike">
                    <a:solidFill>
                      <a:srgbClr val="7c7caa"/>
                    </a:solidFill>
                    <a:latin typeface="Arial"/>
                  </a:rPr>
                  <a:t>Jeux classés par ventes mondiales, en 5 groupes de même taille</a:t>
                </a:r>
              </a:p>
            </c:rich>
          </c:tx>
          <c:overlay val="0"/>
          <c:spPr>
            <a:noFill/>
            <a:ln w="0">
              <a:noFill/>
            </a:ln>
          </c:spPr>
        </c:title>
        <c:numFmt formatCode="General" sourceLinked="0"/>
        <c:majorTickMark val="out"/>
        <c:minorTickMark val="none"/>
        <c:tickLblPos val="nextTo"/>
        <c:spPr>
          <a:ln w="12600">
            <a:solidFill>
              <a:srgbClr val="2121de"/>
            </a:solidFill>
            <a:round/>
          </a:ln>
        </c:spPr>
        <c:txPr>
          <a:bodyPr/>
          <a:lstStyle/>
          <a:p>
            <a:pPr>
              <a:defRPr b="0" sz="1100" spc="-1" strike="noStrike">
                <a:solidFill>
                  <a:srgbClr val="c4c4e4"/>
                </a:solidFill>
                <a:latin typeface="Arial"/>
              </a:defRPr>
            </a:pPr>
          </a:p>
        </c:txPr>
        <c:crossAx val="66190332"/>
        <c:crosses val="autoZero"/>
        <c:auto val="1"/>
        <c:lblAlgn val="ctr"/>
        <c:lblOffset val="100"/>
        <c:noMultiLvlLbl val="0"/>
      </c:catAx>
      <c:valAx>
        <c:axId val="66190332"/>
        <c:scaling>
          <c:orientation val="minMax"/>
        </c:scaling>
        <c:delete val="1"/>
        <c:axPos val="l"/>
        <c:numFmt formatCode="General" sourceLinked="1"/>
        <c:majorTickMark val="out"/>
        <c:minorTickMark val="none"/>
        <c:tickLblPos val="nextTo"/>
        <c:spPr>
          <a:ln w="6480">
            <a:solidFill>
              <a:srgbClr val="8b8b8b"/>
            </a:solidFill>
            <a:round/>
          </a:ln>
        </c:spPr>
        <c:txPr>
          <a:bodyPr/>
          <a:lstStyle/>
          <a:p>
            <a:pPr>
              <a:defRPr b="0" sz="1100" spc="-1" strike="noStrike">
                <a:solidFill>
                  <a:srgbClr val="c4c4e4"/>
                </a:solidFill>
                <a:latin typeface="Arial"/>
              </a:defRPr>
            </a:pPr>
          </a:p>
        </c:txPr>
        <c:crossAx val="53168809"/>
        <c:crossBetween val="between"/>
      </c:valAx>
      <c:spPr>
        <a:noFill/>
        <a:ln w="0">
          <a:noFill/>
        </a:ln>
      </c:spPr>
    </c:plotArea>
    <c:plotVisOnly val="1"/>
    <c:dispBlanksAs val="gap"/>
  </c:chart>
  <c:spPr>
    <a:noFill/>
    <a:ln w="0">
      <a:noFill/>
    </a:ln>
  </c:spPr>
</c:chartSpace>
</file>

<file path=ppt/charts/chart7.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1"/>
        <c:ser>
          <c:idx val="0"/>
          <c:order val="0"/>
          <c:tx>
            <c:strRef>
              <c:f>label 0</c:f>
              <c:strCache>
                <c:ptCount val="1"/>
                <c:pt idx="0">
                  <c:v>Ventes médianes (M)</c:v>
                </c:pt>
              </c:strCache>
            </c:strRef>
          </c:tx>
          <c:spPr>
            <a:solidFill>
              <a:srgbClr val="2121de"/>
            </a:solidFill>
            <a:ln w="0">
              <a:noFill/>
            </a:ln>
          </c:spPr>
          <c:invertIfNegative val="0"/>
          <c:dPt>
            <c:idx val="0"/>
            <c:spPr>
              <a:solidFill>
                <a:srgbClr val="2121de"/>
              </a:solidFill>
              <a:ln w="0">
                <a:noFill/>
              </a:ln>
            </c:spPr>
          </c:dPt>
          <c:dPt>
            <c:idx val="1"/>
            <c:spPr>
              <a:solidFill>
                <a:srgbClr val="2121de"/>
              </a:solidFill>
              <a:ln w="0">
                <a:noFill/>
              </a:ln>
            </c:spPr>
          </c:dPt>
          <c:dPt>
            <c:idx val="2"/>
            <c:spPr>
              <a:solidFill>
                <a:srgbClr val="2121de"/>
              </a:solidFill>
              <a:ln w="0">
                <a:noFill/>
              </a:ln>
            </c:spPr>
          </c:dPt>
          <c:dPt>
            <c:idx val="3"/>
            <c:spPr>
              <a:solidFill>
                <a:srgbClr val="2121de"/>
              </a:solidFill>
              <a:ln w="0">
                <a:noFill/>
              </a:ln>
            </c:spPr>
          </c:dPt>
          <c:dPt>
            <c:idx val="4"/>
            <c:spPr>
              <a:solidFill>
                <a:srgbClr val="2121de"/>
              </a:solidFill>
              <a:ln w="0">
                <a:noFill/>
              </a:ln>
            </c:spPr>
          </c:dPt>
          <c:dPt>
            <c:idx val="5"/>
            <c:spPr>
              <a:solidFill>
                <a:srgbClr val="ffe600"/>
              </a:solidFill>
              <a:ln w="0">
                <a:noFill/>
              </a:ln>
            </c:spPr>
          </c:dPt>
          <c:dLbls>
            <c:numFmt formatCode="0.00&quot; M&quot;" sourceLinked="0"/>
            <c:dLbl>
              <c:idx val="0"/>
              <c:numFmt formatCode="0.00&quot; M&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
              <c:numFmt formatCode="0.00&quot; M&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2"/>
              <c:numFmt formatCode="0.00&quot; M&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3"/>
              <c:numFmt formatCode="0.00&quot; M&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4"/>
              <c:numFmt formatCode="0.00&quot; M&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5"/>
              <c:numFmt formatCode="0.00&quot; M&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6"/>
                <c:pt idx="0">
                  <c:v>&lt; 50</c:v>
                </c:pt>
                <c:pt idx="1">
                  <c:v>50-59</c:v>
                </c:pt>
                <c:pt idx="2">
                  <c:v>60-69</c:v>
                </c:pt>
                <c:pt idx="3">
                  <c:v>70-79</c:v>
                </c:pt>
                <c:pt idx="4">
                  <c:v>80-89</c:v>
                </c:pt>
                <c:pt idx="5">
                  <c:v>90 et +</c:v>
                </c:pt>
              </c:strCache>
            </c:strRef>
          </c:cat>
          <c:val>
            <c:numRef>
              <c:f>0</c:f>
              <c:numCache>
                <c:formatCode>General</c:formatCode>
                <c:ptCount val="6"/>
                <c:pt idx="0">
                  <c:v>0.12</c:v>
                </c:pt>
                <c:pt idx="1">
                  <c:v>0.16</c:v>
                </c:pt>
                <c:pt idx="2">
                  <c:v>0.18</c:v>
                </c:pt>
                <c:pt idx="3">
                  <c:v>0.29</c:v>
                </c:pt>
                <c:pt idx="4">
                  <c:v>0.6</c:v>
                </c:pt>
                <c:pt idx="5">
                  <c:v>1.54</c:v>
                </c:pt>
              </c:numCache>
            </c:numRef>
          </c:val>
        </c:ser>
        <c:gapWidth val="35"/>
        <c:overlap val="0"/>
        <c:axId val="71654321"/>
        <c:axId val="42555690"/>
      </c:barChart>
      <c:catAx>
        <c:axId val="71654321"/>
        <c:scaling>
          <c:orientation val="minMax"/>
        </c:scaling>
        <c:delete val="0"/>
        <c:axPos val="b"/>
        <c:title>
          <c:tx>
            <c:rich>
              <a:bodyPr rot="0"/>
              <a:lstStyle/>
              <a:p>
                <a:pPr>
                  <a:defRPr b="0" sz="1200" spc="-1" strike="noStrike">
                    <a:solidFill>
                      <a:srgbClr val="7c7caa"/>
                    </a:solidFill>
                    <a:latin typeface="Arial"/>
                  </a:defRPr>
                </a:pPr>
                <a:r>
                  <a:rPr b="0" sz="1200" spc="-1" strike="noStrike">
                    <a:solidFill>
                      <a:srgbClr val="7c7caa"/>
                    </a:solidFill>
                    <a:latin typeface="Arial"/>
                  </a:rPr>
                  <a:t>Note presse Metacritic (/100) · ventes mondiales médianes en millions</a:t>
                </a:r>
              </a:p>
            </c:rich>
          </c:tx>
          <c:overlay val="0"/>
          <c:spPr>
            <a:noFill/>
            <a:ln w="0">
              <a:noFill/>
            </a:ln>
          </c:spPr>
        </c:title>
        <c:numFmt formatCode="General" sourceLinked="0"/>
        <c:majorTickMark val="out"/>
        <c:minorTickMark val="none"/>
        <c:tickLblPos val="nextTo"/>
        <c:spPr>
          <a:ln w="12600">
            <a:solidFill>
              <a:srgbClr val="2121de"/>
            </a:solidFill>
            <a:round/>
          </a:ln>
        </c:spPr>
        <c:txPr>
          <a:bodyPr/>
          <a:lstStyle/>
          <a:p>
            <a:pPr>
              <a:defRPr b="0" sz="1100" spc="-1" strike="noStrike">
                <a:solidFill>
                  <a:srgbClr val="c4c4e4"/>
                </a:solidFill>
                <a:latin typeface="Arial"/>
              </a:defRPr>
            </a:pPr>
          </a:p>
        </c:txPr>
        <c:crossAx val="42555690"/>
        <c:crosses val="autoZero"/>
        <c:auto val="1"/>
        <c:lblAlgn val="ctr"/>
        <c:lblOffset val="100"/>
        <c:noMultiLvlLbl val="0"/>
      </c:catAx>
      <c:valAx>
        <c:axId val="42555690"/>
        <c:scaling>
          <c:orientation val="minMax"/>
        </c:scaling>
        <c:delete val="1"/>
        <c:axPos val="l"/>
        <c:numFmt formatCode="General" sourceLinked="1"/>
        <c:majorTickMark val="out"/>
        <c:minorTickMark val="none"/>
        <c:tickLblPos val="nextTo"/>
        <c:spPr>
          <a:ln w="6480">
            <a:solidFill>
              <a:srgbClr val="8b8b8b"/>
            </a:solidFill>
            <a:round/>
          </a:ln>
        </c:spPr>
        <c:txPr>
          <a:bodyPr/>
          <a:lstStyle/>
          <a:p>
            <a:pPr>
              <a:defRPr b="0" sz="1100" spc="-1" strike="noStrike">
                <a:solidFill>
                  <a:srgbClr val="c4c4e4"/>
                </a:solidFill>
                <a:latin typeface="Arial"/>
              </a:defRPr>
            </a:pPr>
          </a:p>
        </c:txPr>
        <c:crossAx val="71654321"/>
        <c:crossBetween val="between"/>
      </c:valAx>
      <c:spPr>
        <a:noFill/>
        <a:ln w="0">
          <a:noFill/>
        </a:ln>
      </c:spPr>
    </c:plotArea>
    <c:plotVisOnly val="1"/>
    <c:dispBlanksAs val="gap"/>
  </c:chart>
  <c:spPr>
    <a:noFill/>
    <a:ln w="0">
      <a:noFill/>
    </a:ln>
  </c:spPr>
</c:chartSpace>
</file>

<file path=ppt/charts/chart8.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lineChart>
        <c:grouping val="standard"/>
        <c:varyColors val="0"/>
        <c:ser>
          <c:idx val="0"/>
          <c:order val="0"/>
          <c:tx>
            <c:strRef>
              <c:f>label 0</c:f>
              <c:strCache>
                <c:ptCount val="1"/>
                <c:pt idx="0">
                  <c:v>Presse</c:v>
                </c:pt>
              </c:strCache>
            </c:strRef>
          </c:tx>
          <c:spPr>
            <a:solidFill>
              <a:srgbClr val="00ffff"/>
            </a:solidFill>
            <a:ln w="38160">
              <a:solidFill>
                <a:srgbClr val="00ffff"/>
              </a:solidFill>
              <a:round/>
            </a:ln>
          </c:spPr>
          <c:marker>
            <c:symbol val="square"/>
            <c:size val="7"/>
            <c:spPr>
              <a:solidFill>
                <a:srgbClr val="00ffff"/>
              </a:solidFill>
            </c:spPr>
          </c:marker>
          <c:dLbls>
            <c:txPr>
              <a:bodyPr wrap="square"/>
              <a:lstStyle/>
              <a:p>
                <a:pPr>
                  <a:defRPr b="0" sz="1100" spc="-1" strike="noStrike">
                    <a:solidFill>
                      <a:srgbClr val="c4c4e4"/>
                    </a:solidFill>
                    <a:latin typeface="Arial"/>
                  </a:defRPr>
                </a:pPr>
              </a:p>
            </c:txPr>
            <c:dLblPos val="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0</c:f>
              <c:numCache>
                <c:formatCode>General</c:formatCode>
                <c:ptCount val="17"/>
                <c:pt idx="0">
                  <c:v>69.2816901408451</c:v>
                </c:pt>
                <c:pt idx="1">
                  <c:v>71.4407294832827</c:v>
                </c:pt>
                <c:pt idx="2">
                  <c:v>69.1359375</c:v>
                </c:pt>
                <c:pt idx="3">
                  <c:v>70.1861252115059</c:v>
                </c:pt>
                <c:pt idx="4">
                  <c:v>69.4224598930481</c:v>
                </c:pt>
                <c:pt idx="5">
                  <c:v>68.7484848484849</c:v>
                </c:pt>
                <c:pt idx="6">
                  <c:v>67.3993660855785</c:v>
                </c:pt>
                <c:pt idx="7">
                  <c:v>66.0689655172414</c:v>
                </c:pt>
                <c:pt idx="8">
                  <c:v>65.8855172413793</c:v>
                </c:pt>
                <c:pt idx="9">
                  <c:v>67.5902140672783</c:v>
                </c:pt>
                <c:pt idx="10">
                  <c:v>67.5792563600783</c:v>
                </c:pt>
                <c:pt idx="11">
                  <c:v>68.6686390532544</c:v>
                </c:pt>
                <c:pt idx="12">
                  <c:v>72.8861538461539</c:v>
                </c:pt>
                <c:pt idx="13">
                  <c:v>71.2654545454546</c:v>
                </c:pt>
                <c:pt idx="14">
                  <c:v>71.0651340996169</c:v>
                </c:pt>
                <c:pt idx="15">
                  <c:v>72.8711111111111</c:v>
                </c:pt>
                <c:pt idx="16">
                  <c:v>73.1551724137931</c:v>
                </c:pt>
              </c:numCache>
            </c:numRef>
          </c:val>
          <c:smooth val="0"/>
        </c:ser>
        <c:ser>
          <c:idx val="1"/>
          <c:order val="1"/>
          <c:tx>
            <c:strRef>
              <c:f>label 1</c:f>
              <c:strCache>
                <c:ptCount val="1"/>
                <c:pt idx="0">
                  <c:v>Joueurs (sur 100)</c:v>
                </c:pt>
              </c:strCache>
            </c:strRef>
          </c:tx>
          <c:spPr>
            <a:solidFill>
              <a:srgbClr val="ffb8ff"/>
            </a:solidFill>
            <a:ln w="38160">
              <a:solidFill>
                <a:srgbClr val="ffb8ff"/>
              </a:solidFill>
              <a:round/>
            </a:ln>
          </c:spPr>
          <c:marker>
            <c:symbol val="square"/>
            <c:size val="7"/>
            <c:spPr>
              <a:solidFill>
                <a:srgbClr val="ffb8ff"/>
              </a:solidFill>
            </c:spPr>
          </c:marker>
          <c:dLbls>
            <c:txPr>
              <a:bodyPr wrap="square"/>
              <a:lstStyle/>
              <a:p>
                <a:pPr>
                  <a:defRPr b="0" sz="1100" spc="-1" strike="noStrike">
                    <a:solidFill>
                      <a:srgbClr val="c4c4e4"/>
                    </a:solidFill>
                    <a:latin typeface="Arial"/>
                  </a:defRPr>
                </a:pPr>
              </a:p>
            </c:txPr>
            <c:dLblPos val="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1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strCache>
            </c:strRef>
          </c:cat>
          <c:val>
            <c:numRef>
              <c:f>1</c:f>
              <c:numCache>
                <c:formatCode>General</c:formatCode>
                <c:ptCount val="17"/>
                <c:pt idx="0">
                  <c:v>75.2264150943396</c:v>
                </c:pt>
                <c:pt idx="1">
                  <c:v>75.9538461538462</c:v>
                </c:pt>
                <c:pt idx="2">
                  <c:v>75.890756302521</c:v>
                </c:pt>
                <c:pt idx="3">
                  <c:v>78.447216890595</c:v>
                </c:pt>
                <c:pt idx="4">
                  <c:v>77.5030674846626</c:v>
                </c:pt>
                <c:pt idx="5">
                  <c:v>74.8856655290102</c:v>
                </c:pt>
                <c:pt idx="6">
                  <c:v>72.3636363636364</c:v>
                </c:pt>
                <c:pt idx="7">
                  <c:v>68.9399684044234</c:v>
                </c:pt>
                <c:pt idx="8">
                  <c:v>69.561377245509</c:v>
                </c:pt>
                <c:pt idx="9">
                  <c:v>69.9285714285714</c:v>
                </c:pt>
                <c:pt idx="10">
                  <c:v>68.8193277310924</c:v>
                </c:pt>
                <c:pt idx="11">
                  <c:v>66.25</c:v>
                </c:pt>
                <c:pt idx="12">
                  <c:v>68.2543859649123</c:v>
                </c:pt>
                <c:pt idx="13">
                  <c:v>64.6764705882353</c:v>
                </c:pt>
                <c:pt idx="14">
                  <c:v>65.8024316109423</c:v>
                </c:pt>
                <c:pt idx="15">
                  <c:v>66.6599326599327</c:v>
                </c:pt>
                <c:pt idx="16">
                  <c:v>66.2977099236641</c:v>
                </c:pt>
              </c:numCache>
            </c:numRef>
          </c:val>
          <c:smooth val="0"/>
        </c:ser>
        <c:hiLowLines>
          <c:spPr>
            <a:ln w="0">
              <a:noFill/>
            </a:ln>
          </c:spPr>
        </c:hiLowLines>
        <c:marker val="1"/>
        <c:axId val="57981639"/>
        <c:axId val="61694027"/>
      </c:lineChart>
      <c:catAx>
        <c:axId val="57981639"/>
        <c:scaling>
          <c:orientation val="minMax"/>
        </c:scaling>
        <c:delete val="0"/>
        <c:axPos val="b"/>
        <c:title>
          <c:tx>
            <c:rich>
              <a:bodyPr rot="0"/>
              <a:lstStyle/>
              <a:p>
                <a:pPr>
                  <a:defRPr b="0" sz="1200" spc="-1" strike="noStrike">
                    <a:solidFill>
                      <a:srgbClr val="7c7caa"/>
                    </a:solidFill>
                    <a:latin typeface="Arial"/>
                  </a:defRPr>
                </a:pPr>
                <a:r>
                  <a:rPr b="0" sz="1200" spc="-1" strike="noStrike">
                    <a:solidFill>
                      <a:srgbClr val="7c7caa"/>
                    </a:solidFill>
                    <a:latin typeface="Arial"/>
                  </a:rPr>
                  <a:t>Note moyenne des jeux sortis chaque année (/100)</a:t>
                </a:r>
              </a:p>
            </c:rich>
          </c:tx>
          <c:overlay val="0"/>
          <c:spPr>
            <a:noFill/>
            <a:ln w="0">
              <a:noFill/>
            </a:ln>
          </c:spPr>
        </c:title>
        <c:numFmt formatCode="General" sourceLinked="0"/>
        <c:majorTickMark val="out"/>
        <c:minorTickMark val="none"/>
        <c:tickLblPos val="nextTo"/>
        <c:spPr>
          <a:ln w="12600">
            <a:solidFill>
              <a:srgbClr val="2121de"/>
            </a:solidFill>
            <a:round/>
          </a:ln>
        </c:spPr>
        <c:txPr>
          <a:bodyPr/>
          <a:lstStyle/>
          <a:p>
            <a:pPr>
              <a:defRPr b="0" sz="1000" spc="-1" strike="noStrike">
                <a:solidFill>
                  <a:srgbClr val="c4c4e4"/>
                </a:solidFill>
                <a:latin typeface="Arial"/>
              </a:defRPr>
            </a:pPr>
          </a:p>
        </c:txPr>
        <c:crossAx val="61694027"/>
        <c:crosses val="autoZero"/>
        <c:auto val="1"/>
        <c:lblAlgn val="ctr"/>
        <c:lblOffset val="100"/>
        <c:noMultiLvlLbl val="0"/>
      </c:catAx>
      <c:valAx>
        <c:axId val="61694027"/>
        <c:scaling>
          <c:orientation val="minMax"/>
          <c:max val="80"/>
          <c:min val="62"/>
        </c:scaling>
        <c:delete val="0"/>
        <c:axPos val="l"/>
        <c:majorGridlines>
          <c:spPr>
            <a:ln w="9360">
              <a:solidFill>
                <a:srgbClr val="1a1a4a"/>
              </a:solidFill>
              <a:round/>
            </a:ln>
          </c:spPr>
        </c:majorGridlines>
        <c:numFmt formatCode="General" sourceLinked="0"/>
        <c:majorTickMark val="out"/>
        <c:minorTickMark val="none"/>
        <c:tickLblPos val="nextTo"/>
        <c:spPr>
          <a:ln w="6480">
            <a:noFill/>
          </a:ln>
        </c:spPr>
        <c:txPr>
          <a:bodyPr/>
          <a:lstStyle/>
          <a:p>
            <a:pPr>
              <a:defRPr b="0" sz="1100" spc="-1" strike="noStrike">
                <a:solidFill>
                  <a:srgbClr val="7c7caa"/>
                </a:solidFill>
                <a:latin typeface="Arial"/>
              </a:defRPr>
            </a:pPr>
          </a:p>
        </c:txPr>
        <c:crossAx val="57981639"/>
        <c:crosses val="autoZero"/>
        <c:crossBetween val="between"/>
      </c:valAx>
      <c:spPr>
        <a:noFill/>
        <a:ln w="0">
          <a:noFill/>
        </a:ln>
      </c:spPr>
    </c:plotArea>
    <c:legend>
      <c:legendPos val="t"/>
      <c:overlay val="0"/>
      <c:spPr>
        <a:noFill/>
        <a:ln w="0">
          <a:noFill/>
        </a:ln>
      </c:spPr>
      <c:txPr>
        <a:bodyPr/>
        <a:lstStyle/>
        <a:p>
          <a:pPr>
            <a:defRPr b="0" sz="1200" spc="-1" strike="noStrike">
              <a:solidFill>
                <a:srgbClr val="c4c4e4"/>
              </a:solidFill>
              <a:latin typeface="Arial"/>
            </a:defRPr>
          </a:pPr>
        </a:p>
      </c:txPr>
    </c:legend>
    <c:plotVisOnly val="1"/>
    <c:dispBlanksAs val="gap"/>
  </c:chart>
  <c:spPr>
    <a:noFill/>
    <a:ln w="0">
      <a:noFill/>
    </a:ln>
  </c:spPr>
</c:chartSpace>
</file>

<file path=ppt/charts/chart9.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1"/>
        <c:ser>
          <c:idx val="0"/>
          <c:order val="0"/>
          <c:tx>
            <c:strRef>
              <c:f>label 0</c:f>
              <c:strCache>
                <c:ptCount val="1"/>
                <c:pt idx="0">
                  <c:v>Note presse moyenne</c:v>
                </c:pt>
              </c:strCache>
            </c:strRef>
          </c:tx>
          <c:spPr>
            <a:solidFill>
              <a:srgbClr val="ff2d2d"/>
            </a:solidFill>
            <a:ln w="0">
              <a:noFill/>
            </a:ln>
          </c:spPr>
          <c:invertIfNegative val="0"/>
          <c:dPt>
            <c:idx val="0"/>
            <c:spPr>
              <a:solidFill>
                <a:srgbClr val="ff2d2d"/>
              </a:solidFill>
              <a:ln w="0">
                <a:noFill/>
              </a:ln>
            </c:spPr>
          </c:dPt>
          <c:dPt>
            <c:idx val="1"/>
            <c:spPr>
              <a:solidFill>
                <a:srgbClr val="ff2d2d"/>
              </a:solidFill>
              <a:ln w="0">
                <a:noFill/>
              </a:ln>
            </c:spPr>
          </c:dPt>
          <c:dPt>
            <c:idx val="2"/>
            <c:spPr>
              <a:solidFill>
                <a:srgbClr val="ff2d2d"/>
              </a:solidFill>
              <a:ln w="0">
                <a:noFill/>
              </a:ln>
            </c:spPr>
          </c:dPt>
          <c:dPt>
            <c:idx val="3"/>
            <c:spPr>
              <a:solidFill>
                <a:srgbClr val="ff2d2d"/>
              </a:solidFill>
              <a:ln w="0">
                <a:noFill/>
              </a:ln>
            </c:spPr>
          </c:dPt>
          <c:dPt>
            <c:idx val="4"/>
            <c:spPr>
              <a:solidFill>
                <a:srgbClr val="2121de"/>
              </a:solidFill>
              <a:ln w="0">
                <a:noFill/>
              </a:ln>
            </c:spPr>
          </c:dPt>
          <c:dPt>
            <c:idx val="5"/>
            <c:spPr>
              <a:solidFill>
                <a:srgbClr val="00de00"/>
              </a:solidFill>
              <a:ln w="0">
                <a:noFill/>
              </a:ln>
            </c:spPr>
          </c:dPt>
          <c:dPt>
            <c:idx val="6"/>
            <c:spPr>
              <a:solidFill>
                <a:srgbClr val="2121de"/>
              </a:solidFill>
              <a:ln w="0">
                <a:noFill/>
              </a:ln>
            </c:spPr>
          </c:dPt>
          <c:dPt>
            <c:idx val="7"/>
            <c:spPr>
              <a:solidFill>
                <a:srgbClr val="ff2d2d"/>
              </a:solidFill>
              <a:ln w="0">
                <a:noFill/>
              </a:ln>
            </c:spPr>
          </c:dPt>
          <c:dPt>
            <c:idx val="8"/>
            <c:spPr>
              <a:solidFill>
                <a:srgbClr val="00de00"/>
              </a:solidFill>
              <a:ln w="0">
                <a:noFill/>
              </a:ln>
            </c:spPr>
          </c:dPt>
          <c:dPt>
            <c:idx val="9"/>
            <c:spPr>
              <a:solidFill>
                <a:srgbClr val="2121de"/>
              </a:solidFill>
              <a:ln w="0">
                <a:noFill/>
              </a:ln>
            </c:spPr>
          </c:dPt>
          <c:dPt>
            <c:idx val="10"/>
            <c:spPr>
              <a:solidFill>
                <a:srgbClr val="2121de"/>
              </a:solidFill>
              <a:ln w="0">
                <a:noFill/>
              </a:ln>
            </c:spPr>
          </c:dPt>
          <c:dPt>
            <c:idx val="11"/>
            <c:spPr>
              <a:solidFill>
                <a:srgbClr val="ff2d2d"/>
              </a:solidFill>
              <a:ln w="0">
                <a:noFill/>
              </a:ln>
            </c:spPr>
          </c:dPt>
          <c:dPt>
            <c:idx val="12"/>
            <c:spPr>
              <a:solidFill>
                <a:srgbClr val="2121de"/>
              </a:solidFill>
              <a:ln w="0">
                <a:noFill/>
              </a:ln>
            </c:spPr>
          </c:dPt>
          <c:dPt>
            <c:idx val="13"/>
            <c:spPr>
              <a:solidFill>
                <a:srgbClr val="2121de"/>
              </a:solidFill>
              <a:ln w="0">
                <a:noFill/>
              </a:ln>
            </c:spPr>
          </c:dPt>
          <c:dPt>
            <c:idx val="14"/>
            <c:spPr>
              <a:solidFill>
                <a:srgbClr val="00de00"/>
              </a:solidFill>
              <a:ln w="0">
                <a:noFill/>
              </a:ln>
            </c:spPr>
          </c:dPt>
          <c:dPt>
            <c:idx val="15"/>
            <c:spPr>
              <a:solidFill>
                <a:srgbClr val="ffe600"/>
              </a:solidFill>
              <a:ln w="0">
                <a:noFill/>
              </a:ln>
            </c:spPr>
          </c:dPt>
          <c:dLbls>
            <c:numFmt formatCode="0.0" sourceLinked="0"/>
            <c:dLbl>
              <c:idx val="0"/>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2"/>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3"/>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4"/>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5"/>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6"/>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7"/>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8"/>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9"/>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0"/>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1"/>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2"/>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3"/>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4"/>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5"/>
              <c:numFmt formatCode="0.0"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6"/>
                <c:pt idx="0">
                  <c:v>Wii</c:v>
                </c:pt>
                <c:pt idx="1">
                  <c:v>Nintendo DS</c:v>
                </c:pt>
                <c:pt idx="2">
                  <c:v>Nintendo 3DS</c:v>
                </c:pt>
                <c:pt idx="3">
                  <c:v>Game Boy Advance</c:v>
                </c:pt>
                <c:pt idx="4">
                  <c:v>PSP</c:v>
                </c:pt>
                <c:pt idx="5">
                  <c:v>Xbox 360</c:v>
                </c:pt>
                <c:pt idx="6">
                  <c:v>PlayStation 2</c:v>
                </c:pt>
                <c:pt idx="7">
                  <c:v>GameCube</c:v>
                </c:pt>
                <c:pt idx="8">
                  <c:v>Xbox</c:v>
                </c:pt>
                <c:pt idx="9">
                  <c:v>PlayStation 3</c:v>
                </c:pt>
                <c:pt idx="10">
                  <c:v>PS Vita</c:v>
                </c:pt>
                <c:pt idx="11">
                  <c:v>Wii U</c:v>
                </c:pt>
                <c:pt idx="12">
                  <c:v>PlayStation</c:v>
                </c:pt>
                <c:pt idx="13">
                  <c:v>PlayStation 4</c:v>
                </c:pt>
                <c:pt idx="14">
                  <c:v>Xbox One</c:v>
                </c:pt>
                <c:pt idx="15">
                  <c:v>PC</c:v>
                </c:pt>
              </c:strCache>
            </c:strRef>
          </c:cat>
          <c:val>
            <c:numRef>
              <c:f>0</c:f>
              <c:numCache>
                <c:formatCode>General</c:formatCode>
                <c:ptCount val="16"/>
                <c:pt idx="0">
                  <c:v>62.832469775475</c:v>
                </c:pt>
                <c:pt idx="1">
                  <c:v>63.7854137447405</c:v>
                </c:pt>
                <c:pt idx="2">
                  <c:v>67.1796407185629</c:v>
                </c:pt>
                <c:pt idx="3">
                  <c:v>67.2939814814815</c:v>
                </c:pt>
                <c:pt idx="4">
                  <c:v>67.4242424242424</c:v>
                </c:pt>
                <c:pt idx="5">
                  <c:v>68.6648230088496</c:v>
                </c:pt>
                <c:pt idx="6">
                  <c:v>68.7537022603274</c:v>
                </c:pt>
                <c:pt idx="7">
                  <c:v>69.5887640449438</c:v>
                </c:pt>
                <c:pt idx="8">
                  <c:v>69.9357541899441</c:v>
                </c:pt>
                <c:pt idx="9">
                  <c:v>70.3805418719212</c:v>
                </c:pt>
                <c:pt idx="10">
                  <c:v>70.7310924369748</c:v>
                </c:pt>
                <c:pt idx="11">
                  <c:v>70.7333333333333</c:v>
                </c:pt>
                <c:pt idx="12">
                  <c:v>71.5867346938776</c:v>
                </c:pt>
                <c:pt idx="13">
                  <c:v>72.0912698412698</c:v>
                </c:pt>
                <c:pt idx="14">
                  <c:v>73.3254437869823</c:v>
                </c:pt>
                <c:pt idx="15">
                  <c:v>75.9124293785311</c:v>
                </c:pt>
              </c:numCache>
            </c:numRef>
          </c:val>
        </c:ser>
        <c:gapWidth val="45"/>
        <c:overlap val="0"/>
        <c:axId val="39533976"/>
        <c:axId val="27312855"/>
      </c:barChart>
      <c:catAx>
        <c:axId val="39533976"/>
        <c:scaling>
          <c:orientation val="minMax"/>
        </c:scaling>
        <c:delete val="0"/>
        <c:axPos val="b"/>
        <c:numFmt formatCode="General" sourceLinked="0"/>
        <c:majorTickMark val="out"/>
        <c:minorTickMark val="none"/>
        <c:tickLblPos val="nextTo"/>
        <c:spPr>
          <a:ln w="12600">
            <a:solidFill>
              <a:srgbClr val="2121de"/>
            </a:solidFill>
            <a:round/>
          </a:ln>
        </c:spPr>
        <c:txPr>
          <a:bodyPr/>
          <a:lstStyle/>
          <a:p>
            <a:pPr>
              <a:defRPr b="0" sz="1100" spc="-1" strike="noStrike">
                <a:solidFill>
                  <a:srgbClr val="c4c4e4"/>
                </a:solidFill>
                <a:latin typeface="Arial"/>
              </a:defRPr>
            </a:pPr>
          </a:p>
        </c:txPr>
        <c:crossAx val="27312855"/>
        <c:crosses val="autoZero"/>
        <c:auto val="1"/>
        <c:lblAlgn val="ctr"/>
        <c:lblOffset val="100"/>
        <c:noMultiLvlLbl val="0"/>
      </c:catAx>
      <c:valAx>
        <c:axId val="27312855"/>
        <c:scaling>
          <c:orientation val="minMax"/>
          <c:max val="80"/>
          <c:min val="55"/>
        </c:scaling>
        <c:delete val="1"/>
        <c:axPos val="l"/>
        <c:numFmt formatCode="General" sourceLinked="1"/>
        <c:majorTickMark val="out"/>
        <c:minorTickMark val="none"/>
        <c:tickLblPos val="nextTo"/>
        <c:spPr>
          <a:ln w="6480">
            <a:solidFill>
              <a:srgbClr val="8b8b8b"/>
            </a:solidFill>
            <a:round/>
          </a:ln>
        </c:spPr>
        <c:txPr>
          <a:bodyPr/>
          <a:lstStyle/>
          <a:p>
            <a:pPr>
              <a:defRPr b="0" sz="1100" spc="-1" strike="noStrike">
                <a:solidFill>
                  <a:srgbClr val="c4c4e4"/>
                </a:solidFill>
                <a:latin typeface="Arial"/>
              </a:defRPr>
            </a:pPr>
          </a:p>
        </c:txPr>
        <c:crossAx val="39533976"/>
        <c:crossBetween val="between"/>
      </c:valAx>
      <c:spPr>
        <a:noFill/>
        <a:ln w="0">
          <a:noFill/>
        </a:ln>
      </c:spPr>
    </c:plotArea>
    <c:plotVisOnly val="1"/>
    <c:dispBlanksAs val="gap"/>
  </c:chart>
  <c:spPr>
    <a:noFill/>
    <a:ln w="0">
      <a:noFill/>
    </a:ln>
  </c:spPr>
</c:chartSpace>
</file>

<file path=ppt/charts/chart10.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percentStacked"/>
        <c:varyColors val="0"/>
        <c:ser>
          <c:idx val="0"/>
          <c:order val="0"/>
          <c:tx>
            <c:strRef>
              <c:f>label 0</c:f>
              <c:strCache>
                <c:ptCount val="1"/>
                <c:pt idx="0">
                  <c:v>Amérique du Nord</c:v>
                </c:pt>
              </c:strCache>
            </c:strRef>
          </c:tx>
          <c:spPr>
            <a:solidFill>
              <a:srgbClr val="00ffff"/>
            </a:solidFill>
            <a:ln w="0">
              <a:noFill/>
            </a:ln>
          </c:spPr>
          <c:invertIfNegative val="0"/>
          <c:dLbls>
            <c:numFmt formatCode="0%" sourceLinked="0"/>
            <c:txPr>
              <a:bodyPr wrap="square"/>
              <a:lstStyle/>
              <a:p>
                <a:pPr>
                  <a:defRPr b="1" sz="1200" spc="-1" strike="noStrike">
                    <a:solidFill>
                      <a:srgbClr val="000000"/>
                    </a:solidFill>
                    <a:latin typeface="Arial"/>
                  </a:defRPr>
                </a:pPr>
              </a:p>
            </c:txPr>
            <c:dLblPos val="ctr"/>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6"/>
                <c:pt idx="0">
                  <c:v>&lt; 50</c:v>
                </c:pt>
                <c:pt idx="1">
                  <c:v>50-59</c:v>
                </c:pt>
                <c:pt idx="2">
                  <c:v>60-69</c:v>
                </c:pt>
                <c:pt idx="3">
                  <c:v>70-79</c:v>
                </c:pt>
                <c:pt idx="4">
                  <c:v>80-89</c:v>
                </c:pt>
                <c:pt idx="5">
                  <c:v>90 et +</c:v>
                </c:pt>
              </c:strCache>
            </c:strRef>
          </c:cat>
          <c:val>
            <c:numRef>
              <c:f>0</c:f>
              <c:numCache>
                <c:formatCode>General</c:formatCode>
                <c:ptCount val="6"/>
                <c:pt idx="0">
                  <c:v>0.676904595725075</c:v>
                </c:pt>
                <c:pt idx="1">
                  <c:v>0.612346927446506</c:v>
                </c:pt>
                <c:pt idx="2">
                  <c:v>0.583462145582971</c:v>
                </c:pt>
                <c:pt idx="3">
                  <c:v>0.535541435289578</c:v>
                </c:pt>
                <c:pt idx="4">
                  <c:v>0.499710402440648</c:v>
                </c:pt>
                <c:pt idx="5">
                  <c:v>0.488811164788435</c:v>
                </c:pt>
              </c:numCache>
            </c:numRef>
          </c:val>
        </c:ser>
        <c:ser>
          <c:idx val="1"/>
          <c:order val="1"/>
          <c:tx>
            <c:strRef>
              <c:f>label 1</c:f>
              <c:strCache>
                <c:ptCount val="1"/>
                <c:pt idx="0">
                  <c:v>Europe</c:v>
                </c:pt>
              </c:strCache>
            </c:strRef>
          </c:tx>
          <c:spPr>
            <a:solidFill>
              <a:srgbClr val="ffb8ff"/>
            </a:solidFill>
            <a:ln w="0">
              <a:noFill/>
            </a:ln>
          </c:spPr>
          <c:invertIfNegative val="0"/>
          <c:dLbls>
            <c:numFmt formatCode="0%" sourceLinked="0"/>
            <c:txPr>
              <a:bodyPr wrap="square"/>
              <a:lstStyle/>
              <a:p>
                <a:pPr>
                  <a:defRPr b="1" sz="1200" spc="-1" strike="noStrike">
                    <a:solidFill>
                      <a:srgbClr val="000000"/>
                    </a:solidFill>
                    <a:latin typeface="Arial"/>
                  </a:defRPr>
                </a:pPr>
              </a:p>
            </c:txPr>
            <c:dLblPos val="ctr"/>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6"/>
                <c:pt idx="0">
                  <c:v>&lt; 50</c:v>
                </c:pt>
                <c:pt idx="1">
                  <c:v>50-59</c:v>
                </c:pt>
                <c:pt idx="2">
                  <c:v>60-69</c:v>
                </c:pt>
                <c:pt idx="3">
                  <c:v>70-79</c:v>
                </c:pt>
                <c:pt idx="4">
                  <c:v>80-89</c:v>
                </c:pt>
                <c:pt idx="5">
                  <c:v>90 et +</c:v>
                </c:pt>
              </c:strCache>
            </c:strRef>
          </c:cat>
          <c:val>
            <c:numRef>
              <c:f>1</c:f>
              <c:numCache>
                <c:formatCode>General</c:formatCode>
                <c:ptCount val="6"/>
                <c:pt idx="0">
                  <c:v>0.221036244974171</c:v>
                </c:pt>
                <c:pt idx="1">
                  <c:v>0.256682488257255</c:v>
                </c:pt>
                <c:pt idx="2">
                  <c:v>0.264731480131448</c:v>
                </c:pt>
                <c:pt idx="3">
                  <c:v>0.304100619487551</c:v>
                </c:pt>
                <c:pt idx="4">
                  <c:v>0.331904535671953</c:v>
                </c:pt>
                <c:pt idx="5">
                  <c:v>0.339909360923684</c:v>
                </c:pt>
              </c:numCache>
            </c:numRef>
          </c:val>
        </c:ser>
        <c:ser>
          <c:idx val="2"/>
          <c:order val="2"/>
          <c:tx>
            <c:strRef>
              <c:f>label 2</c:f>
              <c:strCache>
                <c:ptCount val="1"/>
                <c:pt idx="0">
                  <c:v>Japon</c:v>
                </c:pt>
              </c:strCache>
            </c:strRef>
          </c:tx>
          <c:spPr>
            <a:solidFill>
              <a:srgbClr val="ff2d2d"/>
            </a:solidFill>
            <a:ln w="0">
              <a:noFill/>
            </a:ln>
          </c:spPr>
          <c:invertIfNegative val="0"/>
          <c:dPt>
            <c:idx val="0"/>
            <c:invertIfNegative val="0"/>
            <c:spPr>
              <a:solidFill>
                <a:srgbClr val="ff2d2d"/>
              </a:solidFill>
              <a:ln w="0">
                <a:noFill/>
              </a:ln>
            </c:spPr>
          </c:dPt>
          <c:dPt>
            <c:idx val="1"/>
            <c:invertIfNegative val="0"/>
            <c:spPr>
              <a:solidFill>
                <a:srgbClr val="ff2d2d"/>
              </a:solidFill>
              <a:ln w="0">
                <a:noFill/>
              </a:ln>
            </c:spPr>
          </c:dPt>
          <c:dLbls>
            <c:numFmt formatCode="0%" sourceLinked="0"/>
            <c:dLbl>
              <c:idx val="0"/>
              <c:numFmt formatCode="0%" sourceLinked="0"/>
              <c:txPr>
                <a:bodyPr wrap="square"/>
                <a:lstStyle/>
                <a:p>
                  <a:pPr>
                    <a:defRPr b="1" sz="1200" spc="-1" strike="noStrike">
                      <a:solidFill>
                        <a:srgbClr val="ffffff"/>
                      </a:solidFill>
                      <a:latin typeface="Arial"/>
                    </a:defRPr>
                  </a:pPr>
                </a:p>
              </c:txPr>
              <c:dLblPos val="ctr"/>
              <c:showLegendKey val="0"/>
              <c:showVal val="1"/>
              <c:showCatName val="0"/>
              <c:showSerName val="0"/>
              <c:showPercent val="0"/>
              <c:separator>; </c:separator>
            </c:dLbl>
            <c:dLbl>
              <c:idx val="1"/>
              <c:numFmt formatCode="0%" sourceLinked="0"/>
              <c:txPr>
                <a:bodyPr wrap="square"/>
                <a:lstStyle/>
                <a:p>
                  <a:pPr>
                    <a:defRPr b="1" sz="1200" spc="-1" strike="noStrike">
                      <a:solidFill>
                        <a:srgbClr val="ffffff"/>
                      </a:solidFill>
                      <a:latin typeface="Arial"/>
                    </a:defRPr>
                  </a:pPr>
                </a:p>
              </c:txPr>
              <c:dLblPos val="ctr"/>
              <c:showLegendKey val="0"/>
              <c:showVal val="1"/>
              <c:showCatName val="0"/>
              <c:showSerName val="0"/>
              <c:showPercent val="0"/>
              <c:separator>; </c:separator>
            </c:dLbl>
            <c:txPr>
              <a:bodyPr wrap="square"/>
              <a:lstStyle/>
              <a:p>
                <a:pPr>
                  <a:defRPr b="1" sz="1200" spc="-1" strike="noStrike">
                    <a:solidFill>
                      <a:srgbClr val="ffffff"/>
                    </a:solidFill>
                    <a:latin typeface="Arial"/>
                  </a:defRPr>
                </a:pPr>
              </a:p>
            </c:txPr>
            <c:dLblPos val="ctr"/>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6"/>
                <c:pt idx="0">
                  <c:v>&lt; 50</c:v>
                </c:pt>
                <c:pt idx="1">
                  <c:v>50-59</c:v>
                </c:pt>
                <c:pt idx="2">
                  <c:v>60-69</c:v>
                </c:pt>
                <c:pt idx="3">
                  <c:v>70-79</c:v>
                </c:pt>
                <c:pt idx="4">
                  <c:v>80-89</c:v>
                </c:pt>
                <c:pt idx="5">
                  <c:v>90 et +</c:v>
                </c:pt>
              </c:strCache>
            </c:strRef>
          </c:cat>
          <c:val>
            <c:numRef>
              <c:f>2</c:f>
              <c:numCache>
                <c:formatCode>General</c:formatCode>
                <c:ptCount val="6"/>
                <c:pt idx="0">
                  <c:v>0.0302839800333225</c:v>
                </c:pt>
                <c:pt idx="1">
                  <c:v>0.053016243412373</c:v>
                </c:pt>
                <c:pt idx="2">
                  <c:v>0.0708221998017473</c:v>
                </c:pt>
                <c:pt idx="3">
                  <c:v>0.0739218581942648</c:v>
                </c:pt>
                <c:pt idx="4">
                  <c:v>0.0748024410253577</c:v>
                </c:pt>
                <c:pt idx="5">
                  <c:v>0.0723282601390071</c:v>
                </c:pt>
              </c:numCache>
            </c:numRef>
          </c:val>
        </c:ser>
        <c:ser>
          <c:idx val="3"/>
          <c:order val="3"/>
          <c:tx>
            <c:strRef>
              <c:f>label 3</c:f>
              <c:strCache>
                <c:ptCount val="1"/>
                <c:pt idx="0">
                  <c:v>Reste du monde</c:v>
                </c:pt>
              </c:strCache>
            </c:strRef>
          </c:tx>
          <c:spPr>
            <a:solidFill>
              <a:srgbClr val="2e2e4a"/>
            </a:solidFill>
            <a:ln w="0">
              <a:noFill/>
            </a:ln>
          </c:spPr>
          <c:invertIfNegative val="0"/>
          <c:dLbls>
            <c:numFmt formatCode="0%" sourceLinked="0"/>
            <c:txPr>
              <a:bodyPr wrap="square"/>
              <a:lstStyle/>
              <a:p>
                <a:pPr>
                  <a:defRPr b="1" sz="1200" spc="-1" strike="noStrike">
                    <a:solidFill>
                      <a:srgbClr val="ffffff"/>
                    </a:solidFill>
                    <a:latin typeface="Arial"/>
                  </a:defRPr>
                </a:pPr>
              </a:p>
            </c:txPr>
            <c:dLblPos val="ctr"/>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6"/>
                <c:pt idx="0">
                  <c:v>&lt; 50</c:v>
                </c:pt>
                <c:pt idx="1">
                  <c:v>50-59</c:v>
                </c:pt>
                <c:pt idx="2">
                  <c:v>60-69</c:v>
                </c:pt>
                <c:pt idx="3">
                  <c:v>70-79</c:v>
                </c:pt>
                <c:pt idx="4">
                  <c:v>80-89</c:v>
                </c:pt>
                <c:pt idx="5">
                  <c:v>90 et +</c:v>
                </c:pt>
              </c:strCache>
            </c:strRef>
          </c:cat>
          <c:val>
            <c:numRef>
              <c:f>3</c:f>
              <c:numCache>
                <c:formatCode>General</c:formatCode>
                <c:ptCount val="6"/>
                <c:pt idx="0">
                  <c:v>0.0717751792674316</c:v>
                </c:pt>
                <c:pt idx="1">
                  <c:v>0.0779543408838665</c:v>
                </c:pt>
                <c:pt idx="2">
                  <c:v>0.0809841744838339</c:v>
                </c:pt>
                <c:pt idx="3">
                  <c:v>0.0864360870286059</c:v>
                </c:pt>
                <c:pt idx="4">
                  <c:v>0.0935826208620414</c:v>
                </c:pt>
                <c:pt idx="5">
                  <c:v>0.098951214148874</c:v>
                </c:pt>
              </c:numCache>
            </c:numRef>
          </c:val>
        </c:ser>
        <c:gapWidth val="60"/>
        <c:overlap val="100"/>
        <c:axId val="13843315"/>
        <c:axId val="55425914"/>
      </c:barChart>
      <c:catAx>
        <c:axId val="13843315"/>
        <c:scaling>
          <c:orientation val="minMax"/>
        </c:scaling>
        <c:delete val="0"/>
        <c:axPos val="b"/>
        <c:title>
          <c:tx>
            <c:rich>
              <a:bodyPr rot="0"/>
              <a:lstStyle/>
              <a:p>
                <a:pPr>
                  <a:defRPr b="0" sz="1200" spc="-1" strike="noStrike">
                    <a:solidFill>
                      <a:srgbClr val="7c7caa"/>
                    </a:solidFill>
                    <a:latin typeface="Arial"/>
                  </a:defRPr>
                </a:pPr>
                <a:r>
                  <a:rPr b="0" sz="1200" spc="-1" strike="noStrike">
                    <a:solidFill>
                      <a:srgbClr val="7c7caa"/>
                    </a:solidFill>
                    <a:latin typeface="Arial"/>
                  </a:rPr>
                  <a:t>Note presse Metacritic (/100) · part des ventes du jeu par région</a:t>
                </a:r>
              </a:p>
            </c:rich>
          </c:tx>
          <c:overlay val="0"/>
          <c:spPr>
            <a:noFill/>
            <a:ln w="0">
              <a:noFill/>
            </a:ln>
          </c:spPr>
        </c:title>
        <c:numFmt formatCode="General" sourceLinked="0"/>
        <c:majorTickMark val="out"/>
        <c:minorTickMark val="none"/>
        <c:tickLblPos val="nextTo"/>
        <c:spPr>
          <a:ln w="12600">
            <a:solidFill>
              <a:srgbClr val="2121de"/>
            </a:solidFill>
            <a:round/>
          </a:ln>
        </c:spPr>
        <c:txPr>
          <a:bodyPr/>
          <a:lstStyle/>
          <a:p>
            <a:pPr>
              <a:defRPr b="0" sz="1100" spc="-1" strike="noStrike">
                <a:solidFill>
                  <a:srgbClr val="c4c4e4"/>
                </a:solidFill>
                <a:latin typeface="Arial"/>
              </a:defRPr>
            </a:pPr>
          </a:p>
        </c:txPr>
        <c:crossAx val="55425914"/>
        <c:crosses val="autoZero"/>
        <c:auto val="1"/>
        <c:lblAlgn val="ctr"/>
        <c:lblOffset val="100"/>
        <c:noMultiLvlLbl val="0"/>
      </c:catAx>
      <c:valAx>
        <c:axId val="55425914"/>
        <c:scaling>
          <c:orientation val="minMax"/>
        </c:scaling>
        <c:delete val="1"/>
        <c:axPos val="l"/>
        <c:numFmt formatCode="[$-409]0%" sourceLinked="1"/>
        <c:majorTickMark val="out"/>
        <c:minorTickMark val="none"/>
        <c:tickLblPos val="nextTo"/>
        <c:spPr>
          <a:ln w="6480">
            <a:solidFill>
              <a:srgbClr val="8b8b8b"/>
            </a:solidFill>
            <a:round/>
          </a:ln>
        </c:spPr>
        <c:txPr>
          <a:bodyPr/>
          <a:lstStyle/>
          <a:p>
            <a:pPr>
              <a:defRPr b="0" sz="1100" spc="-1" strike="noStrike">
                <a:solidFill>
                  <a:srgbClr val="c4c4e4"/>
                </a:solidFill>
                <a:latin typeface="Arial"/>
              </a:defRPr>
            </a:pPr>
          </a:p>
        </c:txPr>
        <c:crossAx val="13843315"/>
        <c:crossBetween val="between"/>
      </c:valAx>
      <c:spPr>
        <a:noFill/>
        <a:ln w="0">
          <a:noFill/>
        </a:ln>
      </c:spPr>
    </c:plotArea>
    <c:legend>
      <c:legendPos val="t"/>
      <c:overlay val="0"/>
      <c:spPr>
        <a:noFill/>
        <a:ln w="0">
          <a:noFill/>
        </a:ln>
      </c:spPr>
      <c:txPr>
        <a:bodyPr/>
        <a:lstStyle/>
        <a:p>
          <a:pPr>
            <a:defRPr b="0" sz="1200" spc="-1" strike="noStrike">
              <a:solidFill>
                <a:srgbClr val="c4c4e4"/>
              </a:solidFill>
              <a:latin typeface="Arial"/>
            </a:defRPr>
          </a:pPr>
        </a:p>
      </c:txPr>
    </c:legend>
    <c:plotVisOnly val="1"/>
    <c:dispBlanksAs val="gap"/>
  </c:chart>
  <c:spPr>
    <a:noFill/>
    <a:ln w="0">
      <a:noFill/>
    </a:ln>
  </c:spPr>
</c:chartSpace>
</file>

<file path=ppt/charts/chart1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1"/>
        <c:ser>
          <c:idx val="0"/>
          <c:order val="0"/>
          <c:tx>
            <c:strRef>
              <c:f>label 0</c:f>
              <c:strCache>
                <c:ptCount val="1"/>
                <c:pt idx="0">
                  <c:v>Jours</c:v>
                </c:pt>
              </c:strCache>
            </c:strRef>
          </c:tx>
          <c:spPr>
            <a:solidFill>
              <a:srgbClr val="2121de"/>
            </a:solidFill>
            <a:ln w="0">
              <a:noFill/>
            </a:ln>
          </c:spPr>
          <c:invertIfNegative val="0"/>
          <c:dPt>
            <c:idx val="0"/>
            <c:spPr>
              <a:solidFill>
                <a:srgbClr val="2121de"/>
              </a:solidFill>
              <a:ln w="0">
                <a:noFill/>
              </a:ln>
            </c:spPr>
          </c:dPt>
          <c:dPt>
            <c:idx val="1"/>
            <c:spPr>
              <a:solidFill>
                <a:srgbClr val="2121de"/>
              </a:solidFill>
              <a:ln w="0">
                <a:noFill/>
              </a:ln>
            </c:spPr>
          </c:dPt>
          <c:dPt>
            <c:idx val="2"/>
            <c:spPr>
              <a:solidFill>
                <a:srgbClr val="ffe600"/>
              </a:solidFill>
              <a:ln w="0">
                <a:noFill/>
              </a:ln>
            </c:spPr>
          </c:dPt>
          <c:dPt>
            <c:idx val="3"/>
            <c:spPr>
              <a:solidFill>
                <a:srgbClr val="2121de"/>
              </a:solidFill>
              <a:ln w="0">
                <a:noFill/>
              </a:ln>
            </c:spPr>
          </c:dPt>
          <c:dPt>
            <c:idx val="4"/>
            <c:spPr>
              <a:solidFill>
                <a:srgbClr val="2121de"/>
              </a:solidFill>
              <a:ln w="0">
                <a:noFill/>
              </a:ln>
            </c:spPr>
          </c:dPt>
          <c:dPt>
            <c:idx val="5"/>
            <c:spPr>
              <a:solidFill>
                <a:srgbClr val="2121de"/>
              </a:solidFill>
              <a:ln w="0">
                <a:noFill/>
              </a:ln>
            </c:spPr>
          </c:dPt>
          <c:dPt>
            <c:idx val="6"/>
            <c:spPr>
              <a:solidFill>
                <a:srgbClr val="2121de"/>
              </a:solidFill>
              <a:ln w="0">
                <a:noFill/>
              </a:ln>
            </c:spPr>
          </c:dPt>
          <c:dPt>
            <c:idx val="7"/>
            <c:spPr>
              <a:solidFill>
                <a:srgbClr val="2121de"/>
              </a:solidFill>
              <a:ln w="0">
                <a:noFill/>
              </a:ln>
            </c:spPr>
          </c:dPt>
          <c:dLbls>
            <c:numFmt formatCode="0.0&quot; j&quot;" sourceLinked="0"/>
            <c:dLbl>
              <c:idx val="0"/>
              <c:numFmt formatCode="0.0&quot; j&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1"/>
              <c:numFmt formatCode="0.0&quot; j&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2"/>
              <c:numFmt formatCode="0.0&quot; j&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3"/>
              <c:numFmt formatCode="0.0&quot; j&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4"/>
              <c:numFmt formatCode="0.0&quot; j&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5"/>
              <c:numFmt formatCode="0.0&quot; j&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6"/>
              <c:numFmt formatCode="0.0&quot; j&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dLbl>
              <c:idx val="7"/>
              <c:numFmt formatCode="0.0&quot; j&quot;" sourceLinked="0"/>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dLbl>
            <c:txPr>
              <a:bodyPr wrap="square"/>
              <a:lstStyle/>
              <a:p>
                <a:pPr>
                  <a:defRPr b="1" sz="12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8"/>
                <c:pt idx="0">
                  <c:v>Recette</c:v>
                </c:pt>
                <c:pt idx="1">
                  <c:v>Documentation</c:v>
                </c:pt>
                <c:pt idx="2">
                  <c:v>Intégration à l'appli</c:v>
                </c:pt>
                <c:pt idx="3">
                  <c:v>Analyses croisées</c:v>
                </c:pt>
                <c:pt idx="4">
                  <c:v>Jointure et contrôles</c:v>
                </c:pt>
                <c:pt idx="5">
                  <c:v>EDA base 2</c:v>
                </c:pt>
                <c:pt idx="6">
                  <c:v>Nettoyage base 2</c:v>
                </c:pt>
                <c:pt idx="7">
                  <c:v>Recherche de la source</c:v>
                </c:pt>
              </c:strCache>
            </c:strRef>
          </c:cat>
          <c:val>
            <c:numRef>
              <c:f>0</c:f>
              <c:numCache>
                <c:formatCode>General</c:formatCode>
                <c:ptCount val="8"/>
                <c:pt idx="0">
                  <c:v>0.5</c:v>
                </c:pt>
                <c:pt idx="1">
                  <c:v>0.5</c:v>
                </c:pt>
                <c:pt idx="2">
                  <c:v>2.5</c:v>
                </c:pt>
                <c:pt idx="3">
                  <c:v>1.5</c:v>
                </c:pt>
                <c:pt idx="4">
                  <c:v>1</c:v>
                </c:pt>
                <c:pt idx="5">
                  <c:v>1.5</c:v>
                </c:pt>
                <c:pt idx="6">
                  <c:v>1.5</c:v>
                </c:pt>
                <c:pt idx="7">
                  <c:v>1</c:v>
                </c:pt>
              </c:numCache>
            </c:numRef>
          </c:val>
        </c:ser>
        <c:gapWidth val="50"/>
        <c:overlap val="0"/>
        <c:axId val="69534811"/>
        <c:axId val="31604352"/>
      </c:barChart>
      <c:catAx>
        <c:axId val="69534811"/>
        <c:scaling>
          <c:orientation val="minMax"/>
        </c:scaling>
        <c:delete val="0"/>
        <c:axPos val="b"/>
        <c:numFmt formatCode="General" sourceLinked="0"/>
        <c:majorTickMark val="out"/>
        <c:minorTickMark val="none"/>
        <c:tickLblPos val="nextTo"/>
        <c:spPr>
          <a:ln w="12600">
            <a:solidFill>
              <a:srgbClr val="2121de"/>
            </a:solidFill>
            <a:round/>
          </a:ln>
        </c:spPr>
        <c:txPr>
          <a:bodyPr/>
          <a:lstStyle/>
          <a:p>
            <a:pPr>
              <a:defRPr b="0" sz="1200" spc="-1" strike="noStrike">
                <a:solidFill>
                  <a:srgbClr val="c4c4e4"/>
                </a:solidFill>
                <a:latin typeface="Arial"/>
              </a:defRPr>
            </a:pPr>
          </a:p>
        </c:txPr>
        <c:crossAx val="31604352"/>
        <c:crosses val="autoZero"/>
        <c:auto val="1"/>
        <c:lblAlgn val="ctr"/>
        <c:lblOffset val="100"/>
        <c:noMultiLvlLbl val="0"/>
      </c:catAx>
      <c:valAx>
        <c:axId val="31604352"/>
        <c:scaling>
          <c:orientation val="minMax"/>
        </c:scaling>
        <c:delete val="1"/>
        <c:axPos val="l"/>
        <c:numFmt formatCode="General" sourceLinked="1"/>
        <c:majorTickMark val="out"/>
        <c:minorTickMark val="none"/>
        <c:tickLblPos val="nextTo"/>
        <c:spPr>
          <a:ln w="6480">
            <a:solidFill>
              <a:srgbClr val="8b8b8b"/>
            </a:solidFill>
            <a:round/>
          </a:ln>
        </c:spPr>
        <c:txPr>
          <a:bodyPr/>
          <a:lstStyle/>
          <a:p>
            <a:pPr>
              <a:defRPr b="0" sz="1100" spc="-1" strike="noStrike">
                <a:solidFill>
                  <a:srgbClr val="c4c4e4"/>
                </a:solidFill>
                <a:latin typeface="Arial"/>
              </a:defRPr>
            </a:pPr>
          </a:p>
        </c:txPr>
        <c:crossAx val="69534811"/>
        <c:crossBetween val="between"/>
      </c:valAx>
      <c:spPr>
        <a:noFill/>
        <a:ln w="0">
          <a:noFill/>
        </a:ln>
      </c:spPr>
    </c:plotArea>
    <c:plotVisOnly val="1"/>
    <c:dispBlanksAs val="gap"/>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Arial"/>
              </a:rPr>
              <a:t>Click to move the slide</a:t>
            </a:r>
            <a:endParaRPr b="0" lang="en-US" sz="1800" spc="-1" strike="noStrike">
              <a:solidFill>
                <a:schemeClr val="dk1"/>
              </a:solidFill>
              <a:latin typeface="Arial"/>
            </a:endParaRPr>
          </a:p>
        </p:txBody>
      </p:sp>
      <p:sp>
        <p:nvSpPr>
          <p:cNvPr id="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0"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A95ED0B-8B60-4A2F-B831-DAFA83F203B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4" name="PlaceHolder 1"/>
          <p:cNvSpPr>
            <a:spLocks noGrp="1"/>
          </p:cNvSpPr>
          <p:nvPr>
            <p:ph type="sldImg"/>
          </p:nvPr>
        </p:nvSpPr>
        <p:spPr>
          <a:xfrm>
            <a:off x="0" y="0"/>
            <a:ext cx="0" cy="0"/>
          </a:xfrm>
          <a:prstGeom prst="rect">
            <a:avLst/>
          </a:prstGeom>
          <a:ln w="0">
            <a:noFill/>
          </a:ln>
        </p:spPr>
      </p:sp>
      <p:sp>
        <p:nvSpPr>
          <p:cNvPr id="227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Bonjour. Nous vous présentons notre projet. Première partie : l'analyse de la base vgsales, les ventes mondiales de jeux vidéo de 1980 à 2016. Nous enchaînerons ensuite avec la deuxième base de données.</a:t>
            </a:r>
            <a:endParaRPr b="0" lang="en-US" sz="2000" spc="-1" strike="noStrike">
              <a:solidFill>
                <a:srgbClr val="000000"/>
              </a:solidFill>
              <a:latin typeface="Arial"/>
            </a:endParaRPr>
          </a:p>
        </p:txBody>
      </p:sp>
      <p:sp>
        <p:nvSpPr>
          <p:cNvPr id="2276"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1031D27C-AA80-451E-B917-7EC8159268FB}"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7" name="PlaceHolder 1"/>
          <p:cNvSpPr>
            <a:spLocks noGrp="1"/>
          </p:cNvSpPr>
          <p:nvPr>
            <p:ph type="sldImg"/>
          </p:nvPr>
        </p:nvSpPr>
        <p:spPr>
          <a:xfrm>
            <a:off x="0" y="0"/>
            <a:ext cx="0" cy="0"/>
          </a:xfrm>
          <a:prstGeom prst="rect">
            <a:avLst/>
          </a:prstGeom>
          <a:ln w="0">
            <a:noFill/>
          </a:ln>
        </p:spPr>
      </p:sp>
      <p:sp>
        <p:nvSpPr>
          <p:cNvPr id="227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Voici notre parcours pour cette première partie : le contexte, le pipeline de traitement, le nettoyage, quatre découvertes et le Market Power Index. Nous enchaînerons ensuite avec la deuxième base ; la démonstration de l'interface viendra à la fin, sur les deux bases ensemble.</a:t>
            </a:r>
            <a:endParaRPr b="0" lang="en-US" sz="2000" spc="-1" strike="noStrike">
              <a:solidFill>
                <a:srgbClr val="000000"/>
              </a:solidFill>
              <a:latin typeface="Arial"/>
            </a:endParaRPr>
          </a:p>
        </p:txBody>
      </p:sp>
      <p:sp>
        <p:nvSpPr>
          <p:cNvPr id="2279"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2388B050-CCF4-4497-8CDC-69A46CC5F59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0" name="PlaceHolder 1"/>
          <p:cNvSpPr>
            <a:spLocks noGrp="1"/>
          </p:cNvSpPr>
          <p:nvPr>
            <p:ph type="sldImg"/>
          </p:nvPr>
        </p:nvSpPr>
        <p:spPr>
          <a:xfrm>
            <a:off x="0" y="0"/>
            <a:ext cx="0" cy="0"/>
          </a:xfrm>
          <a:prstGeom prst="rect">
            <a:avLst/>
          </a:prstGeom>
          <a:ln w="0">
            <a:noFill/>
          </a:ln>
        </p:spPr>
      </p:sp>
      <p:sp>
        <p:nvSpPr>
          <p:cNvPr id="228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1 : la mission.</a:t>
            </a:r>
            <a:endParaRPr b="0" lang="en-US" sz="2000" spc="-1" strike="noStrike">
              <a:solidFill>
                <a:srgbClr val="000000"/>
              </a:solidFill>
              <a:latin typeface="Arial"/>
            </a:endParaRPr>
          </a:p>
        </p:txBody>
      </p:sp>
      <p:sp>
        <p:nvSpPr>
          <p:cNvPr id="2282"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A0741CAB-F5B1-47A2-89F6-5BB71DFE6905}"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3" name="PlaceHolder 1"/>
          <p:cNvSpPr>
            <a:spLocks noGrp="1"/>
          </p:cNvSpPr>
          <p:nvPr>
            <p:ph type="sldImg"/>
          </p:nvPr>
        </p:nvSpPr>
        <p:spPr>
          <a:xfrm>
            <a:off x="0" y="0"/>
            <a:ext cx="0" cy="0"/>
          </a:xfrm>
          <a:prstGeom prst="rect">
            <a:avLst/>
          </a:prstGeom>
          <a:ln w="0">
            <a:noFill/>
          </a:ln>
        </p:spPr>
      </p:sp>
      <p:sp>
        <p:nvSpPr>
          <p:cNvPr id="228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Le sujet nous met dans la peau d'un data analyst du secteur du jeu vidéo. La base contient 16 598 jeux sur 37 ans, 31 plateformes et près de 9 milliards d'exemplaires vendus. La question directrice : qu'est-ce qui fait vendre un jeu ?</a:t>
            </a:r>
            <a:endParaRPr b="0" lang="en-US" sz="2000" spc="-1" strike="noStrike">
              <a:solidFill>
                <a:srgbClr val="000000"/>
              </a:solidFill>
              <a:latin typeface="Arial"/>
            </a:endParaRPr>
          </a:p>
        </p:txBody>
      </p:sp>
      <p:sp>
        <p:nvSpPr>
          <p:cNvPr id="2285"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FEF83CF6-F640-4E4F-961D-41D1AD783907}"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6" name="PlaceHolder 1"/>
          <p:cNvSpPr>
            <a:spLocks noGrp="1"/>
          </p:cNvSpPr>
          <p:nvPr>
            <p:ph type="sldImg"/>
          </p:nvPr>
        </p:nvSpPr>
        <p:spPr>
          <a:xfrm>
            <a:off x="0" y="0"/>
            <a:ext cx="0" cy="0"/>
          </a:xfrm>
          <a:prstGeom prst="rect">
            <a:avLst/>
          </a:prstGeom>
          <a:ln w="0">
            <a:noFill/>
          </a:ln>
        </p:spPr>
      </p:sp>
      <p:sp>
        <p:nvSpPr>
          <p:cNvPr id="228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2 : le pipeline.</a:t>
            </a:r>
            <a:endParaRPr b="0" lang="en-US" sz="2000" spc="-1" strike="noStrike">
              <a:solidFill>
                <a:srgbClr val="000000"/>
              </a:solidFill>
              <a:latin typeface="Arial"/>
            </a:endParaRPr>
          </a:p>
        </p:txBody>
      </p:sp>
      <p:sp>
        <p:nvSpPr>
          <p:cNvPr id="2288"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4C3F8615-FC5D-4747-9482-EB9D9C749DE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9" name="PlaceHolder 1"/>
          <p:cNvSpPr>
            <a:spLocks noGrp="1"/>
          </p:cNvSpPr>
          <p:nvPr>
            <p:ph type="sldImg"/>
          </p:nvPr>
        </p:nvSpPr>
        <p:spPr>
          <a:xfrm>
            <a:off x="0" y="0"/>
            <a:ext cx="0" cy="0"/>
          </a:xfrm>
          <a:prstGeom prst="rect">
            <a:avLst/>
          </a:prstGeom>
          <a:ln w="0">
            <a:noFill/>
          </a:ln>
        </p:spPr>
      </p:sp>
      <p:sp>
        <p:nvSpPr>
          <p:cNvPr id="229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Le pipeline en cinq étapes : le CSV brut passe par le module de nettoyage, qui produit un jeu propre. On calcule ensuite les indicateurs avancés, puis on restitue tout dans le notebook (24 figures) et dans une interface Streamlit de 9 pages. Point important : le notebook et l'appli utilisent exactement le même code de nettoyage, et un test vérifie qu'ils obtiennent les mêmes données.</a:t>
            </a:r>
            <a:endParaRPr b="0" lang="en-US" sz="2000" spc="-1" strike="noStrike">
              <a:solidFill>
                <a:srgbClr val="000000"/>
              </a:solidFill>
              <a:latin typeface="Arial"/>
            </a:endParaRPr>
          </a:p>
        </p:txBody>
      </p:sp>
      <p:sp>
        <p:nvSpPr>
          <p:cNvPr id="2291"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F2A89538-B3F6-415C-9CB8-427CE6CC1987}"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2" name="PlaceHolder 1"/>
          <p:cNvSpPr>
            <a:spLocks noGrp="1"/>
          </p:cNvSpPr>
          <p:nvPr>
            <p:ph type="sldImg"/>
          </p:nvPr>
        </p:nvSpPr>
        <p:spPr>
          <a:xfrm>
            <a:off x="0" y="0"/>
            <a:ext cx="0" cy="0"/>
          </a:xfrm>
          <a:prstGeom prst="rect">
            <a:avLst/>
          </a:prstGeom>
          <a:ln w="0">
            <a:noFill/>
          </a:ln>
        </p:spPr>
      </p:sp>
      <p:sp>
        <p:nvSpPr>
          <p:cNvPr id="229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3 : le nettoyage. Chaque problème de données est un fantôme à manger.</a:t>
            </a:r>
            <a:endParaRPr b="0" lang="en-US" sz="2000" spc="-1" strike="noStrike">
              <a:solidFill>
                <a:srgbClr val="000000"/>
              </a:solidFill>
              <a:latin typeface="Arial"/>
            </a:endParaRPr>
          </a:p>
        </p:txBody>
      </p:sp>
      <p:sp>
        <p:nvSpPr>
          <p:cNvPr id="2294"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A9E98612-2271-4F32-A381-1567AF380283}"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5" name="PlaceHolder 1"/>
          <p:cNvSpPr>
            <a:spLocks noGrp="1"/>
          </p:cNvSpPr>
          <p:nvPr>
            <p:ph type="sldImg"/>
          </p:nvPr>
        </p:nvSpPr>
        <p:spPr>
          <a:xfrm>
            <a:off x="0" y="0"/>
            <a:ext cx="0" cy="0"/>
          </a:xfrm>
          <a:prstGeom prst="rect">
            <a:avLst/>
          </a:prstGeom>
          <a:ln w="0">
            <a:noFill/>
          </a:ln>
        </p:spPr>
      </p:sp>
      <p:sp>
        <p:nvSpPr>
          <p:cNvPr id="229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Les outils standards comme isna ou duplicated ne voient qu'une partie des problèmes. Il a fallu lire les données : 271 années manquantes, dont 118 retrouvées grâce à la même fiche sur une autre plateforme ; 149 fiches partielles marquées (JP sales), fusionnées en prenant le maximum par région pour ne pas compter deux fois les ventes ; des dates impossibles comme un jeu DS en 1985. Au final on garde 99,3 % du volume de ventes.</a:t>
            </a:r>
            <a:endParaRPr b="0" lang="en-US" sz="2000" spc="-1" strike="noStrike">
              <a:solidFill>
                <a:srgbClr val="000000"/>
              </a:solidFill>
              <a:latin typeface="Arial"/>
            </a:endParaRPr>
          </a:p>
        </p:txBody>
      </p:sp>
      <p:sp>
        <p:nvSpPr>
          <p:cNvPr id="2297"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E2DE035-3177-45B5-BD05-CEDC334B1221}"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8" name="PlaceHolder 1"/>
          <p:cNvSpPr>
            <a:spLocks noGrp="1"/>
          </p:cNvSpPr>
          <p:nvPr>
            <p:ph type="sldImg"/>
          </p:nvPr>
        </p:nvSpPr>
        <p:spPr>
          <a:xfrm>
            <a:off x="0" y="0"/>
            <a:ext cx="0" cy="0"/>
          </a:xfrm>
          <a:prstGeom prst="rect">
            <a:avLst/>
          </a:prstGeom>
          <a:ln w="0">
            <a:noFill/>
          </a:ln>
        </p:spPr>
      </p:sp>
      <p:sp>
        <p:nvSpPr>
          <p:cNvPr id="229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4 : les découvertes.</a:t>
            </a:r>
            <a:endParaRPr b="0" lang="en-US" sz="2000" spc="-1" strike="noStrike">
              <a:solidFill>
                <a:srgbClr val="000000"/>
              </a:solidFill>
              <a:latin typeface="Arial"/>
            </a:endParaRPr>
          </a:p>
        </p:txBody>
      </p:sp>
      <p:sp>
        <p:nvSpPr>
          <p:cNvPr id="2300"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396BA0AC-B0E6-4137-B1F7-BAA2BD506EB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1" name="PlaceHolder 1"/>
          <p:cNvSpPr>
            <a:spLocks noGrp="1"/>
          </p:cNvSpPr>
          <p:nvPr>
            <p:ph type="sldImg"/>
          </p:nvPr>
        </p:nvSpPr>
        <p:spPr>
          <a:xfrm>
            <a:off x="0" y="0"/>
            <a:ext cx="0" cy="0"/>
          </a:xfrm>
          <a:prstGeom prst="rect">
            <a:avLst/>
          </a:prstGeom>
          <a:ln w="0">
            <a:noFill/>
          </a:ln>
        </p:spPr>
      </p:sp>
      <p:sp>
        <p:nvSpPr>
          <p:cNvPr id="230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Premier constat : c'est un marché de blockbusters. Les 10 % de jeux les plus vendus réalisent 59 % des ventes, alors que la moitié des jeux vend moins de 170 000 exemplaires. Et la tendance s'accentue : après 2011, les éditeurs sortent deux fois moins de jeux, mais chacun vend 50 % de plus.</a:t>
            </a:r>
            <a:endParaRPr b="0" lang="en-US" sz="2000" spc="-1" strike="noStrike">
              <a:solidFill>
                <a:srgbClr val="000000"/>
              </a:solidFill>
              <a:latin typeface="Arial"/>
            </a:endParaRPr>
          </a:p>
        </p:txBody>
      </p:sp>
      <p:sp>
        <p:nvSpPr>
          <p:cNvPr id="2303"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1A470E33-4E94-4381-AF9B-A7A0B8A0D67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4" name="PlaceHolder 1"/>
          <p:cNvSpPr>
            <a:spLocks noGrp="1"/>
          </p:cNvSpPr>
          <p:nvPr>
            <p:ph type="sldImg"/>
          </p:nvPr>
        </p:nvSpPr>
        <p:spPr>
          <a:xfrm>
            <a:off x="0" y="0"/>
            <a:ext cx="0" cy="0"/>
          </a:xfrm>
          <a:prstGeom prst="rect">
            <a:avLst/>
          </a:prstGeom>
          <a:ln w="0">
            <a:noFill/>
          </a:ln>
        </p:spPr>
      </p:sp>
      <p:sp>
        <p:nvSpPr>
          <p:cNvPr id="230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Les ventes physiques culminent en 2008 avec 688 millions d'exemplaires, portées par la 7e génération de consoles : Wii, DS, Xbox 360, PS3 et PSP représentent à elles seules 45 % des ventes du fichier. La baisse qui suit n'est pas forcément une crise : c'est surtout l'arrivée du dématérialisé et du mobile, que VGChartz ne compte pas. Attention, 2016 est incomplète.</a:t>
            </a:r>
            <a:endParaRPr b="0" lang="en-US" sz="2000" spc="-1" strike="noStrike">
              <a:solidFill>
                <a:srgbClr val="000000"/>
              </a:solidFill>
              <a:latin typeface="Arial"/>
            </a:endParaRPr>
          </a:p>
        </p:txBody>
      </p:sp>
      <p:sp>
        <p:nvSpPr>
          <p:cNvPr id="2306"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C77716A-B09E-4562-BC8B-F3E5E9CEBDB8}"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7" name="PlaceHolder 1"/>
          <p:cNvSpPr>
            <a:spLocks noGrp="1"/>
          </p:cNvSpPr>
          <p:nvPr>
            <p:ph type="sldImg"/>
          </p:nvPr>
        </p:nvSpPr>
        <p:spPr>
          <a:xfrm>
            <a:off x="0" y="0"/>
            <a:ext cx="0" cy="0"/>
          </a:xfrm>
          <a:prstGeom prst="rect">
            <a:avLst/>
          </a:prstGeom>
          <a:ln w="0">
            <a:noFill/>
          </a:ln>
        </p:spPr>
      </p:sp>
      <p:sp>
        <p:nvSpPr>
          <p:cNvPr id="230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Troisième découverte : il y a deux mondes. L'Amérique du Nord et l'Europe ont des goûts presque identiques, avec un score de divergence de 0,01. Le Japon, lui, est à part : plus d'un quart de ses ventes sont des RPG, contre 8 % en Occident, et il achète quatre fois moins de jeux de tir. 77 % des jeux ultra-régionaux sont japonais, et l'écart se creuse depuis 2012.</a:t>
            </a:r>
            <a:endParaRPr b="0" lang="en-US" sz="2000" spc="-1" strike="noStrike">
              <a:solidFill>
                <a:srgbClr val="000000"/>
              </a:solidFill>
              <a:latin typeface="Arial"/>
            </a:endParaRPr>
          </a:p>
        </p:txBody>
      </p:sp>
      <p:sp>
        <p:nvSpPr>
          <p:cNvPr id="2309"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1E1E1032-1499-4F33-8D24-DA55035E589B}"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0" name="PlaceHolder 1"/>
          <p:cNvSpPr>
            <a:spLocks noGrp="1"/>
          </p:cNvSpPr>
          <p:nvPr>
            <p:ph type="sldImg"/>
          </p:nvPr>
        </p:nvSpPr>
        <p:spPr>
          <a:xfrm>
            <a:off x="0" y="0"/>
            <a:ext cx="0" cy="0"/>
          </a:xfrm>
          <a:prstGeom prst="rect">
            <a:avLst/>
          </a:prstGeom>
          <a:ln w="0">
            <a:noFill/>
          </a:ln>
        </p:spPr>
      </p:sp>
      <p:sp>
        <p:nvSpPr>
          <p:cNvPr id="231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Quatrième découverte : l'Action et le Tir sont passés de 18 % à 45 % des ventes en vingt ans, au détriment notamment des jeux de plates-formes. Mais attention : un genre fréquent n'est pas forcément rentable. L'Aventure représente beaucoup de jeux mais vend trois fois moins que son poids dans le catalogue.</a:t>
            </a:r>
            <a:endParaRPr b="0" lang="en-US" sz="2000" spc="-1" strike="noStrike">
              <a:solidFill>
                <a:srgbClr val="000000"/>
              </a:solidFill>
              <a:latin typeface="Arial"/>
            </a:endParaRPr>
          </a:p>
        </p:txBody>
      </p:sp>
      <p:sp>
        <p:nvSpPr>
          <p:cNvPr id="2312"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854E5B5E-5131-49B5-9FBB-7D1C6CA4B761}"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3" name="PlaceHolder 1"/>
          <p:cNvSpPr>
            <a:spLocks noGrp="1"/>
          </p:cNvSpPr>
          <p:nvPr>
            <p:ph type="sldImg"/>
          </p:nvPr>
        </p:nvSpPr>
        <p:spPr>
          <a:xfrm>
            <a:off x="0" y="0"/>
            <a:ext cx="0" cy="0"/>
          </a:xfrm>
          <a:prstGeom prst="rect">
            <a:avLst/>
          </a:prstGeom>
          <a:ln w="0">
            <a:noFill/>
          </a:ln>
        </p:spPr>
      </p:sp>
      <p:sp>
        <p:nvSpPr>
          <p:cNvPr id="231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5 : le boss final, le Market Power Index.</a:t>
            </a:r>
            <a:endParaRPr b="0" lang="en-US" sz="2000" spc="-1" strike="noStrike">
              <a:solidFill>
                <a:srgbClr val="000000"/>
              </a:solidFill>
              <a:latin typeface="Arial"/>
            </a:endParaRPr>
          </a:p>
        </p:txBody>
      </p:sp>
      <p:sp>
        <p:nvSpPr>
          <p:cNvPr id="2315"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E2D906DF-7201-4562-BD5D-7808D22F65EA}"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6" name="PlaceHolder 1"/>
          <p:cNvSpPr>
            <a:spLocks noGrp="1"/>
          </p:cNvSpPr>
          <p:nvPr>
            <p:ph type="sldImg"/>
          </p:nvPr>
        </p:nvSpPr>
        <p:spPr>
          <a:xfrm>
            <a:off x="0" y="0"/>
            <a:ext cx="0" cy="0"/>
          </a:xfrm>
          <a:prstGeom prst="rect">
            <a:avLst/>
          </a:prstGeom>
          <a:ln w="0">
            <a:noFill/>
          </a:ln>
        </p:spPr>
      </p:sp>
      <p:sp>
        <p:nvSpPr>
          <p:cNvPr id="231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Le boss final : le Market Power Index, un score sur 100 qui combine cinq composantes : la part de marché par genre, le leadership (plus de 30 % d'un genre), la diversité des genres, la constance entre régions et le taux de hits. Nintendo obtient 95,5 et reste premier quelle que soit la pondération testée. Derrière, EA, Sony et Activision forment un second cercle stable. Ubisoft ou THQ sortent beaucoup de jeux mais réussissent moins : le pouvoir de marché vient du taux de succès plus que du volume.</a:t>
            </a:r>
            <a:endParaRPr b="0" lang="en-US" sz="2000" spc="-1" strike="noStrike">
              <a:solidFill>
                <a:srgbClr val="000000"/>
              </a:solidFill>
              <a:latin typeface="Arial"/>
            </a:endParaRPr>
          </a:p>
        </p:txBody>
      </p:sp>
      <p:sp>
        <p:nvSpPr>
          <p:cNvPr id="2318" name="PlaceHolder 3"/>
          <p:cNvSpPr>
            <a:spLocks noGrp="1"/>
          </p:cNvSpPr>
          <p:nvPr>
            <p:ph type="sldNum" idx="2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EDD9EC86-4E07-4A22-8369-A80DE2810788}"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2" name="PlaceHolder 1"/>
          <p:cNvSpPr>
            <a:spLocks noGrp="1"/>
          </p:cNvSpPr>
          <p:nvPr>
            <p:ph type="sldImg"/>
          </p:nvPr>
        </p:nvSpPr>
        <p:spPr>
          <a:xfrm>
            <a:off x="0" y="0"/>
            <a:ext cx="0" cy="0"/>
          </a:xfrm>
          <a:prstGeom prst="rect">
            <a:avLst/>
          </a:prstGeom>
          <a:ln w="0">
            <a:noFill/>
          </a:ln>
        </p:spPr>
      </p:sp>
      <p:sp>
        <p:nvSpPr>
          <p:cNvPr id="232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Pour conclure cette première partie : cette base a des angles morts. Pas de ventes dématérialisées ni mobiles, une année 2016 incomplète, et quelques ventes mal attribuées entre régions. Et surtout, les ventes disent combien un jeu s'est vendu, pas s'il était bon. C'est ce que mesure la deuxième base demandée par le client, les notes Metacritic, que nous vous présentons maintenant.</a:t>
            </a:r>
            <a:endParaRPr b="0" lang="en-US" sz="2000" spc="-1" strike="noStrike">
              <a:solidFill>
                <a:srgbClr val="000000"/>
              </a:solidFill>
              <a:latin typeface="Arial"/>
            </a:endParaRPr>
          </a:p>
        </p:txBody>
      </p:sp>
      <p:sp>
        <p:nvSpPr>
          <p:cNvPr id="2324" name="PlaceHolder 3"/>
          <p:cNvSpPr>
            <a:spLocks noGrp="1"/>
          </p:cNvSpPr>
          <p:nvPr>
            <p:ph type="sldNum" idx="2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EC8B19D-3884-4712-B56A-F73566196337}"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5" name="PlaceHolder 1"/>
          <p:cNvSpPr>
            <a:spLocks noGrp="1"/>
          </p:cNvSpPr>
          <p:nvPr>
            <p:ph type="sldImg"/>
          </p:nvPr>
        </p:nvSpPr>
        <p:spPr>
          <a:xfrm>
            <a:off x="0" y="0"/>
            <a:ext cx="0" cy="0"/>
          </a:xfrm>
          <a:prstGeom prst="rect">
            <a:avLst/>
          </a:prstGeom>
          <a:ln w="0">
            <a:noFill/>
          </a:ln>
        </p:spPr>
      </p:sp>
      <p:sp>
        <p:nvSpPr>
          <p:cNvPr id="232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Nous passons à la deuxième partie du projet : la deuxième base de données demandée par le client, les notes Metacritic. La première base disait combien un jeu s'est vendu ; celle-ci dit ce que la presse et les joueurs en ont pensé.</a:t>
            </a:r>
            <a:endParaRPr b="0" lang="en-US" sz="2000" spc="-1" strike="noStrike">
              <a:solidFill>
                <a:srgbClr val="000000"/>
              </a:solidFill>
              <a:latin typeface="Arial"/>
            </a:endParaRPr>
          </a:p>
        </p:txBody>
      </p:sp>
      <p:sp>
        <p:nvSpPr>
          <p:cNvPr id="2327" name="PlaceHolder 3"/>
          <p:cNvSpPr>
            <a:spLocks noGrp="1"/>
          </p:cNvSpPr>
          <p:nvPr>
            <p:ph type="sldNum" idx="24"/>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8" name="PlaceHolder 1"/>
          <p:cNvSpPr>
            <a:spLocks noGrp="1"/>
          </p:cNvSpPr>
          <p:nvPr>
            <p:ph type="sldImg"/>
          </p:nvPr>
        </p:nvSpPr>
        <p:spPr>
          <a:xfrm>
            <a:off x="0" y="0"/>
            <a:ext cx="0" cy="0"/>
          </a:xfrm>
          <a:prstGeom prst="rect">
            <a:avLst/>
          </a:prstGeom>
          <a:ln w="0">
            <a:noFill/>
          </a:ln>
        </p:spPr>
      </p:sp>
      <p:sp>
        <p:nvSpPr>
          <p:cNvPr id="232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Voici notre parcours pour cette partie : la mission, c'est-à-dire la demande du client et la base choisie ; le nettoyage ; la jointure entre les deux bases ; quatre découvertes ; le Market Power Index revu avec la qualité ; et la démonstration de l'interface, qui montre les deux bases ensemble. En bonus, le prix de la prestation et la conclusion.</a:t>
            </a:r>
            <a:endParaRPr b="0" lang="en-US" sz="2000" spc="-1" strike="noStrike">
              <a:solidFill>
                <a:srgbClr val="000000"/>
              </a:solidFill>
              <a:latin typeface="Arial"/>
            </a:endParaRPr>
          </a:p>
        </p:txBody>
      </p:sp>
      <p:sp>
        <p:nvSpPr>
          <p:cNvPr id="2330" name="PlaceHolder 3"/>
          <p:cNvSpPr>
            <a:spLocks noGrp="1"/>
          </p:cNvSpPr>
          <p:nvPr>
            <p:ph type="sldNum" idx="25"/>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1" name="PlaceHolder 1"/>
          <p:cNvSpPr>
            <a:spLocks noGrp="1"/>
          </p:cNvSpPr>
          <p:nvPr>
            <p:ph type="sldImg"/>
          </p:nvPr>
        </p:nvSpPr>
        <p:spPr>
          <a:xfrm>
            <a:off x="0" y="0"/>
            <a:ext cx="0" cy="0"/>
          </a:xfrm>
          <a:prstGeom prst="rect">
            <a:avLst/>
          </a:prstGeom>
          <a:ln w="0">
            <a:noFill/>
          </a:ln>
        </p:spPr>
      </p:sp>
      <p:sp>
        <p:nvSpPr>
          <p:cNvPr id="233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1 : la mission.</a:t>
            </a:r>
            <a:endParaRPr b="0" lang="en-US" sz="2000" spc="-1" strike="noStrike">
              <a:solidFill>
                <a:srgbClr val="000000"/>
              </a:solidFill>
              <a:latin typeface="Arial"/>
            </a:endParaRPr>
          </a:p>
        </p:txBody>
      </p:sp>
      <p:sp>
        <p:nvSpPr>
          <p:cNvPr id="2333" name="PlaceHolder 3"/>
          <p:cNvSpPr>
            <a:spLocks noGrp="1"/>
          </p:cNvSpPr>
          <p:nvPr>
            <p:ph type="sldNum" idx="26"/>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4" name="PlaceHolder 1"/>
          <p:cNvSpPr>
            <a:spLocks noGrp="1"/>
          </p:cNvSpPr>
          <p:nvPr>
            <p:ph type="sldImg"/>
          </p:nvPr>
        </p:nvSpPr>
        <p:spPr>
          <a:xfrm>
            <a:off x="0" y="0"/>
            <a:ext cx="0" cy="0"/>
          </a:xfrm>
          <a:prstGeom prst="rect">
            <a:avLst/>
          </a:prstGeom>
          <a:ln w="0">
            <a:noFill/>
          </a:ln>
        </p:spPr>
      </p:sp>
      <p:sp>
        <p:nvSpPr>
          <p:cNvPr id="233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Le client a regardé l'analyse des ventes et nous a demandé d'ajouter une deuxième base. Les ventes disent combien un jeu s'est vendu, mais pas s'il était bon. On a donc cherché une base qui mesure la qualité perçue : les notes Metacritic. La question devient : une bonne note fait-elle vendre ? La base compte 16 719 lignes et 16 colonnes, dont 6 nouvelles.</a:t>
            </a:r>
            <a:endParaRPr b="0" lang="en-US" sz="2000" spc="-1" strike="noStrike">
              <a:solidFill>
                <a:srgbClr val="000000"/>
              </a:solidFill>
              <a:latin typeface="Arial"/>
            </a:endParaRPr>
          </a:p>
        </p:txBody>
      </p:sp>
      <p:sp>
        <p:nvSpPr>
          <p:cNvPr id="2336" name="PlaceHolder 3"/>
          <p:cNvSpPr>
            <a:spLocks noGrp="1"/>
          </p:cNvSpPr>
          <p:nvPr>
            <p:ph type="sldNum" idx="27"/>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7" name="PlaceHolder 1"/>
          <p:cNvSpPr>
            <a:spLocks noGrp="1"/>
          </p:cNvSpPr>
          <p:nvPr>
            <p:ph type="sldImg"/>
          </p:nvPr>
        </p:nvSpPr>
        <p:spPr>
          <a:xfrm>
            <a:off x="0" y="0"/>
            <a:ext cx="0" cy="0"/>
          </a:xfrm>
          <a:prstGeom prst="rect">
            <a:avLst/>
          </a:prstGeom>
          <a:ln w="0">
            <a:noFill/>
          </a:ln>
        </p:spPr>
      </p:sp>
      <p:sp>
        <p:nvSpPr>
          <p:cNvPr id="233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Pourquoi cette base ? Elle coche les quatre critères des consignes : elle parle de jeux vidéo sur la même période, elle a une clé commune avec notre base, elle apporte une information nouvelle et sa source est citable. Exemple avec GTA V sur PS3 : la base 1 disait 21 millions d'exemplaires ; la base 2 ajoute une note presse de 97 sur 100, une note joueurs de 8,2 sur 10, le studio Rockstar North et la classification M, pour adultes.</a:t>
            </a:r>
            <a:endParaRPr b="0" lang="en-US" sz="2000" spc="-1" strike="noStrike">
              <a:solidFill>
                <a:srgbClr val="000000"/>
              </a:solidFill>
              <a:latin typeface="Arial"/>
            </a:endParaRPr>
          </a:p>
        </p:txBody>
      </p:sp>
      <p:sp>
        <p:nvSpPr>
          <p:cNvPr id="2339" name="PlaceHolder 3"/>
          <p:cNvSpPr>
            <a:spLocks noGrp="1"/>
          </p:cNvSpPr>
          <p:nvPr>
            <p:ph type="sldNum" idx="28"/>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0" name="PlaceHolder 1"/>
          <p:cNvSpPr>
            <a:spLocks noGrp="1"/>
          </p:cNvSpPr>
          <p:nvPr>
            <p:ph type="sldImg"/>
          </p:nvPr>
        </p:nvSpPr>
        <p:spPr>
          <a:xfrm>
            <a:off x="0" y="0"/>
            <a:ext cx="0" cy="0"/>
          </a:xfrm>
          <a:prstGeom prst="rect">
            <a:avLst/>
          </a:prstGeom>
          <a:ln w="0">
            <a:noFill/>
          </a:ln>
        </p:spPr>
      </p:sp>
      <p:sp>
        <p:nvSpPr>
          <p:cNvPr id="234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2 : le nettoyage. La base 2 a ses propres fantômes.</a:t>
            </a:r>
            <a:endParaRPr b="0" lang="en-US" sz="2000" spc="-1" strike="noStrike">
              <a:solidFill>
                <a:srgbClr val="000000"/>
              </a:solidFill>
              <a:latin typeface="Arial"/>
            </a:endParaRPr>
          </a:p>
        </p:txBody>
      </p:sp>
      <p:sp>
        <p:nvSpPr>
          <p:cNvPr id="2342" name="PlaceHolder 3"/>
          <p:cNvSpPr>
            <a:spLocks noGrp="1"/>
          </p:cNvSpPr>
          <p:nvPr>
            <p:ph type="sldNum" idx="29"/>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3" name="PlaceHolder 1"/>
          <p:cNvSpPr>
            <a:spLocks noGrp="1"/>
          </p:cNvSpPr>
          <p:nvPr>
            <p:ph type="sldImg"/>
          </p:nvPr>
        </p:nvSpPr>
        <p:spPr>
          <a:xfrm>
            <a:off x="0" y="0"/>
            <a:ext cx="0" cy="0"/>
          </a:xfrm>
          <a:prstGeom prst="rect">
            <a:avLst/>
          </a:prstGeom>
          <a:ln w="0">
            <a:noFill/>
          </a:ln>
        </p:spPr>
      </p:sp>
      <p:sp>
        <p:nvSpPr>
          <p:cNvPr id="234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Quatre fantômes dans cette base. Un : 2 425 notes joueurs valent « tbd », to be determined : ce n'est pas une note, c'est une absence de note, on la met en valeur manquante. Deux : la moitié des notes presse manquent. On ne les invente pas : elles ne manquent pas au hasard, Metacritic ne note presque rien d'avant 2000. Trois : la source a confondu des remakes avec l'original, par exemple Need for Speed Most Wanted 2005 et 2012 avaient la même note ; on retire la note plutôt que d'en donner une fausse. Quatre : les mêmes doublons que dans la base 1. Point fort : avec les mêmes règles, on retrouve les mêmes chiffres, 114 fiches fusionnées dans les deux bases, ce qui valide notre nettoyage de la partie 1.</a:t>
            </a:r>
            <a:endParaRPr b="0" lang="en-US" sz="2000" spc="-1" strike="noStrike">
              <a:solidFill>
                <a:srgbClr val="000000"/>
              </a:solidFill>
              <a:latin typeface="Arial"/>
            </a:endParaRPr>
          </a:p>
        </p:txBody>
      </p:sp>
      <p:sp>
        <p:nvSpPr>
          <p:cNvPr id="2345" name="PlaceHolder 3"/>
          <p:cNvSpPr>
            <a:spLocks noGrp="1"/>
          </p:cNvSpPr>
          <p:nvPr>
            <p:ph type="sldNum" idx="30"/>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6" name="PlaceHolder 1"/>
          <p:cNvSpPr>
            <a:spLocks noGrp="1"/>
          </p:cNvSpPr>
          <p:nvPr>
            <p:ph type="sldImg"/>
          </p:nvPr>
        </p:nvSpPr>
        <p:spPr>
          <a:xfrm>
            <a:off x="0" y="0"/>
            <a:ext cx="0" cy="0"/>
          </a:xfrm>
          <a:prstGeom prst="rect">
            <a:avLst/>
          </a:prstGeom>
          <a:ln w="0">
            <a:noFill/>
          </a:ln>
        </p:spPr>
      </p:sp>
      <p:sp>
        <p:nvSpPr>
          <p:cNvPr id="234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3 : la jointure, le cœur de la demande du client.</a:t>
            </a:r>
            <a:endParaRPr b="0" lang="en-US" sz="2000" spc="-1" strike="noStrike">
              <a:solidFill>
                <a:srgbClr val="000000"/>
              </a:solidFill>
              <a:latin typeface="Arial"/>
            </a:endParaRPr>
          </a:p>
        </p:txBody>
      </p:sp>
      <p:sp>
        <p:nvSpPr>
          <p:cNvPr id="2348" name="PlaceHolder 3"/>
          <p:cNvSpPr>
            <a:spLocks noGrp="1"/>
          </p:cNvSpPr>
          <p:nvPr>
            <p:ph type="sldNum" idx="31"/>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9" name="PlaceHolder 1"/>
          <p:cNvSpPr>
            <a:spLocks noGrp="1"/>
          </p:cNvSpPr>
          <p:nvPr>
            <p:ph type="sldImg"/>
          </p:nvPr>
        </p:nvSpPr>
        <p:spPr>
          <a:xfrm>
            <a:off x="0" y="0"/>
            <a:ext cx="0" cy="0"/>
          </a:xfrm>
          <a:prstGeom prst="rect">
            <a:avLst/>
          </a:prstGeom>
          <a:ln w="0">
            <a:noFill/>
          </a:ln>
        </p:spPr>
      </p:sp>
      <p:sp>
        <p:nvSpPr>
          <p:cNvPr id="235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Pour relier les deux bases, il faut une clé. On utilise trois éléments : le nom normalisé, la plateforme et l'année. Normaliser, c'est mettre en minuscules et enlever la ponctuation, parce que les noms ne sont jamais écrits pareil. La plateforme, parce qu'un jeu n'a pas la même note sur PS3 et sur Wii. L'année, pour séparer un jeu de son remake. Résultat : 99.7% des jeux retrouvent leur fiche. C'est presque parfait parce que les deux bases viennent du même scraping. Les ventes diffèrent un peu entre les deux relevés, par exemple Wii Sports, donc on garde une seule source de vérité pour les ventes : la base 1.</a:t>
            </a:r>
            <a:endParaRPr b="0" lang="en-US" sz="2000" spc="-1" strike="noStrike">
              <a:solidFill>
                <a:srgbClr val="000000"/>
              </a:solidFill>
              <a:latin typeface="Arial"/>
            </a:endParaRPr>
          </a:p>
        </p:txBody>
      </p:sp>
      <p:sp>
        <p:nvSpPr>
          <p:cNvPr id="2351" name="PlaceHolder 3"/>
          <p:cNvSpPr>
            <a:spLocks noGrp="1"/>
          </p:cNvSpPr>
          <p:nvPr>
            <p:ph type="sldNum" idx="32"/>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2" name="PlaceHolder 1"/>
          <p:cNvSpPr>
            <a:spLocks noGrp="1"/>
          </p:cNvSpPr>
          <p:nvPr>
            <p:ph type="sldImg"/>
          </p:nvPr>
        </p:nvSpPr>
        <p:spPr>
          <a:xfrm>
            <a:off x="0" y="0"/>
            <a:ext cx="0" cy="0"/>
          </a:xfrm>
          <a:prstGeom prst="rect">
            <a:avLst/>
          </a:prstGeom>
          <a:ln w="0">
            <a:noFill/>
          </a:ln>
        </p:spPr>
      </p:sp>
      <p:sp>
        <p:nvSpPr>
          <p:cNvPr id="235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Attention : relier n'est pas noter. Une fois reliés, seuls 49% des jeux ont une note presse. Mais ils pèsent 63% des ventes : les critiques testent d'abord les jeux attendus. On le voit sur le graphique : 30% des jeux les moins vendus sont notés, contre 65% des plus vendus. Toutes nos conclusions sur les notes portent donc sur les jeux visibles, sortis entre 2000 et 2016. C'est la principale limite à garder en tête.</a:t>
            </a:r>
            <a:endParaRPr b="0" lang="en-US" sz="2000" spc="-1" strike="noStrike">
              <a:solidFill>
                <a:srgbClr val="000000"/>
              </a:solidFill>
              <a:latin typeface="Arial"/>
            </a:endParaRPr>
          </a:p>
        </p:txBody>
      </p:sp>
      <p:sp>
        <p:nvSpPr>
          <p:cNvPr id="2354" name="PlaceHolder 3"/>
          <p:cNvSpPr>
            <a:spLocks noGrp="1"/>
          </p:cNvSpPr>
          <p:nvPr>
            <p:ph type="sldNum" idx="33"/>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5" name="PlaceHolder 1"/>
          <p:cNvSpPr>
            <a:spLocks noGrp="1"/>
          </p:cNvSpPr>
          <p:nvPr>
            <p:ph type="sldImg"/>
          </p:nvPr>
        </p:nvSpPr>
        <p:spPr>
          <a:xfrm>
            <a:off x="0" y="0"/>
            <a:ext cx="0" cy="0"/>
          </a:xfrm>
          <a:prstGeom prst="rect">
            <a:avLst/>
          </a:prstGeom>
          <a:ln w="0">
            <a:noFill/>
          </a:ln>
        </p:spPr>
      </p:sp>
      <p:sp>
        <p:nvSpPr>
          <p:cNvPr id="235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4 : les découvertes.</a:t>
            </a:r>
            <a:endParaRPr b="0" lang="en-US" sz="2000" spc="-1" strike="noStrike">
              <a:solidFill>
                <a:srgbClr val="000000"/>
              </a:solidFill>
              <a:latin typeface="Arial"/>
            </a:endParaRPr>
          </a:p>
        </p:txBody>
      </p:sp>
      <p:sp>
        <p:nvSpPr>
          <p:cNvPr id="2357" name="PlaceHolder 3"/>
          <p:cNvSpPr>
            <a:spLocks noGrp="1"/>
          </p:cNvSpPr>
          <p:nvPr>
            <p:ph type="sldNum" idx="34"/>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8" name="PlaceHolder 1"/>
          <p:cNvSpPr>
            <a:spLocks noGrp="1"/>
          </p:cNvSpPr>
          <p:nvPr>
            <p:ph type="sldImg"/>
          </p:nvPr>
        </p:nvSpPr>
        <p:spPr>
          <a:xfrm>
            <a:off x="0" y="0"/>
            <a:ext cx="0" cy="0"/>
          </a:xfrm>
          <a:prstGeom prst="rect">
            <a:avLst/>
          </a:prstGeom>
          <a:ln w="0">
            <a:noFill/>
          </a:ln>
        </p:spPr>
      </p:sp>
      <p:sp>
        <p:nvSpPr>
          <p:cNvPr id="235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Première découverte : une bonne note va avec de bonnes ventes. Un jeu noté 90 ou plus se vend en médiane 13 fois plus qu'un jeu noté moins de 50, et 62% de ces jeux dépassent le million, contre 4%. Mais attention, lien ne veut pas dire cause : les jeux attendus ont plus de budget marketing, plus de critiques et de meilleures notes. Et Nintendo prouve qu'on peut vendre sans la critique : Wii Play a 58 sur 100 et s'est vendu à 29 millions d'exemplaires.</a:t>
            </a:r>
            <a:endParaRPr b="0" lang="en-US" sz="2000" spc="-1" strike="noStrike">
              <a:solidFill>
                <a:srgbClr val="000000"/>
              </a:solidFill>
              <a:latin typeface="Arial"/>
            </a:endParaRPr>
          </a:p>
        </p:txBody>
      </p:sp>
      <p:sp>
        <p:nvSpPr>
          <p:cNvPr id="2360" name="PlaceHolder 3"/>
          <p:cNvSpPr>
            <a:spLocks noGrp="1"/>
          </p:cNvSpPr>
          <p:nvPr>
            <p:ph type="sldNum" idx="35"/>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1" name="PlaceHolder 1"/>
          <p:cNvSpPr>
            <a:spLocks noGrp="1"/>
          </p:cNvSpPr>
          <p:nvPr>
            <p:ph type="sldImg"/>
          </p:nvPr>
        </p:nvSpPr>
        <p:spPr>
          <a:xfrm>
            <a:off x="0" y="0"/>
            <a:ext cx="0" cy="0"/>
          </a:xfrm>
          <a:prstGeom prst="rect">
            <a:avLst/>
          </a:prstGeom>
          <a:ln w="0">
            <a:noFill/>
          </a:ln>
        </p:spPr>
      </p:sp>
      <p:sp>
        <p:nvSpPr>
          <p:cNvPr id="236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Deuxième découverte : la presse et les joueurs ont divorcé. Jusqu'en 2009, les joueurs notent plus haut que la presse. Vers 2010, les courbes se croisent et les joueurs deviennent plus sévères. Deux hypothèses : la nostalgie, car ceux qui notent aujourd'hui un vieux jeu sont ses fans ; et le review bombing, des campagnes de joueurs mécontents. Exemple : Call of Duty Modern Warfare 3, 88 pour la presse, 32 pour les joueurs sur plus de 5 000 votes. Les deux notes ne sont corrélées qu'à 0,58.</a:t>
            </a:r>
            <a:endParaRPr b="0" lang="en-US" sz="2000" spc="-1" strike="noStrike">
              <a:solidFill>
                <a:srgbClr val="000000"/>
              </a:solidFill>
              <a:latin typeface="Arial"/>
            </a:endParaRPr>
          </a:p>
        </p:txBody>
      </p:sp>
      <p:sp>
        <p:nvSpPr>
          <p:cNvPr id="2363" name="PlaceHolder 3"/>
          <p:cNvSpPr>
            <a:spLocks noGrp="1"/>
          </p:cNvSpPr>
          <p:nvPr>
            <p:ph type="sldNum" idx="36"/>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4" name="PlaceHolder 1"/>
          <p:cNvSpPr>
            <a:spLocks noGrp="1"/>
          </p:cNvSpPr>
          <p:nvPr>
            <p:ph type="sldImg"/>
          </p:nvPr>
        </p:nvSpPr>
        <p:spPr>
          <a:xfrm>
            <a:off x="0" y="0"/>
            <a:ext cx="0" cy="0"/>
          </a:xfrm>
          <a:prstGeom prst="rect">
            <a:avLst/>
          </a:prstGeom>
          <a:ln w="0">
            <a:noFill/>
          </a:ln>
        </p:spPr>
      </p:sp>
      <p:sp>
        <p:nvSpPr>
          <p:cNvPr id="236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Troisième découverte : les ventes ne suivent pas la qualité. La Wii et la DS, les deux consoles qui se sont le plus vendues, sont les moins bien notées de toutes, autour de 63 sur 100. Ce n'est pas que Nintendo fait de mauvais jeux : Super Mario Galaxy est dans notre top 10. Ces consoles ont attiré un très grand nombre de petits jeux familiaux à bas prix, que la critique a mal notés. Le PC est la plateforme la mieux notée.</a:t>
            </a:r>
            <a:endParaRPr b="0" lang="en-US" sz="2000" spc="-1" strike="noStrike">
              <a:solidFill>
                <a:srgbClr val="000000"/>
              </a:solidFill>
              <a:latin typeface="Arial"/>
            </a:endParaRPr>
          </a:p>
        </p:txBody>
      </p:sp>
      <p:sp>
        <p:nvSpPr>
          <p:cNvPr id="2366" name="PlaceHolder 3"/>
          <p:cNvSpPr>
            <a:spLocks noGrp="1"/>
          </p:cNvSpPr>
          <p:nvPr>
            <p:ph type="sldNum" idx="37"/>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7" name="PlaceHolder 1"/>
          <p:cNvSpPr>
            <a:spLocks noGrp="1"/>
          </p:cNvSpPr>
          <p:nvPr>
            <p:ph type="sldImg"/>
          </p:nvPr>
        </p:nvSpPr>
        <p:spPr>
          <a:xfrm>
            <a:off x="0" y="0"/>
            <a:ext cx="0" cy="0"/>
          </a:xfrm>
          <a:prstGeom prst="rect">
            <a:avLst/>
          </a:prstGeom>
          <a:ln w="0">
            <a:noFill/>
          </a:ln>
        </p:spPr>
      </p:sp>
      <p:sp>
        <p:nvSpPr>
          <p:cNvPr id="236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Quatrième découverte : les régions ne réagissent pas pareil. Un jeu mal noté fait 68% de ses ventes en Amérique du Nord, contre 49% pour un jeu noté 90 et plus : le marché nord-américain absorbe les petits jeux mal notés. L'Europe est le marché le plus sensible aux notes, avec une corrélation de 0,37. Le Japon l'est le moins, 0,24 : Metacritic regroupe des critiques occidentales. Cela rejoint notre découverte de la partie 1 : le Japon est un monde à part.</a:t>
            </a:r>
            <a:endParaRPr b="0" lang="en-US" sz="2000" spc="-1" strike="noStrike">
              <a:solidFill>
                <a:srgbClr val="000000"/>
              </a:solidFill>
              <a:latin typeface="Arial"/>
            </a:endParaRPr>
          </a:p>
        </p:txBody>
      </p:sp>
      <p:sp>
        <p:nvSpPr>
          <p:cNvPr id="2369" name="PlaceHolder 3"/>
          <p:cNvSpPr>
            <a:spLocks noGrp="1"/>
          </p:cNvSpPr>
          <p:nvPr>
            <p:ph type="sldNum" idx="38"/>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0" name="PlaceHolder 1"/>
          <p:cNvSpPr>
            <a:spLocks noGrp="1"/>
          </p:cNvSpPr>
          <p:nvPr>
            <p:ph type="sldImg"/>
          </p:nvPr>
        </p:nvSpPr>
        <p:spPr>
          <a:xfrm>
            <a:off x="0" y="0"/>
            <a:ext cx="0" cy="0"/>
          </a:xfrm>
          <a:prstGeom prst="rect">
            <a:avLst/>
          </a:prstGeom>
          <a:ln w="0">
            <a:noFill/>
          </a:ln>
        </p:spPr>
      </p:sp>
      <p:sp>
        <p:nvSpPr>
          <p:cNvPr id="237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Niveau 5 : on revient au boss de la partie 1, le Market Power Index, avec la qualité en plus.</a:t>
            </a:r>
            <a:endParaRPr b="0" lang="en-US" sz="2000" spc="-1" strike="noStrike">
              <a:solidFill>
                <a:srgbClr val="000000"/>
              </a:solidFill>
              <a:latin typeface="Arial"/>
            </a:endParaRPr>
          </a:p>
        </p:txBody>
      </p:sp>
      <p:sp>
        <p:nvSpPr>
          <p:cNvPr id="2372" name="PlaceHolder 3"/>
          <p:cNvSpPr>
            <a:spLocks noGrp="1"/>
          </p:cNvSpPr>
          <p:nvPr>
            <p:ph type="sldNum" idx="39"/>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3" name="PlaceHolder 1"/>
          <p:cNvSpPr>
            <a:spLocks noGrp="1"/>
          </p:cNvSpPr>
          <p:nvPr>
            <p:ph type="sldImg"/>
          </p:nvPr>
        </p:nvSpPr>
        <p:spPr>
          <a:xfrm>
            <a:off x="0" y="0"/>
            <a:ext cx="0" cy="0"/>
          </a:xfrm>
          <a:prstGeom prst="rect">
            <a:avLst/>
          </a:prstGeom>
          <a:ln w="0">
            <a:noFill/>
          </a:ln>
        </p:spPr>
      </p:sp>
      <p:sp>
        <p:nvSpPr>
          <p:cNvPr id="237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On ajoute à notre Market Power Index de la partie 1 une sixième composante : la qualité perçue, c'est-à-dire la note presse moyenne de l'éditeur, pondérée par ses ventes. Résultat : le podium ne bouge pas, Nintendo, EA et Sony restent devant. Mais la suite est redistribuée : les éditeurs premium montent, Bethesda et Microsoft gagnent trois places, Virgin six. Les éditeurs de volume reculent : THQ perd cinq places, Sega quatre. Message pour le client : il y a deux modèles, beaucoup de jeux moyens ou moins de jeux mais excellents. Prudence : pour les éditeurs trop peu notés, surtout japonais, on met une note neutre.</a:t>
            </a:r>
            <a:endParaRPr b="0" lang="en-US" sz="2000" spc="-1" strike="noStrike">
              <a:solidFill>
                <a:srgbClr val="000000"/>
              </a:solidFill>
              <a:latin typeface="Arial"/>
            </a:endParaRPr>
          </a:p>
        </p:txBody>
      </p:sp>
      <p:sp>
        <p:nvSpPr>
          <p:cNvPr id="2375" name="PlaceHolder 3"/>
          <p:cNvSpPr>
            <a:spLocks noGrp="1"/>
          </p:cNvSpPr>
          <p:nvPr>
            <p:ph type="sldNum" idx="40"/>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6" name="PlaceHolder 1"/>
          <p:cNvSpPr>
            <a:spLocks noGrp="1"/>
          </p:cNvSpPr>
          <p:nvPr>
            <p:ph type="sldImg"/>
          </p:nvPr>
        </p:nvSpPr>
        <p:spPr>
          <a:xfrm>
            <a:off x="0" y="0"/>
            <a:ext cx="0" cy="0"/>
          </a:xfrm>
          <a:prstGeom prst="rect">
            <a:avLst/>
          </a:prstGeom>
          <a:ln w="0">
            <a:noFill/>
          </a:ln>
        </p:spPr>
      </p:sp>
      <p:sp>
        <p:nvSpPr>
          <p:cNvPr id="237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Démonstration finale, sur les deux bases à la fois. Trois quêtes. Une : on clique sur GTA V : sa fiche montre son profil régional, issu de la base des ventes, et ses notes presse et joueurs, issues de Metacritic. Deux : page Market Power Index, on règle les poids des cinq composantes et le classement bouge ; puis on active « Inclure la qualité perçue » : Bethesda et Microsoft montent, THQ et Sega descendent. Trois : les filtres de la barre latérale s'appliquent à toutes les pages ; sur les années 80, la page Notes Metacritic montre le biais : presque aucune note. Lancer l'appli avant la présentation : python run_app.py.</a:t>
            </a:r>
            <a:endParaRPr b="0" lang="en-US" sz="2000" spc="-1" strike="noStrike">
              <a:solidFill>
                <a:srgbClr val="000000"/>
              </a:solidFill>
              <a:latin typeface="Arial"/>
            </a:endParaRPr>
          </a:p>
        </p:txBody>
      </p:sp>
      <p:sp>
        <p:nvSpPr>
          <p:cNvPr id="2378" name="PlaceHolder 3"/>
          <p:cNvSpPr>
            <a:spLocks noGrp="1"/>
          </p:cNvSpPr>
          <p:nvPr>
            <p:ph type="sldNum" idx="41"/>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9" name="PlaceHolder 1"/>
          <p:cNvSpPr>
            <a:spLocks noGrp="1"/>
          </p:cNvSpPr>
          <p:nvPr>
            <p:ph type="sldImg"/>
          </p:nvPr>
        </p:nvSpPr>
        <p:spPr>
          <a:xfrm>
            <a:off x="0" y="0"/>
            <a:ext cx="0" cy="0"/>
          </a:xfrm>
          <a:prstGeom prst="rect">
            <a:avLst/>
          </a:prstGeom>
          <a:ln w="0">
            <a:noFill/>
          </a:ln>
        </p:spPr>
      </p:sp>
      <p:sp>
        <p:nvSpPr>
          <p:cNvPr id="238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Bonus : le prix de la prestation, avec un taux journalier de 450 euros hors taxes. L'analyse des ventes seule représente 16 jours, soit 7 200 euros. Avec la deuxième base, on ajoute 10 jours : chercher et qualifier la source, la nettoyer, l'explorer, la relier, croiser, intégrer à l'appli, documenter et vérifier qu'on n'a rien cassé. Total : 26 jours, 11 700 euros hors taxes, soit 62,5 % de plus. Pourquoi pas le double ? Parce qu'on réutilise beaucoup : les règles de nettoyage, le style des graphiques et l'architecture de l'appli.</a:t>
            </a:r>
            <a:endParaRPr b="0" lang="en-US" sz="2000" spc="-1" strike="noStrike">
              <a:solidFill>
                <a:srgbClr val="000000"/>
              </a:solidFill>
              <a:latin typeface="Arial"/>
            </a:endParaRPr>
          </a:p>
        </p:txBody>
      </p:sp>
      <p:sp>
        <p:nvSpPr>
          <p:cNvPr id="2381" name="PlaceHolder 3"/>
          <p:cNvSpPr>
            <a:spLocks noGrp="1"/>
          </p:cNvSpPr>
          <p:nvPr>
            <p:ph type="sldNum" idx="42"/>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2" name="PlaceHolder 1"/>
          <p:cNvSpPr>
            <a:spLocks noGrp="1"/>
          </p:cNvSpPr>
          <p:nvPr>
            <p:ph type="sldImg"/>
          </p:nvPr>
        </p:nvSpPr>
        <p:spPr>
          <a:xfrm>
            <a:off x="0" y="0"/>
            <a:ext cx="0" cy="0"/>
          </a:xfrm>
          <a:prstGeom prst="rect">
            <a:avLst/>
          </a:prstGeom>
          <a:ln w="0">
            <a:noFill/>
          </a:ln>
        </p:spPr>
      </p:sp>
      <p:sp>
        <p:nvSpPr>
          <p:cNvPr id="238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Pour conclure. Trois limites : les notes ne couvrent que la moitié des jeux, surtout récents et visibles ; un lien n'est pas une cause, le marketing peut expliquer à la fois la note et les ventes ; et Metacritic est occidental, le Japon est mal couvert. Trois recommandations au client : miser sur la qualité, car les jeux notés 80 et plus font 53% des ventes des jeux notés ; viser l'Europe pour les jeux premium ; et pour la suite, ajouter une source de ventes dématérialisées comme Steam, l'angle mort signalé dans la partie 1.</a:t>
            </a:r>
            <a:endParaRPr b="0" lang="en-US" sz="2000" spc="-1" strike="noStrike">
              <a:solidFill>
                <a:srgbClr val="000000"/>
              </a:solidFill>
              <a:latin typeface="Arial"/>
            </a:endParaRPr>
          </a:p>
        </p:txBody>
      </p:sp>
      <p:sp>
        <p:nvSpPr>
          <p:cNvPr id="2384" name="PlaceHolder 3"/>
          <p:cNvSpPr>
            <a:spLocks noGrp="1"/>
          </p:cNvSpPr>
          <p:nvPr>
            <p:ph type="sldNum" idx="43"/>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5" name="PlaceHolder 1"/>
          <p:cNvSpPr>
            <a:spLocks noGrp="1"/>
          </p:cNvSpPr>
          <p:nvPr>
            <p:ph type="sldImg"/>
          </p:nvPr>
        </p:nvSpPr>
        <p:spPr>
          <a:xfrm>
            <a:off x="0" y="0"/>
            <a:ext cx="0" cy="0"/>
          </a:xfrm>
          <a:prstGeom prst="rect">
            <a:avLst/>
          </a:prstGeom>
          <a:ln w="0">
            <a:noFill/>
          </a:ln>
        </p:spPr>
      </p:sp>
      <p:sp>
        <p:nvSpPr>
          <p:cNvPr id="238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Merci de votre attention. Nous sommes prêts pour vos questions.</a:t>
            </a:r>
            <a:endParaRPr b="0" lang="en-US" sz="2000" spc="-1" strike="noStrike">
              <a:solidFill>
                <a:srgbClr val="000000"/>
              </a:solidFill>
              <a:latin typeface="Arial"/>
            </a:endParaRPr>
          </a:p>
        </p:txBody>
      </p:sp>
      <p:sp>
        <p:nvSpPr>
          <p:cNvPr id="2387" name="PlaceHolder 3"/>
          <p:cNvSpPr>
            <a:spLocks noGrp="1"/>
          </p:cNvSpPr>
          <p:nvPr>
            <p:ph type="sldNum" idx="44"/>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RCADE">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75F6670-30BA-4DBF-90DE-00472203D31B}"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chemeClr val="dk1"/>
                </a:solidFill>
                <a:latin typeface="Arial"/>
              </a:rPr>
              <a:t>Click to edit the outline text format</a:t>
            </a:r>
            <a:endParaRPr b="0" lang="en-US" sz="3200" spc="-1" strike="noStrike">
              <a:solidFill>
                <a:schemeClr val="dk1"/>
              </a:solidFill>
              <a:latin typeface="Arial"/>
            </a:endParaRPr>
          </a:p>
          <a:p>
            <a:pPr lvl="1" marL="864000" indent="-324000">
              <a:spcBef>
                <a:spcPts val="1134"/>
              </a:spcBef>
              <a:buClr>
                <a:srgbClr val="ffffff"/>
              </a:buClr>
              <a:buSzPct val="75000"/>
              <a:buFont typeface="Symbol" charset="2"/>
              <a:buChar char=""/>
            </a:pPr>
            <a:r>
              <a:rPr b="0" lang="en-US" sz="2400" spc="-1" strike="noStrike">
                <a:solidFill>
                  <a:schemeClr val="dk1"/>
                </a:solidFill>
                <a:latin typeface="Arial"/>
              </a:rPr>
              <a:t>Second Outline Level</a:t>
            </a:r>
            <a:endParaRPr b="0" lang="en-US" sz="2400" spc="-1" strike="noStrike">
              <a:solidFill>
                <a:schemeClr val="dk1"/>
              </a:solidFill>
              <a:latin typeface="Arial"/>
            </a:endParaRPr>
          </a:p>
          <a:p>
            <a:pPr lvl="2" marL="1296000" indent="-288000">
              <a:spcBef>
                <a:spcPts val="850"/>
              </a:spcBef>
              <a:buClr>
                <a:srgbClr val="ffffff"/>
              </a:buClr>
              <a:buSzPct val="45000"/>
              <a:buFont typeface="Wingdings" charset="2"/>
              <a:buChar char=""/>
            </a:pPr>
            <a:r>
              <a:rPr b="0" lang="en-US" sz="2000" spc="-1" strike="noStrike">
                <a:solidFill>
                  <a:schemeClr val="dk1"/>
                </a:solidFill>
                <a:latin typeface="Arial"/>
              </a:rPr>
              <a:t>Third Outline Level</a:t>
            </a:r>
            <a:endParaRPr b="0" lang="en-US" sz="2000" spc="-1" strike="noStrike">
              <a:solidFill>
                <a:schemeClr val="dk1"/>
              </a:solidFill>
              <a:latin typeface="Arial"/>
            </a:endParaRPr>
          </a:p>
          <a:p>
            <a:pPr lvl="3" marL="1728000" indent="-216000">
              <a:spcBef>
                <a:spcPts val="567"/>
              </a:spcBef>
              <a:buClr>
                <a:srgbClr val="ffffff"/>
              </a:buClr>
              <a:buSzPct val="75000"/>
              <a:buFont typeface="Symbol" charset="2"/>
              <a:buChar char=""/>
            </a:pPr>
            <a:r>
              <a:rPr b="0" lang="en-US" sz="2000" spc="-1" strike="noStrike">
                <a:solidFill>
                  <a:schemeClr val="dk1"/>
                </a:solidFill>
                <a:latin typeface="Arial"/>
              </a:rPr>
              <a:t>Fourth Outline Level</a:t>
            </a:r>
            <a:endParaRPr b="0" lang="en-US" sz="2000" spc="-1" strike="noStrike">
              <a:solidFill>
                <a:schemeClr val="dk1"/>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chemeClr val="dk1"/>
                </a:solidFill>
                <a:latin typeface="Arial"/>
              </a:rPr>
              <a:t>Fifth Outline Level</a:t>
            </a:r>
            <a:endParaRPr b="0" lang="en-US" sz="2000" spc="-1" strike="noStrike">
              <a:solidFill>
                <a:schemeClr val="dk1"/>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chemeClr val="dk1"/>
                </a:solidFill>
                <a:latin typeface="Arial"/>
              </a:rPr>
              <a:t>Sixth Outline Level</a:t>
            </a:r>
            <a:endParaRPr b="0" lang="en-US" sz="2000" spc="-1" strike="noStrike">
              <a:solidFill>
                <a:schemeClr val="dk1"/>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chemeClr val="dk1"/>
                </a:solidFill>
                <a:latin typeface="Arial"/>
              </a:rPr>
              <a:t>Seventh Outline Level</a:t>
            </a:r>
            <a:endParaRPr b="0" lang="en-US"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Arial"/>
              </a:defRPr>
            </a:lvl1pPr>
          </a:lstStyle>
          <a:p>
            <a:pPr indent="0" defTabSz="914400">
              <a:lnSpc>
                <a:spcPct val="100000"/>
              </a:lnSpc>
              <a:buNone/>
            </a:pPr>
            <a:r>
              <a:rPr b="0" lang="en-US" sz="1800" spc="-1" strike="noStrike">
                <a:solidFill>
                  <a:schemeClr val="dk1"/>
                </a:solidFill>
                <a:latin typeface="Arial"/>
              </a:rPr>
              <a:t>&lt;date/time&gt;</a:t>
            </a:r>
            <a:endParaRPr b="0" lang="en-US" sz="1800" spc="-1" strike="noStrike">
              <a:solidFill>
                <a:srgbClr val="000000"/>
              </a:solidFill>
              <a:latin typeface="Times New Roman"/>
            </a:endParaRPr>
          </a:p>
        </p:txBody>
      </p:sp>
      <p:sp>
        <p:nvSpPr>
          <p:cNvPr id="3" name="PlaceHolder 2"/>
          <p:cNvSpPr>
            <a:spLocks noGrp="1"/>
          </p:cNvSpPr>
          <p:nvPr>
            <p:ph type="ftr" idx="2"/>
          </p:nvPr>
        </p:nvSpPr>
        <p:spPr>
          <a:xfrm>
            <a:off x="0" y="0"/>
            <a:ext cx="0" cy="0"/>
          </a:xfrm>
          <a:prstGeom prst="rect">
            <a:avLst/>
          </a:prstGeom>
          <a:noFill/>
          <a:ln w="0">
            <a:noFill/>
          </a:ln>
        </p:spPr>
        <p:txBody>
          <a:bodyPr lIns="90000" rIns="90000" tIns="-45000" bIns="-450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3"/>
          <p:cNvSpPr>
            <a:spLocks noGrp="1"/>
          </p:cNvSpPr>
          <p:nvPr>
            <p:ph type="sldNum" idx="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Arial"/>
              </a:defRPr>
            </a:lvl1pPr>
          </a:lstStyle>
          <a:p>
            <a:pPr indent="0" defTabSz="914400">
              <a:lnSpc>
                <a:spcPct val="100000"/>
              </a:lnSpc>
              <a:buNone/>
            </a:pPr>
            <a:fld id="{1AE3F4AC-5570-4A9B-B5DE-8668EBA1A97E}" type="slidenum">
              <a:rPr b="0" lang="en-US" sz="1800" spc="-1" strike="noStrike">
                <a:solidFill>
                  <a:schemeClr val="dk1"/>
                </a:solidFill>
                <a:latin typeface="Arial"/>
              </a:rPr>
              <a:t>&lt;number&gt;</a:t>
            </a:fld>
            <a:endParaRPr b="0" lang="en-US" sz="1800" spc="-1" strike="noStrike">
              <a:solidFill>
                <a:srgbClr val="000000"/>
              </a:solidFill>
              <a:latin typeface="Times New Roman"/>
            </a:endParaRPr>
          </a:p>
        </p:txBody>
      </p:sp>
      <p:sp>
        <p:nvSpPr>
          <p:cNvPr id="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Arial"/>
              </a:rPr>
              <a:t>Click to edit the outline text format</a:t>
            </a:r>
            <a:endParaRPr b="0" lang="en-US" sz="32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Arial"/>
              </a:rPr>
              <a:t>Second Outline Level</a:t>
            </a:r>
            <a:endParaRPr b="0" lang="en-US" sz="24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Arial"/>
              </a:rPr>
              <a:t>Third Outline Level</a:t>
            </a:r>
            <a:endParaRPr b="0" lang="en-US" sz="20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Arial"/>
              </a:rPr>
              <a:t>Fourth Outline Level</a:t>
            </a:r>
            <a:endParaRPr b="0" lang="en-US" sz="20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Arial"/>
              </a:rPr>
              <a:t>Fifth Outline Level</a:t>
            </a:r>
            <a:endParaRPr b="0" lang="en-US" sz="20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Arial"/>
              </a:rPr>
              <a:t>Sixth Outline Level</a:t>
            </a:r>
            <a:endParaRPr b="0" lang="en-US" sz="20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Arial"/>
              </a:rPr>
              <a:t>Seventh Outline Level</a:t>
            </a:r>
            <a:endParaRPr b="0" lang="en-US"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gif"/><Relationship Id="rId5" Type="http://schemas.openxmlformats.org/officeDocument/2006/relationships/image" Target="../media/image5.gif"/><Relationship Id="rId6" Type="http://schemas.openxmlformats.org/officeDocument/2006/relationships/image" Target="../media/image6.gif"/><Relationship Id="rId7" Type="http://schemas.openxmlformats.org/officeDocument/2006/relationships/image" Target="../media/image7.gif"/><Relationship Id="rId8" Type="http://schemas.openxmlformats.org/officeDocument/2006/relationships/image" Target="../media/image8.gif"/><Relationship Id="rId9" Type="http://schemas.openxmlformats.org/officeDocument/2006/relationships/image" Target="../media/image9.gif"/><Relationship Id="rId10" Type="http://schemas.openxmlformats.org/officeDocument/2006/relationships/image" Target="../media/image10.png"/><Relationship Id="rId11" Type="http://schemas.openxmlformats.org/officeDocument/2006/relationships/image" Target="../media/image11.gif"/><Relationship Id="rId12" Type="http://schemas.openxmlformats.org/officeDocument/2006/relationships/image" Target="../media/image5.gif"/><Relationship Id="rId13" Type="http://schemas.openxmlformats.org/officeDocument/2006/relationships/image" Target="../media/image4.gif"/><Relationship Id="rId14" Type="http://schemas.openxmlformats.org/officeDocument/2006/relationships/slideLayout" Target="../slideLayouts/slideLayout2.xml"/><Relationship Id="rId15" Type="http://schemas.openxmlformats.org/officeDocument/2006/relationships/notesSlide" Target="../notesSlides/notesSlide1.xml"/>
<Relationship Id="rIdCoop92" Type="http://schemas.openxmlformats.org/officeDocument/2006/relationships/image" Target="../media/image117_nous84335969.png"/><Relationship Id="rIdCoop93" Type="http://schemas.openxmlformats.org/officeDocument/2006/relationships/image" Target="../media/image118_nous84342266.png"/></Relationships>
</file>

<file path=ppt/slides/_rels/slide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_nous28851404.png"/><Relationship Id="rId3" Type="http://schemas.openxmlformats.org/officeDocument/2006/relationships/image" Target="../media/image11.gif"/><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image" Target="../media/image28.png"/><Relationship Id="rId19" Type="http://schemas.openxmlformats.org/officeDocument/2006/relationships/image" Target="../media/image29.png"/><Relationship Id="rId20" Type="http://schemas.openxmlformats.org/officeDocument/2006/relationships/image" Target="../media/image30.png"/><Relationship Id="rId21" Type="http://schemas.openxmlformats.org/officeDocument/2006/relationships/image" Target="../media/image31.png"/><Relationship Id="rId22" Type="http://schemas.openxmlformats.org/officeDocument/2006/relationships/image" Target="../media/image32.png"/><Relationship Id="rId23" Type="http://schemas.openxmlformats.org/officeDocument/2006/relationships/image" Target="../media/image33.png"/><Relationship Id="rId24" Type="http://schemas.openxmlformats.org/officeDocument/2006/relationships/image" Target="../media/image5.gif"/><Relationship Id="rId25" Type="http://schemas.openxmlformats.org/officeDocument/2006/relationships/image" Target="../media/image4.gif"/><Relationship Id="rId26" Type="http://schemas.openxmlformats.org/officeDocument/2006/relationships/slideLayout" Target="../slideLayouts/slideLayout2.xml"/><Relationship Id="rId27"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4.gif"/><Relationship Id="rId5" Type="http://schemas.openxmlformats.org/officeDocument/2006/relationships/image" Target="../media/image5.gif"/><Relationship Id="rId6" Type="http://schemas.openxmlformats.org/officeDocument/2006/relationships/image" Target="../media/image6.gif"/><Relationship Id="rId7" Type="http://schemas.openxmlformats.org/officeDocument/2006/relationships/image" Target="../media/image7.gif"/><Relationship Id="rId8" Type="http://schemas.openxmlformats.org/officeDocument/2006/relationships/image" Target="../media/image8.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2.xml"/><Relationship Id="rId1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15.png"/><Relationship Id="rId4" Type="http://schemas.openxmlformats.org/officeDocument/2006/relationships/image" Target="../media/image11.gif"/><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5.gif"/><Relationship Id="rId11" Type="http://schemas.openxmlformats.org/officeDocument/2006/relationships/image" Target="../media/image4.gif"/><Relationship Id="rId12" Type="http://schemas.openxmlformats.org/officeDocument/2006/relationships/slideLayout" Target="../slideLayouts/slideLayout2.xml"/><Relationship Id="rId1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gif"/><Relationship Id="rId5" Type="http://schemas.openxmlformats.org/officeDocument/2006/relationships/image" Target="../media/image5.gif"/><Relationship Id="rId6" Type="http://schemas.openxmlformats.org/officeDocument/2006/relationships/image" Target="../media/image6.gif"/><Relationship Id="rId7" Type="http://schemas.openxmlformats.org/officeDocument/2006/relationships/image" Target="../media/image7.gif"/><Relationship Id="rId8" Type="http://schemas.openxmlformats.org/officeDocument/2006/relationships/image" Target="../media/image8.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2.xml"/><Relationship Id="rId1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png"/><Relationship Id="rId3" Type="http://schemas.openxmlformats.org/officeDocument/2006/relationships/image" Target="../media/image18.png"/><Relationship Id="rId4" Type="http://schemas.openxmlformats.org/officeDocument/2006/relationships/image" Target="../media/image11.gif"/><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54.png"/><Relationship Id="rId12" Type="http://schemas.openxmlformats.org/officeDocument/2006/relationships/image" Target="../media/image55.png"/><Relationship Id="rId13" Type="http://schemas.openxmlformats.org/officeDocument/2006/relationships/image" Target="../media/image56.png"/><Relationship Id="rId14" Type="http://schemas.openxmlformats.org/officeDocument/2006/relationships/image" Target="../media/image57.png"/><Relationship Id="rId15" Type="http://schemas.openxmlformats.org/officeDocument/2006/relationships/image" Target="../media/image58.png"/><Relationship Id="rId16" Type="http://schemas.openxmlformats.org/officeDocument/2006/relationships/image" Target="../media/image5.gif"/><Relationship Id="rId17" Type="http://schemas.openxmlformats.org/officeDocument/2006/relationships/image" Target="../media/image4.gif"/><Relationship Id="rId18" Type="http://schemas.openxmlformats.org/officeDocument/2006/relationships/slideLayout" Target="../slideLayouts/slideLayout2.xml"/><Relationship Id="rId19"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4.gif"/><Relationship Id="rId5" Type="http://schemas.openxmlformats.org/officeDocument/2006/relationships/image" Target="../media/image5.gif"/><Relationship Id="rId6" Type="http://schemas.openxmlformats.org/officeDocument/2006/relationships/image" Target="../media/image6.gif"/><Relationship Id="rId7" Type="http://schemas.openxmlformats.org/officeDocument/2006/relationships/image" Target="../media/image7.gif"/><Relationship Id="rId8" Type="http://schemas.openxmlformats.org/officeDocument/2006/relationships/image" Target="../media/image8.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2.xml"/><Relationship Id="rId1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21.png"/><Relationship Id="rId4" Type="http://schemas.openxmlformats.org/officeDocument/2006/relationships/image" Target="../media/image11.gif"/><Relationship Id="rId5" Type="http://schemas.openxmlformats.org/officeDocument/2006/relationships/image" Target="../media/image5.gif"/><Relationship Id="rId6" Type="http://schemas.openxmlformats.org/officeDocument/2006/relationships/image" Target="../media/image63.gif"/><Relationship Id="rId7" Type="http://schemas.openxmlformats.org/officeDocument/2006/relationships/image" Target="../media/image64.png"/><Relationship Id="rId8" Type="http://schemas.openxmlformats.org/officeDocument/2006/relationships/image" Target="../media/image6.gif"/><Relationship Id="rId9" Type="http://schemas.openxmlformats.org/officeDocument/2006/relationships/image" Target="../media/image63.gif"/><Relationship Id="rId10" Type="http://schemas.openxmlformats.org/officeDocument/2006/relationships/image" Target="../media/image65.png"/><Relationship Id="rId11" Type="http://schemas.openxmlformats.org/officeDocument/2006/relationships/image" Target="../media/image7.gif"/><Relationship Id="rId12" Type="http://schemas.openxmlformats.org/officeDocument/2006/relationships/image" Target="../media/image63.gif"/><Relationship Id="rId13" Type="http://schemas.openxmlformats.org/officeDocument/2006/relationships/image" Target="../media/image66.png"/><Relationship Id="rId14" Type="http://schemas.openxmlformats.org/officeDocument/2006/relationships/image" Target="../media/image8.gif"/><Relationship Id="rId15" Type="http://schemas.openxmlformats.org/officeDocument/2006/relationships/image" Target="../media/image63.gif"/><Relationship Id="rId16" Type="http://schemas.openxmlformats.org/officeDocument/2006/relationships/image" Target="../media/image67.png"/><Relationship Id="rId17" Type="http://schemas.openxmlformats.org/officeDocument/2006/relationships/image" Target="../media/image68.gif"/><Relationship Id="rId18" Type="http://schemas.openxmlformats.org/officeDocument/2006/relationships/image" Target="../media/image69.png"/><Relationship Id="rId19" Type="http://schemas.openxmlformats.org/officeDocument/2006/relationships/image" Target="../media/image5.gif"/><Relationship Id="rId20" Type="http://schemas.openxmlformats.org/officeDocument/2006/relationships/image" Target="../media/image4.gif"/><Relationship Id="rId21" Type="http://schemas.openxmlformats.org/officeDocument/2006/relationships/slideLayout" Target="../slideLayouts/slideLayout2.xml"/><Relationship Id="rId2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4.gif"/><Relationship Id="rId5" Type="http://schemas.openxmlformats.org/officeDocument/2006/relationships/image" Target="../media/image5.gif"/><Relationship Id="rId6" Type="http://schemas.openxmlformats.org/officeDocument/2006/relationships/image" Target="../media/image6.gif"/><Relationship Id="rId7" Type="http://schemas.openxmlformats.org/officeDocument/2006/relationships/image" Target="../media/image7.gif"/><Relationship Id="rId8" Type="http://schemas.openxmlformats.org/officeDocument/2006/relationships/image" Target="../media/image8.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2.xml"/><Relationship Id="rId1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3.png"/><Relationship Id="rId3" Type="http://schemas.openxmlformats.org/officeDocument/2006/relationships/image" Target="../media/image24.png"/><Relationship Id="rId4" Type="http://schemas.openxmlformats.org/officeDocument/2006/relationships/image" Target="../media/image11.gif"/><Relationship Id="rId5" Type="http://schemas.openxmlformats.org/officeDocument/2006/relationships/chart" Target="../charts/chart1.xml"/><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5.gif"/><Relationship Id="rId10" Type="http://schemas.openxmlformats.org/officeDocument/2006/relationships/image" Target="../media/image4.gif"/><Relationship Id="rId11" Type="http://schemas.openxmlformats.org/officeDocument/2006/relationships/slideLayout" Target="../slideLayouts/slideLayout2.xml"/><Relationship Id="rId1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image" Target="../media/image78.png"/><Relationship Id="rId3" Type="http://schemas.openxmlformats.org/officeDocument/2006/relationships/image" Target="../media/image24.png"/><Relationship Id="rId4" Type="http://schemas.openxmlformats.org/officeDocument/2006/relationships/image" Target="../media/image11.gif"/><Relationship Id="rId5" Type="http://schemas.openxmlformats.org/officeDocument/2006/relationships/chart" Target="../charts/chart2.xml"/><Relationship Id="rId6" Type="http://schemas.openxmlformats.org/officeDocument/2006/relationships/image" Target="../media/image79.pn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5.gif"/><Relationship Id="rId10" Type="http://schemas.openxmlformats.org/officeDocument/2006/relationships/image" Target="../media/image4.gif"/><Relationship Id="rId11" Type="http://schemas.openxmlformats.org/officeDocument/2006/relationships/slideLayout" Target="../slideLayouts/slideLayout2.xml"/><Relationship Id="rId1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2.png"/><Relationship Id="rId2" Type="http://schemas.openxmlformats.org/officeDocument/2006/relationships/image" Target="../media/image83.png"/><Relationship Id="rId3" Type="http://schemas.openxmlformats.org/officeDocument/2006/relationships/image" Target="../media/image24.png"/><Relationship Id="rId4" Type="http://schemas.openxmlformats.org/officeDocument/2006/relationships/image" Target="../media/image11.gif"/><Relationship Id="rId5" Type="http://schemas.openxmlformats.org/officeDocument/2006/relationships/chart" Target="../charts/chart3.xml"/><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5.gif"/><Relationship Id="rId10" Type="http://schemas.openxmlformats.org/officeDocument/2006/relationships/image" Target="../media/image4.gif"/><Relationship Id="rId11" Type="http://schemas.openxmlformats.org/officeDocument/2006/relationships/slideLayout" Target="../slideLayouts/slideLayout2.xml"/><Relationship Id="rId1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image" Target="../media/image24.png"/><Relationship Id="rId4" Type="http://schemas.openxmlformats.org/officeDocument/2006/relationships/image" Target="../media/image11.gif"/><Relationship Id="rId5" Type="http://schemas.openxmlformats.org/officeDocument/2006/relationships/chart" Target="../charts/chart4.xml"/><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 Id="rId9" Type="http://schemas.openxmlformats.org/officeDocument/2006/relationships/image" Target="../media/image5.gif"/><Relationship Id="rId10" Type="http://schemas.openxmlformats.org/officeDocument/2006/relationships/image" Target="../media/image4.gif"/><Relationship Id="rId11" Type="http://schemas.openxmlformats.org/officeDocument/2006/relationships/slideLayout" Target="../slideLayouts/slideLayout2.xml"/><Relationship Id="rId1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4.gif"/><Relationship Id="rId5" Type="http://schemas.openxmlformats.org/officeDocument/2006/relationships/image" Target="../media/image5.gif"/><Relationship Id="rId6" Type="http://schemas.openxmlformats.org/officeDocument/2006/relationships/image" Target="../media/image6.gif"/><Relationship Id="rId7" Type="http://schemas.openxmlformats.org/officeDocument/2006/relationships/image" Target="../media/image7.gif"/><Relationship Id="rId8" Type="http://schemas.openxmlformats.org/officeDocument/2006/relationships/image" Target="../media/image8.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2.xml"/><Relationship Id="rId1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94.png"/><Relationship Id="rId2" Type="http://schemas.openxmlformats.org/officeDocument/2006/relationships/image" Target="../media/image95.png"/><Relationship Id="rId3" Type="http://schemas.openxmlformats.org/officeDocument/2006/relationships/image" Target="../media/image27.png"/><Relationship Id="rId4" Type="http://schemas.openxmlformats.org/officeDocument/2006/relationships/image" Target="../media/image11.gif"/><Relationship Id="rId5" Type="http://schemas.openxmlformats.org/officeDocument/2006/relationships/chart" Target="../charts/chart5.xml"/><Relationship Id="rId6" Type="http://schemas.openxmlformats.org/officeDocument/2006/relationships/image" Target="../media/image96.png"/><Relationship Id="rId7" Type="http://schemas.openxmlformats.org/officeDocument/2006/relationships/image" Target="../media/image5.gif"/><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image" Target="../media/image5.gif"/><Relationship Id="rId11" Type="http://schemas.openxmlformats.org/officeDocument/2006/relationships/image" Target="../media/image4.gif"/><Relationship Id="rId12" Type="http://schemas.openxmlformats.org/officeDocument/2006/relationships/slideLayout" Target="../slideLayouts/slideLayout2.xml"/><Relationship Id="rId13" Type="http://schemas.openxmlformats.org/officeDocument/2006/relationships/notesSlide" Target="../notesSlides/notesSlide15.xml"/>
</Relationships>
</file>

<file path=ppt/slides/_rels/slide17.xml.rels><?xml version="1.0" encoding="UTF-8"?>
<Relationships xmlns="http://schemas.openxmlformats.org/package/2006/relationships"><Relationship Id="rId1" Type="http://schemas.openxmlformats.org/officeDocument/2006/relationships/image" Target="../media/image109.png"/><Relationship Id="rId2" Type="http://schemas.openxmlformats.org/officeDocument/2006/relationships/image" Target="../media/image110.png"/><Relationship Id="rId3" Type="http://schemas.openxmlformats.org/officeDocument/2006/relationships/image" Target="../media/image32.png"/><Relationship Id="rId4" Type="http://schemas.openxmlformats.org/officeDocument/2006/relationships/image" Target="../media/image11.gif"/><Relationship Id="rId5" Type="http://schemas.openxmlformats.org/officeDocument/2006/relationships/image" Target="../media/image111.png"/><Relationship Id="rId6" Type="http://schemas.openxmlformats.org/officeDocument/2006/relationships/image" Target="../media/image81.png"/><Relationship Id="rId7" Type="http://schemas.openxmlformats.org/officeDocument/2006/relationships/image" Target="../media/image81.png"/><Relationship Id="rId8" Type="http://schemas.openxmlformats.org/officeDocument/2006/relationships/image" Target="../media/image81.png"/><Relationship Id="rId9" Type="http://schemas.openxmlformats.org/officeDocument/2006/relationships/image" Target="../media/image32.png"/><Relationship Id="rId10" Type="http://schemas.openxmlformats.org/officeDocument/2006/relationships/image" Target="../media/image112.png"/><Relationship Id="rId11" Type="http://schemas.openxmlformats.org/officeDocument/2006/relationships/image" Target="../media/image113.png"/><Relationship Id="rId12" Type="http://schemas.openxmlformats.org/officeDocument/2006/relationships/image" Target="../media/image114_nous28842387.png"/><Relationship Id="rId13" Type="http://schemas.openxmlformats.org/officeDocument/2006/relationships/image" Target="../media/image5.gif"/><Relationship Id="rId14" Type="http://schemas.openxmlformats.org/officeDocument/2006/relationships/image" Target="../media/image4.gif"/><Relationship Id="rId15" Type="http://schemas.openxmlformats.org/officeDocument/2006/relationships/slideLayout" Target="../slideLayouts/slideLayout2.xml"/><Relationship Id="rId16"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8.gif"/><Relationship Id="rId5" Type="http://schemas.openxmlformats.org/officeDocument/2006/relationships/image" Target="../media/image7.gif"/><Relationship Id="rId6" Type="http://schemas.openxmlformats.org/officeDocument/2006/relationships/image" Target="../media/image6.gif"/><Relationship Id="rId7" Type="http://schemas.openxmlformats.org/officeDocument/2006/relationships/image" Target="../media/image5.gif"/><Relationship Id="rId8" Type="http://schemas.openxmlformats.org/officeDocument/2006/relationships/image" Target="../media/image4.gif"/><Relationship Id="rId9" Type="http://schemas.openxmlformats.org/officeDocument/2006/relationships/image" Target="../media/image117_nous84335969.png"/><Relationship Id="rId10" Type="http://schemas.openxmlformats.org/officeDocument/2006/relationships/image" Target="../media/image118_nous84342266.png"/><Relationship Id="rId11" Type="http://schemas.openxmlformats.org/officeDocument/2006/relationships/image" Target="../media/image119.png"/><Relationship Id="rId12" Type="http://schemas.openxmlformats.org/officeDocument/2006/relationships/image" Target="../media/image120.png"/><Relationship Id="rId13" Type="http://schemas.openxmlformats.org/officeDocument/2006/relationships/image" Target="../media/image11.gif"/><Relationship Id="rId14" Type="http://schemas.openxmlformats.org/officeDocument/2006/relationships/image" Target="../media/image5.gif"/><Relationship Id="rId15" Type="http://schemas.openxmlformats.org/officeDocument/2006/relationships/image" Target="../media/image4.gif"/><Relationship Id="rId16" Type="http://schemas.openxmlformats.org/officeDocument/2006/relationships/slideLayout" Target="../slideLayouts/slideLayout3.xml"/><Relationship Id="rId17"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_nous28832906.png"/><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23.png"/><Relationship Id="rId8" Type="http://schemas.openxmlformats.org/officeDocument/2006/relationships/image" Target="../media/image18.png"/><Relationship Id="rId9" Type="http://schemas.openxmlformats.org/officeDocument/2006/relationships/image" Target="../media/image22.png"/><Relationship Id="rId10" Type="http://schemas.openxmlformats.org/officeDocument/2006/relationships/image" Target="../media/image124.png"/><Relationship Id="rId11" Type="http://schemas.openxmlformats.org/officeDocument/2006/relationships/image" Target="../media/image21.png"/><Relationship Id="rId12" Type="http://schemas.openxmlformats.org/officeDocument/2006/relationships/image" Target="../media/image125.png"/><Relationship Id="rId13" Type="http://schemas.openxmlformats.org/officeDocument/2006/relationships/image" Target="../media/image126.png"/><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127.png"/><Relationship Id="rId17" Type="http://schemas.openxmlformats.org/officeDocument/2006/relationships/image" Target="../media/image27.png"/><Relationship Id="rId18" Type="http://schemas.openxmlformats.org/officeDocument/2006/relationships/image" Target="../media/image28.png"/><Relationship Id="rId19" Type="http://schemas.openxmlformats.org/officeDocument/2006/relationships/image" Target="../media/image128.png"/><Relationship Id="rId20" Type="http://schemas.openxmlformats.org/officeDocument/2006/relationships/image" Target="../media/image30.png"/><Relationship Id="rId21" Type="http://schemas.openxmlformats.org/officeDocument/2006/relationships/image" Target="../media/image31.png"/><Relationship Id="rId22" Type="http://schemas.openxmlformats.org/officeDocument/2006/relationships/image" Target="../media/image32.png"/><Relationship Id="rId23" Type="http://schemas.openxmlformats.org/officeDocument/2006/relationships/image" Target="../media/image33.png"/><Relationship Id="rId24" Type="http://schemas.openxmlformats.org/officeDocument/2006/relationships/image" Target="../media/image11.gif"/><Relationship Id="rId25" Type="http://schemas.openxmlformats.org/officeDocument/2006/relationships/image" Target="../media/image5.gif"/><Relationship Id="rId26" Type="http://schemas.openxmlformats.org/officeDocument/2006/relationships/image" Target="../media/image4.gif"/><Relationship Id="rId27" Type="http://schemas.openxmlformats.org/officeDocument/2006/relationships/slideLayout" Target="../slideLayouts/slideLayout3.xml"/><Relationship Id="rId28"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29.png"/><Relationship Id="rId3" Type="http://schemas.openxmlformats.org/officeDocument/2006/relationships/image" Target="../media/image35.png"/><Relationship Id="rId4" Type="http://schemas.openxmlformats.org/officeDocument/2006/relationships/image" Target="../media/image8.gif"/><Relationship Id="rId5" Type="http://schemas.openxmlformats.org/officeDocument/2006/relationships/image" Target="../media/image7.gif"/><Relationship Id="rId6" Type="http://schemas.openxmlformats.org/officeDocument/2006/relationships/image" Target="../media/image6.gif"/><Relationship Id="rId7" Type="http://schemas.openxmlformats.org/officeDocument/2006/relationships/image" Target="../media/image5.gif"/><Relationship Id="rId8" Type="http://schemas.openxmlformats.org/officeDocument/2006/relationships/image" Target="../media/image4.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3.xml"/><Relationship Id="rId1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130.png"/><Relationship Id="rId3" Type="http://schemas.openxmlformats.org/officeDocument/2006/relationships/image" Target="../media/image15.png"/><Relationship Id="rId4" Type="http://schemas.openxmlformats.org/officeDocument/2006/relationships/image" Target="../media/image131.png"/><Relationship Id="rId5"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image" Target="../media/image134.png"/><Relationship Id="rId8" Type="http://schemas.openxmlformats.org/officeDocument/2006/relationships/image" Target="../media/image135.png"/><Relationship Id="rId9" Type="http://schemas.openxmlformats.org/officeDocument/2006/relationships/image" Target="../media/image11.gif"/><Relationship Id="rId10" Type="http://schemas.openxmlformats.org/officeDocument/2006/relationships/image" Target="../media/image5.gif"/><Relationship Id="rId11" Type="http://schemas.openxmlformats.org/officeDocument/2006/relationships/image" Target="../media/image4.gif"/><Relationship Id="rId12" Type="http://schemas.openxmlformats.org/officeDocument/2006/relationships/slideLayout" Target="../slideLayouts/slideLayout3.xml"/><Relationship Id="rId1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136.png"/><Relationship Id="rId3" Type="http://schemas.openxmlformats.org/officeDocument/2006/relationships/image" Target="../media/image15.png"/><Relationship Id="rId4" Type="http://schemas.openxmlformats.org/officeDocument/2006/relationships/image" Target="../media/image58.png"/><Relationship Id="rId5" Type="http://schemas.openxmlformats.org/officeDocument/2006/relationships/image" Target="../media/image58.png"/><Relationship Id="rId6" Type="http://schemas.openxmlformats.org/officeDocument/2006/relationships/image" Target="../media/image58.png"/><Relationship Id="rId7" Type="http://schemas.openxmlformats.org/officeDocument/2006/relationships/image" Target="../media/image58.png"/><Relationship Id="rId8" Type="http://schemas.openxmlformats.org/officeDocument/2006/relationships/image" Target="../media/image137.png"/><Relationship Id="rId9" Type="http://schemas.openxmlformats.org/officeDocument/2006/relationships/image" Target="../media/image138.png"/><Relationship Id="rId10" Type="http://schemas.openxmlformats.org/officeDocument/2006/relationships/image" Target="../media/image139.png"/><Relationship Id="rId11" Type="http://schemas.openxmlformats.org/officeDocument/2006/relationships/image" Target="../media/image139.png"/><Relationship Id="rId12" Type="http://schemas.openxmlformats.org/officeDocument/2006/relationships/image" Target="../media/image139.png"/><Relationship Id="rId13" Type="http://schemas.openxmlformats.org/officeDocument/2006/relationships/image" Target="../media/image139.png"/><Relationship Id="rId14" Type="http://schemas.openxmlformats.org/officeDocument/2006/relationships/image" Target="../media/image11.gif"/><Relationship Id="rId15" Type="http://schemas.openxmlformats.org/officeDocument/2006/relationships/image" Target="../media/image5.gif"/><Relationship Id="rId16" Type="http://schemas.openxmlformats.org/officeDocument/2006/relationships/image" Target="../media/image4.gif"/><Relationship Id="rId17" Type="http://schemas.openxmlformats.org/officeDocument/2006/relationships/slideLayout" Target="../slideLayouts/slideLayout3.xml"/><Relationship Id="rId18"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40.png"/><Relationship Id="rId3" Type="http://schemas.openxmlformats.org/officeDocument/2006/relationships/image" Target="../media/image60.png"/><Relationship Id="rId4" Type="http://schemas.openxmlformats.org/officeDocument/2006/relationships/image" Target="../media/image8.gif"/><Relationship Id="rId5" Type="http://schemas.openxmlformats.org/officeDocument/2006/relationships/image" Target="../media/image7.gif"/><Relationship Id="rId6" Type="http://schemas.openxmlformats.org/officeDocument/2006/relationships/image" Target="../media/image6.gif"/><Relationship Id="rId7" Type="http://schemas.openxmlformats.org/officeDocument/2006/relationships/image" Target="../media/image5.gif"/><Relationship Id="rId8" Type="http://schemas.openxmlformats.org/officeDocument/2006/relationships/image" Target="../media/image4.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3.xml"/><Relationship Id="rId14"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8.png"/><Relationship Id="rId4" Type="http://schemas.openxmlformats.org/officeDocument/2006/relationships/image" Target="../media/image63.gif"/><Relationship Id="rId5" Type="http://schemas.openxmlformats.org/officeDocument/2006/relationships/image" Target="../media/image63.gif"/><Relationship Id="rId6" Type="http://schemas.openxmlformats.org/officeDocument/2006/relationships/image" Target="../media/image143.png"/><Relationship Id="rId7" Type="http://schemas.openxmlformats.org/officeDocument/2006/relationships/image" Target="../media/image63.gif"/><Relationship Id="rId8" Type="http://schemas.openxmlformats.org/officeDocument/2006/relationships/image" Target="../media/image63.gif"/><Relationship Id="rId9" Type="http://schemas.openxmlformats.org/officeDocument/2006/relationships/image" Target="../media/image144.png"/><Relationship Id="rId10" Type="http://schemas.openxmlformats.org/officeDocument/2006/relationships/image" Target="../media/image63.gif"/><Relationship Id="rId11" Type="http://schemas.openxmlformats.org/officeDocument/2006/relationships/image" Target="../media/image63.gif"/><Relationship Id="rId12" Type="http://schemas.openxmlformats.org/officeDocument/2006/relationships/image" Target="../media/image145.png"/><Relationship Id="rId13" Type="http://schemas.openxmlformats.org/officeDocument/2006/relationships/image" Target="../media/image63.gif"/><Relationship Id="rId14" Type="http://schemas.openxmlformats.org/officeDocument/2006/relationships/image" Target="../media/image63.gif"/><Relationship Id="rId15" Type="http://schemas.openxmlformats.org/officeDocument/2006/relationships/image" Target="../media/image146.png"/><Relationship Id="rId16" Type="http://schemas.openxmlformats.org/officeDocument/2006/relationships/image" Target="../media/image68.gif"/><Relationship Id="rId17" Type="http://schemas.openxmlformats.org/officeDocument/2006/relationships/image" Target="../media/image147.png"/><Relationship Id="rId18" Type="http://schemas.openxmlformats.org/officeDocument/2006/relationships/image" Target="../media/image11.gif"/><Relationship Id="rId19" Type="http://schemas.openxmlformats.org/officeDocument/2006/relationships/image" Target="../media/image5.gif"/><Relationship Id="rId20" Type="http://schemas.openxmlformats.org/officeDocument/2006/relationships/image" Target="../media/image4.gif"/><Relationship Id="rId21" Type="http://schemas.openxmlformats.org/officeDocument/2006/relationships/slideLayout" Target="../slideLayouts/slideLayout3.xml"/><Relationship Id="rId2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48.png"/><Relationship Id="rId3" Type="http://schemas.openxmlformats.org/officeDocument/2006/relationships/image" Target="../media/image149.png"/><Relationship Id="rId4" Type="http://schemas.openxmlformats.org/officeDocument/2006/relationships/image" Target="../media/image8.gif"/><Relationship Id="rId5" Type="http://schemas.openxmlformats.org/officeDocument/2006/relationships/image" Target="../media/image7.gif"/><Relationship Id="rId6" Type="http://schemas.openxmlformats.org/officeDocument/2006/relationships/image" Target="../media/image6.gif"/><Relationship Id="rId7" Type="http://schemas.openxmlformats.org/officeDocument/2006/relationships/image" Target="../media/image5.gif"/><Relationship Id="rId8" Type="http://schemas.openxmlformats.org/officeDocument/2006/relationships/image" Target="../media/image4.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3.xml"/><Relationship Id="rId1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50.png"/><Relationship Id="rId2" Type="http://schemas.openxmlformats.org/officeDocument/2006/relationships/image" Target="../media/image151.png"/><Relationship Id="rId3" Type="http://schemas.openxmlformats.org/officeDocument/2006/relationships/image" Target="../media/image21.png"/><Relationship Id="rId4" Type="http://schemas.openxmlformats.org/officeDocument/2006/relationships/image" Target="../media/image152.png"/><Relationship Id="rId5" Type="http://schemas.openxmlformats.org/officeDocument/2006/relationships/image" Target="../media/image153.png"/><Relationship Id="rId6" Type="http://schemas.openxmlformats.org/officeDocument/2006/relationships/image" Target="../media/image154.png"/><Relationship Id="rId7" Type="http://schemas.openxmlformats.org/officeDocument/2006/relationships/image" Target="../media/image155.png"/><Relationship Id="rId8" Type="http://schemas.openxmlformats.org/officeDocument/2006/relationships/image" Target="../media/image156.png"/><Relationship Id="rId9" Type="http://schemas.openxmlformats.org/officeDocument/2006/relationships/image" Target="../media/image157.png"/><Relationship Id="rId10" Type="http://schemas.openxmlformats.org/officeDocument/2006/relationships/image" Target="../media/image158.png"/><Relationship Id="rId11" Type="http://schemas.openxmlformats.org/officeDocument/2006/relationships/image" Target="../media/image11.gif"/><Relationship Id="rId12" Type="http://schemas.openxmlformats.org/officeDocument/2006/relationships/image" Target="../media/image5.gif"/><Relationship Id="rId13" Type="http://schemas.openxmlformats.org/officeDocument/2006/relationships/image" Target="../media/image4.gif"/><Relationship Id="rId14" Type="http://schemas.openxmlformats.org/officeDocument/2006/relationships/slideLayout" Target="../slideLayouts/slideLayout3.xml"/><Relationship Id="rId15"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50.png"/><Relationship Id="rId2" Type="http://schemas.openxmlformats.org/officeDocument/2006/relationships/image" Target="../media/image159.png"/><Relationship Id="rId3" Type="http://schemas.openxmlformats.org/officeDocument/2006/relationships/image" Target="../media/image21.png"/><Relationship Id="rId4" Type="http://schemas.openxmlformats.org/officeDocument/2006/relationships/chart" Target="../charts/chart6.xml"/><Relationship Id="rId5" Type="http://schemas.openxmlformats.org/officeDocument/2006/relationships/image" Target="../media/image160.png"/><Relationship Id="rId6" Type="http://schemas.openxmlformats.org/officeDocument/2006/relationships/image" Target="../media/image161.png"/><Relationship Id="rId7" Type="http://schemas.openxmlformats.org/officeDocument/2006/relationships/image" Target="../media/image81.png"/><Relationship Id="rId8" Type="http://schemas.openxmlformats.org/officeDocument/2006/relationships/image" Target="../media/image162.png"/><Relationship Id="rId9" Type="http://schemas.openxmlformats.org/officeDocument/2006/relationships/image" Target="../media/image11.gif"/><Relationship Id="rId10" Type="http://schemas.openxmlformats.org/officeDocument/2006/relationships/image" Target="../media/image5.gif"/><Relationship Id="rId11" Type="http://schemas.openxmlformats.org/officeDocument/2006/relationships/image" Target="../media/image4.gif"/><Relationship Id="rId12" Type="http://schemas.openxmlformats.org/officeDocument/2006/relationships/slideLayout" Target="../slideLayouts/slideLayout3.xml"/><Relationship Id="rId1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163.png"/><Relationship Id="rId3" Type="http://schemas.openxmlformats.org/officeDocument/2006/relationships/image" Target="../media/image71.png"/><Relationship Id="rId4" Type="http://schemas.openxmlformats.org/officeDocument/2006/relationships/image" Target="../media/image8.gif"/><Relationship Id="rId5" Type="http://schemas.openxmlformats.org/officeDocument/2006/relationships/image" Target="../media/image7.gif"/><Relationship Id="rId6" Type="http://schemas.openxmlformats.org/officeDocument/2006/relationships/image" Target="../media/image6.gif"/><Relationship Id="rId7" Type="http://schemas.openxmlformats.org/officeDocument/2006/relationships/image" Target="../media/image5.gif"/><Relationship Id="rId8" Type="http://schemas.openxmlformats.org/officeDocument/2006/relationships/image" Target="../media/image4.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3.xml"/><Relationship Id="rId1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164.png"/><Relationship Id="rId3" Type="http://schemas.openxmlformats.org/officeDocument/2006/relationships/image" Target="../media/image24.png"/><Relationship Id="rId4" Type="http://schemas.openxmlformats.org/officeDocument/2006/relationships/chart" Target="../charts/chart7.xml"/><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1.gif"/><Relationship Id="rId9" Type="http://schemas.openxmlformats.org/officeDocument/2006/relationships/image" Target="../media/image5.gif"/><Relationship Id="rId10" Type="http://schemas.openxmlformats.org/officeDocument/2006/relationships/image" Target="../media/image4.gif"/><Relationship Id="rId11" Type="http://schemas.openxmlformats.org/officeDocument/2006/relationships/slideLayout" Target="../slideLayouts/slideLayout3.xml"/><Relationship Id="rId1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image" Target="../media/image168.png"/><Relationship Id="rId3" Type="http://schemas.openxmlformats.org/officeDocument/2006/relationships/image" Target="../media/image24.png"/><Relationship Id="rId4" Type="http://schemas.openxmlformats.org/officeDocument/2006/relationships/chart" Target="../charts/chart8.xml"/><Relationship Id="rId5" Type="http://schemas.openxmlformats.org/officeDocument/2006/relationships/image" Target="../media/image169.png"/><Relationship Id="rId6" Type="http://schemas.openxmlformats.org/officeDocument/2006/relationships/image" Target="../media/image170.png"/><Relationship Id="rId7" Type="http://schemas.openxmlformats.org/officeDocument/2006/relationships/image" Target="../media/image11.gif"/><Relationship Id="rId8" Type="http://schemas.openxmlformats.org/officeDocument/2006/relationships/image" Target="../media/image5.gif"/><Relationship Id="rId9" Type="http://schemas.openxmlformats.org/officeDocument/2006/relationships/image" Target="../media/image4.gif"/><Relationship Id="rId10" Type="http://schemas.openxmlformats.org/officeDocument/2006/relationships/slideLayout" Target="../slideLayouts/slideLayout3.xml"/><Relationship Id="rId11"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82.png"/><Relationship Id="rId2" Type="http://schemas.openxmlformats.org/officeDocument/2006/relationships/image" Target="../media/image171.png"/><Relationship Id="rId3" Type="http://schemas.openxmlformats.org/officeDocument/2006/relationships/image" Target="../media/image24.png"/><Relationship Id="rId4" Type="http://schemas.openxmlformats.org/officeDocument/2006/relationships/chart" Target="../charts/chart9.xml"/><Relationship Id="rId5" Type="http://schemas.openxmlformats.org/officeDocument/2006/relationships/image" Target="../media/image172.png"/><Relationship Id="rId6" Type="http://schemas.openxmlformats.org/officeDocument/2006/relationships/image" Target="../media/image173.png"/><Relationship Id="rId7" Type="http://schemas.openxmlformats.org/officeDocument/2006/relationships/image" Target="../media/image11.gif"/><Relationship Id="rId8" Type="http://schemas.openxmlformats.org/officeDocument/2006/relationships/image" Target="../media/image5.gif"/><Relationship Id="rId9" Type="http://schemas.openxmlformats.org/officeDocument/2006/relationships/image" Target="../media/image4.gif"/><Relationship Id="rId10" Type="http://schemas.openxmlformats.org/officeDocument/2006/relationships/slideLayout" Target="../slideLayouts/slideLayout3.xml"/><Relationship Id="rId11"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174.png"/><Relationship Id="rId3" Type="http://schemas.openxmlformats.org/officeDocument/2006/relationships/image" Target="../media/image24.png"/><Relationship Id="rId4" Type="http://schemas.openxmlformats.org/officeDocument/2006/relationships/chart" Target="../charts/chart10.xml"/><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1.gif"/><Relationship Id="rId8" Type="http://schemas.openxmlformats.org/officeDocument/2006/relationships/image" Target="../media/image5.gif"/><Relationship Id="rId9" Type="http://schemas.openxmlformats.org/officeDocument/2006/relationships/image" Target="../media/image4.gif"/><Relationship Id="rId10" Type="http://schemas.openxmlformats.org/officeDocument/2006/relationships/slideLayout" Target="../slideLayouts/slideLayout3.xml"/><Relationship Id="rId11"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177.png"/><Relationship Id="rId3" Type="http://schemas.openxmlformats.org/officeDocument/2006/relationships/image" Target="../media/image178.png"/><Relationship Id="rId4" Type="http://schemas.openxmlformats.org/officeDocument/2006/relationships/image" Target="../media/image8.gif"/><Relationship Id="rId5" Type="http://schemas.openxmlformats.org/officeDocument/2006/relationships/image" Target="../media/image7.gif"/><Relationship Id="rId6" Type="http://schemas.openxmlformats.org/officeDocument/2006/relationships/image" Target="../media/image6.gif"/><Relationship Id="rId7" Type="http://schemas.openxmlformats.org/officeDocument/2006/relationships/image" Target="../media/image5.gif"/><Relationship Id="rId8" Type="http://schemas.openxmlformats.org/officeDocument/2006/relationships/image" Target="../media/image4.gif"/><Relationship Id="rId9" Type="http://schemas.openxmlformats.org/officeDocument/2006/relationships/image" Target="../media/image36.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3.xml"/><Relationship Id="rId14"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94.png"/><Relationship Id="rId2" Type="http://schemas.openxmlformats.org/officeDocument/2006/relationships/image" Target="../media/image179.png"/><Relationship Id="rId3" Type="http://schemas.openxmlformats.org/officeDocument/2006/relationships/image" Target="../media/image27.png"/><Relationship Id="rId4" Type="http://schemas.openxmlformats.org/officeDocument/2006/relationships/image" Target="../media/image180.png"/><Relationship Id="rId5" Type="http://schemas.openxmlformats.org/officeDocument/2006/relationships/image" Target="../media/image181.png"/><Relationship Id="rId6" Type="http://schemas.openxmlformats.org/officeDocument/2006/relationships/image" Target="../media/image182.png"/><Relationship Id="rId7" Type="http://schemas.openxmlformats.org/officeDocument/2006/relationships/image" Target="../media/image183.png"/><Relationship Id="rId8" Type="http://schemas.openxmlformats.org/officeDocument/2006/relationships/image" Target="../media/image184.png"/><Relationship Id="rId9" Type="http://schemas.openxmlformats.org/officeDocument/2006/relationships/image" Target="../media/image185.png"/><Relationship Id="rId10" Type="http://schemas.openxmlformats.org/officeDocument/2006/relationships/image" Target="../media/image184.png"/><Relationship Id="rId11" Type="http://schemas.openxmlformats.org/officeDocument/2006/relationships/image" Target="../media/image186.png"/><Relationship Id="rId12" Type="http://schemas.openxmlformats.org/officeDocument/2006/relationships/image" Target="../media/image184.png"/><Relationship Id="rId13" Type="http://schemas.openxmlformats.org/officeDocument/2006/relationships/image" Target="../media/image187.png"/><Relationship Id="rId14" Type="http://schemas.openxmlformats.org/officeDocument/2006/relationships/image" Target="../media/image184.png"/><Relationship Id="rId15" Type="http://schemas.openxmlformats.org/officeDocument/2006/relationships/image" Target="../media/image188.png"/><Relationship Id="rId16" Type="http://schemas.openxmlformats.org/officeDocument/2006/relationships/image" Target="../media/image189.png"/><Relationship Id="rId17" Type="http://schemas.openxmlformats.org/officeDocument/2006/relationships/image" Target="../media/image190.png"/><Relationship Id="rId18" Type="http://schemas.openxmlformats.org/officeDocument/2006/relationships/image" Target="../media/image191.png"/><Relationship Id="rId19" Type="http://schemas.openxmlformats.org/officeDocument/2006/relationships/image" Target="../media/image192.png"/><Relationship Id="rId20" Type="http://schemas.openxmlformats.org/officeDocument/2006/relationships/image" Target="../media/image191.png"/><Relationship Id="rId21" Type="http://schemas.openxmlformats.org/officeDocument/2006/relationships/image" Target="../media/image193.png"/><Relationship Id="rId22" Type="http://schemas.openxmlformats.org/officeDocument/2006/relationships/image" Target="../media/image194.png"/><Relationship Id="rId23" Type="http://schemas.openxmlformats.org/officeDocument/2006/relationships/image" Target="../media/image195.png"/><Relationship Id="rId24" Type="http://schemas.openxmlformats.org/officeDocument/2006/relationships/image" Target="../media/image196.png"/><Relationship Id="rId25" Type="http://schemas.openxmlformats.org/officeDocument/2006/relationships/image" Target="../media/image197.png"/><Relationship Id="rId26" Type="http://schemas.openxmlformats.org/officeDocument/2006/relationships/image" Target="../media/image198.png"/><Relationship Id="rId27" Type="http://schemas.openxmlformats.org/officeDocument/2006/relationships/image" Target="../media/image199.png"/><Relationship Id="rId28" Type="http://schemas.openxmlformats.org/officeDocument/2006/relationships/image" Target="../media/image200.png"/><Relationship Id="rId29" Type="http://schemas.openxmlformats.org/officeDocument/2006/relationships/image" Target="../media/image27.png"/><Relationship Id="rId30" Type="http://schemas.openxmlformats.org/officeDocument/2006/relationships/image" Target="../media/image201.png"/><Relationship Id="rId31" Type="http://schemas.openxmlformats.org/officeDocument/2006/relationships/image" Target="../media/image11.gif"/><Relationship Id="rId32" Type="http://schemas.openxmlformats.org/officeDocument/2006/relationships/image" Target="../media/image5.gif"/><Relationship Id="rId33" Type="http://schemas.openxmlformats.org/officeDocument/2006/relationships/image" Target="../media/image4.gif"/><Relationship Id="rId34" Type="http://schemas.openxmlformats.org/officeDocument/2006/relationships/slideLayout" Target="../slideLayouts/slideLayout3.xml"/><Relationship Id="rId35"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202.png"/><Relationship Id="rId3" Type="http://schemas.openxmlformats.org/officeDocument/2006/relationships/image" Target="../media/image100.png"/><Relationship Id="rId4" Type="http://schemas.openxmlformats.org/officeDocument/2006/relationships/image" Target="../media/image101.png"/><Relationship Id="rId5" Type="http://schemas.openxmlformats.org/officeDocument/2006/relationships/image" Target="../media/image203.png"/><Relationship Id="rId6" Type="http://schemas.openxmlformats.org/officeDocument/2006/relationships/image" Target="../media/image121.png"/><Relationship Id="rId7" Type="http://schemas.openxmlformats.org/officeDocument/2006/relationships/image" Target="../media/image104.png"/><Relationship Id="rId8" Type="http://schemas.openxmlformats.org/officeDocument/2006/relationships/image" Target="../media/image103.png"/><Relationship Id="rId9" Type="http://schemas.openxmlformats.org/officeDocument/2006/relationships/image" Target="../media/image106.png"/><Relationship Id="rId10" Type="http://schemas.openxmlformats.org/officeDocument/2006/relationships/image" Target="../media/image107.png"/><Relationship Id="rId11" Type="http://schemas.openxmlformats.org/officeDocument/2006/relationships/image" Target="../media/image108.png"/><Relationship Id="rId12" Type="http://schemas.openxmlformats.org/officeDocument/2006/relationships/image" Target="../media/image11.gif"/><Relationship Id="rId13" Type="http://schemas.openxmlformats.org/officeDocument/2006/relationships/image" Target="../media/image5.gif"/><Relationship Id="rId14" Type="http://schemas.openxmlformats.org/officeDocument/2006/relationships/image" Target="../media/image4.gif"/><Relationship Id="rId15" Type="http://schemas.openxmlformats.org/officeDocument/2006/relationships/slideLayout" Target="../slideLayouts/slideLayout3.xml"/><Relationship Id="rId16"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204.png"/><Relationship Id="rId2" Type="http://schemas.openxmlformats.org/officeDocument/2006/relationships/image" Target="../media/image205.png"/><Relationship Id="rId3" Type="http://schemas.openxmlformats.org/officeDocument/2006/relationships/image" Target="../media/image32.png"/><Relationship Id="rId4" Type="http://schemas.openxmlformats.org/officeDocument/2006/relationships/image" Target="../media/image206.png"/><Relationship Id="rId5" Type="http://schemas.openxmlformats.org/officeDocument/2006/relationships/image" Target="../media/image207.png"/><Relationship Id="rId6" Type="http://schemas.openxmlformats.org/officeDocument/2006/relationships/image" Target="../media/image208.png"/><Relationship Id="rId7" Type="http://schemas.openxmlformats.org/officeDocument/2006/relationships/image" Target="../media/image209.png"/><Relationship Id="rId8" Type="http://schemas.openxmlformats.org/officeDocument/2006/relationships/chart" Target="../charts/chart11.xml"/><Relationship Id="rId9" Type="http://schemas.openxmlformats.org/officeDocument/2006/relationships/image" Target="../media/image210.png"/><Relationship Id="rId10" Type="http://schemas.openxmlformats.org/officeDocument/2006/relationships/image" Target="../media/image11.gif"/><Relationship Id="rId11" Type="http://schemas.openxmlformats.org/officeDocument/2006/relationships/image" Target="../media/image5.gif"/><Relationship Id="rId12" Type="http://schemas.openxmlformats.org/officeDocument/2006/relationships/image" Target="../media/image4.gif"/><Relationship Id="rId13" Type="http://schemas.openxmlformats.org/officeDocument/2006/relationships/slideLayout" Target="../slideLayouts/slideLayout3.xml"/><Relationship Id="rId14"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32.png"/><Relationship Id="rId4" Type="http://schemas.openxmlformats.org/officeDocument/2006/relationships/image" Target="../media/image213.png"/><Relationship Id="rId5" Type="http://schemas.openxmlformats.org/officeDocument/2006/relationships/image" Target="../media/image81.png"/><Relationship Id="rId6" Type="http://schemas.openxmlformats.org/officeDocument/2006/relationships/image" Target="../media/image81.png"/><Relationship Id="rId7" Type="http://schemas.openxmlformats.org/officeDocument/2006/relationships/image" Target="../media/image81.png"/><Relationship Id="rId8" Type="http://schemas.openxmlformats.org/officeDocument/2006/relationships/image" Target="../media/image214.png"/><Relationship Id="rId9" Type="http://schemas.openxmlformats.org/officeDocument/2006/relationships/image" Target="../media/image58.png"/><Relationship Id="rId10" Type="http://schemas.openxmlformats.org/officeDocument/2006/relationships/image" Target="../media/image58.png"/><Relationship Id="rId11" Type="http://schemas.openxmlformats.org/officeDocument/2006/relationships/image" Target="../media/image58.png"/><Relationship Id="rId12" Type="http://schemas.openxmlformats.org/officeDocument/2006/relationships/image" Target="../media/image11.gif"/><Relationship Id="rId13" Type="http://schemas.openxmlformats.org/officeDocument/2006/relationships/image" Target="../media/image5.gif"/><Relationship Id="rId14" Type="http://schemas.openxmlformats.org/officeDocument/2006/relationships/image" Target="../media/image4.gif"/><Relationship Id="rId15" Type="http://schemas.openxmlformats.org/officeDocument/2006/relationships/slideLayout" Target="../slideLayouts/slideLayout3.xml"/><Relationship Id="rId16"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215.png"/><Relationship Id="rId2" Type="http://schemas.openxmlformats.org/officeDocument/2006/relationships/image" Target="../media/image216.png"/><Relationship Id="rId3" Type="http://schemas.openxmlformats.org/officeDocument/2006/relationships/image" Target="../media/image8.gif"/><Relationship Id="rId4" Type="http://schemas.openxmlformats.org/officeDocument/2006/relationships/image" Target="../media/image7.gif"/><Relationship Id="rId5" Type="http://schemas.openxmlformats.org/officeDocument/2006/relationships/image" Target="../media/image6.gif"/><Relationship Id="rId6" Type="http://schemas.openxmlformats.org/officeDocument/2006/relationships/image" Target="../media/image5.gif"/><Relationship Id="rId7" Type="http://schemas.openxmlformats.org/officeDocument/2006/relationships/image" Target="../media/image4.gif"/><Relationship Id="rId8" Type="http://schemas.openxmlformats.org/officeDocument/2006/relationships/image" Target="../media/image11.gif"/><Relationship Id="rId9" Type="http://schemas.openxmlformats.org/officeDocument/2006/relationships/image" Target="../media/image217.png"/><Relationship Id="rId10" Type="http://schemas.openxmlformats.org/officeDocument/2006/relationships/image" Target="../media/image218.png"/><Relationship Id="rId11" Type="http://schemas.openxmlformats.org/officeDocument/2006/relationships/image" Target="../media/image219.png"/><Relationship Id="rId12" Type="http://schemas.openxmlformats.org/officeDocument/2006/relationships/image" Target="../media/image11.gif"/><Relationship Id="rId13" Type="http://schemas.openxmlformats.org/officeDocument/2006/relationships/image" Target="../media/image5.gif"/><Relationship Id="rId14" Type="http://schemas.openxmlformats.org/officeDocument/2006/relationships/image" Target="../media/image63.gif"/><Relationship Id="rId15" Type="http://schemas.openxmlformats.org/officeDocument/2006/relationships/image" Target="../media/image4.gif"/><Relationship Id="rId16" Type="http://schemas.openxmlformats.org/officeDocument/2006/relationships/slideLayout" Target="../slideLayouts/slideLayout3.xml"/><Relationship Id="rId17" Type="http://schemas.openxmlformats.org/officeDocument/2006/relationships/notesSlide" Target="../notesSlides/notesSlide3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3" name="o1" descr="DATA WRANGLING · PROJET FINAL"/>
          <p:cNvPicPr/>
          <p:nvPr/>
        </p:nvPicPr>
        <p:blipFill>
          <a:blip r:embed="rId1"/>
          <a:stretch/>
        </p:blipFill>
        <p:spPr>
          <a:xfrm>
            <a:off x="3974400" y="548640"/>
            <a:ext cx="4242600" cy="145800"/>
          </a:xfrm>
          <a:prstGeom prst="rect">
            <a:avLst/>
          </a:prstGeom>
          <a:ln w="0">
            <a:noFill/>
          </a:ln>
        </p:spPr>
      </p:pic>
      <p:pic>
        <p:nvPicPr>
          <p:cNvPr id="14" name="o2" descr="VENTES MONDIALES"/>
          <p:cNvPicPr/>
          <p:nvPr/>
        </p:nvPicPr>
        <p:blipFill>
          <a:blip r:embed="rId2"/>
          <a:stretch/>
        </p:blipFill>
        <p:spPr>
          <a:xfrm>
            <a:off x="1999440" y="1097280"/>
            <a:ext cx="8192520" cy="511560"/>
          </a:xfrm>
          <a:prstGeom prst="rect">
            <a:avLst/>
          </a:prstGeom>
          <a:ln w="0">
            <a:noFill/>
          </a:ln>
        </p:spPr>
      </p:pic>
      <p:pic>
        <p:nvPicPr>
          <p:cNvPr id="15" name="o3" descr="DE JEUX VIDEO"/>
          <p:cNvPicPr/>
          <p:nvPr/>
        </p:nvPicPr>
        <p:blipFill>
          <a:blip r:embed="rId3"/>
          <a:stretch/>
        </p:blipFill>
        <p:spPr>
          <a:xfrm>
            <a:off x="2767320" y="1783080"/>
            <a:ext cx="6656400" cy="511560"/>
          </a:xfrm>
          <a:prstGeom prst="rect">
            <a:avLst/>
          </a:prstGeom>
          <a:ln w="0">
            <a:noFill/>
          </a:ln>
        </p:spPr>
      </p:pic>
      <p:sp>
        <p:nvSpPr>
          <p:cNvPr id="16" name="o4"/>
          <p:cNvSpPr/>
          <p:nvPr/>
        </p:nvSpPr>
        <p:spPr>
          <a:xfrm>
            <a:off x="914400" y="2560320"/>
            <a:ext cx="1036260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800" spc="-1" strike="noStrike">
                <a:solidFill>
                  <a:srgbClr val="c4c4e4"/>
                </a:solidFill>
                <a:latin typeface="Arial"/>
                <a:ea typeface="Arial"/>
              </a:rPr>
              <a:t>1980 – 2016  ·  16 598 jeux  ·  Partie 1 : la base vgsales</a:t>
            </a:r>
            <a:endParaRPr b="0" lang="en-US" sz="1800" spc="-1" strike="noStrike">
              <a:solidFill>
                <a:srgbClr val="ffffff"/>
              </a:solidFill>
              <a:latin typeface="Arial"/>
            </a:endParaRPr>
          </a:p>
        </p:txBody>
      </p:sp>
      <p:sp>
        <p:nvSpPr>
          <p:cNvPr id="17" name="o5"/>
          <p:cNvSpPr/>
          <p:nvPr/>
        </p:nvSpPr>
        <p:spPr>
          <a:xfrm>
            <a:off x="407376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18" name="o6"/>
          <p:cNvSpPr/>
          <p:nvPr/>
        </p:nvSpPr>
        <p:spPr>
          <a:xfrm>
            <a:off x="439380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19" name="o7"/>
          <p:cNvSpPr/>
          <p:nvPr/>
        </p:nvSpPr>
        <p:spPr>
          <a:xfrm>
            <a:off x="471384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 name="o8"/>
          <p:cNvSpPr/>
          <p:nvPr/>
        </p:nvSpPr>
        <p:spPr>
          <a:xfrm>
            <a:off x="503388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1" name="o9"/>
          <p:cNvSpPr/>
          <p:nvPr/>
        </p:nvSpPr>
        <p:spPr>
          <a:xfrm>
            <a:off x="535392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2" name="o10"/>
          <p:cNvSpPr/>
          <p:nvPr/>
        </p:nvSpPr>
        <p:spPr>
          <a:xfrm>
            <a:off x="567396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3" name="o11"/>
          <p:cNvSpPr/>
          <p:nvPr/>
        </p:nvSpPr>
        <p:spPr>
          <a:xfrm>
            <a:off x="599400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4" name="o12"/>
          <p:cNvSpPr/>
          <p:nvPr/>
        </p:nvSpPr>
        <p:spPr>
          <a:xfrm>
            <a:off x="631404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5" name="o13"/>
          <p:cNvSpPr/>
          <p:nvPr/>
        </p:nvSpPr>
        <p:spPr>
          <a:xfrm>
            <a:off x="663408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6" name="o14"/>
          <p:cNvSpPr/>
          <p:nvPr/>
        </p:nvSpPr>
        <p:spPr>
          <a:xfrm>
            <a:off x="695412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7" name="o15"/>
          <p:cNvSpPr/>
          <p:nvPr/>
        </p:nvSpPr>
        <p:spPr>
          <a:xfrm>
            <a:off x="727416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8" name="o16"/>
          <p:cNvSpPr/>
          <p:nvPr/>
        </p:nvSpPr>
        <p:spPr>
          <a:xfrm>
            <a:off x="759420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9" name="o17"/>
          <p:cNvSpPr/>
          <p:nvPr/>
        </p:nvSpPr>
        <p:spPr>
          <a:xfrm>
            <a:off x="791424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0" name="o18"/>
          <p:cNvSpPr/>
          <p:nvPr/>
        </p:nvSpPr>
        <p:spPr>
          <a:xfrm>
            <a:off x="823428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1" name="o19"/>
          <p:cNvSpPr/>
          <p:nvPr/>
        </p:nvSpPr>
        <p:spPr>
          <a:xfrm>
            <a:off x="855432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2" name="o20"/>
          <p:cNvSpPr/>
          <p:nvPr/>
        </p:nvSpPr>
        <p:spPr>
          <a:xfrm>
            <a:off x="887436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3" name="o21"/>
          <p:cNvSpPr/>
          <p:nvPr/>
        </p:nvSpPr>
        <p:spPr>
          <a:xfrm>
            <a:off x="919440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4" name="o22"/>
          <p:cNvSpPr/>
          <p:nvPr/>
        </p:nvSpPr>
        <p:spPr>
          <a:xfrm>
            <a:off x="951444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 name="o23"/>
          <p:cNvSpPr/>
          <p:nvPr/>
        </p:nvSpPr>
        <p:spPr>
          <a:xfrm>
            <a:off x="983448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6" name="o24"/>
          <p:cNvSpPr/>
          <p:nvPr/>
        </p:nvSpPr>
        <p:spPr>
          <a:xfrm>
            <a:off x="10154520" y="347940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pic>
        <p:nvPicPr>
          <p:cNvPr id="37" name="o25" descr="Pac-Man"/>
          <p:cNvPicPr/>
          <p:nvPr/>
        </p:nvPicPr>
        <p:blipFill>
          <a:blip r:embed="rId4"/>
          <a:stretch/>
        </p:blipFill>
        <p:spPr>
          <a:xfrm>
            <a:off x="3337560" y="3291840"/>
            <a:ext cx="456840" cy="456840"/>
          </a:xfrm>
          <a:prstGeom prst="rect">
            <a:avLst/>
          </a:prstGeom>
          <a:ln w="0">
            <a:noFill/>
          </a:ln>
        </p:spPr>
      </p:pic>
      <p:pic>
        <p:nvPicPr>
          <p:cNvPr id="38" name="o26" descr="fantôme"/>
          <p:cNvPicPr/>
          <p:nvPr/>
        </p:nvPicPr>
        <p:blipFill>
          <a:blip r:embed="rId5"/>
          <a:stretch/>
        </p:blipFill>
        <p:spPr>
          <a:xfrm>
            <a:off x="2651760" y="3291840"/>
            <a:ext cx="456840" cy="456840"/>
          </a:xfrm>
          <a:prstGeom prst="rect">
            <a:avLst/>
          </a:prstGeom>
          <a:ln w="0">
            <a:noFill/>
          </a:ln>
        </p:spPr>
      </p:pic>
      <p:pic>
        <p:nvPicPr>
          <p:cNvPr id="39" name="o27" descr="fantôme"/>
          <p:cNvPicPr/>
          <p:nvPr/>
        </p:nvPicPr>
        <p:blipFill>
          <a:blip r:embed="rId6"/>
          <a:stretch/>
        </p:blipFill>
        <p:spPr>
          <a:xfrm>
            <a:off x="2057400" y="3291840"/>
            <a:ext cx="456840" cy="456840"/>
          </a:xfrm>
          <a:prstGeom prst="rect">
            <a:avLst/>
          </a:prstGeom>
          <a:ln w="0">
            <a:noFill/>
          </a:ln>
        </p:spPr>
      </p:pic>
      <p:pic>
        <p:nvPicPr>
          <p:cNvPr id="40" name="o28" descr="fantôme"/>
          <p:cNvPicPr/>
          <p:nvPr/>
        </p:nvPicPr>
        <p:blipFill>
          <a:blip r:embed="rId7"/>
          <a:stretch/>
        </p:blipFill>
        <p:spPr>
          <a:xfrm>
            <a:off x="1463040" y="3291840"/>
            <a:ext cx="456840" cy="456840"/>
          </a:xfrm>
          <a:prstGeom prst="rect">
            <a:avLst/>
          </a:prstGeom>
          <a:ln w="0">
            <a:noFill/>
          </a:ln>
        </p:spPr>
      </p:pic>
      <p:pic>
        <p:nvPicPr>
          <p:cNvPr id="41" name="o29" descr="fantôme"/>
          <p:cNvPicPr/>
          <p:nvPr/>
        </p:nvPicPr>
        <p:blipFill>
          <a:blip r:embed="rId8"/>
          <a:stretch/>
        </p:blipFill>
        <p:spPr>
          <a:xfrm>
            <a:off x="868680" y="3291840"/>
            <a:ext cx="456840" cy="456840"/>
          </a:xfrm>
          <a:prstGeom prst="rect">
            <a:avLst/>
          </a:prstGeom>
          <a:ln w="0">
            <a:noFill/>
          </a:ln>
        </p:spPr>
      </p:pic>
      <p:pic>
        <p:nvPicPr>
          <p:cNvPr id="42" name="o32" descr="PRESS START"/>
          <p:cNvPicPr/>
          <p:nvPr/>
        </p:nvPicPr>
        <p:blipFill>
          <a:blip r:embed="rId9"/>
          <a:stretch/>
        </p:blipFill>
        <p:spPr>
          <a:xfrm>
            <a:off x="5157000" y="5120640"/>
            <a:ext cx="1877040" cy="170280"/>
          </a:xfrm>
          <a:prstGeom prst="rect">
            <a:avLst/>
          </a:prstGeom>
          <a:ln w="0">
            <a:noFill/>
          </a:ln>
        </p:spPr>
      </p:pic>
      <p:pic>
        <p:nvPicPr>
          <p:cNvPr id="43" name="o33" descr="© 2026 PGE3 · 23 OCTOBRE"/>
          <p:cNvPicPr/>
          <p:nvPr/>
        </p:nvPicPr>
        <p:blipFill>
          <a:blip r:embed="rId10"/>
          <a:stretch/>
        </p:blipFill>
        <p:spPr>
          <a:xfrm>
            <a:off x="4779000" y="5669280"/>
            <a:ext cx="2633040" cy="109440"/>
          </a:xfrm>
          <a:prstGeom prst="rect">
            <a:avLst/>
          </a:prstGeom>
          <a:ln w="0">
            <a:noFill/>
          </a:ln>
        </p:spPr>
      </p:pic>
      <p:pic>
        <p:nvPicPr>
          <p:cNvPr id="44" name="o79" descr="super pac-gomme"/>
          <p:cNvPicPr/>
          <p:nvPr/>
        </p:nvPicPr>
        <p:blipFill>
          <a:blip r:embed="rId11"/>
          <a:stretch/>
        </p:blipFill>
        <p:spPr>
          <a:xfrm>
            <a:off x="11448360" y="6355080"/>
            <a:ext cx="182520" cy="182520"/>
          </a:xfrm>
          <a:prstGeom prst="rect">
            <a:avLst/>
          </a:prstGeom>
          <a:ln w="0">
            <a:noFill/>
          </a:ln>
        </p:spPr>
      </p:pic>
      <p:pic>
        <p:nvPicPr>
          <p:cNvPr id="45" name="barre_fantome" descr="image.gif"/>
          <p:cNvPicPr/>
          <p:nvPr/>
        </p:nvPicPr>
        <p:blipFill>
          <a:blip r:embed="rId12"/>
          <a:stretch/>
        </p:blipFill>
        <p:spPr>
          <a:xfrm>
            <a:off x="118800" y="6291000"/>
            <a:ext cx="310680" cy="310680"/>
          </a:xfrm>
          <a:prstGeom prst="rect">
            <a:avLst/>
          </a:prstGeom>
          <a:ln w="0">
            <a:noFill/>
          </a:ln>
        </p:spPr>
      </p:pic>
      <p:sp>
        <p:nvSpPr>
          <p:cNvPr id="47" name="barre_pastille"/>
          <p:cNvSpPr/>
          <p:nvPr/>
        </p:nvSpPr>
        <p:spPr>
          <a:xfrm>
            <a:off x="1143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 name="barre_pastille"/>
          <p:cNvSpPr/>
          <p:nvPr/>
        </p:nvSpPr>
        <p:spPr>
          <a:xfrm>
            <a:off x="1371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5" name="barre_pastille"/>
          <p:cNvSpPr/>
          <p:nvPr/>
        </p:nvSpPr>
        <p:spPr>
          <a:xfrm>
            <a:off x="1600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6" name="barre_pastille"/>
          <p:cNvSpPr/>
          <p:nvPr/>
        </p:nvSpPr>
        <p:spPr>
          <a:xfrm>
            <a:off x="1828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7" name="barre_pastille"/>
          <p:cNvSpPr/>
          <p:nvPr/>
        </p:nvSpPr>
        <p:spPr>
          <a:xfrm>
            <a:off x="2057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8" name="barre_pastille"/>
          <p:cNvSpPr/>
          <p:nvPr/>
        </p:nvSpPr>
        <p:spPr>
          <a:xfrm>
            <a:off x="2286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 name="barre_pastille"/>
          <p:cNvSpPr/>
          <p:nvPr/>
        </p:nvSpPr>
        <p:spPr>
          <a:xfrm>
            <a:off x="2514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 name="barre_pastille"/>
          <p:cNvSpPr/>
          <p:nvPr/>
        </p:nvSpPr>
        <p:spPr>
          <a:xfrm>
            <a:off x="2743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 name="barre_pastille"/>
          <p:cNvSpPr/>
          <p:nvPr/>
        </p:nvSpPr>
        <p:spPr>
          <a:xfrm>
            <a:off x="2971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2" name="barre_pastille"/>
          <p:cNvSpPr/>
          <p:nvPr/>
        </p:nvSpPr>
        <p:spPr>
          <a:xfrm>
            <a:off x="3200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3" name="barre_pastille"/>
          <p:cNvSpPr/>
          <p:nvPr/>
        </p:nvSpPr>
        <p:spPr>
          <a:xfrm>
            <a:off x="3429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4"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5"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6"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7"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8"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9"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0"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1"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2"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3"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4"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7"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8"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9"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0"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1"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2"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3"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4"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5"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6"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8"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9"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0"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1"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2"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4"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5"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6"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7"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46" name="barre_pacman" descr="image.gif"/>
          <p:cNvPicPr/>
          <p:nvPr/>
        </p:nvPicPr>
        <p:blipFill>
          <a:blip r:embed="rId13"/>
          <a:stretch/>
        </p:blipFill>
        <p:spPr>
          <a:xfrm>
            <a:off x="685800" y="6291000"/>
            <a:ext cx="310680" cy="310680"/>
          </a:xfrm>
          <a:prstGeom prst="rect">
            <a:avLst/>
          </a:prstGeom>
          <a:ln w="0">
            <a:noFill/>
          </a:ln>
        </p:spPr>
      </p:pic>
      <p:pic>
        <p:nvPicPr>
          <p:cNvPr id="92" name="o27" descr="MODE COOP"/>
          <p:cNvPicPr/>
          <p:nvPr/>
        </p:nvPicPr>
        <p:blipFill>
          <a:blip r:embed="rIdCoop92"/>
          <a:stretch/>
        </p:blipFill>
        <p:spPr>
          <a:xfrm>
            <a:off x="5439420" y="4251960"/>
            <a:ext cx="1312200" cy="145800"/>
          </a:xfrm>
          <a:prstGeom prst="rect">
            <a:avLst/>
          </a:prstGeom>
          <a:ln w="0">
            <a:noFill/>
          </a:ln>
        </p:spPr>
      </p:pic>
      <p:pic>
        <p:nvPicPr>
          <p:cNvPr id="93" name="o28" descr="1 EQUIPE · 2 BASES"/>
          <p:cNvPicPr/>
          <p:nvPr/>
        </p:nvPicPr>
        <p:blipFill>
          <a:blip r:embed="rIdCoop93"/>
          <a:stretch/>
        </p:blipFill>
        <p:spPr>
          <a:xfrm>
            <a:off x="3959400" y="4553712"/>
            <a:ext cx="4272601" cy="237240"/>
          </a:xfrm>
          <a:prstGeom prst="rect">
            <a:avLst/>
          </a:prstGeom>
          <a:ln w="0">
            <a:noFill/>
          </a:ln>
        </p:spPr>
      </p:pic>
      <p:sp>
        <p:nvSpPr>
          <p:cNvPr id="138"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withEffect" fill="hold" presetClass="path">
                                  <p:stCondLst>
                                    <p:cond delay="0"/>
                                  </p:stCondLst>
                                  <p:childTnLst>
                                    <p:animMotion origin="layout" path="M 0 0 L 0.02252 0 E">
                                      <p:cBhvr>
                                        <p:cTn id="6" dur="900" fill="hold"/>
                                        <p:tgtEl>
                                          <p:spTgt spid="45"/>
                                        </p:tgtEl>
                                        <p:attrNameLst>
                                          <p:attrName>ppt_x</p:attrName>
                                          <p:attrName>ppt_y</p:attrName>
                                        </p:attrNameLst>
                                      </p:cBhvr>
                                    </p:animMotion>
                                  </p:childTnLst>
                                </p:cTn>
                              </p:par>
                              <p:par>
                                <p:cTn id="7" nodeType="withEffect" fill="hold" presetClass="path">
                                  <p:stCondLst>
                                    <p:cond delay="0"/>
                                  </p:stCondLst>
                                  <p:childTnLst>
                                    <p:animMotion origin="layout" path="M 0 0 L 0.02252 0 E">
                                      <p:cBhvr>
                                        <p:cTn id="8" dur="900" fill="hold"/>
                                        <p:tgtEl>
                                          <p:spTgt spid="46"/>
                                        </p:tgtEl>
                                        <p:attrNameLst>
                                          <p:attrName>ppt_x</p:attrName>
                                          <p:attrName>ppt_y</p:attrName>
                                        </p:attrNameLst>
                                      </p:cBhvr>
                                    </p:animMotion>
                                  </p:childTnLst>
                                </p:cTn>
                              </p:par>
                              <p:par>
                                <p:cTn id="9" nodeType="withEffect" fill="hold" presetClass="exit" presetID="1">
                                  <p:stCondLst>
                                    <p:cond delay="617"/>
                                  </p:stCondLst>
                                  <p:childTnLst>
                                    <p:set>
                                      <p:cBhvr>
                                        <p:cTn id="10" dur="1" fill="hold">
                                          <p:stCondLst>
                                            <p:cond delay="0"/>
                                          </p:stCondLst>
                                        </p:cTn>
                                        <p:tgtEl>
                                          <p:spTgt spid="47"/>
                                        </p:tgtEl>
                                        <p:attrNameLst>
                                          <p:attrName>style.visibility</p:attrName>
                                        </p:attrNameLst>
                                      </p:cBhvr>
                                      <p:to>
                                        <p:strVal val="hidden"/>
                                      </p:to>
                                    </p:set>
                                  </p:childTnLst>
                                </p:cTn>
                              </p:par>
                              <p:par>
                                <p:cTn id="11" nodeType="withEffect" fill="hold" presetClass="exit" presetID="1">
                                  <p:stCondLst>
                                    <p:cond delay="482"/>
                                  </p:stCondLst>
                                  <p:childTnLst>
                                    <p:set>
                                      <p:cBhvr>
                                        <p:cTn id="12" dur="1" fill="hold">
                                          <p:stCondLst>
                                            <p:cond delay="0"/>
                                          </p:stCondLst>
                                        </p:cTn>
                                        <p:tgtEl>
                                          <p:spTgt spid="17"/>
                                        </p:tgtEl>
                                        <p:attrNameLst>
                                          <p:attrName>style.visibility</p:attrName>
                                        </p:attrNameLst>
                                      </p:cBhvr>
                                      <p:to>
                                        <p:strVal val="hidden"/>
                                      </p:to>
                                    </p:set>
                                  </p:childTnLst>
                                </p:cTn>
                              </p:par>
                              <p:par>
                                <p:cTn id="13" nodeType="withEffect" fill="hold" presetClass="exit" presetID="1">
                                  <p:stCondLst>
                                    <p:cond delay="624"/>
                                  </p:stCondLst>
                                  <p:childTnLst>
                                    <p:set>
                                      <p:cBhvr>
                                        <p:cTn id="14" dur="1" fill="hold">
                                          <p:stCondLst>
                                            <p:cond delay="0"/>
                                          </p:stCondLst>
                                        </p:cTn>
                                        <p:tgtEl>
                                          <p:spTgt spid="18"/>
                                        </p:tgtEl>
                                        <p:attrNameLst>
                                          <p:attrName>style.visibility</p:attrName>
                                        </p:attrNameLst>
                                      </p:cBhvr>
                                      <p:to>
                                        <p:strVal val="hidden"/>
                                      </p:to>
                                    </p:set>
                                  </p:childTnLst>
                                </p:cTn>
                              </p:par>
                              <p:par>
                                <p:cTn id="15" nodeType="withEffect" fill="hold" presetClass="exit" presetID="1">
                                  <p:stCondLst>
                                    <p:cond delay="766"/>
                                  </p:stCondLst>
                                  <p:childTnLst>
                                    <p:set>
                                      <p:cBhvr>
                                        <p:cTn id="16" dur="1" fill="hold">
                                          <p:stCondLst>
                                            <p:cond delay="0"/>
                                          </p:stCondLst>
                                        </p:cTn>
                                        <p:tgtEl>
                                          <p:spTgt spid="19"/>
                                        </p:tgtEl>
                                        <p:attrNameLst>
                                          <p:attrName>style.visibility</p:attrName>
                                        </p:attrNameLst>
                                      </p:cBhvr>
                                      <p:to>
                                        <p:strVal val="hidden"/>
                                      </p:to>
                                    </p:set>
                                  </p:childTnLst>
                                </p:cTn>
                              </p:par>
                              <p:par>
                                <p:cTn id="17" nodeType="withEffect" fill="hold" presetClass="exit" presetID="1">
                                  <p:stCondLst>
                                    <p:cond delay="908"/>
                                  </p:stCondLst>
                                  <p:childTnLst>
                                    <p:set>
                                      <p:cBhvr>
                                        <p:cTn id="18" dur="1" fill="hold">
                                          <p:stCondLst>
                                            <p:cond delay="0"/>
                                          </p:stCondLst>
                                        </p:cTn>
                                        <p:tgtEl>
                                          <p:spTgt spid="20"/>
                                        </p:tgtEl>
                                        <p:attrNameLst>
                                          <p:attrName>style.visibility</p:attrName>
                                        </p:attrNameLst>
                                      </p:cBhvr>
                                      <p:to>
                                        <p:strVal val="hidden"/>
                                      </p:to>
                                    </p:set>
                                  </p:childTnLst>
                                </p:cTn>
                              </p:par>
                              <p:par>
                                <p:cTn id="19" nodeType="withEffect" fill="hold" presetClass="exit" presetID="1">
                                  <p:stCondLst>
                                    <p:cond delay="1050"/>
                                  </p:stCondLst>
                                  <p:childTnLst>
                                    <p:set>
                                      <p:cBhvr>
                                        <p:cTn id="20" dur="1" fill="hold">
                                          <p:stCondLst>
                                            <p:cond delay="0"/>
                                          </p:stCondLst>
                                        </p:cTn>
                                        <p:tgtEl>
                                          <p:spTgt spid="21"/>
                                        </p:tgtEl>
                                        <p:attrNameLst>
                                          <p:attrName>style.visibility</p:attrName>
                                        </p:attrNameLst>
                                      </p:cBhvr>
                                      <p:to>
                                        <p:strVal val="hidden"/>
                                      </p:to>
                                    </p:set>
                                  </p:childTnLst>
                                </p:cTn>
                              </p:par>
                              <p:par>
                                <p:cTn id="21" nodeType="withEffect" fill="hold" presetClass="exit" presetID="1">
                                  <p:stCondLst>
                                    <p:cond delay="1192"/>
                                  </p:stCondLst>
                                  <p:childTnLst>
                                    <p:set>
                                      <p:cBhvr>
                                        <p:cTn id="22" dur="1" fill="hold">
                                          <p:stCondLst>
                                            <p:cond delay="0"/>
                                          </p:stCondLst>
                                        </p:cTn>
                                        <p:tgtEl>
                                          <p:spTgt spid="22"/>
                                        </p:tgtEl>
                                        <p:attrNameLst>
                                          <p:attrName>style.visibility</p:attrName>
                                        </p:attrNameLst>
                                      </p:cBhvr>
                                      <p:to>
                                        <p:strVal val="hidden"/>
                                      </p:to>
                                    </p:set>
                                  </p:childTnLst>
                                </p:cTn>
                              </p:par>
                              <p:par>
                                <p:cTn id="23" nodeType="withEffect" fill="hold" presetClass="exit" presetID="1">
                                  <p:stCondLst>
                                    <p:cond delay="1334"/>
                                  </p:stCondLst>
                                  <p:childTnLst>
                                    <p:set>
                                      <p:cBhvr>
                                        <p:cTn id="24" dur="1" fill="hold">
                                          <p:stCondLst>
                                            <p:cond delay="0"/>
                                          </p:stCondLst>
                                        </p:cTn>
                                        <p:tgtEl>
                                          <p:spTgt spid="23"/>
                                        </p:tgtEl>
                                        <p:attrNameLst>
                                          <p:attrName>style.visibility</p:attrName>
                                        </p:attrNameLst>
                                      </p:cBhvr>
                                      <p:to>
                                        <p:strVal val="hidden"/>
                                      </p:to>
                                    </p:set>
                                  </p:childTnLst>
                                </p:cTn>
                              </p:par>
                              <p:par>
                                <p:cTn id="25" nodeType="withEffect" fill="hold" presetClass="exit" presetID="1">
                                  <p:stCondLst>
                                    <p:cond delay="1476"/>
                                  </p:stCondLst>
                                  <p:childTnLst>
                                    <p:set>
                                      <p:cBhvr>
                                        <p:cTn id="26" dur="1" fill="hold">
                                          <p:stCondLst>
                                            <p:cond delay="0"/>
                                          </p:stCondLst>
                                        </p:cTn>
                                        <p:tgtEl>
                                          <p:spTgt spid="24"/>
                                        </p:tgtEl>
                                        <p:attrNameLst>
                                          <p:attrName>style.visibility</p:attrName>
                                        </p:attrNameLst>
                                      </p:cBhvr>
                                      <p:to>
                                        <p:strVal val="hidden"/>
                                      </p:to>
                                    </p:set>
                                  </p:childTnLst>
                                </p:cTn>
                              </p:par>
                              <p:par>
                                <p:cTn id="27" nodeType="withEffect" fill="hold" presetClass="exit" presetID="1">
                                  <p:stCondLst>
                                    <p:cond delay="1618"/>
                                  </p:stCondLst>
                                  <p:childTnLst>
                                    <p:set>
                                      <p:cBhvr>
                                        <p:cTn id="28" dur="1" fill="hold">
                                          <p:stCondLst>
                                            <p:cond delay="0"/>
                                          </p:stCondLst>
                                        </p:cTn>
                                        <p:tgtEl>
                                          <p:spTgt spid="25"/>
                                        </p:tgtEl>
                                        <p:attrNameLst>
                                          <p:attrName>style.visibility</p:attrName>
                                        </p:attrNameLst>
                                      </p:cBhvr>
                                      <p:to>
                                        <p:strVal val="hidden"/>
                                      </p:to>
                                    </p:set>
                                  </p:childTnLst>
                                </p:cTn>
                              </p:par>
                              <p:par>
                                <p:cTn id="29" nodeType="withEffect" fill="hold" presetClass="exit" presetID="1">
                                  <p:stCondLst>
                                    <p:cond delay="1759"/>
                                  </p:stCondLst>
                                  <p:childTnLst>
                                    <p:set>
                                      <p:cBhvr>
                                        <p:cTn id="30" dur="1" fill="hold">
                                          <p:stCondLst>
                                            <p:cond delay="0"/>
                                          </p:stCondLst>
                                        </p:cTn>
                                        <p:tgtEl>
                                          <p:spTgt spid="26"/>
                                        </p:tgtEl>
                                        <p:attrNameLst>
                                          <p:attrName>style.visibility</p:attrName>
                                        </p:attrNameLst>
                                      </p:cBhvr>
                                      <p:to>
                                        <p:strVal val="hidden"/>
                                      </p:to>
                                    </p:set>
                                  </p:childTnLst>
                                </p:cTn>
                              </p:par>
                              <p:par>
                                <p:cTn id="31" nodeType="withEffect" fill="hold" presetClass="exit" presetID="1">
                                  <p:stCondLst>
                                    <p:cond delay="1901"/>
                                  </p:stCondLst>
                                  <p:childTnLst>
                                    <p:set>
                                      <p:cBhvr>
                                        <p:cTn id="32" dur="1" fill="hold">
                                          <p:stCondLst>
                                            <p:cond delay="0"/>
                                          </p:stCondLst>
                                        </p:cTn>
                                        <p:tgtEl>
                                          <p:spTgt spid="27"/>
                                        </p:tgtEl>
                                        <p:attrNameLst>
                                          <p:attrName>style.visibility</p:attrName>
                                        </p:attrNameLst>
                                      </p:cBhvr>
                                      <p:to>
                                        <p:strVal val="hidden"/>
                                      </p:to>
                                    </p:set>
                                  </p:childTnLst>
                                </p:cTn>
                              </p:par>
                              <p:par>
                                <p:cTn id="33" nodeType="withEffect" fill="hold" presetClass="exit" presetID="1">
                                  <p:stCondLst>
                                    <p:cond delay="2043"/>
                                  </p:stCondLst>
                                  <p:childTnLst>
                                    <p:set>
                                      <p:cBhvr>
                                        <p:cTn id="34" dur="1" fill="hold">
                                          <p:stCondLst>
                                            <p:cond delay="0"/>
                                          </p:stCondLst>
                                        </p:cTn>
                                        <p:tgtEl>
                                          <p:spTgt spid="28"/>
                                        </p:tgtEl>
                                        <p:attrNameLst>
                                          <p:attrName>style.visibility</p:attrName>
                                        </p:attrNameLst>
                                      </p:cBhvr>
                                      <p:to>
                                        <p:strVal val="hidden"/>
                                      </p:to>
                                    </p:set>
                                  </p:childTnLst>
                                </p:cTn>
                              </p:par>
                              <p:par>
                                <p:cTn id="35" nodeType="withEffect" fill="hold" presetClass="exit" presetID="1">
                                  <p:stCondLst>
                                    <p:cond delay="2185"/>
                                  </p:stCondLst>
                                  <p:childTnLst>
                                    <p:set>
                                      <p:cBhvr>
                                        <p:cTn id="36" dur="1" fill="hold">
                                          <p:stCondLst>
                                            <p:cond delay="0"/>
                                          </p:stCondLst>
                                        </p:cTn>
                                        <p:tgtEl>
                                          <p:spTgt spid="29"/>
                                        </p:tgtEl>
                                        <p:attrNameLst>
                                          <p:attrName>style.visibility</p:attrName>
                                        </p:attrNameLst>
                                      </p:cBhvr>
                                      <p:to>
                                        <p:strVal val="hidden"/>
                                      </p:to>
                                    </p:set>
                                  </p:childTnLst>
                                </p:cTn>
                              </p:par>
                              <p:par>
                                <p:cTn id="37" nodeType="withEffect" fill="hold" presetClass="exit" presetID="1">
                                  <p:stCondLst>
                                    <p:cond delay="2327"/>
                                  </p:stCondLst>
                                  <p:childTnLst>
                                    <p:set>
                                      <p:cBhvr>
                                        <p:cTn id="38" dur="1" fill="hold">
                                          <p:stCondLst>
                                            <p:cond delay="0"/>
                                          </p:stCondLst>
                                        </p:cTn>
                                        <p:tgtEl>
                                          <p:spTgt spid="30"/>
                                        </p:tgtEl>
                                        <p:attrNameLst>
                                          <p:attrName>style.visibility</p:attrName>
                                        </p:attrNameLst>
                                      </p:cBhvr>
                                      <p:to>
                                        <p:strVal val="hidden"/>
                                      </p:to>
                                    </p:set>
                                  </p:childTnLst>
                                </p:cTn>
                              </p:par>
                              <p:par>
                                <p:cTn id="39" nodeType="withEffect" fill="hold" presetClass="exit" presetID="1">
                                  <p:stCondLst>
                                    <p:cond delay="2469"/>
                                  </p:stCondLst>
                                  <p:childTnLst>
                                    <p:set>
                                      <p:cBhvr>
                                        <p:cTn id="40" dur="1" fill="hold">
                                          <p:stCondLst>
                                            <p:cond delay="0"/>
                                          </p:stCondLst>
                                        </p:cTn>
                                        <p:tgtEl>
                                          <p:spTgt spid="31"/>
                                        </p:tgtEl>
                                        <p:attrNameLst>
                                          <p:attrName>style.visibility</p:attrName>
                                        </p:attrNameLst>
                                      </p:cBhvr>
                                      <p:to>
                                        <p:strVal val="hidden"/>
                                      </p:to>
                                    </p:set>
                                  </p:childTnLst>
                                </p:cTn>
                              </p:par>
                              <p:par>
                                <p:cTn id="41" nodeType="withEffect" fill="hold" presetClass="exit" presetID="1">
                                  <p:stCondLst>
                                    <p:cond delay="2611"/>
                                  </p:stCondLst>
                                  <p:childTnLst>
                                    <p:set>
                                      <p:cBhvr>
                                        <p:cTn id="42" dur="1" fill="hold">
                                          <p:stCondLst>
                                            <p:cond delay="0"/>
                                          </p:stCondLst>
                                        </p:cTn>
                                        <p:tgtEl>
                                          <p:spTgt spid="32"/>
                                        </p:tgtEl>
                                        <p:attrNameLst>
                                          <p:attrName>style.visibility</p:attrName>
                                        </p:attrNameLst>
                                      </p:cBhvr>
                                      <p:to>
                                        <p:strVal val="hidden"/>
                                      </p:to>
                                    </p:set>
                                  </p:childTnLst>
                                </p:cTn>
                              </p:par>
                              <p:par>
                                <p:cTn id="43" nodeType="withEffect" fill="hold" presetClass="exit" presetID="1">
                                  <p:stCondLst>
                                    <p:cond delay="2753"/>
                                  </p:stCondLst>
                                  <p:childTnLst>
                                    <p:set>
                                      <p:cBhvr>
                                        <p:cTn id="44" dur="1" fill="hold">
                                          <p:stCondLst>
                                            <p:cond delay="0"/>
                                          </p:stCondLst>
                                        </p:cTn>
                                        <p:tgtEl>
                                          <p:spTgt spid="33"/>
                                        </p:tgtEl>
                                        <p:attrNameLst>
                                          <p:attrName>style.visibility</p:attrName>
                                        </p:attrNameLst>
                                      </p:cBhvr>
                                      <p:to>
                                        <p:strVal val="hidden"/>
                                      </p:to>
                                    </p:set>
                                  </p:childTnLst>
                                </p:cTn>
                              </p:par>
                              <p:par>
                                <p:cTn id="45" nodeType="withEffect" fill="hold" presetClass="exit" presetID="1">
                                  <p:stCondLst>
                                    <p:cond delay="2895"/>
                                  </p:stCondLst>
                                  <p:childTnLst>
                                    <p:set>
                                      <p:cBhvr>
                                        <p:cTn id="46" dur="1" fill="hold">
                                          <p:stCondLst>
                                            <p:cond delay="0"/>
                                          </p:stCondLst>
                                        </p:cTn>
                                        <p:tgtEl>
                                          <p:spTgt spid="34"/>
                                        </p:tgtEl>
                                        <p:attrNameLst>
                                          <p:attrName>style.visibility</p:attrName>
                                        </p:attrNameLst>
                                      </p:cBhvr>
                                      <p:to>
                                        <p:strVal val="hidden"/>
                                      </p:to>
                                    </p:set>
                                  </p:childTnLst>
                                </p:cTn>
                              </p:par>
                              <p:par>
                                <p:cTn id="47" nodeType="withEffect" fill="hold" presetClass="exit" presetID="1">
                                  <p:stCondLst>
                                    <p:cond delay="3036"/>
                                  </p:stCondLst>
                                  <p:childTnLst>
                                    <p:set>
                                      <p:cBhvr>
                                        <p:cTn id="48" dur="1" fill="hold">
                                          <p:stCondLst>
                                            <p:cond delay="0"/>
                                          </p:stCondLst>
                                        </p:cTn>
                                        <p:tgtEl>
                                          <p:spTgt spid="35"/>
                                        </p:tgtEl>
                                        <p:attrNameLst>
                                          <p:attrName>style.visibility</p:attrName>
                                        </p:attrNameLst>
                                      </p:cBhvr>
                                      <p:to>
                                        <p:strVal val="hidden"/>
                                      </p:to>
                                    </p:set>
                                  </p:childTnLst>
                                </p:cTn>
                              </p:par>
                              <p:par>
                                <p:cTn id="49" nodeType="withEffect" fill="hold" presetClass="exit" presetID="1">
                                  <p:stCondLst>
                                    <p:cond delay="3178"/>
                                  </p:stCondLst>
                                  <p:childTnLst>
                                    <p:set>
                                      <p:cBhvr>
                                        <p:cTn id="50" dur="1" fill="hold">
                                          <p:stCondLst>
                                            <p:cond delay="0"/>
                                          </p:stCondLst>
                                        </p:cTn>
                                        <p:tgtEl>
                                          <p:spTgt spid="36"/>
                                        </p:tgtEl>
                                        <p:attrNameLst>
                                          <p:attrName>style.visibility</p:attrName>
                                        </p:attrNameLst>
                                      </p:cBhvr>
                                      <p:to>
                                        <p:strVal val="hidden"/>
                                      </p:to>
                                    </p:set>
                                  </p:childTnLst>
                                </p:cTn>
                              </p:par>
                              <p:par>
                                <p:cTn id="51" nodeType="withEffect" fill="hold" presetClass="path">
                                  <p:stCondLst>
                                    <p:cond delay="300"/>
                                  </p:stCondLst>
                                  <p:childTnLst>
                                    <p:animMotion origin="layout" path="M 0 0 L 0.55501 0 E">
                                      <p:cBhvr>
                                        <p:cTn id="52" dur="3000" fill="hold"/>
                                        <p:tgtEl>
                                          <p:spTgt spid="37"/>
                                        </p:tgtEl>
                                        <p:attrNameLst>
                                          <p:attrName>ppt_x</p:attrName>
                                          <p:attrName>ppt_y</p:attrName>
                                        </p:attrNameLst>
                                      </p:cBhvr>
                                    </p:animMotion>
                                  </p:childTnLst>
                                </p:cTn>
                              </p:par>
                              <p:par>
                                <p:cTn id="53" nodeType="withEffect" fill="hold" presetClass="path">
                                  <p:stCondLst>
                                    <p:cond delay="300"/>
                                  </p:stCondLst>
                                  <p:childTnLst>
                                    <p:animMotion origin="layout" path="M 0 0 L 0.55501 0 E">
                                      <p:cBhvr>
                                        <p:cTn id="54" dur="3000" fill="hold"/>
                                        <p:tgtEl>
                                          <p:spTgt spid="38"/>
                                        </p:tgtEl>
                                        <p:attrNameLst>
                                          <p:attrName>ppt_x</p:attrName>
                                          <p:attrName>ppt_y</p:attrName>
                                        </p:attrNameLst>
                                      </p:cBhvr>
                                    </p:animMotion>
                                  </p:childTnLst>
                                </p:cTn>
                              </p:par>
                              <p:par>
                                <p:cTn id="55" nodeType="withEffect" fill="hold" presetClass="path">
                                  <p:stCondLst>
                                    <p:cond delay="300"/>
                                  </p:stCondLst>
                                  <p:childTnLst>
                                    <p:animMotion origin="layout" path="M 0 0 L 0.55501 0 E">
                                      <p:cBhvr>
                                        <p:cTn id="56" dur="3000" fill="hold"/>
                                        <p:tgtEl>
                                          <p:spTgt spid="39"/>
                                        </p:tgtEl>
                                        <p:attrNameLst>
                                          <p:attrName>ppt_x</p:attrName>
                                          <p:attrName>ppt_y</p:attrName>
                                        </p:attrNameLst>
                                      </p:cBhvr>
                                    </p:animMotion>
                                  </p:childTnLst>
                                </p:cTn>
                              </p:par>
                              <p:par>
                                <p:cTn id="57" nodeType="withEffect" fill="hold" presetClass="path">
                                  <p:stCondLst>
                                    <p:cond delay="300"/>
                                  </p:stCondLst>
                                  <p:childTnLst>
                                    <p:animMotion origin="layout" path="M 0 0 L 0.55501 0 E">
                                      <p:cBhvr>
                                        <p:cTn id="58" dur="3000" fill="hold"/>
                                        <p:tgtEl>
                                          <p:spTgt spid="40"/>
                                        </p:tgtEl>
                                        <p:attrNameLst>
                                          <p:attrName>ppt_x</p:attrName>
                                          <p:attrName>ppt_y</p:attrName>
                                        </p:attrNameLst>
                                      </p:cBhvr>
                                    </p:animMotion>
                                  </p:childTnLst>
                                </p:cTn>
                              </p:par>
                              <p:par>
                                <p:cTn id="59" nodeType="withEffect" fill="hold" presetClass="path">
                                  <p:stCondLst>
                                    <p:cond delay="300"/>
                                  </p:stCondLst>
                                  <p:childTnLst>
                                    <p:animMotion origin="layout" path="M 0 0 L 0.55501 0 E">
                                      <p:cBhvr>
                                        <p:cTn id="60" dur="3000" fill="hold"/>
                                        <p:tgtEl>
                                          <p:spTgt spid="41"/>
                                        </p:tgtEl>
                                        <p:attrNameLst>
                                          <p:attrName>ppt_x</p:attrName>
                                          <p:attrName>ppt_y</p:attrName>
                                        </p:attrNameLst>
                                      </p:cBhvr>
                                    </p:animMotion>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92" name="o1" descr="MENU → CHOISIS TON NIVEAU"/>
          <p:cNvPicPr/>
          <p:nvPr/>
        </p:nvPicPr>
        <p:blipFill>
          <a:blip r:embed="rId1"/>
          <a:stretch/>
        </p:blipFill>
        <p:spPr>
          <a:xfrm>
            <a:off x="548640" y="411480"/>
            <a:ext cx="3657240" cy="145800"/>
          </a:xfrm>
          <a:prstGeom prst="rect">
            <a:avLst/>
          </a:prstGeom>
          <a:ln w="0">
            <a:noFill/>
          </a:ln>
        </p:spPr>
      </p:pic>
      <p:pic>
        <p:nvPicPr>
          <p:cNvPr id="93" name="o2" descr="Notre parcours"/>
          <p:cNvPicPr/>
          <p:nvPr/>
        </p:nvPicPr>
        <p:blipFill>
          <a:blip r:embed="rId2"/>
          <a:stretch/>
        </p:blipFill>
        <p:spPr>
          <a:xfrm>
            <a:off x="548640" y="777240"/>
            <a:ext cx="3835440" cy="273960"/>
          </a:xfrm>
          <a:prstGeom prst="rect">
            <a:avLst/>
          </a:prstGeom>
          <a:ln w="0">
            <a:noFill/>
          </a:ln>
        </p:spPr>
      </p:pic>
      <p:pic>
        <p:nvPicPr>
          <p:cNvPr id="94" name="o48" descr="super pac-gomme"/>
          <p:cNvPicPr/>
          <p:nvPr/>
        </p:nvPicPr>
        <p:blipFill>
          <a:blip r:embed="rId3"/>
          <a:stretch/>
        </p:blipFill>
        <p:spPr>
          <a:xfrm>
            <a:off x="11448360" y="6355080"/>
            <a:ext cx="182520" cy="182520"/>
          </a:xfrm>
          <a:prstGeom prst="rect">
            <a:avLst/>
          </a:prstGeom>
          <a:ln w="0">
            <a:noFill/>
          </a:ln>
        </p:spPr>
      </p:pic>
      <p:sp>
        <p:nvSpPr>
          <p:cNvPr id="95" name="o51"/>
          <p:cNvSpPr/>
          <p:nvPr/>
        </p:nvSpPr>
        <p:spPr>
          <a:xfrm>
            <a:off x="548640" y="1691640"/>
            <a:ext cx="2067336" cy="2925720"/>
          </a:xfrm>
          <a:prstGeom prst="roundRect">
            <a:avLst>
              <a:gd name="adj" fmla="val 7568"/>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6" name="o52"/>
          <p:cNvSpPr/>
          <p:nvPr/>
        </p:nvSpPr>
        <p:spPr>
          <a:xfrm>
            <a:off x="617400" y="1760400"/>
            <a:ext cx="1930176" cy="2788560"/>
          </a:xfrm>
          <a:prstGeom prst="roundRect">
            <a:avLst>
              <a:gd name="adj" fmla="val 3824"/>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7" name="o53" descr="LEVEL 1"/>
          <p:cNvPicPr/>
          <p:nvPr/>
        </p:nvPicPr>
        <p:blipFill>
          <a:blip r:embed="rId4"/>
          <a:stretch/>
        </p:blipFill>
        <p:spPr>
          <a:xfrm>
            <a:off x="1134468" y="1965960"/>
            <a:ext cx="895680" cy="127800"/>
          </a:xfrm>
          <a:prstGeom prst="rect">
            <a:avLst/>
          </a:prstGeom>
          <a:ln w="0">
            <a:noFill/>
          </a:ln>
        </p:spPr>
      </p:pic>
      <p:pic>
        <p:nvPicPr>
          <p:cNvPr id="98" name="o54" descr="cherry"/>
          <p:cNvPicPr/>
          <p:nvPr/>
        </p:nvPicPr>
        <p:blipFill>
          <a:blip r:embed="rId5"/>
          <a:stretch/>
        </p:blipFill>
        <p:spPr>
          <a:xfrm>
            <a:off x="1198548" y="2350080"/>
            <a:ext cx="767880" cy="767880"/>
          </a:xfrm>
          <a:prstGeom prst="rect">
            <a:avLst/>
          </a:prstGeom>
          <a:ln w="0">
            <a:noFill/>
          </a:ln>
        </p:spPr>
      </p:pic>
      <p:pic>
        <p:nvPicPr>
          <p:cNvPr id="99" name="o55" descr="MISSION"/>
          <p:cNvPicPr/>
          <p:nvPr/>
        </p:nvPicPr>
        <p:blipFill>
          <a:blip r:embed="rId6"/>
          <a:stretch/>
        </p:blipFill>
        <p:spPr>
          <a:xfrm>
            <a:off x="1070388" y="3383280"/>
            <a:ext cx="1023840" cy="145800"/>
          </a:xfrm>
          <a:prstGeom prst="rect">
            <a:avLst/>
          </a:prstGeom>
          <a:ln w="0">
            <a:noFill/>
          </a:ln>
        </p:spPr>
      </p:pic>
      <p:sp>
        <p:nvSpPr>
          <p:cNvPr id="100" name="o56"/>
          <p:cNvSpPr/>
          <p:nvPr/>
        </p:nvSpPr>
        <p:spPr>
          <a:xfrm>
            <a:off x="658440" y="3794760"/>
            <a:ext cx="1847736" cy="5482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Le contexte</a:t>
            </a:r>
            <a:endParaRPr b="0" lang="en-US" sz="1300" spc="-1" strike="noStrike">
              <a:solidFill>
                <a:srgbClr val="ffffff"/>
              </a:solidFill>
              <a:latin typeface="Arial"/>
            </a:endParaRPr>
          </a:p>
        </p:txBody>
      </p:sp>
      <p:sp>
        <p:nvSpPr>
          <p:cNvPr id="101" name="o57"/>
          <p:cNvSpPr/>
          <p:nvPr/>
        </p:nvSpPr>
        <p:spPr>
          <a:xfrm>
            <a:off x="2805336" y="1691640"/>
            <a:ext cx="2067336" cy="2925720"/>
          </a:xfrm>
          <a:prstGeom prst="roundRect">
            <a:avLst>
              <a:gd name="adj" fmla="val 7568"/>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2" name="o58"/>
          <p:cNvSpPr/>
          <p:nvPr/>
        </p:nvSpPr>
        <p:spPr>
          <a:xfrm>
            <a:off x="2873736" y="1760400"/>
            <a:ext cx="1930176" cy="2788560"/>
          </a:xfrm>
          <a:prstGeom prst="roundRect">
            <a:avLst>
              <a:gd name="adj" fmla="val 3824"/>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03" name="o59" descr="LEVEL 2"/>
          <p:cNvPicPr/>
          <p:nvPr/>
        </p:nvPicPr>
        <p:blipFill>
          <a:blip r:embed="rId7"/>
          <a:stretch/>
        </p:blipFill>
        <p:spPr>
          <a:xfrm>
            <a:off x="3391164" y="1965960"/>
            <a:ext cx="895680" cy="127800"/>
          </a:xfrm>
          <a:prstGeom prst="rect">
            <a:avLst/>
          </a:prstGeom>
          <a:ln w="0">
            <a:noFill/>
          </a:ln>
        </p:spPr>
      </p:pic>
      <p:pic>
        <p:nvPicPr>
          <p:cNvPr id="104" name="o60" descr="strawberry"/>
          <p:cNvPicPr/>
          <p:nvPr/>
        </p:nvPicPr>
        <p:blipFill>
          <a:blip r:embed="rId8"/>
          <a:stretch/>
        </p:blipFill>
        <p:spPr>
          <a:xfrm>
            <a:off x="3454884" y="2350080"/>
            <a:ext cx="767880" cy="767880"/>
          </a:xfrm>
          <a:prstGeom prst="rect">
            <a:avLst/>
          </a:prstGeom>
          <a:ln w="0">
            <a:noFill/>
          </a:ln>
        </p:spPr>
      </p:pic>
      <p:pic>
        <p:nvPicPr>
          <p:cNvPr id="105" name="o61" descr="PIPELINE"/>
          <p:cNvPicPr/>
          <p:nvPr/>
        </p:nvPicPr>
        <p:blipFill>
          <a:blip r:embed="rId9"/>
          <a:stretch/>
        </p:blipFill>
        <p:spPr>
          <a:xfrm>
            <a:off x="3254004" y="3383280"/>
            <a:ext cx="1170000" cy="145800"/>
          </a:xfrm>
          <a:prstGeom prst="rect">
            <a:avLst/>
          </a:prstGeom>
          <a:ln w="0">
            <a:noFill/>
          </a:ln>
        </p:spPr>
      </p:pic>
      <p:sp>
        <p:nvSpPr>
          <p:cNvPr id="106" name="o62"/>
          <p:cNvSpPr/>
          <p:nvPr/>
        </p:nvSpPr>
        <p:spPr>
          <a:xfrm>
            <a:off x="2915136" y="3794760"/>
            <a:ext cx="1847736" cy="5482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Du CSV à l'appli</a:t>
            </a:r>
            <a:endParaRPr b="0" lang="en-US" sz="1300" spc="-1" strike="noStrike">
              <a:solidFill>
                <a:srgbClr val="ffffff"/>
              </a:solidFill>
              <a:latin typeface="Arial"/>
            </a:endParaRPr>
          </a:p>
        </p:txBody>
      </p:sp>
      <p:sp>
        <p:nvSpPr>
          <p:cNvPr id="107" name="o63"/>
          <p:cNvSpPr/>
          <p:nvPr/>
        </p:nvSpPr>
        <p:spPr>
          <a:xfrm>
            <a:off x="5062032" y="1691640"/>
            <a:ext cx="2067336" cy="2925720"/>
          </a:xfrm>
          <a:prstGeom prst="roundRect">
            <a:avLst>
              <a:gd name="adj" fmla="val 7568"/>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o64"/>
          <p:cNvSpPr/>
          <p:nvPr/>
        </p:nvSpPr>
        <p:spPr>
          <a:xfrm>
            <a:off x="5130432" y="1760400"/>
            <a:ext cx="1930176" cy="2788560"/>
          </a:xfrm>
          <a:prstGeom prst="roundRect">
            <a:avLst>
              <a:gd name="adj" fmla="val 3824"/>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09" name="o65" descr="LEVEL 3"/>
          <p:cNvPicPr/>
          <p:nvPr/>
        </p:nvPicPr>
        <p:blipFill>
          <a:blip r:embed="rId10"/>
          <a:stretch/>
        </p:blipFill>
        <p:spPr>
          <a:xfrm>
            <a:off x="5647500" y="1965960"/>
            <a:ext cx="895680" cy="127800"/>
          </a:xfrm>
          <a:prstGeom prst="rect">
            <a:avLst/>
          </a:prstGeom>
          <a:ln w="0">
            <a:noFill/>
          </a:ln>
        </p:spPr>
      </p:pic>
      <p:pic>
        <p:nvPicPr>
          <p:cNvPr id="110" name="o66" descr="orange"/>
          <p:cNvPicPr/>
          <p:nvPr/>
        </p:nvPicPr>
        <p:blipFill>
          <a:blip r:embed="rId11"/>
          <a:stretch/>
        </p:blipFill>
        <p:spPr>
          <a:xfrm>
            <a:off x="5711580" y="2350080"/>
            <a:ext cx="767880" cy="767880"/>
          </a:xfrm>
          <a:prstGeom prst="rect">
            <a:avLst/>
          </a:prstGeom>
          <a:ln w="0">
            <a:noFill/>
          </a:ln>
        </p:spPr>
      </p:pic>
      <p:pic>
        <p:nvPicPr>
          <p:cNvPr id="111" name="o67" descr="NETTOYAGE"/>
          <p:cNvPicPr/>
          <p:nvPr/>
        </p:nvPicPr>
        <p:blipFill>
          <a:blip r:embed="rId12"/>
          <a:stretch/>
        </p:blipFill>
        <p:spPr>
          <a:xfrm>
            <a:off x="5437260" y="3383280"/>
            <a:ext cx="1316520" cy="145800"/>
          </a:xfrm>
          <a:prstGeom prst="rect">
            <a:avLst/>
          </a:prstGeom>
          <a:ln w="0">
            <a:noFill/>
          </a:ln>
        </p:spPr>
      </p:pic>
      <p:sp>
        <p:nvSpPr>
          <p:cNvPr id="112" name="o68"/>
          <p:cNvSpPr/>
          <p:nvPr/>
        </p:nvSpPr>
        <p:spPr>
          <a:xfrm>
            <a:off x="5171472" y="3794760"/>
            <a:ext cx="1847736" cy="5482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4 fantômes à manger</a:t>
            </a:r>
            <a:endParaRPr b="0" lang="en-US" sz="1300" spc="-1" strike="noStrike">
              <a:solidFill>
                <a:srgbClr val="ffffff"/>
              </a:solidFill>
              <a:latin typeface="Arial"/>
            </a:endParaRPr>
          </a:p>
        </p:txBody>
      </p:sp>
      <p:sp>
        <p:nvSpPr>
          <p:cNvPr id="113" name="o69"/>
          <p:cNvSpPr/>
          <p:nvPr/>
        </p:nvSpPr>
        <p:spPr>
          <a:xfrm>
            <a:off x="7318728" y="1691640"/>
            <a:ext cx="2067336" cy="2925720"/>
          </a:xfrm>
          <a:prstGeom prst="roundRect">
            <a:avLst>
              <a:gd name="adj" fmla="val 7568"/>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o70"/>
          <p:cNvSpPr/>
          <p:nvPr/>
        </p:nvSpPr>
        <p:spPr>
          <a:xfrm>
            <a:off x="7387488" y="1760400"/>
            <a:ext cx="1930176" cy="2788560"/>
          </a:xfrm>
          <a:prstGeom prst="roundRect">
            <a:avLst>
              <a:gd name="adj" fmla="val 3824"/>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15" name="o71" descr="LEVEL 4"/>
          <p:cNvPicPr/>
          <p:nvPr/>
        </p:nvPicPr>
        <p:blipFill>
          <a:blip r:embed="rId13"/>
          <a:stretch/>
        </p:blipFill>
        <p:spPr>
          <a:xfrm>
            <a:off x="7904556" y="1965960"/>
            <a:ext cx="895680" cy="127800"/>
          </a:xfrm>
          <a:prstGeom prst="rect">
            <a:avLst/>
          </a:prstGeom>
          <a:ln w="0">
            <a:noFill/>
          </a:ln>
        </p:spPr>
      </p:pic>
      <p:pic>
        <p:nvPicPr>
          <p:cNvPr id="116" name="o72" descr="apple"/>
          <p:cNvPicPr/>
          <p:nvPr/>
        </p:nvPicPr>
        <p:blipFill>
          <a:blip r:embed="rId14"/>
          <a:stretch/>
        </p:blipFill>
        <p:spPr>
          <a:xfrm>
            <a:off x="7968636" y="2350080"/>
            <a:ext cx="767880" cy="767880"/>
          </a:xfrm>
          <a:prstGeom prst="rect">
            <a:avLst/>
          </a:prstGeom>
          <a:ln w="0">
            <a:noFill/>
          </a:ln>
        </p:spPr>
      </p:pic>
      <p:pic>
        <p:nvPicPr>
          <p:cNvPr id="117" name="o73" descr="INSIGHTS"/>
          <p:cNvPicPr/>
          <p:nvPr/>
        </p:nvPicPr>
        <p:blipFill>
          <a:blip r:embed="rId15"/>
          <a:stretch/>
        </p:blipFill>
        <p:spPr>
          <a:xfrm>
            <a:off x="7767396" y="3383280"/>
            <a:ext cx="1170000" cy="145800"/>
          </a:xfrm>
          <a:prstGeom prst="rect">
            <a:avLst/>
          </a:prstGeom>
          <a:ln w="0">
            <a:noFill/>
          </a:ln>
        </p:spPr>
      </p:pic>
      <p:sp>
        <p:nvSpPr>
          <p:cNvPr id="118" name="o74"/>
          <p:cNvSpPr/>
          <p:nvPr/>
        </p:nvSpPr>
        <p:spPr>
          <a:xfrm>
            <a:off x="7428528" y="3794760"/>
            <a:ext cx="1847736" cy="5482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4 découvertes</a:t>
            </a:r>
            <a:endParaRPr b="0" lang="en-US" sz="1300" spc="-1" strike="noStrike">
              <a:solidFill>
                <a:srgbClr val="ffffff"/>
              </a:solidFill>
              <a:latin typeface="Arial"/>
            </a:endParaRPr>
          </a:p>
        </p:txBody>
      </p:sp>
      <p:sp>
        <p:nvSpPr>
          <p:cNvPr id="119" name="o75"/>
          <p:cNvSpPr/>
          <p:nvPr/>
        </p:nvSpPr>
        <p:spPr>
          <a:xfrm>
            <a:off x="9575424" y="1691640"/>
            <a:ext cx="2067336" cy="2925720"/>
          </a:xfrm>
          <a:prstGeom prst="roundRect">
            <a:avLst>
              <a:gd name="adj" fmla="val 7568"/>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o76"/>
          <p:cNvSpPr/>
          <p:nvPr/>
        </p:nvSpPr>
        <p:spPr>
          <a:xfrm>
            <a:off x="9644184" y="1760400"/>
            <a:ext cx="1930176" cy="2788560"/>
          </a:xfrm>
          <a:prstGeom prst="roundRect">
            <a:avLst>
              <a:gd name="adj" fmla="val 3824"/>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21" name="o77" descr="LEVEL 5"/>
          <p:cNvPicPr/>
          <p:nvPr/>
        </p:nvPicPr>
        <p:blipFill>
          <a:blip r:embed="rId16"/>
          <a:stretch/>
        </p:blipFill>
        <p:spPr>
          <a:xfrm>
            <a:off x="10161252" y="1965960"/>
            <a:ext cx="895680" cy="127800"/>
          </a:xfrm>
          <a:prstGeom prst="rect">
            <a:avLst/>
          </a:prstGeom>
          <a:ln w="0">
            <a:noFill/>
          </a:ln>
        </p:spPr>
      </p:pic>
      <p:pic>
        <p:nvPicPr>
          <p:cNvPr id="122" name="o78" descr="melon"/>
          <p:cNvPicPr/>
          <p:nvPr/>
        </p:nvPicPr>
        <p:blipFill>
          <a:blip r:embed="rId17"/>
          <a:stretch/>
        </p:blipFill>
        <p:spPr>
          <a:xfrm>
            <a:off x="10225332" y="2350080"/>
            <a:ext cx="767880" cy="767880"/>
          </a:xfrm>
          <a:prstGeom prst="rect">
            <a:avLst/>
          </a:prstGeom>
          <a:ln w="0">
            <a:noFill/>
          </a:ln>
        </p:spPr>
      </p:pic>
      <p:pic>
        <p:nvPicPr>
          <p:cNvPr id="123" name="o79" descr="BOSS"/>
          <p:cNvPicPr/>
          <p:nvPr/>
        </p:nvPicPr>
        <p:blipFill>
          <a:blip r:embed="rId18"/>
          <a:stretch/>
        </p:blipFill>
        <p:spPr>
          <a:xfrm>
            <a:off x="10316772" y="3383280"/>
            <a:ext cx="585000" cy="145800"/>
          </a:xfrm>
          <a:prstGeom prst="rect">
            <a:avLst/>
          </a:prstGeom>
          <a:ln w="0">
            <a:noFill/>
          </a:ln>
        </p:spPr>
      </p:pic>
      <p:sp>
        <p:nvSpPr>
          <p:cNvPr id="124" name="o80"/>
          <p:cNvSpPr/>
          <p:nvPr/>
        </p:nvSpPr>
        <p:spPr>
          <a:xfrm>
            <a:off x="9685224" y="3794760"/>
            <a:ext cx="1847736" cy="5482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Market Power Index</a:t>
            </a:r>
            <a:endParaRPr b="0" lang="en-US" sz="1300" spc="-1" strike="noStrike">
              <a:solidFill>
                <a:srgbClr val="ffffff"/>
              </a:solidFill>
              <a:latin typeface="Arial"/>
            </a:endParaRPr>
          </a:p>
        </p:txBody>
      </p:sp>
      <p:sp>
        <p:nvSpPr>
          <p:cNvPr id="131" name="o87"/>
          <p:cNvSpPr/>
          <p:nvPr/>
        </p:nvSpPr>
        <p:spPr>
          <a:xfrm>
            <a:off x="548640" y="4983480"/>
            <a:ext cx="11094120" cy="776880"/>
          </a:xfrm>
          <a:prstGeom prst="roundRect">
            <a:avLst>
              <a:gd name="adj" fmla="val 11765"/>
            </a:avLst>
          </a:prstGeom>
          <a:solidFill>
            <a:srgbClr val="000000"/>
          </a:solidFill>
          <a:ln w="28575">
            <a:solidFill>
              <a:srgbClr val="ffb8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 name="o88"/>
          <p:cNvSpPr/>
          <p:nvPr/>
        </p:nvSpPr>
        <p:spPr>
          <a:xfrm>
            <a:off x="617400" y="5052240"/>
            <a:ext cx="10956960" cy="639720"/>
          </a:xfrm>
          <a:prstGeom prst="roundRect">
            <a:avLst>
              <a:gd name="adj" fmla="val 3571"/>
            </a:avLst>
          </a:prstGeom>
          <a:noFill/>
          <a:ln w="12700">
            <a:solidFill>
              <a:srgbClr val="ffb8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33" name="o89" descr="clé"/>
          <p:cNvPicPr/>
          <p:nvPr/>
        </p:nvPicPr>
        <p:blipFill>
          <a:blip r:embed="rId22"/>
          <a:stretch/>
        </p:blipFill>
        <p:spPr>
          <a:xfrm>
            <a:off x="822960" y="5120640"/>
            <a:ext cx="502560" cy="502560"/>
          </a:xfrm>
          <a:prstGeom prst="rect">
            <a:avLst/>
          </a:prstGeom>
          <a:ln w="0">
            <a:noFill/>
          </a:ln>
        </p:spPr>
      </p:pic>
      <p:pic>
        <p:nvPicPr>
          <p:cNvPr id="134" name="o90" descr="BONUS"/>
          <p:cNvPicPr/>
          <p:nvPr/>
        </p:nvPicPr>
        <p:blipFill>
          <a:blip r:embed="rId23"/>
          <a:stretch/>
        </p:blipFill>
        <p:spPr>
          <a:xfrm>
            <a:off x="1554480" y="5276160"/>
            <a:ext cx="731160" cy="145800"/>
          </a:xfrm>
          <a:prstGeom prst="rect">
            <a:avLst/>
          </a:prstGeom>
          <a:ln w="0">
            <a:noFill/>
          </a:ln>
        </p:spPr>
      </p:pic>
      <p:sp>
        <p:nvSpPr>
          <p:cNvPr id="135" name="o91"/>
          <p:cNvSpPr/>
          <p:nvPr/>
        </p:nvSpPr>
        <p:spPr>
          <a:xfrm>
            <a:off x="2560320" y="4983480"/>
            <a:ext cx="86864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c4c4e4"/>
                </a:solidFill>
                <a:latin typeface="Arial"/>
                <a:ea typeface="Arial"/>
              </a:rPr>
              <a:t>Niveau suivant : la BDD 2</a:t>
            </a:r>
            <a:endParaRPr b="0" lang="en-US" sz="1600" spc="-1" strike="noStrike">
              <a:solidFill>
                <a:srgbClr val="ffffff"/>
              </a:solidFill>
              <a:latin typeface="Arial"/>
            </a:endParaRPr>
          </a:p>
        </p:txBody>
      </p:sp>
      <p:pic>
        <p:nvPicPr>
          <p:cNvPr id="136" name="barre_fantome" descr="image.gif"/>
          <p:cNvPicPr/>
          <p:nvPr/>
        </p:nvPicPr>
        <p:blipFill>
          <a:blip r:embed="rId24"/>
          <a:stretch/>
        </p:blipFill>
        <p:spPr>
          <a:xfrm>
            <a:off x="393336" y="6291000"/>
            <a:ext cx="310680" cy="310680"/>
          </a:xfrm>
          <a:prstGeom prst="rect">
            <a:avLst/>
          </a:prstGeom>
          <a:ln w="0">
            <a:noFill/>
          </a:ln>
        </p:spPr>
      </p:pic>
      <p:sp>
        <p:nvSpPr>
          <p:cNvPr id="138" name="barre_pastille"/>
          <p:cNvSpPr/>
          <p:nvPr/>
        </p:nvSpPr>
        <p:spPr>
          <a:xfrm>
            <a:off x="1371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8" name="barre_pastille"/>
          <p:cNvSpPr/>
          <p:nvPr/>
        </p:nvSpPr>
        <p:spPr>
          <a:xfrm>
            <a:off x="1600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9" name="barre_pastille"/>
          <p:cNvSpPr/>
          <p:nvPr/>
        </p:nvSpPr>
        <p:spPr>
          <a:xfrm>
            <a:off x="1828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 name="barre_pastille"/>
          <p:cNvSpPr/>
          <p:nvPr/>
        </p:nvSpPr>
        <p:spPr>
          <a:xfrm>
            <a:off x="2057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 name="barre_pastille"/>
          <p:cNvSpPr/>
          <p:nvPr/>
        </p:nvSpPr>
        <p:spPr>
          <a:xfrm>
            <a:off x="2286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2" name="barre_pastille"/>
          <p:cNvSpPr/>
          <p:nvPr/>
        </p:nvSpPr>
        <p:spPr>
          <a:xfrm>
            <a:off x="2514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3" name="barre_pastille"/>
          <p:cNvSpPr/>
          <p:nvPr/>
        </p:nvSpPr>
        <p:spPr>
          <a:xfrm>
            <a:off x="2743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4" name="barre_pastille"/>
          <p:cNvSpPr/>
          <p:nvPr/>
        </p:nvSpPr>
        <p:spPr>
          <a:xfrm>
            <a:off x="2971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5" name="barre_pastille"/>
          <p:cNvSpPr/>
          <p:nvPr/>
        </p:nvSpPr>
        <p:spPr>
          <a:xfrm>
            <a:off x="3200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 name="barre_pastille"/>
          <p:cNvSpPr/>
          <p:nvPr/>
        </p:nvSpPr>
        <p:spPr>
          <a:xfrm>
            <a:off x="3429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8"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9"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0"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3"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4"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5"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6"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9"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0"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1"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2"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4"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5"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6"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7"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8"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0"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1"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2"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3"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4"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6"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7"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8"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9"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0"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37" name="barre_pacman" descr="image.gif"/>
          <p:cNvPicPr/>
          <p:nvPr/>
        </p:nvPicPr>
        <p:blipFill>
          <a:blip r:embed="rId25"/>
          <a:stretch/>
        </p:blipFill>
        <p:spPr>
          <a:xfrm>
            <a:off x="960336" y="6291000"/>
            <a:ext cx="310680" cy="310680"/>
          </a:xfrm>
          <a:prstGeom prst="rect">
            <a:avLst/>
          </a:prstGeom>
          <a:ln w="0">
            <a:noFill/>
          </a:ln>
        </p:spPr>
      </p:pic>
      <p:sp>
        <p:nvSpPr>
          <p:cNvPr id="181"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p:transition>
    <p:fade/>
  </p:transition>
  <p:timing>
    <p:tnLst>
      <p:par>
        <p:cTn id="61" dur="indefinite" restart="never" nodeType="tmRoot">
          <p:childTnLst>
            <p:seq>
              <p:cTn id="62" dur="indefinite" nodeType="mainSeq">
                <p:childTnLst>
                  <p:par>
                    <p:cTn id="63" fill="hold">
                      <p:stCondLst>
                        <p:cond delay="0"/>
                      </p:stCondLst>
                      <p:childTnLst>
                        <p:par>
                          <p:cTn id="64" fill="hold">
                            <p:stCondLst>
                              <p:cond delay="0"/>
                            </p:stCondLst>
                            <p:childTnLst>
                              <p:par>
                                <p:cTn id="65" nodeType="withEffect" fill="hold" presetClass="path">
                                  <p:stCondLst>
                                    <p:cond delay="0"/>
                                  </p:stCondLst>
                                  <p:childTnLst>
                                    <p:animMotion origin="layout" path="M 0 0 L 0.02252 0 E">
                                      <p:cBhvr>
                                        <p:cTn id="66" dur="900" fill="hold"/>
                                        <p:tgtEl>
                                          <p:spTgt spid="136"/>
                                        </p:tgtEl>
                                        <p:attrNameLst>
                                          <p:attrName>ppt_x</p:attrName>
                                          <p:attrName>ppt_y</p:attrName>
                                        </p:attrNameLst>
                                      </p:cBhvr>
                                    </p:animMotion>
                                  </p:childTnLst>
                                </p:cTn>
                              </p:par>
                              <p:par>
                                <p:cTn id="67" nodeType="withEffect" fill="hold" presetClass="path">
                                  <p:stCondLst>
                                    <p:cond delay="0"/>
                                  </p:stCondLst>
                                  <p:childTnLst>
                                    <p:animMotion origin="layout" path="M 0 0 L 0.02252 0 E">
                                      <p:cBhvr>
                                        <p:cTn id="68" dur="900" fill="hold"/>
                                        <p:tgtEl>
                                          <p:spTgt spid="137"/>
                                        </p:tgtEl>
                                        <p:attrNameLst>
                                          <p:attrName>ppt_x</p:attrName>
                                          <p:attrName>ppt_y</p:attrName>
                                        </p:attrNameLst>
                                      </p:cBhvr>
                                    </p:animMotion>
                                  </p:childTnLst>
                                </p:cTn>
                              </p:par>
                              <p:par>
                                <p:cTn id="69" nodeType="withEffect" fill="hold" presetClass="exit" presetID="1">
                                  <p:stCondLst>
                                    <p:cond delay="487"/>
                                  </p:stCondLst>
                                  <p:childTnLst>
                                    <p:set>
                                      <p:cBhvr>
                                        <p:cTn id="70" dur="1" fill="hold">
                                          <p:stCondLst>
                                            <p:cond delay="0"/>
                                          </p:stCondLst>
                                        </p:cTn>
                                        <p:tgtEl>
                                          <p:spTgt spid="138"/>
                                        </p:tgtEl>
                                        <p:attrNameLst>
                                          <p:attrName>style.visibility</p:attrName>
                                        </p:attrNameLst>
                                      </p:cBhvr>
                                      <p:to>
                                        <p:strVal val="hidden"/>
                                      </p:to>
                                    </p:set>
                                  </p:childTnLst>
                                </p:cTn>
                              </p:par>
                              <p:par>
                                <p:cTn id="71" nodeType="withEffect" fill="hold" presetClass="entr" presetID="10">
                                  <p:stCondLst>
                                    <p:cond delay="150"/>
                                  </p:stCondLst>
                                  <p:childTnLst>
                                    <p:set>
                                      <p:cBhvr>
                                        <p:cTn id="72" dur="1" fill="hold">
                                          <p:stCondLst>
                                            <p:cond delay="0"/>
                                          </p:stCondLst>
                                        </p:cTn>
                                        <p:tgtEl>
                                          <p:spTgt spid="95"/>
                                        </p:tgtEl>
                                        <p:attrNameLst>
                                          <p:attrName>style.visibility</p:attrName>
                                        </p:attrNameLst>
                                      </p:cBhvr>
                                      <p:to>
                                        <p:strVal val="visible"/>
                                      </p:to>
                                    </p:set>
                                    <p:animEffect filter="fade" transition="in">
                                      <p:cBhvr additive="repl">
                                        <p:cTn id="73" dur="400"/>
                                        <p:tgtEl>
                                          <p:spTgt spid="95"/>
                                        </p:tgtEl>
                                      </p:cBhvr>
                                    </p:animEffect>
                                  </p:childTnLst>
                                </p:cTn>
                              </p:par>
                              <p:par>
                                <p:cTn id="74" nodeType="withEffect" fill="hold" presetClass="entr" presetID="10">
                                  <p:stCondLst>
                                    <p:cond delay="150"/>
                                  </p:stCondLst>
                                  <p:childTnLst>
                                    <p:set>
                                      <p:cBhvr>
                                        <p:cTn id="75" dur="1" fill="hold">
                                          <p:stCondLst>
                                            <p:cond delay="0"/>
                                          </p:stCondLst>
                                        </p:cTn>
                                        <p:tgtEl>
                                          <p:spTgt spid="96"/>
                                        </p:tgtEl>
                                        <p:attrNameLst>
                                          <p:attrName>style.visibility</p:attrName>
                                        </p:attrNameLst>
                                      </p:cBhvr>
                                      <p:to>
                                        <p:strVal val="visible"/>
                                      </p:to>
                                    </p:set>
                                    <p:animEffect filter="fade" transition="in">
                                      <p:cBhvr additive="repl">
                                        <p:cTn id="76" dur="400"/>
                                        <p:tgtEl>
                                          <p:spTgt spid="96"/>
                                        </p:tgtEl>
                                      </p:cBhvr>
                                    </p:animEffect>
                                  </p:childTnLst>
                                </p:cTn>
                              </p:par>
                              <p:par>
                                <p:cTn id="77" nodeType="withEffect" fill="hold" presetClass="entr" presetID="10">
                                  <p:stCondLst>
                                    <p:cond delay="150"/>
                                  </p:stCondLst>
                                  <p:childTnLst>
                                    <p:set>
                                      <p:cBhvr>
                                        <p:cTn id="78" dur="1" fill="hold">
                                          <p:stCondLst>
                                            <p:cond delay="0"/>
                                          </p:stCondLst>
                                        </p:cTn>
                                        <p:tgtEl>
                                          <p:spTgt spid="97"/>
                                        </p:tgtEl>
                                        <p:attrNameLst>
                                          <p:attrName>style.visibility</p:attrName>
                                        </p:attrNameLst>
                                      </p:cBhvr>
                                      <p:to>
                                        <p:strVal val="visible"/>
                                      </p:to>
                                    </p:set>
                                    <p:animEffect filter="fade" transition="in">
                                      <p:cBhvr additive="repl">
                                        <p:cTn id="79" dur="400"/>
                                        <p:tgtEl>
                                          <p:spTgt spid="97"/>
                                        </p:tgtEl>
                                      </p:cBhvr>
                                    </p:animEffect>
                                  </p:childTnLst>
                                </p:cTn>
                              </p:par>
                              <p:par>
                                <p:cTn id="80" nodeType="withEffect" fill="hold" presetClass="entr" presetID="10">
                                  <p:stCondLst>
                                    <p:cond delay="150"/>
                                  </p:stCondLst>
                                  <p:childTnLst>
                                    <p:set>
                                      <p:cBhvr>
                                        <p:cTn id="81" dur="1" fill="hold">
                                          <p:stCondLst>
                                            <p:cond delay="0"/>
                                          </p:stCondLst>
                                        </p:cTn>
                                        <p:tgtEl>
                                          <p:spTgt spid="98"/>
                                        </p:tgtEl>
                                        <p:attrNameLst>
                                          <p:attrName>style.visibility</p:attrName>
                                        </p:attrNameLst>
                                      </p:cBhvr>
                                      <p:to>
                                        <p:strVal val="visible"/>
                                      </p:to>
                                    </p:set>
                                    <p:animEffect filter="fade" transition="in">
                                      <p:cBhvr additive="repl">
                                        <p:cTn id="82" dur="400"/>
                                        <p:tgtEl>
                                          <p:spTgt spid="98"/>
                                        </p:tgtEl>
                                      </p:cBhvr>
                                    </p:animEffect>
                                  </p:childTnLst>
                                </p:cTn>
                              </p:par>
                              <p:par>
                                <p:cTn id="83" nodeType="withEffect" fill="hold" presetClass="entr" presetID="10">
                                  <p:stCondLst>
                                    <p:cond delay="150"/>
                                  </p:stCondLst>
                                  <p:childTnLst>
                                    <p:set>
                                      <p:cBhvr>
                                        <p:cTn id="84" dur="1" fill="hold">
                                          <p:stCondLst>
                                            <p:cond delay="0"/>
                                          </p:stCondLst>
                                        </p:cTn>
                                        <p:tgtEl>
                                          <p:spTgt spid="99"/>
                                        </p:tgtEl>
                                        <p:attrNameLst>
                                          <p:attrName>style.visibility</p:attrName>
                                        </p:attrNameLst>
                                      </p:cBhvr>
                                      <p:to>
                                        <p:strVal val="visible"/>
                                      </p:to>
                                    </p:set>
                                    <p:animEffect filter="fade" transition="in">
                                      <p:cBhvr additive="repl">
                                        <p:cTn id="85" dur="400"/>
                                        <p:tgtEl>
                                          <p:spTgt spid="99"/>
                                        </p:tgtEl>
                                      </p:cBhvr>
                                    </p:animEffect>
                                  </p:childTnLst>
                                </p:cTn>
                              </p:par>
                              <p:par>
                                <p:cTn id="86" nodeType="withEffect" fill="hold" presetClass="entr" presetID="10">
                                  <p:stCondLst>
                                    <p:cond delay="150"/>
                                  </p:stCondLst>
                                  <p:childTnLst>
                                    <p:set>
                                      <p:cBhvr>
                                        <p:cTn id="87" dur="1" fill="hold">
                                          <p:stCondLst>
                                            <p:cond delay="0"/>
                                          </p:stCondLst>
                                        </p:cTn>
                                        <p:tgtEl>
                                          <p:spTgt spid="100"/>
                                        </p:tgtEl>
                                        <p:attrNameLst>
                                          <p:attrName>style.visibility</p:attrName>
                                        </p:attrNameLst>
                                      </p:cBhvr>
                                      <p:to>
                                        <p:strVal val="visible"/>
                                      </p:to>
                                    </p:set>
                                    <p:animEffect filter="fade" transition="in">
                                      <p:cBhvr additive="repl">
                                        <p:cTn id="88" dur="400"/>
                                        <p:tgtEl>
                                          <p:spTgt spid="100"/>
                                        </p:tgtEl>
                                      </p:cBhvr>
                                    </p:animEffect>
                                  </p:childTnLst>
                                </p:cTn>
                              </p:par>
                              <p:par>
                                <p:cTn id="89" nodeType="withEffect" fill="hold" presetClass="entr" presetID="10">
                                  <p:stCondLst>
                                    <p:cond delay="330"/>
                                  </p:stCondLst>
                                  <p:childTnLst>
                                    <p:set>
                                      <p:cBhvr>
                                        <p:cTn id="90" dur="1" fill="hold">
                                          <p:stCondLst>
                                            <p:cond delay="0"/>
                                          </p:stCondLst>
                                        </p:cTn>
                                        <p:tgtEl>
                                          <p:spTgt spid="101"/>
                                        </p:tgtEl>
                                        <p:attrNameLst>
                                          <p:attrName>style.visibility</p:attrName>
                                        </p:attrNameLst>
                                      </p:cBhvr>
                                      <p:to>
                                        <p:strVal val="visible"/>
                                      </p:to>
                                    </p:set>
                                    <p:animEffect filter="fade" transition="in">
                                      <p:cBhvr additive="repl">
                                        <p:cTn id="91" dur="400"/>
                                        <p:tgtEl>
                                          <p:spTgt spid="101"/>
                                        </p:tgtEl>
                                      </p:cBhvr>
                                    </p:animEffect>
                                  </p:childTnLst>
                                </p:cTn>
                              </p:par>
                              <p:par>
                                <p:cTn id="92" nodeType="withEffect" fill="hold" presetClass="entr" presetID="10">
                                  <p:stCondLst>
                                    <p:cond delay="330"/>
                                  </p:stCondLst>
                                  <p:childTnLst>
                                    <p:set>
                                      <p:cBhvr>
                                        <p:cTn id="93" dur="1" fill="hold">
                                          <p:stCondLst>
                                            <p:cond delay="0"/>
                                          </p:stCondLst>
                                        </p:cTn>
                                        <p:tgtEl>
                                          <p:spTgt spid="102"/>
                                        </p:tgtEl>
                                        <p:attrNameLst>
                                          <p:attrName>style.visibility</p:attrName>
                                        </p:attrNameLst>
                                      </p:cBhvr>
                                      <p:to>
                                        <p:strVal val="visible"/>
                                      </p:to>
                                    </p:set>
                                    <p:animEffect filter="fade" transition="in">
                                      <p:cBhvr additive="repl">
                                        <p:cTn id="94" dur="400"/>
                                        <p:tgtEl>
                                          <p:spTgt spid="102"/>
                                        </p:tgtEl>
                                      </p:cBhvr>
                                    </p:animEffect>
                                  </p:childTnLst>
                                </p:cTn>
                              </p:par>
                              <p:par>
                                <p:cTn id="95" nodeType="withEffect" fill="hold" presetClass="entr" presetID="10">
                                  <p:stCondLst>
                                    <p:cond delay="330"/>
                                  </p:stCondLst>
                                  <p:childTnLst>
                                    <p:set>
                                      <p:cBhvr>
                                        <p:cTn id="96" dur="1" fill="hold">
                                          <p:stCondLst>
                                            <p:cond delay="0"/>
                                          </p:stCondLst>
                                        </p:cTn>
                                        <p:tgtEl>
                                          <p:spTgt spid="103"/>
                                        </p:tgtEl>
                                        <p:attrNameLst>
                                          <p:attrName>style.visibility</p:attrName>
                                        </p:attrNameLst>
                                      </p:cBhvr>
                                      <p:to>
                                        <p:strVal val="visible"/>
                                      </p:to>
                                    </p:set>
                                    <p:animEffect filter="fade" transition="in">
                                      <p:cBhvr additive="repl">
                                        <p:cTn id="97" dur="400"/>
                                        <p:tgtEl>
                                          <p:spTgt spid="103"/>
                                        </p:tgtEl>
                                      </p:cBhvr>
                                    </p:animEffect>
                                  </p:childTnLst>
                                </p:cTn>
                              </p:par>
                              <p:par>
                                <p:cTn id="98" nodeType="withEffect" fill="hold" presetClass="entr" presetID="10">
                                  <p:stCondLst>
                                    <p:cond delay="330"/>
                                  </p:stCondLst>
                                  <p:childTnLst>
                                    <p:set>
                                      <p:cBhvr>
                                        <p:cTn id="99" dur="1" fill="hold">
                                          <p:stCondLst>
                                            <p:cond delay="0"/>
                                          </p:stCondLst>
                                        </p:cTn>
                                        <p:tgtEl>
                                          <p:spTgt spid="104"/>
                                        </p:tgtEl>
                                        <p:attrNameLst>
                                          <p:attrName>style.visibility</p:attrName>
                                        </p:attrNameLst>
                                      </p:cBhvr>
                                      <p:to>
                                        <p:strVal val="visible"/>
                                      </p:to>
                                    </p:set>
                                    <p:animEffect filter="fade" transition="in">
                                      <p:cBhvr additive="repl">
                                        <p:cTn id="100" dur="400"/>
                                        <p:tgtEl>
                                          <p:spTgt spid="104"/>
                                        </p:tgtEl>
                                      </p:cBhvr>
                                    </p:animEffect>
                                  </p:childTnLst>
                                </p:cTn>
                              </p:par>
                              <p:par>
                                <p:cTn id="101" nodeType="withEffect" fill="hold" presetClass="entr" presetID="10">
                                  <p:stCondLst>
                                    <p:cond delay="330"/>
                                  </p:stCondLst>
                                  <p:childTnLst>
                                    <p:set>
                                      <p:cBhvr>
                                        <p:cTn id="102" dur="1" fill="hold">
                                          <p:stCondLst>
                                            <p:cond delay="0"/>
                                          </p:stCondLst>
                                        </p:cTn>
                                        <p:tgtEl>
                                          <p:spTgt spid="105"/>
                                        </p:tgtEl>
                                        <p:attrNameLst>
                                          <p:attrName>style.visibility</p:attrName>
                                        </p:attrNameLst>
                                      </p:cBhvr>
                                      <p:to>
                                        <p:strVal val="visible"/>
                                      </p:to>
                                    </p:set>
                                    <p:animEffect filter="fade" transition="in">
                                      <p:cBhvr additive="repl">
                                        <p:cTn id="103" dur="400"/>
                                        <p:tgtEl>
                                          <p:spTgt spid="105"/>
                                        </p:tgtEl>
                                      </p:cBhvr>
                                    </p:animEffect>
                                  </p:childTnLst>
                                </p:cTn>
                              </p:par>
                              <p:par>
                                <p:cTn id="104" nodeType="withEffect" fill="hold" presetClass="entr" presetID="10">
                                  <p:stCondLst>
                                    <p:cond delay="330"/>
                                  </p:stCondLst>
                                  <p:childTnLst>
                                    <p:set>
                                      <p:cBhvr>
                                        <p:cTn id="105" dur="1" fill="hold">
                                          <p:stCondLst>
                                            <p:cond delay="0"/>
                                          </p:stCondLst>
                                        </p:cTn>
                                        <p:tgtEl>
                                          <p:spTgt spid="106"/>
                                        </p:tgtEl>
                                        <p:attrNameLst>
                                          <p:attrName>style.visibility</p:attrName>
                                        </p:attrNameLst>
                                      </p:cBhvr>
                                      <p:to>
                                        <p:strVal val="visible"/>
                                      </p:to>
                                    </p:set>
                                    <p:animEffect filter="fade" transition="in">
                                      <p:cBhvr additive="repl">
                                        <p:cTn id="106" dur="400"/>
                                        <p:tgtEl>
                                          <p:spTgt spid="106"/>
                                        </p:tgtEl>
                                      </p:cBhvr>
                                    </p:animEffect>
                                  </p:childTnLst>
                                </p:cTn>
                              </p:par>
                              <p:par>
                                <p:cTn id="107" nodeType="withEffect" fill="hold" presetClass="entr" presetID="10">
                                  <p:stCondLst>
                                    <p:cond delay="510"/>
                                  </p:stCondLst>
                                  <p:childTnLst>
                                    <p:set>
                                      <p:cBhvr>
                                        <p:cTn id="108" dur="1" fill="hold">
                                          <p:stCondLst>
                                            <p:cond delay="0"/>
                                          </p:stCondLst>
                                        </p:cTn>
                                        <p:tgtEl>
                                          <p:spTgt spid="107"/>
                                        </p:tgtEl>
                                        <p:attrNameLst>
                                          <p:attrName>style.visibility</p:attrName>
                                        </p:attrNameLst>
                                      </p:cBhvr>
                                      <p:to>
                                        <p:strVal val="visible"/>
                                      </p:to>
                                    </p:set>
                                    <p:animEffect filter="fade" transition="in">
                                      <p:cBhvr additive="repl">
                                        <p:cTn id="109" dur="400"/>
                                        <p:tgtEl>
                                          <p:spTgt spid="107"/>
                                        </p:tgtEl>
                                      </p:cBhvr>
                                    </p:animEffect>
                                  </p:childTnLst>
                                </p:cTn>
                              </p:par>
                              <p:par>
                                <p:cTn id="110" nodeType="withEffect" fill="hold" presetClass="entr" presetID="10">
                                  <p:stCondLst>
                                    <p:cond delay="510"/>
                                  </p:stCondLst>
                                  <p:childTnLst>
                                    <p:set>
                                      <p:cBhvr>
                                        <p:cTn id="111" dur="1" fill="hold">
                                          <p:stCondLst>
                                            <p:cond delay="0"/>
                                          </p:stCondLst>
                                        </p:cTn>
                                        <p:tgtEl>
                                          <p:spTgt spid="108"/>
                                        </p:tgtEl>
                                        <p:attrNameLst>
                                          <p:attrName>style.visibility</p:attrName>
                                        </p:attrNameLst>
                                      </p:cBhvr>
                                      <p:to>
                                        <p:strVal val="visible"/>
                                      </p:to>
                                    </p:set>
                                    <p:animEffect filter="fade" transition="in">
                                      <p:cBhvr additive="repl">
                                        <p:cTn id="112" dur="400"/>
                                        <p:tgtEl>
                                          <p:spTgt spid="108"/>
                                        </p:tgtEl>
                                      </p:cBhvr>
                                    </p:animEffect>
                                  </p:childTnLst>
                                </p:cTn>
                              </p:par>
                              <p:par>
                                <p:cTn id="113" nodeType="withEffect" fill="hold" presetClass="entr" presetID="10">
                                  <p:stCondLst>
                                    <p:cond delay="510"/>
                                  </p:stCondLst>
                                  <p:childTnLst>
                                    <p:set>
                                      <p:cBhvr>
                                        <p:cTn id="114" dur="1" fill="hold">
                                          <p:stCondLst>
                                            <p:cond delay="0"/>
                                          </p:stCondLst>
                                        </p:cTn>
                                        <p:tgtEl>
                                          <p:spTgt spid="109"/>
                                        </p:tgtEl>
                                        <p:attrNameLst>
                                          <p:attrName>style.visibility</p:attrName>
                                        </p:attrNameLst>
                                      </p:cBhvr>
                                      <p:to>
                                        <p:strVal val="visible"/>
                                      </p:to>
                                    </p:set>
                                    <p:animEffect filter="fade" transition="in">
                                      <p:cBhvr additive="repl">
                                        <p:cTn id="115" dur="400"/>
                                        <p:tgtEl>
                                          <p:spTgt spid="109"/>
                                        </p:tgtEl>
                                      </p:cBhvr>
                                    </p:animEffect>
                                  </p:childTnLst>
                                </p:cTn>
                              </p:par>
                              <p:par>
                                <p:cTn id="116" nodeType="withEffect" fill="hold" presetClass="entr" presetID="10">
                                  <p:stCondLst>
                                    <p:cond delay="510"/>
                                  </p:stCondLst>
                                  <p:childTnLst>
                                    <p:set>
                                      <p:cBhvr>
                                        <p:cTn id="117" dur="1" fill="hold">
                                          <p:stCondLst>
                                            <p:cond delay="0"/>
                                          </p:stCondLst>
                                        </p:cTn>
                                        <p:tgtEl>
                                          <p:spTgt spid="110"/>
                                        </p:tgtEl>
                                        <p:attrNameLst>
                                          <p:attrName>style.visibility</p:attrName>
                                        </p:attrNameLst>
                                      </p:cBhvr>
                                      <p:to>
                                        <p:strVal val="visible"/>
                                      </p:to>
                                    </p:set>
                                    <p:animEffect filter="fade" transition="in">
                                      <p:cBhvr additive="repl">
                                        <p:cTn id="118" dur="400"/>
                                        <p:tgtEl>
                                          <p:spTgt spid="110"/>
                                        </p:tgtEl>
                                      </p:cBhvr>
                                    </p:animEffect>
                                  </p:childTnLst>
                                </p:cTn>
                              </p:par>
                              <p:par>
                                <p:cTn id="119" nodeType="withEffect" fill="hold" presetClass="entr" presetID="10">
                                  <p:stCondLst>
                                    <p:cond delay="510"/>
                                  </p:stCondLst>
                                  <p:childTnLst>
                                    <p:set>
                                      <p:cBhvr>
                                        <p:cTn id="120" dur="1" fill="hold">
                                          <p:stCondLst>
                                            <p:cond delay="0"/>
                                          </p:stCondLst>
                                        </p:cTn>
                                        <p:tgtEl>
                                          <p:spTgt spid="111"/>
                                        </p:tgtEl>
                                        <p:attrNameLst>
                                          <p:attrName>style.visibility</p:attrName>
                                        </p:attrNameLst>
                                      </p:cBhvr>
                                      <p:to>
                                        <p:strVal val="visible"/>
                                      </p:to>
                                    </p:set>
                                    <p:animEffect filter="fade" transition="in">
                                      <p:cBhvr additive="repl">
                                        <p:cTn id="121" dur="400"/>
                                        <p:tgtEl>
                                          <p:spTgt spid="111"/>
                                        </p:tgtEl>
                                      </p:cBhvr>
                                    </p:animEffect>
                                  </p:childTnLst>
                                </p:cTn>
                              </p:par>
                              <p:par>
                                <p:cTn id="122" nodeType="withEffect" fill="hold" presetClass="entr" presetID="10">
                                  <p:stCondLst>
                                    <p:cond delay="510"/>
                                  </p:stCondLst>
                                  <p:childTnLst>
                                    <p:set>
                                      <p:cBhvr>
                                        <p:cTn id="123" dur="1" fill="hold">
                                          <p:stCondLst>
                                            <p:cond delay="0"/>
                                          </p:stCondLst>
                                        </p:cTn>
                                        <p:tgtEl>
                                          <p:spTgt spid="112"/>
                                        </p:tgtEl>
                                        <p:attrNameLst>
                                          <p:attrName>style.visibility</p:attrName>
                                        </p:attrNameLst>
                                      </p:cBhvr>
                                      <p:to>
                                        <p:strVal val="visible"/>
                                      </p:to>
                                    </p:set>
                                    <p:animEffect filter="fade" transition="in">
                                      <p:cBhvr additive="repl">
                                        <p:cTn id="124" dur="400"/>
                                        <p:tgtEl>
                                          <p:spTgt spid="112"/>
                                        </p:tgtEl>
                                      </p:cBhvr>
                                    </p:animEffect>
                                  </p:childTnLst>
                                </p:cTn>
                              </p:par>
                              <p:par>
                                <p:cTn id="125" nodeType="withEffect" fill="hold" presetClass="entr" presetID="10">
                                  <p:stCondLst>
                                    <p:cond delay="690"/>
                                  </p:stCondLst>
                                  <p:childTnLst>
                                    <p:set>
                                      <p:cBhvr>
                                        <p:cTn id="126" dur="1" fill="hold">
                                          <p:stCondLst>
                                            <p:cond delay="0"/>
                                          </p:stCondLst>
                                        </p:cTn>
                                        <p:tgtEl>
                                          <p:spTgt spid="113"/>
                                        </p:tgtEl>
                                        <p:attrNameLst>
                                          <p:attrName>style.visibility</p:attrName>
                                        </p:attrNameLst>
                                      </p:cBhvr>
                                      <p:to>
                                        <p:strVal val="visible"/>
                                      </p:to>
                                    </p:set>
                                    <p:animEffect filter="fade" transition="in">
                                      <p:cBhvr additive="repl">
                                        <p:cTn id="127" dur="400"/>
                                        <p:tgtEl>
                                          <p:spTgt spid="113"/>
                                        </p:tgtEl>
                                      </p:cBhvr>
                                    </p:animEffect>
                                  </p:childTnLst>
                                </p:cTn>
                              </p:par>
                              <p:par>
                                <p:cTn id="128" nodeType="withEffect" fill="hold" presetClass="entr" presetID="10">
                                  <p:stCondLst>
                                    <p:cond delay="690"/>
                                  </p:stCondLst>
                                  <p:childTnLst>
                                    <p:set>
                                      <p:cBhvr>
                                        <p:cTn id="129" dur="1" fill="hold">
                                          <p:stCondLst>
                                            <p:cond delay="0"/>
                                          </p:stCondLst>
                                        </p:cTn>
                                        <p:tgtEl>
                                          <p:spTgt spid="114"/>
                                        </p:tgtEl>
                                        <p:attrNameLst>
                                          <p:attrName>style.visibility</p:attrName>
                                        </p:attrNameLst>
                                      </p:cBhvr>
                                      <p:to>
                                        <p:strVal val="visible"/>
                                      </p:to>
                                    </p:set>
                                    <p:animEffect filter="fade" transition="in">
                                      <p:cBhvr additive="repl">
                                        <p:cTn id="130" dur="400"/>
                                        <p:tgtEl>
                                          <p:spTgt spid="114"/>
                                        </p:tgtEl>
                                      </p:cBhvr>
                                    </p:animEffect>
                                  </p:childTnLst>
                                </p:cTn>
                              </p:par>
                              <p:par>
                                <p:cTn id="131" nodeType="withEffect" fill="hold" presetClass="entr" presetID="10">
                                  <p:stCondLst>
                                    <p:cond delay="690"/>
                                  </p:stCondLst>
                                  <p:childTnLst>
                                    <p:set>
                                      <p:cBhvr>
                                        <p:cTn id="132" dur="1" fill="hold">
                                          <p:stCondLst>
                                            <p:cond delay="0"/>
                                          </p:stCondLst>
                                        </p:cTn>
                                        <p:tgtEl>
                                          <p:spTgt spid="115"/>
                                        </p:tgtEl>
                                        <p:attrNameLst>
                                          <p:attrName>style.visibility</p:attrName>
                                        </p:attrNameLst>
                                      </p:cBhvr>
                                      <p:to>
                                        <p:strVal val="visible"/>
                                      </p:to>
                                    </p:set>
                                    <p:animEffect filter="fade" transition="in">
                                      <p:cBhvr additive="repl">
                                        <p:cTn id="133" dur="400"/>
                                        <p:tgtEl>
                                          <p:spTgt spid="115"/>
                                        </p:tgtEl>
                                      </p:cBhvr>
                                    </p:animEffect>
                                  </p:childTnLst>
                                </p:cTn>
                              </p:par>
                              <p:par>
                                <p:cTn id="134" nodeType="withEffect" fill="hold" presetClass="entr" presetID="10">
                                  <p:stCondLst>
                                    <p:cond delay="690"/>
                                  </p:stCondLst>
                                  <p:childTnLst>
                                    <p:set>
                                      <p:cBhvr>
                                        <p:cTn id="135" dur="1" fill="hold">
                                          <p:stCondLst>
                                            <p:cond delay="0"/>
                                          </p:stCondLst>
                                        </p:cTn>
                                        <p:tgtEl>
                                          <p:spTgt spid="116"/>
                                        </p:tgtEl>
                                        <p:attrNameLst>
                                          <p:attrName>style.visibility</p:attrName>
                                        </p:attrNameLst>
                                      </p:cBhvr>
                                      <p:to>
                                        <p:strVal val="visible"/>
                                      </p:to>
                                    </p:set>
                                    <p:animEffect filter="fade" transition="in">
                                      <p:cBhvr additive="repl">
                                        <p:cTn id="136" dur="400"/>
                                        <p:tgtEl>
                                          <p:spTgt spid="116"/>
                                        </p:tgtEl>
                                      </p:cBhvr>
                                    </p:animEffect>
                                  </p:childTnLst>
                                </p:cTn>
                              </p:par>
                              <p:par>
                                <p:cTn id="137" nodeType="withEffect" fill="hold" presetClass="entr" presetID="10">
                                  <p:stCondLst>
                                    <p:cond delay="690"/>
                                  </p:stCondLst>
                                  <p:childTnLst>
                                    <p:set>
                                      <p:cBhvr>
                                        <p:cTn id="138" dur="1" fill="hold">
                                          <p:stCondLst>
                                            <p:cond delay="0"/>
                                          </p:stCondLst>
                                        </p:cTn>
                                        <p:tgtEl>
                                          <p:spTgt spid="117"/>
                                        </p:tgtEl>
                                        <p:attrNameLst>
                                          <p:attrName>style.visibility</p:attrName>
                                        </p:attrNameLst>
                                      </p:cBhvr>
                                      <p:to>
                                        <p:strVal val="visible"/>
                                      </p:to>
                                    </p:set>
                                    <p:animEffect filter="fade" transition="in">
                                      <p:cBhvr additive="repl">
                                        <p:cTn id="139" dur="400"/>
                                        <p:tgtEl>
                                          <p:spTgt spid="117"/>
                                        </p:tgtEl>
                                      </p:cBhvr>
                                    </p:animEffect>
                                  </p:childTnLst>
                                </p:cTn>
                              </p:par>
                              <p:par>
                                <p:cTn id="140" nodeType="withEffect" fill="hold" presetClass="entr" presetID="10">
                                  <p:stCondLst>
                                    <p:cond delay="690"/>
                                  </p:stCondLst>
                                  <p:childTnLst>
                                    <p:set>
                                      <p:cBhvr>
                                        <p:cTn id="141" dur="1" fill="hold">
                                          <p:stCondLst>
                                            <p:cond delay="0"/>
                                          </p:stCondLst>
                                        </p:cTn>
                                        <p:tgtEl>
                                          <p:spTgt spid="118"/>
                                        </p:tgtEl>
                                        <p:attrNameLst>
                                          <p:attrName>style.visibility</p:attrName>
                                        </p:attrNameLst>
                                      </p:cBhvr>
                                      <p:to>
                                        <p:strVal val="visible"/>
                                      </p:to>
                                    </p:set>
                                    <p:animEffect filter="fade" transition="in">
                                      <p:cBhvr additive="repl">
                                        <p:cTn id="142" dur="400"/>
                                        <p:tgtEl>
                                          <p:spTgt spid="118"/>
                                        </p:tgtEl>
                                      </p:cBhvr>
                                    </p:animEffect>
                                  </p:childTnLst>
                                </p:cTn>
                              </p:par>
                              <p:par>
                                <p:cTn id="143" nodeType="withEffect" fill="hold" presetClass="entr" presetID="10">
                                  <p:stCondLst>
                                    <p:cond delay="870"/>
                                  </p:stCondLst>
                                  <p:childTnLst>
                                    <p:set>
                                      <p:cBhvr>
                                        <p:cTn id="144" dur="1" fill="hold">
                                          <p:stCondLst>
                                            <p:cond delay="0"/>
                                          </p:stCondLst>
                                        </p:cTn>
                                        <p:tgtEl>
                                          <p:spTgt spid="119"/>
                                        </p:tgtEl>
                                        <p:attrNameLst>
                                          <p:attrName>style.visibility</p:attrName>
                                        </p:attrNameLst>
                                      </p:cBhvr>
                                      <p:to>
                                        <p:strVal val="visible"/>
                                      </p:to>
                                    </p:set>
                                    <p:animEffect filter="fade" transition="in">
                                      <p:cBhvr additive="repl">
                                        <p:cTn id="145" dur="400"/>
                                        <p:tgtEl>
                                          <p:spTgt spid="119"/>
                                        </p:tgtEl>
                                      </p:cBhvr>
                                    </p:animEffect>
                                  </p:childTnLst>
                                </p:cTn>
                              </p:par>
                              <p:par>
                                <p:cTn id="146" nodeType="withEffect" fill="hold" presetClass="entr" presetID="10">
                                  <p:stCondLst>
                                    <p:cond delay="870"/>
                                  </p:stCondLst>
                                  <p:childTnLst>
                                    <p:set>
                                      <p:cBhvr>
                                        <p:cTn id="147" dur="1" fill="hold">
                                          <p:stCondLst>
                                            <p:cond delay="0"/>
                                          </p:stCondLst>
                                        </p:cTn>
                                        <p:tgtEl>
                                          <p:spTgt spid="120"/>
                                        </p:tgtEl>
                                        <p:attrNameLst>
                                          <p:attrName>style.visibility</p:attrName>
                                        </p:attrNameLst>
                                      </p:cBhvr>
                                      <p:to>
                                        <p:strVal val="visible"/>
                                      </p:to>
                                    </p:set>
                                    <p:animEffect filter="fade" transition="in">
                                      <p:cBhvr additive="repl">
                                        <p:cTn id="148" dur="400"/>
                                        <p:tgtEl>
                                          <p:spTgt spid="120"/>
                                        </p:tgtEl>
                                      </p:cBhvr>
                                    </p:animEffect>
                                  </p:childTnLst>
                                </p:cTn>
                              </p:par>
                              <p:par>
                                <p:cTn id="149" nodeType="withEffect" fill="hold" presetClass="entr" presetID="10">
                                  <p:stCondLst>
                                    <p:cond delay="870"/>
                                  </p:stCondLst>
                                  <p:childTnLst>
                                    <p:set>
                                      <p:cBhvr>
                                        <p:cTn id="150" dur="1" fill="hold">
                                          <p:stCondLst>
                                            <p:cond delay="0"/>
                                          </p:stCondLst>
                                        </p:cTn>
                                        <p:tgtEl>
                                          <p:spTgt spid="121"/>
                                        </p:tgtEl>
                                        <p:attrNameLst>
                                          <p:attrName>style.visibility</p:attrName>
                                        </p:attrNameLst>
                                      </p:cBhvr>
                                      <p:to>
                                        <p:strVal val="visible"/>
                                      </p:to>
                                    </p:set>
                                    <p:animEffect filter="fade" transition="in">
                                      <p:cBhvr additive="repl">
                                        <p:cTn id="151" dur="400"/>
                                        <p:tgtEl>
                                          <p:spTgt spid="121"/>
                                        </p:tgtEl>
                                      </p:cBhvr>
                                    </p:animEffect>
                                  </p:childTnLst>
                                </p:cTn>
                              </p:par>
                              <p:par>
                                <p:cTn id="152" nodeType="withEffect" fill="hold" presetClass="entr" presetID="10">
                                  <p:stCondLst>
                                    <p:cond delay="870"/>
                                  </p:stCondLst>
                                  <p:childTnLst>
                                    <p:set>
                                      <p:cBhvr>
                                        <p:cTn id="153" dur="1" fill="hold">
                                          <p:stCondLst>
                                            <p:cond delay="0"/>
                                          </p:stCondLst>
                                        </p:cTn>
                                        <p:tgtEl>
                                          <p:spTgt spid="122"/>
                                        </p:tgtEl>
                                        <p:attrNameLst>
                                          <p:attrName>style.visibility</p:attrName>
                                        </p:attrNameLst>
                                      </p:cBhvr>
                                      <p:to>
                                        <p:strVal val="visible"/>
                                      </p:to>
                                    </p:set>
                                    <p:animEffect filter="fade" transition="in">
                                      <p:cBhvr additive="repl">
                                        <p:cTn id="154" dur="400"/>
                                        <p:tgtEl>
                                          <p:spTgt spid="122"/>
                                        </p:tgtEl>
                                      </p:cBhvr>
                                    </p:animEffect>
                                  </p:childTnLst>
                                </p:cTn>
                              </p:par>
                              <p:par>
                                <p:cTn id="155" nodeType="withEffect" fill="hold" presetClass="entr" presetID="10">
                                  <p:stCondLst>
                                    <p:cond delay="870"/>
                                  </p:stCondLst>
                                  <p:childTnLst>
                                    <p:set>
                                      <p:cBhvr>
                                        <p:cTn id="156" dur="1" fill="hold">
                                          <p:stCondLst>
                                            <p:cond delay="0"/>
                                          </p:stCondLst>
                                        </p:cTn>
                                        <p:tgtEl>
                                          <p:spTgt spid="123"/>
                                        </p:tgtEl>
                                        <p:attrNameLst>
                                          <p:attrName>style.visibility</p:attrName>
                                        </p:attrNameLst>
                                      </p:cBhvr>
                                      <p:to>
                                        <p:strVal val="visible"/>
                                      </p:to>
                                    </p:set>
                                    <p:animEffect filter="fade" transition="in">
                                      <p:cBhvr additive="repl">
                                        <p:cTn id="157" dur="400"/>
                                        <p:tgtEl>
                                          <p:spTgt spid="123"/>
                                        </p:tgtEl>
                                      </p:cBhvr>
                                    </p:animEffect>
                                  </p:childTnLst>
                                </p:cTn>
                              </p:par>
                              <p:par>
                                <p:cTn id="158" nodeType="withEffect" fill="hold" presetClass="entr" presetID="10">
                                  <p:stCondLst>
                                    <p:cond delay="870"/>
                                  </p:stCondLst>
                                  <p:childTnLst>
                                    <p:set>
                                      <p:cBhvr>
                                        <p:cTn id="159" dur="1" fill="hold">
                                          <p:stCondLst>
                                            <p:cond delay="0"/>
                                          </p:stCondLst>
                                        </p:cTn>
                                        <p:tgtEl>
                                          <p:spTgt spid="124"/>
                                        </p:tgtEl>
                                        <p:attrNameLst>
                                          <p:attrName>style.visibility</p:attrName>
                                        </p:attrNameLst>
                                      </p:cBhvr>
                                      <p:to>
                                        <p:strVal val="visible"/>
                                      </p:to>
                                    </p:set>
                                    <p:animEffect filter="fade" transition="in">
                                      <p:cBhvr additive="repl">
                                        <p:cTn id="160" dur="400"/>
                                        <p:tgtEl>
                                          <p:spTgt spid="124"/>
                                        </p:tgtEl>
                                      </p:cBhvr>
                                    </p:animEffect>
                                  </p:childTnLst>
                                </p:cTn>
                              </p:par>
                              <p:par>
                                <p:cTn id="161" nodeType="withEffect" fill="hold" presetClass="entr" presetID="10">
                                  <p:stCondLst>
                                    <p:cond delay="1050"/>
                                  </p:stCondLst>
                                  <p:childTnLst>
                                    <p:set>
                                      <p:cBhvr>
                                        <p:cTn id="162" dur="1" fill="hold">
                                          <p:stCondLst>
                                            <p:cond delay="0"/>
                                          </p:stCondLst>
                                        </p:cTn>
                                        <p:tgtEl>
                                          <p:spTgt spid="125"/>
                                        </p:tgtEl>
                                        <p:attrNameLst>
                                          <p:attrName>style.visibility</p:attrName>
                                        </p:attrNameLst>
                                      </p:cBhvr>
                                      <p:to>
                                        <p:strVal val="visible"/>
                                      </p:to>
                                    </p:set>
                                    <p:animEffect filter="fade" transition="in">
                                      <p:cBhvr additive="repl">
                                        <p:cTn id="163" dur="400"/>
                                        <p:tgtEl>
                                          <p:spTgt spid="125"/>
                                        </p:tgtEl>
                                      </p:cBhvr>
                                    </p:animEffect>
                                  </p:childTnLst>
                                </p:cTn>
                              </p:par>
                              <p:par>
                                <p:cTn id="164" nodeType="withEffect" fill="hold" presetClass="entr" presetID="10">
                                  <p:stCondLst>
                                    <p:cond delay="1050"/>
                                  </p:stCondLst>
                                  <p:childTnLst>
                                    <p:set>
                                      <p:cBhvr>
                                        <p:cTn id="165" dur="1" fill="hold">
                                          <p:stCondLst>
                                            <p:cond delay="0"/>
                                          </p:stCondLst>
                                        </p:cTn>
                                        <p:tgtEl>
                                          <p:spTgt spid="126"/>
                                        </p:tgtEl>
                                        <p:attrNameLst>
                                          <p:attrName>style.visibility</p:attrName>
                                        </p:attrNameLst>
                                      </p:cBhvr>
                                      <p:to>
                                        <p:strVal val="visible"/>
                                      </p:to>
                                    </p:set>
                                    <p:animEffect filter="fade" transition="in">
                                      <p:cBhvr additive="repl">
                                        <p:cTn id="166" dur="400"/>
                                        <p:tgtEl>
                                          <p:spTgt spid="126"/>
                                        </p:tgtEl>
                                      </p:cBhvr>
                                    </p:animEffect>
                                  </p:childTnLst>
                                </p:cTn>
                              </p:par>
                              <p:par>
                                <p:cTn id="167" nodeType="withEffect" fill="hold" presetClass="entr" presetID="10">
                                  <p:stCondLst>
                                    <p:cond delay="1050"/>
                                  </p:stCondLst>
                                  <p:childTnLst>
                                    <p:set>
                                      <p:cBhvr>
                                        <p:cTn id="168" dur="1" fill="hold">
                                          <p:stCondLst>
                                            <p:cond delay="0"/>
                                          </p:stCondLst>
                                        </p:cTn>
                                        <p:tgtEl>
                                          <p:spTgt spid="127"/>
                                        </p:tgtEl>
                                        <p:attrNameLst>
                                          <p:attrName>style.visibility</p:attrName>
                                        </p:attrNameLst>
                                      </p:cBhvr>
                                      <p:to>
                                        <p:strVal val="visible"/>
                                      </p:to>
                                    </p:set>
                                    <p:animEffect filter="fade" transition="in">
                                      <p:cBhvr additive="repl">
                                        <p:cTn id="169" dur="400"/>
                                        <p:tgtEl>
                                          <p:spTgt spid="127"/>
                                        </p:tgtEl>
                                      </p:cBhvr>
                                    </p:animEffect>
                                  </p:childTnLst>
                                </p:cTn>
                              </p:par>
                              <p:par>
                                <p:cTn id="170" nodeType="withEffect" fill="hold" presetClass="entr" presetID="10">
                                  <p:stCondLst>
                                    <p:cond delay="1050"/>
                                  </p:stCondLst>
                                  <p:childTnLst>
                                    <p:set>
                                      <p:cBhvr>
                                        <p:cTn id="171" dur="1" fill="hold">
                                          <p:stCondLst>
                                            <p:cond delay="0"/>
                                          </p:stCondLst>
                                        </p:cTn>
                                        <p:tgtEl>
                                          <p:spTgt spid="128"/>
                                        </p:tgtEl>
                                        <p:attrNameLst>
                                          <p:attrName>style.visibility</p:attrName>
                                        </p:attrNameLst>
                                      </p:cBhvr>
                                      <p:to>
                                        <p:strVal val="visible"/>
                                      </p:to>
                                    </p:set>
                                    <p:animEffect filter="fade" transition="in">
                                      <p:cBhvr additive="repl">
                                        <p:cTn id="172" dur="400"/>
                                        <p:tgtEl>
                                          <p:spTgt spid="128"/>
                                        </p:tgtEl>
                                      </p:cBhvr>
                                    </p:animEffect>
                                  </p:childTnLst>
                                </p:cTn>
                              </p:par>
                              <p:par>
                                <p:cTn id="173" nodeType="withEffect" fill="hold" presetClass="entr" presetID="10">
                                  <p:stCondLst>
                                    <p:cond delay="1050"/>
                                  </p:stCondLst>
                                  <p:childTnLst>
                                    <p:set>
                                      <p:cBhvr>
                                        <p:cTn id="174" dur="1" fill="hold">
                                          <p:stCondLst>
                                            <p:cond delay="0"/>
                                          </p:stCondLst>
                                        </p:cTn>
                                        <p:tgtEl>
                                          <p:spTgt spid="129"/>
                                        </p:tgtEl>
                                        <p:attrNameLst>
                                          <p:attrName>style.visibility</p:attrName>
                                        </p:attrNameLst>
                                      </p:cBhvr>
                                      <p:to>
                                        <p:strVal val="visible"/>
                                      </p:to>
                                    </p:set>
                                    <p:animEffect filter="fade" transition="in">
                                      <p:cBhvr additive="repl">
                                        <p:cTn id="175" dur="400"/>
                                        <p:tgtEl>
                                          <p:spTgt spid="129"/>
                                        </p:tgtEl>
                                      </p:cBhvr>
                                    </p:animEffect>
                                  </p:childTnLst>
                                </p:cTn>
                              </p:par>
                              <p:par>
                                <p:cTn id="176" nodeType="withEffect" fill="hold" presetClass="entr" presetID="10">
                                  <p:stCondLst>
                                    <p:cond delay="1050"/>
                                  </p:stCondLst>
                                  <p:childTnLst>
                                    <p:set>
                                      <p:cBhvr>
                                        <p:cTn id="177" dur="1" fill="hold">
                                          <p:stCondLst>
                                            <p:cond delay="0"/>
                                          </p:stCondLst>
                                        </p:cTn>
                                        <p:tgtEl>
                                          <p:spTgt spid="130"/>
                                        </p:tgtEl>
                                        <p:attrNameLst>
                                          <p:attrName>style.visibility</p:attrName>
                                        </p:attrNameLst>
                                      </p:cBhvr>
                                      <p:to>
                                        <p:strVal val="visible"/>
                                      </p:to>
                                    </p:set>
                                    <p:animEffect filter="fade" transition="in">
                                      <p:cBhvr additive="repl">
                                        <p:cTn id="178" dur="400"/>
                                        <p:tgtEl>
                                          <p:spTgt spid="130"/>
                                        </p:tgtEl>
                                      </p:cBhvr>
                                    </p:animEffect>
                                  </p:childTnLst>
                                </p:cTn>
                              </p:par>
                              <p:par>
                                <p:cTn id="179" nodeType="withEffect" fill="hold" presetClass="entr" presetID="10">
                                  <p:stCondLst>
                                    <p:cond delay="1400"/>
                                  </p:stCondLst>
                                  <p:childTnLst>
                                    <p:set>
                                      <p:cBhvr>
                                        <p:cTn id="180" dur="1" fill="hold">
                                          <p:stCondLst>
                                            <p:cond delay="0"/>
                                          </p:stCondLst>
                                        </p:cTn>
                                        <p:tgtEl>
                                          <p:spTgt spid="131"/>
                                        </p:tgtEl>
                                        <p:attrNameLst>
                                          <p:attrName>style.visibility</p:attrName>
                                        </p:attrNameLst>
                                      </p:cBhvr>
                                      <p:to>
                                        <p:strVal val="visible"/>
                                      </p:to>
                                    </p:set>
                                    <p:animEffect filter="fade" transition="in">
                                      <p:cBhvr additive="repl">
                                        <p:cTn id="181" dur="400"/>
                                        <p:tgtEl>
                                          <p:spTgt spid="131"/>
                                        </p:tgtEl>
                                      </p:cBhvr>
                                    </p:animEffect>
                                  </p:childTnLst>
                                </p:cTn>
                              </p:par>
                              <p:par>
                                <p:cTn id="182" nodeType="withEffect" fill="hold" presetClass="entr" presetID="10">
                                  <p:stCondLst>
                                    <p:cond delay="1400"/>
                                  </p:stCondLst>
                                  <p:childTnLst>
                                    <p:set>
                                      <p:cBhvr>
                                        <p:cTn id="183" dur="1" fill="hold">
                                          <p:stCondLst>
                                            <p:cond delay="0"/>
                                          </p:stCondLst>
                                        </p:cTn>
                                        <p:tgtEl>
                                          <p:spTgt spid="132"/>
                                        </p:tgtEl>
                                        <p:attrNameLst>
                                          <p:attrName>style.visibility</p:attrName>
                                        </p:attrNameLst>
                                      </p:cBhvr>
                                      <p:to>
                                        <p:strVal val="visible"/>
                                      </p:to>
                                    </p:set>
                                    <p:animEffect filter="fade" transition="in">
                                      <p:cBhvr additive="repl">
                                        <p:cTn id="184" dur="400"/>
                                        <p:tgtEl>
                                          <p:spTgt spid="132"/>
                                        </p:tgtEl>
                                      </p:cBhvr>
                                    </p:animEffect>
                                  </p:childTnLst>
                                </p:cTn>
                              </p:par>
                              <p:par>
                                <p:cTn id="185" nodeType="withEffect" fill="hold" presetClass="entr" presetID="10">
                                  <p:stCondLst>
                                    <p:cond delay="1400"/>
                                  </p:stCondLst>
                                  <p:childTnLst>
                                    <p:set>
                                      <p:cBhvr>
                                        <p:cTn id="186" dur="1" fill="hold">
                                          <p:stCondLst>
                                            <p:cond delay="0"/>
                                          </p:stCondLst>
                                        </p:cTn>
                                        <p:tgtEl>
                                          <p:spTgt spid="133"/>
                                        </p:tgtEl>
                                        <p:attrNameLst>
                                          <p:attrName>style.visibility</p:attrName>
                                        </p:attrNameLst>
                                      </p:cBhvr>
                                      <p:to>
                                        <p:strVal val="visible"/>
                                      </p:to>
                                    </p:set>
                                    <p:animEffect filter="fade" transition="in">
                                      <p:cBhvr additive="repl">
                                        <p:cTn id="187" dur="400"/>
                                        <p:tgtEl>
                                          <p:spTgt spid="133"/>
                                        </p:tgtEl>
                                      </p:cBhvr>
                                    </p:animEffect>
                                  </p:childTnLst>
                                </p:cTn>
                              </p:par>
                              <p:par>
                                <p:cTn id="188" nodeType="withEffect" fill="hold" presetClass="entr" presetID="10">
                                  <p:stCondLst>
                                    <p:cond delay="1400"/>
                                  </p:stCondLst>
                                  <p:childTnLst>
                                    <p:set>
                                      <p:cBhvr>
                                        <p:cTn id="189" dur="1" fill="hold">
                                          <p:stCondLst>
                                            <p:cond delay="0"/>
                                          </p:stCondLst>
                                        </p:cTn>
                                        <p:tgtEl>
                                          <p:spTgt spid="134"/>
                                        </p:tgtEl>
                                        <p:attrNameLst>
                                          <p:attrName>style.visibility</p:attrName>
                                        </p:attrNameLst>
                                      </p:cBhvr>
                                      <p:to>
                                        <p:strVal val="visible"/>
                                      </p:to>
                                    </p:set>
                                    <p:animEffect filter="fade" transition="in">
                                      <p:cBhvr additive="repl">
                                        <p:cTn id="190" dur="400"/>
                                        <p:tgtEl>
                                          <p:spTgt spid="134"/>
                                        </p:tgtEl>
                                      </p:cBhvr>
                                    </p:animEffect>
                                  </p:childTnLst>
                                </p:cTn>
                              </p:par>
                              <p:par>
                                <p:cTn id="191" nodeType="withEffect" fill="hold" presetClass="entr" presetID="10">
                                  <p:stCondLst>
                                    <p:cond delay="1400"/>
                                  </p:stCondLst>
                                  <p:childTnLst>
                                    <p:set>
                                      <p:cBhvr>
                                        <p:cTn id="192" dur="1" fill="hold">
                                          <p:stCondLst>
                                            <p:cond delay="0"/>
                                          </p:stCondLst>
                                        </p:cTn>
                                        <p:tgtEl>
                                          <p:spTgt spid="135"/>
                                        </p:tgtEl>
                                        <p:attrNameLst>
                                          <p:attrName>style.visibility</p:attrName>
                                        </p:attrNameLst>
                                      </p:cBhvr>
                                      <p:to>
                                        <p:strVal val="visible"/>
                                      </p:to>
                                    </p:set>
                                    <p:animEffect filter="fade" transition="in">
                                      <p:cBhvr additive="repl">
                                        <p:cTn id="193" dur="4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2" name="o1"/>
          <p:cNvSpPr/>
          <p:nvPr/>
        </p:nvSpPr>
        <p:spPr>
          <a:xfrm>
            <a:off x="274320" y="228600"/>
            <a:ext cx="11642760" cy="5897520"/>
          </a:xfrm>
          <a:prstGeom prst="roundRect">
            <a:avLst>
              <a:gd name="adj" fmla="val 3876"/>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3" name="o2"/>
          <p:cNvSpPr/>
          <p:nvPr/>
        </p:nvSpPr>
        <p:spPr>
          <a:xfrm>
            <a:off x="343080" y="297360"/>
            <a:ext cx="11505600" cy="5760360"/>
          </a:xfrm>
          <a:prstGeom prst="roundRect">
            <a:avLst>
              <a:gd name="adj" fmla="val 2778"/>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4" name="o3"/>
          <p:cNvSpPr/>
          <p:nvPr/>
        </p:nvSpPr>
        <p:spPr>
          <a:xfrm>
            <a:off x="86868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5" name="o4"/>
          <p:cNvSpPr/>
          <p:nvPr/>
        </p:nvSpPr>
        <p:spPr>
          <a:xfrm>
            <a:off x="93744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6" name="o5"/>
          <p:cNvSpPr/>
          <p:nvPr/>
        </p:nvSpPr>
        <p:spPr>
          <a:xfrm>
            <a:off x="976860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7" name="o6"/>
          <p:cNvSpPr/>
          <p:nvPr/>
        </p:nvSpPr>
        <p:spPr>
          <a:xfrm>
            <a:off x="983700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o7"/>
          <p:cNvSpPr/>
          <p:nvPr/>
        </p:nvSpPr>
        <p:spPr>
          <a:xfrm>
            <a:off x="86868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9" name="o8"/>
          <p:cNvSpPr/>
          <p:nvPr/>
        </p:nvSpPr>
        <p:spPr>
          <a:xfrm>
            <a:off x="93744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0" name="o9"/>
          <p:cNvSpPr/>
          <p:nvPr/>
        </p:nvSpPr>
        <p:spPr>
          <a:xfrm>
            <a:off x="976860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o10"/>
          <p:cNvSpPr/>
          <p:nvPr/>
        </p:nvSpPr>
        <p:spPr>
          <a:xfrm>
            <a:off x="983700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92" name="o11" descr="cherry"/>
          <p:cNvPicPr/>
          <p:nvPr/>
        </p:nvPicPr>
        <p:blipFill>
          <a:blip r:embed="rId1"/>
          <a:stretch/>
        </p:blipFill>
        <p:spPr>
          <a:xfrm>
            <a:off x="5684400" y="777240"/>
            <a:ext cx="822600" cy="822600"/>
          </a:xfrm>
          <a:prstGeom prst="rect">
            <a:avLst/>
          </a:prstGeom>
          <a:ln w="0">
            <a:noFill/>
          </a:ln>
        </p:spPr>
      </p:pic>
      <p:pic>
        <p:nvPicPr>
          <p:cNvPr id="193" name="o12" descr="LEVEL 1"/>
          <p:cNvPicPr/>
          <p:nvPr/>
        </p:nvPicPr>
        <p:blipFill>
          <a:blip r:embed="rId2"/>
          <a:stretch/>
        </p:blipFill>
        <p:spPr>
          <a:xfrm>
            <a:off x="5262480" y="1828800"/>
            <a:ext cx="1666080" cy="237240"/>
          </a:xfrm>
          <a:prstGeom prst="rect">
            <a:avLst/>
          </a:prstGeom>
          <a:ln w="0">
            <a:noFill/>
          </a:ln>
        </p:spPr>
      </p:pic>
      <p:pic>
        <p:nvPicPr>
          <p:cNvPr id="194" name="o13" descr="MISSION"/>
          <p:cNvPicPr/>
          <p:nvPr/>
        </p:nvPicPr>
        <p:blipFill>
          <a:blip r:embed="rId3"/>
          <a:stretch/>
        </p:blipFill>
        <p:spPr>
          <a:xfrm>
            <a:off x="4303800" y="2331720"/>
            <a:ext cx="3584160" cy="511560"/>
          </a:xfrm>
          <a:prstGeom prst="rect">
            <a:avLst/>
          </a:prstGeom>
          <a:ln w="0">
            <a:noFill/>
          </a:ln>
        </p:spPr>
      </p:pic>
      <p:sp>
        <p:nvSpPr>
          <p:cNvPr id="195" name="o14"/>
          <p:cNvSpPr/>
          <p:nvPr/>
        </p:nvSpPr>
        <p:spPr>
          <a:xfrm>
            <a:off x="1371600" y="3108960"/>
            <a:ext cx="9448200" cy="4111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2000" spc="-1" strike="noStrike">
                <a:solidFill>
                  <a:srgbClr val="c4c4e4"/>
                </a:solidFill>
                <a:latin typeface="Arial"/>
                <a:ea typeface="Arial"/>
              </a:rPr>
              <a:t>Le contexte et la question de départ</a:t>
            </a:r>
            <a:endParaRPr b="0" lang="en-US" sz="2000" spc="-1" strike="noStrike">
              <a:solidFill>
                <a:srgbClr val="ffffff"/>
              </a:solidFill>
              <a:latin typeface="Arial"/>
            </a:endParaRPr>
          </a:p>
        </p:txBody>
      </p:sp>
      <p:sp>
        <p:nvSpPr>
          <p:cNvPr id="196" name="o15"/>
          <p:cNvSpPr/>
          <p:nvPr/>
        </p:nvSpPr>
        <p:spPr>
          <a:xfrm>
            <a:off x="37080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197" name="o16"/>
          <p:cNvSpPr/>
          <p:nvPr/>
        </p:nvSpPr>
        <p:spPr>
          <a:xfrm>
            <a:off x="40737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198" name="o17"/>
          <p:cNvSpPr/>
          <p:nvPr/>
        </p:nvSpPr>
        <p:spPr>
          <a:xfrm>
            <a:off x="44395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199" name="o18"/>
          <p:cNvSpPr/>
          <p:nvPr/>
        </p:nvSpPr>
        <p:spPr>
          <a:xfrm>
            <a:off x="48052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0" name="o19"/>
          <p:cNvSpPr/>
          <p:nvPr/>
        </p:nvSpPr>
        <p:spPr>
          <a:xfrm>
            <a:off x="51710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1" name="o20"/>
          <p:cNvSpPr/>
          <p:nvPr/>
        </p:nvSpPr>
        <p:spPr>
          <a:xfrm>
            <a:off x="55368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2" name="o21"/>
          <p:cNvSpPr/>
          <p:nvPr/>
        </p:nvSpPr>
        <p:spPr>
          <a:xfrm>
            <a:off x="59025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3" name="o22"/>
          <p:cNvSpPr/>
          <p:nvPr/>
        </p:nvSpPr>
        <p:spPr>
          <a:xfrm>
            <a:off x="62683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4" name="o23"/>
          <p:cNvSpPr/>
          <p:nvPr/>
        </p:nvSpPr>
        <p:spPr>
          <a:xfrm>
            <a:off x="66340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5" name="o24"/>
          <p:cNvSpPr/>
          <p:nvPr/>
        </p:nvSpPr>
        <p:spPr>
          <a:xfrm>
            <a:off x="69998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6" name="o25"/>
          <p:cNvSpPr/>
          <p:nvPr/>
        </p:nvSpPr>
        <p:spPr>
          <a:xfrm>
            <a:off x="73656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7" name="o26"/>
          <p:cNvSpPr/>
          <p:nvPr/>
        </p:nvSpPr>
        <p:spPr>
          <a:xfrm>
            <a:off x="77313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8" name="o27"/>
          <p:cNvSpPr/>
          <p:nvPr/>
        </p:nvSpPr>
        <p:spPr>
          <a:xfrm>
            <a:off x="80971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09" name="o28"/>
          <p:cNvSpPr/>
          <p:nvPr/>
        </p:nvSpPr>
        <p:spPr>
          <a:xfrm>
            <a:off x="84628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10" name="o29"/>
          <p:cNvSpPr/>
          <p:nvPr/>
        </p:nvSpPr>
        <p:spPr>
          <a:xfrm>
            <a:off x="88286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11" name="o30"/>
          <p:cNvSpPr/>
          <p:nvPr/>
        </p:nvSpPr>
        <p:spPr>
          <a:xfrm>
            <a:off x="91944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12" name="o31"/>
          <p:cNvSpPr/>
          <p:nvPr/>
        </p:nvSpPr>
        <p:spPr>
          <a:xfrm>
            <a:off x="95601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213" name="o32"/>
          <p:cNvSpPr/>
          <p:nvPr/>
        </p:nvSpPr>
        <p:spPr>
          <a:xfrm>
            <a:off x="99259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pic>
        <p:nvPicPr>
          <p:cNvPr id="214" name="o33" descr="Pac-Man"/>
          <p:cNvPicPr/>
          <p:nvPr/>
        </p:nvPicPr>
        <p:blipFill>
          <a:blip r:embed="rId4"/>
          <a:stretch/>
        </p:blipFill>
        <p:spPr>
          <a:xfrm>
            <a:off x="2990160" y="3950280"/>
            <a:ext cx="420120" cy="420120"/>
          </a:xfrm>
          <a:prstGeom prst="rect">
            <a:avLst/>
          </a:prstGeom>
          <a:ln w="0">
            <a:noFill/>
          </a:ln>
        </p:spPr>
      </p:pic>
      <p:pic>
        <p:nvPicPr>
          <p:cNvPr id="215" name="o34" descr="fantôme"/>
          <p:cNvPicPr/>
          <p:nvPr/>
        </p:nvPicPr>
        <p:blipFill>
          <a:blip r:embed="rId5"/>
          <a:stretch/>
        </p:blipFill>
        <p:spPr>
          <a:xfrm>
            <a:off x="2350080" y="3950280"/>
            <a:ext cx="420120" cy="420120"/>
          </a:xfrm>
          <a:prstGeom prst="rect">
            <a:avLst/>
          </a:prstGeom>
          <a:ln w="0">
            <a:noFill/>
          </a:ln>
        </p:spPr>
      </p:pic>
      <p:pic>
        <p:nvPicPr>
          <p:cNvPr id="216" name="o35" descr="fantôme"/>
          <p:cNvPicPr/>
          <p:nvPr/>
        </p:nvPicPr>
        <p:blipFill>
          <a:blip r:embed="rId6"/>
          <a:stretch/>
        </p:blipFill>
        <p:spPr>
          <a:xfrm>
            <a:off x="1801440" y="3950280"/>
            <a:ext cx="420120" cy="420120"/>
          </a:xfrm>
          <a:prstGeom prst="rect">
            <a:avLst/>
          </a:prstGeom>
          <a:ln w="0">
            <a:noFill/>
          </a:ln>
        </p:spPr>
      </p:pic>
      <p:pic>
        <p:nvPicPr>
          <p:cNvPr id="217" name="o36" descr="fantôme"/>
          <p:cNvPicPr/>
          <p:nvPr/>
        </p:nvPicPr>
        <p:blipFill>
          <a:blip r:embed="rId7"/>
          <a:stretch/>
        </p:blipFill>
        <p:spPr>
          <a:xfrm>
            <a:off x="1252800" y="3950280"/>
            <a:ext cx="420120" cy="420120"/>
          </a:xfrm>
          <a:prstGeom prst="rect">
            <a:avLst/>
          </a:prstGeom>
          <a:ln w="0">
            <a:noFill/>
          </a:ln>
        </p:spPr>
      </p:pic>
      <p:pic>
        <p:nvPicPr>
          <p:cNvPr id="218" name="o37" descr="fantôme"/>
          <p:cNvPicPr/>
          <p:nvPr/>
        </p:nvPicPr>
        <p:blipFill>
          <a:blip r:embed="rId8"/>
          <a:stretch/>
        </p:blipFill>
        <p:spPr>
          <a:xfrm>
            <a:off x="704160" y="3950280"/>
            <a:ext cx="420120" cy="420120"/>
          </a:xfrm>
          <a:prstGeom prst="rect">
            <a:avLst/>
          </a:prstGeom>
          <a:ln w="0">
            <a:noFill/>
          </a:ln>
        </p:spPr>
      </p:pic>
      <p:pic>
        <p:nvPicPr>
          <p:cNvPr id="219" name="o38" descr="READY!"/>
          <p:cNvPicPr/>
          <p:nvPr/>
        </p:nvPicPr>
        <p:blipFill>
          <a:blip r:embed="rId9"/>
          <a:stretch/>
        </p:blipFill>
        <p:spPr>
          <a:xfrm>
            <a:off x="5492520" y="4617720"/>
            <a:ext cx="1206720" cy="200880"/>
          </a:xfrm>
          <a:prstGeom prst="rect">
            <a:avLst/>
          </a:prstGeom>
          <a:ln w="0">
            <a:noFill/>
          </a:ln>
        </p:spPr>
      </p:pic>
      <p:pic>
        <p:nvPicPr>
          <p:cNvPr id="220" name="o81" descr="super pac-gomme"/>
          <p:cNvPicPr/>
          <p:nvPr/>
        </p:nvPicPr>
        <p:blipFill>
          <a:blip r:embed="rId10"/>
          <a:stretch/>
        </p:blipFill>
        <p:spPr>
          <a:xfrm>
            <a:off x="11448360" y="6355080"/>
            <a:ext cx="182520" cy="182520"/>
          </a:xfrm>
          <a:prstGeom prst="rect">
            <a:avLst/>
          </a:prstGeom>
          <a:ln w="0">
            <a:noFill/>
          </a:ln>
        </p:spPr>
      </p:pic>
      <p:pic>
        <p:nvPicPr>
          <p:cNvPr id="221" name="barre_fantome" descr="image.gif"/>
          <p:cNvPicPr/>
          <p:nvPr/>
        </p:nvPicPr>
        <p:blipFill>
          <a:blip r:embed="rId11"/>
          <a:stretch/>
        </p:blipFill>
        <p:spPr>
          <a:xfrm>
            <a:off x="667872" y="6291000"/>
            <a:ext cx="310680" cy="310680"/>
          </a:xfrm>
          <a:prstGeom prst="rect">
            <a:avLst/>
          </a:prstGeom>
          <a:ln w="0">
            <a:noFill/>
          </a:ln>
        </p:spPr>
      </p:pic>
      <p:sp>
        <p:nvSpPr>
          <p:cNvPr id="223" name="barre_pastille"/>
          <p:cNvSpPr/>
          <p:nvPr/>
        </p:nvSpPr>
        <p:spPr>
          <a:xfrm>
            <a:off x="1600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3" name="barre_pastille"/>
          <p:cNvSpPr/>
          <p:nvPr/>
        </p:nvSpPr>
        <p:spPr>
          <a:xfrm>
            <a:off x="1828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4" name="barre_pastille"/>
          <p:cNvSpPr/>
          <p:nvPr/>
        </p:nvSpPr>
        <p:spPr>
          <a:xfrm>
            <a:off x="2057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5" name="barre_pastille"/>
          <p:cNvSpPr/>
          <p:nvPr/>
        </p:nvSpPr>
        <p:spPr>
          <a:xfrm>
            <a:off x="2286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6" name="barre_pastille"/>
          <p:cNvSpPr/>
          <p:nvPr/>
        </p:nvSpPr>
        <p:spPr>
          <a:xfrm>
            <a:off x="2514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7" name="barre_pastille"/>
          <p:cNvSpPr/>
          <p:nvPr/>
        </p:nvSpPr>
        <p:spPr>
          <a:xfrm>
            <a:off x="2743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8" name="barre_pastille"/>
          <p:cNvSpPr/>
          <p:nvPr/>
        </p:nvSpPr>
        <p:spPr>
          <a:xfrm>
            <a:off x="2971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9" name="barre_pastille"/>
          <p:cNvSpPr/>
          <p:nvPr/>
        </p:nvSpPr>
        <p:spPr>
          <a:xfrm>
            <a:off x="3200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0" name="barre_pastille"/>
          <p:cNvSpPr/>
          <p:nvPr/>
        </p:nvSpPr>
        <p:spPr>
          <a:xfrm>
            <a:off x="3429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1"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2"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3"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4"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5"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6"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7"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8"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39"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0"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1"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2"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3"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4"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5"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6"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7"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8"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49"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0"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1"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2"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3"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4"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5"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6"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7"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8"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59"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60"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61"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62"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63"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64"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222" name="barre_pacman" descr="image.gif"/>
          <p:cNvPicPr/>
          <p:nvPr/>
        </p:nvPicPr>
        <p:blipFill>
          <a:blip r:embed="rId12"/>
          <a:stretch/>
        </p:blipFill>
        <p:spPr>
          <a:xfrm>
            <a:off x="1234872" y="6291000"/>
            <a:ext cx="310680" cy="310680"/>
          </a:xfrm>
          <a:prstGeom prst="rect">
            <a:avLst/>
          </a:prstGeom>
          <a:ln w="0">
            <a:noFill/>
          </a:ln>
        </p:spPr>
      </p:pic>
      <p:sp>
        <p:nvSpPr>
          <p:cNvPr id="265"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p:transition>
    <p:fade/>
  </p:transition>
  <p:timing>
    <p:tnLst>
      <p:par>
        <p:cTn id="194" dur="indefinite" restart="never" nodeType="tmRoot">
          <p:childTnLst>
            <p:seq>
              <p:cTn id="195" dur="indefinite" nodeType="mainSeq">
                <p:childTnLst>
                  <p:par>
                    <p:cTn id="196" fill="hold">
                      <p:stCondLst>
                        <p:cond delay="0"/>
                      </p:stCondLst>
                      <p:childTnLst>
                        <p:par>
                          <p:cTn id="197" fill="hold">
                            <p:stCondLst>
                              <p:cond delay="0"/>
                            </p:stCondLst>
                            <p:childTnLst>
                              <p:par>
                                <p:cTn id="198" nodeType="withEffect" fill="hold" presetClass="path">
                                  <p:stCondLst>
                                    <p:cond delay="0"/>
                                  </p:stCondLst>
                                  <p:childTnLst>
                                    <p:animMotion origin="layout" path="M 0 0 L 0.02252 0 E">
                                      <p:cBhvr>
                                        <p:cTn id="199" dur="900" fill="hold"/>
                                        <p:tgtEl>
                                          <p:spTgt spid="221"/>
                                        </p:tgtEl>
                                        <p:attrNameLst>
                                          <p:attrName>ppt_x</p:attrName>
                                          <p:attrName>ppt_y</p:attrName>
                                        </p:attrNameLst>
                                      </p:cBhvr>
                                    </p:animMotion>
                                  </p:childTnLst>
                                </p:cTn>
                              </p:par>
                              <p:par>
                                <p:cTn id="200" nodeType="withEffect" fill="hold" presetClass="path">
                                  <p:stCondLst>
                                    <p:cond delay="0"/>
                                  </p:stCondLst>
                                  <p:childTnLst>
                                    <p:animMotion origin="layout" path="M 0 0 L 0.02252 0 E">
                                      <p:cBhvr>
                                        <p:cTn id="201" dur="900" fill="hold"/>
                                        <p:tgtEl>
                                          <p:spTgt spid="222"/>
                                        </p:tgtEl>
                                        <p:attrNameLst>
                                          <p:attrName>ppt_x</p:attrName>
                                          <p:attrName>ppt_y</p:attrName>
                                        </p:attrNameLst>
                                      </p:cBhvr>
                                    </p:animMotion>
                                  </p:childTnLst>
                                </p:cTn>
                              </p:par>
                              <p:par>
                                <p:cTn id="202" nodeType="withEffect" fill="hold" presetClass="exit" presetID="1">
                                  <p:stCondLst>
                                    <p:cond delay="358"/>
                                  </p:stCondLst>
                                  <p:childTnLst>
                                    <p:set>
                                      <p:cBhvr>
                                        <p:cTn id="203" dur="1" fill="hold">
                                          <p:stCondLst>
                                            <p:cond delay="0"/>
                                          </p:stCondLst>
                                        </p:cTn>
                                        <p:tgtEl>
                                          <p:spTgt spid="223"/>
                                        </p:tgtEl>
                                        <p:attrNameLst>
                                          <p:attrName>style.visibility</p:attrName>
                                        </p:attrNameLst>
                                      </p:cBhvr>
                                      <p:to>
                                        <p:strVal val="hidden"/>
                                      </p:to>
                                    </p:set>
                                  </p:childTnLst>
                                </p:cTn>
                              </p:par>
                              <p:par>
                                <p:cTn id="204" nodeType="withEffect" fill="hold" presetClass="exit" presetID="1">
                                  <p:stCondLst>
                                    <p:cond delay="1054"/>
                                  </p:stCondLst>
                                  <p:childTnLst>
                                    <p:set>
                                      <p:cBhvr>
                                        <p:cTn id="205" dur="1" fill="hold">
                                          <p:stCondLst>
                                            <p:cond delay="0"/>
                                          </p:stCondLst>
                                        </p:cTn>
                                        <p:tgtEl>
                                          <p:spTgt spid="196"/>
                                        </p:tgtEl>
                                        <p:attrNameLst>
                                          <p:attrName>style.visibility</p:attrName>
                                        </p:attrNameLst>
                                      </p:cBhvr>
                                      <p:to>
                                        <p:strVal val="hidden"/>
                                      </p:to>
                                    </p:set>
                                  </p:childTnLst>
                                </p:cTn>
                              </p:par>
                              <p:par>
                                <p:cTn id="206" nodeType="withEffect" fill="hold" presetClass="exit" presetID="1">
                                  <p:stCondLst>
                                    <p:cond delay="1191"/>
                                  </p:stCondLst>
                                  <p:childTnLst>
                                    <p:set>
                                      <p:cBhvr>
                                        <p:cTn id="207" dur="1" fill="hold">
                                          <p:stCondLst>
                                            <p:cond delay="0"/>
                                          </p:stCondLst>
                                        </p:cTn>
                                        <p:tgtEl>
                                          <p:spTgt spid="197"/>
                                        </p:tgtEl>
                                        <p:attrNameLst>
                                          <p:attrName>style.visibility</p:attrName>
                                        </p:attrNameLst>
                                      </p:cBhvr>
                                      <p:to>
                                        <p:strVal val="hidden"/>
                                      </p:to>
                                    </p:set>
                                  </p:childTnLst>
                                </p:cTn>
                              </p:par>
                              <p:par>
                                <p:cTn id="208" nodeType="withEffect" fill="hold" presetClass="exit" presetID="1">
                                  <p:stCondLst>
                                    <p:cond delay="1328"/>
                                  </p:stCondLst>
                                  <p:childTnLst>
                                    <p:set>
                                      <p:cBhvr>
                                        <p:cTn id="209" dur="1" fill="hold">
                                          <p:stCondLst>
                                            <p:cond delay="0"/>
                                          </p:stCondLst>
                                        </p:cTn>
                                        <p:tgtEl>
                                          <p:spTgt spid="198"/>
                                        </p:tgtEl>
                                        <p:attrNameLst>
                                          <p:attrName>style.visibility</p:attrName>
                                        </p:attrNameLst>
                                      </p:cBhvr>
                                      <p:to>
                                        <p:strVal val="hidden"/>
                                      </p:to>
                                    </p:set>
                                  </p:childTnLst>
                                </p:cTn>
                              </p:par>
                              <p:par>
                                <p:cTn id="210" nodeType="withEffect" fill="hold" presetClass="exit" presetID="1">
                                  <p:stCondLst>
                                    <p:cond delay="1464"/>
                                  </p:stCondLst>
                                  <p:childTnLst>
                                    <p:set>
                                      <p:cBhvr>
                                        <p:cTn id="211" dur="1" fill="hold">
                                          <p:stCondLst>
                                            <p:cond delay="0"/>
                                          </p:stCondLst>
                                        </p:cTn>
                                        <p:tgtEl>
                                          <p:spTgt spid="199"/>
                                        </p:tgtEl>
                                        <p:attrNameLst>
                                          <p:attrName>style.visibility</p:attrName>
                                        </p:attrNameLst>
                                      </p:cBhvr>
                                      <p:to>
                                        <p:strVal val="hidden"/>
                                      </p:to>
                                    </p:set>
                                  </p:childTnLst>
                                </p:cTn>
                              </p:par>
                              <p:par>
                                <p:cTn id="212" nodeType="withEffect" fill="hold" presetClass="exit" presetID="1">
                                  <p:stCondLst>
                                    <p:cond delay="1601"/>
                                  </p:stCondLst>
                                  <p:childTnLst>
                                    <p:set>
                                      <p:cBhvr>
                                        <p:cTn id="213" dur="1" fill="hold">
                                          <p:stCondLst>
                                            <p:cond delay="0"/>
                                          </p:stCondLst>
                                        </p:cTn>
                                        <p:tgtEl>
                                          <p:spTgt spid="200"/>
                                        </p:tgtEl>
                                        <p:attrNameLst>
                                          <p:attrName>style.visibility</p:attrName>
                                        </p:attrNameLst>
                                      </p:cBhvr>
                                      <p:to>
                                        <p:strVal val="hidden"/>
                                      </p:to>
                                    </p:set>
                                  </p:childTnLst>
                                </p:cTn>
                              </p:par>
                              <p:par>
                                <p:cTn id="214" nodeType="withEffect" fill="hold" presetClass="exit" presetID="1">
                                  <p:stCondLst>
                                    <p:cond delay="1738"/>
                                  </p:stCondLst>
                                  <p:childTnLst>
                                    <p:set>
                                      <p:cBhvr>
                                        <p:cTn id="215" dur="1" fill="hold">
                                          <p:stCondLst>
                                            <p:cond delay="0"/>
                                          </p:stCondLst>
                                        </p:cTn>
                                        <p:tgtEl>
                                          <p:spTgt spid="201"/>
                                        </p:tgtEl>
                                        <p:attrNameLst>
                                          <p:attrName>style.visibility</p:attrName>
                                        </p:attrNameLst>
                                      </p:cBhvr>
                                      <p:to>
                                        <p:strVal val="hidden"/>
                                      </p:to>
                                    </p:set>
                                  </p:childTnLst>
                                </p:cTn>
                              </p:par>
                              <p:par>
                                <p:cTn id="216" nodeType="withEffect" fill="hold" presetClass="exit" presetID="1">
                                  <p:stCondLst>
                                    <p:cond delay="1875"/>
                                  </p:stCondLst>
                                  <p:childTnLst>
                                    <p:set>
                                      <p:cBhvr>
                                        <p:cTn id="217" dur="1" fill="hold">
                                          <p:stCondLst>
                                            <p:cond delay="0"/>
                                          </p:stCondLst>
                                        </p:cTn>
                                        <p:tgtEl>
                                          <p:spTgt spid="202"/>
                                        </p:tgtEl>
                                        <p:attrNameLst>
                                          <p:attrName>style.visibility</p:attrName>
                                        </p:attrNameLst>
                                      </p:cBhvr>
                                      <p:to>
                                        <p:strVal val="hidden"/>
                                      </p:to>
                                    </p:set>
                                  </p:childTnLst>
                                </p:cTn>
                              </p:par>
                              <p:par>
                                <p:cTn id="218" nodeType="withEffect" fill="hold" presetClass="exit" presetID="1">
                                  <p:stCondLst>
                                    <p:cond delay="2012"/>
                                  </p:stCondLst>
                                  <p:childTnLst>
                                    <p:set>
                                      <p:cBhvr>
                                        <p:cTn id="219" dur="1" fill="hold">
                                          <p:stCondLst>
                                            <p:cond delay="0"/>
                                          </p:stCondLst>
                                        </p:cTn>
                                        <p:tgtEl>
                                          <p:spTgt spid="203"/>
                                        </p:tgtEl>
                                        <p:attrNameLst>
                                          <p:attrName>style.visibility</p:attrName>
                                        </p:attrNameLst>
                                      </p:cBhvr>
                                      <p:to>
                                        <p:strVal val="hidden"/>
                                      </p:to>
                                    </p:set>
                                  </p:childTnLst>
                                </p:cTn>
                              </p:par>
                              <p:par>
                                <p:cTn id="220" nodeType="withEffect" fill="hold" presetClass="exit" presetID="1">
                                  <p:stCondLst>
                                    <p:cond delay="2149"/>
                                  </p:stCondLst>
                                  <p:childTnLst>
                                    <p:set>
                                      <p:cBhvr>
                                        <p:cTn id="221" dur="1" fill="hold">
                                          <p:stCondLst>
                                            <p:cond delay="0"/>
                                          </p:stCondLst>
                                        </p:cTn>
                                        <p:tgtEl>
                                          <p:spTgt spid="204"/>
                                        </p:tgtEl>
                                        <p:attrNameLst>
                                          <p:attrName>style.visibility</p:attrName>
                                        </p:attrNameLst>
                                      </p:cBhvr>
                                      <p:to>
                                        <p:strVal val="hidden"/>
                                      </p:to>
                                    </p:set>
                                  </p:childTnLst>
                                </p:cTn>
                              </p:par>
                              <p:par>
                                <p:cTn id="222" nodeType="withEffect" fill="hold" presetClass="exit" presetID="1">
                                  <p:stCondLst>
                                    <p:cond delay="2286"/>
                                  </p:stCondLst>
                                  <p:childTnLst>
                                    <p:set>
                                      <p:cBhvr>
                                        <p:cTn id="223" dur="1" fill="hold">
                                          <p:stCondLst>
                                            <p:cond delay="0"/>
                                          </p:stCondLst>
                                        </p:cTn>
                                        <p:tgtEl>
                                          <p:spTgt spid="205"/>
                                        </p:tgtEl>
                                        <p:attrNameLst>
                                          <p:attrName>style.visibility</p:attrName>
                                        </p:attrNameLst>
                                      </p:cBhvr>
                                      <p:to>
                                        <p:strVal val="hidden"/>
                                      </p:to>
                                    </p:set>
                                  </p:childTnLst>
                                </p:cTn>
                              </p:par>
                              <p:par>
                                <p:cTn id="224" nodeType="withEffect" fill="hold" presetClass="exit" presetID="1">
                                  <p:stCondLst>
                                    <p:cond delay="2422"/>
                                  </p:stCondLst>
                                  <p:childTnLst>
                                    <p:set>
                                      <p:cBhvr>
                                        <p:cTn id="225" dur="1" fill="hold">
                                          <p:stCondLst>
                                            <p:cond delay="0"/>
                                          </p:stCondLst>
                                        </p:cTn>
                                        <p:tgtEl>
                                          <p:spTgt spid="206"/>
                                        </p:tgtEl>
                                        <p:attrNameLst>
                                          <p:attrName>style.visibility</p:attrName>
                                        </p:attrNameLst>
                                      </p:cBhvr>
                                      <p:to>
                                        <p:strVal val="hidden"/>
                                      </p:to>
                                    </p:set>
                                  </p:childTnLst>
                                </p:cTn>
                              </p:par>
                              <p:par>
                                <p:cTn id="226" nodeType="withEffect" fill="hold" presetClass="exit" presetID="1">
                                  <p:stCondLst>
                                    <p:cond delay="2559"/>
                                  </p:stCondLst>
                                  <p:childTnLst>
                                    <p:set>
                                      <p:cBhvr>
                                        <p:cTn id="227" dur="1" fill="hold">
                                          <p:stCondLst>
                                            <p:cond delay="0"/>
                                          </p:stCondLst>
                                        </p:cTn>
                                        <p:tgtEl>
                                          <p:spTgt spid="207"/>
                                        </p:tgtEl>
                                        <p:attrNameLst>
                                          <p:attrName>style.visibility</p:attrName>
                                        </p:attrNameLst>
                                      </p:cBhvr>
                                      <p:to>
                                        <p:strVal val="hidden"/>
                                      </p:to>
                                    </p:set>
                                  </p:childTnLst>
                                </p:cTn>
                              </p:par>
                              <p:par>
                                <p:cTn id="228" nodeType="withEffect" fill="hold" presetClass="exit" presetID="1">
                                  <p:stCondLst>
                                    <p:cond delay="2696"/>
                                  </p:stCondLst>
                                  <p:childTnLst>
                                    <p:set>
                                      <p:cBhvr>
                                        <p:cTn id="229" dur="1" fill="hold">
                                          <p:stCondLst>
                                            <p:cond delay="0"/>
                                          </p:stCondLst>
                                        </p:cTn>
                                        <p:tgtEl>
                                          <p:spTgt spid="208"/>
                                        </p:tgtEl>
                                        <p:attrNameLst>
                                          <p:attrName>style.visibility</p:attrName>
                                        </p:attrNameLst>
                                      </p:cBhvr>
                                      <p:to>
                                        <p:strVal val="hidden"/>
                                      </p:to>
                                    </p:set>
                                  </p:childTnLst>
                                </p:cTn>
                              </p:par>
                              <p:par>
                                <p:cTn id="230" nodeType="withEffect" fill="hold" presetClass="exit" presetID="1">
                                  <p:stCondLst>
                                    <p:cond delay="2833"/>
                                  </p:stCondLst>
                                  <p:childTnLst>
                                    <p:set>
                                      <p:cBhvr>
                                        <p:cTn id="231" dur="1" fill="hold">
                                          <p:stCondLst>
                                            <p:cond delay="0"/>
                                          </p:stCondLst>
                                        </p:cTn>
                                        <p:tgtEl>
                                          <p:spTgt spid="209"/>
                                        </p:tgtEl>
                                        <p:attrNameLst>
                                          <p:attrName>style.visibility</p:attrName>
                                        </p:attrNameLst>
                                      </p:cBhvr>
                                      <p:to>
                                        <p:strVal val="hidden"/>
                                      </p:to>
                                    </p:set>
                                  </p:childTnLst>
                                </p:cTn>
                              </p:par>
                              <p:par>
                                <p:cTn id="232" nodeType="withEffect" fill="hold" presetClass="exit" presetID="1">
                                  <p:stCondLst>
                                    <p:cond delay="2970"/>
                                  </p:stCondLst>
                                  <p:childTnLst>
                                    <p:set>
                                      <p:cBhvr>
                                        <p:cTn id="233" dur="1" fill="hold">
                                          <p:stCondLst>
                                            <p:cond delay="0"/>
                                          </p:stCondLst>
                                        </p:cTn>
                                        <p:tgtEl>
                                          <p:spTgt spid="210"/>
                                        </p:tgtEl>
                                        <p:attrNameLst>
                                          <p:attrName>style.visibility</p:attrName>
                                        </p:attrNameLst>
                                      </p:cBhvr>
                                      <p:to>
                                        <p:strVal val="hidden"/>
                                      </p:to>
                                    </p:set>
                                  </p:childTnLst>
                                </p:cTn>
                              </p:par>
                              <p:par>
                                <p:cTn id="234" nodeType="withEffect" fill="hold" presetClass="exit" presetID="1">
                                  <p:stCondLst>
                                    <p:cond delay="3107"/>
                                  </p:stCondLst>
                                  <p:childTnLst>
                                    <p:set>
                                      <p:cBhvr>
                                        <p:cTn id="235" dur="1" fill="hold">
                                          <p:stCondLst>
                                            <p:cond delay="0"/>
                                          </p:stCondLst>
                                        </p:cTn>
                                        <p:tgtEl>
                                          <p:spTgt spid="211"/>
                                        </p:tgtEl>
                                        <p:attrNameLst>
                                          <p:attrName>style.visibility</p:attrName>
                                        </p:attrNameLst>
                                      </p:cBhvr>
                                      <p:to>
                                        <p:strVal val="hidden"/>
                                      </p:to>
                                    </p:set>
                                  </p:childTnLst>
                                </p:cTn>
                              </p:par>
                              <p:par>
                                <p:cTn id="236" nodeType="withEffect" fill="hold" presetClass="exit" presetID="1">
                                  <p:stCondLst>
                                    <p:cond delay="3243"/>
                                  </p:stCondLst>
                                  <p:childTnLst>
                                    <p:set>
                                      <p:cBhvr>
                                        <p:cTn id="237" dur="1" fill="hold">
                                          <p:stCondLst>
                                            <p:cond delay="0"/>
                                          </p:stCondLst>
                                        </p:cTn>
                                        <p:tgtEl>
                                          <p:spTgt spid="212"/>
                                        </p:tgtEl>
                                        <p:attrNameLst>
                                          <p:attrName>style.visibility</p:attrName>
                                        </p:attrNameLst>
                                      </p:cBhvr>
                                      <p:to>
                                        <p:strVal val="hidden"/>
                                      </p:to>
                                    </p:set>
                                  </p:childTnLst>
                                </p:cTn>
                              </p:par>
                              <p:par>
                                <p:cTn id="238" nodeType="withEffect" fill="hold" presetClass="exit" presetID="1">
                                  <p:stCondLst>
                                    <p:cond delay="3380"/>
                                  </p:stCondLst>
                                  <p:childTnLst>
                                    <p:set>
                                      <p:cBhvr>
                                        <p:cTn id="239" dur="1" fill="hold">
                                          <p:stCondLst>
                                            <p:cond delay="0"/>
                                          </p:stCondLst>
                                        </p:cTn>
                                        <p:tgtEl>
                                          <p:spTgt spid="213"/>
                                        </p:tgtEl>
                                        <p:attrNameLst>
                                          <p:attrName>style.visibility</p:attrName>
                                        </p:attrNameLst>
                                      </p:cBhvr>
                                      <p:to>
                                        <p:strVal val="hidden"/>
                                      </p:to>
                                    </p:set>
                                  </p:childTnLst>
                                </p:cTn>
                              </p:par>
                              <p:par>
                                <p:cTn id="240" nodeType="withEffect" fill="hold" presetClass="path">
                                  <p:stCondLst>
                                    <p:cond delay="900"/>
                                  </p:stCondLst>
                                  <p:childTnLst>
                                    <p:animMotion origin="layout" path="M 0 0 L 0.57001 0 E">
                                      <p:cBhvr>
                                        <p:cTn id="241" dur="2600" fill="hold"/>
                                        <p:tgtEl>
                                          <p:spTgt spid="214"/>
                                        </p:tgtEl>
                                        <p:attrNameLst>
                                          <p:attrName>ppt_x</p:attrName>
                                          <p:attrName>ppt_y</p:attrName>
                                        </p:attrNameLst>
                                      </p:cBhvr>
                                    </p:animMotion>
                                  </p:childTnLst>
                                </p:cTn>
                              </p:par>
                              <p:par>
                                <p:cTn id="242" nodeType="withEffect" fill="hold" presetClass="path">
                                  <p:stCondLst>
                                    <p:cond delay="900"/>
                                  </p:stCondLst>
                                  <p:childTnLst>
                                    <p:animMotion origin="layout" path="M 0 0 L 0.57001 0 E">
                                      <p:cBhvr>
                                        <p:cTn id="243" dur="2600" fill="hold"/>
                                        <p:tgtEl>
                                          <p:spTgt spid="215"/>
                                        </p:tgtEl>
                                        <p:attrNameLst>
                                          <p:attrName>ppt_x</p:attrName>
                                          <p:attrName>ppt_y</p:attrName>
                                        </p:attrNameLst>
                                      </p:cBhvr>
                                    </p:animMotion>
                                  </p:childTnLst>
                                </p:cTn>
                              </p:par>
                              <p:par>
                                <p:cTn id="244" nodeType="withEffect" fill="hold" presetClass="path">
                                  <p:stCondLst>
                                    <p:cond delay="900"/>
                                  </p:stCondLst>
                                  <p:childTnLst>
                                    <p:animMotion origin="layout" path="M 0 0 L 0.57001 0 E">
                                      <p:cBhvr>
                                        <p:cTn id="245" dur="2600" fill="hold"/>
                                        <p:tgtEl>
                                          <p:spTgt spid="216"/>
                                        </p:tgtEl>
                                        <p:attrNameLst>
                                          <p:attrName>ppt_x</p:attrName>
                                          <p:attrName>ppt_y</p:attrName>
                                        </p:attrNameLst>
                                      </p:cBhvr>
                                    </p:animMotion>
                                  </p:childTnLst>
                                </p:cTn>
                              </p:par>
                              <p:par>
                                <p:cTn id="246" nodeType="withEffect" fill="hold" presetClass="path">
                                  <p:stCondLst>
                                    <p:cond delay="900"/>
                                  </p:stCondLst>
                                  <p:childTnLst>
                                    <p:animMotion origin="layout" path="M 0 0 L 0.57001 0 E">
                                      <p:cBhvr>
                                        <p:cTn id="247" dur="2600" fill="hold"/>
                                        <p:tgtEl>
                                          <p:spTgt spid="217"/>
                                        </p:tgtEl>
                                        <p:attrNameLst>
                                          <p:attrName>ppt_x</p:attrName>
                                          <p:attrName>ppt_y</p:attrName>
                                        </p:attrNameLst>
                                      </p:cBhvr>
                                    </p:animMotion>
                                  </p:childTnLst>
                                </p:cTn>
                              </p:par>
                              <p:par>
                                <p:cTn id="248" nodeType="withEffect" fill="hold" presetClass="path">
                                  <p:stCondLst>
                                    <p:cond delay="900"/>
                                  </p:stCondLst>
                                  <p:childTnLst>
                                    <p:animMotion origin="layout" path="M 0 0 L 0.57001 0 E">
                                      <p:cBhvr>
                                        <p:cTn id="249" dur="2600" fill="hold"/>
                                        <p:tgtEl>
                                          <p:spTgt spid="218"/>
                                        </p:tgtEl>
                                        <p:attrNameLst>
                                          <p:attrName>ppt_x</p:attrName>
                                          <p:attrName>ppt_y</p:attrName>
                                        </p:attrNameLst>
                                      </p:cBhvr>
                                    </p:animMotion>
                                  </p:childTnLst>
                                </p:cTn>
                              </p:par>
                              <p:par>
                                <p:cTn id="250" nodeType="withEffect" fill="hold" presetClass="exit" presetID="1">
                                  <p:stCondLst>
                                    <p:cond delay="900"/>
                                  </p:stCondLst>
                                  <p:childTnLst>
                                    <p:set>
                                      <p:cBhvr>
                                        <p:cTn id="251" dur="1" fill="hold">
                                          <p:stCondLst>
                                            <p:cond delay="0"/>
                                          </p:stCondLst>
                                        </p:cTn>
                                        <p:tgtEl>
                                          <p:spTgt spid="2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66" name="o1" descr="LEVEL 1 → MISSION"/>
          <p:cNvPicPr/>
          <p:nvPr/>
        </p:nvPicPr>
        <p:blipFill>
          <a:blip r:embed="rId1"/>
          <a:stretch/>
        </p:blipFill>
        <p:spPr>
          <a:xfrm>
            <a:off x="548640" y="411480"/>
            <a:ext cx="2486880" cy="145800"/>
          </a:xfrm>
          <a:prstGeom prst="rect">
            <a:avLst/>
          </a:prstGeom>
          <a:ln w="0">
            <a:noFill/>
          </a:ln>
        </p:spPr>
      </p:pic>
      <p:pic>
        <p:nvPicPr>
          <p:cNvPr id="267" name="o2" descr="Le contexte"/>
          <p:cNvPicPr/>
          <p:nvPr/>
        </p:nvPicPr>
        <p:blipFill>
          <a:blip r:embed="rId2"/>
          <a:stretch/>
        </p:blipFill>
        <p:spPr>
          <a:xfrm>
            <a:off x="548640" y="777240"/>
            <a:ext cx="3017160" cy="273960"/>
          </a:xfrm>
          <a:prstGeom prst="rect">
            <a:avLst/>
          </a:prstGeom>
          <a:ln w="0">
            <a:noFill/>
          </a:ln>
        </p:spPr>
      </p:pic>
      <p:pic>
        <p:nvPicPr>
          <p:cNvPr id="268" name="o3" descr="cherry"/>
          <p:cNvPicPr/>
          <p:nvPr/>
        </p:nvPicPr>
        <p:blipFill>
          <a:blip r:embed="rId3"/>
          <a:stretch/>
        </p:blipFill>
        <p:spPr>
          <a:xfrm>
            <a:off x="11073240" y="365760"/>
            <a:ext cx="566640" cy="566640"/>
          </a:xfrm>
          <a:prstGeom prst="rect">
            <a:avLst/>
          </a:prstGeom>
          <a:ln w="0">
            <a:noFill/>
          </a:ln>
        </p:spPr>
      </p:pic>
      <p:pic>
        <p:nvPicPr>
          <p:cNvPr id="269" name="o43" descr="super pac-gomme"/>
          <p:cNvPicPr/>
          <p:nvPr/>
        </p:nvPicPr>
        <p:blipFill>
          <a:blip r:embed="rId4"/>
          <a:stretch/>
        </p:blipFill>
        <p:spPr>
          <a:xfrm>
            <a:off x="11448360" y="6355080"/>
            <a:ext cx="182520" cy="182520"/>
          </a:xfrm>
          <a:prstGeom prst="rect">
            <a:avLst/>
          </a:prstGeom>
          <a:ln w="0">
            <a:noFill/>
          </a:ln>
        </p:spPr>
      </p:pic>
      <p:sp>
        <p:nvSpPr>
          <p:cNvPr id="270" name="o46"/>
          <p:cNvSpPr/>
          <p:nvPr/>
        </p:nvSpPr>
        <p:spPr>
          <a:xfrm>
            <a:off x="548640" y="1691640"/>
            <a:ext cx="3565800" cy="502560"/>
          </a:xfrm>
          <a:prstGeom prst="roundRect">
            <a:avLst>
              <a:gd name="adj" fmla="val 14545"/>
            </a:avLst>
          </a:prstGeom>
          <a:solidFill>
            <a:srgbClr val="000000"/>
          </a:solidFill>
          <a:ln w="28575">
            <a:solidFill>
              <a:srgbClr val="ffb8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1" name="o47"/>
          <p:cNvSpPr/>
          <p:nvPr/>
        </p:nvSpPr>
        <p:spPr>
          <a:xfrm>
            <a:off x="617400" y="1760400"/>
            <a:ext cx="3428640" cy="365400"/>
          </a:xfrm>
          <a:prstGeom prst="roundRect">
            <a:avLst>
              <a:gd name="adj" fmla="val 5000"/>
            </a:avLst>
          </a:prstGeom>
          <a:noFill/>
          <a:ln w="12700">
            <a:solidFill>
              <a:srgbClr val="ffb8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72" name="o48" descr="ROLE : DATA ANALYST"/>
          <p:cNvPicPr/>
          <p:nvPr/>
        </p:nvPicPr>
        <p:blipFill>
          <a:blip r:embed="rId5"/>
          <a:stretch/>
        </p:blipFill>
        <p:spPr>
          <a:xfrm>
            <a:off x="941760" y="1856160"/>
            <a:ext cx="2779560" cy="145800"/>
          </a:xfrm>
          <a:prstGeom prst="rect">
            <a:avLst/>
          </a:prstGeom>
          <a:ln w="0">
            <a:noFill/>
          </a:ln>
        </p:spPr>
      </p:pic>
      <p:sp>
        <p:nvSpPr>
          <p:cNvPr id="273" name="o49"/>
          <p:cNvSpPr/>
          <p:nvPr/>
        </p:nvSpPr>
        <p:spPr>
          <a:xfrm>
            <a:off x="548640" y="2423160"/>
            <a:ext cx="539460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pc="-1" strike="noStrike">
                <a:solidFill>
                  <a:srgbClr val="ffffff"/>
                </a:solidFill>
                <a:latin typeface="Arial"/>
                <a:ea typeface="Arial"/>
              </a:rPr>
              <a:t>Qu'est-ce qui fait </a:t>
            </a:r>
            <a:r>
              <a:rPr b="1" lang="en-US" sz="3400" spc="-1" strike="noStrike">
                <a:solidFill>
                  <a:srgbClr val="ffe600"/>
                </a:solidFill>
                <a:latin typeface="Arial"/>
                <a:ea typeface="Arial"/>
              </a:rPr>
              <a:t>vendre</a:t>
            </a:r>
            <a:r>
              <a:rPr b="1" lang="en-US" sz="3400" spc="-1" strike="noStrike">
                <a:solidFill>
                  <a:srgbClr val="ffffff"/>
                </a:solidFill>
                <a:latin typeface="Arial"/>
                <a:ea typeface="Arial"/>
              </a:rPr>
              <a:t> un jeu vidéo ?</a:t>
            </a:r>
            <a:endParaRPr b="0" lang="en-US" sz="3400" spc="-1" strike="noStrike">
              <a:solidFill>
                <a:srgbClr val="ffffff"/>
              </a:solidFill>
              <a:latin typeface="Arial"/>
            </a:endParaRPr>
          </a:p>
        </p:txBody>
      </p:sp>
      <p:sp>
        <p:nvSpPr>
          <p:cNvPr id="274" name="o50"/>
          <p:cNvSpPr/>
          <p:nvPr/>
        </p:nvSpPr>
        <p:spPr>
          <a:xfrm>
            <a:off x="548640" y="4023360"/>
            <a:ext cx="5120280" cy="822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700" spc="-1" strike="noStrike">
                <a:solidFill>
                  <a:srgbClr val="c4c4e4"/>
                </a:solidFill>
                <a:latin typeface="Arial"/>
                <a:ea typeface="Arial"/>
              </a:rPr>
              <a:t>Nettoyer les ventes mondiales de jeux, explorer les tendances et en tirer des insights métier.</a:t>
            </a:r>
            <a:endParaRPr b="0" lang="en-US" sz="1700" spc="-1" strike="noStrike">
              <a:solidFill>
                <a:srgbClr val="ffffff"/>
              </a:solidFill>
              <a:latin typeface="Arial"/>
            </a:endParaRPr>
          </a:p>
        </p:txBody>
      </p:sp>
      <p:sp>
        <p:nvSpPr>
          <p:cNvPr id="275" name="o51"/>
          <p:cNvSpPr/>
          <p:nvPr/>
        </p:nvSpPr>
        <p:spPr>
          <a:xfrm>
            <a:off x="548640" y="5074920"/>
            <a:ext cx="512028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7c7caa"/>
                </a:solidFill>
                <a:latin typeface="Arial"/>
                <a:ea typeface="Arial"/>
              </a:rPr>
              <a:t>Source : VGChartz · ventes en millions d'exemplaires · Amérique du Nord, Europe, Japon, reste du monde</a:t>
            </a:r>
            <a:endParaRPr b="0" lang="en-US" sz="1200" spc="-1" strike="noStrike">
              <a:solidFill>
                <a:srgbClr val="ffffff"/>
              </a:solidFill>
              <a:latin typeface="Arial"/>
            </a:endParaRPr>
          </a:p>
        </p:txBody>
      </p:sp>
      <p:sp>
        <p:nvSpPr>
          <p:cNvPr id="276" name="o52"/>
          <p:cNvSpPr/>
          <p:nvPr/>
        </p:nvSpPr>
        <p:spPr>
          <a:xfrm>
            <a:off x="6446520" y="1691640"/>
            <a:ext cx="2495880" cy="1874160"/>
          </a:xfrm>
          <a:prstGeom prst="roundRect">
            <a:avLst>
              <a:gd name="adj" fmla="val 682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7" name="o53"/>
          <p:cNvSpPr/>
          <p:nvPr/>
        </p:nvSpPr>
        <p:spPr>
          <a:xfrm>
            <a:off x="6515280" y="1760400"/>
            <a:ext cx="2358720" cy="1737000"/>
          </a:xfrm>
          <a:prstGeom prst="roundRect">
            <a:avLst>
              <a:gd name="adj" fmla="val 3421"/>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78" name="o54" descr="16 598"/>
          <p:cNvPicPr/>
          <p:nvPr/>
        </p:nvPicPr>
        <p:blipFill>
          <a:blip r:embed="rId6"/>
          <a:stretch/>
        </p:blipFill>
        <p:spPr>
          <a:xfrm>
            <a:off x="6720840" y="2148840"/>
            <a:ext cx="1645560" cy="273960"/>
          </a:xfrm>
          <a:prstGeom prst="rect">
            <a:avLst/>
          </a:prstGeom>
          <a:ln w="0">
            <a:noFill/>
          </a:ln>
        </p:spPr>
      </p:pic>
      <p:sp>
        <p:nvSpPr>
          <p:cNvPr id="279" name="o55"/>
          <p:cNvSpPr/>
          <p:nvPr/>
        </p:nvSpPr>
        <p:spPr>
          <a:xfrm>
            <a:off x="6720840" y="2697480"/>
            <a:ext cx="201132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jeux dans le fichier</a:t>
            </a:r>
            <a:endParaRPr b="0" lang="en-US" sz="1400" spc="-1" strike="noStrike">
              <a:solidFill>
                <a:srgbClr val="ffffff"/>
              </a:solidFill>
              <a:latin typeface="Arial"/>
            </a:endParaRPr>
          </a:p>
        </p:txBody>
      </p:sp>
      <p:sp>
        <p:nvSpPr>
          <p:cNvPr id="280" name="o56"/>
          <p:cNvSpPr/>
          <p:nvPr/>
        </p:nvSpPr>
        <p:spPr>
          <a:xfrm>
            <a:off x="9144000" y="1691640"/>
            <a:ext cx="2495880" cy="1874160"/>
          </a:xfrm>
          <a:prstGeom prst="roundRect">
            <a:avLst>
              <a:gd name="adj" fmla="val 682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1" name="o57"/>
          <p:cNvSpPr/>
          <p:nvPr/>
        </p:nvSpPr>
        <p:spPr>
          <a:xfrm>
            <a:off x="9212760" y="1760400"/>
            <a:ext cx="2358720" cy="1737000"/>
          </a:xfrm>
          <a:prstGeom prst="roundRect">
            <a:avLst>
              <a:gd name="adj" fmla="val 3421"/>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82" name="o58" descr="37 ANS"/>
          <p:cNvPicPr/>
          <p:nvPr/>
        </p:nvPicPr>
        <p:blipFill>
          <a:blip r:embed="rId7"/>
          <a:stretch/>
        </p:blipFill>
        <p:spPr>
          <a:xfrm>
            <a:off x="9418320" y="2148840"/>
            <a:ext cx="1645560" cy="273960"/>
          </a:xfrm>
          <a:prstGeom prst="rect">
            <a:avLst/>
          </a:prstGeom>
          <a:ln w="0">
            <a:noFill/>
          </a:ln>
        </p:spPr>
      </p:pic>
      <p:sp>
        <p:nvSpPr>
          <p:cNvPr id="283" name="o59"/>
          <p:cNvSpPr/>
          <p:nvPr/>
        </p:nvSpPr>
        <p:spPr>
          <a:xfrm>
            <a:off x="9418320" y="2697480"/>
            <a:ext cx="201132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de 1980 à 2016</a:t>
            </a:r>
            <a:endParaRPr b="0" lang="en-US" sz="1400" spc="-1" strike="noStrike">
              <a:solidFill>
                <a:srgbClr val="ffffff"/>
              </a:solidFill>
              <a:latin typeface="Arial"/>
            </a:endParaRPr>
          </a:p>
        </p:txBody>
      </p:sp>
      <p:sp>
        <p:nvSpPr>
          <p:cNvPr id="284" name="o60"/>
          <p:cNvSpPr/>
          <p:nvPr/>
        </p:nvSpPr>
        <p:spPr>
          <a:xfrm>
            <a:off x="6446520" y="3794760"/>
            <a:ext cx="2495880" cy="1874160"/>
          </a:xfrm>
          <a:prstGeom prst="roundRect">
            <a:avLst>
              <a:gd name="adj" fmla="val 682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5" name="o61"/>
          <p:cNvSpPr/>
          <p:nvPr/>
        </p:nvSpPr>
        <p:spPr>
          <a:xfrm>
            <a:off x="6515280" y="3863520"/>
            <a:ext cx="2358720" cy="1737000"/>
          </a:xfrm>
          <a:prstGeom prst="roundRect">
            <a:avLst>
              <a:gd name="adj" fmla="val 3421"/>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86" name="o62" descr="31"/>
          <p:cNvPicPr/>
          <p:nvPr/>
        </p:nvPicPr>
        <p:blipFill>
          <a:blip r:embed="rId8"/>
          <a:stretch/>
        </p:blipFill>
        <p:spPr>
          <a:xfrm>
            <a:off x="6720840" y="4251960"/>
            <a:ext cx="548280" cy="273960"/>
          </a:xfrm>
          <a:prstGeom prst="rect">
            <a:avLst/>
          </a:prstGeom>
          <a:ln w="0">
            <a:noFill/>
          </a:ln>
        </p:spPr>
      </p:pic>
      <p:sp>
        <p:nvSpPr>
          <p:cNvPr id="287" name="o63"/>
          <p:cNvSpPr/>
          <p:nvPr/>
        </p:nvSpPr>
        <p:spPr>
          <a:xfrm>
            <a:off x="6720840" y="4800600"/>
            <a:ext cx="201132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plateformes, de l'Atari 2600 à la PS4</a:t>
            </a:r>
            <a:endParaRPr b="0" lang="en-US" sz="1400" spc="-1" strike="noStrike">
              <a:solidFill>
                <a:srgbClr val="ffffff"/>
              </a:solidFill>
              <a:latin typeface="Arial"/>
            </a:endParaRPr>
          </a:p>
        </p:txBody>
      </p:sp>
      <p:sp>
        <p:nvSpPr>
          <p:cNvPr id="288" name="o64"/>
          <p:cNvSpPr/>
          <p:nvPr/>
        </p:nvSpPr>
        <p:spPr>
          <a:xfrm>
            <a:off x="9144000" y="3794760"/>
            <a:ext cx="2495880" cy="1874160"/>
          </a:xfrm>
          <a:prstGeom prst="roundRect">
            <a:avLst>
              <a:gd name="adj" fmla="val 682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9" name="o65"/>
          <p:cNvSpPr/>
          <p:nvPr/>
        </p:nvSpPr>
        <p:spPr>
          <a:xfrm>
            <a:off x="9212760" y="3863520"/>
            <a:ext cx="2358720" cy="1737000"/>
          </a:xfrm>
          <a:prstGeom prst="roundRect">
            <a:avLst>
              <a:gd name="adj" fmla="val 3421"/>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90" name="o66" descr="8,9 MD"/>
          <p:cNvPicPr/>
          <p:nvPr/>
        </p:nvPicPr>
        <p:blipFill>
          <a:blip r:embed="rId9"/>
          <a:stretch/>
        </p:blipFill>
        <p:spPr>
          <a:xfrm>
            <a:off x="9418320" y="4251960"/>
            <a:ext cx="1645560" cy="273960"/>
          </a:xfrm>
          <a:prstGeom prst="rect">
            <a:avLst/>
          </a:prstGeom>
          <a:ln w="0">
            <a:noFill/>
          </a:ln>
        </p:spPr>
      </p:pic>
      <p:sp>
        <p:nvSpPr>
          <p:cNvPr id="291" name="o67"/>
          <p:cNvSpPr/>
          <p:nvPr/>
        </p:nvSpPr>
        <p:spPr>
          <a:xfrm>
            <a:off x="9418320" y="4800600"/>
            <a:ext cx="201132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d'exemplaires vendus</a:t>
            </a:r>
            <a:endParaRPr b="0" lang="en-US" sz="1400" spc="-1" strike="noStrike">
              <a:solidFill>
                <a:srgbClr val="ffffff"/>
              </a:solidFill>
              <a:latin typeface="Arial"/>
            </a:endParaRPr>
          </a:p>
        </p:txBody>
      </p:sp>
      <p:pic>
        <p:nvPicPr>
          <p:cNvPr id="292" name="barre_fantome" descr="image.gif"/>
          <p:cNvPicPr/>
          <p:nvPr/>
        </p:nvPicPr>
        <p:blipFill>
          <a:blip r:embed="rId10"/>
          <a:stretch/>
        </p:blipFill>
        <p:spPr>
          <a:xfrm>
            <a:off x="942408" y="6291000"/>
            <a:ext cx="310680" cy="310680"/>
          </a:xfrm>
          <a:prstGeom prst="rect">
            <a:avLst/>
          </a:prstGeom>
          <a:ln w="0">
            <a:noFill/>
          </a:ln>
        </p:spPr>
      </p:pic>
      <p:sp>
        <p:nvSpPr>
          <p:cNvPr id="294" name="barre_pastille"/>
          <p:cNvSpPr/>
          <p:nvPr/>
        </p:nvSpPr>
        <p:spPr>
          <a:xfrm>
            <a:off x="1828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94" name="barre_pastille"/>
          <p:cNvSpPr/>
          <p:nvPr/>
        </p:nvSpPr>
        <p:spPr>
          <a:xfrm>
            <a:off x="2057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95" name="barre_pastille"/>
          <p:cNvSpPr/>
          <p:nvPr/>
        </p:nvSpPr>
        <p:spPr>
          <a:xfrm>
            <a:off x="2286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96" name="barre_pastille"/>
          <p:cNvSpPr/>
          <p:nvPr/>
        </p:nvSpPr>
        <p:spPr>
          <a:xfrm>
            <a:off x="2514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97" name="barre_pastille"/>
          <p:cNvSpPr/>
          <p:nvPr/>
        </p:nvSpPr>
        <p:spPr>
          <a:xfrm>
            <a:off x="2743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98" name="barre_pastille"/>
          <p:cNvSpPr/>
          <p:nvPr/>
        </p:nvSpPr>
        <p:spPr>
          <a:xfrm>
            <a:off x="2971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99" name="barre_pastille"/>
          <p:cNvSpPr/>
          <p:nvPr/>
        </p:nvSpPr>
        <p:spPr>
          <a:xfrm>
            <a:off x="3200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0" name="barre_pastille"/>
          <p:cNvSpPr/>
          <p:nvPr/>
        </p:nvSpPr>
        <p:spPr>
          <a:xfrm>
            <a:off x="3429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1"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2"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3"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4"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5"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6"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7"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8"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09"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0"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1"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2"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3"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4"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5"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6"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7"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8"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19"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0"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1"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2"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3"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4"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5"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6"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7"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8"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29"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30"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31"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32"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33"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34"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293" name="barre_pacman" descr="image.gif"/>
          <p:cNvPicPr/>
          <p:nvPr/>
        </p:nvPicPr>
        <p:blipFill>
          <a:blip r:embed="rId11"/>
          <a:stretch/>
        </p:blipFill>
        <p:spPr>
          <a:xfrm>
            <a:off x="1509408" y="6291000"/>
            <a:ext cx="310680" cy="310680"/>
          </a:xfrm>
          <a:prstGeom prst="rect">
            <a:avLst/>
          </a:prstGeom>
          <a:ln w="0">
            <a:noFill/>
          </a:ln>
        </p:spPr>
      </p:pic>
      <p:sp>
        <p:nvSpPr>
          <p:cNvPr id="335"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p:transition>
    <p:fade/>
  </p:transition>
  <p:timing>
    <p:tnLst>
      <p:par>
        <p:cTn id="252" dur="indefinite" restart="never" nodeType="tmRoot">
          <p:childTnLst>
            <p:seq>
              <p:cTn id="253" dur="indefinite" nodeType="mainSeq">
                <p:childTnLst>
                  <p:par>
                    <p:cTn id="254" fill="hold">
                      <p:stCondLst>
                        <p:cond delay="0"/>
                      </p:stCondLst>
                      <p:childTnLst>
                        <p:par>
                          <p:cTn id="255" fill="hold">
                            <p:stCondLst>
                              <p:cond delay="0"/>
                            </p:stCondLst>
                            <p:childTnLst>
                              <p:par>
                                <p:cTn id="256" nodeType="withEffect" fill="hold" presetClass="path">
                                  <p:stCondLst>
                                    <p:cond delay="0"/>
                                  </p:stCondLst>
                                  <p:childTnLst>
                                    <p:animMotion origin="layout" path="M 0 0 L 0.02252 0 E">
                                      <p:cBhvr>
                                        <p:cTn id="257" dur="900" fill="hold"/>
                                        <p:tgtEl>
                                          <p:spTgt spid="292"/>
                                        </p:tgtEl>
                                        <p:attrNameLst>
                                          <p:attrName>ppt_x</p:attrName>
                                          <p:attrName>ppt_y</p:attrName>
                                        </p:attrNameLst>
                                      </p:cBhvr>
                                    </p:animMotion>
                                  </p:childTnLst>
                                </p:cTn>
                              </p:par>
                              <p:par>
                                <p:cTn id="258" nodeType="withEffect" fill="hold" presetClass="path">
                                  <p:stCondLst>
                                    <p:cond delay="0"/>
                                  </p:stCondLst>
                                  <p:childTnLst>
                                    <p:animMotion origin="layout" path="M 0 0 L 0.02252 0 E">
                                      <p:cBhvr>
                                        <p:cTn id="259" dur="900" fill="hold"/>
                                        <p:tgtEl>
                                          <p:spTgt spid="293"/>
                                        </p:tgtEl>
                                        <p:attrNameLst>
                                          <p:attrName>ppt_x</p:attrName>
                                          <p:attrName>ppt_y</p:attrName>
                                        </p:attrNameLst>
                                      </p:cBhvr>
                                    </p:animMotion>
                                  </p:childTnLst>
                                </p:cTn>
                              </p:par>
                              <p:par>
                                <p:cTn id="260" nodeType="withEffect" fill="hold" presetClass="exit" presetID="1">
                                  <p:stCondLst>
                                    <p:cond delay="229"/>
                                  </p:stCondLst>
                                  <p:childTnLst>
                                    <p:set>
                                      <p:cBhvr>
                                        <p:cTn id="261" dur="1" fill="hold">
                                          <p:stCondLst>
                                            <p:cond delay="0"/>
                                          </p:stCondLst>
                                        </p:cTn>
                                        <p:tgtEl>
                                          <p:spTgt spid="294"/>
                                        </p:tgtEl>
                                        <p:attrNameLst>
                                          <p:attrName>style.visibility</p:attrName>
                                        </p:attrNameLst>
                                      </p:cBhvr>
                                      <p:to>
                                        <p:strVal val="hidden"/>
                                      </p:to>
                                    </p:set>
                                  </p:childTnLst>
                                </p:cTn>
                              </p:par>
                              <p:par>
                                <p:cTn id="262" nodeType="withEffect" fill="hold" presetClass="entr" presetID="10">
                                  <p:stCondLst>
                                    <p:cond delay="200"/>
                                  </p:stCondLst>
                                  <p:childTnLst>
                                    <p:set>
                                      <p:cBhvr>
                                        <p:cTn id="263" dur="1" fill="hold">
                                          <p:stCondLst>
                                            <p:cond delay="0"/>
                                          </p:stCondLst>
                                        </p:cTn>
                                        <p:tgtEl>
                                          <p:spTgt spid="276"/>
                                        </p:tgtEl>
                                        <p:attrNameLst>
                                          <p:attrName>style.visibility</p:attrName>
                                        </p:attrNameLst>
                                      </p:cBhvr>
                                      <p:to>
                                        <p:strVal val="visible"/>
                                      </p:to>
                                    </p:set>
                                    <p:animEffect filter="fade" transition="in">
                                      <p:cBhvr additive="repl">
                                        <p:cTn id="264" dur="400"/>
                                        <p:tgtEl>
                                          <p:spTgt spid="276"/>
                                        </p:tgtEl>
                                      </p:cBhvr>
                                    </p:animEffect>
                                  </p:childTnLst>
                                </p:cTn>
                              </p:par>
                              <p:par>
                                <p:cTn id="265" nodeType="withEffect" fill="hold" presetClass="entr" presetID="10">
                                  <p:stCondLst>
                                    <p:cond delay="200"/>
                                  </p:stCondLst>
                                  <p:childTnLst>
                                    <p:set>
                                      <p:cBhvr>
                                        <p:cTn id="266" dur="1" fill="hold">
                                          <p:stCondLst>
                                            <p:cond delay="0"/>
                                          </p:stCondLst>
                                        </p:cTn>
                                        <p:tgtEl>
                                          <p:spTgt spid="277"/>
                                        </p:tgtEl>
                                        <p:attrNameLst>
                                          <p:attrName>style.visibility</p:attrName>
                                        </p:attrNameLst>
                                      </p:cBhvr>
                                      <p:to>
                                        <p:strVal val="visible"/>
                                      </p:to>
                                    </p:set>
                                    <p:animEffect filter="fade" transition="in">
                                      <p:cBhvr additive="repl">
                                        <p:cTn id="267" dur="400"/>
                                        <p:tgtEl>
                                          <p:spTgt spid="277"/>
                                        </p:tgtEl>
                                      </p:cBhvr>
                                    </p:animEffect>
                                  </p:childTnLst>
                                </p:cTn>
                              </p:par>
                              <p:par>
                                <p:cTn id="268" nodeType="withEffect" fill="hold" presetClass="entr" presetID="10">
                                  <p:stCondLst>
                                    <p:cond delay="200"/>
                                  </p:stCondLst>
                                  <p:childTnLst>
                                    <p:set>
                                      <p:cBhvr>
                                        <p:cTn id="269" dur="1" fill="hold">
                                          <p:stCondLst>
                                            <p:cond delay="0"/>
                                          </p:stCondLst>
                                        </p:cTn>
                                        <p:tgtEl>
                                          <p:spTgt spid="278"/>
                                        </p:tgtEl>
                                        <p:attrNameLst>
                                          <p:attrName>style.visibility</p:attrName>
                                        </p:attrNameLst>
                                      </p:cBhvr>
                                      <p:to>
                                        <p:strVal val="visible"/>
                                      </p:to>
                                    </p:set>
                                    <p:animEffect filter="fade" transition="in">
                                      <p:cBhvr additive="repl">
                                        <p:cTn id="270" dur="400"/>
                                        <p:tgtEl>
                                          <p:spTgt spid="278"/>
                                        </p:tgtEl>
                                      </p:cBhvr>
                                    </p:animEffect>
                                  </p:childTnLst>
                                </p:cTn>
                              </p:par>
                              <p:par>
                                <p:cTn id="271" nodeType="withEffect" fill="hold" presetClass="entr" presetID="10">
                                  <p:stCondLst>
                                    <p:cond delay="200"/>
                                  </p:stCondLst>
                                  <p:childTnLst>
                                    <p:set>
                                      <p:cBhvr>
                                        <p:cTn id="272" dur="1" fill="hold">
                                          <p:stCondLst>
                                            <p:cond delay="0"/>
                                          </p:stCondLst>
                                        </p:cTn>
                                        <p:tgtEl>
                                          <p:spTgt spid="279"/>
                                        </p:tgtEl>
                                        <p:attrNameLst>
                                          <p:attrName>style.visibility</p:attrName>
                                        </p:attrNameLst>
                                      </p:cBhvr>
                                      <p:to>
                                        <p:strVal val="visible"/>
                                      </p:to>
                                    </p:set>
                                    <p:animEffect filter="fade" transition="in">
                                      <p:cBhvr additive="repl">
                                        <p:cTn id="273" dur="400"/>
                                        <p:tgtEl>
                                          <p:spTgt spid="279"/>
                                        </p:tgtEl>
                                      </p:cBhvr>
                                    </p:animEffect>
                                  </p:childTnLst>
                                </p:cTn>
                              </p:par>
                              <p:par>
                                <p:cTn id="274" nodeType="withEffect" fill="hold" presetClass="entr" presetID="10">
                                  <p:stCondLst>
                                    <p:cond delay="400"/>
                                  </p:stCondLst>
                                  <p:childTnLst>
                                    <p:set>
                                      <p:cBhvr>
                                        <p:cTn id="275" dur="1" fill="hold">
                                          <p:stCondLst>
                                            <p:cond delay="0"/>
                                          </p:stCondLst>
                                        </p:cTn>
                                        <p:tgtEl>
                                          <p:spTgt spid="280"/>
                                        </p:tgtEl>
                                        <p:attrNameLst>
                                          <p:attrName>style.visibility</p:attrName>
                                        </p:attrNameLst>
                                      </p:cBhvr>
                                      <p:to>
                                        <p:strVal val="visible"/>
                                      </p:to>
                                    </p:set>
                                    <p:animEffect filter="fade" transition="in">
                                      <p:cBhvr additive="repl">
                                        <p:cTn id="276" dur="400"/>
                                        <p:tgtEl>
                                          <p:spTgt spid="280"/>
                                        </p:tgtEl>
                                      </p:cBhvr>
                                    </p:animEffect>
                                  </p:childTnLst>
                                </p:cTn>
                              </p:par>
                              <p:par>
                                <p:cTn id="277" nodeType="withEffect" fill="hold" presetClass="entr" presetID="10">
                                  <p:stCondLst>
                                    <p:cond delay="400"/>
                                  </p:stCondLst>
                                  <p:childTnLst>
                                    <p:set>
                                      <p:cBhvr>
                                        <p:cTn id="278" dur="1" fill="hold">
                                          <p:stCondLst>
                                            <p:cond delay="0"/>
                                          </p:stCondLst>
                                        </p:cTn>
                                        <p:tgtEl>
                                          <p:spTgt spid="281"/>
                                        </p:tgtEl>
                                        <p:attrNameLst>
                                          <p:attrName>style.visibility</p:attrName>
                                        </p:attrNameLst>
                                      </p:cBhvr>
                                      <p:to>
                                        <p:strVal val="visible"/>
                                      </p:to>
                                    </p:set>
                                    <p:animEffect filter="fade" transition="in">
                                      <p:cBhvr additive="repl">
                                        <p:cTn id="279" dur="400"/>
                                        <p:tgtEl>
                                          <p:spTgt spid="281"/>
                                        </p:tgtEl>
                                      </p:cBhvr>
                                    </p:animEffect>
                                  </p:childTnLst>
                                </p:cTn>
                              </p:par>
                              <p:par>
                                <p:cTn id="280" nodeType="withEffect" fill="hold" presetClass="entr" presetID="10">
                                  <p:stCondLst>
                                    <p:cond delay="400"/>
                                  </p:stCondLst>
                                  <p:childTnLst>
                                    <p:set>
                                      <p:cBhvr>
                                        <p:cTn id="281" dur="1" fill="hold">
                                          <p:stCondLst>
                                            <p:cond delay="0"/>
                                          </p:stCondLst>
                                        </p:cTn>
                                        <p:tgtEl>
                                          <p:spTgt spid="282"/>
                                        </p:tgtEl>
                                        <p:attrNameLst>
                                          <p:attrName>style.visibility</p:attrName>
                                        </p:attrNameLst>
                                      </p:cBhvr>
                                      <p:to>
                                        <p:strVal val="visible"/>
                                      </p:to>
                                    </p:set>
                                    <p:animEffect filter="fade" transition="in">
                                      <p:cBhvr additive="repl">
                                        <p:cTn id="282" dur="400"/>
                                        <p:tgtEl>
                                          <p:spTgt spid="282"/>
                                        </p:tgtEl>
                                      </p:cBhvr>
                                    </p:animEffect>
                                  </p:childTnLst>
                                </p:cTn>
                              </p:par>
                              <p:par>
                                <p:cTn id="283" nodeType="withEffect" fill="hold" presetClass="entr" presetID="10">
                                  <p:stCondLst>
                                    <p:cond delay="400"/>
                                  </p:stCondLst>
                                  <p:childTnLst>
                                    <p:set>
                                      <p:cBhvr>
                                        <p:cTn id="284" dur="1" fill="hold">
                                          <p:stCondLst>
                                            <p:cond delay="0"/>
                                          </p:stCondLst>
                                        </p:cTn>
                                        <p:tgtEl>
                                          <p:spTgt spid="283"/>
                                        </p:tgtEl>
                                        <p:attrNameLst>
                                          <p:attrName>style.visibility</p:attrName>
                                        </p:attrNameLst>
                                      </p:cBhvr>
                                      <p:to>
                                        <p:strVal val="visible"/>
                                      </p:to>
                                    </p:set>
                                    <p:animEffect filter="fade" transition="in">
                                      <p:cBhvr additive="repl">
                                        <p:cTn id="285" dur="400"/>
                                        <p:tgtEl>
                                          <p:spTgt spid="283"/>
                                        </p:tgtEl>
                                      </p:cBhvr>
                                    </p:animEffect>
                                  </p:childTnLst>
                                </p:cTn>
                              </p:par>
                              <p:par>
                                <p:cTn id="286" nodeType="withEffect" fill="hold" presetClass="entr" presetID="10">
                                  <p:stCondLst>
                                    <p:cond delay="600"/>
                                  </p:stCondLst>
                                  <p:childTnLst>
                                    <p:set>
                                      <p:cBhvr>
                                        <p:cTn id="287" dur="1" fill="hold">
                                          <p:stCondLst>
                                            <p:cond delay="0"/>
                                          </p:stCondLst>
                                        </p:cTn>
                                        <p:tgtEl>
                                          <p:spTgt spid="284"/>
                                        </p:tgtEl>
                                        <p:attrNameLst>
                                          <p:attrName>style.visibility</p:attrName>
                                        </p:attrNameLst>
                                      </p:cBhvr>
                                      <p:to>
                                        <p:strVal val="visible"/>
                                      </p:to>
                                    </p:set>
                                    <p:animEffect filter="fade" transition="in">
                                      <p:cBhvr additive="repl">
                                        <p:cTn id="288" dur="400"/>
                                        <p:tgtEl>
                                          <p:spTgt spid="284"/>
                                        </p:tgtEl>
                                      </p:cBhvr>
                                    </p:animEffect>
                                  </p:childTnLst>
                                </p:cTn>
                              </p:par>
                              <p:par>
                                <p:cTn id="289" nodeType="withEffect" fill="hold" presetClass="entr" presetID="10">
                                  <p:stCondLst>
                                    <p:cond delay="600"/>
                                  </p:stCondLst>
                                  <p:childTnLst>
                                    <p:set>
                                      <p:cBhvr>
                                        <p:cTn id="290" dur="1" fill="hold">
                                          <p:stCondLst>
                                            <p:cond delay="0"/>
                                          </p:stCondLst>
                                        </p:cTn>
                                        <p:tgtEl>
                                          <p:spTgt spid="285"/>
                                        </p:tgtEl>
                                        <p:attrNameLst>
                                          <p:attrName>style.visibility</p:attrName>
                                        </p:attrNameLst>
                                      </p:cBhvr>
                                      <p:to>
                                        <p:strVal val="visible"/>
                                      </p:to>
                                    </p:set>
                                    <p:animEffect filter="fade" transition="in">
                                      <p:cBhvr additive="repl">
                                        <p:cTn id="291" dur="400"/>
                                        <p:tgtEl>
                                          <p:spTgt spid="285"/>
                                        </p:tgtEl>
                                      </p:cBhvr>
                                    </p:animEffect>
                                  </p:childTnLst>
                                </p:cTn>
                              </p:par>
                              <p:par>
                                <p:cTn id="292" nodeType="withEffect" fill="hold" presetClass="entr" presetID="10">
                                  <p:stCondLst>
                                    <p:cond delay="600"/>
                                  </p:stCondLst>
                                  <p:childTnLst>
                                    <p:set>
                                      <p:cBhvr>
                                        <p:cTn id="293" dur="1" fill="hold">
                                          <p:stCondLst>
                                            <p:cond delay="0"/>
                                          </p:stCondLst>
                                        </p:cTn>
                                        <p:tgtEl>
                                          <p:spTgt spid="286"/>
                                        </p:tgtEl>
                                        <p:attrNameLst>
                                          <p:attrName>style.visibility</p:attrName>
                                        </p:attrNameLst>
                                      </p:cBhvr>
                                      <p:to>
                                        <p:strVal val="visible"/>
                                      </p:to>
                                    </p:set>
                                    <p:animEffect filter="fade" transition="in">
                                      <p:cBhvr additive="repl">
                                        <p:cTn id="294" dur="400"/>
                                        <p:tgtEl>
                                          <p:spTgt spid="286"/>
                                        </p:tgtEl>
                                      </p:cBhvr>
                                    </p:animEffect>
                                  </p:childTnLst>
                                </p:cTn>
                              </p:par>
                              <p:par>
                                <p:cTn id="295" nodeType="withEffect" fill="hold" presetClass="entr" presetID="10">
                                  <p:stCondLst>
                                    <p:cond delay="600"/>
                                  </p:stCondLst>
                                  <p:childTnLst>
                                    <p:set>
                                      <p:cBhvr>
                                        <p:cTn id="296" dur="1" fill="hold">
                                          <p:stCondLst>
                                            <p:cond delay="0"/>
                                          </p:stCondLst>
                                        </p:cTn>
                                        <p:tgtEl>
                                          <p:spTgt spid="287"/>
                                        </p:tgtEl>
                                        <p:attrNameLst>
                                          <p:attrName>style.visibility</p:attrName>
                                        </p:attrNameLst>
                                      </p:cBhvr>
                                      <p:to>
                                        <p:strVal val="visible"/>
                                      </p:to>
                                    </p:set>
                                    <p:animEffect filter="fade" transition="in">
                                      <p:cBhvr additive="repl">
                                        <p:cTn id="297" dur="400"/>
                                        <p:tgtEl>
                                          <p:spTgt spid="287"/>
                                        </p:tgtEl>
                                      </p:cBhvr>
                                    </p:animEffect>
                                  </p:childTnLst>
                                </p:cTn>
                              </p:par>
                              <p:par>
                                <p:cTn id="298" nodeType="withEffect" fill="hold" presetClass="entr" presetID="10">
                                  <p:stCondLst>
                                    <p:cond delay="800"/>
                                  </p:stCondLst>
                                  <p:childTnLst>
                                    <p:set>
                                      <p:cBhvr>
                                        <p:cTn id="299" dur="1" fill="hold">
                                          <p:stCondLst>
                                            <p:cond delay="0"/>
                                          </p:stCondLst>
                                        </p:cTn>
                                        <p:tgtEl>
                                          <p:spTgt spid="288"/>
                                        </p:tgtEl>
                                        <p:attrNameLst>
                                          <p:attrName>style.visibility</p:attrName>
                                        </p:attrNameLst>
                                      </p:cBhvr>
                                      <p:to>
                                        <p:strVal val="visible"/>
                                      </p:to>
                                    </p:set>
                                    <p:animEffect filter="fade" transition="in">
                                      <p:cBhvr additive="repl">
                                        <p:cTn id="300" dur="400"/>
                                        <p:tgtEl>
                                          <p:spTgt spid="288"/>
                                        </p:tgtEl>
                                      </p:cBhvr>
                                    </p:animEffect>
                                  </p:childTnLst>
                                </p:cTn>
                              </p:par>
                              <p:par>
                                <p:cTn id="301" nodeType="withEffect" fill="hold" presetClass="entr" presetID="10">
                                  <p:stCondLst>
                                    <p:cond delay="800"/>
                                  </p:stCondLst>
                                  <p:childTnLst>
                                    <p:set>
                                      <p:cBhvr>
                                        <p:cTn id="302" dur="1" fill="hold">
                                          <p:stCondLst>
                                            <p:cond delay="0"/>
                                          </p:stCondLst>
                                        </p:cTn>
                                        <p:tgtEl>
                                          <p:spTgt spid="289"/>
                                        </p:tgtEl>
                                        <p:attrNameLst>
                                          <p:attrName>style.visibility</p:attrName>
                                        </p:attrNameLst>
                                      </p:cBhvr>
                                      <p:to>
                                        <p:strVal val="visible"/>
                                      </p:to>
                                    </p:set>
                                    <p:animEffect filter="fade" transition="in">
                                      <p:cBhvr additive="repl">
                                        <p:cTn id="303" dur="400"/>
                                        <p:tgtEl>
                                          <p:spTgt spid="289"/>
                                        </p:tgtEl>
                                      </p:cBhvr>
                                    </p:animEffect>
                                  </p:childTnLst>
                                </p:cTn>
                              </p:par>
                              <p:par>
                                <p:cTn id="304" nodeType="withEffect" fill="hold" presetClass="entr" presetID="10">
                                  <p:stCondLst>
                                    <p:cond delay="800"/>
                                  </p:stCondLst>
                                  <p:childTnLst>
                                    <p:set>
                                      <p:cBhvr>
                                        <p:cTn id="305" dur="1" fill="hold">
                                          <p:stCondLst>
                                            <p:cond delay="0"/>
                                          </p:stCondLst>
                                        </p:cTn>
                                        <p:tgtEl>
                                          <p:spTgt spid="290"/>
                                        </p:tgtEl>
                                        <p:attrNameLst>
                                          <p:attrName>style.visibility</p:attrName>
                                        </p:attrNameLst>
                                      </p:cBhvr>
                                      <p:to>
                                        <p:strVal val="visible"/>
                                      </p:to>
                                    </p:set>
                                    <p:animEffect filter="fade" transition="in">
                                      <p:cBhvr additive="repl">
                                        <p:cTn id="306" dur="400"/>
                                        <p:tgtEl>
                                          <p:spTgt spid="290"/>
                                        </p:tgtEl>
                                      </p:cBhvr>
                                    </p:animEffect>
                                  </p:childTnLst>
                                </p:cTn>
                              </p:par>
                              <p:par>
                                <p:cTn id="307" nodeType="withEffect" fill="hold" presetClass="entr" presetID="10">
                                  <p:stCondLst>
                                    <p:cond delay="800"/>
                                  </p:stCondLst>
                                  <p:childTnLst>
                                    <p:set>
                                      <p:cBhvr>
                                        <p:cTn id="308" dur="1" fill="hold">
                                          <p:stCondLst>
                                            <p:cond delay="0"/>
                                          </p:stCondLst>
                                        </p:cTn>
                                        <p:tgtEl>
                                          <p:spTgt spid="291"/>
                                        </p:tgtEl>
                                        <p:attrNameLst>
                                          <p:attrName>style.visibility</p:attrName>
                                        </p:attrNameLst>
                                      </p:cBhvr>
                                      <p:to>
                                        <p:strVal val="visible"/>
                                      </p:to>
                                    </p:set>
                                    <p:animEffect filter="fade" transition="in">
                                      <p:cBhvr additive="repl">
                                        <p:cTn id="309" dur="4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36" name="o1"/>
          <p:cNvSpPr/>
          <p:nvPr/>
        </p:nvSpPr>
        <p:spPr>
          <a:xfrm>
            <a:off x="274320" y="228600"/>
            <a:ext cx="11642760" cy="5897520"/>
          </a:xfrm>
          <a:prstGeom prst="roundRect">
            <a:avLst>
              <a:gd name="adj" fmla="val 3876"/>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7" name="o2"/>
          <p:cNvSpPr/>
          <p:nvPr/>
        </p:nvSpPr>
        <p:spPr>
          <a:xfrm>
            <a:off x="343080" y="297360"/>
            <a:ext cx="11505600" cy="5760360"/>
          </a:xfrm>
          <a:prstGeom prst="roundRect">
            <a:avLst>
              <a:gd name="adj" fmla="val 2778"/>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8" name="o3"/>
          <p:cNvSpPr/>
          <p:nvPr/>
        </p:nvSpPr>
        <p:spPr>
          <a:xfrm>
            <a:off x="86868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9" name="o4"/>
          <p:cNvSpPr/>
          <p:nvPr/>
        </p:nvSpPr>
        <p:spPr>
          <a:xfrm>
            <a:off x="93744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0" name="o5"/>
          <p:cNvSpPr/>
          <p:nvPr/>
        </p:nvSpPr>
        <p:spPr>
          <a:xfrm>
            <a:off x="976860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1" name="o6"/>
          <p:cNvSpPr/>
          <p:nvPr/>
        </p:nvSpPr>
        <p:spPr>
          <a:xfrm>
            <a:off x="983700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2" name="o7"/>
          <p:cNvSpPr/>
          <p:nvPr/>
        </p:nvSpPr>
        <p:spPr>
          <a:xfrm>
            <a:off x="86868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3" name="o8"/>
          <p:cNvSpPr/>
          <p:nvPr/>
        </p:nvSpPr>
        <p:spPr>
          <a:xfrm>
            <a:off x="93744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4" name="o9"/>
          <p:cNvSpPr/>
          <p:nvPr/>
        </p:nvSpPr>
        <p:spPr>
          <a:xfrm>
            <a:off x="976860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o10"/>
          <p:cNvSpPr/>
          <p:nvPr/>
        </p:nvSpPr>
        <p:spPr>
          <a:xfrm>
            <a:off x="983700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346" name="o11" descr="strawberry"/>
          <p:cNvPicPr/>
          <p:nvPr/>
        </p:nvPicPr>
        <p:blipFill>
          <a:blip r:embed="rId1"/>
          <a:stretch/>
        </p:blipFill>
        <p:spPr>
          <a:xfrm>
            <a:off x="5684400" y="777240"/>
            <a:ext cx="822600" cy="822600"/>
          </a:xfrm>
          <a:prstGeom prst="rect">
            <a:avLst/>
          </a:prstGeom>
          <a:ln w="0">
            <a:noFill/>
          </a:ln>
        </p:spPr>
      </p:pic>
      <p:pic>
        <p:nvPicPr>
          <p:cNvPr id="347" name="o12" descr="LEVEL 2"/>
          <p:cNvPicPr/>
          <p:nvPr/>
        </p:nvPicPr>
        <p:blipFill>
          <a:blip r:embed="rId2"/>
          <a:stretch/>
        </p:blipFill>
        <p:spPr>
          <a:xfrm>
            <a:off x="5262480" y="1828800"/>
            <a:ext cx="1666080" cy="237240"/>
          </a:xfrm>
          <a:prstGeom prst="rect">
            <a:avLst/>
          </a:prstGeom>
          <a:ln w="0">
            <a:noFill/>
          </a:ln>
        </p:spPr>
      </p:pic>
      <p:pic>
        <p:nvPicPr>
          <p:cNvPr id="348" name="o13" descr="PIPELINE"/>
          <p:cNvPicPr/>
          <p:nvPr/>
        </p:nvPicPr>
        <p:blipFill>
          <a:blip r:embed="rId3"/>
          <a:stretch/>
        </p:blipFill>
        <p:spPr>
          <a:xfrm>
            <a:off x="4047480" y="2331720"/>
            <a:ext cx="4096080" cy="511560"/>
          </a:xfrm>
          <a:prstGeom prst="rect">
            <a:avLst/>
          </a:prstGeom>
          <a:ln w="0">
            <a:noFill/>
          </a:ln>
        </p:spPr>
      </p:pic>
      <p:sp>
        <p:nvSpPr>
          <p:cNvPr id="349" name="o14"/>
          <p:cNvSpPr/>
          <p:nvPr/>
        </p:nvSpPr>
        <p:spPr>
          <a:xfrm>
            <a:off x="1371600" y="3108960"/>
            <a:ext cx="9448200" cy="4111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2000" spc="-1" strike="noStrike">
                <a:solidFill>
                  <a:srgbClr val="c4c4e4"/>
                </a:solidFill>
                <a:latin typeface="Arial"/>
                <a:ea typeface="Arial"/>
              </a:rPr>
              <a:t>Du fichier brut à l'appli interactive</a:t>
            </a:r>
            <a:endParaRPr b="0" lang="en-US" sz="2000" spc="-1" strike="noStrike">
              <a:solidFill>
                <a:srgbClr val="ffffff"/>
              </a:solidFill>
              <a:latin typeface="Arial"/>
            </a:endParaRPr>
          </a:p>
        </p:txBody>
      </p:sp>
      <p:sp>
        <p:nvSpPr>
          <p:cNvPr id="350" name="o15"/>
          <p:cNvSpPr/>
          <p:nvPr/>
        </p:nvSpPr>
        <p:spPr>
          <a:xfrm>
            <a:off x="37080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1" name="o16"/>
          <p:cNvSpPr/>
          <p:nvPr/>
        </p:nvSpPr>
        <p:spPr>
          <a:xfrm>
            <a:off x="40737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2" name="o17"/>
          <p:cNvSpPr/>
          <p:nvPr/>
        </p:nvSpPr>
        <p:spPr>
          <a:xfrm>
            <a:off x="44395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3" name="o18"/>
          <p:cNvSpPr/>
          <p:nvPr/>
        </p:nvSpPr>
        <p:spPr>
          <a:xfrm>
            <a:off x="48052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4" name="o19"/>
          <p:cNvSpPr/>
          <p:nvPr/>
        </p:nvSpPr>
        <p:spPr>
          <a:xfrm>
            <a:off x="51710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5" name="o20"/>
          <p:cNvSpPr/>
          <p:nvPr/>
        </p:nvSpPr>
        <p:spPr>
          <a:xfrm>
            <a:off x="55368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6" name="o21"/>
          <p:cNvSpPr/>
          <p:nvPr/>
        </p:nvSpPr>
        <p:spPr>
          <a:xfrm>
            <a:off x="59025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7" name="o22"/>
          <p:cNvSpPr/>
          <p:nvPr/>
        </p:nvSpPr>
        <p:spPr>
          <a:xfrm>
            <a:off x="62683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8" name="o23"/>
          <p:cNvSpPr/>
          <p:nvPr/>
        </p:nvSpPr>
        <p:spPr>
          <a:xfrm>
            <a:off x="66340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59" name="o24"/>
          <p:cNvSpPr/>
          <p:nvPr/>
        </p:nvSpPr>
        <p:spPr>
          <a:xfrm>
            <a:off x="69998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60" name="o25"/>
          <p:cNvSpPr/>
          <p:nvPr/>
        </p:nvSpPr>
        <p:spPr>
          <a:xfrm>
            <a:off x="73656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61" name="o26"/>
          <p:cNvSpPr/>
          <p:nvPr/>
        </p:nvSpPr>
        <p:spPr>
          <a:xfrm>
            <a:off x="77313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62" name="o27"/>
          <p:cNvSpPr/>
          <p:nvPr/>
        </p:nvSpPr>
        <p:spPr>
          <a:xfrm>
            <a:off x="80971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63" name="o28"/>
          <p:cNvSpPr/>
          <p:nvPr/>
        </p:nvSpPr>
        <p:spPr>
          <a:xfrm>
            <a:off x="84628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64" name="o29"/>
          <p:cNvSpPr/>
          <p:nvPr/>
        </p:nvSpPr>
        <p:spPr>
          <a:xfrm>
            <a:off x="88286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65" name="o30"/>
          <p:cNvSpPr/>
          <p:nvPr/>
        </p:nvSpPr>
        <p:spPr>
          <a:xfrm>
            <a:off x="91944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66" name="o31"/>
          <p:cNvSpPr/>
          <p:nvPr/>
        </p:nvSpPr>
        <p:spPr>
          <a:xfrm>
            <a:off x="95601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367" name="o32"/>
          <p:cNvSpPr/>
          <p:nvPr/>
        </p:nvSpPr>
        <p:spPr>
          <a:xfrm>
            <a:off x="99259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pic>
        <p:nvPicPr>
          <p:cNvPr id="368" name="o33" descr="Pac-Man"/>
          <p:cNvPicPr/>
          <p:nvPr/>
        </p:nvPicPr>
        <p:blipFill>
          <a:blip r:embed="rId4"/>
          <a:stretch/>
        </p:blipFill>
        <p:spPr>
          <a:xfrm>
            <a:off x="2990160" y="3950280"/>
            <a:ext cx="420120" cy="420120"/>
          </a:xfrm>
          <a:prstGeom prst="rect">
            <a:avLst/>
          </a:prstGeom>
          <a:ln w="0">
            <a:noFill/>
          </a:ln>
        </p:spPr>
      </p:pic>
      <p:pic>
        <p:nvPicPr>
          <p:cNvPr id="369" name="o34" descr="fantôme"/>
          <p:cNvPicPr/>
          <p:nvPr/>
        </p:nvPicPr>
        <p:blipFill>
          <a:blip r:embed="rId5"/>
          <a:stretch/>
        </p:blipFill>
        <p:spPr>
          <a:xfrm>
            <a:off x="2350080" y="3950280"/>
            <a:ext cx="420120" cy="420120"/>
          </a:xfrm>
          <a:prstGeom prst="rect">
            <a:avLst/>
          </a:prstGeom>
          <a:ln w="0">
            <a:noFill/>
          </a:ln>
        </p:spPr>
      </p:pic>
      <p:pic>
        <p:nvPicPr>
          <p:cNvPr id="370" name="o35" descr="fantôme"/>
          <p:cNvPicPr/>
          <p:nvPr/>
        </p:nvPicPr>
        <p:blipFill>
          <a:blip r:embed="rId6"/>
          <a:stretch/>
        </p:blipFill>
        <p:spPr>
          <a:xfrm>
            <a:off x="1801440" y="3950280"/>
            <a:ext cx="420120" cy="420120"/>
          </a:xfrm>
          <a:prstGeom prst="rect">
            <a:avLst/>
          </a:prstGeom>
          <a:ln w="0">
            <a:noFill/>
          </a:ln>
        </p:spPr>
      </p:pic>
      <p:pic>
        <p:nvPicPr>
          <p:cNvPr id="371" name="o36" descr="fantôme"/>
          <p:cNvPicPr/>
          <p:nvPr/>
        </p:nvPicPr>
        <p:blipFill>
          <a:blip r:embed="rId7"/>
          <a:stretch/>
        </p:blipFill>
        <p:spPr>
          <a:xfrm>
            <a:off x="1252800" y="3950280"/>
            <a:ext cx="420120" cy="420120"/>
          </a:xfrm>
          <a:prstGeom prst="rect">
            <a:avLst/>
          </a:prstGeom>
          <a:ln w="0">
            <a:noFill/>
          </a:ln>
        </p:spPr>
      </p:pic>
      <p:pic>
        <p:nvPicPr>
          <p:cNvPr id="372" name="o37" descr="fantôme"/>
          <p:cNvPicPr/>
          <p:nvPr/>
        </p:nvPicPr>
        <p:blipFill>
          <a:blip r:embed="rId8"/>
          <a:stretch/>
        </p:blipFill>
        <p:spPr>
          <a:xfrm>
            <a:off x="704160" y="3950280"/>
            <a:ext cx="420120" cy="420120"/>
          </a:xfrm>
          <a:prstGeom prst="rect">
            <a:avLst/>
          </a:prstGeom>
          <a:ln w="0">
            <a:noFill/>
          </a:ln>
        </p:spPr>
      </p:pic>
      <p:pic>
        <p:nvPicPr>
          <p:cNvPr id="373" name="o38" descr="READY!"/>
          <p:cNvPicPr/>
          <p:nvPr/>
        </p:nvPicPr>
        <p:blipFill>
          <a:blip r:embed="rId9"/>
          <a:stretch/>
        </p:blipFill>
        <p:spPr>
          <a:xfrm>
            <a:off x="5492520" y="4617720"/>
            <a:ext cx="1206720" cy="200880"/>
          </a:xfrm>
          <a:prstGeom prst="rect">
            <a:avLst/>
          </a:prstGeom>
          <a:ln w="0">
            <a:noFill/>
          </a:ln>
        </p:spPr>
      </p:pic>
      <p:pic>
        <p:nvPicPr>
          <p:cNvPr id="374" name="o75" descr="super pac-gomme"/>
          <p:cNvPicPr/>
          <p:nvPr/>
        </p:nvPicPr>
        <p:blipFill>
          <a:blip r:embed="rId10"/>
          <a:stretch/>
        </p:blipFill>
        <p:spPr>
          <a:xfrm>
            <a:off x="11448360" y="6355080"/>
            <a:ext cx="182520" cy="182520"/>
          </a:xfrm>
          <a:prstGeom prst="rect">
            <a:avLst/>
          </a:prstGeom>
          <a:ln w="0">
            <a:noFill/>
          </a:ln>
        </p:spPr>
      </p:pic>
      <p:pic>
        <p:nvPicPr>
          <p:cNvPr id="375" name="barre_fantome" descr="image.gif"/>
          <p:cNvPicPr/>
          <p:nvPr/>
        </p:nvPicPr>
        <p:blipFill>
          <a:blip r:embed="rId11"/>
          <a:stretch/>
        </p:blipFill>
        <p:spPr>
          <a:xfrm>
            <a:off x="1216944" y="6291000"/>
            <a:ext cx="310680" cy="310680"/>
          </a:xfrm>
          <a:prstGeom prst="rect">
            <a:avLst/>
          </a:prstGeom>
          <a:ln w="0">
            <a:noFill/>
          </a:ln>
        </p:spPr>
      </p:pic>
      <p:sp>
        <p:nvSpPr>
          <p:cNvPr id="377" name="barre_pastille"/>
          <p:cNvSpPr/>
          <p:nvPr/>
        </p:nvSpPr>
        <p:spPr>
          <a:xfrm>
            <a:off x="2286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78" name="barre_pastille"/>
          <p:cNvSpPr/>
          <p:nvPr/>
        </p:nvSpPr>
        <p:spPr>
          <a:xfrm>
            <a:off x="2514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77" name="barre_pastille"/>
          <p:cNvSpPr/>
          <p:nvPr/>
        </p:nvSpPr>
        <p:spPr>
          <a:xfrm>
            <a:off x="2743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78" name="barre_pastille"/>
          <p:cNvSpPr/>
          <p:nvPr/>
        </p:nvSpPr>
        <p:spPr>
          <a:xfrm>
            <a:off x="2971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79" name="barre_pastille"/>
          <p:cNvSpPr/>
          <p:nvPr/>
        </p:nvSpPr>
        <p:spPr>
          <a:xfrm>
            <a:off x="3200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0" name="barre_pastille"/>
          <p:cNvSpPr/>
          <p:nvPr/>
        </p:nvSpPr>
        <p:spPr>
          <a:xfrm>
            <a:off x="3429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1"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2"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3"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4"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5"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6"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7"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8"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89"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0"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1"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2"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3"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4"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5"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6"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7"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8"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399"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0"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1"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2"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3"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4"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5"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6"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7"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8"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09"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10"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11"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12"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13"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14"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376" name="barre_pacman" descr="image.gif"/>
          <p:cNvPicPr/>
          <p:nvPr/>
        </p:nvPicPr>
        <p:blipFill>
          <a:blip r:embed="rId12"/>
          <a:stretch/>
        </p:blipFill>
        <p:spPr>
          <a:xfrm>
            <a:off x="1783944" y="6291000"/>
            <a:ext cx="310680" cy="310680"/>
          </a:xfrm>
          <a:prstGeom prst="rect">
            <a:avLst/>
          </a:prstGeom>
          <a:ln w="0">
            <a:noFill/>
          </a:ln>
        </p:spPr>
      </p:pic>
      <p:sp>
        <p:nvSpPr>
          <p:cNvPr id="415"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p:transition>
    <p:fade/>
  </p:transition>
  <p:timing>
    <p:tnLst>
      <p:par>
        <p:cTn id="310" dur="indefinite" restart="never" nodeType="tmRoot">
          <p:childTnLst>
            <p:seq>
              <p:cTn id="311" dur="indefinite" nodeType="mainSeq">
                <p:childTnLst>
                  <p:par>
                    <p:cTn id="312" fill="hold">
                      <p:stCondLst>
                        <p:cond delay="0"/>
                      </p:stCondLst>
                      <p:childTnLst>
                        <p:par>
                          <p:cTn id="313" fill="hold">
                            <p:stCondLst>
                              <p:cond delay="0"/>
                            </p:stCondLst>
                            <p:childTnLst>
                              <p:par>
                                <p:cTn id="314" nodeType="withEffect" fill="hold" presetClass="path">
                                  <p:stCondLst>
                                    <p:cond delay="0"/>
                                  </p:stCondLst>
                                  <p:childTnLst>
                                    <p:animMotion origin="layout" path="M 0 0 L 0.02252 0 E">
                                      <p:cBhvr>
                                        <p:cTn id="315" dur="900" fill="hold"/>
                                        <p:tgtEl>
                                          <p:spTgt spid="375"/>
                                        </p:tgtEl>
                                        <p:attrNameLst>
                                          <p:attrName>ppt_x</p:attrName>
                                          <p:attrName>ppt_y</p:attrName>
                                        </p:attrNameLst>
                                      </p:cBhvr>
                                    </p:animMotion>
                                  </p:childTnLst>
                                </p:cTn>
                              </p:par>
                              <p:par>
                                <p:cTn id="316" nodeType="withEffect" fill="hold" presetClass="path">
                                  <p:stCondLst>
                                    <p:cond delay="0"/>
                                  </p:stCondLst>
                                  <p:childTnLst>
                                    <p:animMotion origin="layout" path="M 0 0 L 0.02252 0 E">
                                      <p:cBhvr>
                                        <p:cTn id="317" dur="900" fill="hold"/>
                                        <p:tgtEl>
                                          <p:spTgt spid="376"/>
                                        </p:tgtEl>
                                        <p:attrNameLst>
                                          <p:attrName>ppt_x</p:attrName>
                                          <p:attrName>ppt_y</p:attrName>
                                        </p:attrNameLst>
                                      </p:cBhvr>
                                    </p:animMotion>
                                  </p:childTnLst>
                                </p:cTn>
                              </p:par>
                              <p:par>
                                <p:cTn id="318" nodeType="withEffect" fill="hold" presetClass="exit" presetID="1">
                                  <p:stCondLst>
                                    <p:cond delay="100"/>
                                  </p:stCondLst>
                                  <p:childTnLst>
                                    <p:set>
                                      <p:cBhvr>
                                        <p:cTn id="319" dur="1" fill="hold">
                                          <p:stCondLst>
                                            <p:cond delay="0"/>
                                          </p:stCondLst>
                                        </p:cTn>
                                        <p:tgtEl>
                                          <p:spTgt spid="377"/>
                                        </p:tgtEl>
                                        <p:attrNameLst>
                                          <p:attrName>style.visibility</p:attrName>
                                        </p:attrNameLst>
                                      </p:cBhvr>
                                      <p:to>
                                        <p:strVal val="hidden"/>
                                      </p:to>
                                    </p:set>
                                  </p:childTnLst>
                                </p:cTn>
                              </p:par>
                              <p:par>
                                <p:cTn id="320" nodeType="withEffect" fill="hold" presetClass="exit" presetID="1">
                                  <p:stCondLst>
                                    <p:cond delay="871"/>
                                  </p:stCondLst>
                                  <p:childTnLst>
                                    <p:set>
                                      <p:cBhvr>
                                        <p:cTn id="321" dur="1" fill="hold">
                                          <p:stCondLst>
                                            <p:cond delay="0"/>
                                          </p:stCondLst>
                                        </p:cTn>
                                        <p:tgtEl>
                                          <p:spTgt spid="378"/>
                                        </p:tgtEl>
                                        <p:attrNameLst>
                                          <p:attrName>style.visibility</p:attrName>
                                        </p:attrNameLst>
                                      </p:cBhvr>
                                      <p:to>
                                        <p:strVal val="hidden"/>
                                      </p:to>
                                    </p:set>
                                  </p:childTnLst>
                                </p:cTn>
                              </p:par>
                              <p:par>
                                <p:cTn id="322" nodeType="withEffect" fill="hold" presetClass="exit" presetID="1">
                                  <p:stCondLst>
                                    <p:cond delay="1054"/>
                                  </p:stCondLst>
                                  <p:childTnLst>
                                    <p:set>
                                      <p:cBhvr>
                                        <p:cTn id="323" dur="1" fill="hold">
                                          <p:stCondLst>
                                            <p:cond delay="0"/>
                                          </p:stCondLst>
                                        </p:cTn>
                                        <p:tgtEl>
                                          <p:spTgt spid="350"/>
                                        </p:tgtEl>
                                        <p:attrNameLst>
                                          <p:attrName>style.visibility</p:attrName>
                                        </p:attrNameLst>
                                      </p:cBhvr>
                                      <p:to>
                                        <p:strVal val="hidden"/>
                                      </p:to>
                                    </p:set>
                                  </p:childTnLst>
                                </p:cTn>
                              </p:par>
                              <p:par>
                                <p:cTn id="324" nodeType="withEffect" fill="hold" presetClass="exit" presetID="1">
                                  <p:stCondLst>
                                    <p:cond delay="1191"/>
                                  </p:stCondLst>
                                  <p:childTnLst>
                                    <p:set>
                                      <p:cBhvr>
                                        <p:cTn id="325" dur="1" fill="hold">
                                          <p:stCondLst>
                                            <p:cond delay="0"/>
                                          </p:stCondLst>
                                        </p:cTn>
                                        <p:tgtEl>
                                          <p:spTgt spid="351"/>
                                        </p:tgtEl>
                                        <p:attrNameLst>
                                          <p:attrName>style.visibility</p:attrName>
                                        </p:attrNameLst>
                                      </p:cBhvr>
                                      <p:to>
                                        <p:strVal val="hidden"/>
                                      </p:to>
                                    </p:set>
                                  </p:childTnLst>
                                </p:cTn>
                              </p:par>
                              <p:par>
                                <p:cTn id="326" nodeType="withEffect" fill="hold" presetClass="exit" presetID="1">
                                  <p:stCondLst>
                                    <p:cond delay="1328"/>
                                  </p:stCondLst>
                                  <p:childTnLst>
                                    <p:set>
                                      <p:cBhvr>
                                        <p:cTn id="327" dur="1" fill="hold">
                                          <p:stCondLst>
                                            <p:cond delay="0"/>
                                          </p:stCondLst>
                                        </p:cTn>
                                        <p:tgtEl>
                                          <p:spTgt spid="352"/>
                                        </p:tgtEl>
                                        <p:attrNameLst>
                                          <p:attrName>style.visibility</p:attrName>
                                        </p:attrNameLst>
                                      </p:cBhvr>
                                      <p:to>
                                        <p:strVal val="hidden"/>
                                      </p:to>
                                    </p:set>
                                  </p:childTnLst>
                                </p:cTn>
                              </p:par>
                              <p:par>
                                <p:cTn id="328" nodeType="withEffect" fill="hold" presetClass="exit" presetID="1">
                                  <p:stCondLst>
                                    <p:cond delay="1464"/>
                                  </p:stCondLst>
                                  <p:childTnLst>
                                    <p:set>
                                      <p:cBhvr>
                                        <p:cTn id="329" dur="1" fill="hold">
                                          <p:stCondLst>
                                            <p:cond delay="0"/>
                                          </p:stCondLst>
                                        </p:cTn>
                                        <p:tgtEl>
                                          <p:spTgt spid="353"/>
                                        </p:tgtEl>
                                        <p:attrNameLst>
                                          <p:attrName>style.visibility</p:attrName>
                                        </p:attrNameLst>
                                      </p:cBhvr>
                                      <p:to>
                                        <p:strVal val="hidden"/>
                                      </p:to>
                                    </p:set>
                                  </p:childTnLst>
                                </p:cTn>
                              </p:par>
                              <p:par>
                                <p:cTn id="330" nodeType="withEffect" fill="hold" presetClass="exit" presetID="1">
                                  <p:stCondLst>
                                    <p:cond delay="1601"/>
                                  </p:stCondLst>
                                  <p:childTnLst>
                                    <p:set>
                                      <p:cBhvr>
                                        <p:cTn id="331" dur="1" fill="hold">
                                          <p:stCondLst>
                                            <p:cond delay="0"/>
                                          </p:stCondLst>
                                        </p:cTn>
                                        <p:tgtEl>
                                          <p:spTgt spid="354"/>
                                        </p:tgtEl>
                                        <p:attrNameLst>
                                          <p:attrName>style.visibility</p:attrName>
                                        </p:attrNameLst>
                                      </p:cBhvr>
                                      <p:to>
                                        <p:strVal val="hidden"/>
                                      </p:to>
                                    </p:set>
                                  </p:childTnLst>
                                </p:cTn>
                              </p:par>
                              <p:par>
                                <p:cTn id="332" nodeType="withEffect" fill="hold" presetClass="exit" presetID="1">
                                  <p:stCondLst>
                                    <p:cond delay="1738"/>
                                  </p:stCondLst>
                                  <p:childTnLst>
                                    <p:set>
                                      <p:cBhvr>
                                        <p:cTn id="333" dur="1" fill="hold">
                                          <p:stCondLst>
                                            <p:cond delay="0"/>
                                          </p:stCondLst>
                                        </p:cTn>
                                        <p:tgtEl>
                                          <p:spTgt spid="355"/>
                                        </p:tgtEl>
                                        <p:attrNameLst>
                                          <p:attrName>style.visibility</p:attrName>
                                        </p:attrNameLst>
                                      </p:cBhvr>
                                      <p:to>
                                        <p:strVal val="hidden"/>
                                      </p:to>
                                    </p:set>
                                  </p:childTnLst>
                                </p:cTn>
                              </p:par>
                              <p:par>
                                <p:cTn id="334" nodeType="withEffect" fill="hold" presetClass="exit" presetID="1">
                                  <p:stCondLst>
                                    <p:cond delay="1875"/>
                                  </p:stCondLst>
                                  <p:childTnLst>
                                    <p:set>
                                      <p:cBhvr>
                                        <p:cTn id="335" dur="1" fill="hold">
                                          <p:stCondLst>
                                            <p:cond delay="0"/>
                                          </p:stCondLst>
                                        </p:cTn>
                                        <p:tgtEl>
                                          <p:spTgt spid="356"/>
                                        </p:tgtEl>
                                        <p:attrNameLst>
                                          <p:attrName>style.visibility</p:attrName>
                                        </p:attrNameLst>
                                      </p:cBhvr>
                                      <p:to>
                                        <p:strVal val="hidden"/>
                                      </p:to>
                                    </p:set>
                                  </p:childTnLst>
                                </p:cTn>
                              </p:par>
                              <p:par>
                                <p:cTn id="336" nodeType="withEffect" fill="hold" presetClass="exit" presetID="1">
                                  <p:stCondLst>
                                    <p:cond delay="2012"/>
                                  </p:stCondLst>
                                  <p:childTnLst>
                                    <p:set>
                                      <p:cBhvr>
                                        <p:cTn id="337" dur="1" fill="hold">
                                          <p:stCondLst>
                                            <p:cond delay="0"/>
                                          </p:stCondLst>
                                        </p:cTn>
                                        <p:tgtEl>
                                          <p:spTgt spid="357"/>
                                        </p:tgtEl>
                                        <p:attrNameLst>
                                          <p:attrName>style.visibility</p:attrName>
                                        </p:attrNameLst>
                                      </p:cBhvr>
                                      <p:to>
                                        <p:strVal val="hidden"/>
                                      </p:to>
                                    </p:set>
                                  </p:childTnLst>
                                </p:cTn>
                              </p:par>
                              <p:par>
                                <p:cTn id="338" nodeType="withEffect" fill="hold" presetClass="exit" presetID="1">
                                  <p:stCondLst>
                                    <p:cond delay="2149"/>
                                  </p:stCondLst>
                                  <p:childTnLst>
                                    <p:set>
                                      <p:cBhvr>
                                        <p:cTn id="339" dur="1" fill="hold">
                                          <p:stCondLst>
                                            <p:cond delay="0"/>
                                          </p:stCondLst>
                                        </p:cTn>
                                        <p:tgtEl>
                                          <p:spTgt spid="358"/>
                                        </p:tgtEl>
                                        <p:attrNameLst>
                                          <p:attrName>style.visibility</p:attrName>
                                        </p:attrNameLst>
                                      </p:cBhvr>
                                      <p:to>
                                        <p:strVal val="hidden"/>
                                      </p:to>
                                    </p:set>
                                  </p:childTnLst>
                                </p:cTn>
                              </p:par>
                              <p:par>
                                <p:cTn id="340" nodeType="withEffect" fill="hold" presetClass="exit" presetID="1">
                                  <p:stCondLst>
                                    <p:cond delay="2286"/>
                                  </p:stCondLst>
                                  <p:childTnLst>
                                    <p:set>
                                      <p:cBhvr>
                                        <p:cTn id="341" dur="1" fill="hold">
                                          <p:stCondLst>
                                            <p:cond delay="0"/>
                                          </p:stCondLst>
                                        </p:cTn>
                                        <p:tgtEl>
                                          <p:spTgt spid="359"/>
                                        </p:tgtEl>
                                        <p:attrNameLst>
                                          <p:attrName>style.visibility</p:attrName>
                                        </p:attrNameLst>
                                      </p:cBhvr>
                                      <p:to>
                                        <p:strVal val="hidden"/>
                                      </p:to>
                                    </p:set>
                                  </p:childTnLst>
                                </p:cTn>
                              </p:par>
                              <p:par>
                                <p:cTn id="342" nodeType="withEffect" fill="hold" presetClass="exit" presetID="1">
                                  <p:stCondLst>
                                    <p:cond delay="2422"/>
                                  </p:stCondLst>
                                  <p:childTnLst>
                                    <p:set>
                                      <p:cBhvr>
                                        <p:cTn id="343" dur="1" fill="hold">
                                          <p:stCondLst>
                                            <p:cond delay="0"/>
                                          </p:stCondLst>
                                        </p:cTn>
                                        <p:tgtEl>
                                          <p:spTgt spid="360"/>
                                        </p:tgtEl>
                                        <p:attrNameLst>
                                          <p:attrName>style.visibility</p:attrName>
                                        </p:attrNameLst>
                                      </p:cBhvr>
                                      <p:to>
                                        <p:strVal val="hidden"/>
                                      </p:to>
                                    </p:set>
                                  </p:childTnLst>
                                </p:cTn>
                              </p:par>
                              <p:par>
                                <p:cTn id="344" nodeType="withEffect" fill="hold" presetClass="exit" presetID="1">
                                  <p:stCondLst>
                                    <p:cond delay="2559"/>
                                  </p:stCondLst>
                                  <p:childTnLst>
                                    <p:set>
                                      <p:cBhvr>
                                        <p:cTn id="345" dur="1" fill="hold">
                                          <p:stCondLst>
                                            <p:cond delay="0"/>
                                          </p:stCondLst>
                                        </p:cTn>
                                        <p:tgtEl>
                                          <p:spTgt spid="361"/>
                                        </p:tgtEl>
                                        <p:attrNameLst>
                                          <p:attrName>style.visibility</p:attrName>
                                        </p:attrNameLst>
                                      </p:cBhvr>
                                      <p:to>
                                        <p:strVal val="hidden"/>
                                      </p:to>
                                    </p:set>
                                  </p:childTnLst>
                                </p:cTn>
                              </p:par>
                              <p:par>
                                <p:cTn id="346" nodeType="withEffect" fill="hold" presetClass="exit" presetID="1">
                                  <p:stCondLst>
                                    <p:cond delay="2696"/>
                                  </p:stCondLst>
                                  <p:childTnLst>
                                    <p:set>
                                      <p:cBhvr>
                                        <p:cTn id="347" dur="1" fill="hold">
                                          <p:stCondLst>
                                            <p:cond delay="0"/>
                                          </p:stCondLst>
                                        </p:cTn>
                                        <p:tgtEl>
                                          <p:spTgt spid="362"/>
                                        </p:tgtEl>
                                        <p:attrNameLst>
                                          <p:attrName>style.visibility</p:attrName>
                                        </p:attrNameLst>
                                      </p:cBhvr>
                                      <p:to>
                                        <p:strVal val="hidden"/>
                                      </p:to>
                                    </p:set>
                                  </p:childTnLst>
                                </p:cTn>
                              </p:par>
                              <p:par>
                                <p:cTn id="348" nodeType="withEffect" fill="hold" presetClass="exit" presetID="1">
                                  <p:stCondLst>
                                    <p:cond delay="2833"/>
                                  </p:stCondLst>
                                  <p:childTnLst>
                                    <p:set>
                                      <p:cBhvr>
                                        <p:cTn id="349" dur="1" fill="hold">
                                          <p:stCondLst>
                                            <p:cond delay="0"/>
                                          </p:stCondLst>
                                        </p:cTn>
                                        <p:tgtEl>
                                          <p:spTgt spid="363"/>
                                        </p:tgtEl>
                                        <p:attrNameLst>
                                          <p:attrName>style.visibility</p:attrName>
                                        </p:attrNameLst>
                                      </p:cBhvr>
                                      <p:to>
                                        <p:strVal val="hidden"/>
                                      </p:to>
                                    </p:set>
                                  </p:childTnLst>
                                </p:cTn>
                              </p:par>
                              <p:par>
                                <p:cTn id="350" nodeType="withEffect" fill="hold" presetClass="exit" presetID="1">
                                  <p:stCondLst>
                                    <p:cond delay="2970"/>
                                  </p:stCondLst>
                                  <p:childTnLst>
                                    <p:set>
                                      <p:cBhvr>
                                        <p:cTn id="351" dur="1" fill="hold">
                                          <p:stCondLst>
                                            <p:cond delay="0"/>
                                          </p:stCondLst>
                                        </p:cTn>
                                        <p:tgtEl>
                                          <p:spTgt spid="364"/>
                                        </p:tgtEl>
                                        <p:attrNameLst>
                                          <p:attrName>style.visibility</p:attrName>
                                        </p:attrNameLst>
                                      </p:cBhvr>
                                      <p:to>
                                        <p:strVal val="hidden"/>
                                      </p:to>
                                    </p:set>
                                  </p:childTnLst>
                                </p:cTn>
                              </p:par>
                              <p:par>
                                <p:cTn id="352" nodeType="withEffect" fill="hold" presetClass="exit" presetID="1">
                                  <p:stCondLst>
                                    <p:cond delay="3107"/>
                                  </p:stCondLst>
                                  <p:childTnLst>
                                    <p:set>
                                      <p:cBhvr>
                                        <p:cTn id="353" dur="1" fill="hold">
                                          <p:stCondLst>
                                            <p:cond delay="0"/>
                                          </p:stCondLst>
                                        </p:cTn>
                                        <p:tgtEl>
                                          <p:spTgt spid="365"/>
                                        </p:tgtEl>
                                        <p:attrNameLst>
                                          <p:attrName>style.visibility</p:attrName>
                                        </p:attrNameLst>
                                      </p:cBhvr>
                                      <p:to>
                                        <p:strVal val="hidden"/>
                                      </p:to>
                                    </p:set>
                                  </p:childTnLst>
                                </p:cTn>
                              </p:par>
                              <p:par>
                                <p:cTn id="354" nodeType="withEffect" fill="hold" presetClass="exit" presetID="1">
                                  <p:stCondLst>
                                    <p:cond delay="3243"/>
                                  </p:stCondLst>
                                  <p:childTnLst>
                                    <p:set>
                                      <p:cBhvr>
                                        <p:cTn id="355" dur="1" fill="hold">
                                          <p:stCondLst>
                                            <p:cond delay="0"/>
                                          </p:stCondLst>
                                        </p:cTn>
                                        <p:tgtEl>
                                          <p:spTgt spid="366"/>
                                        </p:tgtEl>
                                        <p:attrNameLst>
                                          <p:attrName>style.visibility</p:attrName>
                                        </p:attrNameLst>
                                      </p:cBhvr>
                                      <p:to>
                                        <p:strVal val="hidden"/>
                                      </p:to>
                                    </p:set>
                                  </p:childTnLst>
                                </p:cTn>
                              </p:par>
                              <p:par>
                                <p:cTn id="356" nodeType="withEffect" fill="hold" presetClass="exit" presetID="1">
                                  <p:stCondLst>
                                    <p:cond delay="3380"/>
                                  </p:stCondLst>
                                  <p:childTnLst>
                                    <p:set>
                                      <p:cBhvr>
                                        <p:cTn id="357" dur="1" fill="hold">
                                          <p:stCondLst>
                                            <p:cond delay="0"/>
                                          </p:stCondLst>
                                        </p:cTn>
                                        <p:tgtEl>
                                          <p:spTgt spid="367"/>
                                        </p:tgtEl>
                                        <p:attrNameLst>
                                          <p:attrName>style.visibility</p:attrName>
                                        </p:attrNameLst>
                                      </p:cBhvr>
                                      <p:to>
                                        <p:strVal val="hidden"/>
                                      </p:to>
                                    </p:set>
                                  </p:childTnLst>
                                </p:cTn>
                              </p:par>
                              <p:par>
                                <p:cTn id="358" nodeType="withEffect" fill="hold" presetClass="path">
                                  <p:stCondLst>
                                    <p:cond delay="900"/>
                                  </p:stCondLst>
                                  <p:childTnLst>
                                    <p:animMotion origin="layout" path="M 0 0 L 0.57001 0 E">
                                      <p:cBhvr>
                                        <p:cTn id="359" dur="2600" fill="hold"/>
                                        <p:tgtEl>
                                          <p:spTgt spid="368"/>
                                        </p:tgtEl>
                                        <p:attrNameLst>
                                          <p:attrName>ppt_x</p:attrName>
                                          <p:attrName>ppt_y</p:attrName>
                                        </p:attrNameLst>
                                      </p:cBhvr>
                                    </p:animMotion>
                                  </p:childTnLst>
                                </p:cTn>
                              </p:par>
                              <p:par>
                                <p:cTn id="360" nodeType="withEffect" fill="hold" presetClass="path">
                                  <p:stCondLst>
                                    <p:cond delay="900"/>
                                  </p:stCondLst>
                                  <p:childTnLst>
                                    <p:animMotion origin="layout" path="M 0 0 L 0.57001 0 E">
                                      <p:cBhvr>
                                        <p:cTn id="361" dur="2600" fill="hold"/>
                                        <p:tgtEl>
                                          <p:spTgt spid="369"/>
                                        </p:tgtEl>
                                        <p:attrNameLst>
                                          <p:attrName>ppt_x</p:attrName>
                                          <p:attrName>ppt_y</p:attrName>
                                        </p:attrNameLst>
                                      </p:cBhvr>
                                    </p:animMotion>
                                  </p:childTnLst>
                                </p:cTn>
                              </p:par>
                              <p:par>
                                <p:cTn id="362" nodeType="withEffect" fill="hold" presetClass="path">
                                  <p:stCondLst>
                                    <p:cond delay="900"/>
                                  </p:stCondLst>
                                  <p:childTnLst>
                                    <p:animMotion origin="layout" path="M 0 0 L 0.57001 0 E">
                                      <p:cBhvr>
                                        <p:cTn id="363" dur="2600" fill="hold"/>
                                        <p:tgtEl>
                                          <p:spTgt spid="370"/>
                                        </p:tgtEl>
                                        <p:attrNameLst>
                                          <p:attrName>ppt_x</p:attrName>
                                          <p:attrName>ppt_y</p:attrName>
                                        </p:attrNameLst>
                                      </p:cBhvr>
                                    </p:animMotion>
                                  </p:childTnLst>
                                </p:cTn>
                              </p:par>
                              <p:par>
                                <p:cTn id="364" nodeType="withEffect" fill="hold" presetClass="path">
                                  <p:stCondLst>
                                    <p:cond delay="900"/>
                                  </p:stCondLst>
                                  <p:childTnLst>
                                    <p:animMotion origin="layout" path="M 0 0 L 0.57001 0 E">
                                      <p:cBhvr>
                                        <p:cTn id="365" dur="2600" fill="hold"/>
                                        <p:tgtEl>
                                          <p:spTgt spid="371"/>
                                        </p:tgtEl>
                                        <p:attrNameLst>
                                          <p:attrName>ppt_x</p:attrName>
                                          <p:attrName>ppt_y</p:attrName>
                                        </p:attrNameLst>
                                      </p:cBhvr>
                                    </p:animMotion>
                                  </p:childTnLst>
                                </p:cTn>
                              </p:par>
                              <p:par>
                                <p:cTn id="366" nodeType="withEffect" fill="hold" presetClass="path">
                                  <p:stCondLst>
                                    <p:cond delay="900"/>
                                  </p:stCondLst>
                                  <p:childTnLst>
                                    <p:animMotion origin="layout" path="M 0 0 L 0.57001 0 E">
                                      <p:cBhvr>
                                        <p:cTn id="367" dur="2600" fill="hold"/>
                                        <p:tgtEl>
                                          <p:spTgt spid="372"/>
                                        </p:tgtEl>
                                        <p:attrNameLst>
                                          <p:attrName>ppt_x</p:attrName>
                                          <p:attrName>ppt_y</p:attrName>
                                        </p:attrNameLst>
                                      </p:cBhvr>
                                    </p:animMotion>
                                  </p:childTnLst>
                                </p:cTn>
                              </p:par>
                              <p:par>
                                <p:cTn id="368" nodeType="withEffect" fill="hold" presetClass="exit" presetID="1">
                                  <p:stCondLst>
                                    <p:cond delay="900"/>
                                  </p:stCondLst>
                                  <p:childTnLst>
                                    <p:set>
                                      <p:cBhvr>
                                        <p:cTn id="369" dur="1" fill="hold">
                                          <p:stCondLst>
                                            <p:cond delay="0"/>
                                          </p:stCondLst>
                                        </p:cTn>
                                        <p:tgtEl>
                                          <p:spTgt spid="3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18" name="o1" descr="LEVEL 2 → PIPELINE"/>
          <p:cNvPicPr/>
          <p:nvPr/>
        </p:nvPicPr>
        <p:blipFill>
          <a:blip r:embed="rId1"/>
          <a:stretch/>
        </p:blipFill>
        <p:spPr>
          <a:xfrm>
            <a:off x="548640" y="411480"/>
            <a:ext cx="2633040" cy="145800"/>
          </a:xfrm>
          <a:prstGeom prst="rect">
            <a:avLst/>
          </a:prstGeom>
          <a:ln w="0">
            <a:noFill/>
          </a:ln>
        </p:spPr>
      </p:pic>
      <p:pic>
        <p:nvPicPr>
          <p:cNvPr id="419" name="o2" descr="Du fichier brut à l'appli"/>
          <p:cNvPicPr/>
          <p:nvPr/>
        </p:nvPicPr>
        <p:blipFill>
          <a:blip r:embed="rId2"/>
          <a:stretch/>
        </p:blipFill>
        <p:spPr>
          <a:xfrm>
            <a:off x="548640" y="777240"/>
            <a:ext cx="6857640" cy="273960"/>
          </a:xfrm>
          <a:prstGeom prst="rect">
            <a:avLst/>
          </a:prstGeom>
          <a:ln w="0">
            <a:noFill/>
          </a:ln>
        </p:spPr>
      </p:pic>
      <p:pic>
        <p:nvPicPr>
          <p:cNvPr id="420" name="o3" descr="strawberry"/>
          <p:cNvPicPr/>
          <p:nvPr/>
        </p:nvPicPr>
        <p:blipFill>
          <a:blip r:embed="rId3"/>
          <a:stretch/>
        </p:blipFill>
        <p:spPr>
          <a:xfrm>
            <a:off x="11073240" y="365760"/>
            <a:ext cx="566640" cy="566640"/>
          </a:xfrm>
          <a:prstGeom prst="rect">
            <a:avLst/>
          </a:prstGeom>
          <a:ln w="0">
            <a:noFill/>
          </a:ln>
        </p:spPr>
      </p:pic>
      <p:pic>
        <p:nvPicPr>
          <p:cNvPr id="421" name="o37" descr="super pac-gomme"/>
          <p:cNvPicPr/>
          <p:nvPr/>
        </p:nvPicPr>
        <p:blipFill>
          <a:blip r:embed="rId4"/>
          <a:stretch/>
        </p:blipFill>
        <p:spPr>
          <a:xfrm>
            <a:off x="11448360" y="6355080"/>
            <a:ext cx="182520" cy="182520"/>
          </a:xfrm>
          <a:prstGeom prst="rect">
            <a:avLst/>
          </a:prstGeom>
          <a:ln w="0">
            <a:noFill/>
          </a:ln>
        </p:spPr>
      </p:pic>
      <p:sp>
        <p:nvSpPr>
          <p:cNvPr id="422" name="o40"/>
          <p:cNvSpPr/>
          <p:nvPr/>
        </p:nvSpPr>
        <p:spPr>
          <a:xfrm>
            <a:off x="548640" y="1737360"/>
            <a:ext cx="1874160" cy="2605680"/>
          </a:xfrm>
          <a:prstGeom prst="roundRect">
            <a:avLst>
              <a:gd name="adj" fmla="val 682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sp>
        <p:nvSpPr>
          <p:cNvPr id="423" name="o41"/>
          <p:cNvSpPr/>
          <p:nvPr/>
        </p:nvSpPr>
        <p:spPr>
          <a:xfrm>
            <a:off x="617400" y="1806120"/>
            <a:ext cx="1737000" cy="2468520"/>
          </a:xfrm>
          <a:prstGeom prst="roundRect">
            <a:avLst>
              <a:gd name="adj" fmla="val 3421"/>
            </a:avLst>
          </a:prstGeom>
          <a:noFill/>
          <a:ln w="12700">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pic>
        <p:nvPicPr>
          <p:cNvPr id="424" name="o42" descr="01"/>
          <p:cNvPicPr/>
          <p:nvPr/>
        </p:nvPicPr>
        <p:blipFill>
          <a:blip r:embed="rId5"/>
          <a:stretch/>
        </p:blipFill>
        <p:spPr>
          <a:xfrm>
            <a:off x="749880" y="1938600"/>
            <a:ext cx="255600" cy="127800"/>
          </a:xfrm>
          <a:prstGeom prst="rect">
            <a:avLst/>
          </a:prstGeom>
          <a:ln w="0">
            <a:noFill/>
          </a:ln>
        </p:spPr>
      </p:pic>
      <p:pic>
        <p:nvPicPr>
          <p:cNvPr id="425" name="o43" descr="Données brutes"/>
          <p:cNvPicPr/>
          <p:nvPr/>
        </p:nvPicPr>
        <p:blipFill>
          <a:blip r:embed="rId6"/>
          <a:stretch/>
        </p:blipFill>
        <p:spPr>
          <a:xfrm>
            <a:off x="1156680" y="2240280"/>
            <a:ext cx="658080" cy="658080"/>
          </a:xfrm>
          <a:prstGeom prst="rect">
            <a:avLst/>
          </a:prstGeom>
          <a:ln w="0">
            <a:noFill/>
          </a:ln>
        </p:spPr>
      </p:pic>
      <p:sp>
        <p:nvSpPr>
          <p:cNvPr id="426" name="o44"/>
          <p:cNvSpPr/>
          <p:nvPr/>
        </p:nvSpPr>
        <p:spPr>
          <a:xfrm>
            <a:off x="640080" y="3063240"/>
            <a:ext cx="169128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pc="-1" strike="noStrike">
                <a:solidFill>
                  <a:srgbClr val="ffffff"/>
                </a:solidFill>
                <a:latin typeface="Arial"/>
                <a:ea typeface="Arial"/>
              </a:rPr>
              <a:t>Données brutes</a:t>
            </a:r>
            <a:endParaRPr b="0" lang="en-US" sz="1600" spc="-1" strike="noStrike">
              <a:solidFill>
                <a:srgbClr val="ffffff"/>
              </a:solidFill>
              <a:latin typeface="Arial"/>
            </a:endParaRPr>
          </a:p>
        </p:txBody>
      </p:sp>
      <p:sp>
        <p:nvSpPr>
          <p:cNvPr id="427" name="o45"/>
          <p:cNvSpPr/>
          <p:nvPr/>
        </p:nvSpPr>
        <p:spPr>
          <a:xfrm>
            <a:off x="594360" y="3474720"/>
            <a:ext cx="1782720" cy="273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100" spc="-1" strike="noStrike">
                <a:solidFill>
                  <a:srgbClr val="ffffff"/>
                </a:solidFill>
                <a:latin typeface="Courier New"/>
                <a:ea typeface="Courier New"/>
              </a:rPr>
              <a:t>vgsales.csv</a:t>
            </a:r>
            <a:endParaRPr b="0" lang="en-US" sz="1100" spc="-1" strike="noStrike">
              <a:solidFill>
                <a:srgbClr val="ffffff"/>
              </a:solidFill>
              <a:latin typeface="Arial"/>
            </a:endParaRPr>
          </a:p>
        </p:txBody>
      </p:sp>
      <p:sp>
        <p:nvSpPr>
          <p:cNvPr id="428" name="o46"/>
          <p:cNvSpPr/>
          <p:nvPr/>
        </p:nvSpPr>
        <p:spPr>
          <a:xfrm>
            <a:off x="640080" y="3767400"/>
            <a:ext cx="169128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16 598 lignes</a:t>
            </a:r>
            <a:endParaRPr b="0" lang="en-US" sz="1300" spc="-1" strike="noStrike">
              <a:solidFill>
                <a:srgbClr val="ffffff"/>
              </a:solidFill>
              <a:latin typeface="Arial"/>
            </a:endParaRPr>
          </a:p>
        </p:txBody>
      </p:sp>
      <p:sp>
        <p:nvSpPr>
          <p:cNvPr id="429" name="o47"/>
          <p:cNvSpPr/>
          <p:nvPr/>
        </p:nvSpPr>
        <p:spPr>
          <a:xfrm>
            <a:off x="249408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30" name="o48"/>
          <p:cNvSpPr/>
          <p:nvPr/>
        </p:nvSpPr>
        <p:spPr>
          <a:xfrm>
            <a:off x="260172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31" name="o49"/>
          <p:cNvSpPr/>
          <p:nvPr/>
        </p:nvSpPr>
        <p:spPr>
          <a:xfrm>
            <a:off x="270936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32" name="o50"/>
          <p:cNvSpPr/>
          <p:nvPr/>
        </p:nvSpPr>
        <p:spPr>
          <a:xfrm>
            <a:off x="2853720" y="1737360"/>
            <a:ext cx="1874160" cy="2605680"/>
          </a:xfrm>
          <a:prstGeom prst="roundRect">
            <a:avLst>
              <a:gd name="adj" fmla="val 682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sp>
        <p:nvSpPr>
          <p:cNvPr id="433" name="o51"/>
          <p:cNvSpPr/>
          <p:nvPr/>
        </p:nvSpPr>
        <p:spPr>
          <a:xfrm>
            <a:off x="2922120" y="1806120"/>
            <a:ext cx="1737000" cy="2468520"/>
          </a:xfrm>
          <a:prstGeom prst="roundRect">
            <a:avLst>
              <a:gd name="adj" fmla="val 3421"/>
            </a:avLst>
          </a:prstGeom>
          <a:noFill/>
          <a:ln w="12700">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pic>
        <p:nvPicPr>
          <p:cNvPr id="434" name="o52" descr="02"/>
          <p:cNvPicPr/>
          <p:nvPr/>
        </p:nvPicPr>
        <p:blipFill>
          <a:blip r:embed="rId7"/>
          <a:stretch/>
        </p:blipFill>
        <p:spPr>
          <a:xfrm>
            <a:off x="3054960" y="1938600"/>
            <a:ext cx="255600" cy="127800"/>
          </a:xfrm>
          <a:prstGeom prst="rect">
            <a:avLst/>
          </a:prstGeom>
          <a:ln w="0">
            <a:noFill/>
          </a:ln>
        </p:spPr>
      </p:pic>
      <p:pic>
        <p:nvPicPr>
          <p:cNvPr id="435" name="o53" descr="Nettoyage"/>
          <p:cNvPicPr/>
          <p:nvPr/>
        </p:nvPicPr>
        <p:blipFill>
          <a:blip r:embed="rId8"/>
          <a:stretch/>
        </p:blipFill>
        <p:spPr>
          <a:xfrm>
            <a:off x="3461760" y="2240280"/>
            <a:ext cx="658080" cy="658080"/>
          </a:xfrm>
          <a:prstGeom prst="rect">
            <a:avLst/>
          </a:prstGeom>
          <a:ln w="0">
            <a:noFill/>
          </a:ln>
        </p:spPr>
      </p:pic>
      <p:sp>
        <p:nvSpPr>
          <p:cNvPr id="436" name="o54"/>
          <p:cNvSpPr/>
          <p:nvPr/>
        </p:nvSpPr>
        <p:spPr>
          <a:xfrm>
            <a:off x="2945160" y="3063240"/>
            <a:ext cx="169128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pc="-1" strike="noStrike">
                <a:solidFill>
                  <a:srgbClr val="ffffff"/>
                </a:solidFill>
                <a:latin typeface="Arial"/>
                <a:ea typeface="Arial"/>
              </a:rPr>
              <a:t>Nettoyage</a:t>
            </a:r>
            <a:endParaRPr b="0" lang="en-US" sz="1600" spc="-1" strike="noStrike">
              <a:solidFill>
                <a:srgbClr val="ffffff"/>
              </a:solidFill>
              <a:latin typeface="Arial"/>
            </a:endParaRPr>
          </a:p>
        </p:txBody>
      </p:sp>
      <p:sp>
        <p:nvSpPr>
          <p:cNvPr id="437" name="o55"/>
          <p:cNvSpPr/>
          <p:nvPr/>
        </p:nvSpPr>
        <p:spPr>
          <a:xfrm>
            <a:off x="2899440" y="3474720"/>
            <a:ext cx="1782720" cy="273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100" spc="-1" strike="noStrike">
                <a:solidFill>
                  <a:srgbClr val="ffb8ff"/>
                </a:solidFill>
                <a:latin typeface="Courier New"/>
                <a:ea typeface="Courier New"/>
              </a:rPr>
              <a:t>cleaning.py</a:t>
            </a:r>
            <a:endParaRPr b="0" lang="en-US" sz="1100" spc="-1" strike="noStrike">
              <a:solidFill>
                <a:srgbClr val="ffffff"/>
              </a:solidFill>
              <a:latin typeface="Arial"/>
            </a:endParaRPr>
          </a:p>
        </p:txBody>
      </p:sp>
      <p:sp>
        <p:nvSpPr>
          <p:cNvPr id="438" name="o56"/>
          <p:cNvSpPr/>
          <p:nvPr/>
        </p:nvSpPr>
        <p:spPr>
          <a:xfrm>
            <a:off x="2945160" y="3767400"/>
            <a:ext cx="169128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règles centralisées</a:t>
            </a:r>
            <a:endParaRPr b="0" lang="en-US" sz="1300" spc="-1" strike="noStrike">
              <a:solidFill>
                <a:srgbClr val="ffffff"/>
              </a:solidFill>
              <a:latin typeface="Arial"/>
            </a:endParaRPr>
          </a:p>
        </p:txBody>
      </p:sp>
      <p:sp>
        <p:nvSpPr>
          <p:cNvPr id="439" name="o57"/>
          <p:cNvSpPr/>
          <p:nvPr/>
        </p:nvSpPr>
        <p:spPr>
          <a:xfrm>
            <a:off x="479916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40" name="o58"/>
          <p:cNvSpPr/>
          <p:nvPr/>
        </p:nvSpPr>
        <p:spPr>
          <a:xfrm>
            <a:off x="490680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41" name="o59"/>
          <p:cNvSpPr/>
          <p:nvPr/>
        </p:nvSpPr>
        <p:spPr>
          <a:xfrm>
            <a:off x="501444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42" name="o60"/>
          <p:cNvSpPr/>
          <p:nvPr/>
        </p:nvSpPr>
        <p:spPr>
          <a:xfrm>
            <a:off x="5158440" y="1737360"/>
            <a:ext cx="1874160" cy="2605680"/>
          </a:xfrm>
          <a:prstGeom prst="roundRect">
            <a:avLst>
              <a:gd name="adj" fmla="val 682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sp>
        <p:nvSpPr>
          <p:cNvPr id="443" name="o61"/>
          <p:cNvSpPr/>
          <p:nvPr/>
        </p:nvSpPr>
        <p:spPr>
          <a:xfrm>
            <a:off x="5227200" y="1806120"/>
            <a:ext cx="1737000" cy="2468520"/>
          </a:xfrm>
          <a:prstGeom prst="roundRect">
            <a:avLst>
              <a:gd name="adj" fmla="val 3421"/>
            </a:avLst>
          </a:prstGeom>
          <a:noFill/>
          <a:ln w="12700">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pic>
        <p:nvPicPr>
          <p:cNvPr id="444" name="o62" descr="03"/>
          <p:cNvPicPr/>
          <p:nvPr/>
        </p:nvPicPr>
        <p:blipFill>
          <a:blip r:embed="rId9"/>
          <a:stretch/>
        </p:blipFill>
        <p:spPr>
          <a:xfrm>
            <a:off x="5359680" y="1938600"/>
            <a:ext cx="255600" cy="127800"/>
          </a:xfrm>
          <a:prstGeom prst="rect">
            <a:avLst/>
          </a:prstGeom>
          <a:ln w="0">
            <a:noFill/>
          </a:ln>
        </p:spPr>
      </p:pic>
      <p:pic>
        <p:nvPicPr>
          <p:cNvPr id="445" name="o63" descr="Données propres"/>
          <p:cNvPicPr/>
          <p:nvPr/>
        </p:nvPicPr>
        <p:blipFill>
          <a:blip r:embed="rId10"/>
          <a:stretch/>
        </p:blipFill>
        <p:spPr>
          <a:xfrm>
            <a:off x="5766840" y="2240280"/>
            <a:ext cx="658080" cy="658080"/>
          </a:xfrm>
          <a:prstGeom prst="rect">
            <a:avLst/>
          </a:prstGeom>
          <a:ln w="0">
            <a:noFill/>
          </a:ln>
        </p:spPr>
      </p:pic>
      <p:sp>
        <p:nvSpPr>
          <p:cNvPr id="446" name="o64"/>
          <p:cNvSpPr/>
          <p:nvPr/>
        </p:nvSpPr>
        <p:spPr>
          <a:xfrm>
            <a:off x="5249880" y="3063240"/>
            <a:ext cx="169128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pc="-1" strike="noStrike">
                <a:solidFill>
                  <a:srgbClr val="ffffff"/>
                </a:solidFill>
                <a:latin typeface="Arial"/>
                <a:ea typeface="Arial"/>
              </a:rPr>
              <a:t>Données propres</a:t>
            </a:r>
            <a:endParaRPr b="0" lang="en-US" sz="1600" spc="-1" strike="noStrike">
              <a:solidFill>
                <a:srgbClr val="ffffff"/>
              </a:solidFill>
              <a:latin typeface="Arial"/>
            </a:endParaRPr>
          </a:p>
        </p:txBody>
      </p:sp>
      <p:sp>
        <p:nvSpPr>
          <p:cNvPr id="447" name="o65"/>
          <p:cNvSpPr/>
          <p:nvPr/>
        </p:nvSpPr>
        <p:spPr>
          <a:xfrm>
            <a:off x="5204160" y="3474720"/>
            <a:ext cx="1782720" cy="273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100" spc="-1" strike="noStrike">
                <a:solidFill>
                  <a:srgbClr val="00ffff"/>
                </a:solidFill>
                <a:latin typeface="Courier New"/>
                <a:ea typeface="Courier New"/>
              </a:rPr>
              <a:t>vgsales_clean.csv</a:t>
            </a:r>
            <a:endParaRPr b="0" lang="en-US" sz="1100" spc="-1" strike="noStrike">
              <a:solidFill>
                <a:srgbClr val="ffffff"/>
              </a:solidFill>
              <a:latin typeface="Arial"/>
            </a:endParaRPr>
          </a:p>
        </p:txBody>
      </p:sp>
      <p:sp>
        <p:nvSpPr>
          <p:cNvPr id="448" name="o66"/>
          <p:cNvSpPr/>
          <p:nvPr/>
        </p:nvSpPr>
        <p:spPr>
          <a:xfrm>
            <a:off x="5249880" y="3767400"/>
            <a:ext cx="169128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16 326 jeux</a:t>
            </a:r>
            <a:endParaRPr b="0" lang="en-US" sz="1300" spc="-1" strike="noStrike">
              <a:solidFill>
                <a:srgbClr val="ffffff"/>
              </a:solidFill>
              <a:latin typeface="Arial"/>
            </a:endParaRPr>
          </a:p>
        </p:txBody>
      </p:sp>
      <p:sp>
        <p:nvSpPr>
          <p:cNvPr id="449" name="o67"/>
          <p:cNvSpPr/>
          <p:nvPr/>
        </p:nvSpPr>
        <p:spPr>
          <a:xfrm>
            <a:off x="710424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50" name="o68"/>
          <p:cNvSpPr/>
          <p:nvPr/>
        </p:nvSpPr>
        <p:spPr>
          <a:xfrm>
            <a:off x="721188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51" name="o69"/>
          <p:cNvSpPr/>
          <p:nvPr/>
        </p:nvSpPr>
        <p:spPr>
          <a:xfrm>
            <a:off x="731952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52" name="o70"/>
          <p:cNvSpPr/>
          <p:nvPr/>
        </p:nvSpPr>
        <p:spPr>
          <a:xfrm>
            <a:off x="7463520" y="1737360"/>
            <a:ext cx="1874160" cy="2605680"/>
          </a:xfrm>
          <a:prstGeom prst="roundRect">
            <a:avLst>
              <a:gd name="adj" fmla="val 682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sp>
        <p:nvSpPr>
          <p:cNvPr id="453" name="o71"/>
          <p:cNvSpPr/>
          <p:nvPr/>
        </p:nvSpPr>
        <p:spPr>
          <a:xfrm>
            <a:off x="7532280" y="1806120"/>
            <a:ext cx="1737000" cy="2468520"/>
          </a:xfrm>
          <a:prstGeom prst="roundRect">
            <a:avLst>
              <a:gd name="adj" fmla="val 3421"/>
            </a:avLst>
          </a:prstGeom>
          <a:noFill/>
          <a:ln w="12700">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pic>
        <p:nvPicPr>
          <p:cNvPr id="454" name="o72" descr="04"/>
          <p:cNvPicPr/>
          <p:nvPr/>
        </p:nvPicPr>
        <p:blipFill>
          <a:blip r:embed="rId11"/>
          <a:stretch/>
        </p:blipFill>
        <p:spPr>
          <a:xfrm>
            <a:off x="7664760" y="1938600"/>
            <a:ext cx="255600" cy="127800"/>
          </a:xfrm>
          <a:prstGeom prst="rect">
            <a:avLst/>
          </a:prstGeom>
          <a:ln w="0">
            <a:noFill/>
          </a:ln>
        </p:spPr>
      </p:pic>
      <p:pic>
        <p:nvPicPr>
          <p:cNvPr id="455" name="o73" descr="Indicateurs"/>
          <p:cNvPicPr/>
          <p:nvPr/>
        </p:nvPicPr>
        <p:blipFill>
          <a:blip r:embed="rId12"/>
          <a:stretch/>
        </p:blipFill>
        <p:spPr>
          <a:xfrm>
            <a:off x="8071560" y="2240280"/>
            <a:ext cx="658080" cy="658080"/>
          </a:xfrm>
          <a:prstGeom prst="rect">
            <a:avLst/>
          </a:prstGeom>
          <a:ln w="0">
            <a:noFill/>
          </a:ln>
        </p:spPr>
      </p:pic>
      <p:sp>
        <p:nvSpPr>
          <p:cNvPr id="456" name="o74"/>
          <p:cNvSpPr/>
          <p:nvPr/>
        </p:nvSpPr>
        <p:spPr>
          <a:xfrm>
            <a:off x="7554960" y="3063240"/>
            <a:ext cx="169128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pc="-1" strike="noStrike">
                <a:solidFill>
                  <a:srgbClr val="ffffff"/>
                </a:solidFill>
                <a:latin typeface="Arial"/>
                <a:ea typeface="Arial"/>
              </a:rPr>
              <a:t>Indicateurs</a:t>
            </a:r>
            <a:endParaRPr b="0" lang="en-US" sz="1600" spc="-1" strike="noStrike">
              <a:solidFill>
                <a:srgbClr val="ffffff"/>
              </a:solidFill>
              <a:latin typeface="Arial"/>
            </a:endParaRPr>
          </a:p>
        </p:txBody>
      </p:sp>
      <p:sp>
        <p:nvSpPr>
          <p:cNvPr id="457" name="o75"/>
          <p:cNvSpPr/>
          <p:nvPr/>
        </p:nvSpPr>
        <p:spPr>
          <a:xfrm>
            <a:off x="7509240" y="3474720"/>
            <a:ext cx="1782720" cy="273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100" spc="-1" strike="noStrike">
                <a:solidFill>
                  <a:srgbClr val="ffb852"/>
                </a:solidFill>
                <a:latin typeface="Courier New"/>
                <a:ea typeface="Courier New"/>
              </a:rPr>
              <a:t>indicators.py</a:t>
            </a:r>
            <a:endParaRPr b="0" lang="en-US" sz="1100" spc="-1" strike="noStrike">
              <a:solidFill>
                <a:srgbClr val="ffffff"/>
              </a:solidFill>
              <a:latin typeface="Arial"/>
            </a:endParaRPr>
          </a:p>
        </p:txBody>
      </p:sp>
      <p:sp>
        <p:nvSpPr>
          <p:cNvPr id="458" name="o76"/>
          <p:cNvSpPr/>
          <p:nvPr/>
        </p:nvSpPr>
        <p:spPr>
          <a:xfrm>
            <a:off x="7554960" y="3767400"/>
            <a:ext cx="169128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MPI · divergence</a:t>
            </a:r>
            <a:endParaRPr b="0" lang="en-US" sz="1300" spc="-1" strike="noStrike">
              <a:solidFill>
                <a:srgbClr val="ffffff"/>
              </a:solidFill>
              <a:latin typeface="Arial"/>
            </a:endParaRPr>
          </a:p>
        </p:txBody>
      </p:sp>
      <p:sp>
        <p:nvSpPr>
          <p:cNvPr id="459" name="o77"/>
          <p:cNvSpPr/>
          <p:nvPr/>
        </p:nvSpPr>
        <p:spPr>
          <a:xfrm>
            <a:off x="940896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60" name="o78"/>
          <p:cNvSpPr/>
          <p:nvPr/>
        </p:nvSpPr>
        <p:spPr>
          <a:xfrm>
            <a:off x="951660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61" name="o79"/>
          <p:cNvSpPr/>
          <p:nvPr/>
        </p:nvSpPr>
        <p:spPr>
          <a:xfrm>
            <a:off x="9624240" y="3003840"/>
            <a:ext cx="72720" cy="72720"/>
          </a:xfrm>
          <a:prstGeom prst="rect">
            <a:avLst/>
          </a:prstGeom>
          <a:solidFill>
            <a:srgbClr val="ffb8ae"/>
          </a:solidFill>
          <a:ln w="0">
            <a:noFill/>
          </a:ln>
        </p:spPr>
        <p:style>
          <a:lnRef idx="0"/>
          <a:fillRef idx="0"/>
          <a:effectRef idx="0"/>
          <a:fontRef idx="minor"/>
        </p:style>
        <p:txBody>
          <a:bodyPr lIns="90000" rIns="90000" tIns="28080" bIns="28080" anchor="t">
            <a:noAutofit/>
          </a:bodyPr>
          <a:p>
            <a:pPr defTabSz="914400">
              <a:lnSpc>
                <a:spcPct val="100000"/>
              </a:lnSpc>
            </a:pPr>
            <a:endParaRPr b="0" lang="en-US" sz="1800" spc="-1" strike="noStrike">
              <a:solidFill>
                <a:schemeClr val="dk1"/>
              </a:solidFill>
              <a:latin typeface="Arial"/>
            </a:endParaRPr>
          </a:p>
        </p:txBody>
      </p:sp>
      <p:sp>
        <p:nvSpPr>
          <p:cNvPr id="462" name="o80"/>
          <p:cNvSpPr/>
          <p:nvPr/>
        </p:nvSpPr>
        <p:spPr>
          <a:xfrm>
            <a:off x="9768600" y="1737360"/>
            <a:ext cx="1874160" cy="2605680"/>
          </a:xfrm>
          <a:prstGeom prst="roundRect">
            <a:avLst>
              <a:gd name="adj" fmla="val 682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sp>
        <p:nvSpPr>
          <p:cNvPr id="463" name="o81"/>
          <p:cNvSpPr/>
          <p:nvPr/>
        </p:nvSpPr>
        <p:spPr>
          <a:xfrm>
            <a:off x="9837000" y="1806120"/>
            <a:ext cx="1737000" cy="2468520"/>
          </a:xfrm>
          <a:prstGeom prst="roundRect">
            <a:avLst>
              <a:gd name="adj" fmla="val 3421"/>
            </a:avLst>
          </a:prstGeom>
          <a:noFill/>
          <a:ln w="12700">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pic>
        <p:nvPicPr>
          <p:cNvPr id="464" name="o82" descr="05"/>
          <p:cNvPicPr/>
          <p:nvPr/>
        </p:nvPicPr>
        <p:blipFill>
          <a:blip r:embed="rId13"/>
          <a:stretch/>
        </p:blipFill>
        <p:spPr>
          <a:xfrm>
            <a:off x="9969840" y="1938600"/>
            <a:ext cx="255600" cy="127800"/>
          </a:xfrm>
          <a:prstGeom prst="rect">
            <a:avLst/>
          </a:prstGeom>
          <a:ln w="0">
            <a:noFill/>
          </a:ln>
        </p:spPr>
      </p:pic>
      <p:pic>
        <p:nvPicPr>
          <p:cNvPr id="465" name="o83" descr="Restitution"/>
          <p:cNvPicPr/>
          <p:nvPr/>
        </p:nvPicPr>
        <p:blipFill>
          <a:blip r:embed="rId14"/>
          <a:stretch/>
        </p:blipFill>
        <p:spPr>
          <a:xfrm>
            <a:off x="10376640" y="2240280"/>
            <a:ext cx="658080" cy="658080"/>
          </a:xfrm>
          <a:prstGeom prst="rect">
            <a:avLst/>
          </a:prstGeom>
          <a:ln w="0">
            <a:noFill/>
          </a:ln>
        </p:spPr>
      </p:pic>
      <p:sp>
        <p:nvSpPr>
          <p:cNvPr id="466" name="o84"/>
          <p:cNvSpPr/>
          <p:nvPr/>
        </p:nvSpPr>
        <p:spPr>
          <a:xfrm>
            <a:off x="9860040" y="3063240"/>
            <a:ext cx="169128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pc="-1" strike="noStrike">
                <a:solidFill>
                  <a:srgbClr val="ffffff"/>
                </a:solidFill>
                <a:latin typeface="Arial"/>
                <a:ea typeface="Arial"/>
              </a:rPr>
              <a:t>Restitution</a:t>
            </a:r>
            <a:endParaRPr b="0" lang="en-US" sz="1600" spc="-1" strike="noStrike">
              <a:solidFill>
                <a:srgbClr val="ffffff"/>
              </a:solidFill>
              <a:latin typeface="Arial"/>
            </a:endParaRPr>
          </a:p>
        </p:txBody>
      </p:sp>
      <p:sp>
        <p:nvSpPr>
          <p:cNvPr id="467" name="o85"/>
          <p:cNvSpPr/>
          <p:nvPr/>
        </p:nvSpPr>
        <p:spPr>
          <a:xfrm>
            <a:off x="9814320" y="3474720"/>
            <a:ext cx="1782720" cy="273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100" spc="-1" strike="noStrike">
                <a:solidFill>
                  <a:srgbClr val="ffe600"/>
                </a:solidFill>
                <a:latin typeface="Courier New"/>
                <a:ea typeface="Courier New"/>
              </a:rPr>
              <a:t>notebook + appli</a:t>
            </a:r>
            <a:endParaRPr b="0" lang="en-US" sz="1100" spc="-1" strike="noStrike">
              <a:solidFill>
                <a:srgbClr val="ffffff"/>
              </a:solidFill>
              <a:latin typeface="Arial"/>
            </a:endParaRPr>
          </a:p>
        </p:txBody>
      </p:sp>
      <p:sp>
        <p:nvSpPr>
          <p:cNvPr id="468" name="o86"/>
          <p:cNvSpPr/>
          <p:nvPr/>
        </p:nvSpPr>
        <p:spPr>
          <a:xfrm>
            <a:off x="9860040" y="3767400"/>
            <a:ext cx="169128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300" spc="-1" strike="noStrike">
                <a:solidFill>
                  <a:srgbClr val="c4c4e4"/>
                </a:solidFill>
                <a:latin typeface="Arial"/>
                <a:ea typeface="Arial"/>
              </a:rPr>
              <a:t>24 figures · 9 pages</a:t>
            </a:r>
            <a:endParaRPr b="0" lang="en-US" sz="1300" spc="-1" strike="noStrike">
              <a:solidFill>
                <a:srgbClr val="ffffff"/>
              </a:solidFill>
              <a:latin typeface="Arial"/>
            </a:endParaRPr>
          </a:p>
        </p:txBody>
      </p:sp>
      <p:sp>
        <p:nvSpPr>
          <p:cNvPr id="469" name="o87"/>
          <p:cNvSpPr/>
          <p:nvPr/>
        </p:nvSpPr>
        <p:spPr>
          <a:xfrm>
            <a:off x="548640" y="4709160"/>
            <a:ext cx="11094120" cy="959760"/>
          </a:xfrm>
          <a:prstGeom prst="roundRect">
            <a:avLst>
              <a:gd name="adj" fmla="val 9524"/>
            </a:avLst>
          </a:prstGeom>
          <a:solidFill>
            <a:srgbClr val="000000"/>
          </a:solidFill>
          <a:ln w="28575">
            <a:solidFill>
              <a:srgbClr val="00de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0" name="o88"/>
          <p:cNvSpPr/>
          <p:nvPr/>
        </p:nvSpPr>
        <p:spPr>
          <a:xfrm>
            <a:off x="617400" y="4777920"/>
            <a:ext cx="10956960" cy="822600"/>
          </a:xfrm>
          <a:prstGeom prst="roundRect">
            <a:avLst>
              <a:gd name="adj" fmla="val 2778"/>
            </a:avLst>
          </a:prstGeom>
          <a:noFill/>
          <a:ln w="12700">
            <a:solidFill>
              <a:srgbClr val="00de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471" name="o89" descr="validé"/>
          <p:cNvPicPr/>
          <p:nvPr/>
        </p:nvPicPr>
        <p:blipFill>
          <a:blip r:embed="rId15"/>
          <a:stretch/>
        </p:blipFill>
        <p:spPr>
          <a:xfrm>
            <a:off x="868680" y="4937760"/>
            <a:ext cx="502560" cy="502560"/>
          </a:xfrm>
          <a:prstGeom prst="rect">
            <a:avLst/>
          </a:prstGeom>
          <a:ln w="0">
            <a:noFill/>
          </a:ln>
        </p:spPr>
      </p:pic>
      <p:sp>
        <p:nvSpPr>
          <p:cNvPr id="472" name="o90"/>
          <p:cNvSpPr/>
          <p:nvPr/>
        </p:nvSpPr>
        <p:spPr>
          <a:xfrm>
            <a:off x="1600200" y="4709160"/>
            <a:ext cx="9783720" cy="959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Arial"/>
                <a:ea typeface="Arial"/>
              </a:rPr>
              <a:t>Un seul code de nettoyage pour le notebook ET l'appli. </a:t>
            </a:r>
            <a:r>
              <a:rPr b="0" lang="en-US" sz="1600" spc="-1" strike="noStrike">
                <a:solidFill>
                  <a:srgbClr val="c4c4e4"/>
                </a:solidFill>
                <a:latin typeface="Arial"/>
                <a:ea typeface="Arial"/>
              </a:rPr>
              <a:t>Un test (assert_frame_equal) garantit que les deux travaillent sur des données identiques.</a:t>
            </a:r>
            <a:endParaRPr b="0" lang="en-US" sz="1600" spc="-1" strike="noStrike">
              <a:solidFill>
                <a:srgbClr val="ffffff"/>
              </a:solidFill>
              <a:latin typeface="Arial"/>
            </a:endParaRPr>
          </a:p>
        </p:txBody>
      </p:sp>
      <p:pic>
        <p:nvPicPr>
          <p:cNvPr id="473" name="barre_fantome" descr="image.gif"/>
          <p:cNvPicPr/>
          <p:nvPr/>
        </p:nvPicPr>
        <p:blipFill>
          <a:blip r:embed="rId16"/>
          <a:stretch/>
        </p:blipFill>
        <p:spPr>
          <a:xfrm>
            <a:off x="1491480" y="6291000"/>
            <a:ext cx="310680" cy="310680"/>
          </a:xfrm>
          <a:prstGeom prst="rect">
            <a:avLst/>
          </a:prstGeom>
          <a:ln w="0">
            <a:noFill/>
          </a:ln>
        </p:spPr>
      </p:pic>
      <p:sp>
        <p:nvSpPr>
          <p:cNvPr id="475" name="barre_pastille"/>
          <p:cNvSpPr/>
          <p:nvPr/>
        </p:nvSpPr>
        <p:spPr>
          <a:xfrm>
            <a:off x="2514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75" name="barre_pastille"/>
          <p:cNvSpPr/>
          <p:nvPr/>
        </p:nvSpPr>
        <p:spPr>
          <a:xfrm>
            <a:off x="2743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76" name="barre_pastille"/>
          <p:cNvSpPr/>
          <p:nvPr/>
        </p:nvSpPr>
        <p:spPr>
          <a:xfrm>
            <a:off x="2971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77" name="barre_pastille"/>
          <p:cNvSpPr/>
          <p:nvPr/>
        </p:nvSpPr>
        <p:spPr>
          <a:xfrm>
            <a:off x="3200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78" name="barre_pastille"/>
          <p:cNvSpPr/>
          <p:nvPr/>
        </p:nvSpPr>
        <p:spPr>
          <a:xfrm>
            <a:off x="3429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79"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0"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1"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2"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3"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4"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5"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6"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7"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8"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89"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0"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1"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2"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3"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4"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5"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6"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7"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8"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499"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0"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1"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2"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3"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4"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5"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6"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7"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8"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09"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10"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11"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12"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474" name="barre_pacman" descr="image.gif"/>
          <p:cNvPicPr/>
          <p:nvPr/>
        </p:nvPicPr>
        <p:blipFill>
          <a:blip r:embed="rId17"/>
          <a:stretch/>
        </p:blipFill>
        <p:spPr>
          <a:xfrm>
            <a:off x="2058480" y="6291000"/>
            <a:ext cx="310680" cy="310680"/>
          </a:xfrm>
          <a:prstGeom prst="rect">
            <a:avLst/>
          </a:prstGeom>
          <a:ln w="0">
            <a:noFill/>
          </a:ln>
        </p:spPr>
      </p:pic>
      <p:sp>
        <p:nvSpPr>
          <p:cNvPr id="513"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p:transition>
    <p:fade/>
  </p:transition>
  <p:timing>
    <p:tnLst>
      <p:par>
        <p:cTn id="370" dur="indefinite" restart="never" nodeType="tmRoot">
          <p:childTnLst>
            <p:seq>
              <p:cTn id="371" dur="indefinite" nodeType="mainSeq">
                <p:childTnLst>
                  <p:par>
                    <p:cTn id="372" fill="hold">
                      <p:stCondLst>
                        <p:cond delay="0"/>
                      </p:stCondLst>
                      <p:childTnLst>
                        <p:par>
                          <p:cTn id="373" fill="hold">
                            <p:stCondLst>
                              <p:cond delay="0"/>
                            </p:stCondLst>
                            <p:childTnLst>
                              <p:par>
                                <p:cTn id="374" nodeType="withEffect" fill="hold" presetClass="path">
                                  <p:stCondLst>
                                    <p:cond delay="0"/>
                                  </p:stCondLst>
                                  <p:childTnLst>
                                    <p:animMotion origin="layout" path="M 0 0 L 0.02252 0 E">
                                      <p:cBhvr>
                                        <p:cTn id="375" dur="900" fill="hold"/>
                                        <p:tgtEl>
                                          <p:spTgt spid="473"/>
                                        </p:tgtEl>
                                        <p:attrNameLst>
                                          <p:attrName>ppt_x</p:attrName>
                                          <p:attrName>ppt_y</p:attrName>
                                        </p:attrNameLst>
                                      </p:cBhvr>
                                    </p:animMotion>
                                  </p:childTnLst>
                                </p:cTn>
                              </p:par>
                              <p:par>
                                <p:cTn id="376" nodeType="withEffect" fill="hold" presetClass="path">
                                  <p:stCondLst>
                                    <p:cond delay="0"/>
                                  </p:stCondLst>
                                  <p:childTnLst>
                                    <p:animMotion origin="layout" path="M 0 0 L 0.02252 0 E">
                                      <p:cBhvr>
                                        <p:cTn id="377" dur="900" fill="hold"/>
                                        <p:tgtEl>
                                          <p:spTgt spid="474"/>
                                        </p:tgtEl>
                                        <p:attrNameLst>
                                          <p:attrName>ppt_x</p:attrName>
                                          <p:attrName>ppt_y</p:attrName>
                                        </p:attrNameLst>
                                      </p:cBhvr>
                                    </p:animMotion>
                                  </p:childTnLst>
                                </p:cTn>
                              </p:par>
                              <p:par>
                                <p:cTn id="378" nodeType="withEffect" fill="hold" presetClass="exit" presetID="1">
                                  <p:stCondLst>
                                    <p:cond delay="742"/>
                                  </p:stCondLst>
                                  <p:childTnLst>
                                    <p:set>
                                      <p:cBhvr>
                                        <p:cTn id="379" dur="1" fill="hold">
                                          <p:stCondLst>
                                            <p:cond delay="0"/>
                                          </p:stCondLst>
                                        </p:cTn>
                                        <p:tgtEl>
                                          <p:spTgt spid="475"/>
                                        </p:tgtEl>
                                        <p:attrNameLst>
                                          <p:attrName>style.visibility</p:attrName>
                                        </p:attrNameLst>
                                      </p:cBhvr>
                                      <p:to>
                                        <p:strVal val="hidden"/>
                                      </p:to>
                                    </p:set>
                                  </p:childTnLst>
                                </p:cTn>
                              </p:par>
                              <p:par>
                                <p:cTn id="380" nodeType="withEffect" fill="hold" presetClass="entr" presetID="10">
                                  <p:stCondLst>
                                    <p:cond delay="150"/>
                                  </p:stCondLst>
                                  <p:childTnLst>
                                    <p:set>
                                      <p:cBhvr>
                                        <p:cTn id="381" dur="1" fill="hold">
                                          <p:stCondLst>
                                            <p:cond delay="0"/>
                                          </p:stCondLst>
                                        </p:cTn>
                                        <p:tgtEl>
                                          <p:spTgt spid="422"/>
                                        </p:tgtEl>
                                        <p:attrNameLst>
                                          <p:attrName>style.visibility</p:attrName>
                                        </p:attrNameLst>
                                      </p:cBhvr>
                                      <p:to>
                                        <p:strVal val="visible"/>
                                      </p:to>
                                    </p:set>
                                    <p:animEffect filter="fade" transition="in">
                                      <p:cBhvr additive="repl">
                                        <p:cTn id="382" dur="400"/>
                                        <p:tgtEl>
                                          <p:spTgt spid="422"/>
                                        </p:tgtEl>
                                      </p:cBhvr>
                                    </p:animEffect>
                                  </p:childTnLst>
                                </p:cTn>
                              </p:par>
                              <p:par>
                                <p:cTn id="383" nodeType="withEffect" fill="hold" presetClass="entr" presetID="10">
                                  <p:stCondLst>
                                    <p:cond delay="150"/>
                                  </p:stCondLst>
                                  <p:childTnLst>
                                    <p:set>
                                      <p:cBhvr>
                                        <p:cTn id="384" dur="1" fill="hold">
                                          <p:stCondLst>
                                            <p:cond delay="0"/>
                                          </p:stCondLst>
                                        </p:cTn>
                                        <p:tgtEl>
                                          <p:spTgt spid="423"/>
                                        </p:tgtEl>
                                        <p:attrNameLst>
                                          <p:attrName>style.visibility</p:attrName>
                                        </p:attrNameLst>
                                      </p:cBhvr>
                                      <p:to>
                                        <p:strVal val="visible"/>
                                      </p:to>
                                    </p:set>
                                    <p:animEffect filter="fade" transition="in">
                                      <p:cBhvr additive="repl">
                                        <p:cTn id="385" dur="400"/>
                                        <p:tgtEl>
                                          <p:spTgt spid="423"/>
                                        </p:tgtEl>
                                      </p:cBhvr>
                                    </p:animEffect>
                                  </p:childTnLst>
                                </p:cTn>
                              </p:par>
                              <p:par>
                                <p:cTn id="386" nodeType="withEffect" fill="hold" presetClass="entr" presetID="10">
                                  <p:stCondLst>
                                    <p:cond delay="150"/>
                                  </p:stCondLst>
                                  <p:childTnLst>
                                    <p:set>
                                      <p:cBhvr>
                                        <p:cTn id="387" dur="1" fill="hold">
                                          <p:stCondLst>
                                            <p:cond delay="0"/>
                                          </p:stCondLst>
                                        </p:cTn>
                                        <p:tgtEl>
                                          <p:spTgt spid="424"/>
                                        </p:tgtEl>
                                        <p:attrNameLst>
                                          <p:attrName>style.visibility</p:attrName>
                                        </p:attrNameLst>
                                      </p:cBhvr>
                                      <p:to>
                                        <p:strVal val="visible"/>
                                      </p:to>
                                    </p:set>
                                    <p:animEffect filter="fade" transition="in">
                                      <p:cBhvr additive="repl">
                                        <p:cTn id="388" dur="400"/>
                                        <p:tgtEl>
                                          <p:spTgt spid="424"/>
                                        </p:tgtEl>
                                      </p:cBhvr>
                                    </p:animEffect>
                                  </p:childTnLst>
                                </p:cTn>
                              </p:par>
                              <p:par>
                                <p:cTn id="389" nodeType="withEffect" fill="hold" presetClass="entr" presetID="10">
                                  <p:stCondLst>
                                    <p:cond delay="150"/>
                                  </p:stCondLst>
                                  <p:childTnLst>
                                    <p:set>
                                      <p:cBhvr>
                                        <p:cTn id="390" dur="1" fill="hold">
                                          <p:stCondLst>
                                            <p:cond delay="0"/>
                                          </p:stCondLst>
                                        </p:cTn>
                                        <p:tgtEl>
                                          <p:spTgt spid="425"/>
                                        </p:tgtEl>
                                        <p:attrNameLst>
                                          <p:attrName>style.visibility</p:attrName>
                                        </p:attrNameLst>
                                      </p:cBhvr>
                                      <p:to>
                                        <p:strVal val="visible"/>
                                      </p:to>
                                    </p:set>
                                    <p:animEffect filter="fade" transition="in">
                                      <p:cBhvr additive="repl">
                                        <p:cTn id="391" dur="400"/>
                                        <p:tgtEl>
                                          <p:spTgt spid="425"/>
                                        </p:tgtEl>
                                      </p:cBhvr>
                                    </p:animEffect>
                                  </p:childTnLst>
                                </p:cTn>
                              </p:par>
                              <p:par>
                                <p:cTn id="392" nodeType="withEffect" fill="hold" presetClass="entr" presetID="10">
                                  <p:stCondLst>
                                    <p:cond delay="150"/>
                                  </p:stCondLst>
                                  <p:childTnLst>
                                    <p:set>
                                      <p:cBhvr>
                                        <p:cTn id="393" dur="1" fill="hold">
                                          <p:stCondLst>
                                            <p:cond delay="0"/>
                                          </p:stCondLst>
                                        </p:cTn>
                                        <p:tgtEl>
                                          <p:spTgt spid="426"/>
                                        </p:tgtEl>
                                        <p:attrNameLst>
                                          <p:attrName>style.visibility</p:attrName>
                                        </p:attrNameLst>
                                      </p:cBhvr>
                                      <p:to>
                                        <p:strVal val="visible"/>
                                      </p:to>
                                    </p:set>
                                    <p:animEffect filter="fade" transition="in">
                                      <p:cBhvr additive="repl">
                                        <p:cTn id="394" dur="400"/>
                                        <p:tgtEl>
                                          <p:spTgt spid="426"/>
                                        </p:tgtEl>
                                      </p:cBhvr>
                                    </p:animEffect>
                                  </p:childTnLst>
                                </p:cTn>
                              </p:par>
                              <p:par>
                                <p:cTn id="395" nodeType="withEffect" fill="hold" presetClass="entr" presetID="10">
                                  <p:stCondLst>
                                    <p:cond delay="150"/>
                                  </p:stCondLst>
                                  <p:childTnLst>
                                    <p:set>
                                      <p:cBhvr>
                                        <p:cTn id="396" dur="1" fill="hold">
                                          <p:stCondLst>
                                            <p:cond delay="0"/>
                                          </p:stCondLst>
                                        </p:cTn>
                                        <p:tgtEl>
                                          <p:spTgt spid="427"/>
                                        </p:tgtEl>
                                        <p:attrNameLst>
                                          <p:attrName>style.visibility</p:attrName>
                                        </p:attrNameLst>
                                      </p:cBhvr>
                                      <p:to>
                                        <p:strVal val="visible"/>
                                      </p:to>
                                    </p:set>
                                    <p:animEffect filter="fade" transition="in">
                                      <p:cBhvr additive="repl">
                                        <p:cTn id="397" dur="400"/>
                                        <p:tgtEl>
                                          <p:spTgt spid="427"/>
                                        </p:tgtEl>
                                      </p:cBhvr>
                                    </p:animEffect>
                                  </p:childTnLst>
                                </p:cTn>
                              </p:par>
                              <p:par>
                                <p:cTn id="398" nodeType="withEffect" fill="hold" presetClass="entr" presetID="10">
                                  <p:stCondLst>
                                    <p:cond delay="150"/>
                                  </p:stCondLst>
                                  <p:childTnLst>
                                    <p:set>
                                      <p:cBhvr>
                                        <p:cTn id="399" dur="1" fill="hold">
                                          <p:stCondLst>
                                            <p:cond delay="0"/>
                                          </p:stCondLst>
                                        </p:cTn>
                                        <p:tgtEl>
                                          <p:spTgt spid="428"/>
                                        </p:tgtEl>
                                        <p:attrNameLst>
                                          <p:attrName>style.visibility</p:attrName>
                                        </p:attrNameLst>
                                      </p:cBhvr>
                                      <p:to>
                                        <p:strVal val="visible"/>
                                      </p:to>
                                    </p:set>
                                    <p:animEffect filter="fade" transition="in">
                                      <p:cBhvr additive="repl">
                                        <p:cTn id="400" dur="400"/>
                                        <p:tgtEl>
                                          <p:spTgt spid="428"/>
                                        </p:tgtEl>
                                      </p:cBhvr>
                                    </p:animEffect>
                                  </p:childTnLst>
                                </p:cTn>
                              </p:par>
                              <p:par>
                                <p:cTn id="401" nodeType="withEffect" fill="hold" presetClass="entr" presetID="10">
                                  <p:stCondLst>
                                    <p:cond delay="370"/>
                                  </p:stCondLst>
                                  <p:childTnLst>
                                    <p:set>
                                      <p:cBhvr>
                                        <p:cTn id="402" dur="1" fill="hold">
                                          <p:stCondLst>
                                            <p:cond delay="0"/>
                                          </p:stCondLst>
                                        </p:cTn>
                                        <p:tgtEl>
                                          <p:spTgt spid="429"/>
                                        </p:tgtEl>
                                        <p:attrNameLst>
                                          <p:attrName>style.visibility</p:attrName>
                                        </p:attrNameLst>
                                      </p:cBhvr>
                                      <p:to>
                                        <p:strVal val="visible"/>
                                      </p:to>
                                    </p:set>
                                    <p:animEffect filter="fade" transition="in">
                                      <p:cBhvr additive="repl">
                                        <p:cTn id="403" dur="400"/>
                                        <p:tgtEl>
                                          <p:spTgt spid="429"/>
                                        </p:tgtEl>
                                      </p:cBhvr>
                                    </p:animEffect>
                                  </p:childTnLst>
                                </p:cTn>
                              </p:par>
                              <p:par>
                                <p:cTn id="404" nodeType="withEffect" fill="hold" presetClass="entr" presetID="10">
                                  <p:stCondLst>
                                    <p:cond delay="430"/>
                                  </p:stCondLst>
                                  <p:childTnLst>
                                    <p:set>
                                      <p:cBhvr>
                                        <p:cTn id="405" dur="1" fill="hold">
                                          <p:stCondLst>
                                            <p:cond delay="0"/>
                                          </p:stCondLst>
                                        </p:cTn>
                                        <p:tgtEl>
                                          <p:spTgt spid="430"/>
                                        </p:tgtEl>
                                        <p:attrNameLst>
                                          <p:attrName>style.visibility</p:attrName>
                                        </p:attrNameLst>
                                      </p:cBhvr>
                                      <p:to>
                                        <p:strVal val="visible"/>
                                      </p:to>
                                    </p:set>
                                    <p:animEffect filter="fade" transition="in">
                                      <p:cBhvr additive="repl">
                                        <p:cTn id="406" dur="400"/>
                                        <p:tgtEl>
                                          <p:spTgt spid="430"/>
                                        </p:tgtEl>
                                      </p:cBhvr>
                                    </p:animEffect>
                                  </p:childTnLst>
                                </p:cTn>
                              </p:par>
                              <p:par>
                                <p:cTn id="407" nodeType="withEffect" fill="hold" presetClass="entr" presetID="10">
                                  <p:stCondLst>
                                    <p:cond delay="490"/>
                                  </p:stCondLst>
                                  <p:childTnLst>
                                    <p:set>
                                      <p:cBhvr>
                                        <p:cTn id="408" dur="1" fill="hold">
                                          <p:stCondLst>
                                            <p:cond delay="0"/>
                                          </p:stCondLst>
                                        </p:cTn>
                                        <p:tgtEl>
                                          <p:spTgt spid="431"/>
                                        </p:tgtEl>
                                        <p:attrNameLst>
                                          <p:attrName>style.visibility</p:attrName>
                                        </p:attrNameLst>
                                      </p:cBhvr>
                                      <p:to>
                                        <p:strVal val="visible"/>
                                      </p:to>
                                    </p:set>
                                    <p:animEffect filter="fade" transition="in">
                                      <p:cBhvr additive="repl">
                                        <p:cTn id="409" dur="400"/>
                                        <p:tgtEl>
                                          <p:spTgt spid="431"/>
                                        </p:tgtEl>
                                      </p:cBhvr>
                                    </p:animEffect>
                                  </p:childTnLst>
                                </p:cTn>
                              </p:par>
                              <p:par>
                                <p:cTn id="410" nodeType="withEffect" fill="hold" presetClass="entr" presetID="10">
                                  <p:stCondLst>
                                    <p:cond delay="570"/>
                                  </p:stCondLst>
                                  <p:childTnLst>
                                    <p:set>
                                      <p:cBhvr>
                                        <p:cTn id="411" dur="1" fill="hold">
                                          <p:stCondLst>
                                            <p:cond delay="0"/>
                                          </p:stCondLst>
                                        </p:cTn>
                                        <p:tgtEl>
                                          <p:spTgt spid="432"/>
                                        </p:tgtEl>
                                        <p:attrNameLst>
                                          <p:attrName>style.visibility</p:attrName>
                                        </p:attrNameLst>
                                      </p:cBhvr>
                                      <p:to>
                                        <p:strVal val="visible"/>
                                      </p:to>
                                    </p:set>
                                    <p:animEffect filter="fade" transition="in">
                                      <p:cBhvr additive="repl">
                                        <p:cTn id="412" dur="400"/>
                                        <p:tgtEl>
                                          <p:spTgt spid="432"/>
                                        </p:tgtEl>
                                      </p:cBhvr>
                                    </p:animEffect>
                                  </p:childTnLst>
                                </p:cTn>
                              </p:par>
                              <p:par>
                                <p:cTn id="413" nodeType="withEffect" fill="hold" presetClass="entr" presetID="10">
                                  <p:stCondLst>
                                    <p:cond delay="570"/>
                                  </p:stCondLst>
                                  <p:childTnLst>
                                    <p:set>
                                      <p:cBhvr>
                                        <p:cTn id="414" dur="1" fill="hold">
                                          <p:stCondLst>
                                            <p:cond delay="0"/>
                                          </p:stCondLst>
                                        </p:cTn>
                                        <p:tgtEl>
                                          <p:spTgt spid="433"/>
                                        </p:tgtEl>
                                        <p:attrNameLst>
                                          <p:attrName>style.visibility</p:attrName>
                                        </p:attrNameLst>
                                      </p:cBhvr>
                                      <p:to>
                                        <p:strVal val="visible"/>
                                      </p:to>
                                    </p:set>
                                    <p:animEffect filter="fade" transition="in">
                                      <p:cBhvr additive="repl">
                                        <p:cTn id="415" dur="400"/>
                                        <p:tgtEl>
                                          <p:spTgt spid="433"/>
                                        </p:tgtEl>
                                      </p:cBhvr>
                                    </p:animEffect>
                                  </p:childTnLst>
                                </p:cTn>
                              </p:par>
                              <p:par>
                                <p:cTn id="416" nodeType="withEffect" fill="hold" presetClass="entr" presetID="10">
                                  <p:stCondLst>
                                    <p:cond delay="570"/>
                                  </p:stCondLst>
                                  <p:childTnLst>
                                    <p:set>
                                      <p:cBhvr>
                                        <p:cTn id="417" dur="1" fill="hold">
                                          <p:stCondLst>
                                            <p:cond delay="0"/>
                                          </p:stCondLst>
                                        </p:cTn>
                                        <p:tgtEl>
                                          <p:spTgt spid="434"/>
                                        </p:tgtEl>
                                        <p:attrNameLst>
                                          <p:attrName>style.visibility</p:attrName>
                                        </p:attrNameLst>
                                      </p:cBhvr>
                                      <p:to>
                                        <p:strVal val="visible"/>
                                      </p:to>
                                    </p:set>
                                    <p:animEffect filter="fade" transition="in">
                                      <p:cBhvr additive="repl">
                                        <p:cTn id="418" dur="400"/>
                                        <p:tgtEl>
                                          <p:spTgt spid="434"/>
                                        </p:tgtEl>
                                      </p:cBhvr>
                                    </p:animEffect>
                                  </p:childTnLst>
                                </p:cTn>
                              </p:par>
                              <p:par>
                                <p:cTn id="419" nodeType="withEffect" fill="hold" presetClass="entr" presetID="10">
                                  <p:stCondLst>
                                    <p:cond delay="570"/>
                                  </p:stCondLst>
                                  <p:childTnLst>
                                    <p:set>
                                      <p:cBhvr>
                                        <p:cTn id="420" dur="1" fill="hold">
                                          <p:stCondLst>
                                            <p:cond delay="0"/>
                                          </p:stCondLst>
                                        </p:cTn>
                                        <p:tgtEl>
                                          <p:spTgt spid="435"/>
                                        </p:tgtEl>
                                        <p:attrNameLst>
                                          <p:attrName>style.visibility</p:attrName>
                                        </p:attrNameLst>
                                      </p:cBhvr>
                                      <p:to>
                                        <p:strVal val="visible"/>
                                      </p:to>
                                    </p:set>
                                    <p:animEffect filter="fade" transition="in">
                                      <p:cBhvr additive="repl">
                                        <p:cTn id="421" dur="400"/>
                                        <p:tgtEl>
                                          <p:spTgt spid="435"/>
                                        </p:tgtEl>
                                      </p:cBhvr>
                                    </p:animEffect>
                                  </p:childTnLst>
                                </p:cTn>
                              </p:par>
                              <p:par>
                                <p:cTn id="422" nodeType="withEffect" fill="hold" presetClass="entr" presetID="10">
                                  <p:stCondLst>
                                    <p:cond delay="570"/>
                                  </p:stCondLst>
                                  <p:childTnLst>
                                    <p:set>
                                      <p:cBhvr>
                                        <p:cTn id="423" dur="1" fill="hold">
                                          <p:stCondLst>
                                            <p:cond delay="0"/>
                                          </p:stCondLst>
                                        </p:cTn>
                                        <p:tgtEl>
                                          <p:spTgt spid="436"/>
                                        </p:tgtEl>
                                        <p:attrNameLst>
                                          <p:attrName>style.visibility</p:attrName>
                                        </p:attrNameLst>
                                      </p:cBhvr>
                                      <p:to>
                                        <p:strVal val="visible"/>
                                      </p:to>
                                    </p:set>
                                    <p:animEffect filter="fade" transition="in">
                                      <p:cBhvr additive="repl">
                                        <p:cTn id="424" dur="400"/>
                                        <p:tgtEl>
                                          <p:spTgt spid="436"/>
                                        </p:tgtEl>
                                      </p:cBhvr>
                                    </p:animEffect>
                                  </p:childTnLst>
                                </p:cTn>
                              </p:par>
                              <p:par>
                                <p:cTn id="425" nodeType="withEffect" fill="hold" presetClass="entr" presetID="10">
                                  <p:stCondLst>
                                    <p:cond delay="570"/>
                                  </p:stCondLst>
                                  <p:childTnLst>
                                    <p:set>
                                      <p:cBhvr>
                                        <p:cTn id="426" dur="1" fill="hold">
                                          <p:stCondLst>
                                            <p:cond delay="0"/>
                                          </p:stCondLst>
                                        </p:cTn>
                                        <p:tgtEl>
                                          <p:spTgt spid="437"/>
                                        </p:tgtEl>
                                        <p:attrNameLst>
                                          <p:attrName>style.visibility</p:attrName>
                                        </p:attrNameLst>
                                      </p:cBhvr>
                                      <p:to>
                                        <p:strVal val="visible"/>
                                      </p:to>
                                    </p:set>
                                    <p:animEffect filter="fade" transition="in">
                                      <p:cBhvr additive="repl">
                                        <p:cTn id="427" dur="400"/>
                                        <p:tgtEl>
                                          <p:spTgt spid="437"/>
                                        </p:tgtEl>
                                      </p:cBhvr>
                                    </p:animEffect>
                                  </p:childTnLst>
                                </p:cTn>
                              </p:par>
                              <p:par>
                                <p:cTn id="428" nodeType="withEffect" fill="hold" presetClass="entr" presetID="10">
                                  <p:stCondLst>
                                    <p:cond delay="570"/>
                                  </p:stCondLst>
                                  <p:childTnLst>
                                    <p:set>
                                      <p:cBhvr>
                                        <p:cTn id="429" dur="1" fill="hold">
                                          <p:stCondLst>
                                            <p:cond delay="0"/>
                                          </p:stCondLst>
                                        </p:cTn>
                                        <p:tgtEl>
                                          <p:spTgt spid="438"/>
                                        </p:tgtEl>
                                        <p:attrNameLst>
                                          <p:attrName>style.visibility</p:attrName>
                                        </p:attrNameLst>
                                      </p:cBhvr>
                                      <p:to>
                                        <p:strVal val="visible"/>
                                      </p:to>
                                    </p:set>
                                    <p:animEffect filter="fade" transition="in">
                                      <p:cBhvr additive="repl">
                                        <p:cTn id="430" dur="400"/>
                                        <p:tgtEl>
                                          <p:spTgt spid="438"/>
                                        </p:tgtEl>
                                      </p:cBhvr>
                                    </p:animEffect>
                                  </p:childTnLst>
                                </p:cTn>
                              </p:par>
                              <p:par>
                                <p:cTn id="431" nodeType="withEffect" fill="hold" presetClass="entr" presetID="10">
                                  <p:stCondLst>
                                    <p:cond delay="790"/>
                                  </p:stCondLst>
                                  <p:childTnLst>
                                    <p:set>
                                      <p:cBhvr>
                                        <p:cTn id="432" dur="1" fill="hold">
                                          <p:stCondLst>
                                            <p:cond delay="0"/>
                                          </p:stCondLst>
                                        </p:cTn>
                                        <p:tgtEl>
                                          <p:spTgt spid="439"/>
                                        </p:tgtEl>
                                        <p:attrNameLst>
                                          <p:attrName>style.visibility</p:attrName>
                                        </p:attrNameLst>
                                      </p:cBhvr>
                                      <p:to>
                                        <p:strVal val="visible"/>
                                      </p:to>
                                    </p:set>
                                    <p:animEffect filter="fade" transition="in">
                                      <p:cBhvr additive="repl">
                                        <p:cTn id="433" dur="400"/>
                                        <p:tgtEl>
                                          <p:spTgt spid="439"/>
                                        </p:tgtEl>
                                      </p:cBhvr>
                                    </p:animEffect>
                                  </p:childTnLst>
                                </p:cTn>
                              </p:par>
                              <p:par>
                                <p:cTn id="434" nodeType="withEffect" fill="hold" presetClass="entr" presetID="10">
                                  <p:stCondLst>
                                    <p:cond delay="850"/>
                                  </p:stCondLst>
                                  <p:childTnLst>
                                    <p:set>
                                      <p:cBhvr>
                                        <p:cTn id="435" dur="1" fill="hold">
                                          <p:stCondLst>
                                            <p:cond delay="0"/>
                                          </p:stCondLst>
                                        </p:cTn>
                                        <p:tgtEl>
                                          <p:spTgt spid="440"/>
                                        </p:tgtEl>
                                        <p:attrNameLst>
                                          <p:attrName>style.visibility</p:attrName>
                                        </p:attrNameLst>
                                      </p:cBhvr>
                                      <p:to>
                                        <p:strVal val="visible"/>
                                      </p:to>
                                    </p:set>
                                    <p:animEffect filter="fade" transition="in">
                                      <p:cBhvr additive="repl">
                                        <p:cTn id="436" dur="400"/>
                                        <p:tgtEl>
                                          <p:spTgt spid="440"/>
                                        </p:tgtEl>
                                      </p:cBhvr>
                                    </p:animEffect>
                                  </p:childTnLst>
                                </p:cTn>
                              </p:par>
                              <p:par>
                                <p:cTn id="437" nodeType="withEffect" fill="hold" presetClass="entr" presetID="10">
                                  <p:stCondLst>
                                    <p:cond delay="910"/>
                                  </p:stCondLst>
                                  <p:childTnLst>
                                    <p:set>
                                      <p:cBhvr>
                                        <p:cTn id="438" dur="1" fill="hold">
                                          <p:stCondLst>
                                            <p:cond delay="0"/>
                                          </p:stCondLst>
                                        </p:cTn>
                                        <p:tgtEl>
                                          <p:spTgt spid="441"/>
                                        </p:tgtEl>
                                        <p:attrNameLst>
                                          <p:attrName>style.visibility</p:attrName>
                                        </p:attrNameLst>
                                      </p:cBhvr>
                                      <p:to>
                                        <p:strVal val="visible"/>
                                      </p:to>
                                    </p:set>
                                    <p:animEffect filter="fade" transition="in">
                                      <p:cBhvr additive="repl">
                                        <p:cTn id="439" dur="400"/>
                                        <p:tgtEl>
                                          <p:spTgt spid="441"/>
                                        </p:tgtEl>
                                      </p:cBhvr>
                                    </p:animEffect>
                                  </p:childTnLst>
                                </p:cTn>
                              </p:par>
                              <p:par>
                                <p:cTn id="440" nodeType="withEffect" fill="hold" presetClass="entr" presetID="10">
                                  <p:stCondLst>
                                    <p:cond delay="990"/>
                                  </p:stCondLst>
                                  <p:childTnLst>
                                    <p:set>
                                      <p:cBhvr>
                                        <p:cTn id="441" dur="1" fill="hold">
                                          <p:stCondLst>
                                            <p:cond delay="0"/>
                                          </p:stCondLst>
                                        </p:cTn>
                                        <p:tgtEl>
                                          <p:spTgt spid="442"/>
                                        </p:tgtEl>
                                        <p:attrNameLst>
                                          <p:attrName>style.visibility</p:attrName>
                                        </p:attrNameLst>
                                      </p:cBhvr>
                                      <p:to>
                                        <p:strVal val="visible"/>
                                      </p:to>
                                    </p:set>
                                    <p:animEffect filter="fade" transition="in">
                                      <p:cBhvr additive="repl">
                                        <p:cTn id="442" dur="400"/>
                                        <p:tgtEl>
                                          <p:spTgt spid="442"/>
                                        </p:tgtEl>
                                      </p:cBhvr>
                                    </p:animEffect>
                                  </p:childTnLst>
                                </p:cTn>
                              </p:par>
                              <p:par>
                                <p:cTn id="443" nodeType="withEffect" fill="hold" presetClass="entr" presetID="10">
                                  <p:stCondLst>
                                    <p:cond delay="990"/>
                                  </p:stCondLst>
                                  <p:childTnLst>
                                    <p:set>
                                      <p:cBhvr>
                                        <p:cTn id="444" dur="1" fill="hold">
                                          <p:stCondLst>
                                            <p:cond delay="0"/>
                                          </p:stCondLst>
                                        </p:cTn>
                                        <p:tgtEl>
                                          <p:spTgt spid="443"/>
                                        </p:tgtEl>
                                        <p:attrNameLst>
                                          <p:attrName>style.visibility</p:attrName>
                                        </p:attrNameLst>
                                      </p:cBhvr>
                                      <p:to>
                                        <p:strVal val="visible"/>
                                      </p:to>
                                    </p:set>
                                    <p:animEffect filter="fade" transition="in">
                                      <p:cBhvr additive="repl">
                                        <p:cTn id="445" dur="400"/>
                                        <p:tgtEl>
                                          <p:spTgt spid="443"/>
                                        </p:tgtEl>
                                      </p:cBhvr>
                                    </p:animEffect>
                                  </p:childTnLst>
                                </p:cTn>
                              </p:par>
                              <p:par>
                                <p:cTn id="446" nodeType="withEffect" fill="hold" presetClass="entr" presetID="10">
                                  <p:stCondLst>
                                    <p:cond delay="990"/>
                                  </p:stCondLst>
                                  <p:childTnLst>
                                    <p:set>
                                      <p:cBhvr>
                                        <p:cTn id="447" dur="1" fill="hold">
                                          <p:stCondLst>
                                            <p:cond delay="0"/>
                                          </p:stCondLst>
                                        </p:cTn>
                                        <p:tgtEl>
                                          <p:spTgt spid="444"/>
                                        </p:tgtEl>
                                        <p:attrNameLst>
                                          <p:attrName>style.visibility</p:attrName>
                                        </p:attrNameLst>
                                      </p:cBhvr>
                                      <p:to>
                                        <p:strVal val="visible"/>
                                      </p:to>
                                    </p:set>
                                    <p:animEffect filter="fade" transition="in">
                                      <p:cBhvr additive="repl">
                                        <p:cTn id="448" dur="400"/>
                                        <p:tgtEl>
                                          <p:spTgt spid="444"/>
                                        </p:tgtEl>
                                      </p:cBhvr>
                                    </p:animEffect>
                                  </p:childTnLst>
                                </p:cTn>
                              </p:par>
                              <p:par>
                                <p:cTn id="449" nodeType="withEffect" fill="hold" presetClass="entr" presetID="10">
                                  <p:stCondLst>
                                    <p:cond delay="990"/>
                                  </p:stCondLst>
                                  <p:childTnLst>
                                    <p:set>
                                      <p:cBhvr>
                                        <p:cTn id="450" dur="1" fill="hold">
                                          <p:stCondLst>
                                            <p:cond delay="0"/>
                                          </p:stCondLst>
                                        </p:cTn>
                                        <p:tgtEl>
                                          <p:spTgt spid="445"/>
                                        </p:tgtEl>
                                        <p:attrNameLst>
                                          <p:attrName>style.visibility</p:attrName>
                                        </p:attrNameLst>
                                      </p:cBhvr>
                                      <p:to>
                                        <p:strVal val="visible"/>
                                      </p:to>
                                    </p:set>
                                    <p:animEffect filter="fade" transition="in">
                                      <p:cBhvr additive="repl">
                                        <p:cTn id="451" dur="400"/>
                                        <p:tgtEl>
                                          <p:spTgt spid="445"/>
                                        </p:tgtEl>
                                      </p:cBhvr>
                                    </p:animEffect>
                                  </p:childTnLst>
                                </p:cTn>
                              </p:par>
                              <p:par>
                                <p:cTn id="452" nodeType="withEffect" fill="hold" presetClass="entr" presetID="10">
                                  <p:stCondLst>
                                    <p:cond delay="990"/>
                                  </p:stCondLst>
                                  <p:childTnLst>
                                    <p:set>
                                      <p:cBhvr>
                                        <p:cTn id="453" dur="1" fill="hold">
                                          <p:stCondLst>
                                            <p:cond delay="0"/>
                                          </p:stCondLst>
                                        </p:cTn>
                                        <p:tgtEl>
                                          <p:spTgt spid="446"/>
                                        </p:tgtEl>
                                        <p:attrNameLst>
                                          <p:attrName>style.visibility</p:attrName>
                                        </p:attrNameLst>
                                      </p:cBhvr>
                                      <p:to>
                                        <p:strVal val="visible"/>
                                      </p:to>
                                    </p:set>
                                    <p:animEffect filter="fade" transition="in">
                                      <p:cBhvr additive="repl">
                                        <p:cTn id="454" dur="400"/>
                                        <p:tgtEl>
                                          <p:spTgt spid="446"/>
                                        </p:tgtEl>
                                      </p:cBhvr>
                                    </p:animEffect>
                                  </p:childTnLst>
                                </p:cTn>
                              </p:par>
                              <p:par>
                                <p:cTn id="455" nodeType="withEffect" fill="hold" presetClass="entr" presetID="10">
                                  <p:stCondLst>
                                    <p:cond delay="990"/>
                                  </p:stCondLst>
                                  <p:childTnLst>
                                    <p:set>
                                      <p:cBhvr>
                                        <p:cTn id="456" dur="1" fill="hold">
                                          <p:stCondLst>
                                            <p:cond delay="0"/>
                                          </p:stCondLst>
                                        </p:cTn>
                                        <p:tgtEl>
                                          <p:spTgt spid="447"/>
                                        </p:tgtEl>
                                        <p:attrNameLst>
                                          <p:attrName>style.visibility</p:attrName>
                                        </p:attrNameLst>
                                      </p:cBhvr>
                                      <p:to>
                                        <p:strVal val="visible"/>
                                      </p:to>
                                    </p:set>
                                    <p:animEffect filter="fade" transition="in">
                                      <p:cBhvr additive="repl">
                                        <p:cTn id="457" dur="400"/>
                                        <p:tgtEl>
                                          <p:spTgt spid="447"/>
                                        </p:tgtEl>
                                      </p:cBhvr>
                                    </p:animEffect>
                                  </p:childTnLst>
                                </p:cTn>
                              </p:par>
                              <p:par>
                                <p:cTn id="458" nodeType="withEffect" fill="hold" presetClass="entr" presetID="10">
                                  <p:stCondLst>
                                    <p:cond delay="990"/>
                                  </p:stCondLst>
                                  <p:childTnLst>
                                    <p:set>
                                      <p:cBhvr>
                                        <p:cTn id="459" dur="1" fill="hold">
                                          <p:stCondLst>
                                            <p:cond delay="0"/>
                                          </p:stCondLst>
                                        </p:cTn>
                                        <p:tgtEl>
                                          <p:spTgt spid="448"/>
                                        </p:tgtEl>
                                        <p:attrNameLst>
                                          <p:attrName>style.visibility</p:attrName>
                                        </p:attrNameLst>
                                      </p:cBhvr>
                                      <p:to>
                                        <p:strVal val="visible"/>
                                      </p:to>
                                    </p:set>
                                    <p:animEffect filter="fade" transition="in">
                                      <p:cBhvr additive="repl">
                                        <p:cTn id="460" dur="400"/>
                                        <p:tgtEl>
                                          <p:spTgt spid="448"/>
                                        </p:tgtEl>
                                      </p:cBhvr>
                                    </p:animEffect>
                                  </p:childTnLst>
                                </p:cTn>
                              </p:par>
                              <p:par>
                                <p:cTn id="461" nodeType="withEffect" fill="hold" presetClass="entr" presetID="10">
                                  <p:stCondLst>
                                    <p:cond delay="1210"/>
                                  </p:stCondLst>
                                  <p:childTnLst>
                                    <p:set>
                                      <p:cBhvr>
                                        <p:cTn id="462" dur="1" fill="hold">
                                          <p:stCondLst>
                                            <p:cond delay="0"/>
                                          </p:stCondLst>
                                        </p:cTn>
                                        <p:tgtEl>
                                          <p:spTgt spid="449"/>
                                        </p:tgtEl>
                                        <p:attrNameLst>
                                          <p:attrName>style.visibility</p:attrName>
                                        </p:attrNameLst>
                                      </p:cBhvr>
                                      <p:to>
                                        <p:strVal val="visible"/>
                                      </p:to>
                                    </p:set>
                                    <p:animEffect filter="fade" transition="in">
                                      <p:cBhvr additive="repl">
                                        <p:cTn id="463" dur="400"/>
                                        <p:tgtEl>
                                          <p:spTgt spid="449"/>
                                        </p:tgtEl>
                                      </p:cBhvr>
                                    </p:animEffect>
                                  </p:childTnLst>
                                </p:cTn>
                              </p:par>
                              <p:par>
                                <p:cTn id="464" nodeType="withEffect" fill="hold" presetClass="entr" presetID="10">
                                  <p:stCondLst>
                                    <p:cond delay="1270"/>
                                  </p:stCondLst>
                                  <p:childTnLst>
                                    <p:set>
                                      <p:cBhvr>
                                        <p:cTn id="465" dur="1" fill="hold">
                                          <p:stCondLst>
                                            <p:cond delay="0"/>
                                          </p:stCondLst>
                                        </p:cTn>
                                        <p:tgtEl>
                                          <p:spTgt spid="450"/>
                                        </p:tgtEl>
                                        <p:attrNameLst>
                                          <p:attrName>style.visibility</p:attrName>
                                        </p:attrNameLst>
                                      </p:cBhvr>
                                      <p:to>
                                        <p:strVal val="visible"/>
                                      </p:to>
                                    </p:set>
                                    <p:animEffect filter="fade" transition="in">
                                      <p:cBhvr additive="repl">
                                        <p:cTn id="466" dur="400"/>
                                        <p:tgtEl>
                                          <p:spTgt spid="450"/>
                                        </p:tgtEl>
                                      </p:cBhvr>
                                    </p:animEffect>
                                  </p:childTnLst>
                                </p:cTn>
                              </p:par>
                              <p:par>
                                <p:cTn id="467" nodeType="withEffect" fill="hold" presetClass="entr" presetID="10">
                                  <p:stCondLst>
                                    <p:cond delay="1330"/>
                                  </p:stCondLst>
                                  <p:childTnLst>
                                    <p:set>
                                      <p:cBhvr>
                                        <p:cTn id="468" dur="1" fill="hold">
                                          <p:stCondLst>
                                            <p:cond delay="0"/>
                                          </p:stCondLst>
                                        </p:cTn>
                                        <p:tgtEl>
                                          <p:spTgt spid="451"/>
                                        </p:tgtEl>
                                        <p:attrNameLst>
                                          <p:attrName>style.visibility</p:attrName>
                                        </p:attrNameLst>
                                      </p:cBhvr>
                                      <p:to>
                                        <p:strVal val="visible"/>
                                      </p:to>
                                    </p:set>
                                    <p:animEffect filter="fade" transition="in">
                                      <p:cBhvr additive="repl">
                                        <p:cTn id="469" dur="400"/>
                                        <p:tgtEl>
                                          <p:spTgt spid="451"/>
                                        </p:tgtEl>
                                      </p:cBhvr>
                                    </p:animEffect>
                                  </p:childTnLst>
                                </p:cTn>
                              </p:par>
                              <p:par>
                                <p:cTn id="470" nodeType="withEffect" fill="hold" presetClass="entr" presetID="10">
                                  <p:stCondLst>
                                    <p:cond delay="1410"/>
                                  </p:stCondLst>
                                  <p:childTnLst>
                                    <p:set>
                                      <p:cBhvr>
                                        <p:cTn id="471" dur="1" fill="hold">
                                          <p:stCondLst>
                                            <p:cond delay="0"/>
                                          </p:stCondLst>
                                        </p:cTn>
                                        <p:tgtEl>
                                          <p:spTgt spid="452"/>
                                        </p:tgtEl>
                                        <p:attrNameLst>
                                          <p:attrName>style.visibility</p:attrName>
                                        </p:attrNameLst>
                                      </p:cBhvr>
                                      <p:to>
                                        <p:strVal val="visible"/>
                                      </p:to>
                                    </p:set>
                                    <p:animEffect filter="fade" transition="in">
                                      <p:cBhvr additive="repl">
                                        <p:cTn id="472" dur="400"/>
                                        <p:tgtEl>
                                          <p:spTgt spid="452"/>
                                        </p:tgtEl>
                                      </p:cBhvr>
                                    </p:animEffect>
                                  </p:childTnLst>
                                </p:cTn>
                              </p:par>
                              <p:par>
                                <p:cTn id="473" nodeType="withEffect" fill="hold" presetClass="entr" presetID="10">
                                  <p:stCondLst>
                                    <p:cond delay="1410"/>
                                  </p:stCondLst>
                                  <p:childTnLst>
                                    <p:set>
                                      <p:cBhvr>
                                        <p:cTn id="474" dur="1" fill="hold">
                                          <p:stCondLst>
                                            <p:cond delay="0"/>
                                          </p:stCondLst>
                                        </p:cTn>
                                        <p:tgtEl>
                                          <p:spTgt spid="453"/>
                                        </p:tgtEl>
                                        <p:attrNameLst>
                                          <p:attrName>style.visibility</p:attrName>
                                        </p:attrNameLst>
                                      </p:cBhvr>
                                      <p:to>
                                        <p:strVal val="visible"/>
                                      </p:to>
                                    </p:set>
                                    <p:animEffect filter="fade" transition="in">
                                      <p:cBhvr additive="repl">
                                        <p:cTn id="475" dur="400"/>
                                        <p:tgtEl>
                                          <p:spTgt spid="453"/>
                                        </p:tgtEl>
                                      </p:cBhvr>
                                    </p:animEffect>
                                  </p:childTnLst>
                                </p:cTn>
                              </p:par>
                              <p:par>
                                <p:cTn id="476" nodeType="withEffect" fill="hold" presetClass="entr" presetID="10">
                                  <p:stCondLst>
                                    <p:cond delay="1410"/>
                                  </p:stCondLst>
                                  <p:childTnLst>
                                    <p:set>
                                      <p:cBhvr>
                                        <p:cTn id="477" dur="1" fill="hold">
                                          <p:stCondLst>
                                            <p:cond delay="0"/>
                                          </p:stCondLst>
                                        </p:cTn>
                                        <p:tgtEl>
                                          <p:spTgt spid="454"/>
                                        </p:tgtEl>
                                        <p:attrNameLst>
                                          <p:attrName>style.visibility</p:attrName>
                                        </p:attrNameLst>
                                      </p:cBhvr>
                                      <p:to>
                                        <p:strVal val="visible"/>
                                      </p:to>
                                    </p:set>
                                    <p:animEffect filter="fade" transition="in">
                                      <p:cBhvr additive="repl">
                                        <p:cTn id="478" dur="400"/>
                                        <p:tgtEl>
                                          <p:spTgt spid="454"/>
                                        </p:tgtEl>
                                      </p:cBhvr>
                                    </p:animEffect>
                                  </p:childTnLst>
                                </p:cTn>
                              </p:par>
                              <p:par>
                                <p:cTn id="479" nodeType="withEffect" fill="hold" presetClass="entr" presetID="10">
                                  <p:stCondLst>
                                    <p:cond delay="1410"/>
                                  </p:stCondLst>
                                  <p:childTnLst>
                                    <p:set>
                                      <p:cBhvr>
                                        <p:cTn id="480" dur="1" fill="hold">
                                          <p:stCondLst>
                                            <p:cond delay="0"/>
                                          </p:stCondLst>
                                        </p:cTn>
                                        <p:tgtEl>
                                          <p:spTgt spid="455"/>
                                        </p:tgtEl>
                                        <p:attrNameLst>
                                          <p:attrName>style.visibility</p:attrName>
                                        </p:attrNameLst>
                                      </p:cBhvr>
                                      <p:to>
                                        <p:strVal val="visible"/>
                                      </p:to>
                                    </p:set>
                                    <p:animEffect filter="fade" transition="in">
                                      <p:cBhvr additive="repl">
                                        <p:cTn id="481" dur="400"/>
                                        <p:tgtEl>
                                          <p:spTgt spid="455"/>
                                        </p:tgtEl>
                                      </p:cBhvr>
                                    </p:animEffect>
                                  </p:childTnLst>
                                </p:cTn>
                              </p:par>
                              <p:par>
                                <p:cTn id="482" nodeType="withEffect" fill="hold" presetClass="entr" presetID="10">
                                  <p:stCondLst>
                                    <p:cond delay="1410"/>
                                  </p:stCondLst>
                                  <p:childTnLst>
                                    <p:set>
                                      <p:cBhvr>
                                        <p:cTn id="483" dur="1" fill="hold">
                                          <p:stCondLst>
                                            <p:cond delay="0"/>
                                          </p:stCondLst>
                                        </p:cTn>
                                        <p:tgtEl>
                                          <p:spTgt spid="456"/>
                                        </p:tgtEl>
                                        <p:attrNameLst>
                                          <p:attrName>style.visibility</p:attrName>
                                        </p:attrNameLst>
                                      </p:cBhvr>
                                      <p:to>
                                        <p:strVal val="visible"/>
                                      </p:to>
                                    </p:set>
                                    <p:animEffect filter="fade" transition="in">
                                      <p:cBhvr additive="repl">
                                        <p:cTn id="484" dur="400"/>
                                        <p:tgtEl>
                                          <p:spTgt spid="456"/>
                                        </p:tgtEl>
                                      </p:cBhvr>
                                    </p:animEffect>
                                  </p:childTnLst>
                                </p:cTn>
                              </p:par>
                              <p:par>
                                <p:cTn id="485" nodeType="withEffect" fill="hold" presetClass="entr" presetID="10">
                                  <p:stCondLst>
                                    <p:cond delay="1410"/>
                                  </p:stCondLst>
                                  <p:childTnLst>
                                    <p:set>
                                      <p:cBhvr>
                                        <p:cTn id="486" dur="1" fill="hold">
                                          <p:stCondLst>
                                            <p:cond delay="0"/>
                                          </p:stCondLst>
                                        </p:cTn>
                                        <p:tgtEl>
                                          <p:spTgt spid="457"/>
                                        </p:tgtEl>
                                        <p:attrNameLst>
                                          <p:attrName>style.visibility</p:attrName>
                                        </p:attrNameLst>
                                      </p:cBhvr>
                                      <p:to>
                                        <p:strVal val="visible"/>
                                      </p:to>
                                    </p:set>
                                    <p:animEffect filter="fade" transition="in">
                                      <p:cBhvr additive="repl">
                                        <p:cTn id="487" dur="400"/>
                                        <p:tgtEl>
                                          <p:spTgt spid="457"/>
                                        </p:tgtEl>
                                      </p:cBhvr>
                                    </p:animEffect>
                                  </p:childTnLst>
                                </p:cTn>
                              </p:par>
                              <p:par>
                                <p:cTn id="488" nodeType="withEffect" fill="hold" presetClass="entr" presetID="10">
                                  <p:stCondLst>
                                    <p:cond delay="1410"/>
                                  </p:stCondLst>
                                  <p:childTnLst>
                                    <p:set>
                                      <p:cBhvr>
                                        <p:cTn id="489" dur="1" fill="hold">
                                          <p:stCondLst>
                                            <p:cond delay="0"/>
                                          </p:stCondLst>
                                        </p:cTn>
                                        <p:tgtEl>
                                          <p:spTgt spid="458"/>
                                        </p:tgtEl>
                                        <p:attrNameLst>
                                          <p:attrName>style.visibility</p:attrName>
                                        </p:attrNameLst>
                                      </p:cBhvr>
                                      <p:to>
                                        <p:strVal val="visible"/>
                                      </p:to>
                                    </p:set>
                                    <p:animEffect filter="fade" transition="in">
                                      <p:cBhvr additive="repl">
                                        <p:cTn id="490" dur="400"/>
                                        <p:tgtEl>
                                          <p:spTgt spid="458"/>
                                        </p:tgtEl>
                                      </p:cBhvr>
                                    </p:animEffect>
                                  </p:childTnLst>
                                </p:cTn>
                              </p:par>
                              <p:par>
                                <p:cTn id="491" nodeType="withEffect" fill="hold" presetClass="entr" presetID="10">
                                  <p:stCondLst>
                                    <p:cond delay="1630"/>
                                  </p:stCondLst>
                                  <p:childTnLst>
                                    <p:set>
                                      <p:cBhvr>
                                        <p:cTn id="492" dur="1" fill="hold">
                                          <p:stCondLst>
                                            <p:cond delay="0"/>
                                          </p:stCondLst>
                                        </p:cTn>
                                        <p:tgtEl>
                                          <p:spTgt spid="459"/>
                                        </p:tgtEl>
                                        <p:attrNameLst>
                                          <p:attrName>style.visibility</p:attrName>
                                        </p:attrNameLst>
                                      </p:cBhvr>
                                      <p:to>
                                        <p:strVal val="visible"/>
                                      </p:to>
                                    </p:set>
                                    <p:animEffect filter="fade" transition="in">
                                      <p:cBhvr additive="repl">
                                        <p:cTn id="493" dur="400"/>
                                        <p:tgtEl>
                                          <p:spTgt spid="459"/>
                                        </p:tgtEl>
                                      </p:cBhvr>
                                    </p:animEffect>
                                  </p:childTnLst>
                                </p:cTn>
                              </p:par>
                              <p:par>
                                <p:cTn id="494" nodeType="withEffect" fill="hold" presetClass="entr" presetID="10">
                                  <p:stCondLst>
                                    <p:cond delay="1690"/>
                                  </p:stCondLst>
                                  <p:childTnLst>
                                    <p:set>
                                      <p:cBhvr>
                                        <p:cTn id="495" dur="1" fill="hold">
                                          <p:stCondLst>
                                            <p:cond delay="0"/>
                                          </p:stCondLst>
                                        </p:cTn>
                                        <p:tgtEl>
                                          <p:spTgt spid="460"/>
                                        </p:tgtEl>
                                        <p:attrNameLst>
                                          <p:attrName>style.visibility</p:attrName>
                                        </p:attrNameLst>
                                      </p:cBhvr>
                                      <p:to>
                                        <p:strVal val="visible"/>
                                      </p:to>
                                    </p:set>
                                    <p:animEffect filter="fade" transition="in">
                                      <p:cBhvr additive="repl">
                                        <p:cTn id="496" dur="400"/>
                                        <p:tgtEl>
                                          <p:spTgt spid="460"/>
                                        </p:tgtEl>
                                      </p:cBhvr>
                                    </p:animEffect>
                                  </p:childTnLst>
                                </p:cTn>
                              </p:par>
                              <p:par>
                                <p:cTn id="497" nodeType="withEffect" fill="hold" presetClass="entr" presetID="10">
                                  <p:stCondLst>
                                    <p:cond delay="1750"/>
                                  </p:stCondLst>
                                  <p:childTnLst>
                                    <p:set>
                                      <p:cBhvr>
                                        <p:cTn id="498" dur="1" fill="hold">
                                          <p:stCondLst>
                                            <p:cond delay="0"/>
                                          </p:stCondLst>
                                        </p:cTn>
                                        <p:tgtEl>
                                          <p:spTgt spid="461"/>
                                        </p:tgtEl>
                                        <p:attrNameLst>
                                          <p:attrName>style.visibility</p:attrName>
                                        </p:attrNameLst>
                                      </p:cBhvr>
                                      <p:to>
                                        <p:strVal val="visible"/>
                                      </p:to>
                                    </p:set>
                                    <p:animEffect filter="fade" transition="in">
                                      <p:cBhvr additive="repl">
                                        <p:cTn id="499" dur="400"/>
                                        <p:tgtEl>
                                          <p:spTgt spid="461"/>
                                        </p:tgtEl>
                                      </p:cBhvr>
                                    </p:animEffect>
                                  </p:childTnLst>
                                </p:cTn>
                              </p:par>
                              <p:par>
                                <p:cTn id="500" nodeType="withEffect" fill="hold" presetClass="entr" presetID="10">
                                  <p:stCondLst>
                                    <p:cond delay="1830"/>
                                  </p:stCondLst>
                                  <p:childTnLst>
                                    <p:set>
                                      <p:cBhvr>
                                        <p:cTn id="501" dur="1" fill="hold">
                                          <p:stCondLst>
                                            <p:cond delay="0"/>
                                          </p:stCondLst>
                                        </p:cTn>
                                        <p:tgtEl>
                                          <p:spTgt spid="462"/>
                                        </p:tgtEl>
                                        <p:attrNameLst>
                                          <p:attrName>style.visibility</p:attrName>
                                        </p:attrNameLst>
                                      </p:cBhvr>
                                      <p:to>
                                        <p:strVal val="visible"/>
                                      </p:to>
                                    </p:set>
                                    <p:animEffect filter="fade" transition="in">
                                      <p:cBhvr additive="repl">
                                        <p:cTn id="502" dur="400"/>
                                        <p:tgtEl>
                                          <p:spTgt spid="462"/>
                                        </p:tgtEl>
                                      </p:cBhvr>
                                    </p:animEffect>
                                  </p:childTnLst>
                                </p:cTn>
                              </p:par>
                              <p:par>
                                <p:cTn id="503" nodeType="withEffect" fill="hold" presetClass="entr" presetID="10">
                                  <p:stCondLst>
                                    <p:cond delay="1830"/>
                                  </p:stCondLst>
                                  <p:childTnLst>
                                    <p:set>
                                      <p:cBhvr>
                                        <p:cTn id="504" dur="1" fill="hold">
                                          <p:stCondLst>
                                            <p:cond delay="0"/>
                                          </p:stCondLst>
                                        </p:cTn>
                                        <p:tgtEl>
                                          <p:spTgt spid="463"/>
                                        </p:tgtEl>
                                        <p:attrNameLst>
                                          <p:attrName>style.visibility</p:attrName>
                                        </p:attrNameLst>
                                      </p:cBhvr>
                                      <p:to>
                                        <p:strVal val="visible"/>
                                      </p:to>
                                    </p:set>
                                    <p:animEffect filter="fade" transition="in">
                                      <p:cBhvr additive="repl">
                                        <p:cTn id="505" dur="400"/>
                                        <p:tgtEl>
                                          <p:spTgt spid="463"/>
                                        </p:tgtEl>
                                      </p:cBhvr>
                                    </p:animEffect>
                                  </p:childTnLst>
                                </p:cTn>
                              </p:par>
                              <p:par>
                                <p:cTn id="506" nodeType="withEffect" fill="hold" presetClass="entr" presetID="10">
                                  <p:stCondLst>
                                    <p:cond delay="1830"/>
                                  </p:stCondLst>
                                  <p:childTnLst>
                                    <p:set>
                                      <p:cBhvr>
                                        <p:cTn id="507" dur="1" fill="hold">
                                          <p:stCondLst>
                                            <p:cond delay="0"/>
                                          </p:stCondLst>
                                        </p:cTn>
                                        <p:tgtEl>
                                          <p:spTgt spid="464"/>
                                        </p:tgtEl>
                                        <p:attrNameLst>
                                          <p:attrName>style.visibility</p:attrName>
                                        </p:attrNameLst>
                                      </p:cBhvr>
                                      <p:to>
                                        <p:strVal val="visible"/>
                                      </p:to>
                                    </p:set>
                                    <p:animEffect filter="fade" transition="in">
                                      <p:cBhvr additive="repl">
                                        <p:cTn id="508" dur="400"/>
                                        <p:tgtEl>
                                          <p:spTgt spid="464"/>
                                        </p:tgtEl>
                                      </p:cBhvr>
                                    </p:animEffect>
                                  </p:childTnLst>
                                </p:cTn>
                              </p:par>
                              <p:par>
                                <p:cTn id="509" nodeType="withEffect" fill="hold" presetClass="entr" presetID="10">
                                  <p:stCondLst>
                                    <p:cond delay="1830"/>
                                  </p:stCondLst>
                                  <p:childTnLst>
                                    <p:set>
                                      <p:cBhvr>
                                        <p:cTn id="510" dur="1" fill="hold">
                                          <p:stCondLst>
                                            <p:cond delay="0"/>
                                          </p:stCondLst>
                                        </p:cTn>
                                        <p:tgtEl>
                                          <p:spTgt spid="465"/>
                                        </p:tgtEl>
                                        <p:attrNameLst>
                                          <p:attrName>style.visibility</p:attrName>
                                        </p:attrNameLst>
                                      </p:cBhvr>
                                      <p:to>
                                        <p:strVal val="visible"/>
                                      </p:to>
                                    </p:set>
                                    <p:animEffect filter="fade" transition="in">
                                      <p:cBhvr additive="repl">
                                        <p:cTn id="511" dur="400"/>
                                        <p:tgtEl>
                                          <p:spTgt spid="465"/>
                                        </p:tgtEl>
                                      </p:cBhvr>
                                    </p:animEffect>
                                  </p:childTnLst>
                                </p:cTn>
                              </p:par>
                              <p:par>
                                <p:cTn id="512" nodeType="withEffect" fill="hold" presetClass="entr" presetID="10">
                                  <p:stCondLst>
                                    <p:cond delay="1830"/>
                                  </p:stCondLst>
                                  <p:childTnLst>
                                    <p:set>
                                      <p:cBhvr>
                                        <p:cTn id="513" dur="1" fill="hold">
                                          <p:stCondLst>
                                            <p:cond delay="0"/>
                                          </p:stCondLst>
                                        </p:cTn>
                                        <p:tgtEl>
                                          <p:spTgt spid="466"/>
                                        </p:tgtEl>
                                        <p:attrNameLst>
                                          <p:attrName>style.visibility</p:attrName>
                                        </p:attrNameLst>
                                      </p:cBhvr>
                                      <p:to>
                                        <p:strVal val="visible"/>
                                      </p:to>
                                    </p:set>
                                    <p:animEffect filter="fade" transition="in">
                                      <p:cBhvr additive="repl">
                                        <p:cTn id="514" dur="400"/>
                                        <p:tgtEl>
                                          <p:spTgt spid="466"/>
                                        </p:tgtEl>
                                      </p:cBhvr>
                                    </p:animEffect>
                                  </p:childTnLst>
                                </p:cTn>
                              </p:par>
                              <p:par>
                                <p:cTn id="515" nodeType="withEffect" fill="hold" presetClass="entr" presetID="10">
                                  <p:stCondLst>
                                    <p:cond delay="1830"/>
                                  </p:stCondLst>
                                  <p:childTnLst>
                                    <p:set>
                                      <p:cBhvr>
                                        <p:cTn id="516" dur="1" fill="hold">
                                          <p:stCondLst>
                                            <p:cond delay="0"/>
                                          </p:stCondLst>
                                        </p:cTn>
                                        <p:tgtEl>
                                          <p:spTgt spid="467"/>
                                        </p:tgtEl>
                                        <p:attrNameLst>
                                          <p:attrName>style.visibility</p:attrName>
                                        </p:attrNameLst>
                                      </p:cBhvr>
                                      <p:to>
                                        <p:strVal val="visible"/>
                                      </p:to>
                                    </p:set>
                                    <p:animEffect filter="fade" transition="in">
                                      <p:cBhvr additive="repl">
                                        <p:cTn id="517" dur="400"/>
                                        <p:tgtEl>
                                          <p:spTgt spid="467"/>
                                        </p:tgtEl>
                                      </p:cBhvr>
                                    </p:animEffect>
                                  </p:childTnLst>
                                </p:cTn>
                              </p:par>
                              <p:par>
                                <p:cTn id="518" nodeType="withEffect" fill="hold" presetClass="entr" presetID="10">
                                  <p:stCondLst>
                                    <p:cond delay="1830"/>
                                  </p:stCondLst>
                                  <p:childTnLst>
                                    <p:set>
                                      <p:cBhvr>
                                        <p:cTn id="519" dur="1" fill="hold">
                                          <p:stCondLst>
                                            <p:cond delay="0"/>
                                          </p:stCondLst>
                                        </p:cTn>
                                        <p:tgtEl>
                                          <p:spTgt spid="468"/>
                                        </p:tgtEl>
                                        <p:attrNameLst>
                                          <p:attrName>style.visibility</p:attrName>
                                        </p:attrNameLst>
                                      </p:cBhvr>
                                      <p:to>
                                        <p:strVal val="visible"/>
                                      </p:to>
                                    </p:set>
                                    <p:animEffect filter="fade" transition="in">
                                      <p:cBhvr additive="repl">
                                        <p:cTn id="520" dur="400"/>
                                        <p:tgtEl>
                                          <p:spTgt spid="468"/>
                                        </p:tgtEl>
                                      </p:cBhvr>
                                    </p:animEffect>
                                  </p:childTnLst>
                                </p:cTn>
                              </p:par>
                              <p:par>
                                <p:cTn id="521" nodeType="withEffect" fill="hold" presetClass="entr" presetID="10">
                                  <p:stCondLst>
                                    <p:cond delay="2400"/>
                                  </p:stCondLst>
                                  <p:childTnLst>
                                    <p:set>
                                      <p:cBhvr>
                                        <p:cTn id="522" dur="1" fill="hold">
                                          <p:stCondLst>
                                            <p:cond delay="0"/>
                                          </p:stCondLst>
                                        </p:cTn>
                                        <p:tgtEl>
                                          <p:spTgt spid="469"/>
                                        </p:tgtEl>
                                        <p:attrNameLst>
                                          <p:attrName>style.visibility</p:attrName>
                                        </p:attrNameLst>
                                      </p:cBhvr>
                                      <p:to>
                                        <p:strVal val="visible"/>
                                      </p:to>
                                    </p:set>
                                    <p:animEffect filter="fade" transition="in">
                                      <p:cBhvr additive="repl">
                                        <p:cTn id="523" dur="400"/>
                                        <p:tgtEl>
                                          <p:spTgt spid="469"/>
                                        </p:tgtEl>
                                      </p:cBhvr>
                                    </p:animEffect>
                                  </p:childTnLst>
                                </p:cTn>
                              </p:par>
                              <p:par>
                                <p:cTn id="524" nodeType="withEffect" fill="hold" presetClass="entr" presetID="10">
                                  <p:stCondLst>
                                    <p:cond delay="2400"/>
                                  </p:stCondLst>
                                  <p:childTnLst>
                                    <p:set>
                                      <p:cBhvr>
                                        <p:cTn id="525" dur="1" fill="hold">
                                          <p:stCondLst>
                                            <p:cond delay="0"/>
                                          </p:stCondLst>
                                        </p:cTn>
                                        <p:tgtEl>
                                          <p:spTgt spid="470"/>
                                        </p:tgtEl>
                                        <p:attrNameLst>
                                          <p:attrName>style.visibility</p:attrName>
                                        </p:attrNameLst>
                                      </p:cBhvr>
                                      <p:to>
                                        <p:strVal val="visible"/>
                                      </p:to>
                                    </p:set>
                                    <p:animEffect filter="fade" transition="in">
                                      <p:cBhvr additive="repl">
                                        <p:cTn id="526" dur="400"/>
                                        <p:tgtEl>
                                          <p:spTgt spid="470"/>
                                        </p:tgtEl>
                                      </p:cBhvr>
                                    </p:animEffect>
                                  </p:childTnLst>
                                </p:cTn>
                              </p:par>
                              <p:par>
                                <p:cTn id="527" nodeType="withEffect" fill="hold" presetClass="entr" presetID="10">
                                  <p:stCondLst>
                                    <p:cond delay="2400"/>
                                  </p:stCondLst>
                                  <p:childTnLst>
                                    <p:set>
                                      <p:cBhvr>
                                        <p:cTn id="528" dur="1" fill="hold">
                                          <p:stCondLst>
                                            <p:cond delay="0"/>
                                          </p:stCondLst>
                                        </p:cTn>
                                        <p:tgtEl>
                                          <p:spTgt spid="471"/>
                                        </p:tgtEl>
                                        <p:attrNameLst>
                                          <p:attrName>style.visibility</p:attrName>
                                        </p:attrNameLst>
                                      </p:cBhvr>
                                      <p:to>
                                        <p:strVal val="visible"/>
                                      </p:to>
                                    </p:set>
                                    <p:animEffect filter="fade" transition="in">
                                      <p:cBhvr additive="repl">
                                        <p:cTn id="529" dur="400"/>
                                        <p:tgtEl>
                                          <p:spTgt spid="471"/>
                                        </p:tgtEl>
                                      </p:cBhvr>
                                    </p:animEffect>
                                  </p:childTnLst>
                                </p:cTn>
                              </p:par>
                              <p:par>
                                <p:cTn id="530" nodeType="withEffect" fill="hold" presetClass="entr" presetID="10">
                                  <p:stCondLst>
                                    <p:cond delay="2400"/>
                                  </p:stCondLst>
                                  <p:childTnLst>
                                    <p:set>
                                      <p:cBhvr>
                                        <p:cTn id="531" dur="1" fill="hold">
                                          <p:stCondLst>
                                            <p:cond delay="0"/>
                                          </p:stCondLst>
                                        </p:cTn>
                                        <p:tgtEl>
                                          <p:spTgt spid="472"/>
                                        </p:tgtEl>
                                        <p:attrNameLst>
                                          <p:attrName>style.visibility</p:attrName>
                                        </p:attrNameLst>
                                      </p:cBhvr>
                                      <p:to>
                                        <p:strVal val="visible"/>
                                      </p:to>
                                    </p:set>
                                    <p:animEffect filter="fade" transition="in">
                                      <p:cBhvr additive="repl">
                                        <p:cTn id="532" dur="400"/>
                                        <p:tgtEl>
                                          <p:spTgt spid="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14" name="o1"/>
          <p:cNvSpPr/>
          <p:nvPr/>
        </p:nvSpPr>
        <p:spPr>
          <a:xfrm>
            <a:off x="274320" y="228600"/>
            <a:ext cx="11642760" cy="5897520"/>
          </a:xfrm>
          <a:prstGeom prst="roundRect">
            <a:avLst>
              <a:gd name="adj" fmla="val 3876"/>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5" name="o2"/>
          <p:cNvSpPr/>
          <p:nvPr/>
        </p:nvSpPr>
        <p:spPr>
          <a:xfrm>
            <a:off x="343080" y="297360"/>
            <a:ext cx="11505600" cy="5760360"/>
          </a:xfrm>
          <a:prstGeom prst="roundRect">
            <a:avLst>
              <a:gd name="adj" fmla="val 2778"/>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6" name="o3"/>
          <p:cNvSpPr/>
          <p:nvPr/>
        </p:nvSpPr>
        <p:spPr>
          <a:xfrm>
            <a:off x="86868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7" name="o4"/>
          <p:cNvSpPr/>
          <p:nvPr/>
        </p:nvSpPr>
        <p:spPr>
          <a:xfrm>
            <a:off x="93744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8" name="o5"/>
          <p:cNvSpPr/>
          <p:nvPr/>
        </p:nvSpPr>
        <p:spPr>
          <a:xfrm>
            <a:off x="976860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9" name="o6"/>
          <p:cNvSpPr/>
          <p:nvPr/>
        </p:nvSpPr>
        <p:spPr>
          <a:xfrm>
            <a:off x="983700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0" name="o7"/>
          <p:cNvSpPr/>
          <p:nvPr/>
        </p:nvSpPr>
        <p:spPr>
          <a:xfrm>
            <a:off x="86868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1" name="o8"/>
          <p:cNvSpPr/>
          <p:nvPr/>
        </p:nvSpPr>
        <p:spPr>
          <a:xfrm>
            <a:off x="93744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2" name="o9"/>
          <p:cNvSpPr/>
          <p:nvPr/>
        </p:nvSpPr>
        <p:spPr>
          <a:xfrm>
            <a:off x="976860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3" name="o10"/>
          <p:cNvSpPr/>
          <p:nvPr/>
        </p:nvSpPr>
        <p:spPr>
          <a:xfrm>
            <a:off x="983700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524" name="o11" descr="orange"/>
          <p:cNvPicPr/>
          <p:nvPr/>
        </p:nvPicPr>
        <p:blipFill>
          <a:blip r:embed="rId1"/>
          <a:stretch/>
        </p:blipFill>
        <p:spPr>
          <a:xfrm>
            <a:off x="5684400" y="777240"/>
            <a:ext cx="822600" cy="822600"/>
          </a:xfrm>
          <a:prstGeom prst="rect">
            <a:avLst/>
          </a:prstGeom>
          <a:ln w="0">
            <a:noFill/>
          </a:ln>
        </p:spPr>
      </p:pic>
      <p:pic>
        <p:nvPicPr>
          <p:cNvPr id="525" name="o12" descr="LEVEL 3"/>
          <p:cNvPicPr/>
          <p:nvPr/>
        </p:nvPicPr>
        <p:blipFill>
          <a:blip r:embed="rId2"/>
          <a:stretch/>
        </p:blipFill>
        <p:spPr>
          <a:xfrm>
            <a:off x="5262480" y="1828800"/>
            <a:ext cx="1666080" cy="237240"/>
          </a:xfrm>
          <a:prstGeom prst="rect">
            <a:avLst/>
          </a:prstGeom>
          <a:ln w="0">
            <a:noFill/>
          </a:ln>
        </p:spPr>
      </p:pic>
      <p:pic>
        <p:nvPicPr>
          <p:cNvPr id="526" name="o13" descr="NETTOYAGE"/>
          <p:cNvPicPr/>
          <p:nvPr/>
        </p:nvPicPr>
        <p:blipFill>
          <a:blip r:embed="rId3"/>
          <a:stretch/>
        </p:blipFill>
        <p:spPr>
          <a:xfrm>
            <a:off x="3791520" y="2331720"/>
            <a:ext cx="4608360" cy="511560"/>
          </a:xfrm>
          <a:prstGeom prst="rect">
            <a:avLst/>
          </a:prstGeom>
          <a:ln w="0">
            <a:noFill/>
          </a:ln>
        </p:spPr>
      </p:pic>
      <p:sp>
        <p:nvSpPr>
          <p:cNvPr id="527" name="o14"/>
          <p:cNvSpPr/>
          <p:nvPr/>
        </p:nvSpPr>
        <p:spPr>
          <a:xfrm>
            <a:off x="1371600" y="3108960"/>
            <a:ext cx="9448200" cy="4111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2000" spc="-1" strike="noStrike">
                <a:solidFill>
                  <a:srgbClr val="c4c4e4"/>
                </a:solidFill>
                <a:latin typeface="Arial"/>
                <a:ea typeface="Arial"/>
              </a:rPr>
              <a:t>4 fantômes cachés dans les données</a:t>
            </a:r>
            <a:endParaRPr b="0" lang="en-US" sz="2000" spc="-1" strike="noStrike">
              <a:solidFill>
                <a:srgbClr val="ffffff"/>
              </a:solidFill>
              <a:latin typeface="Arial"/>
            </a:endParaRPr>
          </a:p>
        </p:txBody>
      </p:sp>
      <p:sp>
        <p:nvSpPr>
          <p:cNvPr id="528" name="o15"/>
          <p:cNvSpPr/>
          <p:nvPr/>
        </p:nvSpPr>
        <p:spPr>
          <a:xfrm>
            <a:off x="37080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29" name="o16"/>
          <p:cNvSpPr/>
          <p:nvPr/>
        </p:nvSpPr>
        <p:spPr>
          <a:xfrm>
            <a:off x="40737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0" name="o17"/>
          <p:cNvSpPr/>
          <p:nvPr/>
        </p:nvSpPr>
        <p:spPr>
          <a:xfrm>
            <a:off x="44395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1" name="o18"/>
          <p:cNvSpPr/>
          <p:nvPr/>
        </p:nvSpPr>
        <p:spPr>
          <a:xfrm>
            <a:off x="48052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2" name="o19"/>
          <p:cNvSpPr/>
          <p:nvPr/>
        </p:nvSpPr>
        <p:spPr>
          <a:xfrm>
            <a:off x="51710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3" name="o20"/>
          <p:cNvSpPr/>
          <p:nvPr/>
        </p:nvSpPr>
        <p:spPr>
          <a:xfrm>
            <a:off x="55368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4" name="o21"/>
          <p:cNvSpPr/>
          <p:nvPr/>
        </p:nvSpPr>
        <p:spPr>
          <a:xfrm>
            <a:off x="59025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5" name="o22"/>
          <p:cNvSpPr/>
          <p:nvPr/>
        </p:nvSpPr>
        <p:spPr>
          <a:xfrm>
            <a:off x="62683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6" name="o23"/>
          <p:cNvSpPr/>
          <p:nvPr/>
        </p:nvSpPr>
        <p:spPr>
          <a:xfrm>
            <a:off x="66340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7" name="o24"/>
          <p:cNvSpPr/>
          <p:nvPr/>
        </p:nvSpPr>
        <p:spPr>
          <a:xfrm>
            <a:off x="69998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8" name="o25"/>
          <p:cNvSpPr/>
          <p:nvPr/>
        </p:nvSpPr>
        <p:spPr>
          <a:xfrm>
            <a:off x="73656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39" name="o26"/>
          <p:cNvSpPr/>
          <p:nvPr/>
        </p:nvSpPr>
        <p:spPr>
          <a:xfrm>
            <a:off x="77313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40" name="o27"/>
          <p:cNvSpPr/>
          <p:nvPr/>
        </p:nvSpPr>
        <p:spPr>
          <a:xfrm>
            <a:off x="80971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41" name="o28"/>
          <p:cNvSpPr/>
          <p:nvPr/>
        </p:nvSpPr>
        <p:spPr>
          <a:xfrm>
            <a:off x="84628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42" name="o29"/>
          <p:cNvSpPr/>
          <p:nvPr/>
        </p:nvSpPr>
        <p:spPr>
          <a:xfrm>
            <a:off x="88286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43" name="o30"/>
          <p:cNvSpPr/>
          <p:nvPr/>
        </p:nvSpPr>
        <p:spPr>
          <a:xfrm>
            <a:off x="91944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44" name="o31"/>
          <p:cNvSpPr/>
          <p:nvPr/>
        </p:nvSpPr>
        <p:spPr>
          <a:xfrm>
            <a:off x="95601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545" name="o32"/>
          <p:cNvSpPr/>
          <p:nvPr/>
        </p:nvSpPr>
        <p:spPr>
          <a:xfrm>
            <a:off x="99259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pic>
        <p:nvPicPr>
          <p:cNvPr id="546" name="o33" descr="Pac-Man"/>
          <p:cNvPicPr/>
          <p:nvPr/>
        </p:nvPicPr>
        <p:blipFill>
          <a:blip r:embed="rId4"/>
          <a:stretch/>
        </p:blipFill>
        <p:spPr>
          <a:xfrm>
            <a:off x="2990160" y="3950280"/>
            <a:ext cx="420120" cy="420120"/>
          </a:xfrm>
          <a:prstGeom prst="rect">
            <a:avLst/>
          </a:prstGeom>
          <a:ln w="0">
            <a:noFill/>
          </a:ln>
        </p:spPr>
      </p:pic>
      <p:pic>
        <p:nvPicPr>
          <p:cNvPr id="547" name="o34" descr="fantôme"/>
          <p:cNvPicPr/>
          <p:nvPr/>
        </p:nvPicPr>
        <p:blipFill>
          <a:blip r:embed="rId5"/>
          <a:stretch/>
        </p:blipFill>
        <p:spPr>
          <a:xfrm>
            <a:off x="2350080" y="3950280"/>
            <a:ext cx="420120" cy="420120"/>
          </a:xfrm>
          <a:prstGeom prst="rect">
            <a:avLst/>
          </a:prstGeom>
          <a:ln w="0">
            <a:noFill/>
          </a:ln>
        </p:spPr>
      </p:pic>
      <p:pic>
        <p:nvPicPr>
          <p:cNvPr id="548" name="o35" descr="fantôme"/>
          <p:cNvPicPr/>
          <p:nvPr/>
        </p:nvPicPr>
        <p:blipFill>
          <a:blip r:embed="rId6"/>
          <a:stretch/>
        </p:blipFill>
        <p:spPr>
          <a:xfrm>
            <a:off x="1801440" y="3950280"/>
            <a:ext cx="420120" cy="420120"/>
          </a:xfrm>
          <a:prstGeom prst="rect">
            <a:avLst/>
          </a:prstGeom>
          <a:ln w="0">
            <a:noFill/>
          </a:ln>
        </p:spPr>
      </p:pic>
      <p:pic>
        <p:nvPicPr>
          <p:cNvPr id="549" name="o36" descr="fantôme"/>
          <p:cNvPicPr/>
          <p:nvPr/>
        </p:nvPicPr>
        <p:blipFill>
          <a:blip r:embed="rId7"/>
          <a:stretch/>
        </p:blipFill>
        <p:spPr>
          <a:xfrm>
            <a:off x="1252800" y="3950280"/>
            <a:ext cx="420120" cy="420120"/>
          </a:xfrm>
          <a:prstGeom prst="rect">
            <a:avLst/>
          </a:prstGeom>
          <a:ln w="0">
            <a:noFill/>
          </a:ln>
        </p:spPr>
      </p:pic>
      <p:pic>
        <p:nvPicPr>
          <p:cNvPr id="550" name="o37" descr="fantôme"/>
          <p:cNvPicPr/>
          <p:nvPr/>
        </p:nvPicPr>
        <p:blipFill>
          <a:blip r:embed="rId8"/>
          <a:stretch/>
        </p:blipFill>
        <p:spPr>
          <a:xfrm>
            <a:off x="704160" y="3950280"/>
            <a:ext cx="420120" cy="420120"/>
          </a:xfrm>
          <a:prstGeom prst="rect">
            <a:avLst/>
          </a:prstGeom>
          <a:ln w="0">
            <a:noFill/>
          </a:ln>
        </p:spPr>
      </p:pic>
      <p:pic>
        <p:nvPicPr>
          <p:cNvPr id="551" name="o38" descr="READY!"/>
          <p:cNvPicPr/>
          <p:nvPr/>
        </p:nvPicPr>
        <p:blipFill>
          <a:blip r:embed="rId9"/>
          <a:stretch/>
        </p:blipFill>
        <p:spPr>
          <a:xfrm>
            <a:off x="5492520" y="4617720"/>
            <a:ext cx="1206720" cy="200880"/>
          </a:xfrm>
          <a:prstGeom prst="rect">
            <a:avLst/>
          </a:prstGeom>
          <a:ln w="0">
            <a:noFill/>
          </a:ln>
        </p:spPr>
      </p:pic>
      <p:pic>
        <p:nvPicPr>
          <p:cNvPr id="552" name="o69" descr="super pac-gomme"/>
          <p:cNvPicPr/>
          <p:nvPr/>
        </p:nvPicPr>
        <p:blipFill>
          <a:blip r:embed="rId10"/>
          <a:stretch/>
        </p:blipFill>
        <p:spPr>
          <a:xfrm>
            <a:off x="11448360" y="6355080"/>
            <a:ext cx="182520" cy="182520"/>
          </a:xfrm>
          <a:prstGeom prst="rect">
            <a:avLst/>
          </a:prstGeom>
          <a:ln w="0">
            <a:noFill/>
          </a:ln>
        </p:spPr>
      </p:pic>
      <p:pic>
        <p:nvPicPr>
          <p:cNvPr id="553" name="barre_fantome" descr="image.gif"/>
          <p:cNvPicPr/>
          <p:nvPr/>
        </p:nvPicPr>
        <p:blipFill>
          <a:blip r:embed="rId11"/>
          <a:stretch/>
        </p:blipFill>
        <p:spPr>
          <a:xfrm>
            <a:off x="1766016" y="6291000"/>
            <a:ext cx="310680" cy="310680"/>
          </a:xfrm>
          <a:prstGeom prst="rect">
            <a:avLst/>
          </a:prstGeom>
          <a:ln w="0">
            <a:noFill/>
          </a:ln>
        </p:spPr>
      </p:pic>
      <p:sp>
        <p:nvSpPr>
          <p:cNvPr id="555" name="barre_pastille"/>
          <p:cNvSpPr/>
          <p:nvPr/>
        </p:nvSpPr>
        <p:spPr>
          <a:xfrm>
            <a:off x="2743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55" name="barre_pastille"/>
          <p:cNvSpPr/>
          <p:nvPr/>
        </p:nvSpPr>
        <p:spPr>
          <a:xfrm>
            <a:off x="2971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56" name="barre_pastille"/>
          <p:cNvSpPr/>
          <p:nvPr/>
        </p:nvSpPr>
        <p:spPr>
          <a:xfrm>
            <a:off x="3200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57" name="barre_pastille"/>
          <p:cNvSpPr/>
          <p:nvPr/>
        </p:nvSpPr>
        <p:spPr>
          <a:xfrm>
            <a:off x="3429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58"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59"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0"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1"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2"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3"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4"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5"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6"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7"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8"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69"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0"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1"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2"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3"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4"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5"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6"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7"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8"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79"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0"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1"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2"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3"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4"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5"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6"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7"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8"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89"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90"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591"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554" name="barre_pacman" descr="image.gif"/>
          <p:cNvPicPr/>
          <p:nvPr/>
        </p:nvPicPr>
        <p:blipFill>
          <a:blip r:embed="rId12"/>
          <a:stretch/>
        </p:blipFill>
        <p:spPr>
          <a:xfrm>
            <a:off x="2333016" y="6291000"/>
            <a:ext cx="310680" cy="310680"/>
          </a:xfrm>
          <a:prstGeom prst="rect">
            <a:avLst/>
          </a:prstGeom>
          <a:ln w="0">
            <a:noFill/>
          </a:ln>
        </p:spPr>
      </p:pic>
      <p:sp>
        <p:nvSpPr>
          <p:cNvPr id="592" name="orateur" descr="Orateur : B"/>
          <p:cNvSpPr/>
          <p:nvPr/>
        </p:nvSpPr>
        <p:spPr>
          <a:xfrm>
            <a:off x="11704320" y="6263640"/>
            <a:ext cx="365760" cy="365760"/>
          </a:xfrm>
          <a:prstGeom prst="roundRect">
            <a:avLst>
              <a:gd name="adj" fmla="val 22000"/>
            </a:avLst>
          </a:prstGeom>
          <a:solidFill>
            <a:srgbClr val="000000"/>
          </a:solidFill>
          <a:ln w="19050">
            <a:solidFill>
              <a:srgbClr val="00E5FF"/>
            </a:solidFill>
          </a:ln>
        </p:spPr>
        <p:txBody>
          <a:bodyPr lIns="0" rIns="0" tIns="0" bIns="0" anchor="ctr">
            <a:noAutofit/>
          </a:bodyPr>
          <a:lstStyle/>
          <a:p>
            <a:pPr algn="ctr"/>
            <a:r>
              <a:rPr lang="fr-FR" sz="1300" b="1">
                <a:solidFill>
                  <a:srgbClr val="00E5FF"/>
                </a:solidFill>
                <a:latin typeface="Arial"/>
              </a:rPr>
              <a:t>B</a:t>
            </a:r>
          </a:p>
        </p:txBody>
      </p:sp>
    </p:spTree>
  </p:cSld>
  <p:transition>
    <p:fade/>
  </p:transition>
  <p:timing>
    <p:tnLst>
      <p:par>
        <p:cTn id="533" dur="indefinite" restart="never" nodeType="tmRoot">
          <p:childTnLst>
            <p:seq>
              <p:cTn id="534" dur="indefinite" nodeType="mainSeq">
                <p:childTnLst>
                  <p:par>
                    <p:cTn id="535" fill="hold">
                      <p:stCondLst>
                        <p:cond delay="0"/>
                      </p:stCondLst>
                      <p:childTnLst>
                        <p:par>
                          <p:cTn id="536" fill="hold">
                            <p:stCondLst>
                              <p:cond delay="0"/>
                            </p:stCondLst>
                            <p:childTnLst>
                              <p:par>
                                <p:cTn id="537" nodeType="withEffect" fill="hold" presetClass="path">
                                  <p:stCondLst>
                                    <p:cond delay="0"/>
                                  </p:stCondLst>
                                  <p:childTnLst>
                                    <p:animMotion origin="layout" path="M 0 0 L 0.02252 0 E">
                                      <p:cBhvr>
                                        <p:cTn id="538" dur="900" fill="hold"/>
                                        <p:tgtEl>
                                          <p:spTgt spid="553"/>
                                        </p:tgtEl>
                                        <p:attrNameLst>
                                          <p:attrName>ppt_x</p:attrName>
                                          <p:attrName>ppt_y</p:attrName>
                                        </p:attrNameLst>
                                      </p:cBhvr>
                                    </p:animMotion>
                                  </p:childTnLst>
                                </p:cTn>
                              </p:par>
                              <p:par>
                                <p:cTn id="539" nodeType="withEffect" fill="hold" presetClass="path">
                                  <p:stCondLst>
                                    <p:cond delay="0"/>
                                  </p:stCondLst>
                                  <p:childTnLst>
                                    <p:animMotion origin="layout" path="M 0 0 L 0.02252 0 E">
                                      <p:cBhvr>
                                        <p:cTn id="540" dur="900" fill="hold"/>
                                        <p:tgtEl>
                                          <p:spTgt spid="554"/>
                                        </p:tgtEl>
                                        <p:attrNameLst>
                                          <p:attrName>ppt_x</p:attrName>
                                          <p:attrName>ppt_y</p:attrName>
                                        </p:attrNameLst>
                                      </p:cBhvr>
                                    </p:animMotion>
                                  </p:childTnLst>
                                </p:cTn>
                              </p:par>
                              <p:par>
                                <p:cTn id="541" nodeType="withEffect" fill="hold" presetClass="exit" presetID="1">
                                  <p:stCondLst>
                                    <p:cond delay="613"/>
                                  </p:stCondLst>
                                  <p:childTnLst>
                                    <p:set>
                                      <p:cBhvr>
                                        <p:cTn id="542" dur="1" fill="hold">
                                          <p:stCondLst>
                                            <p:cond delay="0"/>
                                          </p:stCondLst>
                                        </p:cTn>
                                        <p:tgtEl>
                                          <p:spTgt spid="555"/>
                                        </p:tgtEl>
                                        <p:attrNameLst>
                                          <p:attrName>style.visibility</p:attrName>
                                        </p:attrNameLst>
                                      </p:cBhvr>
                                      <p:to>
                                        <p:strVal val="hidden"/>
                                      </p:to>
                                    </p:set>
                                  </p:childTnLst>
                                </p:cTn>
                              </p:par>
                              <p:par>
                                <p:cTn id="543" nodeType="withEffect" fill="hold" presetClass="exit" presetID="1">
                                  <p:stCondLst>
                                    <p:cond delay="1054"/>
                                  </p:stCondLst>
                                  <p:childTnLst>
                                    <p:set>
                                      <p:cBhvr>
                                        <p:cTn id="544" dur="1" fill="hold">
                                          <p:stCondLst>
                                            <p:cond delay="0"/>
                                          </p:stCondLst>
                                        </p:cTn>
                                        <p:tgtEl>
                                          <p:spTgt spid="528"/>
                                        </p:tgtEl>
                                        <p:attrNameLst>
                                          <p:attrName>style.visibility</p:attrName>
                                        </p:attrNameLst>
                                      </p:cBhvr>
                                      <p:to>
                                        <p:strVal val="hidden"/>
                                      </p:to>
                                    </p:set>
                                  </p:childTnLst>
                                </p:cTn>
                              </p:par>
                              <p:par>
                                <p:cTn id="545" nodeType="withEffect" fill="hold" presetClass="exit" presetID="1">
                                  <p:stCondLst>
                                    <p:cond delay="1191"/>
                                  </p:stCondLst>
                                  <p:childTnLst>
                                    <p:set>
                                      <p:cBhvr>
                                        <p:cTn id="546" dur="1" fill="hold">
                                          <p:stCondLst>
                                            <p:cond delay="0"/>
                                          </p:stCondLst>
                                        </p:cTn>
                                        <p:tgtEl>
                                          <p:spTgt spid="529"/>
                                        </p:tgtEl>
                                        <p:attrNameLst>
                                          <p:attrName>style.visibility</p:attrName>
                                        </p:attrNameLst>
                                      </p:cBhvr>
                                      <p:to>
                                        <p:strVal val="hidden"/>
                                      </p:to>
                                    </p:set>
                                  </p:childTnLst>
                                </p:cTn>
                              </p:par>
                              <p:par>
                                <p:cTn id="547" nodeType="withEffect" fill="hold" presetClass="exit" presetID="1">
                                  <p:stCondLst>
                                    <p:cond delay="1328"/>
                                  </p:stCondLst>
                                  <p:childTnLst>
                                    <p:set>
                                      <p:cBhvr>
                                        <p:cTn id="548" dur="1" fill="hold">
                                          <p:stCondLst>
                                            <p:cond delay="0"/>
                                          </p:stCondLst>
                                        </p:cTn>
                                        <p:tgtEl>
                                          <p:spTgt spid="530"/>
                                        </p:tgtEl>
                                        <p:attrNameLst>
                                          <p:attrName>style.visibility</p:attrName>
                                        </p:attrNameLst>
                                      </p:cBhvr>
                                      <p:to>
                                        <p:strVal val="hidden"/>
                                      </p:to>
                                    </p:set>
                                  </p:childTnLst>
                                </p:cTn>
                              </p:par>
                              <p:par>
                                <p:cTn id="549" nodeType="withEffect" fill="hold" presetClass="exit" presetID="1">
                                  <p:stCondLst>
                                    <p:cond delay="1464"/>
                                  </p:stCondLst>
                                  <p:childTnLst>
                                    <p:set>
                                      <p:cBhvr>
                                        <p:cTn id="550" dur="1" fill="hold">
                                          <p:stCondLst>
                                            <p:cond delay="0"/>
                                          </p:stCondLst>
                                        </p:cTn>
                                        <p:tgtEl>
                                          <p:spTgt spid="531"/>
                                        </p:tgtEl>
                                        <p:attrNameLst>
                                          <p:attrName>style.visibility</p:attrName>
                                        </p:attrNameLst>
                                      </p:cBhvr>
                                      <p:to>
                                        <p:strVal val="hidden"/>
                                      </p:to>
                                    </p:set>
                                  </p:childTnLst>
                                </p:cTn>
                              </p:par>
                              <p:par>
                                <p:cTn id="551" nodeType="withEffect" fill="hold" presetClass="exit" presetID="1">
                                  <p:stCondLst>
                                    <p:cond delay="1601"/>
                                  </p:stCondLst>
                                  <p:childTnLst>
                                    <p:set>
                                      <p:cBhvr>
                                        <p:cTn id="552" dur="1" fill="hold">
                                          <p:stCondLst>
                                            <p:cond delay="0"/>
                                          </p:stCondLst>
                                        </p:cTn>
                                        <p:tgtEl>
                                          <p:spTgt spid="532"/>
                                        </p:tgtEl>
                                        <p:attrNameLst>
                                          <p:attrName>style.visibility</p:attrName>
                                        </p:attrNameLst>
                                      </p:cBhvr>
                                      <p:to>
                                        <p:strVal val="hidden"/>
                                      </p:to>
                                    </p:set>
                                  </p:childTnLst>
                                </p:cTn>
                              </p:par>
                              <p:par>
                                <p:cTn id="553" nodeType="withEffect" fill="hold" presetClass="exit" presetID="1">
                                  <p:stCondLst>
                                    <p:cond delay="1738"/>
                                  </p:stCondLst>
                                  <p:childTnLst>
                                    <p:set>
                                      <p:cBhvr>
                                        <p:cTn id="554" dur="1" fill="hold">
                                          <p:stCondLst>
                                            <p:cond delay="0"/>
                                          </p:stCondLst>
                                        </p:cTn>
                                        <p:tgtEl>
                                          <p:spTgt spid="533"/>
                                        </p:tgtEl>
                                        <p:attrNameLst>
                                          <p:attrName>style.visibility</p:attrName>
                                        </p:attrNameLst>
                                      </p:cBhvr>
                                      <p:to>
                                        <p:strVal val="hidden"/>
                                      </p:to>
                                    </p:set>
                                  </p:childTnLst>
                                </p:cTn>
                              </p:par>
                              <p:par>
                                <p:cTn id="555" nodeType="withEffect" fill="hold" presetClass="exit" presetID="1">
                                  <p:stCondLst>
                                    <p:cond delay="1875"/>
                                  </p:stCondLst>
                                  <p:childTnLst>
                                    <p:set>
                                      <p:cBhvr>
                                        <p:cTn id="556" dur="1" fill="hold">
                                          <p:stCondLst>
                                            <p:cond delay="0"/>
                                          </p:stCondLst>
                                        </p:cTn>
                                        <p:tgtEl>
                                          <p:spTgt spid="534"/>
                                        </p:tgtEl>
                                        <p:attrNameLst>
                                          <p:attrName>style.visibility</p:attrName>
                                        </p:attrNameLst>
                                      </p:cBhvr>
                                      <p:to>
                                        <p:strVal val="hidden"/>
                                      </p:to>
                                    </p:set>
                                  </p:childTnLst>
                                </p:cTn>
                              </p:par>
                              <p:par>
                                <p:cTn id="557" nodeType="withEffect" fill="hold" presetClass="exit" presetID="1">
                                  <p:stCondLst>
                                    <p:cond delay="2012"/>
                                  </p:stCondLst>
                                  <p:childTnLst>
                                    <p:set>
                                      <p:cBhvr>
                                        <p:cTn id="558" dur="1" fill="hold">
                                          <p:stCondLst>
                                            <p:cond delay="0"/>
                                          </p:stCondLst>
                                        </p:cTn>
                                        <p:tgtEl>
                                          <p:spTgt spid="535"/>
                                        </p:tgtEl>
                                        <p:attrNameLst>
                                          <p:attrName>style.visibility</p:attrName>
                                        </p:attrNameLst>
                                      </p:cBhvr>
                                      <p:to>
                                        <p:strVal val="hidden"/>
                                      </p:to>
                                    </p:set>
                                  </p:childTnLst>
                                </p:cTn>
                              </p:par>
                              <p:par>
                                <p:cTn id="559" nodeType="withEffect" fill="hold" presetClass="exit" presetID="1">
                                  <p:stCondLst>
                                    <p:cond delay="2149"/>
                                  </p:stCondLst>
                                  <p:childTnLst>
                                    <p:set>
                                      <p:cBhvr>
                                        <p:cTn id="560" dur="1" fill="hold">
                                          <p:stCondLst>
                                            <p:cond delay="0"/>
                                          </p:stCondLst>
                                        </p:cTn>
                                        <p:tgtEl>
                                          <p:spTgt spid="536"/>
                                        </p:tgtEl>
                                        <p:attrNameLst>
                                          <p:attrName>style.visibility</p:attrName>
                                        </p:attrNameLst>
                                      </p:cBhvr>
                                      <p:to>
                                        <p:strVal val="hidden"/>
                                      </p:to>
                                    </p:set>
                                  </p:childTnLst>
                                </p:cTn>
                              </p:par>
                              <p:par>
                                <p:cTn id="561" nodeType="withEffect" fill="hold" presetClass="exit" presetID="1">
                                  <p:stCondLst>
                                    <p:cond delay="2286"/>
                                  </p:stCondLst>
                                  <p:childTnLst>
                                    <p:set>
                                      <p:cBhvr>
                                        <p:cTn id="562" dur="1" fill="hold">
                                          <p:stCondLst>
                                            <p:cond delay="0"/>
                                          </p:stCondLst>
                                        </p:cTn>
                                        <p:tgtEl>
                                          <p:spTgt spid="537"/>
                                        </p:tgtEl>
                                        <p:attrNameLst>
                                          <p:attrName>style.visibility</p:attrName>
                                        </p:attrNameLst>
                                      </p:cBhvr>
                                      <p:to>
                                        <p:strVal val="hidden"/>
                                      </p:to>
                                    </p:set>
                                  </p:childTnLst>
                                </p:cTn>
                              </p:par>
                              <p:par>
                                <p:cTn id="563" nodeType="withEffect" fill="hold" presetClass="exit" presetID="1">
                                  <p:stCondLst>
                                    <p:cond delay="2422"/>
                                  </p:stCondLst>
                                  <p:childTnLst>
                                    <p:set>
                                      <p:cBhvr>
                                        <p:cTn id="564" dur="1" fill="hold">
                                          <p:stCondLst>
                                            <p:cond delay="0"/>
                                          </p:stCondLst>
                                        </p:cTn>
                                        <p:tgtEl>
                                          <p:spTgt spid="538"/>
                                        </p:tgtEl>
                                        <p:attrNameLst>
                                          <p:attrName>style.visibility</p:attrName>
                                        </p:attrNameLst>
                                      </p:cBhvr>
                                      <p:to>
                                        <p:strVal val="hidden"/>
                                      </p:to>
                                    </p:set>
                                  </p:childTnLst>
                                </p:cTn>
                              </p:par>
                              <p:par>
                                <p:cTn id="565" nodeType="withEffect" fill="hold" presetClass="exit" presetID="1">
                                  <p:stCondLst>
                                    <p:cond delay="2559"/>
                                  </p:stCondLst>
                                  <p:childTnLst>
                                    <p:set>
                                      <p:cBhvr>
                                        <p:cTn id="566" dur="1" fill="hold">
                                          <p:stCondLst>
                                            <p:cond delay="0"/>
                                          </p:stCondLst>
                                        </p:cTn>
                                        <p:tgtEl>
                                          <p:spTgt spid="539"/>
                                        </p:tgtEl>
                                        <p:attrNameLst>
                                          <p:attrName>style.visibility</p:attrName>
                                        </p:attrNameLst>
                                      </p:cBhvr>
                                      <p:to>
                                        <p:strVal val="hidden"/>
                                      </p:to>
                                    </p:set>
                                  </p:childTnLst>
                                </p:cTn>
                              </p:par>
                              <p:par>
                                <p:cTn id="567" nodeType="withEffect" fill="hold" presetClass="exit" presetID="1">
                                  <p:stCondLst>
                                    <p:cond delay="2696"/>
                                  </p:stCondLst>
                                  <p:childTnLst>
                                    <p:set>
                                      <p:cBhvr>
                                        <p:cTn id="568" dur="1" fill="hold">
                                          <p:stCondLst>
                                            <p:cond delay="0"/>
                                          </p:stCondLst>
                                        </p:cTn>
                                        <p:tgtEl>
                                          <p:spTgt spid="540"/>
                                        </p:tgtEl>
                                        <p:attrNameLst>
                                          <p:attrName>style.visibility</p:attrName>
                                        </p:attrNameLst>
                                      </p:cBhvr>
                                      <p:to>
                                        <p:strVal val="hidden"/>
                                      </p:to>
                                    </p:set>
                                  </p:childTnLst>
                                </p:cTn>
                              </p:par>
                              <p:par>
                                <p:cTn id="569" nodeType="withEffect" fill="hold" presetClass="exit" presetID="1">
                                  <p:stCondLst>
                                    <p:cond delay="2833"/>
                                  </p:stCondLst>
                                  <p:childTnLst>
                                    <p:set>
                                      <p:cBhvr>
                                        <p:cTn id="570" dur="1" fill="hold">
                                          <p:stCondLst>
                                            <p:cond delay="0"/>
                                          </p:stCondLst>
                                        </p:cTn>
                                        <p:tgtEl>
                                          <p:spTgt spid="541"/>
                                        </p:tgtEl>
                                        <p:attrNameLst>
                                          <p:attrName>style.visibility</p:attrName>
                                        </p:attrNameLst>
                                      </p:cBhvr>
                                      <p:to>
                                        <p:strVal val="hidden"/>
                                      </p:to>
                                    </p:set>
                                  </p:childTnLst>
                                </p:cTn>
                              </p:par>
                              <p:par>
                                <p:cTn id="571" nodeType="withEffect" fill="hold" presetClass="exit" presetID="1">
                                  <p:stCondLst>
                                    <p:cond delay="2970"/>
                                  </p:stCondLst>
                                  <p:childTnLst>
                                    <p:set>
                                      <p:cBhvr>
                                        <p:cTn id="572" dur="1" fill="hold">
                                          <p:stCondLst>
                                            <p:cond delay="0"/>
                                          </p:stCondLst>
                                        </p:cTn>
                                        <p:tgtEl>
                                          <p:spTgt spid="542"/>
                                        </p:tgtEl>
                                        <p:attrNameLst>
                                          <p:attrName>style.visibility</p:attrName>
                                        </p:attrNameLst>
                                      </p:cBhvr>
                                      <p:to>
                                        <p:strVal val="hidden"/>
                                      </p:to>
                                    </p:set>
                                  </p:childTnLst>
                                </p:cTn>
                              </p:par>
                              <p:par>
                                <p:cTn id="573" nodeType="withEffect" fill="hold" presetClass="exit" presetID="1">
                                  <p:stCondLst>
                                    <p:cond delay="3107"/>
                                  </p:stCondLst>
                                  <p:childTnLst>
                                    <p:set>
                                      <p:cBhvr>
                                        <p:cTn id="574" dur="1" fill="hold">
                                          <p:stCondLst>
                                            <p:cond delay="0"/>
                                          </p:stCondLst>
                                        </p:cTn>
                                        <p:tgtEl>
                                          <p:spTgt spid="543"/>
                                        </p:tgtEl>
                                        <p:attrNameLst>
                                          <p:attrName>style.visibility</p:attrName>
                                        </p:attrNameLst>
                                      </p:cBhvr>
                                      <p:to>
                                        <p:strVal val="hidden"/>
                                      </p:to>
                                    </p:set>
                                  </p:childTnLst>
                                </p:cTn>
                              </p:par>
                              <p:par>
                                <p:cTn id="575" nodeType="withEffect" fill="hold" presetClass="exit" presetID="1">
                                  <p:stCondLst>
                                    <p:cond delay="3243"/>
                                  </p:stCondLst>
                                  <p:childTnLst>
                                    <p:set>
                                      <p:cBhvr>
                                        <p:cTn id="576" dur="1" fill="hold">
                                          <p:stCondLst>
                                            <p:cond delay="0"/>
                                          </p:stCondLst>
                                        </p:cTn>
                                        <p:tgtEl>
                                          <p:spTgt spid="544"/>
                                        </p:tgtEl>
                                        <p:attrNameLst>
                                          <p:attrName>style.visibility</p:attrName>
                                        </p:attrNameLst>
                                      </p:cBhvr>
                                      <p:to>
                                        <p:strVal val="hidden"/>
                                      </p:to>
                                    </p:set>
                                  </p:childTnLst>
                                </p:cTn>
                              </p:par>
                              <p:par>
                                <p:cTn id="577" nodeType="withEffect" fill="hold" presetClass="exit" presetID="1">
                                  <p:stCondLst>
                                    <p:cond delay="3380"/>
                                  </p:stCondLst>
                                  <p:childTnLst>
                                    <p:set>
                                      <p:cBhvr>
                                        <p:cTn id="578" dur="1" fill="hold">
                                          <p:stCondLst>
                                            <p:cond delay="0"/>
                                          </p:stCondLst>
                                        </p:cTn>
                                        <p:tgtEl>
                                          <p:spTgt spid="545"/>
                                        </p:tgtEl>
                                        <p:attrNameLst>
                                          <p:attrName>style.visibility</p:attrName>
                                        </p:attrNameLst>
                                      </p:cBhvr>
                                      <p:to>
                                        <p:strVal val="hidden"/>
                                      </p:to>
                                    </p:set>
                                  </p:childTnLst>
                                </p:cTn>
                              </p:par>
                              <p:par>
                                <p:cTn id="579" nodeType="withEffect" fill="hold" presetClass="path">
                                  <p:stCondLst>
                                    <p:cond delay="900"/>
                                  </p:stCondLst>
                                  <p:childTnLst>
                                    <p:animMotion origin="layout" path="M 0 0 L 0.57001 0 E">
                                      <p:cBhvr>
                                        <p:cTn id="580" dur="2600" fill="hold"/>
                                        <p:tgtEl>
                                          <p:spTgt spid="546"/>
                                        </p:tgtEl>
                                        <p:attrNameLst>
                                          <p:attrName>ppt_x</p:attrName>
                                          <p:attrName>ppt_y</p:attrName>
                                        </p:attrNameLst>
                                      </p:cBhvr>
                                    </p:animMotion>
                                  </p:childTnLst>
                                </p:cTn>
                              </p:par>
                              <p:par>
                                <p:cTn id="581" nodeType="withEffect" fill="hold" presetClass="path">
                                  <p:stCondLst>
                                    <p:cond delay="900"/>
                                  </p:stCondLst>
                                  <p:childTnLst>
                                    <p:animMotion origin="layout" path="M 0 0 L 0.57001 0 E">
                                      <p:cBhvr>
                                        <p:cTn id="582" dur="2600" fill="hold"/>
                                        <p:tgtEl>
                                          <p:spTgt spid="547"/>
                                        </p:tgtEl>
                                        <p:attrNameLst>
                                          <p:attrName>ppt_x</p:attrName>
                                          <p:attrName>ppt_y</p:attrName>
                                        </p:attrNameLst>
                                      </p:cBhvr>
                                    </p:animMotion>
                                  </p:childTnLst>
                                </p:cTn>
                              </p:par>
                              <p:par>
                                <p:cTn id="583" nodeType="withEffect" fill="hold" presetClass="path">
                                  <p:stCondLst>
                                    <p:cond delay="900"/>
                                  </p:stCondLst>
                                  <p:childTnLst>
                                    <p:animMotion origin="layout" path="M 0 0 L 0.57001 0 E">
                                      <p:cBhvr>
                                        <p:cTn id="584" dur="2600" fill="hold"/>
                                        <p:tgtEl>
                                          <p:spTgt spid="548"/>
                                        </p:tgtEl>
                                        <p:attrNameLst>
                                          <p:attrName>ppt_x</p:attrName>
                                          <p:attrName>ppt_y</p:attrName>
                                        </p:attrNameLst>
                                      </p:cBhvr>
                                    </p:animMotion>
                                  </p:childTnLst>
                                </p:cTn>
                              </p:par>
                              <p:par>
                                <p:cTn id="585" nodeType="withEffect" fill="hold" presetClass="path">
                                  <p:stCondLst>
                                    <p:cond delay="900"/>
                                  </p:stCondLst>
                                  <p:childTnLst>
                                    <p:animMotion origin="layout" path="M 0 0 L 0.57001 0 E">
                                      <p:cBhvr>
                                        <p:cTn id="586" dur="2600" fill="hold"/>
                                        <p:tgtEl>
                                          <p:spTgt spid="549"/>
                                        </p:tgtEl>
                                        <p:attrNameLst>
                                          <p:attrName>ppt_x</p:attrName>
                                          <p:attrName>ppt_y</p:attrName>
                                        </p:attrNameLst>
                                      </p:cBhvr>
                                    </p:animMotion>
                                  </p:childTnLst>
                                </p:cTn>
                              </p:par>
                              <p:par>
                                <p:cTn id="587" nodeType="withEffect" fill="hold" presetClass="path">
                                  <p:stCondLst>
                                    <p:cond delay="900"/>
                                  </p:stCondLst>
                                  <p:childTnLst>
                                    <p:animMotion origin="layout" path="M 0 0 L 0.57001 0 E">
                                      <p:cBhvr>
                                        <p:cTn id="588" dur="2600" fill="hold"/>
                                        <p:tgtEl>
                                          <p:spTgt spid="550"/>
                                        </p:tgtEl>
                                        <p:attrNameLst>
                                          <p:attrName>ppt_x</p:attrName>
                                          <p:attrName>ppt_y</p:attrName>
                                        </p:attrNameLst>
                                      </p:cBhvr>
                                    </p:animMotion>
                                  </p:childTnLst>
                                </p:cTn>
                              </p:par>
                              <p:par>
                                <p:cTn id="589" nodeType="withEffect" fill="hold" presetClass="exit" presetID="1">
                                  <p:stCondLst>
                                    <p:cond delay="900"/>
                                  </p:stCondLst>
                                  <p:childTnLst>
                                    <p:set>
                                      <p:cBhvr>
                                        <p:cTn id="590" dur="1" fill="hold">
                                          <p:stCondLst>
                                            <p:cond delay="0"/>
                                          </p:stCondLst>
                                        </p:cTn>
                                        <p:tgtEl>
                                          <p:spTgt spid="55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93" name="o1" descr="LEVEL 3 → NETTOYAGE"/>
          <p:cNvPicPr/>
          <p:nvPr/>
        </p:nvPicPr>
        <p:blipFill>
          <a:blip r:embed="rId1"/>
          <a:stretch/>
        </p:blipFill>
        <p:spPr>
          <a:xfrm>
            <a:off x="548640" y="411480"/>
            <a:ext cx="2779560" cy="145800"/>
          </a:xfrm>
          <a:prstGeom prst="rect">
            <a:avLst/>
          </a:prstGeom>
          <a:ln w="0">
            <a:noFill/>
          </a:ln>
        </p:spPr>
      </p:pic>
      <p:pic>
        <p:nvPicPr>
          <p:cNvPr id="594" name="o2" descr="4 fantômes cachés dans les données"/>
          <p:cNvPicPr/>
          <p:nvPr/>
        </p:nvPicPr>
        <p:blipFill>
          <a:blip r:embed="rId2"/>
          <a:stretch/>
        </p:blipFill>
        <p:spPr>
          <a:xfrm>
            <a:off x="548640" y="777240"/>
            <a:ext cx="9326520" cy="273960"/>
          </a:xfrm>
          <a:prstGeom prst="rect">
            <a:avLst/>
          </a:prstGeom>
          <a:ln w="0">
            <a:noFill/>
          </a:ln>
        </p:spPr>
      </p:pic>
      <p:pic>
        <p:nvPicPr>
          <p:cNvPr id="595" name="o3" descr="orange"/>
          <p:cNvPicPr/>
          <p:nvPr/>
        </p:nvPicPr>
        <p:blipFill>
          <a:blip r:embed="rId3"/>
          <a:stretch/>
        </p:blipFill>
        <p:spPr>
          <a:xfrm>
            <a:off x="11073240" y="365760"/>
            <a:ext cx="566640" cy="566640"/>
          </a:xfrm>
          <a:prstGeom prst="rect">
            <a:avLst/>
          </a:prstGeom>
          <a:ln w="0">
            <a:noFill/>
          </a:ln>
        </p:spPr>
      </p:pic>
      <p:pic>
        <p:nvPicPr>
          <p:cNvPr id="596" name="o31" descr="super pac-gomme"/>
          <p:cNvPicPr/>
          <p:nvPr/>
        </p:nvPicPr>
        <p:blipFill>
          <a:blip r:embed="rId4"/>
          <a:stretch/>
        </p:blipFill>
        <p:spPr>
          <a:xfrm>
            <a:off x="11448360" y="6355080"/>
            <a:ext cx="182520" cy="182520"/>
          </a:xfrm>
          <a:prstGeom prst="rect">
            <a:avLst/>
          </a:prstGeom>
          <a:ln w="0">
            <a:noFill/>
          </a:ln>
        </p:spPr>
      </p:pic>
      <p:sp>
        <p:nvSpPr>
          <p:cNvPr id="597" name="o34"/>
          <p:cNvSpPr/>
          <p:nvPr/>
        </p:nvSpPr>
        <p:spPr>
          <a:xfrm>
            <a:off x="548640" y="1645920"/>
            <a:ext cx="3337200" cy="1919880"/>
          </a:xfrm>
          <a:prstGeom prst="roundRect">
            <a:avLst>
              <a:gd name="adj" fmla="val 6667"/>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8" name="o35"/>
          <p:cNvSpPr/>
          <p:nvPr/>
        </p:nvSpPr>
        <p:spPr>
          <a:xfrm>
            <a:off x="617400" y="1714680"/>
            <a:ext cx="3200040" cy="1782720"/>
          </a:xfrm>
          <a:prstGeom prst="roundRect">
            <a:avLst>
              <a:gd name="adj" fmla="val 3333"/>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599" name="o36" descr="fantôme"/>
          <p:cNvPicPr/>
          <p:nvPr/>
        </p:nvPicPr>
        <p:blipFill>
          <a:blip r:embed="rId5"/>
          <a:stretch/>
        </p:blipFill>
        <p:spPr>
          <a:xfrm>
            <a:off x="804600" y="1901880"/>
            <a:ext cx="548280" cy="548280"/>
          </a:xfrm>
          <a:prstGeom prst="rect">
            <a:avLst/>
          </a:prstGeom>
          <a:ln w="0">
            <a:noFill/>
          </a:ln>
        </p:spPr>
      </p:pic>
      <p:pic>
        <p:nvPicPr>
          <p:cNvPr id="600" name="o37" descr="fantôme mangé"/>
          <p:cNvPicPr/>
          <p:nvPr/>
        </p:nvPicPr>
        <p:blipFill>
          <a:blip r:embed="rId6"/>
          <a:stretch/>
        </p:blipFill>
        <p:spPr>
          <a:xfrm>
            <a:off x="804600" y="1901880"/>
            <a:ext cx="548280" cy="548280"/>
          </a:xfrm>
          <a:prstGeom prst="rect">
            <a:avLst/>
          </a:prstGeom>
          <a:ln w="0">
            <a:noFill/>
          </a:ln>
        </p:spPr>
      </p:pic>
      <p:pic>
        <p:nvPicPr>
          <p:cNvPr id="601" name="o38" descr="271"/>
          <p:cNvPicPr/>
          <p:nvPr/>
        </p:nvPicPr>
        <p:blipFill>
          <a:blip r:embed="rId7"/>
          <a:stretch/>
        </p:blipFill>
        <p:spPr>
          <a:xfrm>
            <a:off x="1554480" y="1920240"/>
            <a:ext cx="822600" cy="273960"/>
          </a:xfrm>
          <a:prstGeom prst="rect">
            <a:avLst/>
          </a:prstGeom>
          <a:ln w="0">
            <a:noFill/>
          </a:ln>
        </p:spPr>
      </p:pic>
      <p:sp>
        <p:nvSpPr>
          <p:cNvPr id="602" name="o39"/>
          <p:cNvSpPr/>
          <p:nvPr/>
        </p:nvSpPr>
        <p:spPr>
          <a:xfrm>
            <a:off x="1554480" y="2267640"/>
            <a:ext cx="223992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ffffff"/>
                </a:solidFill>
                <a:latin typeface="Arial"/>
                <a:ea typeface="Arial"/>
              </a:rPr>
              <a:t>années manquantes</a:t>
            </a:r>
            <a:endParaRPr b="0" lang="en-US" sz="1400" spc="-1" strike="noStrike">
              <a:solidFill>
                <a:srgbClr val="ffffff"/>
              </a:solidFill>
              <a:latin typeface="Arial"/>
            </a:endParaRPr>
          </a:p>
        </p:txBody>
      </p:sp>
      <p:sp>
        <p:nvSpPr>
          <p:cNvPr id="603" name="o40"/>
          <p:cNvSpPr/>
          <p:nvPr/>
        </p:nvSpPr>
        <p:spPr>
          <a:xfrm>
            <a:off x="804600" y="2697480"/>
            <a:ext cx="2880000" cy="712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118 retrouvées grâce à une fiche jumelle, 153 supprimées</a:t>
            </a:r>
            <a:endParaRPr b="0" lang="en-US" sz="1400" spc="-1" strike="noStrike">
              <a:solidFill>
                <a:srgbClr val="ffffff"/>
              </a:solidFill>
              <a:latin typeface="Arial"/>
            </a:endParaRPr>
          </a:p>
        </p:txBody>
      </p:sp>
      <p:sp>
        <p:nvSpPr>
          <p:cNvPr id="604" name="o41"/>
          <p:cNvSpPr/>
          <p:nvPr/>
        </p:nvSpPr>
        <p:spPr>
          <a:xfrm>
            <a:off x="4114800" y="1645920"/>
            <a:ext cx="3337200" cy="1919880"/>
          </a:xfrm>
          <a:prstGeom prst="roundRect">
            <a:avLst>
              <a:gd name="adj" fmla="val 6667"/>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5" name="o42"/>
          <p:cNvSpPr/>
          <p:nvPr/>
        </p:nvSpPr>
        <p:spPr>
          <a:xfrm>
            <a:off x="4183560" y="1714680"/>
            <a:ext cx="3200040" cy="1782720"/>
          </a:xfrm>
          <a:prstGeom prst="roundRect">
            <a:avLst>
              <a:gd name="adj" fmla="val 3333"/>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606" name="o43" descr="fantôme"/>
          <p:cNvPicPr/>
          <p:nvPr/>
        </p:nvPicPr>
        <p:blipFill>
          <a:blip r:embed="rId8"/>
          <a:stretch/>
        </p:blipFill>
        <p:spPr>
          <a:xfrm>
            <a:off x="4370760" y="1901880"/>
            <a:ext cx="548280" cy="548280"/>
          </a:xfrm>
          <a:prstGeom prst="rect">
            <a:avLst/>
          </a:prstGeom>
          <a:ln w="0">
            <a:noFill/>
          </a:ln>
        </p:spPr>
      </p:pic>
      <p:pic>
        <p:nvPicPr>
          <p:cNvPr id="607" name="o44" descr="fantôme mangé"/>
          <p:cNvPicPr/>
          <p:nvPr/>
        </p:nvPicPr>
        <p:blipFill>
          <a:blip r:embed="rId9"/>
          <a:stretch/>
        </p:blipFill>
        <p:spPr>
          <a:xfrm>
            <a:off x="4370760" y="1901880"/>
            <a:ext cx="548280" cy="548280"/>
          </a:xfrm>
          <a:prstGeom prst="rect">
            <a:avLst/>
          </a:prstGeom>
          <a:ln w="0">
            <a:noFill/>
          </a:ln>
        </p:spPr>
      </p:pic>
      <p:pic>
        <p:nvPicPr>
          <p:cNvPr id="608" name="o45" descr="149"/>
          <p:cNvPicPr/>
          <p:nvPr/>
        </p:nvPicPr>
        <p:blipFill>
          <a:blip r:embed="rId10"/>
          <a:stretch/>
        </p:blipFill>
        <p:spPr>
          <a:xfrm>
            <a:off x="5120640" y="1920240"/>
            <a:ext cx="822600" cy="273960"/>
          </a:xfrm>
          <a:prstGeom prst="rect">
            <a:avLst/>
          </a:prstGeom>
          <a:ln w="0">
            <a:noFill/>
          </a:ln>
        </p:spPr>
      </p:pic>
      <p:sp>
        <p:nvSpPr>
          <p:cNvPr id="609" name="o46"/>
          <p:cNvSpPr/>
          <p:nvPr/>
        </p:nvSpPr>
        <p:spPr>
          <a:xfrm>
            <a:off x="5120640" y="2267640"/>
            <a:ext cx="223992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ffffff"/>
                </a:solidFill>
                <a:latin typeface="Arial"/>
                <a:ea typeface="Arial"/>
              </a:rPr>
              <a:t>fiches « (JP sales) »</a:t>
            </a:r>
            <a:endParaRPr b="0" lang="en-US" sz="1400" spc="-1" strike="noStrike">
              <a:solidFill>
                <a:srgbClr val="ffffff"/>
              </a:solidFill>
              <a:latin typeface="Arial"/>
            </a:endParaRPr>
          </a:p>
        </p:txBody>
      </p:sp>
      <p:sp>
        <p:nvSpPr>
          <p:cNvPr id="610" name="o47"/>
          <p:cNvSpPr/>
          <p:nvPr/>
        </p:nvSpPr>
        <p:spPr>
          <a:xfrm>
            <a:off x="4370760" y="2697480"/>
            <a:ext cx="2880000" cy="712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fusionnées : maximum par région, sans double comptage</a:t>
            </a:r>
            <a:endParaRPr b="0" lang="en-US" sz="1400" spc="-1" strike="noStrike">
              <a:solidFill>
                <a:srgbClr val="ffffff"/>
              </a:solidFill>
              <a:latin typeface="Arial"/>
            </a:endParaRPr>
          </a:p>
        </p:txBody>
      </p:sp>
      <p:sp>
        <p:nvSpPr>
          <p:cNvPr id="611" name="o48"/>
          <p:cNvSpPr/>
          <p:nvPr/>
        </p:nvSpPr>
        <p:spPr>
          <a:xfrm>
            <a:off x="548640" y="3794760"/>
            <a:ext cx="3337200" cy="1919880"/>
          </a:xfrm>
          <a:prstGeom prst="roundRect">
            <a:avLst>
              <a:gd name="adj" fmla="val 6667"/>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2" name="o49"/>
          <p:cNvSpPr/>
          <p:nvPr/>
        </p:nvSpPr>
        <p:spPr>
          <a:xfrm>
            <a:off x="617400" y="3863520"/>
            <a:ext cx="3200040" cy="1782720"/>
          </a:xfrm>
          <a:prstGeom prst="roundRect">
            <a:avLst>
              <a:gd name="adj" fmla="val 3333"/>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613" name="o50" descr="fantôme"/>
          <p:cNvPicPr/>
          <p:nvPr/>
        </p:nvPicPr>
        <p:blipFill>
          <a:blip r:embed="rId11"/>
          <a:stretch/>
        </p:blipFill>
        <p:spPr>
          <a:xfrm>
            <a:off x="804600" y="4050720"/>
            <a:ext cx="548280" cy="548280"/>
          </a:xfrm>
          <a:prstGeom prst="rect">
            <a:avLst/>
          </a:prstGeom>
          <a:ln w="0">
            <a:noFill/>
          </a:ln>
        </p:spPr>
      </p:pic>
      <p:pic>
        <p:nvPicPr>
          <p:cNvPr id="614" name="o51" descr="fantôme mangé"/>
          <p:cNvPicPr/>
          <p:nvPr/>
        </p:nvPicPr>
        <p:blipFill>
          <a:blip r:embed="rId12"/>
          <a:stretch/>
        </p:blipFill>
        <p:spPr>
          <a:xfrm>
            <a:off x="804600" y="4050720"/>
            <a:ext cx="548280" cy="548280"/>
          </a:xfrm>
          <a:prstGeom prst="rect">
            <a:avLst/>
          </a:prstGeom>
          <a:ln w="0">
            <a:noFill/>
          </a:ln>
        </p:spPr>
      </p:pic>
      <p:pic>
        <p:nvPicPr>
          <p:cNvPr id="615" name="o52" descr="10"/>
          <p:cNvPicPr/>
          <p:nvPr/>
        </p:nvPicPr>
        <p:blipFill>
          <a:blip r:embed="rId13"/>
          <a:stretch/>
        </p:blipFill>
        <p:spPr>
          <a:xfrm>
            <a:off x="1554480" y="4069080"/>
            <a:ext cx="548280" cy="273960"/>
          </a:xfrm>
          <a:prstGeom prst="rect">
            <a:avLst/>
          </a:prstGeom>
          <a:ln w="0">
            <a:noFill/>
          </a:ln>
        </p:spPr>
      </p:pic>
      <p:sp>
        <p:nvSpPr>
          <p:cNvPr id="616" name="o53"/>
          <p:cNvSpPr/>
          <p:nvPr/>
        </p:nvSpPr>
        <p:spPr>
          <a:xfrm>
            <a:off x="1554480" y="4416480"/>
            <a:ext cx="223992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ffffff"/>
                </a:solidFill>
                <a:latin typeface="Arial"/>
                <a:ea typeface="Arial"/>
              </a:rPr>
              <a:t>dates impossibles</a:t>
            </a:r>
            <a:endParaRPr b="0" lang="en-US" sz="1400" spc="-1" strike="noStrike">
              <a:solidFill>
                <a:srgbClr val="ffffff"/>
              </a:solidFill>
              <a:latin typeface="Arial"/>
            </a:endParaRPr>
          </a:p>
        </p:txBody>
      </p:sp>
      <p:sp>
        <p:nvSpPr>
          <p:cNvPr id="617" name="o54"/>
          <p:cNvSpPr/>
          <p:nvPr/>
        </p:nvSpPr>
        <p:spPr>
          <a:xfrm>
            <a:off x="804600" y="4846320"/>
            <a:ext cx="2880000" cy="712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ex. un jeu DS daté de 1985 : 5 corrigées, 5 supprimées</a:t>
            </a:r>
            <a:endParaRPr b="0" lang="en-US" sz="1400" spc="-1" strike="noStrike">
              <a:solidFill>
                <a:srgbClr val="ffffff"/>
              </a:solidFill>
              <a:latin typeface="Arial"/>
            </a:endParaRPr>
          </a:p>
        </p:txBody>
      </p:sp>
      <p:sp>
        <p:nvSpPr>
          <p:cNvPr id="618" name="o55"/>
          <p:cNvSpPr/>
          <p:nvPr/>
        </p:nvSpPr>
        <p:spPr>
          <a:xfrm>
            <a:off x="4114800" y="3794760"/>
            <a:ext cx="3337200" cy="1919880"/>
          </a:xfrm>
          <a:prstGeom prst="roundRect">
            <a:avLst>
              <a:gd name="adj" fmla="val 6667"/>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9" name="o56"/>
          <p:cNvSpPr/>
          <p:nvPr/>
        </p:nvSpPr>
        <p:spPr>
          <a:xfrm>
            <a:off x="4183560" y="3863520"/>
            <a:ext cx="3200040" cy="1782720"/>
          </a:xfrm>
          <a:prstGeom prst="roundRect">
            <a:avLst>
              <a:gd name="adj" fmla="val 3333"/>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620" name="o57" descr="fantôme"/>
          <p:cNvPicPr/>
          <p:nvPr/>
        </p:nvPicPr>
        <p:blipFill>
          <a:blip r:embed="rId14"/>
          <a:stretch/>
        </p:blipFill>
        <p:spPr>
          <a:xfrm>
            <a:off x="4370760" y="4050720"/>
            <a:ext cx="548280" cy="548280"/>
          </a:xfrm>
          <a:prstGeom prst="rect">
            <a:avLst/>
          </a:prstGeom>
          <a:ln w="0">
            <a:noFill/>
          </a:ln>
        </p:spPr>
      </p:pic>
      <p:pic>
        <p:nvPicPr>
          <p:cNvPr id="621" name="o58" descr="fantôme mangé"/>
          <p:cNvPicPr/>
          <p:nvPr/>
        </p:nvPicPr>
        <p:blipFill>
          <a:blip r:embed="rId15"/>
          <a:stretch/>
        </p:blipFill>
        <p:spPr>
          <a:xfrm>
            <a:off x="4370760" y="4050720"/>
            <a:ext cx="548280" cy="548280"/>
          </a:xfrm>
          <a:prstGeom prst="rect">
            <a:avLst/>
          </a:prstGeom>
          <a:ln w="0">
            <a:noFill/>
          </a:ln>
        </p:spPr>
      </p:pic>
      <p:pic>
        <p:nvPicPr>
          <p:cNvPr id="622" name="o59" descr="261"/>
          <p:cNvPicPr/>
          <p:nvPr/>
        </p:nvPicPr>
        <p:blipFill>
          <a:blip r:embed="rId16"/>
          <a:stretch/>
        </p:blipFill>
        <p:spPr>
          <a:xfrm>
            <a:off x="5120640" y="4069080"/>
            <a:ext cx="822600" cy="273960"/>
          </a:xfrm>
          <a:prstGeom prst="rect">
            <a:avLst/>
          </a:prstGeom>
          <a:ln w="0">
            <a:noFill/>
          </a:ln>
        </p:spPr>
      </p:pic>
      <p:sp>
        <p:nvSpPr>
          <p:cNvPr id="623" name="o60"/>
          <p:cNvSpPr/>
          <p:nvPr/>
        </p:nvSpPr>
        <p:spPr>
          <a:xfrm>
            <a:off x="5120640" y="4416480"/>
            <a:ext cx="223992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ffffff"/>
                </a:solidFill>
                <a:latin typeface="Arial"/>
                <a:ea typeface="Arial"/>
              </a:rPr>
              <a:t>éditeurs inconnus</a:t>
            </a:r>
            <a:endParaRPr b="0" lang="en-US" sz="1400" spc="-1" strike="noStrike">
              <a:solidFill>
                <a:srgbClr val="ffffff"/>
              </a:solidFill>
              <a:latin typeface="Arial"/>
            </a:endParaRPr>
          </a:p>
        </p:txBody>
      </p:sp>
      <p:sp>
        <p:nvSpPr>
          <p:cNvPr id="624" name="o61"/>
          <p:cNvSpPr/>
          <p:nvPr/>
        </p:nvSpPr>
        <p:spPr>
          <a:xfrm>
            <a:off x="4370760" y="4846320"/>
            <a:ext cx="2880000" cy="712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58 vides + 203 « Unknown », regroupés en une seule catégorie</a:t>
            </a:r>
            <a:endParaRPr b="0" lang="en-US" sz="1400" spc="-1" strike="noStrike">
              <a:solidFill>
                <a:srgbClr val="ffffff"/>
              </a:solidFill>
              <a:latin typeface="Arial"/>
            </a:endParaRPr>
          </a:p>
        </p:txBody>
      </p:sp>
      <p:pic>
        <p:nvPicPr>
          <p:cNvPr id="625" name="o62" descr="Pac-Man"/>
          <p:cNvPicPr/>
          <p:nvPr/>
        </p:nvPicPr>
        <p:blipFill>
          <a:blip r:embed="rId17"/>
          <a:stretch/>
        </p:blipFill>
        <p:spPr>
          <a:xfrm>
            <a:off x="9089280" y="1691640"/>
            <a:ext cx="1279800" cy="1279800"/>
          </a:xfrm>
          <a:prstGeom prst="rect">
            <a:avLst/>
          </a:prstGeom>
          <a:ln w="0">
            <a:noFill/>
          </a:ln>
        </p:spPr>
      </p:pic>
      <p:pic>
        <p:nvPicPr>
          <p:cNvPr id="626" name="o63" descr="99,3%"/>
          <p:cNvPicPr/>
          <p:nvPr/>
        </p:nvPicPr>
        <p:blipFill>
          <a:blip r:embed="rId18"/>
          <a:stretch/>
        </p:blipFill>
        <p:spPr>
          <a:xfrm>
            <a:off x="8723520" y="3246120"/>
            <a:ext cx="2011320" cy="402120"/>
          </a:xfrm>
          <a:prstGeom prst="rect">
            <a:avLst/>
          </a:prstGeom>
          <a:ln w="0">
            <a:noFill/>
          </a:ln>
        </p:spPr>
      </p:pic>
      <p:sp>
        <p:nvSpPr>
          <p:cNvPr id="627" name="o64"/>
          <p:cNvSpPr/>
          <p:nvPr/>
        </p:nvSpPr>
        <p:spPr>
          <a:xfrm>
            <a:off x="7818120" y="3794760"/>
            <a:ext cx="3821760" cy="3196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500" spc="-1" strike="noStrike">
                <a:solidFill>
                  <a:srgbClr val="c4c4e4"/>
                </a:solidFill>
                <a:latin typeface="Arial"/>
                <a:ea typeface="Arial"/>
              </a:rPr>
              <a:t>des ventes conservées</a:t>
            </a:r>
            <a:endParaRPr b="0" lang="en-US" sz="1500" spc="-1" strike="noStrike">
              <a:solidFill>
                <a:srgbClr val="ffffff"/>
              </a:solidFill>
              <a:latin typeface="Arial"/>
            </a:endParaRPr>
          </a:p>
        </p:txBody>
      </p:sp>
      <p:sp>
        <p:nvSpPr>
          <p:cNvPr id="628" name="o65"/>
          <p:cNvSpPr/>
          <p:nvPr/>
        </p:nvSpPr>
        <p:spPr>
          <a:xfrm>
            <a:off x="7818120" y="4297680"/>
            <a:ext cx="3821760" cy="3654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800" spc="-1" strike="noStrike">
                <a:solidFill>
                  <a:srgbClr val="ffffff"/>
                </a:solidFill>
                <a:latin typeface="Arial"/>
                <a:ea typeface="Arial"/>
              </a:rPr>
              <a:t>16 598 → 16 326 jeux</a:t>
            </a:r>
            <a:endParaRPr b="0" lang="en-US" sz="1800" spc="-1" strike="noStrike">
              <a:solidFill>
                <a:srgbClr val="ffffff"/>
              </a:solidFill>
              <a:latin typeface="Arial"/>
            </a:endParaRPr>
          </a:p>
        </p:txBody>
      </p:sp>
      <p:sp>
        <p:nvSpPr>
          <p:cNvPr id="629" name="o66"/>
          <p:cNvSpPr/>
          <p:nvPr/>
        </p:nvSpPr>
        <p:spPr>
          <a:xfrm>
            <a:off x="7818120" y="4663440"/>
            <a:ext cx="3821760" cy="273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pc="-1" strike="noStrike">
                <a:solidFill>
                  <a:srgbClr val="c4c4e4"/>
                </a:solidFill>
                <a:latin typeface="Arial"/>
                <a:ea typeface="Arial"/>
              </a:rPr>
              <a:t>11 239 titres uniques · 114 fiches fusionnées</a:t>
            </a:r>
            <a:endParaRPr b="0" lang="en-US" sz="1200" spc="-1" strike="noStrike">
              <a:solidFill>
                <a:srgbClr val="ffffff"/>
              </a:solidFill>
              <a:latin typeface="Arial"/>
            </a:endParaRPr>
          </a:p>
        </p:txBody>
      </p:sp>
      <p:sp>
        <p:nvSpPr>
          <p:cNvPr id="630" name="o67"/>
          <p:cNvSpPr/>
          <p:nvPr/>
        </p:nvSpPr>
        <p:spPr>
          <a:xfrm>
            <a:off x="7818120" y="5257800"/>
            <a:ext cx="3821760" cy="273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i="1" lang="en-US" sz="1300" spc="-1" strike="noStrike">
                <a:solidFill>
                  <a:srgbClr val="7c7caa"/>
                </a:solidFill>
                <a:latin typeface="Arial"/>
                <a:ea typeface="Arial"/>
              </a:rPr>
              <a:t>Chaque bug corrigé = un fantôme mangé</a:t>
            </a:r>
            <a:endParaRPr b="0" lang="en-US" sz="1300" spc="-1" strike="noStrike">
              <a:solidFill>
                <a:srgbClr val="ffffff"/>
              </a:solidFill>
              <a:latin typeface="Arial"/>
            </a:endParaRPr>
          </a:p>
        </p:txBody>
      </p:sp>
      <p:pic>
        <p:nvPicPr>
          <p:cNvPr id="631" name="barre_fantome" descr="image.gif"/>
          <p:cNvPicPr/>
          <p:nvPr/>
        </p:nvPicPr>
        <p:blipFill>
          <a:blip r:embed="rId19"/>
          <a:stretch/>
        </p:blipFill>
        <p:spPr>
          <a:xfrm>
            <a:off x="2040552" y="6291000"/>
            <a:ext cx="310680" cy="310680"/>
          </a:xfrm>
          <a:prstGeom prst="rect">
            <a:avLst/>
          </a:prstGeom>
          <a:ln w="0">
            <a:noFill/>
          </a:ln>
        </p:spPr>
      </p:pic>
      <p:sp>
        <p:nvSpPr>
          <p:cNvPr id="633" name="barre_pastille"/>
          <p:cNvSpPr/>
          <p:nvPr/>
        </p:nvSpPr>
        <p:spPr>
          <a:xfrm>
            <a:off x="2971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33" name="barre_pastille"/>
          <p:cNvSpPr/>
          <p:nvPr/>
        </p:nvSpPr>
        <p:spPr>
          <a:xfrm>
            <a:off x="3200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34" name="barre_pastille"/>
          <p:cNvSpPr/>
          <p:nvPr/>
        </p:nvSpPr>
        <p:spPr>
          <a:xfrm>
            <a:off x="3429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35"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36"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37"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38"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39"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0"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1"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2"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3"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4"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5"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6"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7"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8"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49"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0"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1"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2"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3"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4"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5"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6"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7"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8"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59"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60"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61"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62"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63"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64"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65"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66"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67"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668"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632" name="barre_pacman" descr="image.gif"/>
          <p:cNvPicPr/>
          <p:nvPr/>
        </p:nvPicPr>
        <p:blipFill>
          <a:blip r:embed="rId20"/>
          <a:stretch/>
        </p:blipFill>
        <p:spPr>
          <a:xfrm>
            <a:off x="2607552" y="6291000"/>
            <a:ext cx="310680" cy="310680"/>
          </a:xfrm>
          <a:prstGeom prst="rect">
            <a:avLst/>
          </a:prstGeom>
          <a:ln w="0">
            <a:noFill/>
          </a:ln>
        </p:spPr>
      </p:pic>
      <p:sp>
        <p:nvSpPr>
          <p:cNvPr id="669" name="orateur" descr="Orateur : B"/>
          <p:cNvSpPr/>
          <p:nvPr/>
        </p:nvSpPr>
        <p:spPr>
          <a:xfrm>
            <a:off x="11704320" y="6263640"/>
            <a:ext cx="365760" cy="365760"/>
          </a:xfrm>
          <a:prstGeom prst="roundRect">
            <a:avLst>
              <a:gd name="adj" fmla="val 22000"/>
            </a:avLst>
          </a:prstGeom>
          <a:solidFill>
            <a:srgbClr val="000000"/>
          </a:solidFill>
          <a:ln w="19050">
            <a:solidFill>
              <a:srgbClr val="00E5FF"/>
            </a:solidFill>
          </a:ln>
        </p:spPr>
        <p:txBody>
          <a:bodyPr lIns="0" rIns="0" tIns="0" bIns="0" anchor="ctr">
            <a:noAutofit/>
          </a:bodyPr>
          <a:lstStyle/>
          <a:p>
            <a:pPr algn="ctr"/>
            <a:r>
              <a:rPr lang="fr-FR" sz="1300" b="1">
                <a:solidFill>
                  <a:srgbClr val="00E5FF"/>
                </a:solidFill>
                <a:latin typeface="Arial"/>
              </a:rPr>
              <a:t>B</a:t>
            </a:r>
          </a:p>
        </p:txBody>
      </p:sp>
    </p:spTree>
  </p:cSld>
  <p:transition>
    <p:fade/>
  </p:transition>
  <p:timing>
    <p:tnLst>
      <p:par>
        <p:cTn id="591" dur="indefinite" restart="never" nodeType="tmRoot">
          <p:childTnLst>
            <p:seq>
              <p:cTn id="592" dur="indefinite" nodeType="mainSeq">
                <p:childTnLst>
                  <p:par>
                    <p:cTn id="593" fill="hold">
                      <p:stCondLst>
                        <p:cond delay="0"/>
                      </p:stCondLst>
                      <p:childTnLst>
                        <p:par>
                          <p:cTn id="594" fill="hold">
                            <p:stCondLst>
                              <p:cond delay="0"/>
                            </p:stCondLst>
                            <p:childTnLst>
                              <p:par>
                                <p:cTn id="595" nodeType="withEffect" fill="hold" presetClass="path">
                                  <p:stCondLst>
                                    <p:cond delay="0"/>
                                  </p:stCondLst>
                                  <p:childTnLst>
                                    <p:animMotion origin="layout" path="M 0 0 L 0.02252 0 E">
                                      <p:cBhvr>
                                        <p:cTn id="596" dur="900" fill="hold"/>
                                        <p:tgtEl>
                                          <p:spTgt spid="631"/>
                                        </p:tgtEl>
                                        <p:attrNameLst>
                                          <p:attrName>ppt_x</p:attrName>
                                          <p:attrName>ppt_y</p:attrName>
                                        </p:attrNameLst>
                                      </p:cBhvr>
                                    </p:animMotion>
                                  </p:childTnLst>
                                </p:cTn>
                              </p:par>
                              <p:par>
                                <p:cTn id="597" nodeType="withEffect" fill="hold" presetClass="path">
                                  <p:stCondLst>
                                    <p:cond delay="0"/>
                                  </p:stCondLst>
                                  <p:childTnLst>
                                    <p:animMotion origin="layout" path="M 0 0 L 0.02252 0 E">
                                      <p:cBhvr>
                                        <p:cTn id="598" dur="900" fill="hold"/>
                                        <p:tgtEl>
                                          <p:spTgt spid="632"/>
                                        </p:tgtEl>
                                        <p:attrNameLst>
                                          <p:attrName>ppt_x</p:attrName>
                                          <p:attrName>ppt_y</p:attrName>
                                        </p:attrNameLst>
                                      </p:cBhvr>
                                    </p:animMotion>
                                  </p:childTnLst>
                                </p:cTn>
                              </p:par>
                              <p:par>
                                <p:cTn id="599" nodeType="withEffect" fill="hold" presetClass="exit" presetID="1">
                                  <p:stCondLst>
                                    <p:cond delay="483"/>
                                  </p:stCondLst>
                                  <p:childTnLst>
                                    <p:set>
                                      <p:cBhvr>
                                        <p:cTn id="600" dur="1" fill="hold">
                                          <p:stCondLst>
                                            <p:cond delay="0"/>
                                          </p:stCondLst>
                                        </p:cTn>
                                        <p:tgtEl>
                                          <p:spTgt spid="633"/>
                                        </p:tgtEl>
                                        <p:attrNameLst>
                                          <p:attrName>style.visibility</p:attrName>
                                        </p:attrNameLst>
                                      </p:cBhvr>
                                      <p:to>
                                        <p:strVal val="hidden"/>
                                      </p:to>
                                    </p:set>
                                  </p:childTnLst>
                                </p:cTn>
                              </p:par>
                              <p:par>
                                <p:cTn id="601" nodeType="withEffect" fill="hold" presetClass="entr" presetID="10">
                                  <p:stCondLst>
                                    <p:cond delay="150"/>
                                  </p:stCondLst>
                                  <p:childTnLst>
                                    <p:set>
                                      <p:cBhvr>
                                        <p:cTn id="602" dur="1" fill="hold">
                                          <p:stCondLst>
                                            <p:cond delay="0"/>
                                          </p:stCondLst>
                                        </p:cTn>
                                        <p:tgtEl>
                                          <p:spTgt spid="597"/>
                                        </p:tgtEl>
                                        <p:attrNameLst>
                                          <p:attrName>style.visibility</p:attrName>
                                        </p:attrNameLst>
                                      </p:cBhvr>
                                      <p:to>
                                        <p:strVal val="visible"/>
                                      </p:to>
                                    </p:set>
                                    <p:animEffect filter="fade" transition="in">
                                      <p:cBhvr additive="repl">
                                        <p:cTn id="603" dur="400"/>
                                        <p:tgtEl>
                                          <p:spTgt spid="597"/>
                                        </p:tgtEl>
                                      </p:cBhvr>
                                    </p:animEffect>
                                  </p:childTnLst>
                                </p:cTn>
                              </p:par>
                              <p:par>
                                <p:cTn id="604" nodeType="withEffect" fill="hold" presetClass="entr" presetID="10">
                                  <p:stCondLst>
                                    <p:cond delay="150"/>
                                  </p:stCondLst>
                                  <p:childTnLst>
                                    <p:set>
                                      <p:cBhvr>
                                        <p:cTn id="605" dur="1" fill="hold">
                                          <p:stCondLst>
                                            <p:cond delay="0"/>
                                          </p:stCondLst>
                                        </p:cTn>
                                        <p:tgtEl>
                                          <p:spTgt spid="598"/>
                                        </p:tgtEl>
                                        <p:attrNameLst>
                                          <p:attrName>style.visibility</p:attrName>
                                        </p:attrNameLst>
                                      </p:cBhvr>
                                      <p:to>
                                        <p:strVal val="visible"/>
                                      </p:to>
                                    </p:set>
                                    <p:animEffect filter="fade" transition="in">
                                      <p:cBhvr additive="repl">
                                        <p:cTn id="606" dur="400"/>
                                        <p:tgtEl>
                                          <p:spTgt spid="598"/>
                                        </p:tgtEl>
                                      </p:cBhvr>
                                    </p:animEffect>
                                  </p:childTnLst>
                                </p:cTn>
                              </p:par>
                              <p:par>
                                <p:cTn id="607" nodeType="withEffect" fill="hold" presetClass="entr" presetID="10">
                                  <p:stCondLst>
                                    <p:cond delay="150"/>
                                  </p:stCondLst>
                                  <p:childTnLst>
                                    <p:set>
                                      <p:cBhvr>
                                        <p:cTn id="608" dur="1" fill="hold">
                                          <p:stCondLst>
                                            <p:cond delay="0"/>
                                          </p:stCondLst>
                                        </p:cTn>
                                        <p:tgtEl>
                                          <p:spTgt spid="599"/>
                                        </p:tgtEl>
                                        <p:attrNameLst>
                                          <p:attrName>style.visibility</p:attrName>
                                        </p:attrNameLst>
                                      </p:cBhvr>
                                      <p:to>
                                        <p:strVal val="visible"/>
                                      </p:to>
                                    </p:set>
                                    <p:animEffect filter="fade" transition="in">
                                      <p:cBhvr additive="repl">
                                        <p:cTn id="609" dur="400"/>
                                        <p:tgtEl>
                                          <p:spTgt spid="599"/>
                                        </p:tgtEl>
                                      </p:cBhvr>
                                    </p:animEffect>
                                  </p:childTnLst>
                                </p:cTn>
                              </p:par>
                              <p:par>
                                <p:cTn id="610" nodeType="withEffect" fill="hold" presetClass="exit" presetID="1">
                                  <p:stCondLst>
                                    <p:cond delay="1600"/>
                                  </p:stCondLst>
                                  <p:childTnLst>
                                    <p:set>
                                      <p:cBhvr>
                                        <p:cTn id="611" dur="1" fill="hold">
                                          <p:stCondLst>
                                            <p:cond delay="0"/>
                                          </p:stCondLst>
                                        </p:cTn>
                                        <p:tgtEl>
                                          <p:spTgt spid="599"/>
                                        </p:tgtEl>
                                        <p:attrNameLst>
                                          <p:attrName>style.visibility</p:attrName>
                                        </p:attrNameLst>
                                      </p:cBhvr>
                                      <p:to>
                                        <p:strVal val="hidden"/>
                                      </p:to>
                                    </p:set>
                                  </p:childTnLst>
                                </p:cTn>
                              </p:par>
                              <p:par>
                                <p:cTn id="612" nodeType="withEffect" fill="hold" presetClass="entr" presetID="1">
                                  <p:stCondLst>
                                    <p:cond delay="1600"/>
                                  </p:stCondLst>
                                  <p:childTnLst>
                                    <p:set>
                                      <p:cBhvr>
                                        <p:cTn id="613" dur="1" fill="hold">
                                          <p:stCondLst>
                                            <p:cond delay="0"/>
                                          </p:stCondLst>
                                        </p:cTn>
                                        <p:tgtEl>
                                          <p:spTgt spid="600"/>
                                        </p:tgtEl>
                                        <p:attrNameLst>
                                          <p:attrName>style.visibility</p:attrName>
                                        </p:attrNameLst>
                                      </p:cBhvr>
                                      <p:to>
                                        <p:strVal val="visible"/>
                                      </p:to>
                                    </p:set>
                                  </p:childTnLst>
                                </p:cTn>
                              </p:par>
                              <p:par>
                                <p:cTn id="614" nodeType="withEffect" fill="hold" presetClass="entr" presetID="10">
                                  <p:stCondLst>
                                    <p:cond delay="150"/>
                                  </p:stCondLst>
                                  <p:childTnLst>
                                    <p:set>
                                      <p:cBhvr>
                                        <p:cTn id="615" dur="1" fill="hold">
                                          <p:stCondLst>
                                            <p:cond delay="0"/>
                                          </p:stCondLst>
                                        </p:cTn>
                                        <p:tgtEl>
                                          <p:spTgt spid="601"/>
                                        </p:tgtEl>
                                        <p:attrNameLst>
                                          <p:attrName>style.visibility</p:attrName>
                                        </p:attrNameLst>
                                      </p:cBhvr>
                                      <p:to>
                                        <p:strVal val="visible"/>
                                      </p:to>
                                    </p:set>
                                    <p:animEffect filter="fade" transition="in">
                                      <p:cBhvr additive="repl">
                                        <p:cTn id="616" dur="400"/>
                                        <p:tgtEl>
                                          <p:spTgt spid="601"/>
                                        </p:tgtEl>
                                      </p:cBhvr>
                                    </p:animEffect>
                                  </p:childTnLst>
                                </p:cTn>
                              </p:par>
                              <p:par>
                                <p:cTn id="617" nodeType="withEffect" fill="hold" presetClass="entr" presetID="10">
                                  <p:stCondLst>
                                    <p:cond delay="150"/>
                                  </p:stCondLst>
                                  <p:childTnLst>
                                    <p:set>
                                      <p:cBhvr>
                                        <p:cTn id="618" dur="1" fill="hold">
                                          <p:stCondLst>
                                            <p:cond delay="0"/>
                                          </p:stCondLst>
                                        </p:cTn>
                                        <p:tgtEl>
                                          <p:spTgt spid="602"/>
                                        </p:tgtEl>
                                        <p:attrNameLst>
                                          <p:attrName>style.visibility</p:attrName>
                                        </p:attrNameLst>
                                      </p:cBhvr>
                                      <p:to>
                                        <p:strVal val="visible"/>
                                      </p:to>
                                    </p:set>
                                    <p:animEffect filter="fade" transition="in">
                                      <p:cBhvr additive="repl">
                                        <p:cTn id="619" dur="400"/>
                                        <p:tgtEl>
                                          <p:spTgt spid="602"/>
                                        </p:tgtEl>
                                      </p:cBhvr>
                                    </p:animEffect>
                                  </p:childTnLst>
                                </p:cTn>
                              </p:par>
                              <p:par>
                                <p:cTn id="620" nodeType="withEffect" fill="hold" presetClass="entr" presetID="10">
                                  <p:stCondLst>
                                    <p:cond delay="150"/>
                                  </p:stCondLst>
                                  <p:childTnLst>
                                    <p:set>
                                      <p:cBhvr>
                                        <p:cTn id="621" dur="1" fill="hold">
                                          <p:stCondLst>
                                            <p:cond delay="0"/>
                                          </p:stCondLst>
                                        </p:cTn>
                                        <p:tgtEl>
                                          <p:spTgt spid="603"/>
                                        </p:tgtEl>
                                        <p:attrNameLst>
                                          <p:attrName>style.visibility</p:attrName>
                                        </p:attrNameLst>
                                      </p:cBhvr>
                                      <p:to>
                                        <p:strVal val="visible"/>
                                      </p:to>
                                    </p:set>
                                    <p:animEffect filter="fade" transition="in">
                                      <p:cBhvr additive="repl">
                                        <p:cTn id="622" dur="400"/>
                                        <p:tgtEl>
                                          <p:spTgt spid="603"/>
                                        </p:tgtEl>
                                      </p:cBhvr>
                                    </p:animEffect>
                                  </p:childTnLst>
                                </p:cTn>
                              </p:par>
                              <p:par>
                                <p:cTn id="623" nodeType="withEffect" fill="hold" presetClass="entr" presetID="10">
                                  <p:stCondLst>
                                    <p:cond delay="330"/>
                                  </p:stCondLst>
                                  <p:childTnLst>
                                    <p:set>
                                      <p:cBhvr>
                                        <p:cTn id="624" dur="1" fill="hold">
                                          <p:stCondLst>
                                            <p:cond delay="0"/>
                                          </p:stCondLst>
                                        </p:cTn>
                                        <p:tgtEl>
                                          <p:spTgt spid="604"/>
                                        </p:tgtEl>
                                        <p:attrNameLst>
                                          <p:attrName>style.visibility</p:attrName>
                                        </p:attrNameLst>
                                      </p:cBhvr>
                                      <p:to>
                                        <p:strVal val="visible"/>
                                      </p:to>
                                    </p:set>
                                    <p:animEffect filter="fade" transition="in">
                                      <p:cBhvr additive="repl">
                                        <p:cTn id="625" dur="400"/>
                                        <p:tgtEl>
                                          <p:spTgt spid="604"/>
                                        </p:tgtEl>
                                      </p:cBhvr>
                                    </p:animEffect>
                                  </p:childTnLst>
                                </p:cTn>
                              </p:par>
                              <p:par>
                                <p:cTn id="626" nodeType="withEffect" fill="hold" presetClass="entr" presetID="10">
                                  <p:stCondLst>
                                    <p:cond delay="330"/>
                                  </p:stCondLst>
                                  <p:childTnLst>
                                    <p:set>
                                      <p:cBhvr>
                                        <p:cTn id="627" dur="1" fill="hold">
                                          <p:stCondLst>
                                            <p:cond delay="0"/>
                                          </p:stCondLst>
                                        </p:cTn>
                                        <p:tgtEl>
                                          <p:spTgt spid="605"/>
                                        </p:tgtEl>
                                        <p:attrNameLst>
                                          <p:attrName>style.visibility</p:attrName>
                                        </p:attrNameLst>
                                      </p:cBhvr>
                                      <p:to>
                                        <p:strVal val="visible"/>
                                      </p:to>
                                    </p:set>
                                    <p:animEffect filter="fade" transition="in">
                                      <p:cBhvr additive="repl">
                                        <p:cTn id="628" dur="400"/>
                                        <p:tgtEl>
                                          <p:spTgt spid="605"/>
                                        </p:tgtEl>
                                      </p:cBhvr>
                                    </p:animEffect>
                                  </p:childTnLst>
                                </p:cTn>
                              </p:par>
                              <p:par>
                                <p:cTn id="629" nodeType="withEffect" fill="hold" presetClass="entr" presetID="10">
                                  <p:stCondLst>
                                    <p:cond delay="330"/>
                                  </p:stCondLst>
                                  <p:childTnLst>
                                    <p:set>
                                      <p:cBhvr>
                                        <p:cTn id="630" dur="1" fill="hold">
                                          <p:stCondLst>
                                            <p:cond delay="0"/>
                                          </p:stCondLst>
                                        </p:cTn>
                                        <p:tgtEl>
                                          <p:spTgt spid="606"/>
                                        </p:tgtEl>
                                        <p:attrNameLst>
                                          <p:attrName>style.visibility</p:attrName>
                                        </p:attrNameLst>
                                      </p:cBhvr>
                                      <p:to>
                                        <p:strVal val="visible"/>
                                      </p:to>
                                    </p:set>
                                    <p:animEffect filter="fade" transition="in">
                                      <p:cBhvr additive="repl">
                                        <p:cTn id="631" dur="400"/>
                                        <p:tgtEl>
                                          <p:spTgt spid="606"/>
                                        </p:tgtEl>
                                      </p:cBhvr>
                                    </p:animEffect>
                                  </p:childTnLst>
                                </p:cTn>
                              </p:par>
                              <p:par>
                                <p:cTn id="632" nodeType="withEffect" fill="hold" presetClass="exit" presetID="1">
                                  <p:stCondLst>
                                    <p:cond delay="1950"/>
                                  </p:stCondLst>
                                  <p:childTnLst>
                                    <p:set>
                                      <p:cBhvr>
                                        <p:cTn id="633" dur="1" fill="hold">
                                          <p:stCondLst>
                                            <p:cond delay="0"/>
                                          </p:stCondLst>
                                        </p:cTn>
                                        <p:tgtEl>
                                          <p:spTgt spid="606"/>
                                        </p:tgtEl>
                                        <p:attrNameLst>
                                          <p:attrName>style.visibility</p:attrName>
                                        </p:attrNameLst>
                                      </p:cBhvr>
                                      <p:to>
                                        <p:strVal val="hidden"/>
                                      </p:to>
                                    </p:set>
                                  </p:childTnLst>
                                </p:cTn>
                              </p:par>
                              <p:par>
                                <p:cTn id="634" nodeType="withEffect" fill="hold" presetClass="entr" presetID="1">
                                  <p:stCondLst>
                                    <p:cond delay="1950"/>
                                  </p:stCondLst>
                                  <p:childTnLst>
                                    <p:set>
                                      <p:cBhvr>
                                        <p:cTn id="635" dur="1" fill="hold">
                                          <p:stCondLst>
                                            <p:cond delay="0"/>
                                          </p:stCondLst>
                                        </p:cTn>
                                        <p:tgtEl>
                                          <p:spTgt spid="607"/>
                                        </p:tgtEl>
                                        <p:attrNameLst>
                                          <p:attrName>style.visibility</p:attrName>
                                        </p:attrNameLst>
                                      </p:cBhvr>
                                      <p:to>
                                        <p:strVal val="visible"/>
                                      </p:to>
                                    </p:set>
                                  </p:childTnLst>
                                </p:cTn>
                              </p:par>
                              <p:par>
                                <p:cTn id="636" nodeType="withEffect" fill="hold" presetClass="entr" presetID="10">
                                  <p:stCondLst>
                                    <p:cond delay="330"/>
                                  </p:stCondLst>
                                  <p:childTnLst>
                                    <p:set>
                                      <p:cBhvr>
                                        <p:cTn id="637" dur="1" fill="hold">
                                          <p:stCondLst>
                                            <p:cond delay="0"/>
                                          </p:stCondLst>
                                        </p:cTn>
                                        <p:tgtEl>
                                          <p:spTgt spid="608"/>
                                        </p:tgtEl>
                                        <p:attrNameLst>
                                          <p:attrName>style.visibility</p:attrName>
                                        </p:attrNameLst>
                                      </p:cBhvr>
                                      <p:to>
                                        <p:strVal val="visible"/>
                                      </p:to>
                                    </p:set>
                                    <p:animEffect filter="fade" transition="in">
                                      <p:cBhvr additive="repl">
                                        <p:cTn id="638" dur="400"/>
                                        <p:tgtEl>
                                          <p:spTgt spid="608"/>
                                        </p:tgtEl>
                                      </p:cBhvr>
                                    </p:animEffect>
                                  </p:childTnLst>
                                </p:cTn>
                              </p:par>
                              <p:par>
                                <p:cTn id="639" nodeType="withEffect" fill="hold" presetClass="entr" presetID="10">
                                  <p:stCondLst>
                                    <p:cond delay="330"/>
                                  </p:stCondLst>
                                  <p:childTnLst>
                                    <p:set>
                                      <p:cBhvr>
                                        <p:cTn id="640" dur="1" fill="hold">
                                          <p:stCondLst>
                                            <p:cond delay="0"/>
                                          </p:stCondLst>
                                        </p:cTn>
                                        <p:tgtEl>
                                          <p:spTgt spid="609"/>
                                        </p:tgtEl>
                                        <p:attrNameLst>
                                          <p:attrName>style.visibility</p:attrName>
                                        </p:attrNameLst>
                                      </p:cBhvr>
                                      <p:to>
                                        <p:strVal val="visible"/>
                                      </p:to>
                                    </p:set>
                                    <p:animEffect filter="fade" transition="in">
                                      <p:cBhvr additive="repl">
                                        <p:cTn id="641" dur="400"/>
                                        <p:tgtEl>
                                          <p:spTgt spid="609"/>
                                        </p:tgtEl>
                                      </p:cBhvr>
                                    </p:animEffect>
                                  </p:childTnLst>
                                </p:cTn>
                              </p:par>
                              <p:par>
                                <p:cTn id="642" nodeType="withEffect" fill="hold" presetClass="entr" presetID="10">
                                  <p:stCondLst>
                                    <p:cond delay="330"/>
                                  </p:stCondLst>
                                  <p:childTnLst>
                                    <p:set>
                                      <p:cBhvr>
                                        <p:cTn id="643" dur="1" fill="hold">
                                          <p:stCondLst>
                                            <p:cond delay="0"/>
                                          </p:stCondLst>
                                        </p:cTn>
                                        <p:tgtEl>
                                          <p:spTgt spid="610"/>
                                        </p:tgtEl>
                                        <p:attrNameLst>
                                          <p:attrName>style.visibility</p:attrName>
                                        </p:attrNameLst>
                                      </p:cBhvr>
                                      <p:to>
                                        <p:strVal val="visible"/>
                                      </p:to>
                                    </p:set>
                                    <p:animEffect filter="fade" transition="in">
                                      <p:cBhvr additive="repl">
                                        <p:cTn id="644" dur="400"/>
                                        <p:tgtEl>
                                          <p:spTgt spid="610"/>
                                        </p:tgtEl>
                                      </p:cBhvr>
                                    </p:animEffect>
                                  </p:childTnLst>
                                </p:cTn>
                              </p:par>
                              <p:par>
                                <p:cTn id="645" nodeType="withEffect" fill="hold" presetClass="entr" presetID="10">
                                  <p:stCondLst>
                                    <p:cond delay="510"/>
                                  </p:stCondLst>
                                  <p:childTnLst>
                                    <p:set>
                                      <p:cBhvr>
                                        <p:cTn id="646" dur="1" fill="hold">
                                          <p:stCondLst>
                                            <p:cond delay="0"/>
                                          </p:stCondLst>
                                        </p:cTn>
                                        <p:tgtEl>
                                          <p:spTgt spid="611"/>
                                        </p:tgtEl>
                                        <p:attrNameLst>
                                          <p:attrName>style.visibility</p:attrName>
                                        </p:attrNameLst>
                                      </p:cBhvr>
                                      <p:to>
                                        <p:strVal val="visible"/>
                                      </p:to>
                                    </p:set>
                                    <p:animEffect filter="fade" transition="in">
                                      <p:cBhvr additive="repl">
                                        <p:cTn id="647" dur="400"/>
                                        <p:tgtEl>
                                          <p:spTgt spid="611"/>
                                        </p:tgtEl>
                                      </p:cBhvr>
                                    </p:animEffect>
                                  </p:childTnLst>
                                </p:cTn>
                              </p:par>
                              <p:par>
                                <p:cTn id="648" nodeType="withEffect" fill="hold" presetClass="entr" presetID="10">
                                  <p:stCondLst>
                                    <p:cond delay="510"/>
                                  </p:stCondLst>
                                  <p:childTnLst>
                                    <p:set>
                                      <p:cBhvr>
                                        <p:cTn id="649" dur="1" fill="hold">
                                          <p:stCondLst>
                                            <p:cond delay="0"/>
                                          </p:stCondLst>
                                        </p:cTn>
                                        <p:tgtEl>
                                          <p:spTgt spid="612"/>
                                        </p:tgtEl>
                                        <p:attrNameLst>
                                          <p:attrName>style.visibility</p:attrName>
                                        </p:attrNameLst>
                                      </p:cBhvr>
                                      <p:to>
                                        <p:strVal val="visible"/>
                                      </p:to>
                                    </p:set>
                                    <p:animEffect filter="fade" transition="in">
                                      <p:cBhvr additive="repl">
                                        <p:cTn id="650" dur="400"/>
                                        <p:tgtEl>
                                          <p:spTgt spid="612"/>
                                        </p:tgtEl>
                                      </p:cBhvr>
                                    </p:animEffect>
                                  </p:childTnLst>
                                </p:cTn>
                              </p:par>
                              <p:par>
                                <p:cTn id="651" nodeType="withEffect" fill="hold" presetClass="entr" presetID="10">
                                  <p:stCondLst>
                                    <p:cond delay="510"/>
                                  </p:stCondLst>
                                  <p:childTnLst>
                                    <p:set>
                                      <p:cBhvr>
                                        <p:cTn id="652" dur="1" fill="hold">
                                          <p:stCondLst>
                                            <p:cond delay="0"/>
                                          </p:stCondLst>
                                        </p:cTn>
                                        <p:tgtEl>
                                          <p:spTgt spid="613"/>
                                        </p:tgtEl>
                                        <p:attrNameLst>
                                          <p:attrName>style.visibility</p:attrName>
                                        </p:attrNameLst>
                                      </p:cBhvr>
                                      <p:to>
                                        <p:strVal val="visible"/>
                                      </p:to>
                                    </p:set>
                                    <p:animEffect filter="fade" transition="in">
                                      <p:cBhvr additive="repl">
                                        <p:cTn id="653" dur="400"/>
                                        <p:tgtEl>
                                          <p:spTgt spid="613"/>
                                        </p:tgtEl>
                                      </p:cBhvr>
                                    </p:animEffect>
                                  </p:childTnLst>
                                </p:cTn>
                              </p:par>
                              <p:par>
                                <p:cTn id="654" nodeType="withEffect" fill="hold" presetClass="exit" presetID="1">
                                  <p:stCondLst>
                                    <p:cond delay="2300"/>
                                  </p:stCondLst>
                                  <p:childTnLst>
                                    <p:set>
                                      <p:cBhvr>
                                        <p:cTn id="655" dur="1" fill="hold">
                                          <p:stCondLst>
                                            <p:cond delay="0"/>
                                          </p:stCondLst>
                                        </p:cTn>
                                        <p:tgtEl>
                                          <p:spTgt spid="613"/>
                                        </p:tgtEl>
                                        <p:attrNameLst>
                                          <p:attrName>style.visibility</p:attrName>
                                        </p:attrNameLst>
                                      </p:cBhvr>
                                      <p:to>
                                        <p:strVal val="hidden"/>
                                      </p:to>
                                    </p:set>
                                  </p:childTnLst>
                                </p:cTn>
                              </p:par>
                              <p:par>
                                <p:cTn id="656" nodeType="withEffect" fill="hold" presetClass="entr" presetID="1">
                                  <p:stCondLst>
                                    <p:cond delay="2300"/>
                                  </p:stCondLst>
                                  <p:childTnLst>
                                    <p:set>
                                      <p:cBhvr>
                                        <p:cTn id="657" dur="1" fill="hold">
                                          <p:stCondLst>
                                            <p:cond delay="0"/>
                                          </p:stCondLst>
                                        </p:cTn>
                                        <p:tgtEl>
                                          <p:spTgt spid="614"/>
                                        </p:tgtEl>
                                        <p:attrNameLst>
                                          <p:attrName>style.visibility</p:attrName>
                                        </p:attrNameLst>
                                      </p:cBhvr>
                                      <p:to>
                                        <p:strVal val="visible"/>
                                      </p:to>
                                    </p:set>
                                  </p:childTnLst>
                                </p:cTn>
                              </p:par>
                              <p:par>
                                <p:cTn id="658" nodeType="withEffect" fill="hold" presetClass="entr" presetID="10">
                                  <p:stCondLst>
                                    <p:cond delay="510"/>
                                  </p:stCondLst>
                                  <p:childTnLst>
                                    <p:set>
                                      <p:cBhvr>
                                        <p:cTn id="659" dur="1" fill="hold">
                                          <p:stCondLst>
                                            <p:cond delay="0"/>
                                          </p:stCondLst>
                                        </p:cTn>
                                        <p:tgtEl>
                                          <p:spTgt spid="615"/>
                                        </p:tgtEl>
                                        <p:attrNameLst>
                                          <p:attrName>style.visibility</p:attrName>
                                        </p:attrNameLst>
                                      </p:cBhvr>
                                      <p:to>
                                        <p:strVal val="visible"/>
                                      </p:to>
                                    </p:set>
                                    <p:animEffect filter="fade" transition="in">
                                      <p:cBhvr additive="repl">
                                        <p:cTn id="660" dur="400"/>
                                        <p:tgtEl>
                                          <p:spTgt spid="615"/>
                                        </p:tgtEl>
                                      </p:cBhvr>
                                    </p:animEffect>
                                  </p:childTnLst>
                                </p:cTn>
                              </p:par>
                              <p:par>
                                <p:cTn id="661" nodeType="withEffect" fill="hold" presetClass="entr" presetID="10">
                                  <p:stCondLst>
                                    <p:cond delay="510"/>
                                  </p:stCondLst>
                                  <p:childTnLst>
                                    <p:set>
                                      <p:cBhvr>
                                        <p:cTn id="662" dur="1" fill="hold">
                                          <p:stCondLst>
                                            <p:cond delay="0"/>
                                          </p:stCondLst>
                                        </p:cTn>
                                        <p:tgtEl>
                                          <p:spTgt spid="616"/>
                                        </p:tgtEl>
                                        <p:attrNameLst>
                                          <p:attrName>style.visibility</p:attrName>
                                        </p:attrNameLst>
                                      </p:cBhvr>
                                      <p:to>
                                        <p:strVal val="visible"/>
                                      </p:to>
                                    </p:set>
                                    <p:animEffect filter="fade" transition="in">
                                      <p:cBhvr additive="repl">
                                        <p:cTn id="663" dur="400"/>
                                        <p:tgtEl>
                                          <p:spTgt spid="616"/>
                                        </p:tgtEl>
                                      </p:cBhvr>
                                    </p:animEffect>
                                  </p:childTnLst>
                                </p:cTn>
                              </p:par>
                              <p:par>
                                <p:cTn id="664" nodeType="withEffect" fill="hold" presetClass="entr" presetID="10">
                                  <p:stCondLst>
                                    <p:cond delay="510"/>
                                  </p:stCondLst>
                                  <p:childTnLst>
                                    <p:set>
                                      <p:cBhvr>
                                        <p:cTn id="665" dur="1" fill="hold">
                                          <p:stCondLst>
                                            <p:cond delay="0"/>
                                          </p:stCondLst>
                                        </p:cTn>
                                        <p:tgtEl>
                                          <p:spTgt spid="617"/>
                                        </p:tgtEl>
                                        <p:attrNameLst>
                                          <p:attrName>style.visibility</p:attrName>
                                        </p:attrNameLst>
                                      </p:cBhvr>
                                      <p:to>
                                        <p:strVal val="visible"/>
                                      </p:to>
                                    </p:set>
                                    <p:animEffect filter="fade" transition="in">
                                      <p:cBhvr additive="repl">
                                        <p:cTn id="666" dur="400"/>
                                        <p:tgtEl>
                                          <p:spTgt spid="617"/>
                                        </p:tgtEl>
                                      </p:cBhvr>
                                    </p:animEffect>
                                  </p:childTnLst>
                                </p:cTn>
                              </p:par>
                              <p:par>
                                <p:cTn id="667" nodeType="withEffect" fill="hold" presetClass="entr" presetID="10">
                                  <p:stCondLst>
                                    <p:cond delay="690"/>
                                  </p:stCondLst>
                                  <p:childTnLst>
                                    <p:set>
                                      <p:cBhvr>
                                        <p:cTn id="668" dur="1" fill="hold">
                                          <p:stCondLst>
                                            <p:cond delay="0"/>
                                          </p:stCondLst>
                                        </p:cTn>
                                        <p:tgtEl>
                                          <p:spTgt spid="618"/>
                                        </p:tgtEl>
                                        <p:attrNameLst>
                                          <p:attrName>style.visibility</p:attrName>
                                        </p:attrNameLst>
                                      </p:cBhvr>
                                      <p:to>
                                        <p:strVal val="visible"/>
                                      </p:to>
                                    </p:set>
                                    <p:animEffect filter="fade" transition="in">
                                      <p:cBhvr additive="repl">
                                        <p:cTn id="669" dur="400"/>
                                        <p:tgtEl>
                                          <p:spTgt spid="618"/>
                                        </p:tgtEl>
                                      </p:cBhvr>
                                    </p:animEffect>
                                  </p:childTnLst>
                                </p:cTn>
                              </p:par>
                              <p:par>
                                <p:cTn id="670" nodeType="withEffect" fill="hold" presetClass="entr" presetID="10">
                                  <p:stCondLst>
                                    <p:cond delay="690"/>
                                  </p:stCondLst>
                                  <p:childTnLst>
                                    <p:set>
                                      <p:cBhvr>
                                        <p:cTn id="671" dur="1" fill="hold">
                                          <p:stCondLst>
                                            <p:cond delay="0"/>
                                          </p:stCondLst>
                                        </p:cTn>
                                        <p:tgtEl>
                                          <p:spTgt spid="619"/>
                                        </p:tgtEl>
                                        <p:attrNameLst>
                                          <p:attrName>style.visibility</p:attrName>
                                        </p:attrNameLst>
                                      </p:cBhvr>
                                      <p:to>
                                        <p:strVal val="visible"/>
                                      </p:to>
                                    </p:set>
                                    <p:animEffect filter="fade" transition="in">
                                      <p:cBhvr additive="repl">
                                        <p:cTn id="672" dur="400"/>
                                        <p:tgtEl>
                                          <p:spTgt spid="619"/>
                                        </p:tgtEl>
                                      </p:cBhvr>
                                    </p:animEffect>
                                  </p:childTnLst>
                                </p:cTn>
                              </p:par>
                              <p:par>
                                <p:cTn id="673" nodeType="withEffect" fill="hold" presetClass="entr" presetID="10">
                                  <p:stCondLst>
                                    <p:cond delay="690"/>
                                  </p:stCondLst>
                                  <p:childTnLst>
                                    <p:set>
                                      <p:cBhvr>
                                        <p:cTn id="674" dur="1" fill="hold">
                                          <p:stCondLst>
                                            <p:cond delay="0"/>
                                          </p:stCondLst>
                                        </p:cTn>
                                        <p:tgtEl>
                                          <p:spTgt spid="620"/>
                                        </p:tgtEl>
                                        <p:attrNameLst>
                                          <p:attrName>style.visibility</p:attrName>
                                        </p:attrNameLst>
                                      </p:cBhvr>
                                      <p:to>
                                        <p:strVal val="visible"/>
                                      </p:to>
                                    </p:set>
                                    <p:animEffect filter="fade" transition="in">
                                      <p:cBhvr additive="repl">
                                        <p:cTn id="675" dur="400"/>
                                        <p:tgtEl>
                                          <p:spTgt spid="620"/>
                                        </p:tgtEl>
                                      </p:cBhvr>
                                    </p:animEffect>
                                  </p:childTnLst>
                                </p:cTn>
                              </p:par>
                              <p:par>
                                <p:cTn id="676" nodeType="withEffect" fill="hold" presetClass="exit" presetID="1">
                                  <p:stCondLst>
                                    <p:cond delay="2650"/>
                                  </p:stCondLst>
                                  <p:childTnLst>
                                    <p:set>
                                      <p:cBhvr>
                                        <p:cTn id="677" dur="1" fill="hold">
                                          <p:stCondLst>
                                            <p:cond delay="0"/>
                                          </p:stCondLst>
                                        </p:cTn>
                                        <p:tgtEl>
                                          <p:spTgt spid="620"/>
                                        </p:tgtEl>
                                        <p:attrNameLst>
                                          <p:attrName>style.visibility</p:attrName>
                                        </p:attrNameLst>
                                      </p:cBhvr>
                                      <p:to>
                                        <p:strVal val="hidden"/>
                                      </p:to>
                                    </p:set>
                                  </p:childTnLst>
                                </p:cTn>
                              </p:par>
                              <p:par>
                                <p:cTn id="678" nodeType="withEffect" fill="hold" presetClass="entr" presetID="1">
                                  <p:stCondLst>
                                    <p:cond delay="2650"/>
                                  </p:stCondLst>
                                  <p:childTnLst>
                                    <p:set>
                                      <p:cBhvr>
                                        <p:cTn id="679" dur="1" fill="hold">
                                          <p:stCondLst>
                                            <p:cond delay="0"/>
                                          </p:stCondLst>
                                        </p:cTn>
                                        <p:tgtEl>
                                          <p:spTgt spid="621"/>
                                        </p:tgtEl>
                                        <p:attrNameLst>
                                          <p:attrName>style.visibility</p:attrName>
                                        </p:attrNameLst>
                                      </p:cBhvr>
                                      <p:to>
                                        <p:strVal val="visible"/>
                                      </p:to>
                                    </p:set>
                                  </p:childTnLst>
                                </p:cTn>
                              </p:par>
                              <p:par>
                                <p:cTn id="680" nodeType="withEffect" fill="hold" presetClass="entr" presetID="10">
                                  <p:stCondLst>
                                    <p:cond delay="690"/>
                                  </p:stCondLst>
                                  <p:childTnLst>
                                    <p:set>
                                      <p:cBhvr>
                                        <p:cTn id="681" dur="1" fill="hold">
                                          <p:stCondLst>
                                            <p:cond delay="0"/>
                                          </p:stCondLst>
                                        </p:cTn>
                                        <p:tgtEl>
                                          <p:spTgt spid="622"/>
                                        </p:tgtEl>
                                        <p:attrNameLst>
                                          <p:attrName>style.visibility</p:attrName>
                                        </p:attrNameLst>
                                      </p:cBhvr>
                                      <p:to>
                                        <p:strVal val="visible"/>
                                      </p:to>
                                    </p:set>
                                    <p:animEffect filter="fade" transition="in">
                                      <p:cBhvr additive="repl">
                                        <p:cTn id="682" dur="400"/>
                                        <p:tgtEl>
                                          <p:spTgt spid="622"/>
                                        </p:tgtEl>
                                      </p:cBhvr>
                                    </p:animEffect>
                                  </p:childTnLst>
                                </p:cTn>
                              </p:par>
                              <p:par>
                                <p:cTn id="683" nodeType="withEffect" fill="hold" presetClass="entr" presetID="10">
                                  <p:stCondLst>
                                    <p:cond delay="690"/>
                                  </p:stCondLst>
                                  <p:childTnLst>
                                    <p:set>
                                      <p:cBhvr>
                                        <p:cTn id="684" dur="1" fill="hold">
                                          <p:stCondLst>
                                            <p:cond delay="0"/>
                                          </p:stCondLst>
                                        </p:cTn>
                                        <p:tgtEl>
                                          <p:spTgt spid="623"/>
                                        </p:tgtEl>
                                        <p:attrNameLst>
                                          <p:attrName>style.visibility</p:attrName>
                                        </p:attrNameLst>
                                      </p:cBhvr>
                                      <p:to>
                                        <p:strVal val="visible"/>
                                      </p:to>
                                    </p:set>
                                    <p:animEffect filter="fade" transition="in">
                                      <p:cBhvr additive="repl">
                                        <p:cTn id="685" dur="400"/>
                                        <p:tgtEl>
                                          <p:spTgt spid="623"/>
                                        </p:tgtEl>
                                      </p:cBhvr>
                                    </p:animEffect>
                                  </p:childTnLst>
                                </p:cTn>
                              </p:par>
                              <p:par>
                                <p:cTn id="686" nodeType="withEffect" fill="hold" presetClass="entr" presetID="10">
                                  <p:stCondLst>
                                    <p:cond delay="690"/>
                                  </p:stCondLst>
                                  <p:childTnLst>
                                    <p:set>
                                      <p:cBhvr>
                                        <p:cTn id="687" dur="1" fill="hold">
                                          <p:stCondLst>
                                            <p:cond delay="0"/>
                                          </p:stCondLst>
                                        </p:cTn>
                                        <p:tgtEl>
                                          <p:spTgt spid="624"/>
                                        </p:tgtEl>
                                        <p:attrNameLst>
                                          <p:attrName>style.visibility</p:attrName>
                                        </p:attrNameLst>
                                      </p:cBhvr>
                                      <p:to>
                                        <p:strVal val="visible"/>
                                      </p:to>
                                    </p:set>
                                    <p:animEffect filter="fade" transition="in">
                                      <p:cBhvr additive="repl">
                                        <p:cTn id="688" dur="400"/>
                                        <p:tgtEl>
                                          <p:spTgt spid="624"/>
                                        </p:tgtEl>
                                      </p:cBhvr>
                                    </p:animEffect>
                                  </p:childTnLst>
                                </p:cTn>
                              </p:par>
                              <p:par>
                                <p:cTn id="689" nodeType="withEffect" fill="hold" presetClass="entr" presetID="10">
                                  <p:stCondLst>
                                    <p:cond delay="1000"/>
                                  </p:stCondLst>
                                  <p:childTnLst>
                                    <p:set>
                                      <p:cBhvr>
                                        <p:cTn id="690" dur="1" fill="hold">
                                          <p:stCondLst>
                                            <p:cond delay="0"/>
                                          </p:stCondLst>
                                        </p:cTn>
                                        <p:tgtEl>
                                          <p:spTgt spid="625"/>
                                        </p:tgtEl>
                                        <p:attrNameLst>
                                          <p:attrName>style.visibility</p:attrName>
                                        </p:attrNameLst>
                                      </p:cBhvr>
                                      <p:to>
                                        <p:strVal val="visible"/>
                                      </p:to>
                                    </p:set>
                                    <p:animEffect filter="fade" transition="in">
                                      <p:cBhvr additive="repl">
                                        <p:cTn id="691" dur="400"/>
                                        <p:tgtEl>
                                          <p:spTgt spid="625"/>
                                        </p:tgtEl>
                                      </p:cBhvr>
                                    </p:animEffect>
                                  </p:childTnLst>
                                </p:cTn>
                              </p:par>
                              <p:par>
                                <p:cTn id="692" nodeType="withEffect" fill="hold" presetClass="entr" presetID="10">
                                  <p:stCondLst>
                                    <p:cond delay="1000"/>
                                  </p:stCondLst>
                                  <p:childTnLst>
                                    <p:set>
                                      <p:cBhvr>
                                        <p:cTn id="693" dur="1" fill="hold">
                                          <p:stCondLst>
                                            <p:cond delay="0"/>
                                          </p:stCondLst>
                                        </p:cTn>
                                        <p:tgtEl>
                                          <p:spTgt spid="626"/>
                                        </p:tgtEl>
                                        <p:attrNameLst>
                                          <p:attrName>style.visibility</p:attrName>
                                        </p:attrNameLst>
                                      </p:cBhvr>
                                      <p:to>
                                        <p:strVal val="visible"/>
                                      </p:to>
                                    </p:set>
                                    <p:animEffect filter="fade" transition="in">
                                      <p:cBhvr additive="repl">
                                        <p:cTn id="694" dur="400"/>
                                        <p:tgtEl>
                                          <p:spTgt spid="626"/>
                                        </p:tgtEl>
                                      </p:cBhvr>
                                    </p:animEffect>
                                  </p:childTnLst>
                                </p:cTn>
                              </p:par>
                              <p:par>
                                <p:cTn id="695" nodeType="withEffect" fill="hold" presetClass="entr" presetID="10">
                                  <p:stCondLst>
                                    <p:cond delay="1000"/>
                                  </p:stCondLst>
                                  <p:childTnLst>
                                    <p:set>
                                      <p:cBhvr>
                                        <p:cTn id="696" dur="1" fill="hold">
                                          <p:stCondLst>
                                            <p:cond delay="0"/>
                                          </p:stCondLst>
                                        </p:cTn>
                                        <p:tgtEl>
                                          <p:spTgt spid="627"/>
                                        </p:tgtEl>
                                        <p:attrNameLst>
                                          <p:attrName>style.visibility</p:attrName>
                                        </p:attrNameLst>
                                      </p:cBhvr>
                                      <p:to>
                                        <p:strVal val="visible"/>
                                      </p:to>
                                    </p:set>
                                    <p:animEffect filter="fade" transition="in">
                                      <p:cBhvr additive="repl">
                                        <p:cTn id="697" dur="400"/>
                                        <p:tgtEl>
                                          <p:spTgt spid="627"/>
                                        </p:tgtEl>
                                      </p:cBhvr>
                                    </p:animEffect>
                                  </p:childTnLst>
                                </p:cTn>
                              </p:par>
                              <p:par>
                                <p:cTn id="698" nodeType="withEffect" fill="hold" presetClass="entr" presetID="10">
                                  <p:stCondLst>
                                    <p:cond delay="1000"/>
                                  </p:stCondLst>
                                  <p:childTnLst>
                                    <p:set>
                                      <p:cBhvr>
                                        <p:cTn id="699" dur="1" fill="hold">
                                          <p:stCondLst>
                                            <p:cond delay="0"/>
                                          </p:stCondLst>
                                        </p:cTn>
                                        <p:tgtEl>
                                          <p:spTgt spid="628"/>
                                        </p:tgtEl>
                                        <p:attrNameLst>
                                          <p:attrName>style.visibility</p:attrName>
                                        </p:attrNameLst>
                                      </p:cBhvr>
                                      <p:to>
                                        <p:strVal val="visible"/>
                                      </p:to>
                                    </p:set>
                                    <p:animEffect filter="fade" transition="in">
                                      <p:cBhvr additive="repl">
                                        <p:cTn id="700" dur="400"/>
                                        <p:tgtEl>
                                          <p:spTgt spid="628"/>
                                        </p:tgtEl>
                                      </p:cBhvr>
                                    </p:animEffect>
                                  </p:childTnLst>
                                </p:cTn>
                              </p:par>
                              <p:par>
                                <p:cTn id="701" nodeType="withEffect" fill="hold" presetClass="entr" presetID="10">
                                  <p:stCondLst>
                                    <p:cond delay="1000"/>
                                  </p:stCondLst>
                                  <p:childTnLst>
                                    <p:set>
                                      <p:cBhvr>
                                        <p:cTn id="702" dur="1" fill="hold">
                                          <p:stCondLst>
                                            <p:cond delay="0"/>
                                          </p:stCondLst>
                                        </p:cTn>
                                        <p:tgtEl>
                                          <p:spTgt spid="629"/>
                                        </p:tgtEl>
                                        <p:attrNameLst>
                                          <p:attrName>style.visibility</p:attrName>
                                        </p:attrNameLst>
                                      </p:cBhvr>
                                      <p:to>
                                        <p:strVal val="visible"/>
                                      </p:to>
                                    </p:set>
                                    <p:animEffect filter="fade" transition="in">
                                      <p:cBhvr additive="repl">
                                        <p:cTn id="703" dur="400"/>
                                        <p:tgtEl>
                                          <p:spTgt spid="629"/>
                                        </p:tgtEl>
                                      </p:cBhvr>
                                    </p:animEffect>
                                  </p:childTnLst>
                                </p:cTn>
                              </p:par>
                              <p:par>
                                <p:cTn id="704" nodeType="withEffect" fill="hold" presetClass="entr" presetID="10">
                                  <p:stCondLst>
                                    <p:cond delay="1000"/>
                                  </p:stCondLst>
                                  <p:childTnLst>
                                    <p:set>
                                      <p:cBhvr>
                                        <p:cTn id="705" dur="1" fill="hold">
                                          <p:stCondLst>
                                            <p:cond delay="0"/>
                                          </p:stCondLst>
                                        </p:cTn>
                                        <p:tgtEl>
                                          <p:spTgt spid="630"/>
                                        </p:tgtEl>
                                        <p:attrNameLst>
                                          <p:attrName>style.visibility</p:attrName>
                                        </p:attrNameLst>
                                      </p:cBhvr>
                                      <p:to>
                                        <p:strVal val="visible"/>
                                      </p:to>
                                    </p:set>
                                    <p:animEffect filter="fade" transition="in">
                                      <p:cBhvr additive="repl">
                                        <p:cTn id="706" dur="400"/>
                                        <p:tgtEl>
                                          <p:spTgt spid="6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70" name="o1"/>
          <p:cNvSpPr/>
          <p:nvPr/>
        </p:nvSpPr>
        <p:spPr>
          <a:xfrm>
            <a:off x="274320" y="228600"/>
            <a:ext cx="11642760" cy="5897520"/>
          </a:xfrm>
          <a:prstGeom prst="roundRect">
            <a:avLst>
              <a:gd name="adj" fmla="val 3876"/>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1" name="o2"/>
          <p:cNvSpPr/>
          <p:nvPr/>
        </p:nvSpPr>
        <p:spPr>
          <a:xfrm>
            <a:off x="343080" y="297360"/>
            <a:ext cx="11505600" cy="5760360"/>
          </a:xfrm>
          <a:prstGeom prst="roundRect">
            <a:avLst>
              <a:gd name="adj" fmla="val 2778"/>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2" name="o3"/>
          <p:cNvSpPr/>
          <p:nvPr/>
        </p:nvSpPr>
        <p:spPr>
          <a:xfrm>
            <a:off x="86868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3" name="o4"/>
          <p:cNvSpPr/>
          <p:nvPr/>
        </p:nvSpPr>
        <p:spPr>
          <a:xfrm>
            <a:off x="93744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4" name="o5"/>
          <p:cNvSpPr/>
          <p:nvPr/>
        </p:nvSpPr>
        <p:spPr>
          <a:xfrm>
            <a:off x="976860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5" name="o6"/>
          <p:cNvSpPr/>
          <p:nvPr/>
        </p:nvSpPr>
        <p:spPr>
          <a:xfrm>
            <a:off x="983700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6" name="o7"/>
          <p:cNvSpPr/>
          <p:nvPr/>
        </p:nvSpPr>
        <p:spPr>
          <a:xfrm>
            <a:off x="86868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7" name="o8"/>
          <p:cNvSpPr/>
          <p:nvPr/>
        </p:nvSpPr>
        <p:spPr>
          <a:xfrm>
            <a:off x="93744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8" name="o9"/>
          <p:cNvSpPr/>
          <p:nvPr/>
        </p:nvSpPr>
        <p:spPr>
          <a:xfrm>
            <a:off x="976860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9" name="o10"/>
          <p:cNvSpPr/>
          <p:nvPr/>
        </p:nvSpPr>
        <p:spPr>
          <a:xfrm>
            <a:off x="983700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680" name="o11" descr="apple"/>
          <p:cNvPicPr/>
          <p:nvPr/>
        </p:nvPicPr>
        <p:blipFill>
          <a:blip r:embed="rId1"/>
          <a:stretch/>
        </p:blipFill>
        <p:spPr>
          <a:xfrm>
            <a:off x="5684400" y="777240"/>
            <a:ext cx="822600" cy="822600"/>
          </a:xfrm>
          <a:prstGeom prst="rect">
            <a:avLst/>
          </a:prstGeom>
          <a:ln w="0">
            <a:noFill/>
          </a:ln>
        </p:spPr>
      </p:pic>
      <p:pic>
        <p:nvPicPr>
          <p:cNvPr id="681" name="o12" descr="LEVEL 4"/>
          <p:cNvPicPr/>
          <p:nvPr/>
        </p:nvPicPr>
        <p:blipFill>
          <a:blip r:embed="rId2"/>
          <a:stretch/>
        </p:blipFill>
        <p:spPr>
          <a:xfrm>
            <a:off x="5262480" y="1828800"/>
            <a:ext cx="1666080" cy="237240"/>
          </a:xfrm>
          <a:prstGeom prst="rect">
            <a:avLst/>
          </a:prstGeom>
          <a:ln w="0">
            <a:noFill/>
          </a:ln>
        </p:spPr>
      </p:pic>
      <p:pic>
        <p:nvPicPr>
          <p:cNvPr id="682" name="o13" descr="INSIGHTS"/>
          <p:cNvPicPr/>
          <p:nvPr/>
        </p:nvPicPr>
        <p:blipFill>
          <a:blip r:embed="rId3"/>
          <a:stretch/>
        </p:blipFill>
        <p:spPr>
          <a:xfrm>
            <a:off x="4047480" y="2331720"/>
            <a:ext cx="4096080" cy="511560"/>
          </a:xfrm>
          <a:prstGeom prst="rect">
            <a:avLst/>
          </a:prstGeom>
          <a:ln w="0">
            <a:noFill/>
          </a:ln>
        </p:spPr>
      </p:pic>
      <p:sp>
        <p:nvSpPr>
          <p:cNvPr id="683" name="o14"/>
          <p:cNvSpPr/>
          <p:nvPr/>
        </p:nvSpPr>
        <p:spPr>
          <a:xfrm>
            <a:off x="1371600" y="3108960"/>
            <a:ext cx="9448200" cy="4111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2000" spc="-1" strike="noStrike">
                <a:solidFill>
                  <a:srgbClr val="c4c4e4"/>
                </a:solidFill>
                <a:latin typeface="Arial"/>
                <a:ea typeface="Arial"/>
              </a:rPr>
              <a:t>4 découvertes sur l'industrie du jeu vidéo</a:t>
            </a:r>
            <a:endParaRPr b="0" lang="en-US" sz="2000" spc="-1" strike="noStrike">
              <a:solidFill>
                <a:srgbClr val="ffffff"/>
              </a:solidFill>
              <a:latin typeface="Arial"/>
            </a:endParaRPr>
          </a:p>
        </p:txBody>
      </p:sp>
      <p:sp>
        <p:nvSpPr>
          <p:cNvPr id="684" name="o15"/>
          <p:cNvSpPr/>
          <p:nvPr/>
        </p:nvSpPr>
        <p:spPr>
          <a:xfrm>
            <a:off x="37080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85" name="o16"/>
          <p:cNvSpPr/>
          <p:nvPr/>
        </p:nvSpPr>
        <p:spPr>
          <a:xfrm>
            <a:off x="40737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86" name="o17"/>
          <p:cNvSpPr/>
          <p:nvPr/>
        </p:nvSpPr>
        <p:spPr>
          <a:xfrm>
            <a:off x="44395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87" name="o18"/>
          <p:cNvSpPr/>
          <p:nvPr/>
        </p:nvSpPr>
        <p:spPr>
          <a:xfrm>
            <a:off x="48052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88" name="o19"/>
          <p:cNvSpPr/>
          <p:nvPr/>
        </p:nvSpPr>
        <p:spPr>
          <a:xfrm>
            <a:off x="51710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89" name="o20"/>
          <p:cNvSpPr/>
          <p:nvPr/>
        </p:nvSpPr>
        <p:spPr>
          <a:xfrm>
            <a:off x="55368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0" name="o21"/>
          <p:cNvSpPr/>
          <p:nvPr/>
        </p:nvSpPr>
        <p:spPr>
          <a:xfrm>
            <a:off x="59025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1" name="o22"/>
          <p:cNvSpPr/>
          <p:nvPr/>
        </p:nvSpPr>
        <p:spPr>
          <a:xfrm>
            <a:off x="62683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2" name="o23"/>
          <p:cNvSpPr/>
          <p:nvPr/>
        </p:nvSpPr>
        <p:spPr>
          <a:xfrm>
            <a:off x="66340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3" name="o24"/>
          <p:cNvSpPr/>
          <p:nvPr/>
        </p:nvSpPr>
        <p:spPr>
          <a:xfrm>
            <a:off x="69998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4" name="o25"/>
          <p:cNvSpPr/>
          <p:nvPr/>
        </p:nvSpPr>
        <p:spPr>
          <a:xfrm>
            <a:off x="73656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5" name="o26"/>
          <p:cNvSpPr/>
          <p:nvPr/>
        </p:nvSpPr>
        <p:spPr>
          <a:xfrm>
            <a:off x="77313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6" name="o27"/>
          <p:cNvSpPr/>
          <p:nvPr/>
        </p:nvSpPr>
        <p:spPr>
          <a:xfrm>
            <a:off x="80971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7" name="o28"/>
          <p:cNvSpPr/>
          <p:nvPr/>
        </p:nvSpPr>
        <p:spPr>
          <a:xfrm>
            <a:off x="84628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8" name="o29"/>
          <p:cNvSpPr/>
          <p:nvPr/>
        </p:nvSpPr>
        <p:spPr>
          <a:xfrm>
            <a:off x="88286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699" name="o30"/>
          <p:cNvSpPr/>
          <p:nvPr/>
        </p:nvSpPr>
        <p:spPr>
          <a:xfrm>
            <a:off x="91944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700" name="o31"/>
          <p:cNvSpPr/>
          <p:nvPr/>
        </p:nvSpPr>
        <p:spPr>
          <a:xfrm>
            <a:off x="95601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701" name="o32"/>
          <p:cNvSpPr/>
          <p:nvPr/>
        </p:nvSpPr>
        <p:spPr>
          <a:xfrm>
            <a:off x="99259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pic>
        <p:nvPicPr>
          <p:cNvPr id="702" name="o33" descr="Pac-Man"/>
          <p:cNvPicPr/>
          <p:nvPr/>
        </p:nvPicPr>
        <p:blipFill>
          <a:blip r:embed="rId4"/>
          <a:stretch/>
        </p:blipFill>
        <p:spPr>
          <a:xfrm>
            <a:off x="2990160" y="3950280"/>
            <a:ext cx="420120" cy="420120"/>
          </a:xfrm>
          <a:prstGeom prst="rect">
            <a:avLst/>
          </a:prstGeom>
          <a:ln w="0">
            <a:noFill/>
          </a:ln>
        </p:spPr>
      </p:pic>
      <p:pic>
        <p:nvPicPr>
          <p:cNvPr id="703" name="o34" descr="fantôme"/>
          <p:cNvPicPr/>
          <p:nvPr/>
        </p:nvPicPr>
        <p:blipFill>
          <a:blip r:embed="rId5"/>
          <a:stretch/>
        </p:blipFill>
        <p:spPr>
          <a:xfrm>
            <a:off x="2350080" y="3950280"/>
            <a:ext cx="420120" cy="420120"/>
          </a:xfrm>
          <a:prstGeom prst="rect">
            <a:avLst/>
          </a:prstGeom>
          <a:ln w="0">
            <a:noFill/>
          </a:ln>
        </p:spPr>
      </p:pic>
      <p:pic>
        <p:nvPicPr>
          <p:cNvPr id="704" name="o35" descr="fantôme"/>
          <p:cNvPicPr/>
          <p:nvPr/>
        </p:nvPicPr>
        <p:blipFill>
          <a:blip r:embed="rId6"/>
          <a:stretch/>
        </p:blipFill>
        <p:spPr>
          <a:xfrm>
            <a:off x="1801440" y="3950280"/>
            <a:ext cx="420120" cy="420120"/>
          </a:xfrm>
          <a:prstGeom prst="rect">
            <a:avLst/>
          </a:prstGeom>
          <a:ln w="0">
            <a:noFill/>
          </a:ln>
        </p:spPr>
      </p:pic>
      <p:pic>
        <p:nvPicPr>
          <p:cNvPr id="705" name="o36" descr="fantôme"/>
          <p:cNvPicPr/>
          <p:nvPr/>
        </p:nvPicPr>
        <p:blipFill>
          <a:blip r:embed="rId7"/>
          <a:stretch/>
        </p:blipFill>
        <p:spPr>
          <a:xfrm>
            <a:off x="1252800" y="3950280"/>
            <a:ext cx="420120" cy="420120"/>
          </a:xfrm>
          <a:prstGeom prst="rect">
            <a:avLst/>
          </a:prstGeom>
          <a:ln w="0">
            <a:noFill/>
          </a:ln>
        </p:spPr>
      </p:pic>
      <p:pic>
        <p:nvPicPr>
          <p:cNvPr id="706" name="o37" descr="fantôme"/>
          <p:cNvPicPr/>
          <p:nvPr/>
        </p:nvPicPr>
        <p:blipFill>
          <a:blip r:embed="rId8"/>
          <a:stretch/>
        </p:blipFill>
        <p:spPr>
          <a:xfrm>
            <a:off x="704160" y="3950280"/>
            <a:ext cx="420120" cy="420120"/>
          </a:xfrm>
          <a:prstGeom prst="rect">
            <a:avLst/>
          </a:prstGeom>
          <a:ln w="0">
            <a:noFill/>
          </a:ln>
        </p:spPr>
      </p:pic>
      <p:pic>
        <p:nvPicPr>
          <p:cNvPr id="707" name="o38" descr="READY!"/>
          <p:cNvPicPr/>
          <p:nvPr/>
        </p:nvPicPr>
        <p:blipFill>
          <a:blip r:embed="rId9"/>
          <a:stretch/>
        </p:blipFill>
        <p:spPr>
          <a:xfrm>
            <a:off x="5492520" y="4617720"/>
            <a:ext cx="1206720" cy="200880"/>
          </a:xfrm>
          <a:prstGeom prst="rect">
            <a:avLst/>
          </a:prstGeom>
          <a:ln w="0">
            <a:noFill/>
          </a:ln>
        </p:spPr>
      </p:pic>
      <p:pic>
        <p:nvPicPr>
          <p:cNvPr id="708" name="o63" descr="super pac-gomme"/>
          <p:cNvPicPr/>
          <p:nvPr/>
        </p:nvPicPr>
        <p:blipFill>
          <a:blip r:embed="rId10"/>
          <a:stretch/>
        </p:blipFill>
        <p:spPr>
          <a:xfrm>
            <a:off x="11448360" y="6355080"/>
            <a:ext cx="182520" cy="182520"/>
          </a:xfrm>
          <a:prstGeom prst="rect">
            <a:avLst/>
          </a:prstGeom>
          <a:ln w="0">
            <a:noFill/>
          </a:ln>
        </p:spPr>
      </p:pic>
      <p:pic>
        <p:nvPicPr>
          <p:cNvPr id="709" name="barre_fantome" descr="image.gif"/>
          <p:cNvPicPr/>
          <p:nvPr/>
        </p:nvPicPr>
        <p:blipFill>
          <a:blip r:embed="rId11"/>
          <a:stretch/>
        </p:blipFill>
        <p:spPr>
          <a:xfrm>
            <a:off x="2315088" y="6291000"/>
            <a:ext cx="310680" cy="310680"/>
          </a:xfrm>
          <a:prstGeom prst="rect">
            <a:avLst/>
          </a:prstGeom>
          <a:ln w="0">
            <a:noFill/>
          </a:ln>
        </p:spPr>
      </p:pic>
      <p:sp>
        <p:nvSpPr>
          <p:cNvPr id="711" name="barre_pastille"/>
          <p:cNvSpPr/>
          <p:nvPr/>
        </p:nvSpPr>
        <p:spPr>
          <a:xfrm>
            <a:off x="3200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11" name="barre_pastille"/>
          <p:cNvSpPr/>
          <p:nvPr/>
        </p:nvSpPr>
        <p:spPr>
          <a:xfrm>
            <a:off x="3429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12"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13"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14"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15"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16"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17"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18"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19"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0"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1"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2"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3"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4"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5"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6"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7"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8"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29"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0"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1"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2"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3"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4"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5"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6"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7"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8"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39"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40"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41"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42"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43"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44"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45"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710" name="barre_pacman" descr="image.gif"/>
          <p:cNvPicPr/>
          <p:nvPr/>
        </p:nvPicPr>
        <p:blipFill>
          <a:blip r:embed="rId12"/>
          <a:stretch/>
        </p:blipFill>
        <p:spPr>
          <a:xfrm>
            <a:off x="2882088" y="6291000"/>
            <a:ext cx="310680" cy="310680"/>
          </a:xfrm>
          <a:prstGeom prst="rect">
            <a:avLst/>
          </a:prstGeom>
          <a:ln w="0">
            <a:noFill/>
          </a:ln>
        </p:spPr>
      </p:pic>
      <p:sp>
        <p:nvSpPr>
          <p:cNvPr id="746"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707" dur="indefinite" restart="never" nodeType="tmRoot">
          <p:childTnLst>
            <p:seq>
              <p:cTn id="708" dur="indefinite" nodeType="mainSeq">
                <p:childTnLst>
                  <p:par>
                    <p:cTn id="709" fill="hold">
                      <p:stCondLst>
                        <p:cond delay="0"/>
                      </p:stCondLst>
                      <p:childTnLst>
                        <p:par>
                          <p:cTn id="710" fill="hold">
                            <p:stCondLst>
                              <p:cond delay="0"/>
                            </p:stCondLst>
                            <p:childTnLst>
                              <p:par>
                                <p:cTn id="711" nodeType="withEffect" fill="hold" presetClass="path">
                                  <p:stCondLst>
                                    <p:cond delay="0"/>
                                  </p:stCondLst>
                                  <p:childTnLst>
                                    <p:animMotion origin="layout" path="M 0 0 L 0.02252 0 E">
                                      <p:cBhvr>
                                        <p:cTn id="712" dur="900" fill="hold"/>
                                        <p:tgtEl>
                                          <p:spTgt spid="709"/>
                                        </p:tgtEl>
                                        <p:attrNameLst>
                                          <p:attrName>ppt_x</p:attrName>
                                          <p:attrName>ppt_y</p:attrName>
                                        </p:attrNameLst>
                                      </p:cBhvr>
                                    </p:animMotion>
                                  </p:childTnLst>
                                </p:cTn>
                              </p:par>
                              <p:par>
                                <p:cTn id="713" nodeType="withEffect" fill="hold" presetClass="path">
                                  <p:stCondLst>
                                    <p:cond delay="0"/>
                                  </p:stCondLst>
                                  <p:childTnLst>
                                    <p:animMotion origin="layout" path="M 0 0 L 0.02252 0 E">
                                      <p:cBhvr>
                                        <p:cTn id="714" dur="900" fill="hold"/>
                                        <p:tgtEl>
                                          <p:spTgt spid="710"/>
                                        </p:tgtEl>
                                        <p:attrNameLst>
                                          <p:attrName>ppt_x</p:attrName>
                                          <p:attrName>ppt_y</p:attrName>
                                        </p:attrNameLst>
                                      </p:cBhvr>
                                    </p:animMotion>
                                  </p:childTnLst>
                                </p:cTn>
                              </p:par>
                              <p:par>
                                <p:cTn id="715" nodeType="withEffect" fill="hold" presetClass="exit" presetID="1">
                                  <p:stCondLst>
                                    <p:cond delay="354"/>
                                  </p:stCondLst>
                                  <p:childTnLst>
                                    <p:set>
                                      <p:cBhvr>
                                        <p:cTn id="716" dur="1" fill="hold">
                                          <p:stCondLst>
                                            <p:cond delay="0"/>
                                          </p:stCondLst>
                                        </p:cTn>
                                        <p:tgtEl>
                                          <p:spTgt spid="711"/>
                                        </p:tgtEl>
                                        <p:attrNameLst>
                                          <p:attrName>style.visibility</p:attrName>
                                        </p:attrNameLst>
                                      </p:cBhvr>
                                      <p:to>
                                        <p:strVal val="hidden"/>
                                      </p:to>
                                    </p:set>
                                  </p:childTnLst>
                                </p:cTn>
                              </p:par>
                              <p:par>
                                <p:cTn id="717" nodeType="withEffect" fill="hold" presetClass="exit" presetID="1">
                                  <p:stCondLst>
                                    <p:cond delay="1054"/>
                                  </p:stCondLst>
                                  <p:childTnLst>
                                    <p:set>
                                      <p:cBhvr>
                                        <p:cTn id="718" dur="1" fill="hold">
                                          <p:stCondLst>
                                            <p:cond delay="0"/>
                                          </p:stCondLst>
                                        </p:cTn>
                                        <p:tgtEl>
                                          <p:spTgt spid="684"/>
                                        </p:tgtEl>
                                        <p:attrNameLst>
                                          <p:attrName>style.visibility</p:attrName>
                                        </p:attrNameLst>
                                      </p:cBhvr>
                                      <p:to>
                                        <p:strVal val="hidden"/>
                                      </p:to>
                                    </p:set>
                                  </p:childTnLst>
                                </p:cTn>
                              </p:par>
                              <p:par>
                                <p:cTn id="719" nodeType="withEffect" fill="hold" presetClass="exit" presetID="1">
                                  <p:stCondLst>
                                    <p:cond delay="1191"/>
                                  </p:stCondLst>
                                  <p:childTnLst>
                                    <p:set>
                                      <p:cBhvr>
                                        <p:cTn id="720" dur="1" fill="hold">
                                          <p:stCondLst>
                                            <p:cond delay="0"/>
                                          </p:stCondLst>
                                        </p:cTn>
                                        <p:tgtEl>
                                          <p:spTgt spid="685"/>
                                        </p:tgtEl>
                                        <p:attrNameLst>
                                          <p:attrName>style.visibility</p:attrName>
                                        </p:attrNameLst>
                                      </p:cBhvr>
                                      <p:to>
                                        <p:strVal val="hidden"/>
                                      </p:to>
                                    </p:set>
                                  </p:childTnLst>
                                </p:cTn>
                              </p:par>
                              <p:par>
                                <p:cTn id="721" nodeType="withEffect" fill="hold" presetClass="exit" presetID="1">
                                  <p:stCondLst>
                                    <p:cond delay="1328"/>
                                  </p:stCondLst>
                                  <p:childTnLst>
                                    <p:set>
                                      <p:cBhvr>
                                        <p:cTn id="722" dur="1" fill="hold">
                                          <p:stCondLst>
                                            <p:cond delay="0"/>
                                          </p:stCondLst>
                                        </p:cTn>
                                        <p:tgtEl>
                                          <p:spTgt spid="686"/>
                                        </p:tgtEl>
                                        <p:attrNameLst>
                                          <p:attrName>style.visibility</p:attrName>
                                        </p:attrNameLst>
                                      </p:cBhvr>
                                      <p:to>
                                        <p:strVal val="hidden"/>
                                      </p:to>
                                    </p:set>
                                  </p:childTnLst>
                                </p:cTn>
                              </p:par>
                              <p:par>
                                <p:cTn id="723" nodeType="withEffect" fill="hold" presetClass="exit" presetID="1">
                                  <p:stCondLst>
                                    <p:cond delay="1464"/>
                                  </p:stCondLst>
                                  <p:childTnLst>
                                    <p:set>
                                      <p:cBhvr>
                                        <p:cTn id="724" dur="1" fill="hold">
                                          <p:stCondLst>
                                            <p:cond delay="0"/>
                                          </p:stCondLst>
                                        </p:cTn>
                                        <p:tgtEl>
                                          <p:spTgt spid="687"/>
                                        </p:tgtEl>
                                        <p:attrNameLst>
                                          <p:attrName>style.visibility</p:attrName>
                                        </p:attrNameLst>
                                      </p:cBhvr>
                                      <p:to>
                                        <p:strVal val="hidden"/>
                                      </p:to>
                                    </p:set>
                                  </p:childTnLst>
                                </p:cTn>
                              </p:par>
                              <p:par>
                                <p:cTn id="725" nodeType="withEffect" fill="hold" presetClass="exit" presetID="1">
                                  <p:stCondLst>
                                    <p:cond delay="1601"/>
                                  </p:stCondLst>
                                  <p:childTnLst>
                                    <p:set>
                                      <p:cBhvr>
                                        <p:cTn id="726" dur="1" fill="hold">
                                          <p:stCondLst>
                                            <p:cond delay="0"/>
                                          </p:stCondLst>
                                        </p:cTn>
                                        <p:tgtEl>
                                          <p:spTgt spid="688"/>
                                        </p:tgtEl>
                                        <p:attrNameLst>
                                          <p:attrName>style.visibility</p:attrName>
                                        </p:attrNameLst>
                                      </p:cBhvr>
                                      <p:to>
                                        <p:strVal val="hidden"/>
                                      </p:to>
                                    </p:set>
                                  </p:childTnLst>
                                </p:cTn>
                              </p:par>
                              <p:par>
                                <p:cTn id="727" nodeType="withEffect" fill="hold" presetClass="exit" presetID="1">
                                  <p:stCondLst>
                                    <p:cond delay="1738"/>
                                  </p:stCondLst>
                                  <p:childTnLst>
                                    <p:set>
                                      <p:cBhvr>
                                        <p:cTn id="728" dur="1" fill="hold">
                                          <p:stCondLst>
                                            <p:cond delay="0"/>
                                          </p:stCondLst>
                                        </p:cTn>
                                        <p:tgtEl>
                                          <p:spTgt spid="689"/>
                                        </p:tgtEl>
                                        <p:attrNameLst>
                                          <p:attrName>style.visibility</p:attrName>
                                        </p:attrNameLst>
                                      </p:cBhvr>
                                      <p:to>
                                        <p:strVal val="hidden"/>
                                      </p:to>
                                    </p:set>
                                  </p:childTnLst>
                                </p:cTn>
                              </p:par>
                              <p:par>
                                <p:cTn id="729" nodeType="withEffect" fill="hold" presetClass="exit" presetID="1">
                                  <p:stCondLst>
                                    <p:cond delay="1875"/>
                                  </p:stCondLst>
                                  <p:childTnLst>
                                    <p:set>
                                      <p:cBhvr>
                                        <p:cTn id="730" dur="1" fill="hold">
                                          <p:stCondLst>
                                            <p:cond delay="0"/>
                                          </p:stCondLst>
                                        </p:cTn>
                                        <p:tgtEl>
                                          <p:spTgt spid="690"/>
                                        </p:tgtEl>
                                        <p:attrNameLst>
                                          <p:attrName>style.visibility</p:attrName>
                                        </p:attrNameLst>
                                      </p:cBhvr>
                                      <p:to>
                                        <p:strVal val="hidden"/>
                                      </p:to>
                                    </p:set>
                                  </p:childTnLst>
                                </p:cTn>
                              </p:par>
                              <p:par>
                                <p:cTn id="731" nodeType="withEffect" fill="hold" presetClass="exit" presetID="1">
                                  <p:stCondLst>
                                    <p:cond delay="2012"/>
                                  </p:stCondLst>
                                  <p:childTnLst>
                                    <p:set>
                                      <p:cBhvr>
                                        <p:cTn id="732" dur="1" fill="hold">
                                          <p:stCondLst>
                                            <p:cond delay="0"/>
                                          </p:stCondLst>
                                        </p:cTn>
                                        <p:tgtEl>
                                          <p:spTgt spid="691"/>
                                        </p:tgtEl>
                                        <p:attrNameLst>
                                          <p:attrName>style.visibility</p:attrName>
                                        </p:attrNameLst>
                                      </p:cBhvr>
                                      <p:to>
                                        <p:strVal val="hidden"/>
                                      </p:to>
                                    </p:set>
                                  </p:childTnLst>
                                </p:cTn>
                              </p:par>
                              <p:par>
                                <p:cTn id="733" nodeType="withEffect" fill="hold" presetClass="exit" presetID="1">
                                  <p:stCondLst>
                                    <p:cond delay="2149"/>
                                  </p:stCondLst>
                                  <p:childTnLst>
                                    <p:set>
                                      <p:cBhvr>
                                        <p:cTn id="734" dur="1" fill="hold">
                                          <p:stCondLst>
                                            <p:cond delay="0"/>
                                          </p:stCondLst>
                                        </p:cTn>
                                        <p:tgtEl>
                                          <p:spTgt spid="692"/>
                                        </p:tgtEl>
                                        <p:attrNameLst>
                                          <p:attrName>style.visibility</p:attrName>
                                        </p:attrNameLst>
                                      </p:cBhvr>
                                      <p:to>
                                        <p:strVal val="hidden"/>
                                      </p:to>
                                    </p:set>
                                  </p:childTnLst>
                                </p:cTn>
                              </p:par>
                              <p:par>
                                <p:cTn id="735" nodeType="withEffect" fill="hold" presetClass="exit" presetID="1">
                                  <p:stCondLst>
                                    <p:cond delay="2286"/>
                                  </p:stCondLst>
                                  <p:childTnLst>
                                    <p:set>
                                      <p:cBhvr>
                                        <p:cTn id="736" dur="1" fill="hold">
                                          <p:stCondLst>
                                            <p:cond delay="0"/>
                                          </p:stCondLst>
                                        </p:cTn>
                                        <p:tgtEl>
                                          <p:spTgt spid="693"/>
                                        </p:tgtEl>
                                        <p:attrNameLst>
                                          <p:attrName>style.visibility</p:attrName>
                                        </p:attrNameLst>
                                      </p:cBhvr>
                                      <p:to>
                                        <p:strVal val="hidden"/>
                                      </p:to>
                                    </p:set>
                                  </p:childTnLst>
                                </p:cTn>
                              </p:par>
                              <p:par>
                                <p:cTn id="737" nodeType="withEffect" fill="hold" presetClass="exit" presetID="1">
                                  <p:stCondLst>
                                    <p:cond delay="2422"/>
                                  </p:stCondLst>
                                  <p:childTnLst>
                                    <p:set>
                                      <p:cBhvr>
                                        <p:cTn id="738" dur="1" fill="hold">
                                          <p:stCondLst>
                                            <p:cond delay="0"/>
                                          </p:stCondLst>
                                        </p:cTn>
                                        <p:tgtEl>
                                          <p:spTgt spid="694"/>
                                        </p:tgtEl>
                                        <p:attrNameLst>
                                          <p:attrName>style.visibility</p:attrName>
                                        </p:attrNameLst>
                                      </p:cBhvr>
                                      <p:to>
                                        <p:strVal val="hidden"/>
                                      </p:to>
                                    </p:set>
                                  </p:childTnLst>
                                </p:cTn>
                              </p:par>
                              <p:par>
                                <p:cTn id="739" nodeType="withEffect" fill="hold" presetClass="exit" presetID="1">
                                  <p:stCondLst>
                                    <p:cond delay="2559"/>
                                  </p:stCondLst>
                                  <p:childTnLst>
                                    <p:set>
                                      <p:cBhvr>
                                        <p:cTn id="740" dur="1" fill="hold">
                                          <p:stCondLst>
                                            <p:cond delay="0"/>
                                          </p:stCondLst>
                                        </p:cTn>
                                        <p:tgtEl>
                                          <p:spTgt spid="695"/>
                                        </p:tgtEl>
                                        <p:attrNameLst>
                                          <p:attrName>style.visibility</p:attrName>
                                        </p:attrNameLst>
                                      </p:cBhvr>
                                      <p:to>
                                        <p:strVal val="hidden"/>
                                      </p:to>
                                    </p:set>
                                  </p:childTnLst>
                                </p:cTn>
                              </p:par>
                              <p:par>
                                <p:cTn id="741" nodeType="withEffect" fill="hold" presetClass="exit" presetID="1">
                                  <p:stCondLst>
                                    <p:cond delay="2696"/>
                                  </p:stCondLst>
                                  <p:childTnLst>
                                    <p:set>
                                      <p:cBhvr>
                                        <p:cTn id="742" dur="1" fill="hold">
                                          <p:stCondLst>
                                            <p:cond delay="0"/>
                                          </p:stCondLst>
                                        </p:cTn>
                                        <p:tgtEl>
                                          <p:spTgt spid="696"/>
                                        </p:tgtEl>
                                        <p:attrNameLst>
                                          <p:attrName>style.visibility</p:attrName>
                                        </p:attrNameLst>
                                      </p:cBhvr>
                                      <p:to>
                                        <p:strVal val="hidden"/>
                                      </p:to>
                                    </p:set>
                                  </p:childTnLst>
                                </p:cTn>
                              </p:par>
                              <p:par>
                                <p:cTn id="743" nodeType="withEffect" fill="hold" presetClass="exit" presetID="1">
                                  <p:stCondLst>
                                    <p:cond delay="2833"/>
                                  </p:stCondLst>
                                  <p:childTnLst>
                                    <p:set>
                                      <p:cBhvr>
                                        <p:cTn id="744" dur="1" fill="hold">
                                          <p:stCondLst>
                                            <p:cond delay="0"/>
                                          </p:stCondLst>
                                        </p:cTn>
                                        <p:tgtEl>
                                          <p:spTgt spid="697"/>
                                        </p:tgtEl>
                                        <p:attrNameLst>
                                          <p:attrName>style.visibility</p:attrName>
                                        </p:attrNameLst>
                                      </p:cBhvr>
                                      <p:to>
                                        <p:strVal val="hidden"/>
                                      </p:to>
                                    </p:set>
                                  </p:childTnLst>
                                </p:cTn>
                              </p:par>
                              <p:par>
                                <p:cTn id="745" nodeType="withEffect" fill="hold" presetClass="exit" presetID="1">
                                  <p:stCondLst>
                                    <p:cond delay="2970"/>
                                  </p:stCondLst>
                                  <p:childTnLst>
                                    <p:set>
                                      <p:cBhvr>
                                        <p:cTn id="746" dur="1" fill="hold">
                                          <p:stCondLst>
                                            <p:cond delay="0"/>
                                          </p:stCondLst>
                                        </p:cTn>
                                        <p:tgtEl>
                                          <p:spTgt spid="698"/>
                                        </p:tgtEl>
                                        <p:attrNameLst>
                                          <p:attrName>style.visibility</p:attrName>
                                        </p:attrNameLst>
                                      </p:cBhvr>
                                      <p:to>
                                        <p:strVal val="hidden"/>
                                      </p:to>
                                    </p:set>
                                  </p:childTnLst>
                                </p:cTn>
                              </p:par>
                              <p:par>
                                <p:cTn id="747" nodeType="withEffect" fill="hold" presetClass="exit" presetID="1">
                                  <p:stCondLst>
                                    <p:cond delay="3107"/>
                                  </p:stCondLst>
                                  <p:childTnLst>
                                    <p:set>
                                      <p:cBhvr>
                                        <p:cTn id="748" dur="1" fill="hold">
                                          <p:stCondLst>
                                            <p:cond delay="0"/>
                                          </p:stCondLst>
                                        </p:cTn>
                                        <p:tgtEl>
                                          <p:spTgt spid="699"/>
                                        </p:tgtEl>
                                        <p:attrNameLst>
                                          <p:attrName>style.visibility</p:attrName>
                                        </p:attrNameLst>
                                      </p:cBhvr>
                                      <p:to>
                                        <p:strVal val="hidden"/>
                                      </p:to>
                                    </p:set>
                                  </p:childTnLst>
                                </p:cTn>
                              </p:par>
                              <p:par>
                                <p:cTn id="749" nodeType="withEffect" fill="hold" presetClass="exit" presetID="1">
                                  <p:stCondLst>
                                    <p:cond delay="3243"/>
                                  </p:stCondLst>
                                  <p:childTnLst>
                                    <p:set>
                                      <p:cBhvr>
                                        <p:cTn id="750" dur="1" fill="hold">
                                          <p:stCondLst>
                                            <p:cond delay="0"/>
                                          </p:stCondLst>
                                        </p:cTn>
                                        <p:tgtEl>
                                          <p:spTgt spid="700"/>
                                        </p:tgtEl>
                                        <p:attrNameLst>
                                          <p:attrName>style.visibility</p:attrName>
                                        </p:attrNameLst>
                                      </p:cBhvr>
                                      <p:to>
                                        <p:strVal val="hidden"/>
                                      </p:to>
                                    </p:set>
                                  </p:childTnLst>
                                </p:cTn>
                              </p:par>
                              <p:par>
                                <p:cTn id="751" nodeType="withEffect" fill="hold" presetClass="exit" presetID="1">
                                  <p:stCondLst>
                                    <p:cond delay="3380"/>
                                  </p:stCondLst>
                                  <p:childTnLst>
                                    <p:set>
                                      <p:cBhvr>
                                        <p:cTn id="752" dur="1" fill="hold">
                                          <p:stCondLst>
                                            <p:cond delay="0"/>
                                          </p:stCondLst>
                                        </p:cTn>
                                        <p:tgtEl>
                                          <p:spTgt spid="701"/>
                                        </p:tgtEl>
                                        <p:attrNameLst>
                                          <p:attrName>style.visibility</p:attrName>
                                        </p:attrNameLst>
                                      </p:cBhvr>
                                      <p:to>
                                        <p:strVal val="hidden"/>
                                      </p:to>
                                    </p:set>
                                  </p:childTnLst>
                                </p:cTn>
                              </p:par>
                              <p:par>
                                <p:cTn id="753" nodeType="withEffect" fill="hold" presetClass="path">
                                  <p:stCondLst>
                                    <p:cond delay="900"/>
                                  </p:stCondLst>
                                  <p:childTnLst>
                                    <p:animMotion origin="layout" path="M 0 0 L 0.57001 0 E">
                                      <p:cBhvr>
                                        <p:cTn id="754" dur="2600" fill="hold"/>
                                        <p:tgtEl>
                                          <p:spTgt spid="702"/>
                                        </p:tgtEl>
                                        <p:attrNameLst>
                                          <p:attrName>ppt_x</p:attrName>
                                          <p:attrName>ppt_y</p:attrName>
                                        </p:attrNameLst>
                                      </p:cBhvr>
                                    </p:animMotion>
                                  </p:childTnLst>
                                </p:cTn>
                              </p:par>
                              <p:par>
                                <p:cTn id="755" nodeType="withEffect" fill="hold" presetClass="path">
                                  <p:stCondLst>
                                    <p:cond delay="900"/>
                                  </p:stCondLst>
                                  <p:childTnLst>
                                    <p:animMotion origin="layout" path="M 0 0 L 0.57001 0 E">
                                      <p:cBhvr>
                                        <p:cTn id="756" dur="2600" fill="hold"/>
                                        <p:tgtEl>
                                          <p:spTgt spid="703"/>
                                        </p:tgtEl>
                                        <p:attrNameLst>
                                          <p:attrName>ppt_x</p:attrName>
                                          <p:attrName>ppt_y</p:attrName>
                                        </p:attrNameLst>
                                      </p:cBhvr>
                                    </p:animMotion>
                                  </p:childTnLst>
                                </p:cTn>
                              </p:par>
                              <p:par>
                                <p:cTn id="757" nodeType="withEffect" fill="hold" presetClass="path">
                                  <p:stCondLst>
                                    <p:cond delay="900"/>
                                  </p:stCondLst>
                                  <p:childTnLst>
                                    <p:animMotion origin="layout" path="M 0 0 L 0.57001 0 E">
                                      <p:cBhvr>
                                        <p:cTn id="758" dur="2600" fill="hold"/>
                                        <p:tgtEl>
                                          <p:spTgt spid="704"/>
                                        </p:tgtEl>
                                        <p:attrNameLst>
                                          <p:attrName>ppt_x</p:attrName>
                                          <p:attrName>ppt_y</p:attrName>
                                        </p:attrNameLst>
                                      </p:cBhvr>
                                    </p:animMotion>
                                  </p:childTnLst>
                                </p:cTn>
                              </p:par>
                              <p:par>
                                <p:cTn id="759" nodeType="withEffect" fill="hold" presetClass="path">
                                  <p:stCondLst>
                                    <p:cond delay="900"/>
                                  </p:stCondLst>
                                  <p:childTnLst>
                                    <p:animMotion origin="layout" path="M 0 0 L 0.57001 0 E">
                                      <p:cBhvr>
                                        <p:cTn id="760" dur="2600" fill="hold"/>
                                        <p:tgtEl>
                                          <p:spTgt spid="705"/>
                                        </p:tgtEl>
                                        <p:attrNameLst>
                                          <p:attrName>ppt_x</p:attrName>
                                          <p:attrName>ppt_y</p:attrName>
                                        </p:attrNameLst>
                                      </p:cBhvr>
                                    </p:animMotion>
                                  </p:childTnLst>
                                </p:cTn>
                              </p:par>
                              <p:par>
                                <p:cTn id="761" nodeType="withEffect" fill="hold" presetClass="path">
                                  <p:stCondLst>
                                    <p:cond delay="900"/>
                                  </p:stCondLst>
                                  <p:childTnLst>
                                    <p:animMotion origin="layout" path="M 0 0 L 0.57001 0 E">
                                      <p:cBhvr>
                                        <p:cTn id="762" dur="2600" fill="hold"/>
                                        <p:tgtEl>
                                          <p:spTgt spid="706"/>
                                        </p:tgtEl>
                                        <p:attrNameLst>
                                          <p:attrName>ppt_x</p:attrName>
                                          <p:attrName>ppt_y</p:attrName>
                                        </p:attrNameLst>
                                      </p:cBhvr>
                                    </p:animMotion>
                                  </p:childTnLst>
                                </p:cTn>
                              </p:par>
                              <p:par>
                                <p:cTn id="763" nodeType="withEffect" fill="hold" presetClass="exit" presetID="1">
                                  <p:stCondLst>
                                    <p:cond delay="900"/>
                                  </p:stCondLst>
                                  <p:childTnLst>
                                    <p:set>
                                      <p:cBhvr>
                                        <p:cTn id="764" dur="1" fill="hold">
                                          <p:stCondLst>
                                            <p:cond delay="0"/>
                                          </p:stCondLst>
                                        </p:cTn>
                                        <p:tgtEl>
                                          <p:spTgt spid="70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747" name="o1" descr="LEVEL 4 → INSIGHT 1/4"/>
          <p:cNvPicPr/>
          <p:nvPr/>
        </p:nvPicPr>
        <p:blipFill>
          <a:blip r:embed="rId1"/>
          <a:stretch/>
        </p:blipFill>
        <p:spPr>
          <a:xfrm>
            <a:off x="548640" y="411480"/>
            <a:ext cx="3071880" cy="145800"/>
          </a:xfrm>
          <a:prstGeom prst="rect">
            <a:avLst/>
          </a:prstGeom>
          <a:ln w="0">
            <a:noFill/>
          </a:ln>
        </p:spPr>
      </p:pic>
      <p:pic>
        <p:nvPicPr>
          <p:cNvPr id="748" name="o2" descr="Un marché de blockbusters"/>
          <p:cNvPicPr/>
          <p:nvPr/>
        </p:nvPicPr>
        <p:blipFill>
          <a:blip r:embed="rId2"/>
          <a:stretch/>
        </p:blipFill>
        <p:spPr>
          <a:xfrm>
            <a:off x="548640" y="777240"/>
            <a:ext cx="6857640" cy="273960"/>
          </a:xfrm>
          <a:prstGeom prst="rect">
            <a:avLst/>
          </a:prstGeom>
          <a:ln w="0">
            <a:noFill/>
          </a:ln>
        </p:spPr>
      </p:pic>
      <p:pic>
        <p:nvPicPr>
          <p:cNvPr id="749" name="o3" descr="apple"/>
          <p:cNvPicPr/>
          <p:nvPr/>
        </p:nvPicPr>
        <p:blipFill>
          <a:blip r:embed="rId3"/>
          <a:stretch/>
        </p:blipFill>
        <p:spPr>
          <a:xfrm>
            <a:off x="11073240" y="365760"/>
            <a:ext cx="566640" cy="566640"/>
          </a:xfrm>
          <a:prstGeom prst="rect">
            <a:avLst/>
          </a:prstGeom>
          <a:ln w="0">
            <a:noFill/>
          </a:ln>
        </p:spPr>
      </p:pic>
      <p:pic>
        <p:nvPicPr>
          <p:cNvPr id="750" name="o25" descr="super pac-gomme"/>
          <p:cNvPicPr/>
          <p:nvPr/>
        </p:nvPicPr>
        <p:blipFill>
          <a:blip r:embed="rId4"/>
          <a:stretch/>
        </p:blipFill>
        <p:spPr>
          <a:xfrm>
            <a:off x="11448360" y="6355080"/>
            <a:ext cx="182520" cy="182520"/>
          </a:xfrm>
          <a:prstGeom prst="rect">
            <a:avLst/>
          </a:prstGeom>
          <a:ln w="0">
            <a:noFill/>
          </a:ln>
        </p:spPr>
      </p:pic>
      <p:graphicFrame>
        <p:nvGraphicFramePr>
          <p:cNvPr id="751" name="o28"/>
          <p:cNvGraphicFramePr/>
          <p:nvPr/>
        </p:nvGraphicFramePr>
        <p:xfrm>
          <a:off x="457200" y="1600200"/>
          <a:ext cx="7314840" cy="4434480"/>
        </p:xfrm>
        <a:graphic>
          <a:graphicData uri="http://schemas.openxmlformats.org/drawingml/2006/chart">
            <c:chart xmlns:c="http://schemas.openxmlformats.org/drawingml/2006/chart" xmlns:r="http://schemas.openxmlformats.org/officeDocument/2006/relationships" r:id="rId5"/>
          </a:graphicData>
        </a:graphic>
      </p:graphicFrame>
      <p:sp>
        <p:nvSpPr>
          <p:cNvPr id="752" name="o29"/>
          <p:cNvSpPr/>
          <p:nvPr/>
        </p:nvSpPr>
        <p:spPr>
          <a:xfrm>
            <a:off x="8183880" y="1691640"/>
            <a:ext cx="3456000" cy="2468520"/>
          </a:xfrm>
          <a:prstGeom prst="roundRect">
            <a:avLst>
              <a:gd name="adj" fmla="val 5185"/>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53" name="o30"/>
          <p:cNvSpPr/>
          <p:nvPr/>
        </p:nvSpPr>
        <p:spPr>
          <a:xfrm>
            <a:off x="8252640" y="1760400"/>
            <a:ext cx="3318840" cy="2331360"/>
          </a:xfrm>
          <a:prstGeom prst="roundRect">
            <a:avLst>
              <a:gd name="adj" fmla="val 2549"/>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754" name="o31" descr="10%"/>
          <p:cNvPicPr/>
          <p:nvPr/>
        </p:nvPicPr>
        <p:blipFill>
          <a:blip r:embed="rId6"/>
          <a:stretch/>
        </p:blipFill>
        <p:spPr>
          <a:xfrm>
            <a:off x="8503920" y="2011680"/>
            <a:ext cx="1151640" cy="383760"/>
          </a:xfrm>
          <a:prstGeom prst="rect">
            <a:avLst/>
          </a:prstGeom>
          <a:ln w="0">
            <a:noFill/>
          </a:ln>
        </p:spPr>
      </p:pic>
      <p:sp>
        <p:nvSpPr>
          <p:cNvPr id="755" name="o32"/>
          <p:cNvSpPr/>
          <p:nvPr/>
        </p:nvSpPr>
        <p:spPr>
          <a:xfrm>
            <a:off x="9747360" y="2011680"/>
            <a:ext cx="1462680" cy="38376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0" lang="en-US" sz="1800" spc="-1" strike="noStrike">
                <a:solidFill>
                  <a:srgbClr val="c4c4e4"/>
                </a:solidFill>
                <a:latin typeface="Arial"/>
                <a:ea typeface="Arial"/>
              </a:rPr>
              <a:t>des jeux</a:t>
            </a:r>
            <a:endParaRPr b="0" lang="en-US" sz="1800" spc="-1" strike="noStrike">
              <a:solidFill>
                <a:srgbClr val="ffffff"/>
              </a:solidFill>
              <a:latin typeface="Arial"/>
            </a:endParaRPr>
          </a:p>
        </p:txBody>
      </p:sp>
      <p:sp>
        <p:nvSpPr>
          <p:cNvPr id="756" name="o33"/>
          <p:cNvSpPr/>
          <p:nvPr/>
        </p:nvSpPr>
        <p:spPr>
          <a:xfrm>
            <a:off x="8503920" y="2606040"/>
            <a:ext cx="27428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7c7caa"/>
                </a:solidFill>
                <a:latin typeface="Arial"/>
                <a:ea typeface="Arial"/>
              </a:rPr>
              <a:t>réalisent</a:t>
            </a:r>
            <a:endParaRPr b="0" lang="en-US" sz="1600" spc="-1" strike="noStrike">
              <a:solidFill>
                <a:srgbClr val="ffffff"/>
              </a:solidFill>
              <a:latin typeface="Arial"/>
            </a:endParaRPr>
          </a:p>
        </p:txBody>
      </p:sp>
      <p:pic>
        <p:nvPicPr>
          <p:cNvPr id="757" name="o34" descr="59%"/>
          <p:cNvPicPr/>
          <p:nvPr/>
        </p:nvPicPr>
        <p:blipFill>
          <a:blip r:embed="rId7"/>
          <a:stretch/>
        </p:blipFill>
        <p:spPr>
          <a:xfrm>
            <a:off x="8503920" y="3063240"/>
            <a:ext cx="1151640" cy="383760"/>
          </a:xfrm>
          <a:prstGeom prst="rect">
            <a:avLst/>
          </a:prstGeom>
          <a:ln w="0">
            <a:noFill/>
          </a:ln>
        </p:spPr>
      </p:pic>
      <p:sp>
        <p:nvSpPr>
          <p:cNvPr id="758" name="o35"/>
          <p:cNvSpPr/>
          <p:nvPr/>
        </p:nvSpPr>
        <p:spPr>
          <a:xfrm>
            <a:off x="9747360" y="3063240"/>
            <a:ext cx="1645560" cy="38376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0" lang="en-US" sz="1800" spc="-1" strike="noStrike">
                <a:solidFill>
                  <a:srgbClr val="c4c4e4"/>
                </a:solidFill>
                <a:latin typeface="Arial"/>
                <a:ea typeface="Arial"/>
              </a:rPr>
              <a:t>des ventes</a:t>
            </a:r>
            <a:endParaRPr b="0" lang="en-US" sz="1800" spc="-1" strike="noStrike">
              <a:solidFill>
                <a:srgbClr val="ffffff"/>
              </a:solidFill>
              <a:latin typeface="Arial"/>
            </a:endParaRPr>
          </a:p>
        </p:txBody>
      </p:sp>
      <p:sp>
        <p:nvSpPr>
          <p:cNvPr id="759" name="o36"/>
          <p:cNvSpPr/>
          <p:nvPr/>
        </p:nvSpPr>
        <p:spPr>
          <a:xfrm>
            <a:off x="8183880" y="4389120"/>
            <a:ext cx="3456000" cy="1645560"/>
          </a:xfrm>
          <a:prstGeom prst="roundRect">
            <a:avLst>
              <a:gd name="adj" fmla="val 7778"/>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60" name="o37"/>
          <p:cNvSpPr/>
          <p:nvPr/>
        </p:nvSpPr>
        <p:spPr>
          <a:xfrm>
            <a:off x="8252640" y="4457880"/>
            <a:ext cx="3318840" cy="1508400"/>
          </a:xfrm>
          <a:prstGeom prst="roundRect">
            <a:avLst>
              <a:gd name="adj" fmla="val 3939"/>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761" name="o38" descr="0,17 M"/>
          <p:cNvPicPr/>
          <p:nvPr/>
        </p:nvPicPr>
        <p:blipFill>
          <a:blip r:embed="rId8"/>
          <a:stretch/>
        </p:blipFill>
        <p:spPr>
          <a:xfrm>
            <a:off x="8503920" y="4663440"/>
            <a:ext cx="1535760" cy="255600"/>
          </a:xfrm>
          <a:prstGeom prst="rect">
            <a:avLst/>
          </a:prstGeom>
          <a:ln w="0">
            <a:noFill/>
          </a:ln>
        </p:spPr>
      </p:pic>
      <p:sp>
        <p:nvSpPr>
          <p:cNvPr id="762" name="o39"/>
          <p:cNvSpPr/>
          <p:nvPr/>
        </p:nvSpPr>
        <p:spPr>
          <a:xfrm>
            <a:off x="8503920" y="5074920"/>
            <a:ext cx="2925720" cy="776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ventes médianes d'un jeu : la plupart des titres vendent très peu</a:t>
            </a:r>
            <a:endParaRPr b="0" lang="en-US" sz="1400" spc="-1" strike="noStrike">
              <a:solidFill>
                <a:srgbClr val="ffffff"/>
              </a:solidFill>
              <a:latin typeface="Arial"/>
            </a:endParaRPr>
          </a:p>
        </p:txBody>
      </p:sp>
      <p:pic>
        <p:nvPicPr>
          <p:cNvPr id="763" name="barre_fantome" descr="image.gif"/>
          <p:cNvPicPr/>
          <p:nvPr/>
        </p:nvPicPr>
        <p:blipFill>
          <a:blip r:embed="rId9"/>
          <a:stretch/>
        </p:blipFill>
        <p:spPr>
          <a:xfrm>
            <a:off x="2589624" y="6291000"/>
            <a:ext cx="310680" cy="310680"/>
          </a:xfrm>
          <a:prstGeom prst="rect">
            <a:avLst/>
          </a:prstGeom>
          <a:ln w="0">
            <a:noFill/>
          </a:ln>
        </p:spPr>
      </p:pic>
      <p:sp>
        <p:nvSpPr>
          <p:cNvPr id="765" name="barre_pastille"/>
          <p:cNvSpPr/>
          <p:nvPr/>
        </p:nvSpPr>
        <p:spPr>
          <a:xfrm>
            <a:off x="3657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65"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66"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67"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68"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69"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0"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1"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2"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3"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4"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5"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6"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7"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8"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79"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0"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1"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2"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3"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4"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5"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6"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7"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8"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89"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90"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91"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92"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93"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94"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95"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96"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797"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764" name="barre_pacman" descr="image.gif"/>
          <p:cNvPicPr/>
          <p:nvPr/>
        </p:nvPicPr>
        <p:blipFill>
          <a:blip r:embed="rId10"/>
          <a:stretch/>
        </p:blipFill>
        <p:spPr>
          <a:xfrm>
            <a:off x="3156624" y="6291000"/>
            <a:ext cx="310680" cy="310680"/>
          </a:xfrm>
          <a:prstGeom prst="rect">
            <a:avLst/>
          </a:prstGeom>
          <a:ln w="0">
            <a:noFill/>
          </a:ln>
        </p:spPr>
      </p:pic>
      <p:sp>
        <p:nvSpPr>
          <p:cNvPr id="798"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765" dur="indefinite" restart="never" nodeType="tmRoot">
          <p:childTnLst>
            <p:seq>
              <p:cTn id="766" dur="indefinite" nodeType="mainSeq">
                <p:childTnLst>
                  <p:par>
                    <p:cTn id="767" fill="hold">
                      <p:stCondLst>
                        <p:cond delay="0"/>
                      </p:stCondLst>
                      <p:childTnLst>
                        <p:par>
                          <p:cTn id="768" fill="hold">
                            <p:stCondLst>
                              <p:cond delay="0"/>
                            </p:stCondLst>
                            <p:childTnLst>
                              <p:par>
                                <p:cTn id="769" nodeType="withEffect" fill="hold" presetClass="path">
                                  <p:stCondLst>
                                    <p:cond delay="0"/>
                                  </p:stCondLst>
                                  <p:childTnLst>
                                    <p:animMotion origin="layout" path="M 0 0 L 0.02252 0 E">
                                      <p:cBhvr>
                                        <p:cTn id="770" dur="900" fill="hold"/>
                                        <p:tgtEl>
                                          <p:spTgt spid="763"/>
                                        </p:tgtEl>
                                        <p:attrNameLst>
                                          <p:attrName>ppt_x</p:attrName>
                                          <p:attrName>ppt_y</p:attrName>
                                        </p:attrNameLst>
                                      </p:cBhvr>
                                    </p:animMotion>
                                  </p:childTnLst>
                                </p:cTn>
                              </p:par>
                              <p:par>
                                <p:cTn id="771" nodeType="withEffect" fill="hold" presetClass="path">
                                  <p:stCondLst>
                                    <p:cond delay="0"/>
                                  </p:stCondLst>
                                  <p:childTnLst>
                                    <p:animMotion origin="layout" path="M 0 0 L 0.02252 0 E">
                                      <p:cBhvr>
                                        <p:cTn id="772" dur="900" fill="hold"/>
                                        <p:tgtEl>
                                          <p:spTgt spid="764"/>
                                        </p:tgtEl>
                                        <p:attrNameLst>
                                          <p:attrName>ppt_x</p:attrName>
                                          <p:attrName>ppt_y</p:attrName>
                                        </p:attrNameLst>
                                      </p:cBhvr>
                                    </p:animMotion>
                                  </p:childTnLst>
                                </p:cTn>
                              </p:par>
                              <p:par>
                                <p:cTn id="773" nodeType="withEffect" fill="hold" presetClass="exit" presetID="1">
                                  <p:stCondLst>
                                    <p:cond delay="225"/>
                                  </p:stCondLst>
                                  <p:childTnLst>
                                    <p:set>
                                      <p:cBhvr>
                                        <p:cTn id="774" dur="1" fill="hold">
                                          <p:stCondLst>
                                            <p:cond delay="0"/>
                                          </p:stCondLst>
                                        </p:cTn>
                                        <p:tgtEl>
                                          <p:spTgt spid="765"/>
                                        </p:tgtEl>
                                        <p:attrNameLst>
                                          <p:attrName>style.visibility</p:attrName>
                                        </p:attrNameLst>
                                      </p:cBhvr>
                                      <p:to>
                                        <p:strVal val="hidden"/>
                                      </p:to>
                                    </p:set>
                                  </p:childTnLst>
                                </p:cTn>
                              </p:par>
                              <p:par>
                                <p:cTn id="775" nodeType="withEffect" fill="hold" presetClass="entr" presetID="10">
                                  <p:stCondLst>
                                    <p:cond delay="100"/>
                                  </p:stCondLst>
                                  <p:childTnLst>
                                    <p:set>
                                      <p:cBhvr>
                                        <p:cTn id="776" dur="1" fill="hold">
                                          <p:stCondLst>
                                            <p:cond delay="0"/>
                                          </p:stCondLst>
                                        </p:cTn>
                                        <p:tgtEl>
                                          <p:spTgt spid="751"/>
                                        </p:tgtEl>
                                        <p:attrNameLst>
                                          <p:attrName>style.visibility</p:attrName>
                                        </p:attrNameLst>
                                      </p:cBhvr>
                                      <p:to>
                                        <p:strVal val="visible"/>
                                      </p:to>
                                    </p:set>
                                    <p:animEffect filter="fade" transition="in">
                                      <p:cBhvr additive="repl">
                                        <p:cTn id="777" dur="400"/>
                                        <p:tgtEl>
                                          <p:spTgt spid="751"/>
                                        </p:tgtEl>
                                      </p:cBhvr>
                                    </p:animEffect>
                                  </p:childTnLst>
                                </p:cTn>
                              </p:par>
                              <p:par>
                                <p:cTn id="778" nodeType="withEffect" fill="hold" presetClass="entr" presetID="10">
                                  <p:stCondLst>
                                    <p:cond delay="600"/>
                                  </p:stCondLst>
                                  <p:childTnLst>
                                    <p:set>
                                      <p:cBhvr>
                                        <p:cTn id="779" dur="1" fill="hold">
                                          <p:stCondLst>
                                            <p:cond delay="0"/>
                                          </p:stCondLst>
                                        </p:cTn>
                                        <p:tgtEl>
                                          <p:spTgt spid="752"/>
                                        </p:tgtEl>
                                        <p:attrNameLst>
                                          <p:attrName>style.visibility</p:attrName>
                                        </p:attrNameLst>
                                      </p:cBhvr>
                                      <p:to>
                                        <p:strVal val="visible"/>
                                      </p:to>
                                    </p:set>
                                    <p:animEffect filter="fade" transition="in">
                                      <p:cBhvr additive="repl">
                                        <p:cTn id="780" dur="400"/>
                                        <p:tgtEl>
                                          <p:spTgt spid="752"/>
                                        </p:tgtEl>
                                      </p:cBhvr>
                                    </p:animEffect>
                                  </p:childTnLst>
                                </p:cTn>
                              </p:par>
                              <p:par>
                                <p:cTn id="781" nodeType="withEffect" fill="hold" presetClass="entr" presetID="10">
                                  <p:stCondLst>
                                    <p:cond delay="600"/>
                                  </p:stCondLst>
                                  <p:childTnLst>
                                    <p:set>
                                      <p:cBhvr>
                                        <p:cTn id="782" dur="1" fill="hold">
                                          <p:stCondLst>
                                            <p:cond delay="0"/>
                                          </p:stCondLst>
                                        </p:cTn>
                                        <p:tgtEl>
                                          <p:spTgt spid="753"/>
                                        </p:tgtEl>
                                        <p:attrNameLst>
                                          <p:attrName>style.visibility</p:attrName>
                                        </p:attrNameLst>
                                      </p:cBhvr>
                                      <p:to>
                                        <p:strVal val="visible"/>
                                      </p:to>
                                    </p:set>
                                    <p:animEffect filter="fade" transition="in">
                                      <p:cBhvr additive="repl">
                                        <p:cTn id="783" dur="400"/>
                                        <p:tgtEl>
                                          <p:spTgt spid="753"/>
                                        </p:tgtEl>
                                      </p:cBhvr>
                                    </p:animEffect>
                                  </p:childTnLst>
                                </p:cTn>
                              </p:par>
                              <p:par>
                                <p:cTn id="784" nodeType="withEffect" fill="hold" presetClass="entr" presetID="10">
                                  <p:stCondLst>
                                    <p:cond delay="600"/>
                                  </p:stCondLst>
                                  <p:childTnLst>
                                    <p:set>
                                      <p:cBhvr>
                                        <p:cTn id="785" dur="1" fill="hold">
                                          <p:stCondLst>
                                            <p:cond delay="0"/>
                                          </p:stCondLst>
                                        </p:cTn>
                                        <p:tgtEl>
                                          <p:spTgt spid="754"/>
                                        </p:tgtEl>
                                        <p:attrNameLst>
                                          <p:attrName>style.visibility</p:attrName>
                                        </p:attrNameLst>
                                      </p:cBhvr>
                                      <p:to>
                                        <p:strVal val="visible"/>
                                      </p:to>
                                    </p:set>
                                    <p:animEffect filter="fade" transition="in">
                                      <p:cBhvr additive="repl">
                                        <p:cTn id="786" dur="400"/>
                                        <p:tgtEl>
                                          <p:spTgt spid="754"/>
                                        </p:tgtEl>
                                      </p:cBhvr>
                                    </p:animEffect>
                                  </p:childTnLst>
                                </p:cTn>
                              </p:par>
                              <p:par>
                                <p:cTn id="787" nodeType="withEffect" fill="hold" presetClass="entr" presetID="10">
                                  <p:stCondLst>
                                    <p:cond delay="600"/>
                                  </p:stCondLst>
                                  <p:childTnLst>
                                    <p:set>
                                      <p:cBhvr>
                                        <p:cTn id="788" dur="1" fill="hold">
                                          <p:stCondLst>
                                            <p:cond delay="0"/>
                                          </p:stCondLst>
                                        </p:cTn>
                                        <p:tgtEl>
                                          <p:spTgt spid="755"/>
                                        </p:tgtEl>
                                        <p:attrNameLst>
                                          <p:attrName>style.visibility</p:attrName>
                                        </p:attrNameLst>
                                      </p:cBhvr>
                                      <p:to>
                                        <p:strVal val="visible"/>
                                      </p:to>
                                    </p:set>
                                    <p:animEffect filter="fade" transition="in">
                                      <p:cBhvr additive="repl">
                                        <p:cTn id="789" dur="400"/>
                                        <p:tgtEl>
                                          <p:spTgt spid="755"/>
                                        </p:tgtEl>
                                      </p:cBhvr>
                                    </p:animEffect>
                                  </p:childTnLst>
                                </p:cTn>
                              </p:par>
                              <p:par>
                                <p:cTn id="790" nodeType="withEffect" fill="hold" presetClass="entr" presetID="10">
                                  <p:stCondLst>
                                    <p:cond delay="600"/>
                                  </p:stCondLst>
                                  <p:childTnLst>
                                    <p:set>
                                      <p:cBhvr>
                                        <p:cTn id="791" dur="1" fill="hold">
                                          <p:stCondLst>
                                            <p:cond delay="0"/>
                                          </p:stCondLst>
                                        </p:cTn>
                                        <p:tgtEl>
                                          <p:spTgt spid="756"/>
                                        </p:tgtEl>
                                        <p:attrNameLst>
                                          <p:attrName>style.visibility</p:attrName>
                                        </p:attrNameLst>
                                      </p:cBhvr>
                                      <p:to>
                                        <p:strVal val="visible"/>
                                      </p:to>
                                    </p:set>
                                    <p:animEffect filter="fade" transition="in">
                                      <p:cBhvr additive="repl">
                                        <p:cTn id="792" dur="400"/>
                                        <p:tgtEl>
                                          <p:spTgt spid="756"/>
                                        </p:tgtEl>
                                      </p:cBhvr>
                                    </p:animEffect>
                                  </p:childTnLst>
                                </p:cTn>
                              </p:par>
                              <p:par>
                                <p:cTn id="793" nodeType="withEffect" fill="hold" presetClass="entr" presetID="10">
                                  <p:stCondLst>
                                    <p:cond delay="900"/>
                                  </p:stCondLst>
                                  <p:childTnLst>
                                    <p:set>
                                      <p:cBhvr>
                                        <p:cTn id="794" dur="1" fill="hold">
                                          <p:stCondLst>
                                            <p:cond delay="0"/>
                                          </p:stCondLst>
                                        </p:cTn>
                                        <p:tgtEl>
                                          <p:spTgt spid="757"/>
                                        </p:tgtEl>
                                        <p:attrNameLst>
                                          <p:attrName>style.visibility</p:attrName>
                                        </p:attrNameLst>
                                      </p:cBhvr>
                                      <p:to>
                                        <p:strVal val="visible"/>
                                      </p:to>
                                    </p:set>
                                    <p:animEffect filter="fade" transition="in">
                                      <p:cBhvr additive="repl">
                                        <p:cTn id="795" dur="400"/>
                                        <p:tgtEl>
                                          <p:spTgt spid="757"/>
                                        </p:tgtEl>
                                      </p:cBhvr>
                                    </p:animEffect>
                                  </p:childTnLst>
                                </p:cTn>
                              </p:par>
                              <p:par>
                                <p:cTn id="796" nodeType="withEffect" fill="hold" presetClass="entr" presetID="10">
                                  <p:stCondLst>
                                    <p:cond delay="900"/>
                                  </p:stCondLst>
                                  <p:childTnLst>
                                    <p:set>
                                      <p:cBhvr>
                                        <p:cTn id="797" dur="1" fill="hold">
                                          <p:stCondLst>
                                            <p:cond delay="0"/>
                                          </p:stCondLst>
                                        </p:cTn>
                                        <p:tgtEl>
                                          <p:spTgt spid="758"/>
                                        </p:tgtEl>
                                        <p:attrNameLst>
                                          <p:attrName>style.visibility</p:attrName>
                                        </p:attrNameLst>
                                      </p:cBhvr>
                                      <p:to>
                                        <p:strVal val="visible"/>
                                      </p:to>
                                    </p:set>
                                    <p:animEffect filter="fade" transition="in">
                                      <p:cBhvr additive="repl">
                                        <p:cTn id="798" dur="400"/>
                                        <p:tgtEl>
                                          <p:spTgt spid="758"/>
                                        </p:tgtEl>
                                      </p:cBhvr>
                                    </p:animEffect>
                                  </p:childTnLst>
                                </p:cTn>
                              </p:par>
                              <p:par>
                                <p:cTn id="799" nodeType="withEffect" fill="hold" presetClass="entr" presetID="10">
                                  <p:stCondLst>
                                    <p:cond delay="1200"/>
                                  </p:stCondLst>
                                  <p:childTnLst>
                                    <p:set>
                                      <p:cBhvr>
                                        <p:cTn id="800" dur="1" fill="hold">
                                          <p:stCondLst>
                                            <p:cond delay="0"/>
                                          </p:stCondLst>
                                        </p:cTn>
                                        <p:tgtEl>
                                          <p:spTgt spid="759"/>
                                        </p:tgtEl>
                                        <p:attrNameLst>
                                          <p:attrName>style.visibility</p:attrName>
                                        </p:attrNameLst>
                                      </p:cBhvr>
                                      <p:to>
                                        <p:strVal val="visible"/>
                                      </p:to>
                                    </p:set>
                                    <p:animEffect filter="fade" transition="in">
                                      <p:cBhvr additive="repl">
                                        <p:cTn id="801" dur="400"/>
                                        <p:tgtEl>
                                          <p:spTgt spid="759"/>
                                        </p:tgtEl>
                                      </p:cBhvr>
                                    </p:animEffect>
                                  </p:childTnLst>
                                </p:cTn>
                              </p:par>
                              <p:par>
                                <p:cTn id="802" nodeType="withEffect" fill="hold" presetClass="entr" presetID="10">
                                  <p:stCondLst>
                                    <p:cond delay="1200"/>
                                  </p:stCondLst>
                                  <p:childTnLst>
                                    <p:set>
                                      <p:cBhvr>
                                        <p:cTn id="803" dur="1" fill="hold">
                                          <p:stCondLst>
                                            <p:cond delay="0"/>
                                          </p:stCondLst>
                                        </p:cTn>
                                        <p:tgtEl>
                                          <p:spTgt spid="760"/>
                                        </p:tgtEl>
                                        <p:attrNameLst>
                                          <p:attrName>style.visibility</p:attrName>
                                        </p:attrNameLst>
                                      </p:cBhvr>
                                      <p:to>
                                        <p:strVal val="visible"/>
                                      </p:to>
                                    </p:set>
                                    <p:animEffect filter="fade" transition="in">
                                      <p:cBhvr additive="repl">
                                        <p:cTn id="804" dur="400"/>
                                        <p:tgtEl>
                                          <p:spTgt spid="760"/>
                                        </p:tgtEl>
                                      </p:cBhvr>
                                    </p:animEffect>
                                  </p:childTnLst>
                                </p:cTn>
                              </p:par>
                              <p:par>
                                <p:cTn id="805" nodeType="withEffect" fill="hold" presetClass="entr" presetID="10">
                                  <p:stCondLst>
                                    <p:cond delay="1200"/>
                                  </p:stCondLst>
                                  <p:childTnLst>
                                    <p:set>
                                      <p:cBhvr>
                                        <p:cTn id="806" dur="1" fill="hold">
                                          <p:stCondLst>
                                            <p:cond delay="0"/>
                                          </p:stCondLst>
                                        </p:cTn>
                                        <p:tgtEl>
                                          <p:spTgt spid="761"/>
                                        </p:tgtEl>
                                        <p:attrNameLst>
                                          <p:attrName>style.visibility</p:attrName>
                                        </p:attrNameLst>
                                      </p:cBhvr>
                                      <p:to>
                                        <p:strVal val="visible"/>
                                      </p:to>
                                    </p:set>
                                    <p:animEffect filter="fade" transition="in">
                                      <p:cBhvr additive="repl">
                                        <p:cTn id="807" dur="400"/>
                                        <p:tgtEl>
                                          <p:spTgt spid="761"/>
                                        </p:tgtEl>
                                      </p:cBhvr>
                                    </p:animEffect>
                                  </p:childTnLst>
                                </p:cTn>
                              </p:par>
                              <p:par>
                                <p:cTn id="808" nodeType="withEffect" fill="hold" presetClass="entr" presetID="10">
                                  <p:stCondLst>
                                    <p:cond delay="1200"/>
                                  </p:stCondLst>
                                  <p:childTnLst>
                                    <p:set>
                                      <p:cBhvr>
                                        <p:cTn id="809" dur="1" fill="hold">
                                          <p:stCondLst>
                                            <p:cond delay="0"/>
                                          </p:stCondLst>
                                        </p:cTn>
                                        <p:tgtEl>
                                          <p:spTgt spid="762"/>
                                        </p:tgtEl>
                                        <p:attrNameLst>
                                          <p:attrName>style.visibility</p:attrName>
                                        </p:attrNameLst>
                                      </p:cBhvr>
                                      <p:to>
                                        <p:strVal val="visible"/>
                                      </p:to>
                                    </p:set>
                                    <p:animEffect filter="fade" transition="in">
                                      <p:cBhvr additive="repl">
                                        <p:cTn id="810" dur="400"/>
                                        <p:tgtEl>
                                          <p:spTgt spid="7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800" name="o1" descr="LEVEL 4 → INSIGHT 2/4"/>
          <p:cNvPicPr/>
          <p:nvPr/>
        </p:nvPicPr>
        <p:blipFill>
          <a:blip r:embed="rId1"/>
          <a:stretch/>
        </p:blipFill>
        <p:spPr>
          <a:xfrm>
            <a:off x="548640" y="411480"/>
            <a:ext cx="3071880" cy="145800"/>
          </a:xfrm>
          <a:prstGeom prst="rect">
            <a:avLst/>
          </a:prstGeom>
          <a:ln w="0">
            <a:noFill/>
          </a:ln>
        </p:spPr>
      </p:pic>
      <p:pic>
        <p:nvPicPr>
          <p:cNvPr id="801" name="o2" descr="2008 : l'âge d'or, puis le virage"/>
          <p:cNvPicPr/>
          <p:nvPr/>
        </p:nvPicPr>
        <p:blipFill>
          <a:blip r:embed="rId2"/>
          <a:stretch/>
        </p:blipFill>
        <p:spPr>
          <a:xfrm>
            <a:off x="548640" y="777240"/>
            <a:ext cx="9052200" cy="273960"/>
          </a:xfrm>
          <a:prstGeom prst="rect">
            <a:avLst/>
          </a:prstGeom>
          <a:ln w="0">
            <a:noFill/>
          </a:ln>
        </p:spPr>
      </p:pic>
      <p:pic>
        <p:nvPicPr>
          <p:cNvPr id="802" name="o3" descr="apple"/>
          <p:cNvPicPr/>
          <p:nvPr/>
        </p:nvPicPr>
        <p:blipFill>
          <a:blip r:embed="rId3"/>
          <a:stretch/>
        </p:blipFill>
        <p:spPr>
          <a:xfrm>
            <a:off x="11073240" y="365760"/>
            <a:ext cx="566640" cy="566640"/>
          </a:xfrm>
          <a:prstGeom prst="rect">
            <a:avLst/>
          </a:prstGeom>
          <a:ln w="0">
            <a:noFill/>
          </a:ln>
        </p:spPr>
      </p:pic>
      <p:pic>
        <p:nvPicPr>
          <p:cNvPr id="803" name="o22" descr="super pac-gomme"/>
          <p:cNvPicPr/>
          <p:nvPr/>
        </p:nvPicPr>
        <p:blipFill>
          <a:blip r:embed="rId4"/>
          <a:stretch/>
        </p:blipFill>
        <p:spPr>
          <a:xfrm>
            <a:off x="11448360" y="6355080"/>
            <a:ext cx="182520" cy="182520"/>
          </a:xfrm>
          <a:prstGeom prst="rect">
            <a:avLst/>
          </a:prstGeom>
          <a:ln w="0">
            <a:noFill/>
          </a:ln>
        </p:spPr>
      </p:pic>
      <p:graphicFrame>
        <p:nvGraphicFramePr>
          <p:cNvPr id="804" name="o25"/>
          <p:cNvGraphicFramePr/>
          <p:nvPr/>
        </p:nvGraphicFramePr>
        <p:xfrm>
          <a:off x="457200" y="1600200"/>
          <a:ext cx="7772040" cy="4434480"/>
        </p:xfrm>
        <a:graphic>
          <a:graphicData uri="http://schemas.openxmlformats.org/drawingml/2006/chart">
            <c:chart xmlns:c="http://schemas.openxmlformats.org/drawingml/2006/chart" xmlns:r="http://schemas.openxmlformats.org/officeDocument/2006/relationships" r:id="rId5"/>
          </a:graphicData>
        </a:graphic>
      </p:graphicFrame>
      <p:sp>
        <p:nvSpPr>
          <p:cNvPr id="805" name="o26"/>
          <p:cNvSpPr/>
          <p:nvPr/>
        </p:nvSpPr>
        <p:spPr>
          <a:xfrm>
            <a:off x="8549640" y="1691640"/>
            <a:ext cx="3090240" cy="1828440"/>
          </a:xfrm>
          <a:prstGeom prst="roundRect">
            <a:avLst>
              <a:gd name="adj" fmla="val 7000"/>
            </a:avLst>
          </a:prstGeom>
          <a:solidFill>
            <a:srgbClr val="000000"/>
          </a:solidFill>
          <a:ln w="28575">
            <a:solidFill>
              <a:srgbClr val="ffe6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6" name="o27"/>
          <p:cNvSpPr/>
          <p:nvPr/>
        </p:nvSpPr>
        <p:spPr>
          <a:xfrm>
            <a:off x="8618400" y="1760400"/>
            <a:ext cx="2953080" cy="1691280"/>
          </a:xfrm>
          <a:prstGeom prst="roundRect">
            <a:avLst>
              <a:gd name="adj" fmla="val 3514"/>
            </a:avLst>
          </a:prstGeom>
          <a:noFill/>
          <a:ln w="12700">
            <a:solidFill>
              <a:srgbClr val="ffe6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807" name="o28" descr="688 M"/>
          <p:cNvPicPr/>
          <p:nvPr/>
        </p:nvPicPr>
        <p:blipFill>
          <a:blip r:embed="rId6"/>
          <a:stretch/>
        </p:blipFill>
        <p:spPr>
          <a:xfrm>
            <a:off x="8869680" y="2011680"/>
            <a:ext cx="1919880" cy="383760"/>
          </a:xfrm>
          <a:prstGeom prst="rect">
            <a:avLst/>
          </a:prstGeom>
          <a:ln w="0">
            <a:noFill/>
          </a:ln>
        </p:spPr>
      </p:pic>
      <p:sp>
        <p:nvSpPr>
          <p:cNvPr id="808" name="o29"/>
          <p:cNvSpPr/>
          <p:nvPr/>
        </p:nvSpPr>
        <p:spPr>
          <a:xfrm>
            <a:off x="8869680" y="2606040"/>
            <a:ext cx="2559960" cy="6854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d'exemplaires en 2008, le record</a:t>
            </a:r>
            <a:endParaRPr b="0" lang="en-US" sz="1400" spc="-1" strike="noStrike">
              <a:solidFill>
                <a:srgbClr val="ffffff"/>
              </a:solidFill>
              <a:latin typeface="Arial"/>
            </a:endParaRPr>
          </a:p>
        </p:txBody>
      </p:sp>
      <p:sp>
        <p:nvSpPr>
          <p:cNvPr id="809" name="o30"/>
          <p:cNvSpPr/>
          <p:nvPr/>
        </p:nvSpPr>
        <p:spPr>
          <a:xfrm>
            <a:off x="8549640" y="3703320"/>
            <a:ext cx="3090240" cy="1371240"/>
          </a:xfrm>
          <a:prstGeom prst="roundRect">
            <a:avLst>
              <a:gd name="adj" fmla="val 9333"/>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10" name="o31"/>
          <p:cNvSpPr/>
          <p:nvPr/>
        </p:nvSpPr>
        <p:spPr>
          <a:xfrm>
            <a:off x="8618400" y="3772080"/>
            <a:ext cx="2953080" cy="1234080"/>
          </a:xfrm>
          <a:prstGeom prst="roundRect">
            <a:avLst>
              <a:gd name="adj" fmla="val 4815"/>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811" name="o32" descr="45%"/>
          <p:cNvPicPr/>
          <p:nvPr/>
        </p:nvPicPr>
        <p:blipFill>
          <a:blip r:embed="rId7"/>
          <a:stretch/>
        </p:blipFill>
        <p:spPr>
          <a:xfrm>
            <a:off x="8869680" y="3931920"/>
            <a:ext cx="767880" cy="255600"/>
          </a:xfrm>
          <a:prstGeom prst="rect">
            <a:avLst/>
          </a:prstGeom>
          <a:ln w="0">
            <a:noFill/>
          </a:ln>
        </p:spPr>
      </p:pic>
      <p:sp>
        <p:nvSpPr>
          <p:cNvPr id="812" name="o33"/>
          <p:cNvSpPr/>
          <p:nvPr/>
        </p:nvSpPr>
        <p:spPr>
          <a:xfrm>
            <a:off x="8869680" y="4316040"/>
            <a:ext cx="2605680" cy="594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c4c4e4"/>
                </a:solidFill>
                <a:latin typeface="Arial"/>
                <a:ea typeface="Arial"/>
              </a:rPr>
              <a:t>des ventes viennent de la 7e génération : Wii, DS, X360, PS3, PSP</a:t>
            </a:r>
            <a:endParaRPr b="0" lang="en-US" sz="1200" spc="-1" strike="noStrike">
              <a:solidFill>
                <a:srgbClr val="ffffff"/>
              </a:solidFill>
              <a:latin typeface="Arial"/>
            </a:endParaRPr>
          </a:p>
        </p:txBody>
      </p:sp>
      <p:pic>
        <p:nvPicPr>
          <p:cNvPr id="813" name="o34" descr="attention"/>
          <p:cNvPicPr/>
          <p:nvPr/>
        </p:nvPicPr>
        <p:blipFill>
          <a:blip r:embed="rId8"/>
          <a:stretch/>
        </p:blipFill>
        <p:spPr>
          <a:xfrm>
            <a:off x="8595360" y="5321880"/>
            <a:ext cx="292320" cy="292320"/>
          </a:xfrm>
          <a:prstGeom prst="rect">
            <a:avLst/>
          </a:prstGeom>
          <a:ln w="0">
            <a:noFill/>
          </a:ln>
        </p:spPr>
      </p:pic>
      <p:sp>
        <p:nvSpPr>
          <p:cNvPr id="814" name="o35"/>
          <p:cNvSpPr/>
          <p:nvPr/>
        </p:nvSpPr>
        <p:spPr>
          <a:xfrm>
            <a:off x="9006840" y="5230440"/>
            <a:ext cx="263304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c4c4e4"/>
                </a:solidFill>
                <a:latin typeface="Arial"/>
                <a:ea typeface="Arial"/>
              </a:rPr>
              <a:t>La baisse après 2009 reflète la montée du dématérialisé et du mobile, absents des données. 2016 est incomplète (gris).</a:t>
            </a:r>
            <a:endParaRPr b="0" lang="en-US" sz="1200" spc="-1" strike="noStrike">
              <a:solidFill>
                <a:srgbClr val="ffffff"/>
              </a:solidFill>
              <a:latin typeface="Arial"/>
            </a:endParaRPr>
          </a:p>
        </p:txBody>
      </p:sp>
      <p:pic>
        <p:nvPicPr>
          <p:cNvPr id="815" name="barre_fantome" descr="image.gif"/>
          <p:cNvPicPr/>
          <p:nvPr/>
        </p:nvPicPr>
        <p:blipFill>
          <a:blip r:embed="rId9"/>
          <a:stretch/>
        </p:blipFill>
        <p:spPr>
          <a:xfrm>
            <a:off x="2864160" y="6291000"/>
            <a:ext cx="310680" cy="310680"/>
          </a:xfrm>
          <a:prstGeom prst="rect">
            <a:avLst/>
          </a:prstGeom>
          <a:ln w="0">
            <a:noFill/>
          </a:ln>
        </p:spPr>
      </p:pic>
      <p:sp>
        <p:nvSpPr>
          <p:cNvPr id="817" name="barre_pastille"/>
          <p:cNvSpPr/>
          <p:nvPr/>
        </p:nvSpPr>
        <p:spPr>
          <a:xfrm>
            <a:off x="3886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18"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17"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18"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19"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0"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1"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2"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3"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4"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5"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6"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7"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8"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29"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0"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1"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2"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3"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4"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5"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6"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7"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8"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39"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40"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41"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42"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43"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44"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45"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46"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47"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816" name="barre_pacman" descr="image.gif"/>
          <p:cNvPicPr/>
          <p:nvPr/>
        </p:nvPicPr>
        <p:blipFill>
          <a:blip r:embed="rId10"/>
          <a:stretch/>
        </p:blipFill>
        <p:spPr>
          <a:xfrm>
            <a:off x="3431160" y="6291000"/>
            <a:ext cx="310680" cy="310680"/>
          </a:xfrm>
          <a:prstGeom prst="rect">
            <a:avLst/>
          </a:prstGeom>
          <a:ln w="0">
            <a:noFill/>
          </a:ln>
        </p:spPr>
      </p:pic>
      <p:sp>
        <p:nvSpPr>
          <p:cNvPr id="848"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811" dur="indefinite" restart="never" nodeType="tmRoot">
          <p:childTnLst>
            <p:seq>
              <p:cTn id="812" dur="indefinite" nodeType="mainSeq">
                <p:childTnLst>
                  <p:par>
                    <p:cTn id="813" fill="hold">
                      <p:stCondLst>
                        <p:cond delay="0"/>
                      </p:stCondLst>
                      <p:childTnLst>
                        <p:par>
                          <p:cTn id="814" fill="hold">
                            <p:stCondLst>
                              <p:cond delay="0"/>
                            </p:stCondLst>
                            <p:childTnLst>
                              <p:par>
                                <p:cTn id="815" nodeType="withEffect" fill="hold" presetClass="path">
                                  <p:stCondLst>
                                    <p:cond delay="0"/>
                                  </p:stCondLst>
                                  <p:childTnLst>
                                    <p:animMotion origin="layout" path="M 0 0 L 0.02252 0 E">
                                      <p:cBhvr>
                                        <p:cTn id="816" dur="900" fill="hold"/>
                                        <p:tgtEl>
                                          <p:spTgt spid="815"/>
                                        </p:tgtEl>
                                        <p:attrNameLst>
                                          <p:attrName>ppt_x</p:attrName>
                                          <p:attrName>ppt_y</p:attrName>
                                        </p:attrNameLst>
                                      </p:cBhvr>
                                    </p:animMotion>
                                  </p:childTnLst>
                                </p:cTn>
                              </p:par>
                              <p:par>
                                <p:cTn id="817" nodeType="withEffect" fill="hold" presetClass="path">
                                  <p:stCondLst>
                                    <p:cond delay="0"/>
                                  </p:stCondLst>
                                  <p:childTnLst>
                                    <p:animMotion origin="layout" path="M 0 0 L 0.02252 0 E">
                                      <p:cBhvr>
                                        <p:cTn id="818" dur="900" fill="hold"/>
                                        <p:tgtEl>
                                          <p:spTgt spid="816"/>
                                        </p:tgtEl>
                                        <p:attrNameLst>
                                          <p:attrName>ppt_x</p:attrName>
                                          <p:attrName>ppt_y</p:attrName>
                                        </p:attrNameLst>
                                      </p:cBhvr>
                                    </p:animMotion>
                                  </p:childTnLst>
                                </p:cTn>
                              </p:par>
                              <p:par>
                                <p:cTn id="819" nodeType="withEffect" fill="hold" presetClass="exit" presetID="1">
                                  <p:stCondLst>
                                    <p:cond delay="96"/>
                                  </p:stCondLst>
                                  <p:childTnLst>
                                    <p:set>
                                      <p:cBhvr>
                                        <p:cTn id="820" dur="1" fill="hold">
                                          <p:stCondLst>
                                            <p:cond delay="0"/>
                                          </p:stCondLst>
                                        </p:cTn>
                                        <p:tgtEl>
                                          <p:spTgt spid="817"/>
                                        </p:tgtEl>
                                        <p:attrNameLst>
                                          <p:attrName>style.visibility</p:attrName>
                                        </p:attrNameLst>
                                      </p:cBhvr>
                                      <p:to>
                                        <p:strVal val="hidden"/>
                                      </p:to>
                                    </p:set>
                                  </p:childTnLst>
                                </p:cTn>
                              </p:par>
                              <p:par>
                                <p:cTn id="821" nodeType="withEffect" fill="hold" presetClass="exit" presetID="1">
                                  <p:stCondLst>
                                    <p:cond delay="867"/>
                                  </p:stCondLst>
                                  <p:childTnLst>
                                    <p:set>
                                      <p:cBhvr>
                                        <p:cTn id="822" dur="1" fill="hold">
                                          <p:stCondLst>
                                            <p:cond delay="0"/>
                                          </p:stCondLst>
                                        </p:cTn>
                                        <p:tgtEl>
                                          <p:spTgt spid="818"/>
                                        </p:tgtEl>
                                        <p:attrNameLst>
                                          <p:attrName>style.visibility</p:attrName>
                                        </p:attrNameLst>
                                      </p:cBhvr>
                                      <p:to>
                                        <p:strVal val="hidden"/>
                                      </p:to>
                                    </p:set>
                                  </p:childTnLst>
                                </p:cTn>
                              </p:par>
                              <p:par>
                                <p:cTn id="823" nodeType="withEffect" fill="hold" presetClass="entr" presetID="10">
                                  <p:stCondLst>
                                    <p:cond delay="100"/>
                                  </p:stCondLst>
                                  <p:childTnLst>
                                    <p:set>
                                      <p:cBhvr>
                                        <p:cTn id="824" dur="1" fill="hold">
                                          <p:stCondLst>
                                            <p:cond delay="0"/>
                                          </p:stCondLst>
                                        </p:cTn>
                                        <p:tgtEl>
                                          <p:spTgt spid="804"/>
                                        </p:tgtEl>
                                        <p:attrNameLst>
                                          <p:attrName>style.visibility</p:attrName>
                                        </p:attrNameLst>
                                      </p:cBhvr>
                                      <p:to>
                                        <p:strVal val="visible"/>
                                      </p:to>
                                    </p:set>
                                    <p:animEffect filter="fade" transition="in">
                                      <p:cBhvr additive="repl">
                                        <p:cTn id="825" dur="400"/>
                                        <p:tgtEl>
                                          <p:spTgt spid="804"/>
                                        </p:tgtEl>
                                      </p:cBhvr>
                                    </p:animEffect>
                                  </p:childTnLst>
                                </p:cTn>
                              </p:par>
                              <p:par>
                                <p:cTn id="826" nodeType="withEffect" fill="hold" presetClass="entr" presetID="10">
                                  <p:stCondLst>
                                    <p:cond delay="600"/>
                                  </p:stCondLst>
                                  <p:childTnLst>
                                    <p:set>
                                      <p:cBhvr>
                                        <p:cTn id="827" dur="1" fill="hold">
                                          <p:stCondLst>
                                            <p:cond delay="0"/>
                                          </p:stCondLst>
                                        </p:cTn>
                                        <p:tgtEl>
                                          <p:spTgt spid="805"/>
                                        </p:tgtEl>
                                        <p:attrNameLst>
                                          <p:attrName>style.visibility</p:attrName>
                                        </p:attrNameLst>
                                      </p:cBhvr>
                                      <p:to>
                                        <p:strVal val="visible"/>
                                      </p:to>
                                    </p:set>
                                    <p:animEffect filter="fade" transition="in">
                                      <p:cBhvr additive="repl">
                                        <p:cTn id="828" dur="400"/>
                                        <p:tgtEl>
                                          <p:spTgt spid="805"/>
                                        </p:tgtEl>
                                      </p:cBhvr>
                                    </p:animEffect>
                                  </p:childTnLst>
                                </p:cTn>
                              </p:par>
                              <p:par>
                                <p:cTn id="829" nodeType="withEffect" fill="hold" presetClass="entr" presetID="10">
                                  <p:stCondLst>
                                    <p:cond delay="600"/>
                                  </p:stCondLst>
                                  <p:childTnLst>
                                    <p:set>
                                      <p:cBhvr>
                                        <p:cTn id="830" dur="1" fill="hold">
                                          <p:stCondLst>
                                            <p:cond delay="0"/>
                                          </p:stCondLst>
                                        </p:cTn>
                                        <p:tgtEl>
                                          <p:spTgt spid="806"/>
                                        </p:tgtEl>
                                        <p:attrNameLst>
                                          <p:attrName>style.visibility</p:attrName>
                                        </p:attrNameLst>
                                      </p:cBhvr>
                                      <p:to>
                                        <p:strVal val="visible"/>
                                      </p:to>
                                    </p:set>
                                    <p:animEffect filter="fade" transition="in">
                                      <p:cBhvr additive="repl">
                                        <p:cTn id="831" dur="400"/>
                                        <p:tgtEl>
                                          <p:spTgt spid="806"/>
                                        </p:tgtEl>
                                      </p:cBhvr>
                                    </p:animEffect>
                                  </p:childTnLst>
                                </p:cTn>
                              </p:par>
                              <p:par>
                                <p:cTn id="832" nodeType="withEffect" fill="hold" presetClass="entr" presetID="10">
                                  <p:stCondLst>
                                    <p:cond delay="600"/>
                                  </p:stCondLst>
                                  <p:childTnLst>
                                    <p:set>
                                      <p:cBhvr>
                                        <p:cTn id="833" dur="1" fill="hold">
                                          <p:stCondLst>
                                            <p:cond delay="0"/>
                                          </p:stCondLst>
                                        </p:cTn>
                                        <p:tgtEl>
                                          <p:spTgt spid="807"/>
                                        </p:tgtEl>
                                        <p:attrNameLst>
                                          <p:attrName>style.visibility</p:attrName>
                                        </p:attrNameLst>
                                      </p:cBhvr>
                                      <p:to>
                                        <p:strVal val="visible"/>
                                      </p:to>
                                    </p:set>
                                    <p:animEffect filter="fade" transition="in">
                                      <p:cBhvr additive="repl">
                                        <p:cTn id="834" dur="400"/>
                                        <p:tgtEl>
                                          <p:spTgt spid="807"/>
                                        </p:tgtEl>
                                      </p:cBhvr>
                                    </p:animEffect>
                                  </p:childTnLst>
                                </p:cTn>
                              </p:par>
                              <p:par>
                                <p:cTn id="835" nodeType="withEffect" fill="hold" presetClass="entr" presetID="10">
                                  <p:stCondLst>
                                    <p:cond delay="600"/>
                                  </p:stCondLst>
                                  <p:childTnLst>
                                    <p:set>
                                      <p:cBhvr>
                                        <p:cTn id="836" dur="1" fill="hold">
                                          <p:stCondLst>
                                            <p:cond delay="0"/>
                                          </p:stCondLst>
                                        </p:cTn>
                                        <p:tgtEl>
                                          <p:spTgt spid="808"/>
                                        </p:tgtEl>
                                        <p:attrNameLst>
                                          <p:attrName>style.visibility</p:attrName>
                                        </p:attrNameLst>
                                      </p:cBhvr>
                                      <p:to>
                                        <p:strVal val="visible"/>
                                      </p:to>
                                    </p:set>
                                    <p:animEffect filter="fade" transition="in">
                                      <p:cBhvr additive="repl">
                                        <p:cTn id="837" dur="400"/>
                                        <p:tgtEl>
                                          <p:spTgt spid="808"/>
                                        </p:tgtEl>
                                      </p:cBhvr>
                                    </p:animEffect>
                                  </p:childTnLst>
                                </p:cTn>
                              </p:par>
                              <p:par>
                                <p:cTn id="838" nodeType="withEffect" fill="hold" presetClass="entr" presetID="10">
                                  <p:stCondLst>
                                    <p:cond delay="900"/>
                                  </p:stCondLst>
                                  <p:childTnLst>
                                    <p:set>
                                      <p:cBhvr>
                                        <p:cTn id="839" dur="1" fill="hold">
                                          <p:stCondLst>
                                            <p:cond delay="0"/>
                                          </p:stCondLst>
                                        </p:cTn>
                                        <p:tgtEl>
                                          <p:spTgt spid="809"/>
                                        </p:tgtEl>
                                        <p:attrNameLst>
                                          <p:attrName>style.visibility</p:attrName>
                                        </p:attrNameLst>
                                      </p:cBhvr>
                                      <p:to>
                                        <p:strVal val="visible"/>
                                      </p:to>
                                    </p:set>
                                    <p:animEffect filter="fade" transition="in">
                                      <p:cBhvr additive="repl">
                                        <p:cTn id="840" dur="400"/>
                                        <p:tgtEl>
                                          <p:spTgt spid="809"/>
                                        </p:tgtEl>
                                      </p:cBhvr>
                                    </p:animEffect>
                                  </p:childTnLst>
                                </p:cTn>
                              </p:par>
                              <p:par>
                                <p:cTn id="841" nodeType="withEffect" fill="hold" presetClass="entr" presetID="10">
                                  <p:stCondLst>
                                    <p:cond delay="900"/>
                                  </p:stCondLst>
                                  <p:childTnLst>
                                    <p:set>
                                      <p:cBhvr>
                                        <p:cTn id="842" dur="1" fill="hold">
                                          <p:stCondLst>
                                            <p:cond delay="0"/>
                                          </p:stCondLst>
                                        </p:cTn>
                                        <p:tgtEl>
                                          <p:spTgt spid="810"/>
                                        </p:tgtEl>
                                        <p:attrNameLst>
                                          <p:attrName>style.visibility</p:attrName>
                                        </p:attrNameLst>
                                      </p:cBhvr>
                                      <p:to>
                                        <p:strVal val="visible"/>
                                      </p:to>
                                    </p:set>
                                    <p:animEffect filter="fade" transition="in">
                                      <p:cBhvr additive="repl">
                                        <p:cTn id="843" dur="400"/>
                                        <p:tgtEl>
                                          <p:spTgt spid="810"/>
                                        </p:tgtEl>
                                      </p:cBhvr>
                                    </p:animEffect>
                                  </p:childTnLst>
                                </p:cTn>
                              </p:par>
                              <p:par>
                                <p:cTn id="844" nodeType="withEffect" fill="hold" presetClass="entr" presetID="10">
                                  <p:stCondLst>
                                    <p:cond delay="900"/>
                                  </p:stCondLst>
                                  <p:childTnLst>
                                    <p:set>
                                      <p:cBhvr>
                                        <p:cTn id="845" dur="1" fill="hold">
                                          <p:stCondLst>
                                            <p:cond delay="0"/>
                                          </p:stCondLst>
                                        </p:cTn>
                                        <p:tgtEl>
                                          <p:spTgt spid="811"/>
                                        </p:tgtEl>
                                        <p:attrNameLst>
                                          <p:attrName>style.visibility</p:attrName>
                                        </p:attrNameLst>
                                      </p:cBhvr>
                                      <p:to>
                                        <p:strVal val="visible"/>
                                      </p:to>
                                    </p:set>
                                    <p:animEffect filter="fade" transition="in">
                                      <p:cBhvr additive="repl">
                                        <p:cTn id="846" dur="400"/>
                                        <p:tgtEl>
                                          <p:spTgt spid="811"/>
                                        </p:tgtEl>
                                      </p:cBhvr>
                                    </p:animEffect>
                                  </p:childTnLst>
                                </p:cTn>
                              </p:par>
                              <p:par>
                                <p:cTn id="847" nodeType="withEffect" fill="hold" presetClass="entr" presetID="10">
                                  <p:stCondLst>
                                    <p:cond delay="900"/>
                                  </p:stCondLst>
                                  <p:childTnLst>
                                    <p:set>
                                      <p:cBhvr>
                                        <p:cTn id="848" dur="1" fill="hold">
                                          <p:stCondLst>
                                            <p:cond delay="0"/>
                                          </p:stCondLst>
                                        </p:cTn>
                                        <p:tgtEl>
                                          <p:spTgt spid="812"/>
                                        </p:tgtEl>
                                        <p:attrNameLst>
                                          <p:attrName>style.visibility</p:attrName>
                                        </p:attrNameLst>
                                      </p:cBhvr>
                                      <p:to>
                                        <p:strVal val="visible"/>
                                      </p:to>
                                    </p:set>
                                    <p:animEffect filter="fade" transition="in">
                                      <p:cBhvr additive="repl">
                                        <p:cTn id="849" dur="400"/>
                                        <p:tgtEl>
                                          <p:spTgt spid="812"/>
                                        </p:tgtEl>
                                      </p:cBhvr>
                                    </p:animEffect>
                                  </p:childTnLst>
                                </p:cTn>
                              </p:par>
                              <p:par>
                                <p:cTn id="850" nodeType="withEffect" fill="hold" presetClass="entr" presetID="10">
                                  <p:stCondLst>
                                    <p:cond delay="1200"/>
                                  </p:stCondLst>
                                  <p:childTnLst>
                                    <p:set>
                                      <p:cBhvr>
                                        <p:cTn id="851" dur="1" fill="hold">
                                          <p:stCondLst>
                                            <p:cond delay="0"/>
                                          </p:stCondLst>
                                        </p:cTn>
                                        <p:tgtEl>
                                          <p:spTgt spid="813"/>
                                        </p:tgtEl>
                                        <p:attrNameLst>
                                          <p:attrName>style.visibility</p:attrName>
                                        </p:attrNameLst>
                                      </p:cBhvr>
                                      <p:to>
                                        <p:strVal val="visible"/>
                                      </p:to>
                                    </p:set>
                                    <p:animEffect filter="fade" transition="in">
                                      <p:cBhvr additive="repl">
                                        <p:cTn id="852" dur="400"/>
                                        <p:tgtEl>
                                          <p:spTgt spid="813"/>
                                        </p:tgtEl>
                                      </p:cBhvr>
                                    </p:animEffect>
                                  </p:childTnLst>
                                </p:cTn>
                              </p:par>
                              <p:par>
                                <p:cTn id="853" nodeType="withEffect" fill="hold" presetClass="entr" presetID="10">
                                  <p:stCondLst>
                                    <p:cond delay="1200"/>
                                  </p:stCondLst>
                                  <p:childTnLst>
                                    <p:set>
                                      <p:cBhvr>
                                        <p:cTn id="854" dur="1" fill="hold">
                                          <p:stCondLst>
                                            <p:cond delay="0"/>
                                          </p:stCondLst>
                                        </p:cTn>
                                        <p:tgtEl>
                                          <p:spTgt spid="814"/>
                                        </p:tgtEl>
                                        <p:attrNameLst>
                                          <p:attrName>style.visibility</p:attrName>
                                        </p:attrNameLst>
                                      </p:cBhvr>
                                      <p:to>
                                        <p:strVal val="visible"/>
                                      </p:to>
                                    </p:set>
                                    <p:animEffect filter="fade" transition="in">
                                      <p:cBhvr additive="repl">
                                        <p:cTn id="855" dur="400"/>
                                        <p:tgtEl>
                                          <p:spTgt spid="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851" name="o1" descr="LEVEL 4 → INSIGHT 3/4"/>
          <p:cNvPicPr/>
          <p:nvPr/>
        </p:nvPicPr>
        <p:blipFill>
          <a:blip r:embed="rId1"/>
          <a:stretch/>
        </p:blipFill>
        <p:spPr>
          <a:xfrm>
            <a:off x="548640" y="411480"/>
            <a:ext cx="3071880" cy="145800"/>
          </a:xfrm>
          <a:prstGeom prst="rect">
            <a:avLst/>
          </a:prstGeom>
          <a:ln w="0">
            <a:noFill/>
          </a:ln>
        </p:spPr>
      </p:pic>
      <p:pic>
        <p:nvPicPr>
          <p:cNvPr id="852" name="o2" descr="Deux mondes : Occident et Japon"/>
          <p:cNvPicPr/>
          <p:nvPr/>
        </p:nvPicPr>
        <p:blipFill>
          <a:blip r:embed="rId2"/>
          <a:stretch/>
        </p:blipFill>
        <p:spPr>
          <a:xfrm>
            <a:off x="548640" y="777240"/>
            <a:ext cx="8503560" cy="273960"/>
          </a:xfrm>
          <a:prstGeom prst="rect">
            <a:avLst/>
          </a:prstGeom>
          <a:ln w="0">
            <a:noFill/>
          </a:ln>
        </p:spPr>
      </p:pic>
      <p:pic>
        <p:nvPicPr>
          <p:cNvPr id="853" name="o3" descr="apple"/>
          <p:cNvPicPr/>
          <p:nvPr/>
        </p:nvPicPr>
        <p:blipFill>
          <a:blip r:embed="rId3"/>
          <a:stretch/>
        </p:blipFill>
        <p:spPr>
          <a:xfrm>
            <a:off x="11073240" y="365760"/>
            <a:ext cx="566640" cy="566640"/>
          </a:xfrm>
          <a:prstGeom prst="rect">
            <a:avLst/>
          </a:prstGeom>
          <a:ln w="0">
            <a:noFill/>
          </a:ln>
        </p:spPr>
      </p:pic>
      <p:pic>
        <p:nvPicPr>
          <p:cNvPr id="854" name="o19" descr="super pac-gomme"/>
          <p:cNvPicPr/>
          <p:nvPr/>
        </p:nvPicPr>
        <p:blipFill>
          <a:blip r:embed="rId4"/>
          <a:stretch/>
        </p:blipFill>
        <p:spPr>
          <a:xfrm>
            <a:off x="11448360" y="6355080"/>
            <a:ext cx="182520" cy="182520"/>
          </a:xfrm>
          <a:prstGeom prst="rect">
            <a:avLst/>
          </a:prstGeom>
          <a:ln w="0">
            <a:noFill/>
          </a:ln>
        </p:spPr>
      </p:pic>
      <p:graphicFrame>
        <p:nvGraphicFramePr>
          <p:cNvPr id="855" name="o22"/>
          <p:cNvGraphicFramePr/>
          <p:nvPr/>
        </p:nvGraphicFramePr>
        <p:xfrm>
          <a:off x="457200" y="1600200"/>
          <a:ext cx="7040520" cy="4434480"/>
        </p:xfrm>
        <a:graphic>
          <a:graphicData uri="http://schemas.openxmlformats.org/drawingml/2006/chart">
            <c:chart xmlns:c="http://schemas.openxmlformats.org/drawingml/2006/chart" xmlns:r="http://schemas.openxmlformats.org/officeDocument/2006/relationships" r:id="rId5"/>
          </a:graphicData>
        </a:graphic>
      </p:graphicFrame>
      <p:sp>
        <p:nvSpPr>
          <p:cNvPr id="856" name="o23"/>
          <p:cNvSpPr/>
          <p:nvPr/>
        </p:nvSpPr>
        <p:spPr>
          <a:xfrm>
            <a:off x="8001000" y="1691640"/>
            <a:ext cx="3638880" cy="1298160"/>
          </a:xfrm>
          <a:prstGeom prst="roundRect">
            <a:avLst>
              <a:gd name="adj" fmla="val 985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7" name="o24"/>
          <p:cNvSpPr/>
          <p:nvPr/>
        </p:nvSpPr>
        <p:spPr>
          <a:xfrm>
            <a:off x="8069760" y="1760400"/>
            <a:ext cx="3501720" cy="1161000"/>
          </a:xfrm>
          <a:prstGeom prst="roundRect">
            <a:avLst>
              <a:gd name="adj" fmla="val 5118"/>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858" name="o25" descr="27%"/>
          <p:cNvPicPr/>
          <p:nvPr/>
        </p:nvPicPr>
        <p:blipFill>
          <a:blip r:embed="rId6"/>
          <a:stretch/>
        </p:blipFill>
        <p:spPr>
          <a:xfrm>
            <a:off x="8275320" y="2194560"/>
            <a:ext cx="715320" cy="237240"/>
          </a:xfrm>
          <a:prstGeom prst="rect">
            <a:avLst/>
          </a:prstGeom>
          <a:ln w="0">
            <a:noFill/>
          </a:ln>
        </p:spPr>
      </p:pic>
      <p:sp>
        <p:nvSpPr>
          <p:cNvPr id="859" name="o26"/>
          <p:cNvSpPr/>
          <p:nvPr/>
        </p:nvSpPr>
        <p:spPr>
          <a:xfrm>
            <a:off x="9509760" y="1828800"/>
            <a:ext cx="1965600" cy="1023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c4c4e4"/>
                </a:solidFill>
                <a:latin typeface="Arial"/>
                <a:ea typeface="Arial"/>
              </a:rPr>
              <a:t>des ventes au Japon sont des RPG, contre 8 % en Occident</a:t>
            </a:r>
            <a:endParaRPr b="0" lang="en-US" sz="1300" spc="-1" strike="noStrike">
              <a:solidFill>
                <a:srgbClr val="ffffff"/>
              </a:solidFill>
              <a:latin typeface="Arial"/>
            </a:endParaRPr>
          </a:p>
        </p:txBody>
      </p:sp>
      <p:sp>
        <p:nvSpPr>
          <p:cNvPr id="860" name="o27"/>
          <p:cNvSpPr/>
          <p:nvPr/>
        </p:nvSpPr>
        <p:spPr>
          <a:xfrm>
            <a:off x="8001000" y="3154680"/>
            <a:ext cx="3638880" cy="1298160"/>
          </a:xfrm>
          <a:prstGeom prst="roundRect">
            <a:avLst>
              <a:gd name="adj" fmla="val 985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1" name="o28"/>
          <p:cNvSpPr/>
          <p:nvPr/>
        </p:nvSpPr>
        <p:spPr>
          <a:xfrm>
            <a:off x="8069760" y="3223440"/>
            <a:ext cx="3501720" cy="1161000"/>
          </a:xfrm>
          <a:prstGeom prst="roundRect">
            <a:avLst>
              <a:gd name="adj" fmla="val 5118"/>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862" name="o29" descr="0,01"/>
          <p:cNvPicPr/>
          <p:nvPr/>
        </p:nvPicPr>
        <p:blipFill>
          <a:blip r:embed="rId7"/>
          <a:stretch/>
        </p:blipFill>
        <p:spPr>
          <a:xfrm>
            <a:off x="8275320" y="3657600"/>
            <a:ext cx="952920" cy="237240"/>
          </a:xfrm>
          <a:prstGeom prst="rect">
            <a:avLst/>
          </a:prstGeom>
          <a:ln w="0">
            <a:noFill/>
          </a:ln>
        </p:spPr>
      </p:pic>
      <p:sp>
        <p:nvSpPr>
          <p:cNvPr id="863" name="o30"/>
          <p:cNvSpPr/>
          <p:nvPr/>
        </p:nvSpPr>
        <p:spPr>
          <a:xfrm>
            <a:off x="9509760" y="3291840"/>
            <a:ext cx="1965600" cy="1023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c4c4e4"/>
                </a:solidFill>
                <a:latin typeface="Arial"/>
                <a:ea typeface="Arial"/>
              </a:rPr>
              <a:t>de divergence entre Amérique du Nord et Europe : des goûts quasi identiques</a:t>
            </a:r>
            <a:endParaRPr b="0" lang="en-US" sz="1300" spc="-1" strike="noStrike">
              <a:solidFill>
                <a:srgbClr val="ffffff"/>
              </a:solidFill>
              <a:latin typeface="Arial"/>
            </a:endParaRPr>
          </a:p>
        </p:txBody>
      </p:sp>
      <p:sp>
        <p:nvSpPr>
          <p:cNvPr id="864" name="o31"/>
          <p:cNvSpPr/>
          <p:nvPr/>
        </p:nvSpPr>
        <p:spPr>
          <a:xfrm>
            <a:off x="8001000" y="4617720"/>
            <a:ext cx="3638880" cy="1298160"/>
          </a:xfrm>
          <a:prstGeom prst="roundRect">
            <a:avLst>
              <a:gd name="adj" fmla="val 9859"/>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5" name="o32"/>
          <p:cNvSpPr/>
          <p:nvPr/>
        </p:nvSpPr>
        <p:spPr>
          <a:xfrm>
            <a:off x="8069760" y="4686480"/>
            <a:ext cx="3501720" cy="1161000"/>
          </a:xfrm>
          <a:prstGeom prst="roundRect">
            <a:avLst>
              <a:gd name="adj" fmla="val 5118"/>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866" name="o33" descr="77%"/>
          <p:cNvPicPr/>
          <p:nvPr/>
        </p:nvPicPr>
        <p:blipFill>
          <a:blip r:embed="rId8"/>
          <a:stretch/>
        </p:blipFill>
        <p:spPr>
          <a:xfrm>
            <a:off x="8275320" y="5120640"/>
            <a:ext cx="715320" cy="237240"/>
          </a:xfrm>
          <a:prstGeom prst="rect">
            <a:avLst/>
          </a:prstGeom>
          <a:ln w="0">
            <a:noFill/>
          </a:ln>
        </p:spPr>
      </p:pic>
      <p:sp>
        <p:nvSpPr>
          <p:cNvPr id="867" name="o34"/>
          <p:cNvSpPr/>
          <p:nvPr/>
        </p:nvSpPr>
        <p:spPr>
          <a:xfrm>
            <a:off x="9509760" y="4754880"/>
            <a:ext cx="1965600" cy="1023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c4c4e4"/>
                </a:solidFill>
                <a:latin typeface="Arial"/>
                <a:ea typeface="Arial"/>
              </a:rPr>
              <a:t>des jeux ultra-régionaux (outliers culturels) sont japonais</a:t>
            </a:r>
            <a:endParaRPr b="0" lang="en-US" sz="1300" spc="-1" strike="noStrike">
              <a:solidFill>
                <a:srgbClr val="ffffff"/>
              </a:solidFill>
              <a:latin typeface="Arial"/>
            </a:endParaRPr>
          </a:p>
        </p:txBody>
      </p:sp>
      <p:pic>
        <p:nvPicPr>
          <p:cNvPr id="868" name="barre_fantome" descr="image.gif"/>
          <p:cNvPicPr/>
          <p:nvPr/>
        </p:nvPicPr>
        <p:blipFill>
          <a:blip r:embed="rId9"/>
          <a:stretch/>
        </p:blipFill>
        <p:spPr>
          <a:xfrm>
            <a:off x="3138696" y="6291000"/>
            <a:ext cx="310680" cy="310680"/>
          </a:xfrm>
          <a:prstGeom prst="rect">
            <a:avLst/>
          </a:prstGeom>
          <a:ln w="0">
            <a:noFill/>
          </a:ln>
        </p:spPr>
      </p:pic>
      <p:sp>
        <p:nvSpPr>
          <p:cNvPr id="870" name="barre_pastille"/>
          <p:cNvSpPr/>
          <p:nvPr/>
        </p:nvSpPr>
        <p:spPr>
          <a:xfrm>
            <a:off x="4114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0"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1"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2"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3"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4"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5"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6"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7"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8"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79"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0"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1"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2"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3"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4"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5"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6"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7"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8"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89"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0"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1"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2"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3"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4"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5"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6"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7"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8"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899"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00"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869" name="barre_pacman" descr="image.gif"/>
          <p:cNvPicPr/>
          <p:nvPr/>
        </p:nvPicPr>
        <p:blipFill>
          <a:blip r:embed="rId10"/>
          <a:stretch/>
        </p:blipFill>
        <p:spPr>
          <a:xfrm>
            <a:off x="3705696" y="6291000"/>
            <a:ext cx="310680" cy="310680"/>
          </a:xfrm>
          <a:prstGeom prst="rect">
            <a:avLst/>
          </a:prstGeom>
          <a:ln w="0">
            <a:noFill/>
          </a:ln>
        </p:spPr>
      </p:pic>
      <p:sp>
        <p:nvSpPr>
          <p:cNvPr id="901"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856" dur="indefinite" restart="never" nodeType="tmRoot">
          <p:childTnLst>
            <p:seq>
              <p:cTn id="857" dur="indefinite" nodeType="mainSeq">
                <p:childTnLst>
                  <p:par>
                    <p:cTn id="858" fill="hold">
                      <p:stCondLst>
                        <p:cond delay="0"/>
                      </p:stCondLst>
                      <p:childTnLst>
                        <p:par>
                          <p:cTn id="859" fill="hold">
                            <p:stCondLst>
                              <p:cond delay="0"/>
                            </p:stCondLst>
                            <p:childTnLst>
                              <p:par>
                                <p:cTn id="860" nodeType="withEffect" fill="hold" presetClass="path">
                                  <p:stCondLst>
                                    <p:cond delay="0"/>
                                  </p:stCondLst>
                                  <p:childTnLst>
                                    <p:animMotion origin="layout" path="M 0 0 L 0.02252 0 E">
                                      <p:cBhvr>
                                        <p:cTn id="861" dur="900" fill="hold"/>
                                        <p:tgtEl>
                                          <p:spTgt spid="868"/>
                                        </p:tgtEl>
                                        <p:attrNameLst>
                                          <p:attrName>ppt_x</p:attrName>
                                          <p:attrName>ppt_y</p:attrName>
                                        </p:attrNameLst>
                                      </p:cBhvr>
                                    </p:animMotion>
                                  </p:childTnLst>
                                </p:cTn>
                              </p:par>
                              <p:par>
                                <p:cTn id="862" nodeType="withEffect" fill="hold" presetClass="path">
                                  <p:stCondLst>
                                    <p:cond delay="0"/>
                                  </p:stCondLst>
                                  <p:childTnLst>
                                    <p:animMotion origin="layout" path="M 0 0 L 0.02252 0 E">
                                      <p:cBhvr>
                                        <p:cTn id="863" dur="900" fill="hold"/>
                                        <p:tgtEl>
                                          <p:spTgt spid="869"/>
                                        </p:tgtEl>
                                        <p:attrNameLst>
                                          <p:attrName>ppt_x</p:attrName>
                                          <p:attrName>ppt_y</p:attrName>
                                        </p:attrNameLst>
                                      </p:cBhvr>
                                    </p:animMotion>
                                  </p:childTnLst>
                                </p:cTn>
                              </p:par>
                              <p:par>
                                <p:cTn id="864" nodeType="withEffect" fill="hold" presetClass="exit" presetID="1">
                                  <p:stCondLst>
                                    <p:cond delay="738"/>
                                  </p:stCondLst>
                                  <p:childTnLst>
                                    <p:set>
                                      <p:cBhvr>
                                        <p:cTn id="865" dur="1" fill="hold">
                                          <p:stCondLst>
                                            <p:cond delay="0"/>
                                          </p:stCondLst>
                                        </p:cTn>
                                        <p:tgtEl>
                                          <p:spTgt spid="870"/>
                                        </p:tgtEl>
                                        <p:attrNameLst>
                                          <p:attrName>style.visibility</p:attrName>
                                        </p:attrNameLst>
                                      </p:cBhvr>
                                      <p:to>
                                        <p:strVal val="hidden"/>
                                      </p:to>
                                    </p:set>
                                  </p:childTnLst>
                                </p:cTn>
                              </p:par>
                              <p:par>
                                <p:cTn id="866" nodeType="withEffect" fill="hold" presetClass="entr" presetID="10">
                                  <p:stCondLst>
                                    <p:cond delay="100"/>
                                  </p:stCondLst>
                                  <p:childTnLst>
                                    <p:set>
                                      <p:cBhvr>
                                        <p:cTn id="867" dur="1" fill="hold">
                                          <p:stCondLst>
                                            <p:cond delay="0"/>
                                          </p:stCondLst>
                                        </p:cTn>
                                        <p:tgtEl>
                                          <p:spTgt spid="855"/>
                                        </p:tgtEl>
                                        <p:attrNameLst>
                                          <p:attrName>style.visibility</p:attrName>
                                        </p:attrNameLst>
                                      </p:cBhvr>
                                      <p:to>
                                        <p:strVal val="visible"/>
                                      </p:to>
                                    </p:set>
                                    <p:animEffect filter="fade" transition="in">
                                      <p:cBhvr additive="repl">
                                        <p:cTn id="868" dur="400"/>
                                        <p:tgtEl>
                                          <p:spTgt spid="855"/>
                                        </p:tgtEl>
                                      </p:cBhvr>
                                    </p:animEffect>
                                  </p:childTnLst>
                                </p:cTn>
                              </p:par>
                              <p:par>
                                <p:cTn id="869" nodeType="withEffect" fill="hold" presetClass="entr" presetID="10">
                                  <p:stCondLst>
                                    <p:cond delay="600"/>
                                  </p:stCondLst>
                                  <p:childTnLst>
                                    <p:set>
                                      <p:cBhvr>
                                        <p:cTn id="870" dur="1" fill="hold">
                                          <p:stCondLst>
                                            <p:cond delay="0"/>
                                          </p:stCondLst>
                                        </p:cTn>
                                        <p:tgtEl>
                                          <p:spTgt spid="856"/>
                                        </p:tgtEl>
                                        <p:attrNameLst>
                                          <p:attrName>style.visibility</p:attrName>
                                        </p:attrNameLst>
                                      </p:cBhvr>
                                      <p:to>
                                        <p:strVal val="visible"/>
                                      </p:to>
                                    </p:set>
                                    <p:animEffect filter="fade" transition="in">
                                      <p:cBhvr additive="repl">
                                        <p:cTn id="871" dur="400"/>
                                        <p:tgtEl>
                                          <p:spTgt spid="856"/>
                                        </p:tgtEl>
                                      </p:cBhvr>
                                    </p:animEffect>
                                  </p:childTnLst>
                                </p:cTn>
                              </p:par>
                              <p:par>
                                <p:cTn id="872" nodeType="withEffect" fill="hold" presetClass="entr" presetID="10">
                                  <p:stCondLst>
                                    <p:cond delay="600"/>
                                  </p:stCondLst>
                                  <p:childTnLst>
                                    <p:set>
                                      <p:cBhvr>
                                        <p:cTn id="873" dur="1" fill="hold">
                                          <p:stCondLst>
                                            <p:cond delay="0"/>
                                          </p:stCondLst>
                                        </p:cTn>
                                        <p:tgtEl>
                                          <p:spTgt spid="857"/>
                                        </p:tgtEl>
                                        <p:attrNameLst>
                                          <p:attrName>style.visibility</p:attrName>
                                        </p:attrNameLst>
                                      </p:cBhvr>
                                      <p:to>
                                        <p:strVal val="visible"/>
                                      </p:to>
                                    </p:set>
                                    <p:animEffect filter="fade" transition="in">
                                      <p:cBhvr additive="repl">
                                        <p:cTn id="874" dur="400"/>
                                        <p:tgtEl>
                                          <p:spTgt spid="857"/>
                                        </p:tgtEl>
                                      </p:cBhvr>
                                    </p:animEffect>
                                  </p:childTnLst>
                                </p:cTn>
                              </p:par>
                              <p:par>
                                <p:cTn id="875" nodeType="withEffect" fill="hold" presetClass="entr" presetID="10">
                                  <p:stCondLst>
                                    <p:cond delay="600"/>
                                  </p:stCondLst>
                                  <p:childTnLst>
                                    <p:set>
                                      <p:cBhvr>
                                        <p:cTn id="876" dur="1" fill="hold">
                                          <p:stCondLst>
                                            <p:cond delay="0"/>
                                          </p:stCondLst>
                                        </p:cTn>
                                        <p:tgtEl>
                                          <p:spTgt spid="858"/>
                                        </p:tgtEl>
                                        <p:attrNameLst>
                                          <p:attrName>style.visibility</p:attrName>
                                        </p:attrNameLst>
                                      </p:cBhvr>
                                      <p:to>
                                        <p:strVal val="visible"/>
                                      </p:to>
                                    </p:set>
                                    <p:animEffect filter="fade" transition="in">
                                      <p:cBhvr additive="repl">
                                        <p:cTn id="877" dur="400"/>
                                        <p:tgtEl>
                                          <p:spTgt spid="858"/>
                                        </p:tgtEl>
                                      </p:cBhvr>
                                    </p:animEffect>
                                  </p:childTnLst>
                                </p:cTn>
                              </p:par>
                              <p:par>
                                <p:cTn id="878" nodeType="withEffect" fill="hold" presetClass="entr" presetID="10">
                                  <p:stCondLst>
                                    <p:cond delay="600"/>
                                  </p:stCondLst>
                                  <p:childTnLst>
                                    <p:set>
                                      <p:cBhvr>
                                        <p:cTn id="879" dur="1" fill="hold">
                                          <p:stCondLst>
                                            <p:cond delay="0"/>
                                          </p:stCondLst>
                                        </p:cTn>
                                        <p:tgtEl>
                                          <p:spTgt spid="859"/>
                                        </p:tgtEl>
                                        <p:attrNameLst>
                                          <p:attrName>style.visibility</p:attrName>
                                        </p:attrNameLst>
                                      </p:cBhvr>
                                      <p:to>
                                        <p:strVal val="visible"/>
                                      </p:to>
                                    </p:set>
                                    <p:animEffect filter="fade" transition="in">
                                      <p:cBhvr additive="repl">
                                        <p:cTn id="880" dur="400"/>
                                        <p:tgtEl>
                                          <p:spTgt spid="859"/>
                                        </p:tgtEl>
                                      </p:cBhvr>
                                    </p:animEffect>
                                  </p:childTnLst>
                                </p:cTn>
                              </p:par>
                              <p:par>
                                <p:cTn id="881" nodeType="withEffect" fill="hold" presetClass="entr" presetID="10">
                                  <p:stCondLst>
                                    <p:cond delay="900"/>
                                  </p:stCondLst>
                                  <p:childTnLst>
                                    <p:set>
                                      <p:cBhvr>
                                        <p:cTn id="882" dur="1" fill="hold">
                                          <p:stCondLst>
                                            <p:cond delay="0"/>
                                          </p:stCondLst>
                                        </p:cTn>
                                        <p:tgtEl>
                                          <p:spTgt spid="860"/>
                                        </p:tgtEl>
                                        <p:attrNameLst>
                                          <p:attrName>style.visibility</p:attrName>
                                        </p:attrNameLst>
                                      </p:cBhvr>
                                      <p:to>
                                        <p:strVal val="visible"/>
                                      </p:to>
                                    </p:set>
                                    <p:animEffect filter="fade" transition="in">
                                      <p:cBhvr additive="repl">
                                        <p:cTn id="883" dur="400"/>
                                        <p:tgtEl>
                                          <p:spTgt spid="860"/>
                                        </p:tgtEl>
                                      </p:cBhvr>
                                    </p:animEffect>
                                  </p:childTnLst>
                                </p:cTn>
                              </p:par>
                              <p:par>
                                <p:cTn id="884" nodeType="withEffect" fill="hold" presetClass="entr" presetID="10">
                                  <p:stCondLst>
                                    <p:cond delay="900"/>
                                  </p:stCondLst>
                                  <p:childTnLst>
                                    <p:set>
                                      <p:cBhvr>
                                        <p:cTn id="885" dur="1" fill="hold">
                                          <p:stCondLst>
                                            <p:cond delay="0"/>
                                          </p:stCondLst>
                                        </p:cTn>
                                        <p:tgtEl>
                                          <p:spTgt spid="861"/>
                                        </p:tgtEl>
                                        <p:attrNameLst>
                                          <p:attrName>style.visibility</p:attrName>
                                        </p:attrNameLst>
                                      </p:cBhvr>
                                      <p:to>
                                        <p:strVal val="visible"/>
                                      </p:to>
                                    </p:set>
                                    <p:animEffect filter="fade" transition="in">
                                      <p:cBhvr additive="repl">
                                        <p:cTn id="886" dur="400"/>
                                        <p:tgtEl>
                                          <p:spTgt spid="861"/>
                                        </p:tgtEl>
                                      </p:cBhvr>
                                    </p:animEffect>
                                  </p:childTnLst>
                                </p:cTn>
                              </p:par>
                              <p:par>
                                <p:cTn id="887" nodeType="withEffect" fill="hold" presetClass="entr" presetID="10">
                                  <p:stCondLst>
                                    <p:cond delay="900"/>
                                  </p:stCondLst>
                                  <p:childTnLst>
                                    <p:set>
                                      <p:cBhvr>
                                        <p:cTn id="888" dur="1" fill="hold">
                                          <p:stCondLst>
                                            <p:cond delay="0"/>
                                          </p:stCondLst>
                                        </p:cTn>
                                        <p:tgtEl>
                                          <p:spTgt spid="862"/>
                                        </p:tgtEl>
                                        <p:attrNameLst>
                                          <p:attrName>style.visibility</p:attrName>
                                        </p:attrNameLst>
                                      </p:cBhvr>
                                      <p:to>
                                        <p:strVal val="visible"/>
                                      </p:to>
                                    </p:set>
                                    <p:animEffect filter="fade" transition="in">
                                      <p:cBhvr additive="repl">
                                        <p:cTn id="889" dur="400"/>
                                        <p:tgtEl>
                                          <p:spTgt spid="862"/>
                                        </p:tgtEl>
                                      </p:cBhvr>
                                    </p:animEffect>
                                  </p:childTnLst>
                                </p:cTn>
                              </p:par>
                              <p:par>
                                <p:cTn id="890" nodeType="withEffect" fill="hold" presetClass="entr" presetID="10">
                                  <p:stCondLst>
                                    <p:cond delay="900"/>
                                  </p:stCondLst>
                                  <p:childTnLst>
                                    <p:set>
                                      <p:cBhvr>
                                        <p:cTn id="891" dur="1" fill="hold">
                                          <p:stCondLst>
                                            <p:cond delay="0"/>
                                          </p:stCondLst>
                                        </p:cTn>
                                        <p:tgtEl>
                                          <p:spTgt spid="863"/>
                                        </p:tgtEl>
                                        <p:attrNameLst>
                                          <p:attrName>style.visibility</p:attrName>
                                        </p:attrNameLst>
                                      </p:cBhvr>
                                      <p:to>
                                        <p:strVal val="visible"/>
                                      </p:to>
                                    </p:set>
                                    <p:animEffect filter="fade" transition="in">
                                      <p:cBhvr additive="repl">
                                        <p:cTn id="892" dur="400"/>
                                        <p:tgtEl>
                                          <p:spTgt spid="863"/>
                                        </p:tgtEl>
                                      </p:cBhvr>
                                    </p:animEffect>
                                  </p:childTnLst>
                                </p:cTn>
                              </p:par>
                              <p:par>
                                <p:cTn id="893" nodeType="withEffect" fill="hold" presetClass="entr" presetID="10">
                                  <p:stCondLst>
                                    <p:cond delay="1200"/>
                                  </p:stCondLst>
                                  <p:childTnLst>
                                    <p:set>
                                      <p:cBhvr>
                                        <p:cTn id="894" dur="1" fill="hold">
                                          <p:stCondLst>
                                            <p:cond delay="0"/>
                                          </p:stCondLst>
                                        </p:cTn>
                                        <p:tgtEl>
                                          <p:spTgt spid="864"/>
                                        </p:tgtEl>
                                        <p:attrNameLst>
                                          <p:attrName>style.visibility</p:attrName>
                                        </p:attrNameLst>
                                      </p:cBhvr>
                                      <p:to>
                                        <p:strVal val="visible"/>
                                      </p:to>
                                    </p:set>
                                    <p:animEffect filter="fade" transition="in">
                                      <p:cBhvr additive="repl">
                                        <p:cTn id="895" dur="400"/>
                                        <p:tgtEl>
                                          <p:spTgt spid="864"/>
                                        </p:tgtEl>
                                      </p:cBhvr>
                                    </p:animEffect>
                                  </p:childTnLst>
                                </p:cTn>
                              </p:par>
                              <p:par>
                                <p:cTn id="896" nodeType="withEffect" fill="hold" presetClass="entr" presetID="10">
                                  <p:stCondLst>
                                    <p:cond delay="1200"/>
                                  </p:stCondLst>
                                  <p:childTnLst>
                                    <p:set>
                                      <p:cBhvr>
                                        <p:cTn id="897" dur="1" fill="hold">
                                          <p:stCondLst>
                                            <p:cond delay="0"/>
                                          </p:stCondLst>
                                        </p:cTn>
                                        <p:tgtEl>
                                          <p:spTgt spid="865"/>
                                        </p:tgtEl>
                                        <p:attrNameLst>
                                          <p:attrName>style.visibility</p:attrName>
                                        </p:attrNameLst>
                                      </p:cBhvr>
                                      <p:to>
                                        <p:strVal val="visible"/>
                                      </p:to>
                                    </p:set>
                                    <p:animEffect filter="fade" transition="in">
                                      <p:cBhvr additive="repl">
                                        <p:cTn id="898" dur="400"/>
                                        <p:tgtEl>
                                          <p:spTgt spid="865"/>
                                        </p:tgtEl>
                                      </p:cBhvr>
                                    </p:animEffect>
                                  </p:childTnLst>
                                </p:cTn>
                              </p:par>
                              <p:par>
                                <p:cTn id="899" nodeType="withEffect" fill="hold" presetClass="entr" presetID="10">
                                  <p:stCondLst>
                                    <p:cond delay="1200"/>
                                  </p:stCondLst>
                                  <p:childTnLst>
                                    <p:set>
                                      <p:cBhvr>
                                        <p:cTn id="900" dur="1" fill="hold">
                                          <p:stCondLst>
                                            <p:cond delay="0"/>
                                          </p:stCondLst>
                                        </p:cTn>
                                        <p:tgtEl>
                                          <p:spTgt spid="866"/>
                                        </p:tgtEl>
                                        <p:attrNameLst>
                                          <p:attrName>style.visibility</p:attrName>
                                        </p:attrNameLst>
                                      </p:cBhvr>
                                      <p:to>
                                        <p:strVal val="visible"/>
                                      </p:to>
                                    </p:set>
                                    <p:animEffect filter="fade" transition="in">
                                      <p:cBhvr additive="repl">
                                        <p:cTn id="901" dur="400"/>
                                        <p:tgtEl>
                                          <p:spTgt spid="866"/>
                                        </p:tgtEl>
                                      </p:cBhvr>
                                    </p:animEffect>
                                  </p:childTnLst>
                                </p:cTn>
                              </p:par>
                              <p:par>
                                <p:cTn id="902" nodeType="withEffect" fill="hold" presetClass="entr" presetID="10">
                                  <p:stCondLst>
                                    <p:cond delay="1200"/>
                                  </p:stCondLst>
                                  <p:childTnLst>
                                    <p:set>
                                      <p:cBhvr>
                                        <p:cTn id="903" dur="1" fill="hold">
                                          <p:stCondLst>
                                            <p:cond delay="0"/>
                                          </p:stCondLst>
                                        </p:cTn>
                                        <p:tgtEl>
                                          <p:spTgt spid="867"/>
                                        </p:tgtEl>
                                        <p:attrNameLst>
                                          <p:attrName>style.visibility</p:attrName>
                                        </p:attrNameLst>
                                      </p:cBhvr>
                                      <p:to>
                                        <p:strVal val="visible"/>
                                      </p:to>
                                    </p:set>
                                    <p:animEffect filter="fade" transition="in">
                                      <p:cBhvr additive="repl">
                                        <p:cTn id="904" dur="400"/>
                                        <p:tgtEl>
                                          <p:spTgt spid="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902" name="o1" descr="LEVEL 4 → INSIGHT 4/4"/>
          <p:cNvPicPr/>
          <p:nvPr/>
        </p:nvPicPr>
        <p:blipFill>
          <a:blip r:embed="rId1"/>
          <a:stretch/>
        </p:blipFill>
        <p:spPr>
          <a:xfrm>
            <a:off x="548640" y="411480"/>
            <a:ext cx="3071880" cy="145800"/>
          </a:xfrm>
          <a:prstGeom prst="rect">
            <a:avLst/>
          </a:prstGeom>
          <a:ln w="0">
            <a:noFill/>
          </a:ln>
        </p:spPr>
      </p:pic>
      <p:pic>
        <p:nvPicPr>
          <p:cNvPr id="903" name="o2" descr="L'Action et le Tir prennent tout"/>
          <p:cNvPicPr/>
          <p:nvPr/>
        </p:nvPicPr>
        <p:blipFill>
          <a:blip r:embed="rId2"/>
          <a:stretch/>
        </p:blipFill>
        <p:spPr>
          <a:xfrm>
            <a:off x="548640" y="777240"/>
            <a:ext cx="8777880" cy="273960"/>
          </a:xfrm>
          <a:prstGeom prst="rect">
            <a:avLst/>
          </a:prstGeom>
          <a:ln w="0">
            <a:noFill/>
          </a:ln>
        </p:spPr>
      </p:pic>
      <p:pic>
        <p:nvPicPr>
          <p:cNvPr id="904" name="o3" descr="apple"/>
          <p:cNvPicPr/>
          <p:nvPr/>
        </p:nvPicPr>
        <p:blipFill>
          <a:blip r:embed="rId3"/>
          <a:stretch/>
        </p:blipFill>
        <p:spPr>
          <a:xfrm>
            <a:off x="11073240" y="365760"/>
            <a:ext cx="566640" cy="566640"/>
          </a:xfrm>
          <a:prstGeom prst="rect">
            <a:avLst/>
          </a:prstGeom>
          <a:ln w="0">
            <a:noFill/>
          </a:ln>
        </p:spPr>
      </p:pic>
      <p:pic>
        <p:nvPicPr>
          <p:cNvPr id="905" name="o16" descr="super pac-gomme"/>
          <p:cNvPicPr/>
          <p:nvPr/>
        </p:nvPicPr>
        <p:blipFill>
          <a:blip r:embed="rId4"/>
          <a:stretch/>
        </p:blipFill>
        <p:spPr>
          <a:xfrm>
            <a:off x="11448360" y="6355080"/>
            <a:ext cx="182520" cy="182520"/>
          </a:xfrm>
          <a:prstGeom prst="rect">
            <a:avLst/>
          </a:prstGeom>
          <a:ln w="0">
            <a:noFill/>
          </a:ln>
        </p:spPr>
      </p:pic>
      <p:graphicFrame>
        <p:nvGraphicFramePr>
          <p:cNvPr id="906" name="o19"/>
          <p:cNvGraphicFramePr/>
          <p:nvPr/>
        </p:nvGraphicFramePr>
        <p:xfrm>
          <a:off x="457200" y="1600200"/>
          <a:ext cx="7223400" cy="4434480"/>
        </p:xfrm>
        <a:graphic>
          <a:graphicData uri="http://schemas.openxmlformats.org/drawingml/2006/chart">
            <c:chart xmlns:c="http://schemas.openxmlformats.org/drawingml/2006/chart" xmlns:r="http://schemas.openxmlformats.org/officeDocument/2006/relationships" r:id="rId5"/>
          </a:graphicData>
        </a:graphic>
      </p:graphicFrame>
      <p:sp>
        <p:nvSpPr>
          <p:cNvPr id="907" name="o20"/>
          <p:cNvSpPr/>
          <p:nvPr/>
        </p:nvSpPr>
        <p:spPr>
          <a:xfrm>
            <a:off x="8183880" y="1691640"/>
            <a:ext cx="3456000" cy="2057040"/>
          </a:xfrm>
          <a:prstGeom prst="roundRect">
            <a:avLst>
              <a:gd name="adj" fmla="val 6222"/>
            </a:avLst>
          </a:prstGeom>
          <a:solidFill>
            <a:srgbClr val="000000"/>
          </a:solidFill>
          <a:ln w="28575">
            <a:solidFill>
              <a:srgbClr val="ff2d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08" name="o21"/>
          <p:cNvSpPr/>
          <p:nvPr/>
        </p:nvSpPr>
        <p:spPr>
          <a:xfrm>
            <a:off x="8252640" y="1760400"/>
            <a:ext cx="3318840" cy="1919880"/>
          </a:xfrm>
          <a:prstGeom prst="roundRect">
            <a:avLst>
              <a:gd name="adj" fmla="val 3095"/>
            </a:avLst>
          </a:prstGeom>
          <a:noFill/>
          <a:ln w="12700">
            <a:solidFill>
              <a:srgbClr val="ff2d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09" name="o22" descr="ACTION + TIR"/>
          <p:cNvPicPr/>
          <p:nvPr/>
        </p:nvPicPr>
        <p:blipFill>
          <a:blip r:embed="rId6"/>
          <a:stretch/>
        </p:blipFill>
        <p:spPr>
          <a:xfrm>
            <a:off x="8503920" y="1965960"/>
            <a:ext cx="1535760" cy="127800"/>
          </a:xfrm>
          <a:prstGeom prst="rect">
            <a:avLst/>
          </a:prstGeom>
          <a:ln w="0">
            <a:noFill/>
          </a:ln>
        </p:spPr>
      </p:pic>
      <p:pic>
        <p:nvPicPr>
          <p:cNvPr id="910" name="o23" descr="18%→45%"/>
          <p:cNvPicPr/>
          <p:nvPr/>
        </p:nvPicPr>
        <p:blipFill>
          <a:blip r:embed="rId7"/>
          <a:stretch/>
        </p:blipFill>
        <p:spPr>
          <a:xfrm>
            <a:off x="8503920" y="2377440"/>
            <a:ext cx="2175840" cy="310680"/>
          </a:xfrm>
          <a:prstGeom prst="rect">
            <a:avLst/>
          </a:prstGeom>
          <a:ln w="0">
            <a:noFill/>
          </a:ln>
        </p:spPr>
      </p:pic>
      <p:sp>
        <p:nvSpPr>
          <p:cNvPr id="911" name="o24"/>
          <p:cNvSpPr/>
          <p:nvPr/>
        </p:nvSpPr>
        <p:spPr>
          <a:xfrm>
            <a:off x="8503920" y="2926080"/>
            <a:ext cx="292572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des ventes, entre 1995–1999 et 2010–2016</a:t>
            </a:r>
            <a:endParaRPr b="0" lang="en-US" sz="1400" spc="-1" strike="noStrike">
              <a:solidFill>
                <a:srgbClr val="ffffff"/>
              </a:solidFill>
              <a:latin typeface="Arial"/>
            </a:endParaRPr>
          </a:p>
        </p:txBody>
      </p:sp>
      <p:sp>
        <p:nvSpPr>
          <p:cNvPr id="912" name="o25"/>
          <p:cNvSpPr/>
          <p:nvPr/>
        </p:nvSpPr>
        <p:spPr>
          <a:xfrm>
            <a:off x="8183880" y="3931920"/>
            <a:ext cx="3456000" cy="2102760"/>
          </a:xfrm>
          <a:prstGeom prst="roundRect">
            <a:avLst>
              <a:gd name="adj" fmla="val 6087"/>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13" name="o26"/>
          <p:cNvSpPr/>
          <p:nvPr/>
        </p:nvSpPr>
        <p:spPr>
          <a:xfrm>
            <a:off x="8252640" y="4000680"/>
            <a:ext cx="3318840" cy="1965600"/>
          </a:xfrm>
          <a:prstGeom prst="roundRect">
            <a:avLst>
              <a:gd name="adj" fmla="val 3023"/>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14" name="o27" descr="PIEGE"/>
          <p:cNvPicPr/>
          <p:nvPr/>
        </p:nvPicPr>
        <p:blipFill>
          <a:blip r:embed="rId8"/>
          <a:stretch/>
        </p:blipFill>
        <p:spPr>
          <a:xfrm>
            <a:off x="8503920" y="4187880"/>
            <a:ext cx="639720" cy="127800"/>
          </a:xfrm>
          <a:prstGeom prst="rect">
            <a:avLst/>
          </a:prstGeom>
          <a:ln w="0">
            <a:noFill/>
          </a:ln>
        </p:spPr>
      </p:pic>
      <p:sp>
        <p:nvSpPr>
          <p:cNvPr id="915" name="o28"/>
          <p:cNvSpPr/>
          <p:nvPr/>
        </p:nvSpPr>
        <p:spPr>
          <a:xfrm>
            <a:off x="8503920" y="4462200"/>
            <a:ext cx="301716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rgbClr val="ffffff"/>
                </a:solidFill>
                <a:latin typeface="Arial"/>
                <a:ea typeface="Arial"/>
              </a:rPr>
              <a:t>Fréquent ≠ rentable</a:t>
            </a:r>
            <a:endParaRPr b="0" lang="en-US" sz="2000" spc="-1" strike="noStrike">
              <a:solidFill>
                <a:srgbClr val="ffffff"/>
              </a:solidFill>
              <a:latin typeface="Arial"/>
            </a:endParaRPr>
          </a:p>
        </p:txBody>
      </p:sp>
      <p:sp>
        <p:nvSpPr>
          <p:cNvPr id="916" name="o29"/>
          <p:cNvSpPr/>
          <p:nvPr/>
        </p:nvSpPr>
        <p:spPr>
          <a:xfrm>
            <a:off x="8503920" y="4892040"/>
            <a:ext cx="2925720" cy="1005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pc="-1" strike="noStrike">
                <a:solidFill>
                  <a:srgbClr val="c4c4e4"/>
                </a:solidFill>
                <a:latin typeface="Arial"/>
                <a:ea typeface="Arial"/>
              </a:rPr>
              <a:t>L'Aventure vend 3 fois moins que son poids dans le catalogue. Les Plates-formes chutent de 12 % à 5 % des ventes.</a:t>
            </a:r>
            <a:endParaRPr b="0" lang="en-US" sz="1300" spc="-1" strike="noStrike">
              <a:solidFill>
                <a:srgbClr val="ffffff"/>
              </a:solidFill>
              <a:latin typeface="Arial"/>
            </a:endParaRPr>
          </a:p>
        </p:txBody>
      </p:sp>
      <p:pic>
        <p:nvPicPr>
          <p:cNvPr id="917" name="barre_fantome" descr="image.gif"/>
          <p:cNvPicPr/>
          <p:nvPr/>
        </p:nvPicPr>
        <p:blipFill>
          <a:blip r:embed="rId9"/>
          <a:stretch/>
        </p:blipFill>
        <p:spPr>
          <a:xfrm>
            <a:off x="3413232" y="6291000"/>
            <a:ext cx="310680" cy="310680"/>
          </a:xfrm>
          <a:prstGeom prst="rect">
            <a:avLst/>
          </a:prstGeom>
          <a:ln w="0">
            <a:noFill/>
          </a:ln>
        </p:spPr>
      </p:pic>
      <p:sp>
        <p:nvSpPr>
          <p:cNvPr id="919" name="barre_pastille"/>
          <p:cNvSpPr/>
          <p:nvPr/>
        </p:nvSpPr>
        <p:spPr>
          <a:xfrm>
            <a:off x="4343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19"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0"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1"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2"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3"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4"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5"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6"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7"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8"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29"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0"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1"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2"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3"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4"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5"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6"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7"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8"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39"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0"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1"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2"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3"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4"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5"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6"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7"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48"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918" name="barre_pacman" descr="image.gif"/>
          <p:cNvPicPr/>
          <p:nvPr/>
        </p:nvPicPr>
        <p:blipFill>
          <a:blip r:embed="rId10"/>
          <a:stretch/>
        </p:blipFill>
        <p:spPr>
          <a:xfrm>
            <a:off x="3980232" y="6291000"/>
            <a:ext cx="310680" cy="310680"/>
          </a:xfrm>
          <a:prstGeom prst="rect">
            <a:avLst/>
          </a:prstGeom>
          <a:ln w="0">
            <a:noFill/>
          </a:ln>
        </p:spPr>
      </p:pic>
      <p:sp>
        <p:nvSpPr>
          <p:cNvPr id="949"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905" dur="indefinite" restart="never" nodeType="tmRoot">
          <p:childTnLst>
            <p:seq>
              <p:cTn id="906" dur="indefinite" nodeType="mainSeq">
                <p:childTnLst>
                  <p:par>
                    <p:cTn id="907" fill="hold">
                      <p:stCondLst>
                        <p:cond delay="0"/>
                      </p:stCondLst>
                      <p:childTnLst>
                        <p:par>
                          <p:cTn id="908" fill="hold">
                            <p:stCondLst>
                              <p:cond delay="0"/>
                            </p:stCondLst>
                            <p:childTnLst>
                              <p:par>
                                <p:cTn id="909" nodeType="withEffect" fill="hold" presetClass="path">
                                  <p:stCondLst>
                                    <p:cond delay="0"/>
                                  </p:stCondLst>
                                  <p:childTnLst>
                                    <p:animMotion origin="layout" path="M 0 0 L 0.02252 0 E">
                                      <p:cBhvr>
                                        <p:cTn id="910" dur="900" fill="hold"/>
                                        <p:tgtEl>
                                          <p:spTgt spid="917"/>
                                        </p:tgtEl>
                                        <p:attrNameLst>
                                          <p:attrName>ppt_x</p:attrName>
                                          <p:attrName>ppt_y</p:attrName>
                                        </p:attrNameLst>
                                      </p:cBhvr>
                                    </p:animMotion>
                                  </p:childTnLst>
                                </p:cTn>
                              </p:par>
                              <p:par>
                                <p:cTn id="911" nodeType="withEffect" fill="hold" presetClass="path">
                                  <p:stCondLst>
                                    <p:cond delay="0"/>
                                  </p:stCondLst>
                                  <p:childTnLst>
                                    <p:animMotion origin="layout" path="M 0 0 L 0.02252 0 E">
                                      <p:cBhvr>
                                        <p:cTn id="912" dur="900" fill="hold"/>
                                        <p:tgtEl>
                                          <p:spTgt spid="918"/>
                                        </p:tgtEl>
                                        <p:attrNameLst>
                                          <p:attrName>ppt_x</p:attrName>
                                          <p:attrName>ppt_y</p:attrName>
                                        </p:attrNameLst>
                                      </p:cBhvr>
                                    </p:animMotion>
                                  </p:childTnLst>
                                </p:cTn>
                              </p:par>
                              <p:par>
                                <p:cTn id="913" nodeType="withEffect" fill="hold" presetClass="exit" presetID="1">
                                  <p:stCondLst>
                                    <p:cond delay="608"/>
                                  </p:stCondLst>
                                  <p:childTnLst>
                                    <p:set>
                                      <p:cBhvr>
                                        <p:cTn id="914" dur="1" fill="hold">
                                          <p:stCondLst>
                                            <p:cond delay="0"/>
                                          </p:stCondLst>
                                        </p:cTn>
                                        <p:tgtEl>
                                          <p:spTgt spid="919"/>
                                        </p:tgtEl>
                                        <p:attrNameLst>
                                          <p:attrName>style.visibility</p:attrName>
                                        </p:attrNameLst>
                                      </p:cBhvr>
                                      <p:to>
                                        <p:strVal val="hidden"/>
                                      </p:to>
                                    </p:set>
                                  </p:childTnLst>
                                </p:cTn>
                              </p:par>
                              <p:par>
                                <p:cTn id="915" nodeType="withEffect" fill="hold" presetClass="entr" presetID="10">
                                  <p:stCondLst>
                                    <p:cond delay="100"/>
                                  </p:stCondLst>
                                  <p:childTnLst>
                                    <p:set>
                                      <p:cBhvr>
                                        <p:cTn id="916" dur="1" fill="hold">
                                          <p:stCondLst>
                                            <p:cond delay="0"/>
                                          </p:stCondLst>
                                        </p:cTn>
                                        <p:tgtEl>
                                          <p:spTgt spid="906"/>
                                        </p:tgtEl>
                                        <p:attrNameLst>
                                          <p:attrName>style.visibility</p:attrName>
                                        </p:attrNameLst>
                                      </p:cBhvr>
                                      <p:to>
                                        <p:strVal val="visible"/>
                                      </p:to>
                                    </p:set>
                                    <p:animEffect filter="fade" transition="in">
                                      <p:cBhvr additive="repl">
                                        <p:cTn id="917" dur="400"/>
                                        <p:tgtEl>
                                          <p:spTgt spid="906"/>
                                        </p:tgtEl>
                                      </p:cBhvr>
                                    </p:animEffect>
                                  </p:childTnLst>
                                </p:cTn>
                              </p:par>
                              <p:par>
                                <p:cTn id="918" nodeType="withEffect" fill="hold" presetClass="entr" presetID="10">
                                  <p:stCondLst>
                                    <p:cond delay="600"/>
                                  </p:stCondLst>
                                  <p:childTnLst>
                                    <p:set>
                                      <p:cBhvr>
                                        <p:cTn id="919" dur="1" fill="hold">
                                          <p:stCondLst>
                                            <p:cond delay="0"/>
                                          </p:stCondLst>
                                        </p:cTn>
                                        <p:tgtEl>
                                          <p:spTgt spid="907"/>
                                        </p:tgtEl>
                                        <p:attrNameLst>
                                          <p:attrName>style.visibility</p:attrName>
                                        </p:attrNameLst>
                                      </p:cBhvr>
                                      <p:to>
                                        <p:strVal val="visible"/>
                                      </p:to>
                                    </p:set>
                                    <p:animEffect filter="fade" transition="in">
                                      <p:cBhvr additive="repl">
                                        <p:cTn id="920" dur="400"/>
                                        <p:tgtEl>
                                          <p:spTgt spid="907"/>
                                        </p:tgtEl>
                                      </p:cBhvr>
                                    </p:animEffect>
                                  </p:childTnLst>
                                </p:cTn>
                              </p:par>
                              <p:par>
                                <p:cTn id="921" nodeType="withEffect" fill="hold" presetClass="entr" presetID="10">
                                  <p:stCondLst>
                                    <p:cond delay="600"/>
                                  </p:stCondLst>
                                  <p:childTnLst>
                                    <p:set>
                                      <p:cBhvr>
                                        <p:cTn id="922" dur="1" fill="hold">
                                          <p:stCondLst>
                                            <p:cond delay="0"/>
                                          </p:stCondLst>
                                        </p:cTn>
                                        <p:tgtEl>
                                          <p:spTgt spid="908"/>
                                        </p:tgtEl>
                                        <p:attrNameLst>
                                          <p:attrName>style.visibility</p:attrName>
                                        </p:attrNameLst>
                                      </p:cBhvr>
                                      <p:to>
                                        <p:strVal val="visible"/>
                                      </p:to>
                                    </p:set>
                                    <p:animEffect filter="fade" transition="in">
                                      <p:cBhvr additive="repl">
                                        <p:cTn id="923" dur="400"/>
                                        <p:tgtEl>
                                          <p:spTgt spid="908"/>
                                        </p:tgtEl>
                                      </p:cBhvr>
                                    </p:animEffect>
                                  </p:childTnLst>
                                </p:cTn>
                              </p:par>
                              <p:par>
                                <p:cTn id="924" nodeType="withEffect" fill="hold" presetClass="entr" presetID="10">
                                  <p:stCondLst>
                                    <p:cond delay="600"/>
                                  </p:stCondLst>
                                  <p:childTnLst>
                                    <p:set>
                                      <p:cBhvr>
                                        <p:cTn id="925" dur="1" fill="hold">
                                          <p:stCondLst>
                                            <p:cond delay="0"/>
                                          </p:stCondLst>
                                        </p:cTn>
                                        <p:tgtEl>
                                          <p:spTgt spid="909"/>
                                        </p:tgtEl>
                                        <p:attrNameLst>
                                          <p:attrName>style.visibility</p:attrName>
                                        </p:attrNameLst>
                                      </p:cBhvr>
                                      <p:to>
                                        <p:strVal val="visible"/>
                                      </p:to>
                                    </p:set>
                                    <p:animEffect filter="fade" transition="in">
                                      <p:cBhvr additive="repl">
                                        <p:cTn id="926" dur="400"/>
                                        <p:tgtEl>
                                          <p:spTgt spid="909"/>
                                        </p:tgtEl>
                                      </p:cBhvr>
                                    </p:animEffect>
                                  </p:childTnLst>
                                </p:cTn>
                              </p:par>
                              <p:par>
                                <p:cTn id="927" nodeType="withEffect" fill="hold" presetClass="entr" presetID="10">
                                  <p:stCondLst>
                                    <p:cond delay="600"/>
                                  </p:stCondLst>
                                  <p:childTnLst>
                                    <p:set>
                                      <p:cBhvr>
                                        <p:cTn id="928" dur="1" fill="hold">
                                          <p:stCondLst>
                                            <p:cond delay="0"/>
                                          </p:stCondLst>
                                        </p:cTn>
                                        <p:tgtEl>
                                          <p:spTgt spid="910"/>
                                        </p:tgtEl>
                                        <p:attrNameLst>
                                          <p:attrName>style.visibility</p:attrName>
                                        </p:attrNameLst>
                                      </p:cBhvr>
                                      <p:to>
                                        <p:strVal val="visible"/>
                                      </p:to>
                                    </p:set>
                                    <p:animEffect filter="fade" transition="in">
                                      <p:cBhvr additive="repl">
                                        <p:cTn id="929" dur="400"/>
                                        <p:tgtEl>
                                          <p:spTgt spid="910"/>
                                        </p:tgtEl>
                                      </p:cBhvr>
                                    </p:animEffect>
                                  </p:childTnLst>
                                </p:cTn>
                              </p:par>
                              <p:par>
                                <p:cTn id="930" nodeType="withEffect" fill="hold" presetClass="entr" presetID="10">
                                  <p:stCondLst>
                                    <p:cond delay="600"/>
                                  </p:stCondLst>
                                  <p:childTnLst>
                                    <p:set>
                                      <p:cBhvr>
                                        <p:cTn id="931" dur="1" fill="hold">
                                          <p:stCondLst>
                                            <p:cond delay="0"/>
                                          </p:stCondLst>
                                        </p:cTn>
                                        <p:tgtEl>
                                          <p:spTgt spid="911"/>
                                        </p:tgtEl>
                                        <p:attrNameLst>
                                          <p:attrName>style.visibility</p:attrName>
                                        </p:attrNameLst>
                                      </p:cBhvr>
                                      <p:to>
                                        <p:strVal val="visible"/>
                                      </p:to>
                                    </p:set>
                                    <p:animEffect filter="fade" transition="in">
                                      <p:cBhvr additive="repl">
                                        <p:cTn id="932" dur="400"/>
                                        <p:tgtEl>
                                          <p:spTgt spid="911"/>
                                        </p:tgtEl>
                                      </p:cBhvr>
                                    </p:animEffect>
                                  </p:childTnLst>
                                </p:cTn>
                              </p:par>
                              <p:par>
                                <p:cTn id="933" nodeType="withEffect" fill="hold" presetClass="entr" presetID="10">
                                  <p:stCondLst>
                                    <p:cond delay="1000"/>
                                  </p:stCondLst>
                                  <p:childTnLst>
                                    <p:set>
                                      <p:cBhvr>
                                        <p:cTn id="934" dur="1" fill="hold">
                                          <p:stCondLst>
                                            <p:cond delay="0"/>
                                          </p:stCondLst>
                                        </p:cTn>
                                        <p:tgtEl>
                                          <p:spTgt spid="912"/>
                                        </p:tgtEl>
                                        <p:attrNameLst>
                                          <p:attrName>style.visibility</p:attrName>
                                        </p:attrNameLst>
                                      </p:cBhvr>
                                      <p:to>
                                        <p:strVal val="visible"/>
                                      </p:to>
                                    </p:set>
                                    <p:animEffect filter="fade" transition="in">
                                      <p:cBhvr additive="repl">
                                        <p:cTn id="935" dur="400"/>
                                        <p:tgtEl>
                                          <p:spTgt spid="912"/>
                                        </p:tgtEl>
                                      </p:cBhvr>
                                    </p:animEffect>
                                  </p:childTnLst>
                                </p:cTn>
                              </p:par>
                              <p:par>
                                <p:cTn id="936" nodeType="withEffect" fill="hold" presetClass="entr" presetID="10">
                                  <p:stCondLst>
                                    <p:cond delay="1000"/>
                                  </p:stCondLst>
                                  <p:childTnLst>
                                    <p:set>
                                      <p:cBhvr>
                                        <p:cTn id="937" dur="1" fill="hold">
                                          <p:stCondLst>
                                            <p:cond delay="0"/>
                                          </p:stCondLst>
                                        </p:cTn>
                                        <p:tgtEl>
                                          <p:spTgt spid="913"/>
                                        </p:tgtEl>
                                        <p:attrNameLst>
                                          <p:attrName>style.visibility</p:attrName>
                                        </p:attrNameLst>
                                      </p:cBhvr>
                                      <p:to>
                                        <p:strVal val="visible"/>
                                      </p:to>
                                    </p:set>
                                    <p:animEffect filter="fade" transition="in">
                                      <p:cBhvr additive="repl">
                                        <p:cTn id="938" dur="400"/>
                                        <p:tgtEl>
                                          <p:spTgt spid="913"/>
                                        </p:tgtEl>
                                      </p:cBhvr>
                                    </p:animEffect>
                                  </p:childTnLst>
                                </p:cTn>
                              </p:par>
                              <p:par>
                                <p:cTn id="939" nodeType="withEffect" fill="hold" presetClass="entr" presetID="10">
                                  <p:stCondLst>
                                    <p:cond delay="1000"/>
                                  </p:stCondLst>
                                  <p:childTnLst>
                                    <p:set>
                                      <p:cBhvr>
                                        <p:cTn id="940" dur="1" fill="hold">
                                          <p:stCondLst>
                                            <p:cond delay="0"/>
                                          </p:stCondLst>
                                        </p:cTn>
                                        <p:tgtEl>
                                          <p:spTgt spid="914"/>
                                        </p:tgtEl>
                                        <p:attrNameLst>
                                          <p:attrName>style.visibility</p:attrName>
                                        </p:attrNameLst>
                                      </p:cBhvr>
                                      <p:to>
                                        <p:strVal val="visible"/>
                                      </p:to>
                                    </p:set>
                                    <p:animEffect filter="fade" transition="in">
                                      <p:cBhvr additive="repl">
                                        <p:cTn id="941" dur="400"/>
                                        <p:tgtEl>
                                          <p:spTgt spid="914"/>
                                        </p:tgtEl>
                                      </p:cBhvr>
                                    </p:animEffect>
                                  </p:childTnLst>
                                </p:cTn>
                              </p:par>
                              <p:par>
                                <p:cTn id="942" nodeType="withEffect" fill="hold" presetClass="entr" presetID="10">
                                  <p:stCondLst>
                                    <p:cond delay="1000"/>
                                  </p:stCondLst>
                                  <p:childTnLst>
                                    <p:set>
                                      <p:cBhvr>
                                        <p:cTn id="943" dur="1" fill="hold">
                                          <p:stCondLst>
                                            <p:cond delay="0"/>
                                          </p:stCondLst>
                                        </p:cTn>
                                        <p:tgtEl>
                                          <p:spTgt spid="915"/>
                                        </p:tgtEl>
                                        <p:attrNameLst>
                                          <p:attrName>style.visibility</p:attrName>
                                        </p:attrNameLst>
                                      </p:cBhvr>
                                      <p:to>
                                        <p:strVal val="visible"/>
                                      </p:to>
                                    </p:set>
                                    <p:animEffect filter="fade" transition="in">
                                      <p:cBhvr additive="repl">
                                        <p:cTn id="944" dur="400"/>
                                        <p:tgtEl>
                                          <p:spTgt spid="915"/>
                                        </p:tgtEl>
                                      </p:cBhvr>
                                    </p:animEffect>
                                  </p:childTnLst>
                                </p:cTn>
                              </p:par>
                              <p:par>
                                <p:cTn id="945" nodeType="withEffect" fill="hold" presetClass="entr" presetID="10">
                                  <p:stCondLst>
                                    <p:cond delay="1000"/>
                                  </p:stCondLst>
                                  <p:childTnLst>
                                    <p:set>
                                      <p:cBhvr>
                                        <p:cTn id="946" dur="1" fill="hold">
                                          <p:stCondLst>
                                            <p:cond delay="0"/>
                                          </p:stCondLst>
                                        </p:cTn>
                                        <p:tgtEl>
                                          <p:spTgt spid="916"/>
                                        </p:tgtEl>
                                        <p:attrNameLst>
                                          <p:attrName>style.visibility</p:attrName>
                                        </p:attrNameLst>
                                      </p:cBhvr>
                                      <p:to>
                                        <p:strVal val="visible"/>
                                      </p:to>
                                    </p:set>
                                    <p:animEffect filter="fade" transition="in">
                                      <p:cBhvr additive="repl">
                                        <p:cTn id="947" dur="400"/>
                                        <p:tgtEl>
                                          <p:spTgt spid="9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50" name="o1"/>
          <p:cNvSpPr/>
          <p:nvPr/>
        </p:nvSpPr>
        <p:spPr>
          <a:xfrm>
            <a:off x="274320" y="228600"/>
            <a:ext cx="11642760" cy="5897520"/>
          </a:xfrm>
          <a:prstGeom prst="roundRect">
            <a:avLst>
              <a:gd name="adj" fmla="val 3876"/>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1" name="o2"/>
          <p:cNvSpPr/>
          <p:nvPr/>
        </p:nvSpPr>
        <p:spPr>
          <a:xfrm>
            <a:off x="343080" y="297360"/>
            <a:ext cx="11505600" cy="5760360"/>
          </a:xfrm>
          <a:prstGeom prst="roundRect">
            <a:avLst>
              <a:gd name="adj" fmla="val 2778"/>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2" name="o3"/>
          <p:cNvSpPr/>
          <p:nvPr/>
        </p:nvSpPr>
        <p:spPr>
          <a:xfrm>
            <a:off x="86868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3" name="o4"/>
          <p:cNvSpPr/>
          <p:nvPr/>
        </p:nvSpPr>
        <p:spPr>
          <a:xfrm>
            <a:off x="93744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4" name="o5"/>
          <p:cNvSpPr/>
          <p:nvPr/>
        </p:nvSpPr>
        <p:spPr>
          <a:xfrm>
            <a:off x="9768600" y="82296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5" name="o6"/>
          <p:cNvSpPr/>
          <p:nvPr/>
        </p:nvSpPr>
        <p:spPr>
          <a:xfrm>
            <a:off x="9837000" y="89172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6" name="o7"/>
          <p:cNvSpPr/>
          <p:nvPr/>
        </p:nvSpPr>
        <p:spPr>
          <a:xfrm>
            <a:off x="86868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7" name="o8"/>
          <p:cNvSpPr/>
          <p:nvPr/>
        </p:nvSpPr>
        <p:spPr>
          <a:xfrm>
            <a:off x="93744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8" name="o9"/>
          <p:cNvSpPr/>
          <p:nvPr/>
        </p:nvSpPr>
        <p:spPr>
          <a:xfrm>
            <a:off x="9768600" y="5074920"/>
            <a:ext cx="1554120" cy="456840"/>
          </a:xfrm>
          <a:prstGeom prst="roundRect">
            <a:avLst>
              <a:gd name="adj" fmla="val 24000"/>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59" name="o10"/>
          <p:cNvSpPr/>
          <p:nvPr/>
        </p:nvSpPr>
        <p:spPr>
          <a:xfrm>
            <a:off x="9837000" y="5143680"/>
            <a:ext cx="1416960" cy="319680"/>
          </a:xfrm>
          <a:prstGeom prst="roundRect">
            <a:avLst>
              <a:gd name="adj" fmla="val 12857"/>
            </a:avLst>
          </a:prstGeom>
          <a:noFill/>
          <a:ln w="12700">
            <a:solidFill>
              <a:srgbClr val="2121d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960" name="o11" descr="melon"/>
          <p:cNvPicPr/>
          <p:nvPr/>
        </p:nvPicPr>
        <p:blipFill>
          <a:blip r:embed="rId1"/>
          <a:stretch/>
        </p:blipFill>
        <p:spPr>
          <a:xfrm>
            <a:off x="5684400" y="777240"/>
            <a:ext cx="822600" cy="822600"/>
          </a:xfrm>
          <a:prstGeom prst="rect">
            <a:avLst/>
          </a:prstGeom>
          <a:ln w="0">
            <a:noFill/>
          </a:ln>
        </p:spPr>
      </p:pic>
      <p:pic>
        <p:nvPicPr>
          <p:cNvPr id="961" name="o12" descr="LEVEL 5"/>
          <p:cNvPicPr/>
          <p:nvPr/>
        </p:nvPicPr>
        <p:blipFill>
          <a:blip r:embed="rId2"/>
          <a:stretch/>
        </p:blipFill>
        <p:spPr>
          <a:xfrm>
            <a:off x="5262480" y="1828800"/>
            <a:ext cx="1666080" cy="237240"/>
          </a:xfrm>
          <a:prstGeom prst="rect">
            <a:avLst/>
          </a:prstGeom>
          <a:ln w="0">
            <a:noFill/>
          </a:ln>
        </p:spPr>
      </p:pic>
      <p:pic>
        <p:nvPicPr>
          <p:cNvPr id="962" name="o13" descr="BOSS FINAL"/>
          <p:cNvPicPr/>
          <p:nvPr/>
        </p:nvPicPr>
        <p:blipFill>
          <a:blip r:embed="rId3"/>
          <a:stretch/>
        </p:blipFill>
        <p:spPr>
          <a:xfrm>
            <a:off x="3535560" y="2331720"/>
            <a:ext cx="5120280" cy="511560"/>
          </a:xfrm>
          <a:prstGeom prst="rect">
            <a:avLst/>
          </a:prstGeom>
          <a:ln w="0">
            <a:noFill/>
          </a:ln>
        </p:spPr>
      </p:pic>
      <p:sp>
        <p:nvSpPr>
          <p:cNvPr id="963" name="o14"/>
          <p:cNvSpPr/>
          <p:nvPr/>
        </p:nvSpPr>
        <p:spPr>
          <a:xfrm>
            <a:off x="1371600" y="3108960"/>
            <a:ext cx="9448200" cy="4111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2000" spc="-1" strike="noStrike">
                <a:solidFill>
                  <a:srgbClr val="c4c4e4"/>
                </a:solidFill>
                <a:latin typeface="Arial"/>
                <a:ea typeface="Arial"/>
              </a:rPr>
              <a:t>Le Market Power Index des éditeurs</a:t>
            </a:r>
            <a:endParaRPr b="0" lang="en-US" sz="2000" spc="-1" strike="noStrike">
              <a:solidFill>
                <a:srgbClr val="ffffff"/>
              </a:solidFill>
              <a:latin typeface="Arial"/>
            </a:endParaRPr>
          </a:p>
        </p:txBody>
      </p:sp>
      <p:sp>
        <p:nvSpPr>
          <p:cNvPr id="964" name="o15"/>
          <p:cNvSpPr/>
          <p:nvPr/>
        </p:nvSpPr>
        <p:spPr>
          <a:xfrm>
            <a:off x="37080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65" name="o16"/>
          <p:cNvSpPr/>
          <p:nvPr/>
        </p:nvSpPr>
        <p:spPr>
          <a:xfrm>
            <a:off x="40737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66" name="o17"/>
          <p:cNvSpPr/>
          <p:nvPr/>
        </p:nvSpPr>
        <p:spPr>
          <a:xfrm>
            <a:off x="44395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67" name="o18"/>
          <p:cNvSpPr/>
          <p:nvPr/>
        </p:nvSpPr>
        <p:spPr>
          <a:xfrm>
            <a:off x="48052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68" name="o19"/>
          <p:cNvSpPr/>
          <p:nvPr/>
        </p:nvSpPr>
        <p:spPr>
          <a:xfrm>
            <a:off x="51710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69" name="o20"/>
          <p:cNvSpPr/>
          <p:nvPr/>
        </p:nvSpPr>
        <p:spPr>
          <a:xfrm>
            <a:off x="55368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0" name="o21"/>
          <p:cNvSpPr/>
          <p:nvPr/>
        </p:nvSpPr>
        <p:spPr>
          <a:xfrm>
            <a:off x="59025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1" name="o22"/>
          <p:cNvSpPr/>
          <p:nvPr/>
        </p:nvSpPr>
        <p:spPr>
          <a:xfrm>
            <a:off x="62683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2" name="o23"/>
          <p:cNvSpPr/>
          <p:nvPr/>
        </p:nvSpPr>
        <p:spPr>
          <a:xfrm>
            <a:off x="66340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3" name="o24"/>
          <p:cNvSpPr/>
          <p:nvPr/>
        </p:nvSpPr>
        <p:spPr>
          <a:xfrm>
            <a:off x="69998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4" name="o25"/>
          <p:cNvSpPr/>
          <p:nvPr/>
        </p:nvSpPr>
        <p:spPr>
          <a:xfrm>
            <a:off x="73656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5" name="o26"/>
          <p:cNvSpPr/>
          <p:nvPr/>
        </p:nvSpPr>
        <p:spPr>
          <a:xfrm>
            <a:off x="77313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6" name="o27"/>
          <p:cNvSpPr/>
          <p:nvPr/>
        </p:nvSpPr>
        <p:spPr>
          <a:xfrm>
            <a:off x="80971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7" name="o28"/>
          <p:cNvSpPr/>
          <p:nvPr/>
        </p:nvSpPr>
        <p:spPr>
          <a:xfrm>
            <a:off x="846288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8" name="o29"/>
          <p:cNvSpPr/>
          <p:nvPr/>
        </p:nvSpPr>
        <p:spPr>
          <a:xfrm>
            <a:off x="882864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79" name="o30"/>
          <p:cNvSpPr/>
          <p:nvPr/>
        </p:nvSpPr>
        <p:spPr>
          <a:xfrm>
            <a:off x="919440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80" name="o31"/>
          <p:cNvSpPr/>
          <p:nvPr/>
        </p:nvSpPr>
        <p:spPr>
          <a:xfrm>
            <a:off x="956016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sp>
        <p:nvSpPr>
          <p:cNvPr id="981" name="o32"/>
          <p:cNvSpPr/>
          <p:nvPr/>
        </p:nvSpPr>
        <p:spPr>
          <a:xfrm>
            <a:off x="9925920" y="4119480"/>
            <a:ext cx="82080" cy="82080"/>
          </a:xfrm>
          <a:prstGeom prst="rect">
            <a:avLst/>
          </a:prstGeom>
          <a:solidFill>
            <a:srgbClr val="ffb8ae"/>
          </a:solidFill>
          <a:ln w="0">
            <a:noFill/>
          </a:ln>
        </p:spPr>
        <p:style>
          <a:lnRef idx="0"/>
          <a:fillRef idx="0"/>
          <a:effectRef idx="0"/>
          <a:fontRef idx="minor"/>
        </p:style>
        <p:txBody>
          <a:bodyPr lIns="90000" rIns="90000" tIns="37440" bIns="37440" anchor="t">
            <a:noAutofit/>
          </a:bodyPr>
          <a:p>
            <a:endParaRPr b="0" lang="en-US" sz="1800" spc="-1" strike="noStrike">
              <a:solidFill>
                <a:srgbClr val="000000"/>
              </a:solidFill>
              <a:latin typeface="Arial"/>
            </a:endParaRPr>
          </a:p>
        </p:txBody>
      </p:sp>
      <p:pic>
        <p:nvPicPr>
          <p:cNvPr id="982" name="o33" descr="Pac-Man"/>
          <p:cNvPicPr/>
          <p:nvPr/>
        </p:nvPicPr>
        <p:blipFill>
          <a:blip r:embed="rId4"/>
          <a:stretch/>
        </p:blipFill>
        <p:spPr>
          <a:xfrm>
            <a:off x="2990160" y="3950280"/>
            <a:ext cx="420120" cy="420120"/>
          </a:xfrm>
          <a:prstGeom prst="rect">
            <a:avLst/>
          </a:prstGeom>
          <a:ln w="0">
            <a:noFill/>
          </a:ln>
        </p:spPr>
      </p:pic>
      <p:pic>
        <p:nvPicPr>
          <p:cNvPr id="983" name="o34" descr="fantôme"/>
          <p:cNvPicPr/>
          <p:nvPr/>
        </p:nvPicPr>
        <p:blipFill>
          <a:blip r:embed="rId5"/>
          <a:stretch/>
        </p:blipFill>
        <p:spPr>
          <a:xfrm>
            <a:off x="2350080" y="3950280"/>
            <a:ext cx="420120" cy="420120"/>
          </a:xfrm>
          <a:prstGeom prst="rect">
            <a:avLst/>
          </a:prstGeom>
          <a:ln w="0">
            <a:noFill/>
          </a:ln>
        </p:spPr>
      </p:pic>
      <p:pic>
        <p:nvPicPr>
          <p:cNvPr id="984" name="o35" descr="fantôme"/>
          <p:cNvPicPr/>
          <p:nvPr/>
        </p:nvPicPr>
        <p:blipFill>
          <a:blip r:embed="rId6"/>
          <a:stretch/>
        </p:blipFill>
        <p:spPr>
          <a:xfrm>
            <a:off x="1801440" y="3950280"/>
            <a:ext cx="420120" cy="420120"/>
          </a:xfrm>
          <a:prstGeom prst="rect">
            <a:avLst/>
          </a:prstGeom>
          <a:ln w="0">
            <a:noFill/>
          </a:ln>
        </p:spPr>
      </p:pic>
      <p:pic>
        <p:nvPicPr>
          <p:cNvPr id="985" name="o36" descr="fantôme"/>
          <p:cNvPicPr/>
          <p:nvPr/>
        </p:nvPicPr>
        <p:blipFill>
          <a:blip r:embed="rId7"/>
          <a:stretch/>
        </p:blipFill>
        <p:spPr>
          <a:xfrm>
            <a:off x="1252800" y="3950280"/>
            <a:ext cx="420120" cy="420120"/>
          </a:xfrm>
          <a:prstGeom prst="rect">
            <a:avLst/>
          </a:prstGeom>
          <a:ln w="0">
            <a:noFill/>
          </a:ln>
        </p:spPr>
      </p:pic>
      <p:pic>
        <p:nvPicPr>
          <p:cNvPr id="986" name="o37" descr="fantôme"/>
          <p:cNvPicPr/>
          <p:nvPr/>
        </p:nvPicPr>
        <p:blipFill>
          <a:blip r:embed="rId8"/>
          <a:stretch/>
        </p:blipFill>
        <p:spPr>
          <a:xfrm>
            <a:off x="704160" y="3950280"/>
            <a:ext cx="420120" cy="420120"/>
          </a:xfrm>
          <a:prstGeom prst="rect">
            <a:avLst/>
          </a:prstGeom>
          <a:ln w="0">
            <a:noFill/>
          </a:ln>
        </p:spPr>
      </p:pic>
      <p:pic>
        <p:nvPicPr>
          <p:cNvPr id="987" name="o38" descr="READY!"/>
          <p:cNvPicPr/>
          <p:nvPr/>
        </p:nvPicPr>
        <p:blipFill>
          <a:blip r:embed="rId9"/>
          <a:stretch/>
        </p:blipFill>
        <p:spPr>
          <a:xfrm>
            <a:off x="5492520" y="4617720"/>
            <a:ext cx="1206720" cy="200880"/>
          </a:xfrm>
          <a:prstGeom prst="rect">
            <a:avLst/>
          </a:prstGeom>
          <a:ln w="0">
            <a:noFill/>
          </a:ln>
        </p:spPr>
      </p:pic>
      <p:pic>
        <p:nvPicPr>
          <p:cNvPr id="988" name="o48" descr="super pac-gomme"/>
          <p:cNvPicPr/>
          <p:nvPr/>
        </p:nvPicPr>
        <p:blipFill>
          <a:blip r:embed="rId10"/>
          <a:stretch/>
        </p:blipFill>
        <p:spPr>
          <a:xfrm>
            <a:off x="11448360" y="6355080"/>
            <a:ext cx="182520" cy="182520"/>
          </a:xfrm>
          <a:prstGeom prst="rect">
            <a:avLst/>
          </a:prstGeom>
          <a:ln w="0">
            <a:noFill/>
          </a:ln>
        </p:spPr>
      </p:pic>
      <p:pic>
        <p:nvPicPr>
          <p:cNvPr id="989" name="barre_fantome" descr="image.gif"/>
          <p:cNvPicPr/>
          <p:nvPr/>
        </p:nvPicPr>
        <p:blipFill>
          <a:blip r:embed="rId11"/>
          <a:stretch/>
        </p:blipFill>
        <p:spPr>
          <a:xfrm>
            <a:off x="3687768" y="6291000"/>
            <a:ext cx="310680" cy="310680"/>
          </a:xfrm>
          <a:prstGeom prst="rect">
            <a:avLst/>
          </a:prstGeom>
          <a:ln w="0">
            <a:noFill/>
          </a:ln>
        </p:spPr>
      </p:pic>
      <p:sp>
        <p:nvSpPr>
          <p:cNvPr id="991" name="barre_pastille"/>
          <p:cNvSpPr/>
          <p:nvPr/>
        </p:nvSpPr>
        <p:spPr>
          <a:xfrm>
            <a:off x="4572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1" name="barre_pastille"/>
          <p:cNvSpPr/>
          <p:nvPr/>
        </p:nvSpPr>
        <p:spPr>
          <a:xfrm>
            <a:off x="4800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2"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3"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4"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5"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6"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7"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8"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999"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0"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1"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2"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3"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4"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5"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6"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7"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8"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09"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0"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1"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2"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3"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4"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5"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6"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7"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8"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019"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990" name="barre_pacman" descr="image.gif"/>
          <p:cNvPicPr/>
          <p:nvPr/>
        </p:nvPicPr>
        <p:blipFill>
          <a:blip r:embed="rId12"/>
          <a:stretch/>
        </p:blipFill>
        <p:spPr>
          <a:xfrm>
            <a:off x="4254768" y="6291000"/>
            <a:ext cx="310680" cy="310680"/>
          </a:xfrm>
          <a:prstGeom prst="rect">
            <a:avLst/>
          </a:prstGeom>
          <a:ln w="0">
            <a:noFill/>
          </a:ln>
        </p:spPr>
      </p:pic>
      <p:sp>
        <p:nvSpPr>
          <p:cNvPr id="1020"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948" dur="indefinite" restart="never" nodeType="tmRoot">
          <p:childTnLst>
            <p:seq>
              <p:cTn id="949" dur="indefinite" nodeType="mainSeq">
                <p:childTnLst>
                  <p:par>
                    <p:cTn id="950" fill="hold">
                      <p:stCondLst>
                        <p:cond delay="0"/>
                      </p:stCondLst>
                      <p:childTnLst>
                        <p:par>
                          <p:cTn id="951" fill="hold">
                            <p:stCondLst>
                              <p:cond delay="0"/>
                            </p:stCondLst>
                            <p:childTnLst>
                              <p:par>
                                <p:cTn id="952" nodeType="withEffect" fill="hold" presetClass="path">
                                  <p:stCondLst>
                                    <p:cond delay="0"/>
                                  </p:stCondLst>
                                  <p:childTnLst>
                                    <p:animMotion origin="layout" path="M 0 0 L 0.02252 0 E">
                                      <p:cBhvr>
                                        <p:cTn id="953" dur="900" fill="hold"/>
                                        <p:tgtEl>
                                          <p:spTgt spid="989"/>
                                        </p:tgtEl>
                                        <p:attrNameLst>
                                          <p:attrName>ppt_x</p:attrName>
                                          <p:attrName>ppt_y</p:attrName>
                                        </p:attrNameLst>
                                      </p:cBhvr>
                                    </p:animMotion>
                                  </p:childTnLst>
                                </p:cTn>
                              </p:par>
                              <p:par>
                                <p:cTn id="954" nodeType="withEffect" fill="hold" presetClass="path">
                                  <p:stCondLst>
                                    <p:cond delay="0"/>
                                  </p:stCondLst>
                                  <p:childTnLst>
                                    <p:animMotion origin="layout" path="M 0 0 L 0.02252 0 E">
                                      <p:cBhvr>
                                        <p:cTn id="955" dur="900" fill="hold"/>
                                        <p:tgtEl>
                                          <p:spTgt spid="990"/>
                                        </p:tgtEl>
                                        <p:attrNameLst>
                                          <p:attrName>ppt_x</p:attrName>
                                          <p:attrName>ppt_y</p:attrName>
                                        </p:attrNameLst>
                                      </p:cBhvr>
                                    </p:animMotion>
                                  </p:childTnLst>
                                </p:cTn>
                              </p:par>
                              <p:par>
                                <p:cTn id="956" nodeType="withEffect" fill="hold" presetClass="exit" presetID="1">
                                  <p:stCondLst>
                                    <p:cond delay="479"/>
                                  </p:stCondLst>
                                  <p:childTnLst>
                                    <p:set>
                                      <p:cBhvr>
                                        <p:cTn id="957" dur="1" fill="hold">
                                          <p:stCondLst>
                                            <p:cond delay="0"/>
                                          </p:stCondLst>
                                        </p:cTn>
                                        <p:tgtEl>
                                          <p:spTgt spid="991"/>
                                        </p:tgtEl>
                                        <p:attrNameLst>
                                          <p:attrName>style.visibility</p:attrName>
                                        </p:attrNameLst>
                                      </p:cBhvr>
                                      <p:to>
                                        <p:strVal val="hidden"/>
                                      </p:to>
                                    </p:set>
                                  </p:childTnLst>
                                </p:cTn>
                              </p:par>
                              <p:par>
                                <p:cTn id="958" nodeType="withEffect" fill="hold" presetClass="exit" presetID="1">
                                  <p:stCondLst>
                                    <p:cond delay="1054"/>
                                  </p:stCondLst>
                                  <p:childTnLst>
                                    <p:set>
                                      <p:cBhvr>
                                        <p:cTn id="959" dur="1" fill="hold">
                                          <p:stCondLst>
                                            <p:cond delay="0"/>
                                          </p:stCondLst>
                                        </p:cTn>
                                        <p:tgtEl>
                                          <p:spTgt spid="964"/>
                                        </p:tgtEl>
                                        <p:attrNameLst>
                                          <p:attrName>style.visibility</p:attrName>
                                        </p:attrNameLst>
                                      </p:cBhvr>
                                      <p:to>
                                        <p:strVal val="hidden"/>
                                      </p:to>
                                    </p:set>
                                  </p:childTnLst>
                                </p:cTn>
                              </p:par>
                              <p:par>
                                <p:cTn id="960" nodeType="withEffect" fill="hold" presetClass="exit" presetID="1">
                                  <p:stCondLst>
                                    <p:cond delay="1191"/>
                                  </p:stCondLst>
                                  <p:childTnLst>
                                    <p:set>
                                      <p:cBhvr>
                                        <p:cTn id="961" dur="1" fill="hold">
                                          <p:stCondLst>
                                            <p:cond delay="0"/>
                                          </p:stCondLst>
                                        </p:cTn>
                                        <p:tgtEl>
                                          <p:spTgt spid="965"/>
                                        </p:tgtEl>
                                        <p:attrNameLst>
                                          <p:attrName>style.visibility</p:attrName>
                                        </p:attrNameLst>
                                      </p:cBhvr>
                                      <p:to>
                                        <p:strVal val="hidden"/>
                                      </p:to>
                                    </p:set>
                                  </p:childTnLst>
                                </p:cTn>
                              </p:par>
                              <p:par>
                                <p:cTn id="962" nodeType="withEffect" fill="hold" presetClass="exit" presetID="1">
                                  <p:stCondLst>
                                    <p:cond delay="1328"/>
                                  </p:stCondLst>
                                  <p:childTnLst>
                                    <p:set>
                                      <p:cBhvr>
                                        <p:cTn id="963" dur="1" fill="hold">
                                          <p:stCondLst>
                                            <p:cond delay="0"/>
                                          </p:stCondLst>
                                        </p:cTn>
                                        <p:tgtEl>
                                          <p:spTgt spid="966"/>
                                        </p:tgtEl>
                                        <p:attrNameLst>
                                          <p:attrName>style.visibility</p:attrName>
                                        </p:attrNameLst>
                                      </p:cBhvr>
                                      <p:to>
                                        <p:strVal val="hidden"/>
                                      </p:to>
                                    </p:set>
                                  </p:childTnLst>
                                </p:cTn>
                              </p:par>
                              <p:par>
                                <p:cTn id="964" nodeType="withEffect" fill="hold" presetClass="exit" presetID="1">
                                  <p:stCondLst>
                                    <p:cond delay="1464"/>
                                  </p:stCondLst>
                                  <p:childTnLst>
                                    <p:set>
                                      <p:cBhvr>
                                        <p:cTn id="965" dur="1" fill="hold">
                                          <p:stCondLst>
                                            <p:cond delay="0"/>
                                          </p:stCondLst>
                                        </p:cTn>
                                        <p:tgtEl>
                                          <p:spTgt spid="967"/>
                                        </p:tgtEl>
                                        <p:attrNameLst>
                                          <p:attrName>style.visibility</p:attrName>
                                        </p:attrNameLst>
                                      </p:cBhvr>
                                      <p:to>
                                        <p:strVal val="hidden"/>
                                      </p:to>
                                    </p:set>
                                  </p:childTnLst>
                                </p:cTn>
                              </p:par>
                              <p:par>
                                <p:cTn id="966" nodeType="withEffect" fill="hold" presetClass="exit" presetID="1">
                                  <p:stCondLst>
                                    <p:cond delay="1601"/>
                                  </p:stCondLst>
                                  <p:childTnLst>
                                    <p:set>
                                      <p:cBhvr>
                                        <p:cTn id="967" dur="1" fill="hold">
                                          <p:stCondLst>
                                            <p:cond delay="0"/>
                                          </p:stCondLst>
                                        </p:cTn>
                                        <p:tgtEl>
                                          <p:spTgt spid="968"/>
                                        </p:tgtEl>
                                        <p:attrNameLst>
                                          <p:attrName>style.visibility</p:attrName>
                                        </p:attrNameLst>
                                      </p:cBhvr>
                                      <p:to>
                                        <p:strVal val="hidden"/>
                                      </p:to>
                                    </p:set>
                                  </p:childTnLst>
                                </p:cTn>
                              </p:par>
                              <p:par>
                                <p:cTn id="968" nodeType="withEffect" fill="hold" presetClass="exit" presetID="1">
                                  <p:stCondLst>
                                    <p:cond delay="1738"/>
                                  </p:stCondLst>
                                  <p:childTnLst>
                                    <p:set>
                                      <p:cBhvr>
                                        <p:cTn id="969" dur="1" fill="hold">
                                          <p:stCondLst>
                                            <p:cond delay="0"/>
                                          </p:stCondLst>
                                        </p:cTn>
                                        <p:tgtEl>
                                          <p:spTgt spid="969"/>
                                        </p:tgtEl>
                                        <p:attrNameLst>
                                          <p:attrName>style.visibility</p:attrName>
                                        </p:attrNameLst>
                                      </p:cBhvr>
                                      <p:to>
                                        <p:strVal val="hidden"/>
                                      </p:to>
                                    </p:set>
                                  </p:childTnLst>
                                </p:cTn>
                              </p:par>
                              <p:par>
                                <p:cTn id="970" nodeType="withEffect" fill="hold" presetClass="exit" presetID="1">
                                  <p:stCondLst>
                                    <p:cond delay="1875"/>
                                  </p:stCondLst>
                                  <p:childTnLst>
                                    <p:set>
                                      <p:cBhvr>
                                        <p:cTn id="971" dur="1" fill="hold">
                                          <p:stCondLst>
                                            <p:cond delay="0"/>
                                          </p:stCondLst>
                                        </p:cTn>
                                        <p:tgtEl>
                                          <p:spTgt spid="970"/>
                                        </p:tgtEl>
                                        <p:attrNameLst>
                                          <p:attrName>style.visibility</p:attrName>
                                        </p:attrNameLst>
                                      </p:cBhvr>
                                      <p:to>
                                        <p:strVal val="hidden"/>
                                      </p:to>
                                    </p:set>
                                  </p:childTnLst>
                                </p:cTn>
                              </p:par>
                              <p:par>
                                <p:cTn id="972" nodeType="withEffect" fill="hold" presetClass="exit" presetID="1">
                                  <p:stCondLst>
                                    <p:cond delay="2012"/>
                                  </p:stCondLst>
                                  <p:childTnLst>
                                    <p:set>
                                      <p:cBhvr>
                                        <p:cTn id="973" dur="1" fill="hold">
                                          <p:stCondLst>
                                            <p:cond delay="0"/>
                                          </p:stCondLst>
                                        </p:cTn>
                                        <p:tgtEl>
                                          <p:spTgt spid="971"/>
                                        </p:tgtEl>
                                        <p:attrNameLst>
                                          <p:attrName>style.visibility</p:attrName>
                                        </p:attrNameLst>
                                      </p:cBhvr>
                                      <p:to>
                                        <p:strVal val="hidden"/>
                                      </p:to>
                                    </p:set>
                                  </p:childTnLst>
                                </p:cTn>
                              </p:par>
                              <p:par>
                                <p:cTn id="974" nodeType="withEffect" fill="hold" presetClass="exit" presetID="1">
                                  <p:stCondLst>
                                    <p:cond delay="2149"/>
                                  </p:stCondLst>
                                  <p:childTnLst>
                                    <p:set>
                                      <p:cBhvr>
                                        <p:cTn id="975" dur="1" fill="hold">
                                          <p:stCondLst>
                                            <p:cond delay="0"/>
                                          </p:stCondLst>
                                        </p:cTn>
                                        <p:tgtEl>
                                          <p:spTgt spid="972"/>
                                        </p:tgtEl>
                                        <p:attrNameLst>
                                          <p:attrName>style.visibility</p:attrName>
                                        </p:attrNameLst>
                                      </p:cBhvr>
                                      <p:to>
                                        <p:strVal val="hidden"/>
                                      </p:to>
                                    </p:set>
                                  </p:childTnLst>
                                </p:cTn>
                              </p:par>
                              <p:par>
                                <p:cTn id="976" nodeType="withEffect" fill="hold" presetClass="exit" presetID="1">
                                  <p:stCondLst>
                                    <p:cond delay="2286"/>
                                  </p:stCondLst>
                                  <p:childTnLst>
                                    <p:set>
                                      <p:cBhvr>
                                        <p:cTn id="977" dur="1" fill="hold">
                                          <p:stCondLst>
                                            <p:cond delay="0"/>
                                          </p:stCondLst>
                                        </p:cTn>
                                        <p:tgtEl>
                                          <p:spTgt spid="973"/>
                                        </p:tgtEl>
                                        <p:attrNameLst>
                                          <p:attrName>style.visibility</p:attrName>
                                        </p:attrNameLst>
                                      </p:cBhvr>
                                      <p:to>
                                        <p:strVal val="hidden"/>
                                      </p:to>
                                    </p:set>
                                  </p:childTnLst>
                                </p:cTn>
                              </p:par>
                              <p:par>
                                <p:cTn id="978" nodeType="withEffect" fill="hold" presetClass="exit" presetID="1">
                                  <p:stCondLst>
                                    <p:cond delay="2422"/>
                                  </p:stCondLst>
                                  <p:childTnLst>
                                    <p:set>
                                      <p:cBhvr>
                                        <p:cTn id="979" dur="1" fill="hold">
                                          <p:stCondLst>
                                            <p:cond delay="0"/>
                                          </p:stCondLst>
                                        </p:cTn>
                                        <p:tgtEl>
                                          <p:spTgt spid="974"/>
                                        </p:tgtEl>
                                        <p:attrNameLst>
                                          <p:attrName>style.visibility</p:attrName>
                                        </p:attrNameLst>
                                      </p:cBhvr>
                                      <p:to>
                                        <p:strVal val="hidden"/>
                                      </p:to>
                                    </p:set>
                                  </p:childTnLst>
                                </p:cTn>
                              </p:par>
                              <p:par>
                                <p:cTn id="980" nodeType="withEffect" fill="hold" presetClass="exit" presetID="1">
                                  <p:stCondLst>
                                    <p:cond delay="2559"/>
                                  </p:stCondLst>
                                  <p:childTnLst>
                                    <p:set>
                                      <p:cBhvr>
                                        <p:cTn id="981" dur="1" fill="hold">
                                          <p:stCondLst>
                                            <p:cond delay="0"/>
                                          </p:stCondLst>
                                        </p:cTn>
                                        <p:tgtEl>
                                          <p:spTgt spid="975"/>
                                        </p:tgtEl>
                                        <p:attrNameLst>
                                          <p:attrName>style.visibility</p:attrName>
                                        </p:attrNameLst>
                                      </p:cBhvr>
                                      <p:to>
                                        <p:strVal val="hidden"/>
                                      </p:to>
                                    </p:set>
                                  </p:childTnLst>
                                </p:cTn>
                              </p:par>
                              <p:par>
                                <p:cTn id="982" nodeType="withEffect" fill="hold" presetClass="exit" presetID="1">
                                  <p:stCondLst>
                                    <p:cond delay="2696"/>
                                  </p:stCondLst>
                                  <p:childTnLst>
                                    <p:set>
                                      <p:cBhvr>
                                        <p:cTn id="983" dur="1" fill="hold">
                                          <p:stCondLst>
                                            <p:cond delay="0"/>
                                          </p:stCondLst>
                                        </p:cTn>
                                        <p:tgtEl>
                                          <p:spTgt spid="976"/>
                                        </p:tgtEl>
                                        <p:attrNameLst>
                                          <p:attrName>style.visibility</p:attrName>
                                        </p:attrNameLst>
                                      </p:cBhvr>
                                      <p:to>
                                        <p:strVal val="hidden"/>
                                      </p:to>
                                    </p:set>
                                  </p:childTnLst>
                                </p:cTn>
                              </p:par>
                              <p:par>
                                <p:cTn id="984" nodeType="withEffect" fill="hold" presetClass="exit" presetID="1">
                                  <p:stCondLst>
                                    <p:cond delay="2833"/>
                                  </p:stCondLst>
                                  <p:childTnLst>
                                    <p:set>
                                      <p:cBhvr>
                                        <p:cTn id="985" dur="1" fill="hold">
                                          <p:stCondLst>
                                            <p:cond delay="0"/>
                                          </p:stCondLst>
                                        </p:cTn>
                                        <p:tgtEl>
                                          <p:spTgt spid="977"/>
                                        </p:tgtEl>
                                        <p:attrNameLst>
                                          <p:attrName>style.visibility</p:attrName>
                                        </p:attrNameLst>
                                      </p:cBhvr>
                                      <p:to>
                                        <p:strVal val="hidden"/>
                                      </p:to>
                                    </p:set>
                                  </p:childTnLst>
                                </p:cTn>
                              </p:par>
                              <p:par>
                                <p:cTn id="986" nodeType="withEffect" fill="hold" presetClass="exit" presetID="1">
                                  <p:stCondLst>
                                    <p:cond delay="2970"/>
                                  </p:stCondLst>
                                  <p:childTnLst>
                                    <p:set>
                                      <p:cBhvr>
                                        <p:cTn id="987" dur="1" fill="hold">
                                          <p:stCondLst>
                                            <p:cond delay="0"/>
                                          </p:stCondLst>
                                        </p:cTn>
                                        <p:tgtEl>
                                          <p:spTgt spid="978"/>
                                        </p:tgtEl>
                                        <p:attrNameLst>
                                          <p:attrName>style.visibility</p:attrName>
                                        </p:attrNameLst>
                                      </p:cBhvr>
                                      <p:to>
                                        <p:strVal val="hidden"/>
                                      </p:to>
                                    </p:set>
                                  </p:childTnLst>
                                </p:cTn>
                              </p:par>
                              <p:par>
                                <p:cTn id="988" nodeType="withEffect" fill="hold" presetClass="exit" presetID="1">
                                  <p:stCondLst>
                                    <p:cond delay="3107"/>
                                  </p:stCondLst>
                                  <p:childTnLst>
                                    <p:set>
                                      <p:cBhvr>
                                        <p:cTn id="989" dur="1" fill="hold">
                                          <p:stCondLst>
                                            <p:cond delay="0"/>
                                          </p:stCondLst>
                                        </p:cTn>
                                        <p:tgtEl>
                                          <p:spTgt spid="979"/>
                                        </p:tgtEl>
                                        <p:attrNameLst>
                                          <p:attrName>style.visibility</p:attrName>
                                        </p:attrNameLst>
                                      </p:cBhvr>
                                      <p:to>
                                        <p:strVal val="hidden"/>
                                      </p:to>
                                    </p:set>
                                  </p:childTnLst>
                                </p:cTn>
                              </p:par>
                              <p:par>
                                <p:cTn id="990" nodeType="withEffect" fill="hold" presetClass="exit" presetID="1">
                                  <p:stCondLst>
                                    <p:cond delay="3243"/>
                                  </p:stCondLst>
                                  <p:childTnLst>
                                    <p:set>
                                      <p:cBhvr>
                                        <p:cTn id="991" dur="1" fill="hold">
                                          <p:stCondLst>
                                            <p:cond delay="0"/>
                                          </p:stCondLst>
                                        </p:cTn>
                                        <p:tgtEl>
                                          <p:spTgt spid="980"/>
                                        </p:tgtEl>
                                        <p:attrNameLst>
                                          <p:attrName>style.visibility</p:attrName>
                                        </p:attrNameLst>
                                      </p:cBhvr>
                                      <p:to>
                                        <p:strVal val="hidden"/>
                                      </p:to>
                                    </p:set>
                                  </p:childTnLst>
                                </p:cTn>
                              </p:par>
                              <p:par>
                                <p:cTn id="992" nodeType="withEffect" fill="hold" presetClass="exit" presetID="1">
                                  <p:stCondLst>
                                    <p:cond delay="3380"/>
                                  </p:stCondLst>
                                  <p:childTnLst>
                                    <p:set>
                                      <p:cBhvr>
                                        <p:cTn id="993" dur="1" fill="hold">
                                          <p:stCondLst>
                                            <p:cond delay="0"/>
                                          </p:stCondLst>
                                        </p:cTn>
                                        <p:tgtEl>
                                          <p:spTgt spid="981"/>
                                        </p:tgtEl>
                                        <p:attrNameLst>
                                          <p:attrName>style.visibility</p:attrName>
                                        </p:attrNameLst>
                                      </p:cBhvr>
                                      <p:to>
                                        <p:strVal val="hidden"/>
                                      </p:to>
                                    </p:set>
                                  </p:childTnLst>
                                </p:cTn>
                              </p:par>
                              <p:par>
                                <p:cTn id="994" nodeType="withEffect" fill="hold" presetClass="path">
                                  <p:stCondLst>
                                    <p:cond delay="900"/>
                                  </p:stCondLst>
                                  <p:childTnLst>
                                    <p:animMotion origin="layout" path="M 0 0 L 0.57001 0 E">
                                      <p:cBhvr>
                                        <p:cTn id="995" dur="2600" fill="hold"/>
                                        <p:tgtEl>
                                          <p:spTgt spid="982"/>
                                        </p:tgtEl>
                                        <p:attrNameLst>
                                          <p:attrName>ppt_x</p:attrName>
                                          <p:attrName>ppt_y</p:attrName>
                                        </p:attrNameLst>
                                      </p:cBhvr>
                                    </p:animMotion>
                                  </p:childTnLst>
                                </p:cTn>
                              </p:par>
                              <p:par>
                                <p:cTn id="996" nodeType="withEffect" fill="hold" presetClass="path">
                                  <p:stCondLst>
                                    <p:cond delay="900"/>
                                  </p:stCondLst>
                                  <p:childTnLst>
                                    <p:animMotion origin="layout" path="M 0 0 L 0.57001 0 E">
                                      <p:cBhvr>
                                        <p:cTn id="997" dur="2600" fill="hold"/>
                                        <p:tgtEl>
                                          <p:spTgt spid="983"/>
                                        </p:tgtEl>
                                        <p:attrNameLst>
                                          <p:attrName>ppt_x</p:attrName>
                                          <p:attrName>ppt_y</p:attrName>
                                        </p:attrNameLst>
                                      </p:cBhvr>
                                    </p:animMotion>
                                  </p:childTnLst>
                                </p:cTn>
                              </p:par>
                              <p:par>
                                <p:cTn id="998" nodeType="withEffect" fill="hold" presetClass="path">
                                  <p:stCondLst>
                                    <p:cond delay="900"/>
                                  </p:stCondLst>
                                  <p:childTnLst>
                                    <p:animMotion origin="layout" path="M 0 0 L 0.57001 0 E">
                                      <p:cBhvr>
                                        <p:cTn id="999" dur="2600" fill="hold"/>
                                        <p:tgtEl>
                                          <p:spTgt spid="984"/>
                                        </p:tgtEl>
                                        <p:attrNameLst>
                                          <p:attrName>ppt_x</p:attrName>
                                          <p:attrName>ppt_y</p:attrName>
                                        </p:attrNameLst>
                                      </p:cBhvr>
                                    </p:animMotion>
                                  </p:childTnLst>
                                </p:cTn>
                              </p:par>
                              <p:par>
                                <p:cTn id="1000" nodeType="withEffect" fill="hold" presetClass="path">
                                  <p:stCondLst>
                                    <p:cond delay="900"/>
                                  </p:stCondLst>
                                  <p:childTnLst>
                                    <p:animMotion origin="layout" path="M 0 0 L 0.57001 0 E">
                                      <p:cBhvr>
                                        <p:cTn id="1001" dur="2600" fill="hold"/>
                                        <p:tgtEl>
                                          <p:spTgt spid="985"/>
                                        </p:tgtEl>
                                        <p:attrNameLst>
                                          <p:attrName>ppt_x</p:attrName>
                                          <p:attrName>ppt_y</p:attrName>
                                        </p:attrNameLst>
                                      </p:cBhvr>
                                    </p:animMotion>
                                  </p:childTnLst>
                                </p:cTn>
                              </p:par>
                              <p:par>
                                <p:cTn id="1002" nodeType="withEffect" fill="hold" presetClass="path">
                                  <p:stCondLst>
                                    <p:cond delay="900"/>
                                  </p:stCondLst>
                                  <p:childTnLst>
                                    <p:animMotion origin="layout" path="M 0 0 L 0.57001 0 E">
                                      <p:cBhvr>
                                        <p:cTn id="1003" dur="2600" fill="hold"/>
                                        <p:tgtEl>
                                          <p:spTgt spid="986"/>
                                        </p:tgtEl>
                                        <p:attrNameLst>
                                          <p:attrName>ppt_x</p:attrName>
                                          <p:attrName>ppt_y</p:attrName>
                                        </p:attrNameLst>
                                      </p:cBhvr>
                                    </p:animMotion>
                                  </p:childTnLst>
                                </p:cTn>
                              </p:par>
                              <p:par>
                                <p:cTn id="1004" nodeType="withEffect" fill="hold" presetClass="exit" presetID="1">
                                  <p:stCondLst>
                                    <p:cond delay="900"/>
                                  </p:stCondLst>
                                  <p:childTnLst>
                                    <p:set>
                                      <p:cBhvr>
                                        <p:cTn id="1005" dur="1" fill="hold">
                                          <p:stCondLst>
                                            <p:cond delay="0"/>
                                          </p:stCondLst>
                                        </p:cTn>
                                        <p:tgtEl>
                                          <p:spTgt spid="98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021" name="o1" descr="LEVEL 5 → MARKET POWER INDEX"/>
          <p:cNvPicPr/>
          <p:nvPr/>
        </p:nvPicPr>
        <p:blipFill>
          <a:blip r:embed="rId1"/>
          <a:stretch/>
        </p:blipFill>
        <p:spPr>
          <a:xfrm>
            <a:off x="548640" y="411480"/>
            <a:ext cx="4096080" cy="145800"/>
          </a:xfrm>
          <a:prstGeom prst="rect">
            <a:avLst/>
          </a:prstGeom>
          <a:ln w="0">
            <a:noFill/>
          </a:ln>
        </p:spPr>
      </p:pic>
      <p:pic>
        <p:nvPicPr>
          <p:cNvPr id="1022" name="o2" descr="Nintendo, boss hors catégorie"/>
          <p:cNvPicPr/>
          <p:nvPr/>
        </p:nvPicPr>
        <p:blipFill>
          <a:blip r:embed="rId2"/>
          <a:stretch/>
        </p:blipFill>
        <p:spPr>
          <a:xfrm>
            <a:off x="548640" y="777240"/>
            <a:ext cx="7954920" cy="273960"/>
          </a:xfrm>
          <a:prstGeom prst="rect">
            <a:avLst/>
          </a:prstGeom>
          <a:ln w="0">
            <a:noFill/>
          </a:ln>
        </p:spPr>
      </p:pic>
      <p:pic>
        <p:nvPicPr>
          <p:cNvPr id="1023" name="o3" descr="melon"/>
          <p:cNvPicPr/>
          <p:nvPr/>
        </p:nvPicPr>
        <p:blipFill>
          <a:blip r:embed="rId3"/>
          <a:stretch/>
        </p:blipFill>
        <p:spPr>
          <a:xfrm>
            <a:off x="11073240" y="365760"/>
            <a:ext cx="566640" cy="566640"/>
          </a:xfrm>
          <a:prstGeom prst="rect">
            <a:avLst/>
          </a:prstGeom>
          <a:ln w="0">
            <a:noFill/>
          </a:ln>
        </p:spPr>
      </p:pic>
      <p:pic>
        <p:nvPicPr>
          <p:cNvPr id="1024" name="o10" descr="super pac-gomme"/>
          <p:cNvPicPr/>
          <p:nvPr/>
        </p:nvPicPr>
        <p:blipFill>
          <a:blip r:embed="rId4"/>
          <a:stretch/>
        </p:blipFill>
        <p:spPr>
          <a:xfrm>
            <a:off x="11448360" y="6355080"/>
            <a:ext cx="182520" cy="182520"/>
          </a:xfrm>
          <a:prstGeom prst="rect">
            <a:avLst/>
          </a:prstGeom>
          <a:ln w="0">
            <a:noFill/>
          </a:ln>
        </p:spPr>
      </p:pic>
      <p:graphicFrame>
        <p:nvGraphicFramePr>
          <p:cNvPr id="1025" name="o13"/>
          <p:cNvGraphicFramePr/>
          <p:nvPr/>
        </p:nvGraphicFramePr>
        <p:xfrm>
          <a:off x="457200" y="1600200"/>
          <a:ext cx="6309000" cy="3840120"/>
        </p:xfrm>
        <a:graphic>
          <a:graphicData uri="http://schemas.openxmlformats.org/drawingml/2006/chart">
            <c:chart xmlns:c="http://schemas.openxmlformats.org/drawingml/2006/chart" xmlns:r="http://schemas.openxmlformats.org/officeDocument/2006/relationships" r:id="rId5"/>
          </a:graphicData>
        </a:graphic>
      </p:graphicFrame>
      <p:pic>
        <p:nvPicPr>
          <p:cNvPr id="1026" name="o14" descr="trophée"/>
          <p:cNvPicPr/>
          <p:nvPr/>
        </p:nvPicPr>
        <p:blipFill>
          <a:blip r:embed="rId6"/>
          <a:stretch/>
        </p:blipFill>
        <p:spPr>
          <a:xfrm>
            <a:off x="548640" y="5559480"/>
            <a:ext cx="347040" cy="347040"/>
          </a:xfrm>
          <a:prstGeom prst="rect">
            <a:avLst/>
          </a:prstGeom>
          <a:ln w="0">
            <a:noFill/>
          </a:ln>
        </p:spPr>
      </p:pic>
      <p:sp>
        <p:nvSpPr>
          <p:cNvPr id="1027" name="o15"/>
          <p:cNvSpPr/>
          <p:nvPr/>
        </p:nvSpPr>
        <p:spPr>
          <a:xfrm>
            <a:off x="1051560" y="5486400"/>
            <a:ext cx="57603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ffffff"/>
                </a:solidFill>
                <a:latin typeface="Arial"/>
                <a:ea typeface="Arial"/>
              </a:rPr>
              <a:t>Le pouvoir de marché récompense le taux de succès, pas la taille du catalogue.</a:t>
            </a:r>
            <a:endParaRPr b="0" lang="en-US" sz="1400" spc="-1" strike="noStrike">
              <a:solidFill>
                <a:srgbClr val="ffffff"/>
              </a:solidFill>
              <a:latin typeface="Arial"/>
            </a:endParaRPr>
          </a:p>
        </p:txBody>
      </p:sp>
      <p:sp>
        <p:nvSpPr>
          <p:cNvPr id="1028" name="o16"/>
          <p:cNvSpPr/>
          <p:nvPr/>
        </p:nvSpPr>
        <p:spPr>
          <a:xfrm>
            <a:off x="7086600" y="1645920"/>
            <a:ext cx="4553280" cy="4388760"/>
          </a:xfrm>
          <a:prstGeom prst="roundRect">
            <a:avLst>
              <a:gd name="adj" fmla="val 2917"/>
            </a:avLst>
          </a:prstGeom>
          <a:solidFill>
            <a:srgbClr val="000000"/>
          </a:solidFill>
          <a:ln w="28575">
            <a:solidFill>
              <a:srgbClr val="ffe6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29" name="o17"/>
          <p:cNvSpPr/>
          <p:nvPr/>
        </p:nvSpPr>
        <p:spPr>
          <a:xfrm>
            <a:off x="7155360" y="1714680"/>
            <a:ext cx="4416120" cy="4251600"/>
          </a:xfrm>
          <a:prstGeom prst="roundRect">
            <a:avLst>
              <a:gd name="adj" fmla="val 1398"/>
            </a:avLst>
          </a:prstGeom>
          <a:noFill/>
          <a:ln w="12700">
            <a:solidFill>
              <a:srgbClr val="ffe60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030" name="o18" descr="boss"/>
          <p:cNvPicPr/>
          <p:nvPr/>
        </p:nvPicPr>
        <p:blipFill>
          <a:blip r:embed="rId7"/>
          <a:stretch/>
        </p:blipFill>
        <p:spPr>
          <a:xfrm>
            <a:off x="7406640" y="1920240"/>
            <a:ext cx="502560" cy="502560"/>
          </a:xfrm>
          <a:prstGeom prst="rect">
            <a:avLst/>
          </a:prstGeom>
          <a:ln w="0">
            <a:noFill/>
          </a:ln>
        </p:spPr>
      </p:pic>
      <p:pic>
        <p:nvPicPr>
          <p:cNvPr id="1031" name="o19" descr="BOSS : NINTENDO"/>
          <p:cNvPicPr/>
          <p:nvPr/>
        </p:nvPicPr>
        <p:blipFill>
          <a:blip r:embed="rId8"/>
          <a:stretch/>
        </p:blipFill>
        <p:spPr>
          <a:xfrm>
            <a:off x="8092440" y="2057400"/>
            <a:ext cx="2470680" cy="164160"/>
          </a:xfrm>
          <a:prstGeom prst="rect">
            <a:avLst/>
          </a:prstGeom>
          <a:ln w="0">
            <a:noFill/>
          </a:ln>
        </p:spPr>
      </p:pic>
      <p:pic>
        <p:nvPicPr>
          <p:cNvPr id="1032" name="o20" descr="95,5"/>
          <p:cNvPicPr/>
          <p:nvPr/>
        </p:nvPicPr>
        <p:blipFill>
          <a:blip r:embed="rId9"/>
          <a:stretch/>
        </p:blipFill>
        <p:spPr>
          <a:xfrm>
            <a:off x="7406640" y="2651760"/>
            <a:ext cx="1828440" cy="456840"/>
          </a:xfrm>
          <a:prstGeom prst="rect">
            <a:avLst/>
          </a:prstGeom>
          <a:ln w="0">
            <a:noFill/>
          </a:ln>
        </p:spPr>
      </p:pic>
      <p:sp>
        <p:nvSpPr>
          <p:cNvPr id="1033" name="o21"/>
          <p:cNvSpPr/>
          <p:nvPr/>
        </p:nvSpPr>
        <p:spPr>
          <a:xfrm>
            <a:off x="9372600" y="2651760"/>
            <a:ext cx="1096920" cy="456840"/>
          </a:xfrm>
          <a:prstGeom prst="rect">
            <a:avLst/>
          </a:prstGeom>
          <a:noFill/>
          <a:ln w="0">
            <a:noFill/>
          </a:ln>
        </p:spPr>
        <p:style>
          <a:lnRef idx="0"/>
          <a:fillRef idx="0"/>
          <a:effectRef idx="0"/>
          <a:fontRef idx="minor"/>
        </p:style>
        <p:txBody>
          <a:bodyPr lIns="0" rIns="0" tIns="0" bIns="0" anchor="b">
            <a:noAutofit/>
          </a:bodyPr>
          <a:p>
            <a:pPr defTabSz="914400">
              <a:lnSpc>
                <a:spcPct val="100000"/>
              </a:lnSpc>
              <a:tabLst>
                <a:tab algn="l" pos="0"/>
              </a:tabLst>
            </a:pPr>
            <a:r>
              <a:rPr b="0" lang="en-US" sz="2000" spc="-1" strike="noStrike">
                <a:solidFill>
                  <a:srgbClr val="c4c4e4"/>
                </a:solidFill>
                <a:latin typeface="Arial"/>
                <a:ea typeface="Arial"/>
              </a:rPr>
              <a:t>/100</a:t>
            </a:r>
            <a:endParaRPr b="0" lang="en-US" sz="2000" spc="-1" strike="noStrike">
              <a:solidFill>
                <a:srgbClr val="ffffff"/>
              </a:solidFill>
              <a:latin typeface="Arial"/>
            </a:endParaRPr>
          </a:p>
        </p:txBody>
      </p:sp>
      <p:sp>
        <p:nvSpPr>
          <p:cNvPr id="1034" name="o22"/>
          <p:cNvSpPr/>
          <p:nvPr/>
        </p:nvSpPr>
        <p:spPr>
          <a:xfrm>
            <a:off x="7406640" y="3474720"/>
            <a:ext cx="1874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c4c4e4"/>
                </a:solidFill>
                <a:latin typeface="Arial"/>
                <a:ea typeface="Arial"/>
              </a:rPr>
              <a:t>Part de marché</a:t>
            </a:r>
            <a:endParaRPr b="0" lang="en-US" sz="1300" spc="-1" strike="noStrike">
              <a:solidFill>
                <a:srgbClr val="ffffff"/>
              </a:solidFill>
              <a:latin typeface="Arial"/>
            </a:endParaRPr>
          </a:p>
        </p:txBody>
      </p:sp>
      <p:sp>
        <p:nvSpPr>
          <p:cNvPr id="1035" name="o23"/>
          <p:cNvSpPr/>
          <p:nvPr/>
        </p:nvSpPr>
        <p:spPr>
          <a:xfrm>
            <a:off x="928116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36" name="o24"/>
          <p:cNvSpPr/>
          <p:nvPr/>
        </p:nvSpPr>
        <p:spPr>
          <a:xfrm>
            <a:off x="937152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37" name="o25"/>
          <p:cNvSpPr/>
          <p:nvPr/>
        </p:nvSpPr>
        <p:spPr>
          <a:xfrm>
            <a:off x="946224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38" name="o26"/>
          <p:cNvSpPr/>
          <p:nvPr/>
        </p:nvSpPr>
        <p:spPr>
          <a:xfrm>
            <a:off x="955260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39" name="o27"/>
          <p:cNvSpPr/>
          <p:nvPr/>
        </p:nvSpPr>
        <p:spPr>
          <a:xfrm>
            <a:off x="964332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0" name="o28"/>
          <p:cNvSpPr/>
          <p:nvPr/>
        </p:nvSpPr>
        <p:spPr>
          <a:xfrm>
            <a:off x="973368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1" name="o29"/>
          <p:cNvSpPr/>
          <p:nvPr/>
        </p:nvSpPr>
        <p:spPr>
          <a:xfrm>
            <a:off x="982440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2" name="o30"/>
          <p:cNvSpPr/>
          <p:nvPr/>
        </p:nvSpPr>
        <p:spPr>
          <a:xfrm>
            <a:off x="991476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3" name="o31"/>
          <p:cNvSpPr/>
          <p:nvPr/>
        </p:nvSpPr>
        <p:spPr>
          <a:xfrm>
            <a:off x="1000548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4" name="o32"/>
          <p:cNvSpPr/>
          <p:nvPr/>
        </p:nvSpPr>
        <p:spPr>
          <a:xfrm>
            <a:off x="1009584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5" name="o33"/>
          <p:cNvSpPr/>
          <p:nvPr/>
        </p:nvSpPr>
        <p:spPr>
          <a:xfrm>
            <a:off x="1018656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6" name="o34"/>
          <p:cNvSpPr/>
          <p:nvPr/>
        </p:nvSpPr>
        <p:spPr>
          <a:xfrm>
            <a:off x="1027692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7" name="o35"/>
          <p:cNvSpPr/>
          <p:nvPr/>
        </p:nvSpPr>
        <p:spPr>
          <a:xfrm>
            <a:off x="1036764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8" name="o36"/>
          <p:cNvSpPr/>
          <p:nvPr/>
        </p:nvSpPr>
        <p:spPr>
          <a:xfrm>
            <a:off x="1045800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49" name="o37"/>
          <p:cNvSpPr/>
          <p:nvPr/>
        </p:nvSpPr>
        <p:spPr>
          <a:xfrm>
            <a:off x="1054836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0" name="o38"/>
          <p:cNvSpPr/>
          <p:nvPr/>
        </p:nvSpPr>
        <p:spPr>
          <a:xfrm>
            <a:off x="1063908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1" name="o39"/>
          <p:cNvSpPr/>
          <p:nvPr/>
        </p:nvSpPr>
        <p:spPr>
          <a:xfrm>
            <a:off x="1072944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2" name="o40"/>
          <p:cNvSpPr/>
          <p:nvPr/>
        </p:nvSpPr>
        <p:spPr>
          <a:xfrm>
            <a:off x="1082016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3" name="o41"/>
          <p:cNvSpPr/>
          <p:nvPr/>
        </p:nvSpPr>
        <p:spPr>
          <a:xfrm>
            <a:off x="1091052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4" name="o42"/>
          <p:cNvSpPr/>
          <p:nvPr/>
        </p:nvSpPr>
        <p:spPr>
          <a:xfrm>
            <a:off x="11001240" y="353880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5" name="o43"/>
          <p:cNvSpPr/>
          <p:nvPr/>
        </p:nvSpPr>
        <p:spPr>
          <a:xfrm>
            <a:off x="11164680" y="3474720"/>
            <a:ext cx="411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100</a:t>
            </a:r>
            <a:endParaRPr b="0" lang="en-US" sz="1300" spc="-1" strike="noStrike">
              <a:solidFill>
                <a:srgbClr val="ffffff"/>
              </a:solidFill>
              <a:latin typeface="Arial"/>
            </a:endParaRPr>
          </a:p>
        </p:txBody>
      </p:sp>
      <p:sp>
        <p:nvSpPr>
          <p:cNvPr id="1056" name="o44"/>
          <p:cNvSpPr/>
          <p:nvPr/>
        </p:nvSpPr>
        <p:spPr>
          <a:xfrm>
            <a:off x="7406640" y="3904560"/>
            <a:ext cx="1874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c4c4e4"/>
                </a:solidFill>
                <a:latin typeface="Arial"/>
                <a:ea typeface="Arial"/>
              </a:rPr>
              <a:t>Leadership (&gt; 30 %)</a:t>
            </a:r>
            <a:endParaRPr b="0" lang="en-US" sz="1300" spc="-1" strike="noStrike">
              <a:solidFill>
                <a:srgbClr val="ffffff"/>
              </a:solidFill>
              <a:latin typeface="Arial"/>
            </a:endParaRPr>
          </a:p>
        </p:txBody>
      </p:sp>
      <p:sp>
        <p:nvSpPr>
          <p:cNvPr id="1057" name="o45"/>
          <p:cNvSpPr/>
          <p:nvPr/>
        </p:nvSpPr>
        <p:spPr>
          <a:xfrm>
            <a:off x="928116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8" name="o46"/>
          <p:cNvSpPr/>
          <p:nvPr/>
        </p:nvSpPr>
        <p:spPr>
          <a:xfrm>
            <a:off x="937152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59" name="o47"/>
          <p:cNvSpPr/>
          <p:nvPr/>
        </p:nvSpPr>
        <p:spPr>
          <a:xfrm>
            <a:off x="946224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0" name="o48"/>
          <p:cNvSpPr/>
          <p:nvPr/>
        </p:nvSpPr>
        <p:spPr>
          <a:xfrm>
            <a:off x="955260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1" name="o49"/>
          <p:cNvSpPr/>
          <p:nvPr/>
        </p:nvSpPr>
        <p:spPr>
          <a:xfrm>
            <a:off x="964332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2" name="o50"/>
          <p:cNvSpPr/>
          <p:nvPr/>
        </p:nvSpPr>
        <p:spPr>
          <a:xfrm>
            <a:off x="973368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3" name="o51"/>
          <p:cNvSpPr/>
          <p:nvPr/>
        </p:nvSpPr>
        <p:spPr>
          <a:xfrm>
            <a:off x="982440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4" name="o52"/>
          <p:cNvSpPr/>
          <p:nvPr/>
        </p:nvSpPr>
        <p:spPr>
          <a:xfrm>
            <a:off x="991476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5" name="o53"/>
          <p:cNvSpPr/>
          <p:nvPr/>
        </p:nvSpPr>
        <p:spPr>
          <a:xfrm>
            <a:off x="1000548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6" name="o54"/>
          <p:cNvSpPr/>
          <p:nvPr/>
        </p:nvSpPr>
        <p:spPr>
          <a:xfrm>
            <a:off x="1009584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7" name="o55"/>
          <p:cNvSpPr/>
          <p:nvPr/>
        </p:nvSpPr>
        <p:spPr>
          <a:xfrm>
            <a:off x="1018656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8" name="o56"/>
          <p:cNvSpPr/>
          <p:nvPr/>
        </p:nvSpPr>
        <p:spPr>
          <a:xfrm>
            <a:off x="1027692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9" name="o57"/>
          <p:cNvSpPr/>
          <p:nvPr/>
        </p:nvSpPr>
        <p:spPr>
          <a:xfrm>
            <a:off x="1036764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0" name="o58"/>
          <p:cNvSpPr/>
          <p:nvPr/>
        </p:nvSpPr>
        <p:spPr>
          <a:xfrm>
            <a:off x="1045800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1" name="o59"/>
          <p:cNvSpPr/>
          <p:nvPr/>
        </p:nvSpPr>
        <p:spPr>
          <a:xfrm>
            <a:off x="1054836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2" name="o60"/>
          <p:cNvSpPr/>
          <p:nvPr/>
        </p:nvSpPr>
        <p:spPr>
          <a:xfrm>
            <a:off x="1063908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3" name="o61"/>
          <p:cNvSpPr/>
          <p:nvPr/>
        </p:nvSpPr>
        <p:spPr>
          <a:xfrm>
            <a:off x="1072944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4" name="o62"/>
          <p:cNvSpPr/>
          <p:nvPr/>
        </p:nvSpPr>
        <p:spPr>
          <a:xfrm>
            <a:off x="1082016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5" name="o63"/>
          <p:cNvSpPr/>
          <p:nvPr/>
        </p:nvSpPr>
        <p:spPr>
          <a:xfrm>
            <a:off x="1091052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6" name="o64"/>
          <p:cNvSpPr/>
          <p:nvPr/>
        </p:nvSpPr>
        <p:spPr>
          <a:xfrm>
            <a:off x="11001240" y="396864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7" name="o65"/>
          <p:cNvSpPr/>
          <p:nvPr/>
        </p:nvSpPr>
        <p:spPr>
          <a:xfrm>
            <a:off x="11164680" y="3904560"/>
            <a:ext cx="411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100</a:t>
            </a:r>
            <a:endParaRPr b="0" lang="en-US" sz="1300" spc="-1" strike="noStrike">
              <a:solidFill>
                <a:srgbClr val="ffffff"/>
              </a:solidFill>
              <a:latin typeface="Arial"/>
            </a:endParaRPr>
          </a:p>
        </p:txBody>
      </p:sp>
      <p:sp>
        <p:nvSpPr>
          <p:cNvPr id="1078" name="o66"/>
          <p:cNvSpPr/>
          <p:nvPr/>
        </p:nvSpPr>
        <p:spPr>
          <a:xfrm>
            <a:off x="7406640" y="4334400"/>
            <a:ext cx="1874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c4c4e4"/>
                </a:solidFill>
                <a:latin typeface="Arial"/>
                <a:ea typeface="Arial"/>
              </a:rPr>
              <a:t>Diversité des genres</a:t>
            </a:r>
            <a:endParaRPr b="0" lang="en-US" sz="1300" spc="-1" strike="noStrike">
              <a:solidFill>
                <a:srgbClr val="ffffff"/>
              </a:solidFill>
              <a:latin typeface="Arial"/>
            </a:endParaRPr>
          </a:p>
        </p:txBody>
      </p:sp>
      <p:sp>
        <p:nvSpPr>
          <p:cNvPr id="1079" name="o67"/>
          <p:cNvSpPr/>
          <p:nvPr/>
        </p:nvSpPr>
        <p:spPr>
          <a:xfrm>
            <a:off x="928116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0" name="o68"/>
          <p:cNvSpPr/>
          <p:nvPr/>
        </p:nvSpPr>
        <p:spPr>
          <a:xfrm>
            <a:off x="937152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1" name="o69"/>
          <p:cNvSpPr/>
          <p:nvPr/>
        </p:nvSpPr>
        <p:spPr>
          <a:xfrm>
            <a:off x="946224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2" name="o70"/>
          <p:cNvSpPr/>
          <p:nvPr/>
        </p:nvSpPr>
        <p:spPr>
          <a:xfrm>
            <a:off x="955260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3" name="o71"/>
          <p:cNvSpPr/>
          <p:nvPr/>
        </p:nvSpPr>
        <p:spPr>
          <a:xfrm>
            <a:off x="964332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4" name="o72"/>
          <p:cNvSpPr/>
          <p:nvPr/>
        </p:nvSpPr>
        <p:spPr>
          <a:xfrm>
            <a:off x="973368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5" name="o73"/>
          <p:cNvSpPr/>
          <p:nvPr/>
        </p:nvSpPr>
        <p:spPr>
          <a:xfrm>
            <a:off x="982440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6" name="o74"/>
          <p:cNvSpPr/>
          <p:nvPr/>
        </p:nvSpPr>
        <p:spPr>
          <a:xfrm>
            <a:off x="991476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7" name="o75"/>
          <p:cNvSpPr/>
          <p:nvPr/>
        </p:nvSpPr>
        <p:spPr>
          <a:xfrm>
            <a:off x="1000548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8" name="o76"/>
          <p:cNvSpPr/>
          <p:nvPr/>
        </p:nvSpPr>
        <p:spPr>
          <a:xfrm>
            <a:off x="1009584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9" name="o77"/>
          <p:cNvSpPr/>
          <p:nvPr/>
        </p:nvSpPr>
        <p:spPr>
          <a:xfrm>
            <a:off x="1018656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0" name="o78"/>
          <p:cNvSpPr/>
          <p:nvPr/>
        </p:nvSpPr>
        <p:spPr>
          <a:xfrm>
            <a:off x="1027692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1" name="o79"/>
          <p:cNvSpPr/>
          <p:nvPr/>
        </p:nvSpPr>
        <p:spPr>
          <a:xfrm>
            <a:off x="1036764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2" name="o80"/>
          <p:cNvSpPr/>
          <p:nvPr/>
        </p:nvSpPr>
        <p:spPr>
          <a:xfrm>
            <a:off x="1045800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3" name="o81"/>
          <p:cNvSpPr/>
          <p:nvPr/>
        </p:nvSpPr>
        <p:spPr>
          <a:xfrm>
            <a:off x="1054836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4" name="o82"/>
          <p:cNvSpPr/>
          <p:nvPr/>
        </p:nvSpPr>
        <p:spPr>
          <a:xfrm>
            <a:off x="1063908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5" name="o83"/>
          <p:cNvSpPr/>
          <p:nvPr/>
        </p:nvSpPr>
        <p:spPr>
          <a:xfrm>
            <a:off x="1072944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6" name="o84"/>
          <p:cNvSpPr/>
          <p:nvPr/>
        </p:nvSpPr>
        <p:spPr>
          <a:xfrm>
            <a:off x="1082016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7" name="o85"/>
          <p:cNvSpPr/>
          <p:nvPr/>
        </p:nvSpPr>
        <p:spPr>
          <a:xfrm>
            <a:off x="1091052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8" name="o86"/>
          <p:cNvSpPr/>
          <p:nvPr/>
        </p:nvSpPr>
        <p:spPr>
          <a:xfrm>
            <a:off x="11001240" y="4398120"/>
            <a:ext cx="68400" cy="145800"/>
          </a:xfrm>
          <a:prstGeom prst="rect">
            <a:avLst/>
          </a:prstGeom>
          <a:solidFill>
            <a:srgbClr val="ffe60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9" name="o87"/>
          <p:cNvSpPr/>
          <p:nvPr/>
        </p:nvSpPr>
        <p:spPr>
          <a:xfrm>
            <a:off x="11164680" y="4334400"/>
            <a:ext cx="411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98</a:t>
            </a:r>
            <a:endParaRPr b="0" lang="en-US" sz="1300" spc="-1" strike="noStrike">
              <a:solidFill>
                <a:srgbClr val="ffffff"/>
              </a:solidFill>
              <a:latin typeface="Arial"/>
            </a:endParaRPr>
          </a:p>
        </p:txBody>
      </p:sp>
      <p:sp>
        <p:nvSpPr>
          <p:cNvPr id="1100" name="o88"/>
          <p:cNvSpPr/>
          <p:nvPr/>
        </p:nvSpPr>
        <p:spPr>
          <a:xfrm>
            <a:off x="7406640" y="4763880"/>
            <a:ext cx="1874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c4c4e4"/>
                </a:solidFill>
                <a:latin typeface="Arial"/>
                <a:ea typeface="Arial"/>
              </a:rPr>
              <a:t>Constance régionale</a:t>
            </a:r>
            <a:endParaRPr b="0" lang="en-US" sz="1300" spc="-1" strike="noStrike">
              <a:solidFill>
                <a:srgbClr val="ffffff"/>
              </a:solidFill>
              <a:latin typeface="Arial"/>
            </a:endParaRPr>
          </a:p>
        </p:txBody>
      </p:sp>
      <p:sp>
        <p:nvSpPr>
          <p:cNvPr id="1101" name="o89"/>
          <p:cNvSpPr/>
          <p:nvPr/>
        </p:nvSpPr>
        <p:spPr>
          <a:xfrm>
            <a:off x="928116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2" name="o90"/>
          <p:cNvSpPr/>
          <p:nvPr/>
        </p:nvSpPr>
        <p:spPr>
          <a:xfrm>
            <a:off x="937152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3" name="o91"/>
          <p:cNvSpPr/>
          <p:nvPr/>
        </p:nvSpPr>
        <p:spPr>
          <a:xfrm>
            <a:off x="946224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4" name="o92"/>
          <p:cNvSpPr/>
          <p:nvPr/>
        </p:nvSpPr>
        <p:spPr>
          <a:xfrm>
            <a:off x="955260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5" name="o93"/>
          <p:cNvSpPr/>
          <p:nvPr/>
        </p:nvSpPr>
        <p:spPr>
          <a:xfrm>
            <a:off x="964332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6" name="o94"/>
          <p:cNvSpPr/>
          <p:nvPr/>
        </p:nvSpPr>
        <p:spPr>
          <a:xfrm>
            <a:off x="973368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7" name="o95"/>
          <p:cNvSpPr/>
          <p:nvPr/>
        </p:nvSpPr>
        <p:spPr>
          <a:xfrm>
            <a:off x="982440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8" name="o96"/>
          <p:cNvSpPr/>
          <p:nvPr/>
        </p:nvSpPr>
        <p:spPr>
          <a:xfrm>
            <a:off x="991476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9" name="o97"/>
          <p:cNvSpPr/>
          <p:nvPr/>
        </p:nvSpPr>
        <p:spPr>
          <a:xfrm>
            <a:off x="1000548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0" name="o98"/>
          <p:cNvSpPr/>
          <p:nvPr/>
        </p:nvSpPr>
        <p:spPr>
          <a:xfrm>
            <a:off x="1009584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1" name="o99"/>
          <p:cNvSpPr/>
          <p:nvPr/>
        </p:nvSpPr>
        <p:spPr>
          <a:xfrm>
            <a:off x="1018656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2" name="o100"/>
          <p:cNvSpPr/>
          <p:nvPr/>
        </p:nvSpPr>
        <p:spPr>
          <a:xfrm>
            <a:off x="1027692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3" name="o101"/>
          <p:cNvSpPr/>
          <p:nvPr/>
        </p:nvSpPr>
        <p:spPr>
          <a:xfrm>
            <a:off x="1036764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4" name="o102"/>
          <p:cNvSpPr/>
          <p:nvPr/>
        </p:nvSpPr>
        <p:spPr>
          <a:xfrm>
            <a:off x="1045800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5" name="o103"/>
          <p:cNvSpPr/>
          <p:nvPr/>
        </p:nvSpPr>
        <p:spPr>
          <a:xfrm>
            <a:off x="1054836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6" name="o104"/>
          <p:cNvSpPr/>
          <p:nvPr/>
        </p:nvSpPr>
        <p:spPr>
          <a:xfrm>
            <a:off x="1063908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7" name="o105"/>
          <p:cNvSpPr/>
          <p:nvPr/>
        </p:nvSpPr>
        <p:spPr>
          <a:xfrm>
            <a:off x="10729440" y="482796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18" name="o106"/>
          <p:cNvSpPr/>
          <p:nvPr/>
        </p:nvSpPr>
        <p:spPr>
          <a:xfrm>
            <a:off x="10820160" y="4827960"/>
            <a:ext cx="68400" cy="145800"/>
          </a:xfrm>
          <a:prstGeom prst="rect">
            <a:avLst/>
          </a:prstGeom>
          <a:solidFill>
            <a:srgbClr val="1a1a4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9" name="o107"/>
          <p:cNvSpPr/>
          <p:nvPr/>
        </p:nvSpPr>
        <p:spPr>
          <a:xfrm>
            <a:off x="10910520" y="4827960"/>
            <a:ext cx="68400" cy="145800"/>
          </a:xfrm>
          <a:prstGeom prst="rect">
            <a:avLst/>
          </a:prstGeom>
          <a:solidFill>
            <a:srgbClr val="1a1a4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20" name="o108"/>
          <p:cNvSpPr/>
          <p:nvPr/>
        </p:nvSpPr>
        <p:spPr>
          <a:xfrm>
            <a:off x="11001240" y="4827960"/>
            <a:ext cx="68400" cy="145800"/>
          </a:xfrm>
          <a:prstGeom prst="rect">
            <a:avLst/>
          </a:prstGeom>
          <a:solidFill>
            <a:srgbClr val="1a1a4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21" name="o109"/>
          <p:cNvSpPr/>
          <p:nvPr/>
        </p:nvSpPr>
        <p:spPr>
          <a:xfrm>
            <a:off x="11164680" y="4763880"/>
            <a:ext cx="411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86</a:t>
            </a:r>
            <a:endParaRPr b="0" lang="en-US" sz="1300" spc="-1" strike="noStrike">
              <a:solidFill>
                <a:srgbClr val="ffffff"/>
              </a:solidFill>
              <a:latin typeface="Arial"/>
            </a:endParaRPr>
          </a:p>
        </p:txBody>
      </p:sp>
      <p:sp>
        <p:nvSpPr>
          <p:cNvPr id="1122" name="o110"/>
          <p:cNvSpPr/>
          <p:nvPr/>
        </p:nvSpPr>
        <p:spPr>
          <a:xfrm>
            <a:off x="7406640" y="5193720"/>
            <a:ext cx="1874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c4c4e4"/>
                </a:solidFill>
                <a:latin typeface="Arial"/>
                <a:ea typeface="Arial"/>
              </a:rPr>
              <a:t>Taux de hits</a:t>
            </a:r>
            <a:endParaRPr b="0" lang="en-US" sz="1300" spc="-1" strike="noStrike">
              <a:solidFill>
                <a:srgbClr val="ffffff"/>
              </a:solidFill>
              <a:latin typeface="Arial"/>
            </a:endParaRPr>
          </a:p>
        </p:txBody>
      </p:sp>
      <p:sp>
        <p:nvSpPr>
          <p:cNvPr id="1123" name="o111"/>
          <p:cNvSpPr/>
          <p:nvPr/>
        </p:nvSpPr>
        <p:spPr>
          <a:xfrm>
            <a:off x="928116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4" name="o112"/>
          <p:cNvSpPr/>
          <p:nvPr/>
        </p:nvSpPr>
        <p:spPr>
          <a:xfrm>
            <a:off x="937152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5" name="o113"/>
          <p:cNvSpPr/>
          <p:nvPr/>
        </p:nvSpPr>
        <p:spPr>
          <a:xfrm>
            <a:off x="946224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6" name="o114"/>
          <p:cNvSpPr/>
          <p:nvPr/>
        </p:nvSpPr>
        <p:spPr>
          <a:xfrm>
            <a:off x="955260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7" name="o115"/>
          <p:cNvSpPr/>
          <p:nvPr/>
        </p:nvSpPr>
        <p:spPr>
          <a:xfrm>
            <a:off x="964332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8" name="o116"/>
          <p:cNvSpPr/>
          <p:nvPr/>
        </p:nvSpPr>
        <p:spPr>
          <a:xfrm>
            <a:off x="973368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9" name="o117"/>
          <p:cNvSpPr/>
          <p:nvPr/>
        </p:nvSpPr>
        <p:spPr>
          <a:xfrm>
            <a:off x="982440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0" name="o118"/>
          <p:cNvSpPr/>
          <p:nvPr/>
        </p:nvSpPr>
        <p:spPr>
          <a:xfrm>
            <a:off x="991476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1" name="o119"/>
          <p:cNvSpPr/>
          <p:nvPr/>
        </p:nvSpPr>
        <p:spPr>
          <a:xfrm>
            <a:off x="1000548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2" name="o120"/>
          <p:cNvSpPr/>
          <p:nvPr/>
        </p:nvSpPr>
        <p:spPr>
          <a:xfrm>
            <a:off x="1009584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3" name="o121"/>
          <p:cNvSpPr/>
          <p:nvPr/>
        </p:nvSpPr>
        <p:spPr>
          <a:xfrm>
            <a:off x="1018656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4" name="o122"/>
          <p:cNvSpPr/>
          <p:nvPr/>
        </p:nvSpPr>
        <p:spPr>
          <a:xfrm>
            <a:off x="1027692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5" name="o123"/>
          <p:cNvSpPr/>
          <p:nvPr/>
        </p:nvSpPr>
        <p:spPr>
          <a:xfrm>
            <a:off x="1036764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6" name="o124"/>
          <p:cNvSpPr/>
          <p:nvPr/>
        </p:nvSpPr>
        <p:spPr>
          <a:xfrm>
            <a:off x="1045800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7" name="o125"/>
          <p:cNvSpPr/>
          <p:nvPr/>
        </p:nvSpPr>
        <p:spPr>
          <a:xfrm>
            <a:off x="1054836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8" name="o126"/>
          <p:cNvSpPr/>
          <p:nvPr/>
        </p:nvSpPr>
        <p:spPr>
          <a:xfrm>
            <a:off x="1063908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39" name="o127"/>
          <p:cNvSpPr/>
          <p:nvPr/>
        </p:nvSpPr>
        <p:spPr>
          <a:xfrm>
            <a:off x="1072944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0" name="o128"/>
          <p:cNvSpPr/>
          <p:nvPr/>
        </p:nvSpPr>
        <p:spPr>
          <a:xfrm>
            <a:off x="1082016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1" name="o129"/>
          <p:cNvSpPr/>
          <p:nvPr/>
        </p:nvSpPr>
        <p:spPr>
          <a:xfrm>
            <a:off x="10910520" y="5257800"/>
            <a:ext cx="68400" cy="145800"/>
          </a:xfrm>
          <a:prstGeom prst="rect">
            <a:avLst/>
          </a:prstGeom>
          <a:solidFill>
            <a:srgbClr val="00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2" name="o130"/>
          <p:cNvSpPr/>
          <p:nvPr/>
        </p:nvSpPr>
        <p:spPr>
          <a:xfrm>
            <a:off x="11001240" y="5257800"/>
            <a:ext cx="68400" cy="145800"/>
          </a:xfrm>
          <a:prstGeom prst="rect">
            <a:avLst/>
          </a:prstGeom>
          <a:solidFill>
            <a:srgbClr val="1a1a4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3" name="o131"/>
          <p:cNvSpPr/>
          <p:nvPr/>
        </p:nvSpPr>
        <p:spPr>
          <a:xfrm>
            <a:off x="11164680" y="5193720"/>
            <a:ext cx="411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94</a:t>
            </a:r>
            <a:endParaRPr b="0" lang="en-US" sz="1300" spc="-1" strike="noStrike">
              <a:solidFill>
                <a:srgbClr val="ffffff"/>
              </a:solidFill>
              <a:latin typeface="Arial"/>
            </a:endParaRPr>
          </a:p>
        </p:txBody>
      </p:sp>
      <p:sp>
        <p:nvSpPr>
          <p:cNvPr id="1144" name="o132"/>
          <p:cNvSpPr/>
          <p:nvPr/>
        </p:nvSpPr>
        <p:spPr>
          <a:xfrm>
            <a:off x="7406640" y="5486400"/>
            <a:ext cx="3913200" cy="383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ffe600"/>
                </a:solidFill>
                <a:latin typeface="Arial"/>
                <a:ea typeface="Arial"/>
              </a:rPr>
              <a:t>1er dans 100 % des pondérations testées · 20 % des ventes · 10/10 des jeux les plus vendus</a:t>
            </a:r>
            <a:endParaRPr b="0" lang="en-US" sz="1200" spc="-1" strike="noStrike">
              <a:solidFill>
                <a:srgbClr val="ffffff"/>
              </a:solidFill>
              <a:latin typeface="Arial"/>
            </a:endParaRPr>
          </a:p>
        </p:txBody>
      </p:sp>
      <p:pic>
        <p:nvPicPr>
          <p:cNvPr id="1145" name="barre_fantome" descr="image.gif"/>
          <p:cNvPicPr/>
          <p:nvPr/>
        </p:nvPicPr>
        <p:blipFill>
          <a:blip r:embed="rId10"/>
          <a:stretch/>
        </p:blipFill>
        <p:spPr>
          <a:xfrm>
            <a:off x="3962304" y="6291000"/>
            <a:ext cx="310680" cy="310680"/>
          </a:xfrm>
          <a:prstGeom prst="rect">
            <a:avLst/>
          </a:prstGeom>
          <a:ln w="0">
            <a:noFill/>
          </a:ln>
        </p:spPr>
      </p:pic>
      <p:sp>
        <p:nvSpPr>
          <p:cNvPr id="1147" name="barre_pastille"/>
          <p:cNvSpPr/>
          <p:nvPr/>
        </p:nvSpPr>
        <p:spPr>
          <a:xfrm>
            <a:off x="5029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47"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48"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49"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0"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1"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2"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3"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4"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5"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6"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7"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8"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59"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0"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1"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2"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3"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4"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5"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6"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7"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8"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69"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70"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71"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72"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173"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146" name="barre_pacman" descr="image.gif"/>
          <p:cNvPicPr/>
          <p:nvPr/>
        </p:nvPicPr>
        <p:blipFill>
          <a:blip r:embed="rId11"/>
          <a:stretch/>
        </p:blipFill>
        <p:spPr>
          <a:xfrm>
            <a:off x="4529304" y="6291000"/>
            <a:ext cx="310680" cy="310680"/>
          </a:xfrm>
          <a:prstGeom prst="rect">
            <a:avLst/>
          </a:prstGeom>
          <a:ln w="0">
            <a:noFill/>
          </a:ln>
        </p:spPr>
      </p:pic>
      <p:sp>
        <p:nvSpPr>
          <p:cNvPr id="1174"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1006" dur="indefinite" restart="never" nodeType="tmRoot">
          <p:childTnLst>
            <p:seq>
              <p:cTn id="1007" dur="indefinite" nodeType="mainSeq">
                <p:childTnLst>
                  <p:par>
                    <p:cTn id="1008" fill="hold">
                      <p:stCondLst>
                        <p:cond delay="0"/>
                      </p:stCondLst>
                      <p:childTnLst>
                        <p:par>
                          <p:cTn id="1009" fill="hold">
                            <p:stCondLst>
                              <p:cond delay="0"/>
                            </p:stCondLst>
                            <p:childTnLst>
                              <p:par>
                                <p:cTn id="1010" nodeType="withEffect" fill="hold" presetClass="path">
                                  <p:stCondLst>
                                    <p:cond delay="0"/>
                                  </p:stCondLst>
                                  <p:childTnLst>
                                    <p:animMotion origin="layout" path="M 0 0 L 0.02252 0 E">
                                      <p:cBhvr>
                                        <p:cTn id="1011" dur="900" fill="hold"/>
                                        <p:tgtEl>
                                          <p:spTgt spid="1145"/>
                                        </p:tgtEl>
                                        <p:attrNameLst>
                                          <p:attrName>ppt_x</p:attrName>
                                          <p:attrName>ppt_y</p:attrName>
                                        </p:attrNameLst>
                                      </p:cBhvr>
                                    </p:animMotion>
                                  </p:childTnLst>
                                </p:cTn>
                              </p:par>
                              <p:par>
                                <p:cTn id="1012" nodeType="withEffect" fill="hold" presetClass="path">
                                  <p:stCondLst>
                                    <p:cond delay="0"/>
                                  </p:stCondLst>
                                  <p:childTnLst>
                                    <p:animMotion origin="layout" path="M 0 0 L 0.02252 0 E">
                                      <p:cBhvr>
                                        <p:cTn id="1013" dur="900" fill="hold"/>
                                        <p:tgtEl>
                                          <p:spTgt spid="1146"/>
                                        </p:tgtEl>
                                        <p:attrNameLst>
                                          <p:attrName>ppt_x</p:attrName>
                                          <p:attrName>ppt_y</p:attrName>
                                        </p:attrNameLst>
                                      </p:cBhvr>
                                    </p:animMotion>
                                  </p:childTnLst>
                                </p:cTn>
                              </p:par>
                              <p:par>
                                <p:cTn id="1014" nodeType="withEffect" fill="hold" presetClass="exit" presetID="1">
                                  <p:stCondLst>
                                    <p:cond delay="350"/>
                                  </p:stCondLst>
                                  <p:childTnLst>
                                    <p:set>
                                      <p:cBhvr>
                                        <p:cTn id="1015" dur="1" fill="hold">
                                          <p:stCondLst>
                                            <p:cond delay="0"/>
                                          </p:stCondLst>
                                        </p:cTn>
                                        <p:tgtEl>
                                          <p:spTgt spid="1147"/>
                                        </p:tgtEl>
                                        <p:attrNameLst>
                                          <p:attrName>style.visibility</p:attrName>
                                        </p:attrNameLst>
                                      </p:cBhvr>
                                      <p:to>
                                        <p:strVal val="hidden"/>
                                      </p:to>
                                    </p:set>
                                  </p:childTnLst>
                                </p:cTn>
                              </p:par>
                              <p:par>
                                <p:cTn id="1016" nodeType="withEffect" fill="hold" presetClass="entr" presetID="10">
                                  <p:stCondLst>
                                    <p:cond delay="100"/>
                                  </p:stCondLst>
                                  <p:childTnLst>
                                    <p:set>
                                      <p:cBhvr>
                                        <p:cTn id="1017" dur="1" fill="hold">
                                          <p:stCondLst>
                                            <p:cond delay="0"/>
                                          </p:stCondLst>
                                        </p:cTn>
                                        <p:tgtEl>
                                          <p:spTgt spid="1025"/>
                                        </p:tgtEl>
                                        <p:attrNameLst>
                                          <p:attrName>style.visibility</p:attrName>
                                        </p:attrNameLst>
                                      </p:cBhvr>
                                      <p:to>
                                        <p:strVal val="visible"/>
                                      </p:to>
                                    </p:set>
                                    <p:animEffect filter="fade" transition="in">
                                      <p:cBhvr additive="repl">
                                        <p:cTn id="1018" dur="400"/>
                                        <p:tgtEl>
                                          <p:spTgt spid="1025"/>
                                        </p:tgtEl>
                                      </p:cBhvr>
                                    </p:animEffect>
                                  </p:childTnLst>
                                </p:cTn>
                              </p:par>
                              <p:par>
                                <p:cTn id="1019" nodeType="withEffect" fill="hold" presetClass="entr" presetID="10">
                                  <p:stCondLst>
                                    <p:cond delay="300"/>
                                  </p:stCondLst>
                                  <p:childTnLst>
                                    <p:set>
                                      <p:cBhvr>
                                        <p:cTn id="1020" dur="1" fill="hold">
                                          <p:stCondLst>
                                            <p:cond delay="0"/>
                                          </p:stCondLst>
                                        </p:cTn>
                                        <p:tgtEl>
                                          <p:spTgt spid="1026"/>
                                        </p:tgtEl>
                                        <p:attrNameLst>
                                          <p:attrName>style.visibility</p:attrName>
                                        </p:attrNameLst>
                                      </p:cBhvr>
                                      <p:to>
                                        <p:strVal val="visible"/>
                                      </p:to>
                                    </p:set>
                                    <p:animEffect filter="fade" transition="in">
                                      <p:cBhvr additive="repl">
                                        <p:cTn id="1021" dur="400"/>
                                        <p:tgtEl>
                                          <p:spTgt spid="1026"/>
                                        </p:tgtEl>
                                      </p:cBhvr>
                                    </p:animEffect>
                                  </p:childTnLst>
                                </p:cTn>
                              </p:par>
                              <p:par>
                                <p:cTn id="1022" nodeType="withEffect" fill="hold" presetClass="entr" presetID="10">
                                  <p:stCondLst>
                                    <p:cond delay="300"/>
                                  </p:stCondLst>
                                  <p:childTnLst>
                                    <p:set>
                                      <p:cBhvr>
                                        <p:cTn id="1023" dur="1" fill="hold">
                                          <p:stCondLst>
                                            <p:cond delay="0"/>
                                          </p:stCondLst>
                                        </p:cTn>
                                        <p:tgtEl>
                                          <p:spTgt spid="1027"/>
                                        </p:tgtEl>
                                        <p:attrNameLst>
                                          <p:attrName>style.visibility</p:attrName>
                                        </p:attrNameLst>
                                      </p:cBhvr>
                                      <p:to>
                                        <p:strVal val="visible"/>
                                      </p:to>
                                    </p:set>
                                    <p:animEffect filter="fade" transition="in">
                                      <p:cBhvr additive="repl">
                                        <p:cTn id="1024" dur="400"/>
                                        <p:tgtEl>
                                          <p:spTgt spid="1027"/>
                                        </p:tgtEl>
                                      </p:cBhvr>
                                    </p:animEffect>
                                  </p:childTnLst>
                                </p:cTn>
                              </p:par>
                              <p:par>
                                <p:cTn id="1025" nodeType="withEffect" fill="hold" presetClass="entr" presetID="10">
                                  <p:stCondLst>
                                    <p:cond delay="600"/>
                                  </p:stCondLst>
                                  <p:childTnLst>
                                    <p:set>
                                      <p:cBhvr>
                                        <p:cTn id="1026" dur="1" fill="hold">
                                          <p:stCondLst>
                                            <p:cond delay="0"/>
                                          </p:stCondLst>
                                        </p:cTn>
                                        <p:tgtEl>
                                          <p:spTgt spid="1028"/>
                                        </p:tgtEl>
                                        <p:attrNameLst>
                                          <p:attrName>style.visibility</p:attrName>
                                        </p:attrNameLst>
                                      </p:cBhvr>
                                      <p:to>
                                        <p:strVal val="visible"/>
                                      </p:to>
                                    </p:set>
                                    <p:animEffect filter="fade" transition="in">
                                      <p:cBhvr additive="repl">
                                        <p:cTn id="1027" dur="400"/>
                                        <p:tgtEl>
                                          <p:spTgt spid="1028"/>
                                        </p:tgtEl>
                                      </p:cBhvr>
                                    </p:animEffect>
                                  </p:childTnLst>
                                </p:cTn>
                              </p:par>
                              <p:par>
                                <p:cTn id="1028" nodeType="withEffect" fill="hold" presetClass="entr" presetID="10">
                                  <p:stCondLst>
                                    <p:cond delay="600"/>
                                  </p:stCondLst>
                                  <p:childTnLst>
                                    <p:set>
                                      <p:cBhvr>
                                        <p:cTn id="1029" dur="1" fill="hold">
                                          <p:stCondLst>
                                            <p:cond delay="0"/>
                                          </p:stCondLst>
                                        </p:cTn>
                                        <p:tgtEl>
                                          <p:spTgt spid="1029"/>
                                        </p:tgtEl>
                                        <p:attrNameLst>
                                          <p:attrName>style.visibility</p:attrName>
                                        </p:attrNameLst>
                                      </p:cBhvr>
                                      <p:to>
                                        <p:strVal val="visible"/>
                                      </p:to>
                                    </p:set>
                                    <p:animEffect filter="fade" transition="in">
                                      <p:cBhvr additive="repl">
                                        <p:cTn id="1030" dur="400"/>
                                        <p:tgtEl>
                                          <p:spTgt spid="1029"/>
                                        </p:tgtEl>
                                      </p:cBhvr>
                                    </p:animEffect>
                                  </p:childTnLst>
                                </p:cTn>
                              </p:par>
                              <p:par>
                                <p:cTn id="1031" nodeType="withEffect" fill="hold" presetClass="entr" presetID="10">
                                  <p:stCondLst>
                                    <p:cond delay="600"/>
                                  </p:stCondLst>
                                  <p:childTnLst>
                                    <p:set>
                                      <p:cBhvr>
                                        <p:cTn id="1032" dur="1" fill="hold">
                                          <p:stCondLst>
                                            <p:cond delay="0"/>
                                          </p:stCondLst>
                                        </p:cTn>
                                        <p:tgtEl>
                                          <p:spTgt spid="1030"/>
                                        </p:tgtEl>
                                        <p:attrNameLst>
                                          <p:attrName>style.visibility</p:attrName>
                                        </p:attrNameLst>
                                      </p:cBhvr>
                                      <p:to>
                                        <p:strVal val="visible"/>
                                      </p:to>
                                    </p:set>
                                    <p:animEffect filter="fade" transition="in">
                                      <p:cBhvr additive="repl">
                                        <p:cTn id="1033" dur="400"/>
                                        <p:tgtEl>
                                          <p:spTgt spid="1030"/>
                                        </p:tgtEl>
                                      </p:cBhvr>
                                    </p:animEffect>
                                  </p:childTnLst>
                                </p:cTn>
                              </p:par>
                              <p:par>
                                <p:cTn id="1034" nodeType="withEffect" fill="hold" presetClass="entr" presetID="10">
                                  <p:stCondLst>
                                    <p:cond delay="600"/>
                                  </p:stCondLst>
                                  <p:childTnLst>
                                    <p:set>
                                      <p:cBhvr>
                                        <p:cTn id="1035" dur="1" fill="hold">
                                          <p:stCondLst>
                                            <p:cond delay="0"/>
                                          </p:stCondLst>
                                        </p:cTn>
                                        <p:tgtEl>
                                          <p:spTgt spid="1031"/>
                                        </p:tgtEl>
                                        <p:attrNameLst>
                                          <p:attrName>style.visibility</p:attrName>
                                        </p:attrNameLst>
                                      </p:cBhvr>
                                      <p:to>
                                        <p:strVal val="visible"/>
                                      </p:to>
                                    </p:set>
                                    <p:animEffect filter="fade" transition="in">
                                      <p:cBhvr additive="repl">
                                        <p:cTn id="1036" dur="400"/>
                                        <p:tgtEl>
                                          <p:spTgt spid="1031"/>
                                        </p:tgtEl>
                                      </p:cBhvr>
                                    </p:animEffect>
                                  </p:childTnLst>
                                </p:cTn>
                              </p:par>
                              <p:par>
                                <p:cTn id="1037" nodeType="withEffect" fill="hold" presetClass="entr" presetID="10">
                                  <p:stCondLst>
                                    <p:cond delay="600"/>
                                  </p:stCondLst>
                                  <p:childTnLst>
                                    <p:set>
                                      <p:cBhvr>
                                        <p:cTn id="1038" dur="1" fill="hold">
                                          <p:stCondLst>
                                            <p:cond delay="0"/>
                                          </p:stCondLst>
                                        </p:cTn>
                                        <p:tgtEl>
                                          <p:spTgt spid="1032"/>
                                        </p:tgtEl>
                                        <p:attrNameLst>
                                          <p:attrName>style.visibility</p:attrName>
                                        </p:attrNameLst>
                                      </p:cBhvr>
                                      <p:to>
                                        <p:strVal val="visible"/>
                                      </p:to>
                                    </p:set>
                                    <p:animEffect filter="fade" transition="in">
                                      <p:cBhvr additive="repl">
                                        <p:cTn id="1039" dur="400"/>
                                        <p:tgtEl>
                                          <p:spTgt spid="1032"/>
                                        </p:tgtEl>
                                      </p:cBhvr>
                                    </p:animEffect>
                                  </p:childTnLst>
                                </p:cTn>
                              </p:par>
                              <p:par>
                                <p:cTn id="1040" nodeType="withEffect" fill="hold" presetClass="entr" presetID="10">
                                  <p:stCondLst>
                                    <p:cond delay="600"/>
                                  </p:stCondLst>
                                  <p:childTnLst>
                                    <p:set>
                                      <p:cBhvr>
                                        <p:cTn id="1041" dur="1" fill="hold">
                                          <p:stCondLst>
                                            <p:cond delay="0"/>
                                          </p:stCondLst>
                                        </p:cTn>
                                        <p:tgtEl>
                                          <p:spTgt spid="1033"/>
                                        </p:tgtEl>
                                        <p:attrNameLst>
                                          <p:attrName>style.visibility</p:attrName>
                                        </p:attrNameLst>
                                      </p:cBhvr>
                                      <p:to>
                                        <p:strVal val="visible"/>
                                      </p:to>
                                    </p:set>
                                    <p:animEffect filter="fade" transition="in">
                                      <p:cBhvr additive="repl">
                                        <p:cTn id="1042" dur="400"/>
                                        <p:tgtEl>
                                          <p:spTgt spid="1033"/>
                                        </p:tgtEl>
                                      </p:cBhvr>
                                    </p:animEffect>
                                  </p:childTnLst>
                                </p:cTn>
                              </p:par>
                              <p:par>
                                <p:cTn id="1043" nodeType="withEffect" fill="hold" presetClass="entr" presetID="10">
                                  <p:stCondLst>
                                    <p:cond delay="1000"/>
                                  </p:stCondLst>
                                  <p:childTnLst>
                                    <p:set>
                                      <p:cBhvr>
                                        <p:cTn id="1044" dur="1" fill="hold">
                                          <p:stCondLst>
                                            <p:cond delay="0"/>
                                          </p:stCondLst>
                                        </p:cTn>
                                        <p:tgtEl>
                                          <p:spTgt spid="1034"/>
                                        </p:tgtEl>
                                        <p:attrNameLst>
                                          <p:attrName>style.visibility</p:attrName>
                                        </p:attrNameLst>
                                      </p:cBhvr>
                                      <p:to>
                                        <p:strVal val="visible"/>
                                      </p:to>
                                    </p:set>
                                    <p:animEffect filter="fade" transition="in">
                                      <p:cBhvr additive="repl">
                                        <p:cTn id="1045" dur="400"/>
                                        <p:tgtEl>
                                          <p:spTgt spid="1034"/>
                                        </p:tgtEl>
                                      </p:cBhvr>
                                    </p:animEffect>
                                  </p:childTnLst>
                                </p:cTn>
                              </p:par>
                              <p:par>
                                <p:cTn id="1046" nodeType="withEffect" fill="hold" presetClass="entr" presetID="10">
                                  <p:stCondLst>
                                    <p:cond delay="1000"/>
                                  </p:stCondLst>
                                  <p:childTnLst>
                                    <p:set>
                                      <p:cBhvr>
                                        <p:cTn id="1047" dur="1" fill="hold">
                                          <p:stCondLst>
                                            <p:cond delay="0"/>
                                          </p:stCondLst>
                                        </p:cTn>
                                        <p:tgtEl>
                                          <p:spTgt spid="1035"/>
                                        </p:tgtEl>
                                        <p:attrNameLst>
                                          <p:attrName>style.visibility</p:attrName>
                                        </p:attrNameLst>
                                      </p:cBhvr>
                                      <p:to>
                                        <p:strVal val="visible"/>
                                      </p:to>
                                    </p:set>
                                    <p:animEffect filter="fade" transition="in">
                                      <p:cBhvr additive="repl">
                                        <p:cTn id="1048" dur="400"/>
                                        <p:tgtEl>
                                          <p:spTgt spid="1035"/>
                                        </p:tgtEl>
                                      </p:cBhvr>
                                    </p:animEffect>
                                  </p:childTnLst>
                                </p:cTn>
                              </p:par>
                              <p:par>
                                <p:cTn id="1049" nodeType="withEffect" fill="hold" presetClass="entr" presetID="10">
                                  <p:stCondLst>
                                    <p:cond delay="1000"/>
                                  </p:stCondLst>
                                  <p:childTnLst>
                                    <p:set>
                                      <p:cBhvr>
                                        <p:cTn id="1050" dur="1" fill="hold">
                                          <p:stCondLst>
                                            <p:cond delay="0"/>
                                          </p:stCondLst>
                                        </p:cTn>
                                        <p:tgtEl>
                                          <p:spTgt spid="1036"/>
                                        </p:tgtEl>
                                        <p:attrNameLst>
                                          <p:attrName>style.visibility</p:attrName>
                                        </p:attrNameLst>
                                      </p:cBhvr>
                                      <p:to>
                                        <p:strVal val="visible"/>
                                      </p:to>
                                    </p:set>
                                    <p:animEffect filter="fade" transition="in">
                                      <p:cBhvr additive="repl">
                                        <p:cTn id="1051" dur="400"/>
                                        <p:tgtEl>
                                          <p:spTgt spid="1036"/>
                                        </p:tgtEl>
                                      </p:cBhvr>
                                    </p:animEffect>
                                  </p:childTnLst>
                                </p:cTn>
                              </p:par>
                              <p:par>
                                <p:cTn id="1052" nodeType="withEffect" fill="hold" presetClass="entr" presetID="10">
                                  <p:stCondLst>
                                    <p:cond delay="1000"/>
                                  </p:stCondLst>
                                  <p:childTnLst>
                                    <p:set>
                                      <p:cBhvr>
                                        <p:cTn id="1053" dur="1" fill="hold">
                                          <p:stCondLst>
                                            <p:cond delay="0"/>
                                          </p:stCondLst>
                                        </p:cTn>
                                        <p:tgtEl>
                                          <p:spTgt spid="1037"/>
                                        </p:tgtEl>
                                        <p:attrNameLst>
                                          <p:attrName>style.visibility</p:attrName>
                                        </p:attrNameLst>
                                      </p:cBhvr>
                                      <p:to>
                                        <p:strVal val="visible"/>
                                      </p:to>
                                    </p:set>
                                    <p:animEffect filter="fade" transition="in">
                                      <p:cBhvr additive="repl">
                                        <p:cTn id="1054" dur="400"/>
                                        <p:tgtEl>
                                          <p:spTgt spid="1037"/>
                                        </p:tgtEl>
                                      </p:cBhvr>
                                    </p:animEffect>
                                  </p:childTnLst>
                                </p:cTn>
                              </p:par>
                              <p:par>
                                <p:cTn id="1055" nodeType="withEffect" fill="hold" presetClass="entr" presetID="10">
                                  <p:stCondLst>
                                    <p:cond delay="1000"/>
                                  </p:stCondLst>
                                  <p:childTnLst>
                                    <p:set>
                                      <p:cBhvr>
                                        <p:cTn id="1056" dur="1" fill="hold">
                                          <p:stCondLst>
                                            <p:cond delay="0"/>
                                          </p:stCondLst>
                                        </p:cTn>
                                        <p:tgtEl>
                                          <p:spTgt spid="1038"/>
                                        </p:tgtEl>
                                        <p:attrNameLst>
                                          <p:attrName>style.visibility</p:attrName>
                                        </p:attrNameLst>
                                      </p:cBhvr>
                                      <p:to>
                                        <p:strVal val="visible"/>
                                      </p:to>
                                    </p:set>
                                    <p:animEffect filter="fade" transition="in">
                                      <p:cBhvr additive="repl">
                                        <p:cTn id="1057" dur="400"/>
                                        <p:tgtEl>
                                          <p:spTgt spid="1038"/>
                                        </p:tgtEl>
                                      </p:cBhvr>
                                    </p:animEffect>
                                  </p:childTnLst>
                                </p:cTn>
                              </p:par>
                              <p:par>
                                <p:cTn id="1058" nodeType="withEffect" fill="hold" presetClass="entr" presetID="10">
                                  <p:stCondLst>
                                    <p:cond delay="1000"/>
                                  </p:stCondLst>
                                  <p:childTnLst>
                                    <p:set>
                                      <p:cBhvr>
                                        <p:cTn id="1059" dur="1" fill="hold">
                                          <p:stCondLst>
                                            <p:cond delay="0"/>
                                          </p:stCondLst>
                                        </p:cTn>
                                        <p:tgtEl>
                                          <p:spTgt spid="1039"/>
                                        </p:tgtEl>
                                        <p:attrNameLst>
                                          <p:attrName>style.visibility</p:attrName>
                                        </p:attrNameLst>
                                      </p:cBhvr>
                                      <p:to>
                                        <p:strVal val="visible"/>
                                      </p:to>
                                    </p:set>
                                    <p:animEffect filter="fade" transition="in">
                                      <p:cBhvr additive="repl">
                                        <p:cTn id="1060" dur="400"/>
                                        <p:tgtEl>
                                          <p:spTgt spid="1039"/>
                                        </p:tgtEl>
                                      </p:cBhvr>
                                    </p:animEffect>
                                  </p:childTnLst>
                                </p:cTn>
                              </p:par>
                              <p:par>
                                <p:cTn id="1061" nodeType="withEffect" fill="hold" presetClass="entr" presetID="10">
                                  <p:stCondLst>
                                    <p:cond delay="1000"/>
                                  </p:stCondLst>
                                  <p:childTnLst>
                                    <p:set>
                                      <p:cBhvr>
                                        <p:cTn id="1062" dur="1" fill="hold">
                                          <p:stCondLst>
                                            <p:cond delay="0"/>
                                          </p:stCondLst>
                                        </p:cTn>
                                        <p:tgtEl>
                                          <p:spTgt spid="1040"/>
                                        </p:tgtEl>
                                        <p:attrNameLst>
                                          <p:attrName>style.visibility</p:attrName>
                                        </p:attrNameLst>
                                      </p:cBhvr>
                                      <p:to>
                                        <p:strVal val="visible"/>
                                      </p:to>
                                    </p:set>
                                    <p:animEffect filter="fade" transition="in">
                                      <p:cBhvr additive="repl">
                                        <p:cTn id="1063" dur="400"/>
                                        <p:tgtEl>
                                          <p:spTgt spid="1040"/>
                                        </p:tgtEl>
                                      </p:cBhvr>
                                    </p:animEffect>
                                  </p:childTnLst>
                                </p:cTn>
                              </p:par>
                              <p:par>
                                <p:cTn id="1064" nodeType="withEffect" fill="hold" presetClass="entr" presetID="10">
                                  <p:stCondLst>
                                    <p:cond delay="1000"/>
                                  </p:stCondLst>
                                  <p:childTnLst>
                                    <p:set>
                                      <p:cBhvr>
                                        <p:cTn id="1065" dur="1" fill="hold">
                                          <p:stCondLst>
                                            <p:cond delay="0"/>
                                          </p:stCondLst>
                                        </p:cTn>
                                        <p:tgtEl>
                                          <p:spTgt spid="1041"/>
                                        </p:tgtEl>
                                        <p:attrNameLst>
                                          <p:attrName>style.visibility</p:attrName>
                                        </p:attrNameLst>
                                      </p:cBhvr>
                                      <p:to>
                                        <p:strVal val="visible"/>
                                      </p:to>
                                    </p:set>
                                    <p:animEffect filter="fade" transition="in">
                                      <p:cBhvr additive="repl">
                                        <p:cTn id="1066" dur="400"/>
                                        <p:tgtEl>
                                          <p:spTgt spid="1041"/>
                                        </p:tgtEl>
                                      </p:cBhvr>
                                    </p:animEffect>
                                  </p:childTnLst>
                                </p:cTn>
                              </p:par>
                              <p:par>
                                <p:cTn id="1067" nodeType="withEffect" fill="hold" presetClass="entr" presetID="10">
                                  <p:stCondLst>
                                    <p:cond delay="1000"/>
                                  </p:stCondLst>
                                  <p:childTnLst>
                                    <p:set>
                                      <p:cBhvr>
                                        <p:cTn id="1068" dur="1" fill="hold">
                                          <p:stCondLst>
                                            <p:cond delay="0"/>
                                          </p:stCondLst>
                                        </p:cTn>
                                        <p:tgtEl>
                                          <p:spTgt spid="1042"/>
                                        </p:tgtEl>
                                        <p:attrNameLst>
                                          <p:attrName>style.visibility</p:attrName>
                                        </p:attrNameLst>
                                      </p:cBhvr>
                                      <p:to>
                                        <p:strVal val="visible"/>
                                      </p:to>
                                    </p:set>
                                    <p:animEffect filter="fade" transition="in">
                                      <p:cBhvr additive="repl">
                                        <p:cTn id="1069" dur="400"/>
                                        <p:tgtEl>
                                          <p:spTgt spid="1042"/>
                                        </p:tgtEl>
                                      </p:cBhvr>
                                    </p:animEffect>
                                  </p:childTnLst>
                                </p:cTn>
                              </p:par>
                              <p:par>
                                <p:cTn id="1070" nodeType="withEffect" fill="hold" presetClass="entr" presetID="10">
                                  <p:stCondLst>
                                    <p:cond delay="1000"/>
                                  </p:stCondLst>
                                  <p:childTnLst>
                                    <p:set>
                                      <p:cBhvr>
                                        <p:cTn id="1071" dur="1" fill="hold">
                                          <p:stCondLst>
                                            <p:cond delay="0"/>
                                          </p:stCondLst>
                                        </p:cTn>
                                        <p:tgtEl>
                                          <p:spTgt spid="1043"/>
                                        </p:tgtEl>
                                        <p:attrNameLst>
                                          <p:attrName>style.visibility</p:attrName>
                                        </p:attrNameLst>
                                      </p:cBhvr>
                                      <p:to>
                                        <p:strVal val="visible"/>
                                      </p:to>
                                    </p:set>
                                    <p:animEffect filter="fade" transition="in">
                                      <p:cBhvr additive="repl">
                                        <p:cTn id="1072" dur="400"/>
                                        <p:tgtEl>
                                          <p:spTgt spid="1043"/>
                                        </p:tgtEl>
                                      </p:cBhvr>
                                    </p:animEffect>
                                  </p:childTnLst>
                                </p:cTn>
                              </p:par>
                              <p:par>
                                <p:cTn id="1073" nodeType="withEffect" fill="hold" presetClass="entr" presetID="10">
                                  <p:stCondLst>
                                    <p:cond delay="1000"/>
                                  </p:stCondLst>
                                  <p:childTnLst>
                                    <p:set>
                                      <p:cBhvr>
                                        <p:cTn id="1074" dur="1" fill="hold">
                                          <p:stCondLst>
                                            <p:cond delay="0"/>
                                          </p:stCondLst>
                                        </p:cTn>
                                        <p:tgtEl>
                                          <p:spTgt spid="1044"/>
                                        </p:tgtEl>
                                        <p:attrNameLst>
                                          <p:attrName>style.visibility</p:attrName>
                                        </p:attrNameLst>
                                      </p:cBhvr>
                                      <p:to>
                                        <p:strVal val="visible"/>
                                      </p:to>
                                    </p:set>
                                    <p:animEffect filter="fade" transition="in">
                                      <p:cBhvr additive="repl">
                                        <p:cTn id="1075" dur="400"/>
                                        <p:tgtEl>
                                          <p:spTgt spid="1044"/>
                                        </p:tgtEl>
                                      </p:cBhvr>
                                    </p:animEffect>
                                  </p:childTnLst>
                                </p:cTn>
                              </p:par>
                              <p:par>
                                <p:cTn id="1076" nodeType="withEffect" fill="hold" presetClass="entr" presetID="10">
                                  <p:stCondLst>
                                    <p:cond delay="1000"/>
                                  </p:stCondLst>
                                  <p:childTnLst>
                                    <p:set>
                                      <p:cBhvr>
                                        <p:cTn id="1077" dur="1" fill="hold">
                                          <p:stCondLst>
                                            <p:cond delay="0"/>
                                          </p:stCondLst>
                                        </p:cTn>
                                        <p:tgtEl>
                                          <p:spTgt spid="1045"/>
                                        </p:tgtEl>
                                        <p:attrNameLst>
                                          <p:attrName>style.visibility</p:attrName>
                                        </p:attrNameLst>
                                      </p:cBhvr>
                                      <p:to>
                                        <p:strVal val="visible"/>
                                      </p:to>
                                    </p:set>
                                    <p:animEffect filter="fade" transition="in">
                                      <p:cBhvr additive="repl">
                                        <p:cTn id="1078" dur="400"/>
                                        <p:tgtEl>
                                          <p:spTgt spid="1045"/>
                                        </p:tgtEl>
                                      </p:cBhvr>
                                    </p:animEffect>
                                  </p:childTnLst>
                                </p:cTn>
                              </p:par>
                              <p:par>
                                <p:cTn id="1079" nodeType="withEffect" fill="hold" presetClass="entr" presetID="10">
                                  <p:stCondLst>
                                    <p:cond delay="1000"/>
                                  </p:stCondLst>
                                  <p:childTnLst>
                                    <p:set>
                                      <p:cBhvr>
                                        <p:cTn id="1080" dur="1" fill="hold">
                                          <p:stCondLst>
                                            <p:cond delay="0"/>
                                          </p:stCondLst>
                                        </p:cTn>
                                        <p:tgtEl>
                                          <p:spTgt spid="1046"/>
                                        </p:tgtEl>
                                        <p:attrNameLst>
                                          <p:attrName>style.visibility</p:attrName>
                                        </p:attrNameLst>
                                      </p:cBhvr>
                                      <p:to>
                                        <p:strVal val="visible"/>
                                      </p:to>
                                    </p:set>
                                    <p:animEffect filter="fade" transition="in">
                                      <p:cBhvr additive="repl">
                                        <p:cTn id="1081" dur="400"/>
                                        <p:tgtEl>
                                          <p:spTgt spid="1046"/>
                                        </p:tgtEl>
                                      </p:cBhvr>
                                    </p:animEffect>
                                  </p:childTnLst>
                                </p:cTn>
                              </p:par>
                              <p:par>
                                <p:cTn id="1082" nodeType="withEffect" fill="hold" presetClass="entr" presetID="10">
                                  <p:stCondLst>
                                    <p:cond delay="1000"/>
                                  </p:stCondLst>
                                  <p:childTnLst>
                                    <p:set>
                                      <p:cBhvr>
                                        <p:cTn id="1083" dur="1" fill="hold">
                                          <p:stCondLst>
                                            <p:cond delay="0"/>
                                          </p:stCondLst>
                                        </p:cTn>
                                        <p:tgtEl>
                                          <p:spTgt spid="1047"/>
                                        </p:tgtEl>
                                        <p:attrNameLst>
                                          <p:attrName>style.visibility</p:attrName>
                                        </p:attrNameLst>
                                      </p:cBhvr>
                                      <p:to>
                                        <p:strVal val="visible"/>
                                      </p:to>
                                    </p:set>
                                    <p:animEffect filter="fade" transition="in">
                                      <p:cBhvr additive="repl">
                                        <p:cTn id="1084" dur="400"/>
                                        <p:tgtEl>
                                          <p:spTgt spid="1047"/>
                                        </p:tgtEl>
                                      </p:cBhvr>
                                    </p:animEffect>
                                  </p:childTnLst>
                                </p:cTn>
                              </p:par>
                              <p:par>
                                <p:cTn id="1085" nodeType="withEffect" fill="hold" presetClass="entr" presetID="10">
                                  <p:stCondLst>
                                    <p:cond delay="1000"/>
                                  </p:stCondLst>
                                  <p:childTnLst>
                                    <p:set>
                                      <p:cBhvr>
                                        <p:cTn id="1086" dur="1" fill="hold">
                                          <p:stCondLst>
                                            <p:cond delay="0"/>
                                          </p:stCondLst>
                                        </p:cTn>
                                        <p:tgtEl>
                                          <p:spTgt spid="1048"/>
                                        </p:tgtEl>
                                        <p:attrNameLst>
                                          <p:attrName>style.visibility</p:attrName>
                                        </p:attrNameLst>
                                      </p:cBhvr>
                                      <p:to>
                                        <p:strVal val="visible"/>
                                      </p:to>
                                    </p:set>
                                    <p:animEffect filter="fade" transition="in">
                                      <p:cBhvr additive="repl">
                                        <p:cTn id="1087" dur="400"/>
                                        <p:tgtEl>
                                          <p:spTgt spid="1048"/>
                                        </p:tgtEl>
                                      </p:cBhvr>
                                    </p:animEffect>
                                  </p:childTnLst>
                                </p:cTn>
                              </p:par>
                              <p:par>
                                <p:cTn id="1088" nodeType="withEffect" fill="hold" presetClass="entr" presetID="10">
                                  <p:stCondLst>
                                    <p:cond delay="1000"/>
                                  </p:stCondLst>
                                  <p:childTnLst>
                                    <p:set>
                                      <p:cBhvr>
                                        <p:cTn id="1089" dur="1" fill="hold">
                                          <p:stCondLst>
                                            <p:cond delay="0"/>
                                          </p:stCondLst>
                                        </p:cTn>
                                        <p:tgtEl>
                                          <p:spTgt spid="1049"/>
                                        </p:tgtEl>
                                        <p:attrNameLst>
                                          <p:attrName>style.visibility</p:attrName>
                                        </p:attrNameLst>
                                      </p:cBhvr>
                                      <p:to>
                                        <p:strVal val="visible"/>
                                      </p:to>
                                    </p:set>
                                    <p:animEffect filter="fade" transition="in">
                                      <p:cBhvr additive="repl">
                                        <p:cTn id="1090" dur="400"/>
                                        <p:tgtEl>
                                          <p:spTgt spid="1049"/>
                                        </p:tgtEl>
                                      </p:cBhvr>
                                    </p:animEffect>
                                  </p:childTnLst>
                                </p:cTn>
                              </p:par>
                              <p:par>
                                <p:cTn id="1091" nodeType="withEffect" fill="hold" presetClass="entr" presetID="10">
                                  <p:stCondLst>
                                    <p:cond delay="1000"/>
                                  </p:stCondLst>
                                  <p:childTnLst>
                                    <p:set>
                                      <p:cBhvr>
                                        <p:cTn id="1092" dur="1" fill="hold">
                                          <p:stCondLst>
                                            <p:cond delay="0"/>
                                          </p:stCondLst>
                                        </p:cTn>
                                        <p:tgtEl>
                                          <p:spTgt spid="1050"/>
                                        </p:tgtEl>
                                        <p:attrNameLst>
                                          <p:attrName>style.visibility</p:attrName>
                                        </p:attrNameLst>
                                      </p:cBhvr>
                                      <p:to>
                                        <p:strVal val="visible"/>
                                      </p:to>
                                    </p:set>
                                    <p:animEffect filter="fade" transition="in">
                                      <p:cBhvr additive="repl">
                                        <p:cTn id="1093" dur="400"/>
                                        <p:tgtEl>
                                          <p:spTgt spid="1050"/>
                                        </p:tgtEl>
                                      </p:cBhvr>
                                    </p:animEffect>
                                  </p:childTnLst>
                                </p:cTn>
                              </p:par>
                              <p:par>
                                <p:cTn id="1094" nodeType="withEffect" fill="hold" presetClass="entr" presetID="10">
                                  <p:stCondLst>
                                    <p:cond delay="1000"/>
                                  </p:stCondLst>
                                  <p:childTnLst>
                                    <p:set>
                                      <p:cBhvr>
                                        <p:cTn id="1095" dur="1" fill="hold">
                                          <p:stCondLst>
                                            <p:cond delay="0"/>
                                          </p:stCondLst>
                                        </p:cTn>
                                        <p:tgtEl>
                                          <p:spTgt spid="1051"/>
                                        </p:tgtEl>
                                        <p:attrNameLst>
                                          <p:attrName>style.visibility</p:attrName>
                                        </p:attrNameLst>
                                      </p:cBhvr>
                                      <p:to>
                                        <p:strVal val="visible"/>
                                      </p:to>
                                    </p:set>
                                    <p:animEffect filter="fade" transition="in">
                                      <p:cBhvr additive="repl">
                                        <p:cTn id="1096" dur="400"/>
                                        <p:tgtEl>
                                          <p:spTgt spid="1051"/>
                                        </p:tgtEl>
                                      </p:cBhvr>
                                    </p:animEffect>
                                  </p:childTnLst>
                                </p:cTn>
                              </p:par>
                              <p:par>
                                <p:cTn id="1097" nodeType="withEffect" fill="hold" presetClass="entr" presetID="10">
                                  <p:stCondLst>
                                    <p:cond delay="1000"/>
                                  </p:stCondLst>
                                  <p:childTnLst>
                                    <p:set>
                                      <p:cBhvr>
                                        <p:cTn id="1098" dur="1" fill="hold">
                                          <p:stCondLst>
                                            <p:cond delay="0"/>
                                          </p:stCondLst>
                                        </p:cTn>
                                        <p:tgtEl>
                                          <p:spTgt spid="1052"/>
                                        </p:tgtEl>
                                        <p:attrNameLst>
                                          <p:attrName>style.visibility</p:attrName>
                                        </p:attrNameLst>
                                      </p:cBhvr>
                                      <p:to>
                                        <p:strVal val="visible"/>
                                      </p:to>
                                    </p:set>
                                    <p:animEffect filter="fade" transition="in">
                                      <p:cBhvr additive="repl">
                                        <p:cTn id="1099" dur="400"/>
                                        <p:tgtEl>
                                          <p:spTgt spid="1052"/>
                                        </p:tgtEl>
                                      </p:cBhvr>
                                    </p:animEffect>
                                  </p:childTnLst>
                                </p:cTn>
                              </p:par>
                              <p:par>
                                <p:cTn id="1100" nodeType="withEffect" fill="hold" presetClass="entr" presetID="10">
                                  <p:stCondLst>
                                    <p:cond delay="1000"/>
                                  </p:stCondLst>
                                  <p:childTnLst>
                                    <p:set>
                                      <p:cBhvr>
                                        <p:cTn id="1101" dur="1" fill="hold">
                                          <p:stCondLst>
                                            <p:cond delay="0"/>
                                          </p:stCondLst>
                                        </p:cTn>
                                        <p:tgtEl>
                                          <p:spTgt spid="1053"/>
                                        </p:tgtEl>
                                        <p:attrNameLst>
                                          <p:attrName>style.visibility</p:attrName>
                                        </p:attrNameLst>
                                      </p:cBhvr>
                                      <p:to>
                                        <p:strVal val="visible"/>
                                      </p:to>
                                    </p:set>
                                    <p:animEffect filter="fade" transition="in">
                                      <p:cBhvr additive="repl">
                                        <p:cTn id="1102" dur="400"/>
                                        <p:tgtEl>
                                          <p:spTgt spid="1053"/>
                                        </p:tgtEl>
                                      </p:cBhvr>
                                    </p:animEffect>
                                  </p:childTnLst>
                                </p:cTn>
                              </p:par>
                              <p:par>
                                <p:cTn id="1103" nodeType="withEffect" fill="hold" presetClass="entr" presetID="10">
                                  <p:stCondLst>
                                    <p:cond delay="1000"/>
                                  </p:stCondLst>
                                  <p:childTnLst>
                                    <p:set>
                                      <p:cBhvr>
                                        <p:cTn id="1104" dur="1" fill="hold">
                                          <p:stCondLst>
                                            <p:cond delay="0"/>
                                          </p:stCondLst>
                                        </p:cTn>
                                        <p:tgtEl>
                                          <p:spTgt spid="1054"/>
                                        </p:tgtEl>
                                        <p:attrNameLst>
                                          <p:attrName>style.visibility</p:attrName>
                                        </p:attrNameLst>
                                      </p:cBhvr>
                                      <p:to>
                                        <p:strVal val="visible"/>
                                      </p:to>
                                    </p:set>
                                    <p:animEffect filter="fade" transition="in">
                                      <p:cBhvr additive="repl">
                                        <p:cTn id="1105" dur="400"/>
                                        <p:tgtEl>
                                          <p:spTgt spid="1054"/>
                                        </p:tgtEl>
                                      </p:cBhvr>
                                    </p:animEffect>
                                  </p:childTnLst>
                                </p:cTn>
                              </p:par>
                              <p:par>
                                <p:cTn id="1106" nodeType="withEffect" fill="hold" presetClass="entr" presetID="10">
                                  <p:stCondLst>
                                    <p:cond delay="1000"/>
                                  </p:stCondLst>
                                  <p:childTnLst>
                                    <p:set>
                                      <p:cBhvr>
                                        <p:cTn id="1107" dur="1" fill="hold">
                                          <p:stCondLst>
                                            <p:cond delay="0"/>
                                          </p:stCondLst>
                                        </p:cTn>
                                        <p:tgtEl>
                                          <p:spTgt spid="1055"/>
                                        </p:tgtEl>
                                        <p:attrNameLst>
                                          <p:attrName>style.visibility</p:attrName>
                                        </p:attrNameLst>
                                      </p:cBhvr>
                                      <p:to>
                                        <p:strVal val="visible"/>
                                      </p:to>
                                    </p:set>
                                    <p:animEffect filter="fade" transition="in">
                                      <p:cBhvr additive="repl">
                                        <p:cTn id="1108" dur="400"/>
                                        <p:tgtEl>
                                          <p:spTgt spid="1055"/>
                                        </p:tgtEl>
                                      </p:cBhvr>
                                    </p:animEffect>
                                  </p:childTnLst>
                                </p:cTn>
                              </p:par>
                              <p:par>
                                <p:cTn id="1109" nodeType="withEffect" fill="hold" presetClass="entr" presetID="10">
                                  <p:stCondLst>
                                    <p:cond delay="1250"/>
                                  </p:stCondLst>
                                  <p:childTnLst>
                                    <p:set>
                                      <p:cBhvr>
                                        <p:cTn id="1110" dur="1" fill="hold">
                                          <p:stCondLst>
                                            <p:cond delay="0"/>
                                          </p:stCondLst>
                                        </p:cTn>
                                        <p:tgtEl>
                                          <p:spTgt spid="1056"/>
                                        </p:tgtEl>
                                        <p:attrNameLst>
                                          <p:attrName>style.visibility</p:attrName>
                                        </p:attrNameLst>
                                      </p:cBhvr>
                                      <p:to>
                                        <p:strVal val="visible"/>
                                      </p:to>
                                    </p:set>
                                    <p:animEffect filter="fade" transition="in">
                                      <p:cBhvr additive="repl">
                                        <p:cTn id="1111" dur="400"/>
                                        <p:tgtEl>
                                          <p:spTgt spid="1056"/>
                                        </p:tgtEl>
                                      </p:cBhvr>
                                    </p:animEffect>
                                  </p:childTnLst>
                                </p:cTn>
                              </p:par>
                              <p:par>
                                <p:cTn id="1112" nodeType="withEffect" fill="hold" presetClass="entr" presetID="10">
                                  <p:stCondLst>
                                    <p:cond delay="1250"/>
                                  </p:stCondLst>
                                  <p:childTnLst>
                                    <p:set>
                                      <p:cBhvr>
                                        <p:cTn id="1113" dur="1" fill="hold">
                                          <p:stCondLst>
                                            <p:cond delay="0"/>
                                          </p:stCondLst>
                                        </p:cTn>
                                        <p:tgtEl>
                                          <p:spTgt spid="1057"/>
                                        </p:tgtEl>
                                        <p:attrNameLst>
                                          <p:attrName>style.visibility</p:attrName>
                                        </p:attrNameLst>
                                      </p:cBhvr>
                                      <p:to>
                                        <p:strVal val="visible"/>
                                      </p:to>
                                    </p:set>
                                    <p:animEffect filter="fade" transition="in">
                                      <p:cBhvr additive="repl">
                                        <p:cTn id="1114" dur="400"/>
                                        <p:tgtEl>
                                          <p:spTgt spid="1057"/>
                                        </p:tgtEl>
                                      </p:cBhvr>
                                    </p:animEffect>
                                  </p:childTnLst>
                                </p:cTn>
                              </p:par>
                              <p:par>
                                <p:cTn id="1115" nodeType="withEffect" fill="hold" presetClass="entr" presetID="10">
                                  <p:stCondLst>
                                    <p:cond delay="1250"/>
                                  </p:stCondLst>
                                  <p:childTnLst>
                                    <p:set>
                                      <p:cBhvr>
                                        <p:cTn id="1116" dur="1" fill="hold">
                                          <p:stCondLst>
                                            <p:cond delay="0"/>
                                          </p:stCondLst>
                                        </p:cTn>
                                        <p:tgtEl>
                                          <p:spTgt spid="1058"/>
                                        </p:tgtEl>
                                        <p:attrNameLst>
                                          <p:attrName>style.visibility</p:attrName>
                                        </p:attrNameLst>
                                      </p:cBhvr>
                                      <p:to>
                                        <p:strVal val="visible"/>
                                      </p:to>
                                    </p:set>
                                    <p:animEffect filter="fade" transition="in">
                                      <p:cBhvr additive="repl">
                                        <p:cTn id="1117" dur="400"/>
                                        <p:tgtEl>
                                          <p:spTgt spid="1058"/>
                                        </p:tgtEl>
                                      </p:cBhvr>
                                    </p:animEffect>
                                  </p:childTnLst>
                                </p:cTn>
                              </p:par>
                              <p:par>
                                <p:cTn id="1118" nodeType="withEffect" fill="hold" presetClass="entr" presetID="10">
                                  <p:stCondLst>
                                    <p:cond delay="1250"/>
                                  </p:stCondLst>
                                  <p:childTnLst>
                                    <p:set>
                                      <p:cBhvr>
                                        <p:cTn id="1119" dur="1" fill="hold">
                                          <p:stCondLst>
                                            <p:cond delay="0"/>
                                          </p:stCondLst>
                                        </p:cTn>
                                        <p:tgtEl>
                                          <p:spTgt spid="1059"/>
                                        </p:tgtEl>
                                        <p:attrNameLst>
                                          <p:attrName>style.visibility</p:attrName>
                                        </p:attrNameLst>
                                      </p:cBhvr>
                                      <p:to>
                                        <p:strVal val="visible"/>
                                      </p:to>
                                    </p:set>
                                    <p:animEffect filter="fade" transition="in">
                                      <p:cBhvr additive="repl">
                                        <p:cTn id="1120" dur="400"/>
                                        <p:tgtEl>
                                          <p:spTgt spid="1059"/>
                                        </p:tgtEl>
                                      </p:cBhvr>
                                    </p:animEffect>
                                  </p:childTnLst>
                                </p:cTn>
                              </p:par>
                              <p:par>
                                <p:cTn id="1121" nodeType="withEffect" fill="hold" presetClass="entr" presetID="10">
                                  <p:stCondLst>
                                    <p:cond delay="1250"/>
                                  </p:stCondLst>
                                  <p:childTnLst>
                                    <p:set>
                                      <p:cBhvr>
                                        <p:cTn id="1122" dur="1" fill="hold">
                                          <p:stCondLst>
                                            <p:cond delay="0"/>
                                          </p:stCondLst>
                                        </p:cTn>
                                        <p:tgtEl>
                                          <p:spTgt spid="1060"/>
                                        </p:tgtEl>
                                        <p:attrNameLst>
                                          <p:attrName>style.visibility</p:attrName>
                                        </p:attrNameLst>
                                      </p:cBhvr>
                                      <p:to>
                                        <p:strVal val="visible"/>
                                      </p:to>
                                    </p:set>
                                    <p:animEffect filter="fade" transition="in">
                                      <p:cBhvr additive="repl">
                                        <p:cTn id="1123" dur="400"/>
                                        <p:tgtEl>
                                          <p:spTgt spid="1060"/>
                                        </p:tgtEl>
                                      </p:cBhvr>
                                    </p:animEffect>
                                  </p:childTnLst>
                                </p:cTn>
                              </p:par>
                              <p:par>
                                <p:cTn id="1124" nodeType="withEffect" fill="hold" presetClass="entr" presetID="10">
                                  <p:stCondLst>
                                    <p:cond delay="1250"/>
                                  </p:stCondLst>
                                  <p:childTnLst>
                                    <p:set>
                                      <p:cBhvr>
                                        <p:cTn id="1125" dur="1" fill="hold">
                                          <p:stCondLst>
                                            <p:cond delay="0"/>
                                          </p:stCondLst>
                                        </p:cTn>
                                        <p:tgtEl>
                                          <p:spTgt spid="1061"/>
                                        </p:tgtEl>
                                        <p:attrNameLst>
                                          <p:attrName>style.visibility</p:attrName>
                                        </p:attrNameLst>
                                      </p:cBhvr>
                                      <p:to>
                                        <p:strVal val="visible"/>
                                      </p:to>
                                    </p:set>
                                    <p:animEffect filter="fade" transition="in">
                                      <p:cBhvr additive="repl">
                                        <p:cTn id="1126" dur="400"/>
                                        <p:tgtEl>
                                          <p:spTgt spid="1061"/>
                                        </p:tgtEl>
                                      </p:cBhvr>
                                    </p:animEffect>
                                  </p:childTnLst>
                                </p:cTn>
                              </p:par>
                              <p:par>
                                <p:cTn id="1127" nodeType="withEffect" fill="hold" presetClass="entr" presetID="10">
                                  <p:stCondLst>
                                    <p:cond delay="1250"/>
                                  </p:stCondLst>
                                  <p:childTnLst>
                                    <p:set>
                                      <p:cBhvr>
                                        <p:cTn id="1128" dur="1" fill="hold">
                                          <p:stCondLst>
                                            <p:cond delay="0"/>
                                          </p:stCondLst>
                                        </p:cTn>
                                        <p:tgtEl>
                                          <p:spTgt spid="1062"/>
                                        </p:tgtEl>
                                        <p:attrNameLst>
                                          <p:attrName>style.visibility</p:attrName>
                                        </p:attrNameLst>
                                      </p:cBhvr>
                                      <p:to>
                                        <p:strVal val="visible"/>
                                      </p:to>
                                    </p:set>
                                    <p:animEffect filter="fade" transition="in">
                                      <p:cBhvr additive="repl">
                                        <p:cTn id="1129" dur="400"/>
                                        <p:tgtEl>
                                          <p:spTgt spid="1062"/>
                                        </p:tgtEl>
                                      </p:cBhvr>
                                    </p:animEffect>
                                  </p:childTnLst>
                                </p:cTn>
                              </p:par>
                              <p:par>
                                <p:cTn id="1130" nodeType="withEffect" fill="hold" presetClass="entr" presetID="10">
                                  <p:stCondLst>
                                    <p:cond delay="1250"/>
                                  </p:stCondLst>
                                  <p:childTnLst>
                                    <p:set>
                                      <p:cBhvr>
                                        <p:cTn id="1131" dur="1" fill="hold">
                                          <p:stCondLst>
                                            <p:cond delay="0"/>
                                          </p:stCondLst>
                                        </p:cTn>
                                        <p:tgtEl>
                                          <p:spTgt spid="1063"/>
                                        </p:tgtEl>
                                        <p:attrNameLst>
                                          <p:attrName>style.visibility</p:attrName>
                                        </p:attrNameLst>
                                      </p:cBhvr>
                                      <p:to>
                                        <p:strVal val="visible"/>
                                      </p:to>
                                    </p:set>
                                    <p:animEffect filter="fade" transition="in">
                                      <p:cBhvr additive="repl">
                                        <p:cTn id="1132" dur="400"/>
                                        <p:tgtEl>
                                          <p:spTgt spid="1063"/>
                                        </p:tgtEl>
                                      </p:cBhvr>
                                    </p:animEffect>
                                  </p:childTnLst>
                                </p:cTn>
                              </p:par>
                              <p:par>
                                <p:cTn id="1133" nodeType="withEffect" fill="hold" presetClass="entr" presetID="10">
                                  <p:stCondLst>
                                    <p:cond delay="1250"/>
                                  </p:stCondLst>
                                  <p:childTnLst>
                                    <p:set>
                                      <p:cBhvr>
                                        <p:cTn id="1134" dur="1" fill="hold">
                                          <p:stCondLst>
                                            <p:cond delay="0"/>
                                          </p:stCondLst>
                                        </p:cTn>
                                        <p:tgtEl>
                                          <p:spTgt spid="1064"/>
                                        </p:tgtEl>
                                        <p:attrNameLst>
                                          <p:attrName>style.visibility</p:attrName>
                                        </p:attrNameLst>
                                      </p:cBhvr>
                                      <p:to>
                                        <p:strVal val="visible"/>
                                      </p:to>
                                    </p:set>
                                    <p:animEffect filter="fade" transition="in">
                                      <p:cBhvr additive="repl">
                                        <p:cTn id="1135" dur="400"/>
                                        <p:tgtEl>
                                          <p:spTgt spid="1064"/>
                                        </p:tgtEl>
                                      </p:cBhvr>
                                    </p:animEffect>
                                  </p:childTnLst>
                                </p:cTn>
                              </p:par>
                              <p:par>
                                <p:cTn id="1136" nodeType="withEffect" fill="hold" presetClass="entr" presetID="10">
                                  <p:stCondLst>
                                    <p:cond delay="1250"/>
                                  </p:stCondLst>
                                  <p:childTnLst>
                                    <p:set>
                                      <p:cBhvr>
                                        <p:cTn id="1137" dur="1" fill="hold">
                                          <p:stCondLst>
                                            <p:cond delay="0"/>
                                          </p:stCondLst>
                                        </p:cTn>
                                        <p:tgtEl>
                                          <p:spTgt spid="1065"/>
                                        </p:tgtEl>
                                        <p:attrNameLst>
                                          <p:attrName>style.visibility</p:attrName>
                                        </p:attrNameLst>
                                      </p:cBhvr>
                                      <p:to>
                                        <p:strVal val="visible"/>
                                      </p:to>
                                    </p:set>
                                    <p:animEffect filter="fade" transition="in">
                                      <p:cBhvr additive="repl">
                                        <p:cTn id="1138" dur="400"/>
                                        <p:tgtEl>
                                          <p:spTgt spid="1065"/>
                                        </p:tgtEl>
                                      </p:cBhvr>
                                    </p:animEffect>
                                  </p:childTnLst>
                                </p:cTn>
                              </p:par>
                              <p:par>
                                <p:cTn id="1139" nodeType="withEffect" fill="hold" presetClass="entr" presetID="10">
                                  <p:stCondLst>
                                    <p:cond delay="1250"/>
                                  </p:stCondLst>
                                  <p:childTnLst>
                                    <p:set>
                                      <p:cBhvr>
                                        <p:cTn id="1140" dur="1" fill="hold">
                                          <p:stCondLst>
                                            <p:cond delay="0"/>
                                          </p:stCondLst>
                                        </p:cTn>
                                        <p:tgtEl>
                                          <p:spTgt spid="1066"/>
                                        </p:tgtEl>
                                        <p:attrNameLst>
                                          <p:attrName>style.visibility</p:attrName>
                                        </p:attrNameLst>
                                      </p:cBhvr>
                                      <p:to>
                                        <p:strVal val="visible"/>
                                      </p:to>
                                    </p:set>
                                    <p:animEffect filter="fade" transition="in">
                                      <p:cBhvr additive="repl">
                                        <p:cTn id="1141" dur="400"/>
                                        <p:tgtEl>
                                          <p:spTgt spid="1066"/>
                                        </p:tgtEl>
                                      </p:cBhvr>
                                    </p:animEffect>
                                  </p:childTnLst>
                                </p:cTn>
                              </p:par>
                              <p:par>
                                <p:cTn id="1142" nodeType="withEffect" fill="hold" presetClass="entr" presetID="10">
                                  <p:stCondLst>
                                    <p:cond delay="1250"/>
                                  </p:stCondLst>
                                  <p:childTnLst>
                                    <p:set>
                                      <p:cBhvr>
                                        <p:cTn id="1143" dur="1" fill="hold">
                                          <p:stCondLst>
                                            <p:cond delay="0"/>
                                          </p:stCondLst>
                                        </p:cTn>
                                        <p:tgtEl>
                                          <p:spTgt spid="1067"/>
                                        </p:tgtEl>
                                        <p:attrNameLst>
                                          <p:attrName>style.visibility</p:attrName>
                                        </p:attrNameLst>
                                      </p:cBhvr>
                                      <p:to>
                                        <p:strVal val="visible"/>
                                      </p:to>
                                    </p:set>
                                    <p:animEffect filter="fade" transition="in">
                                      <p:cBhvr additive="repl">
                                        <p:cTn id="1144" dur="400"/>
                                        <p:tgtEl>
                                          <p:spTgt spid="1067"/>
                                        </p:tgtEl>
                                      </p:cBhvr>
                                    </p:animEffect>
                                  </p:childTnLst>
                                </p:cTn>
                              </p:par>
                              <p:par>
                                <p:cTn id="1145" nodeType="withEffect" fill="hold" presetClass="entr" presetID="10">
                                  <p:stCondLst>
                                    <p:cond delay="1250"/>
                                  </p:stCondLst>
                                  <p:childTnLst>
                                    <p:set>
                                      <p:cBhvr>
                                        <p:cTn id="1146" dur="1" fill="hold">
                                          <p:stCondLst>
                                            <p:cond delay="0"/>
                                          </p:stCondLst>
                                        </p:cTn>
                                        <p:tgtEl>
                                          <p:spTgt spid="1068"/>
                                        </p:tgtEl>
                                        <p:attrNameLst>
                                          <p:attrName>style.visibility</p:attrName>
                                        </p:attrNameLst>
                                      </p:cBhvr>
                                      <p:to>
                                        <p:strVal val="visible"/>
                                      </p:to>
                                    </p:set>
                                    <p:animEffect filter="fade" transition="in">
                                      <p:cBhvr additive="repl">
                                        <p:cTn id="1147" dur="400"/>
                                        <p:tgtEl>
                                          <p:spTgt spid="1068"/>
                                        </p:tgtEl>
                                      </p:cBhvr>
                                    </p:animEffect>
                                  </p:childTnLst>
                                </p:cTn>
                              </p:par>
                              <p:par>
                                <p:cTn id="1148" nodeType="withEffect" fill="hold" presetClass="entr" presetID="10">
                                  <p:stCondLst>
                                    <p:cond delay="1250"/>
                                  </p:stCondLst>
                                  <p:childTnLst>
                                    <p:set>
                                      <p:cBhvr>
                                        <p:cTn id="1149" dur="1" fill="hold">
                                          <p:stCondLst>
                                            <p:cond delay="0"/>
                                          </p:stCondLst>
                                        </p:cTn>
                                        <p:tgtEl>
                                          <p:spTgt spid="1069"/>
                                        </p:tgtEl>
                                        <p:attrNameLst>
                                          <p:attrName>style.visibility</p:attrName>
                                        </p:attrNameLst>
                                      </p:cBhvr>
                                      <p:to>
                                        <p:strVal val="visible"/>
                                      </p:to>
                                    </p:set>
                                    <p:animEffect filter="fade" transition="in">
                                      <p:cBhvr additive="repl">
                                        <p:cTn id="1150" dur="400"/>
                                        <p:tgtEl>
                                          <p:spTgt spid="1069"/>
                                        </p:tgtEl>
                                      </p:cBhvr>
                                    </p:animEffect>
                                  </p:childTnLst>
                                </p:cTn>
                              </p:par>
                              <p:par>
                                <p:cTn id="1151" nodeType="withEffect" fill="hold" presetClass="entr" presetID="10">
                                  <p:stCondLst>
                                    <p:cond delay="1250"/>
                                  </p:stCondLst>
                                  <p:childTnLst>
                                    <p:set>
                                      <p:cBhvr>
                                        <p:cTn id="1152" dur="1" fill="hold">
                                          <p:stCondLst>
                                            <p:cond delay="0"/>
                                          </p:stCondLst>
                                        </p:cTn>
                                        <p:tgtEl>
                                          <p:spTgt spid="1070"/>
                                        </p:tgtEl>
                                        <p:attrNameLst>
                                          <p:attrName>style.visibility</p:attrName>
                                        </p:attrNameLst>
                                      </p:cBhvr>
                                      <p:to>
                                        <p:strVal val="visible"/>
                                      </p:to>
                                    </p:set>
                                    <p:animEffect filter="fade" transition="in">
                                      <p:cBhvr additive="repl">
                                        <p:cTn id="1153" dur="400"/>
                                        <p:tgtEl>
                                          <p:spTgt spid="1070"/>
                                        </p:tgtEl>
                                      </p:cBhvr>
                                    </p:animEffect>
                                  </p:childTnLst>
                                </p:cTn>
                              </p:par>
                              <p:par>
                                <p:cTn id="1154" nodeType="withEffect" fill="hold" presetClass="entr" presetID="10">
                                  <p:stCondLst>
                                    <p:cond delay="1250"/>
                                  </p:stCondLst>
                                  <p:childTnLst>
                                    <p:set>
                                      <p:cBhvr>
                                        <p:cTn id="1155" dur="1" fill="hold">
                                          <p:stCondLst>
                                            <p:cond delay="0"/>
                                          </p:stCondLst>
                                        </p:cTn>
                                        <p:tgtEl>
                                          <p:spTgt spid="1071"/>
                                        </p:tgtEl>
                                        <p:attrNameLst>
                                          <p:attrName>style.visibility</p:attrName>
                                        </p:attrNameLst>
                                      </p:cBhvr>
                                      <p:to>
                                        <p:strVal val="visible"/>
                                      </p:to>
                                    </p:set>
                                    <p:animEffect filter="fade" transition="in">
                                      <p:cBhvr additive="repl">
                                        <p:cTn id="1156" dur="400"/>
                                        <p:tgtEl>
                                          <p:spTgt spid="1071"/>
                                        </p:tgtEl>
                                      </p:cBhvr>
                                    </p:animEffect>
                                  </p:childTnLst>
                                </p:cTn>
                              </p:par>
                              <p:par>
                                <p:cTn id="1157" nodeType="withEffect" fill="hold" presetClass="entr" presetID="10">
                                  <p:stCondLst>
                                    <p:cond delay="1250"/>
                                  </p:stCondLst>
                                  <p:childTnLst>
                                    <p:set>
                                      <p:cBhvr>
                                        <p:cTn id="1158" dur="1" fill="hold">
                                          <p:stCondLst>
                                            <p:cond delay="0"/>
                                          </p:stCondLst>
                                        </p:cTn>
                                        <p:tgtEl>
                                          <p:spTgt spid="1072"/>
                                        </p:tgtEl>
                                        <p:attrNameLst>
                                          <p:attrName>style.visibility</p:attrName>
                                        </p:attrNameLst>
                                      </p:cBhvr>
                                      <p:to>
                                        <p:strVal val="visible"/>
                                      </p:to>
                                    </p:set>
                                    <p:animEffect filter="fade" transition="in">
                                      <p:cBhvr additive="repl">
                                        <p:cTn id="1159" dur="400"/>
                                        <p:tgtEl>
                                          <p:spTgt spid="1072"/>
                                        </p:tgtEl>
                                      </p:cBhvr>
                                    </p:animEffect>
                                  </p:childTnLst>
                                </p:cTn>
                              </p:par>
                              <p:par>
                                <p:cTn id="1160" nodeType="withEffect" fill="hold" presetClass="entr" presetID="10">
                                  <p:stCondLst>
                                    <p:cond delay="1250"/>
                                  </p:stCondLst>
                                  <p:childTnLst>
                                    <p:set>
                                      <p:cBhvr>
                                        <p:cTn id="1161" dur="1" fill="hold">
                                          <p:stCondLst>
                                            <p:cond delay="0"/>
                                          </p:stCondLst>
                                        </p:cTn>
                                        <p:tgtEl>
                                          <p:spTgt spid="1073"/>
                                        </p:tgtEl>
                                        <p:attrNameLst>
                                          <p:attrName>style.visibility</p:attrName>
                                        </p:attrNameLst>
                                      </p:cBhvr>
                                      <p:to>
                                        <p:strVal val="visible"/>
                                      </p:to>
                                    </p:set>
                                    <p:animEffect filter="fade" transition="in">
                                      <p:cBhvr additive="repl">
                                        <p:cTn id="1162" dur="400"/>
                                        <p:tgtEl>
                                          <p:spTgt spid="1073"/>
                                        </p:tgtEl>
                                      </p:cBhvr>
                                    </p:animEffect>
                                  </p:childTnLst>
                                </p:cTn>
                              </p:par>
                              <p:par>
                                <p:cTn id="1163" nodeType="withEffect" fill="hold" presetClass="entr" presetID="10">
                                  <p:stCondLst>
                                    <p:cond delay="1250"/>
                                  </p:stCondLst>
                                  <p:childTnLst>
                                    <p:set>
                                      <p:cBhvr>
                                        <p:cTn id="1164" dur="1" fill="hold">
                                          <p:stCondLst>
                                            <p:cond delay="0"/>
                                          </p:stCondLst>
                                        </p:cTn>
                                        <p:tgtEl>
                                          <p:spTgt spid="1074"/>
                                        </p:tgtEl>
                                        <p:attrNameLst>
                                          <p:attrName>style.visibility</p:attrName>
                                        </p:attrNameLst>
                                      </p:cBhvr>
                                      <p:to>
                                        <p:strVal val="visible"/>
                                      </p:to>
                                    </p:set>
                                    <p:animEffect filter="fade" transition="in">
                                      <p:cBhvr additive="repl">
                                        <p:cTn id="1165" dur="400"/>
                                        <p:tgtEl>
                                          <p:spTgt spid="1074"/>
                                        </p:tgtEl>
                                      </p:cBhvr>
                                    </p:animEffect>
                                  </p:childTnLst>
                                </p:cTn>
                              </p:par>
                              <p:par>
                                <p:cTn id="1166" nodeType="withEffect" fill="hold" presetClass="entr" presetID="10">
                                  <p:stCondLst>
                                    <p:cond delay="1250"/>
                                  </p:stCondLst>
                                  <p:childTnLst>
                                    <p:set>
                                      <p:cBhvr>
                                        <p:cTn id="1167" dur="1" fill="hold">
                                          <p:stCondLst>
                                            <p:cond delay="0"/>
                                          </p:stCondLst>
                                        </p:cTn>
                                        <p:tgtEl>
                                          <p:spTgt spid="1075"/>
                                        </p:tgtEl>
                                        <p:attrNameLst>
                                          <p:attrName>style.visibility</p:attrName>
                                        </p:attrNameLst>
                                      </p:cBhvr>
                                      <p:to>
                                        <p:strVal val="visible"/>
                                      </p:to>
                                    </p:set>
                                    <p:animEffect filter="fade" transition="in">
                                      <p:cBhvr additive="repl">
                                        <p:cTn id="1168" dur="400"/>
                                        <p:tgtEl>
                                          <p:spTgt spid="1075"/>
                                        </p:tgtEl>
                                      </p:cBhvr>
                                    </p:animEffect>
                                  </p:childTnLst>
                                </p:cTn>
                              </p:par>
                              <p:par>
                                <p:cTn id="1169" nodeType="withEffect" fill="hold" presetClass="entr" presetID="10">
                                  <p:stCondLst>
                                    <p:cond delay="1250"/>
                                  </p:stCondLst>
                                  <p:childTnLst>
                                    <p:set>
                                      <p:cBhvr>
                                        <p:cTn id="1170" dur="1" fill="hold">
                                          <p:stCondLst>
                                            <p:cond delay="0"/>
                                          </p:stCondLst>
                                        </p:cTn>
                                        <p:tgtEl>
                                          <p:spTgt spid="1076"/>
                                        </p:tgtEl>
                                        <p:attrNameLst>
                                          <p:attrName>style.visibility</p:attrName>
                                        </p:attrNameLst>
                                      </p:cBhvr>
                                      <p:to>
                                        <p:strVal val="visible"/>
                                      </p:to>
                                    </p:set>
                                    <p:animEffect filter="fade" transition="in">
                                      <p:cBhvr additive="repl">
                                        <p:cTn id="1171" dur="400"/>
                                        <p:tgtEl>
                                          <p:spTgt spid="1076"/>
                                        </p:tgtEl>
                                      </p:cBhvr>
                                    </p:animEffect>
                                  </p:childTnLst>
                                </p:cTn>
                              </p:par>
                              <p:par>
                                <p:cTn id="1172" nodeType="withEffect" fill="hold" presetClass="entr" presetID="10">
                                  <p:stCondLst>
                                    <p:cond delay="1250"/>
                                  </p:stCondLst>
                                  <p:childTnLst>
                                    <p:set>
                                      <p:cBhvr>
                                        <p:cTn id="1173" dur="1" fill="hold">
                                          <p:stCondLst>
                                            <p:cond delay="0"/>
                                          </p:stCondLst>
                                        </p:cTn>
                                        <p:tgtEl>
                                          <p:spTgt spid="1077"/>
                                        </p:tgtEl>
                                        <p:attrNameLst>
                                          <p:attrName>style.visibility</p:attrName>
                                        </p:attrNameLst>
                                      </p:cBhvr>
                                      <p:to>
                                        <p:strVal val="visible"/>
                                      </p:to>
                                    </p:set>
                                    <p:animEffect filter="fade" transition="in">
                                      <p:cBhvr additive="repl">
                                        <p:cTn id="1174" dur="400"/>
                                        <p:tgtEl>
                                          <p:spTgt spid="1077"/>
                                        </p:tgtEl>
                                      </p:cBhvr>
                                    </p:animEffect>
                                  </p:childTnLst>
                                </p:cTn>
                              </p:par>
                              <p:par>
                                <p:cTn id="1175" nodeType="withEffect" fill="hold" presetClass="entr" presetID="10">
                                  <p:stCondLst>
                                    <p:cond delay="1500"/>
                                  </p:stCondLst>
                                  <p:childTnLst>
                                    <p:set>
                                      <p:cBhvr>
                                        <p:cTn id="1176" dur="1" fill="hold">
                                          <p:stCondLst>
                                            <p:cond delay="0"/>
                                          </p:stCondLst>
                                        </p:cTn>
                                        <p:tgtEl>
                                          <p:spTgt spid="1078"/>
                                        </p:tgtEl>
                                        <p:attrNameLst>
                                          <p:attrName>style.visibility</p:attrName>
                                        </p:attrNameLst>
                                      </p:cBhvr>
                                      <p:to>
                                        <p:strVal val="visible"/>
                                      </p:to>
                                    </p:set>
                                    <p:animEffect filter="fade" transition="in">
                                      <p:cBhvr additive="repl">
                                        <p:cTn id="1177" dur="400"/>
                                        <p:tgtEl>
                                          <p:spTgt spid="1078"/>
                                        </p:tgtEl>
                                      </p:cBhvr>
                                    </p:animEffect>
                                  </p:childTnLst>
                                </p:cTn>
                              </p:par>
                              <p:par>
                                <p:cTn id="1178" nodeType="withEffect" fill="hold" presetClass="entr" presetID="10">
                                  <p:stCondLst>
                                    <p:cond delay="1500"/>
                                  </p:stCondLst>
                                  <p:childTnLst>
                                    <p:set>
                                      <p:cBhvr>
                                        <p:cTn id="1179" dur="1" fill="hold">
                                          <p:stCondLst>
                                            <p:cond delay="0"/>
                                          </p:stCondLst>
                                        </p:cTn>
                                        <p:tgtEl>
                                          <p:spTgt spid="1079"/>
                                        </p:tgtEl>
                                        <p:attrNameLst>
                                          <p:attrName>style.visibility</p:attrName>
                                        </p:attrNameLst>
                                      </p:cBhvr>
                                      <p:to>
                                        <p:strVal val="visible"/>
                                      </p:to>
                                    </p:set>
                                    <p:animEffect filter="fade" transition="in">
                                      <p:cBhvr additive="repl">
                                        <p:cTn id="1180" dur="400"/>
                                        <p:tgtEl>
                                          <p:spTgt spid="1079"/>
                                        </p:tgtEl>
                                      </p:cBhvr>
                                    </p:animEffect>
                                  </p:childTnLst>
                                </p:cTn>
                              </p:par>
                              <p:par>
                                <p:cTn id="1181" nodeType="withEffect" fill="hold" presetClass="entr" presetID="10">
                                  <p:stCondLst>
                                    <p:cond delay="1500"/>
                                  </p:stCondLst>
                                  <p:childTnLst>
                                    <p:set>
                                      <p:cBhvr>
                                        <p:cTn id="1182" dur="1" fill="hold">
                                          <p:stCondLst>
                                            <p:cond delay="0"/>
                                          </p:stCondLst>
                                        </p:cTn>
                                        <p:tgtEl>
                                          <p:spTgt spid="1080"/>
                                        </p:tgtEl>
                                        <p:attrNameLst>
                                          <p:attrName>style.visibility</p:attrName>
                                        </p:attrNameLst>
                                      </p:cBhvr>
                                      <p:to>
                                        <p:strVal val="visible"/>
                                      </p:to>
                                    </p:set>
                                    <p:animEffect filter="fade" transition="in">
                                      <p:cBhvr additive="repl">
                                        <p:cTn id="1183" dur="400"/>
                                        <p:tgtEl>
                                          <p:spTgt spid="1080"/>
                                        </p:tgtEl>
                                      </p:cBhvr>
                                    </p:animEffect>
                                  </p:childTnLst>
                                </p:cTn>
                              </p:par>
                              <p:par>
                                <p:cTn id="1184" nodeType="withEffect" fill="hold" presetClass="entr" presetID="10">
                                  <p:stCondLst>
                                    <p:cond delay="1500"/>
                                  </p:stCondLst>
                                  <p:childTnLst>
                                    <p:set>
                                      <p:cBhvr>
                                        <p:cTn id="1185" dur="1" fill="hold">
                                          <p:stCondLst>
                                            <p:cond delay="0"/>
                                          </p:stCondLst>
                                        </p:cTn>
                                        <p:tgtEl>
                                          <p:spTgt spid="1081"/>
                                        </p:tgtEl>
                                        <p:attrNameLst>
                                          <p:attrName>style.visibility</p:attrName>
                                        </p:attrNameLst>
                                      </p:cBhvr>
                                      <p:to>
                                        <p:strVal val="visible"/>
                                      </p:to>
                                    </p:set>
                                    <p:animEffect filter="fade" transition="in">
                                      <p:cBhvr additive="repl">
                                        <p:cTn id="1186" dur="400"/>
                                        <p:tgtEl>
                                          <p:spTgt spid="1081"/>
                                        </p:tgtEl>
                                      </p:cBhvr>
                                    </p:animEffect>
                                  </p:childTnLst>
                                </p:cTn>
                              </p:par>
                              <p:par>
                                <p:cTn id="1187" nodeType="withEffect" fill="hold" presetClass="entr" presetID="10">
                                  <p:stCondLst>
                                    <p:cond delay="1500"/>
                                  </p:stCondLst>
                                  <p:childTnLst>
                                    <p:set>
                                      <p:cBhvr>
                                        <p:cTn id="1188" dur="1" fill="hold">
                                          <p:stCondLst>
                                            <p:cond delay="0"/>
                                          </p:stCondLst>
                                        </p:cTn>
                                        <p:tgtEl>
                                          <p:spTgt spid="1082"/>
                                        </p:tgtEl>
                                        <p:attrNameLst>
                                          <p:attrName>style.visibility</p:attrName>
                                        </p:attrNameLst>
                                      </p:cBhvr>
                                      <p:to>
                                        <p:strVal val="visible"/>
                                      </p:to>
                                    </p:set>
                                    <p:animEffect filter="fade" transition="in">
                                      <p:cBhvr additive="repl">
                                        <p:cTn id="1189" dur="400"/>
                                        <p:tgtEl>
                                          <p:spTgt spid="1082"/>
                                        </p:tgtEl>
                                      </p:cBhvr>
                                    </p:animEffect>
                                  </p:childTnLst>
                                </p:cTn>
                              </p:par>
                              <p:par>
                                <p:cTn id="1190" nodeType="withEffect" fill="hold" presetClass="entr" presetID="10">
                                  <p:stCondLst>
                                    <p:cond delay="1500"/>
                                  </p:stCondLst>
                                  <p:childTnLst>
                                    <p:set>
                                      <p:cBhvr>
                                        <p:cTn id="1191" dur="1" fill="hold">
                                          <p:stCondLst>
                                            <p:cond delay="0"/>
                                          </p:stCondLst>
                                        </p:cTn>
                                        <p:tgtEl>
                                          <p:spTgt spid="1083"/>
                                        </p:tgtEl>
                                        <p:attrNameLst>
                                          <p:attrName>style.visibility</p:attrName>
                                        </p:attrNameLst>
                                      </p:cBhvr>
                                      <p:to>
                                        <p:strVal val="visible"/>
                                      </p:to>
                                    </p:set>
                                    <p:animEffect filter="fade" transition="in">
                                      <p:cBhvr additive="repl">
                                        <p:cTn id="1192" dur="400"/>
                                        <p:tgtEl>
                                          <p:spTgt spid="1083"/>
                                        </p:tgtEl>
                                      </p:cBhvr>
                                    </p:animEffect>
                                  </p:childTnLst>
                                </p:cTn>
                              </p:par>
                              <p:par>
                                <p:cTn id="1193" nodeType="withEffect" fill="hold" presetClass="entr" presetID="10">
                                  <p:stCondLst>
                                    <p:cond delay="1500"/>
                                  </p:stCondLst>
                                  <p:childTnLst>
                                    <p:set>
                                      <p:cBhvr>
                                        <p:cTn id="1194" dur="1" fill="hold">
                                          <p:stCondLst>
                                            <p:cond delay="0"/>
                                          </p:stCondLst>
                                        </p:cTn>
                                        <p:tgtEl>
                                          <p:spTgt spid="1084"/>
                                        </p:tgtEl>
                                        <p:attrNameLst>
                                          <p:attrName>style.visibility</p:attrName>
                                        </p:attrNameLst>
                                      </p:cBhvr>
                                      <p:to>
                                        <p:strVal val="visible"/>
                                      </p:to>
                                    </p:set>
                                    <p:animEffect filter="fade" transition="in">
                                      <p:cBhvr additive="repl">
                                        <p:cTn id="1195" dur="400"/>
                                        <p:tgtEl>
                                          <p:spTgt spid="1084"/>
                                        </p:tgtEl>
                                      </p:cBhvr>
                                    </p:animEffect>
                                  </p:childTnLst>
                                </p:cTn>
                              </p:par>
                              <p:par>
                                <p:cTn id="1196" nodeType="withEffect" fill="hold" presetClass="entr" presetID="10">
                                  <p:stCondLst>
                                    <p:cond delay="1500"/>
                                  </p:stCondLst>
                                  <p:childTnLst>
                                    <p:set>
                                      <p:cBhvr>
                                        <p:cTn id="1197" dur="1" fill="hold">
                                          <p:stCondLst>
                                            <p:cond delay="0"/>
                                          </p:stCondLst>
                                        </p:cTn>
                                        <p:tgtEl>
                                          <p:spTgt spid="1085"/>
                                        </p:tgtEl>
                                        <p:attrNameLst>
                                          <p:attrName>style.visibility</p:attrName>
                                        </p:attrNameLst>
                                      </p:cBhvr>
                                      <p:to>
                                        <p:strVal val="visible"/>
                                      </p:to>
                                    </p:set>
                                    <p:animEffect filter="fade" transition="in">
                                      <p:cBhvr additive="repl">
                                        <p:cTn id="1198" dur="400"/>
                                        <p:tgtEl>
                                          <p:spTgt spid="1085"/>
                                        </p:tgtEl>
                                      </p:cBhvr>
                                    </p:animEffect>
                                  </p:childTnLst>
                                </p:cTn>
                              </p:par>
                              <p:par>
                                <p:cTn id="1199" nodeType="withEffect" fill="hold" presetClass="entr" presetID="10">
                                  <p:stCondLst>
                                    <p:cond delay="1500"/>
                                  </p:stCondLst>
                                  <p:childTnLst>
                                    <p:set>
                                      <p:cBhvr>
                                        <p:cTn id="1200" dur="1" fill="hold">
                                          <p:stCondLst>
                                            <p:cond delay="0"/>
                                          </p:stCondLst>
                                        </p:cTn>
                                        <p:tgtEl>
                                          <p:spTgt spid="1086"/>
                                        </p:tgtEl>
                                        <p:attrNameLst>
                                          <p:attrName>style.visibility</p:attrName>
                                        </p:attrNameLst>
                                      </p:cBhvr>
                                      <p:to>
                                        <p:strVal val="visible"/>
                                      </p:to>
                                    </p:set>
                                    <p:animEffect filter="fade" transition="in">
                                      <p:cBhvr additive="repl">
                                        <p:cTn id="1201" dur="400"/>
                                        <p:tgtEl>
                                          <p:spTgt spid="1086"/>
                                        </p:tgtEl>
                                      </p:cBhvr>
                                    </p:animEffect>
                                  </p:childTnLst>
                                </p:cTn>
                              </p:par>
                              <p:par>
                                <p:cTn id="1202" nodeType="withEffect" fill="hold" presetClass="entr" presetID="10">
                                  <p:stCondLst>
                                    <p:cond delay="1500"/>
                                  </p:stCondLst>
                                  <p:childTnLst>
                                    <p:set>
                                      <p:cBhvr>
                                        <p:cTn id="1203" dur="1" fill="hold">
                                          <p:stCondLst>
                                            <p:cond delay="0"/>
                                          </p:stCondLst>
                                        </p:cTn>
                                        <p:tgtEl>
                                          <p:spTgt spid="1087"/>
                                        </p:tgtEl>
                                        <p:attrNameLst>
                                          <p:attrName>style.visibility</p:attrName>
                                        </p:attrNameLst>
                                      </p:cBhvr>
                                      <p:to>
                                        <p:strVal val="visible"/>
                                      </p:to>
                                    </p:set>
                                    <p:animEffect filter="fade" transition="in">
                                      <p:cBhvr additive="repl">
                                        <p:cTn id="1204" dur="400"/>
                                        <p:tgtEl>
                                          <p:spTgt spid="1087"/>
                                        </p:tgtEl>
                                      </p:cBhvr>
                                    </p:animEffect>
                                  </p:childTnLst>
                                </p:cTn>
                              </p:par>
                              <p:par>
                                <p:cTn id="1205" nodeType="withEffect" fill="hold" presetClass="entr" presetID="10">
                                  <p:stCondLst>
                                    <p:cond delay="1500"/>
                                  </p:stCondLst>
                                  <p:childTnLst>
                                    <p:set>
                                      <p:cBhvr>
                                        <p:cTn id="1206" dur="1" fill="hold">
                                          <p:stCondLst>
                                            <p:cond delay="0"/>
                                          </p:stCondLst>
                                        </p:cTn>
                                        <p:tgtEl>
                                          <p:spTgt spid="1088"/>
                                        </p:tgtEl>
                                        <p:attrNameLst>
                                          <p:attrName>style.visibility</p:attrName>
                                        </p:attrNameLst>
                                      </p:cBhvr>
                                      <p:to>
                                        <p:strVal val="visible"/>
                                      </p:to>
                                    </p:set>
                                    <p:animEffect filter="fade" transition="in">
                                      <p:cBhvr additive="repl">
                                        <p:cTn id="1207" dur="400"/>
                                        <p:tgtEl>
                                          <p:spTgt spid="1088"/>
                                        </p:tgtEl>
                                      </p:cBhvr>
                                    </p:animEffect>
                                  </p:childTnLst>
                                </p:cTn>
                              </p:par>
                              <p:par>
                                <p:cTn id="1208" nodeType="withEffect" fill="hold" presetClass="entr" presetID="10">
                                  <p:stCondLst>
                                    <p:cond delay="1500"/>
                                  </p:stCondLst>
                                  <p:childTnLst>
                                    <p:set>
                                      <p:cBhvr>
                                        <p:cTn id="1209" dur="1" fill="hold">
                                          <p:stCondLst>
                                            <p:cond delay="0"/>
                                          </p:stCondLst>
                                        </p:cTn>
                                        <p:tgtEl>
                                          <p:spTgt spid="1089"/>
                                        </p:tgtEl>
                                        <p:attrNameLst>
                                          <p:attrName>style.visibility</p:attrName>
                                        </p:attrNameLst>
                                      </p:cBhvr>
                                      <p:to>
                                        <p:strVal val="visible"/>
                                      </p:to>
                                    </p:set>
                                    <p:animEffect filter="fade" transition="in">
                                      <p:cBhvr additive="repl">
                                        <p:cTn id="1210" dur="400"/>
                                        <p:tgtEl>
                                          <p:spTgt spid="1089"/>
                                        </p:tgtEl>
                                      </p:cBhvr>
                                    </p:animEffect>
                                  </p:childTnLst>
                                </p:cTn>
                              </p:par>
                              <p:par>
                                <p:cTn id="1211" nodeType="withEffect" fill="hold" presetClass="entr" presetID="10">
                                  <p:stCondLst>
                                    <p:cond delay="1500"/>
                                  </p:stCondLst>
                                  <p:childTnLst>
                                    <p:set>
                                      <p:cBhvr>
                                        <p:cTn id="1212" dur="1" fill="hold">
                                          <p:stCondLst>
                                            <p:cond delay="0"/>
                                          </p:stCondLst>
                                        </p:cTn>
                                        <p:tgtEl>
                                          <p:spTgt spid="1090"/>
                                        </p:tgtEl>
                                        <p:attrNameLst>
                                          <p:attrName>style.visibility</p:attrName>
                                        </p:attrNameLst>
                                      </p:cBhvr>
                                      <p:to>
                                        <p:strVal val="visible"/>
                                      </p:to>
                                    </p:set>
                                    <p:animEffect filter="fade" transition="in">
                                      <p:cBhvr additive="repl">
                                        <p:cTn id="1213" dur="400"/>
                                        <p:tgtEl>
                                          <p:spTgt spid="1090"/>
                                        </p:tgtEl>
                                      </p:cBhvr>
                                    </p:animEffect>
                                  </p:childTnLst>
                                </p:cTn>
                              </p:par>
                              <p:par>
                                <p:cTn id="1214" nodeType="withEffect" fill="hold" presetClass="entr" presetID="10">
                                  <p:stCondLst>
                                    <p:cond delay="1500"/>
                                  </p:stCondLst>
                                  <p:childTnLst>
                                    <p:set>
                                      <p:cBhvr>
                                        <p:cTn id="1215" dur="1" fill="hold">
                                          <p:stCondLst>
                                            <p:cond delay="0"/>
                                          </p:stCondLst>
                                        </p:cTn>
                                        <p:tgtEl>
                                          <p:spTgt spid="1091"/>
                                        </p:tgtEl>
                                        <p:attrNameLst>
                                          <p:attrName>style.visibility</p:attrName>
                                        </p:attrNameLst>
                                      </p:cBhvr>
                                      <p:to>
                                        <p:strVal val="visible"/>
                                      </p:to>
                                    </p:set>
                                    <p:animEffect filter="fade" transition="in">
                                      <p:cBhvr additive="repl">
                                        <p:cTn id="1216" dur="400"/>
                                        <p:tgtEl>
                                          <p:spTgt spid="1091"/>
                                        </p:tgtEl>
                                      </p:cBhvr>
                                    </p:animEffect>
                                  </p:childTnLst>
                                </p:cTn>
                              </p:par>
                              <p:par>
                                <p:cTn id="1217" nodeType="withEffect" fill="hold" presetClass="entr" presetID="10">
                                  <p:stCondLst>
                                    <p:cond delay="1500"/>
                                  </p:stCondLst>
                                  <p:childTnLst>
                                    <p:set>
                                      <p:cBhvr>
                                        <p:cTn id="1218" dur="1" fill="hold">
                                          <p:stCondLst>
                                            <p:cond delay="0"/>
                                          </p:stCondLst>
                                        </p:cTn>
                                        <p:tgtEl>
                                          <p:spTgt spid="1092"/>
                                        </p:tgtEl>
                                        <p:attrNameLst>
                                          <p:attrName>style.visibility</p:attrName>
                                        </p:attrNameLst>
                                      </p:cBhvr>
                                      <p:to>
                                        <p:strVal val="visible"/>
                                      </p:to>
                                    </p:set>
                                    <p:animEffect filter="fade" transition="in">
                                      <p:cBhvr additive="repl">
                                        <p:cTn id="1219" dur="400"/>
                                        <p:tgtEl>
                                          <p:spTgt spid="1092"/>
                                        </p:tgtEl>
                                      </p:cBhvr>
                                    </p:animEffect>
                                  </p:childTnLst>
                                </p:cTn>
                              </p:par>
                              <p:par>
                                <p:cTn id="1220" nodeType="withEffect" fill="hold" presetClass="entr" presetID="10">
                                  <p:stCondLst>
                                    <p:cond delay="1500"/>
                                  </p:stCondLst>
                                  <p:childTnLst>
                                    <p:set>
                                      <p:cBhvr>
                                        <p:cTn id="1221" dur="1" fill="hold">
                                          <p:stCondLst>
                                            <p:cond delay="0"/>
                                          </p:stCondLst>
                                        </p:cTn>
                                        <p:tgtEl>
                                          <p:spTgt spid="1093"/>
                                        </p:tgtEl>
                                        <p:attrNameLst>
                                          <p:attrName>style.visibility</p:attrName>
                                        </p:attrNameLst>
                                      </p:cBhvr>
                                      <p:to>
                                        <p:strVal val="visible"/>
                                      </p:to>
                                    </p:set>
                                    <p:animEffect filter="fade" transition="in">
                                      <p:cBhvr additive="repl">
                                        <p:cTn id="1222" dur="400"/>
                                        <p:tgtEl>
                                          <p:spTgt spid="1093"/>
                                        </p:tgtEl>
                                      </p:cBhvr>
                                    </p:animEffect>
                                  </p:childTnLst>
                                </p:cTn>
                              </p:par>
                              <p:par>
                                <p:cTn id="1223" nodeType="withEffect" fill="hold" presetClass="entr" presetID="10">
                                  <p:stCondLst>
                                    <p:cond delay="1500"/>
                                  </p:stCondLst>
                                  <p:childTnLst>
                                    <p:set>
                                      <p:cBhvr>
                                        <p:cTn id="1224" dur="1" fill="hold">
                                          <p:stCondLst>
                                            <p:cond delay="0"/>
                                          </p:stCondLst>
                                        </p:cTn>
                                        <p:tgtEl>
                                          <p:spTgt spid="1094"/>
                                        </p:tgtEl>
                                        <p:attrNameLst>
                                          <p:attrName>style.visibility</p:attrName>
                                        </p:attrNameLst>
                                      </p:cBhvr>
                                      <p:to>
                                        <p:strVal val="visible"/>
                                      </p:to>
                                    </p:set>
                                    <p:animEffect filter="fade" transition="in">
                                      <p:cBhvr additive="repl">
                                        <p:cTn id="1225" dur="400"/>
                                        <p:tgtEl>
                                          <p:spTgt spid="1094"/>
                                        </p:tgtEl>
                                      </p:cBhvr>
                                    </p:animEffect>
                                  </p:childTnLst>
                                </p:cTn>
                              </p:par>
                              <p:par>
                                <p:cTn id="1226" nodeType="withEffect" fill="hold" presetClass="entr" presetID="10">
                                  <p:stCondLst>
                                    <p:cond delay="1500"/>
                                  </p:stCondLst>
                                  <p:childTnLst>
                                    <p:set>
                                      <p:cBhvr>
                                        <p:cTn id="1227" dur="1" fill="hold">
                                          <p:stCondLst>
                                            <p:cond delay="0"/>
                                          </p:stCondLst>
                                        </p:cTn>
                                        <p:tgtEl>
                                          <p:spTgt spid="1095"/>
                                        </p:tgtEl>
                                        <p:attrNameLst>
                                          <p:attrName>style.visibility</p:attrName>
                                        </p:attrNameLst>
                                      </p:cBhvr>
                                      <p:to>
                                        <p:strVal val="visible"/>
                                      </p:to>
                                    </p:set>
                                    <p:animEffect filter="fade" transition="in">
                                      <p:cBhvr additive="repl">
                                        <p:cTn id="1228" dur="400"/>
                                        <p:tgtEl>
                                          <p:spTgt spid="1095"/>
                                        </p:tgtEl>
                                      </p:cBhvr>
                                    </p:animEffect>
                                  </p:childTnLst>
                                </p:cTn>
                              </p:par>
                              <p:par>
                                <p:cTn id="1229" nodeType="withEffect" fill="hold" presetClass="entr" presetID="10">
                                  <p:stCondLst>
                                    <p:cond delay="1500"/>
                                  </p:stCondLst>
                                  <p:childTnLst>
                                    <p:set>
                                      <p:cBhvr>
                                        <p:cTn id="1230" dur="1" fill="hold">
                                          <p:stCondLst>
                                            <p:cond delay="0"/>
                                          </p:stCondLst>
                                        </p:cTn>
                                        <p:tgtEl>
                                          <p:spTgt spid="1096"/>
                                        </p:tgtEl>
                                        <p:attrNameLst>
                                          <p:attrName>style.visibility</p:attrName>
                                        </p:attrNameLst>
                                      </p:cBhvr>
                                      <p:to>
                                        <p:strVal val="visible"/>
                                      </p:to>
                                    </p:set>
                                    <p:animEffect filter="fade" transition="in">
                                      <p:cBhvr additive="repl">
                                        <p:cTn id="1231" dur="400"/>
                                        <p:tgtEl>
                                          <p:spTgt spid="1096"/>
                                        </p:tgtEl>
                                      </p:cBhvr>
                                    </p:animEffect>
                                  </p:childTnLst>
                                </p:cTn>
                              </p:par>
                              <p:par>
                                <p:cTn id="1232" nodeType="withEffect" fill="hold" presetClass="entr" presetID="10">
                                  <p:stCondLst>
                                    <p:cond delay="1500"/>
                                  </p:stCondLst>
                                  <p:childTnLst>
                                    <p:set>
                                      <p:cBhvr>
                                        <p:cTn id="1233" dur="1" fill="hold">
                                          <p:stCondLst>
                                            <p:cond delay="0"/>
                                          </p:stCondLst>
                                        </p:cTn>
                                        <p:tgtEl>
                                          <p:spTgt spid="1097"/>
                                        </p:tgtEl>
                                        <p:attrNameLst>
                                          <p:attrName>style.visibility</p:attrName>
                                        </p:attrNameLst>
                                      </p:cBhvr>
                                      <p:to>
                                        <p:strVal val="visible"/>
                                      </p:to>
                                    </p:set>
                                    <p:animEffect filter="fade" transition="in">
                                      <p:cBhvr additive="repl">
                                        <p:cTn id="1234" dur="400"/>
                                        <p:tgtEl>
                                          <p:spTgt spid="1097"/>
                                        </p:tgtEl>
                                      </p:cBhvr>
                                    </p:animEffect>
                                  </p:childTnLst>
                                </p:cTn>
                              </p:par>
                              <p:par>
                                <p:cTn id="1235" nodeType="withEffect" fill="hold" presetClass="entr" presetID="10">
                                  <p:stCondLst>
                                    <p:cond delay="1500"/>
                                  </p:stCondLst>
                                  <p:childTnLst>
                                    <p:set>
                                      <p:cBhvr>
                                        <p:cTn id="1236" dur="1" fill="hold">
                                          <p:stCondLst>
                                            <p:cond delay="0"/>
                                          </p:stCondLst>
                                        </p:cTn>
                                        <p:tgtEl>
                                          <p:spTgt spid="1098"/>
                                        </p:tgtEl>
                                        <p:attrNameLst>
                                          <p:attrName>style.visibility</p:attrName>
                                        </p:attrNameLst>
                                      </p:cBhvr>
                                      <p:to>
                                        <p:strVal val="visible"/>
                                      </p:to>
                                    </p:set>
                                    <p:animEffect filter="fade" transition="in">
                                      <p:cBhvr additive="repl">
                                        <p:cTn id="1237" dur="400"/>
                                        <p:tgtEl>
                                          <p:spTgt spid="1098"/>
                                        </p:tgtEl>
                                      </p:cBhvr>
                                    </p:animEffect>
                                  </p:childTnLst>
                                </p:cTn>
                              </p:par>
                              <p:par>
                                <p:cTn id="1238" nodeType="withEffect" fill="hold" presetClass="entr" presetID="10">
                                  <p:stCondLst>
                                    <p:cond delay="1500"/>
                                  </p:stCondLst>
                                  <p:childTnLst>
                                    <p:set>
                                      <p:cBhvr>
                                        <p:cTn id="1239" dur="1" fill="hold">
                                          <p:stCondLst>
                                            <p:cond delay="0"/>
                                          </p:stCondLst>
                                        </p:cTn>
                                        <p:tgtEl>
                                          <p:spTgt spid="1099"/>
                                        </p:tgtEl>
                                        <p:attrNameLst>
                                          <p:attrName>style.visibility</p:attrName>
                                        </p:attrNameLst>
                                      </p:cBhvr>
                                      <p:to>
                                        <p:strVal val="visible"/>
                                      </p:to>
                                    </p:set>
                                    <p:animEffect filter="fade" transition="in">
                                      <p:cBhvr additive="repl">
                                        <p:cTn id="1240" dur="400"/>
                                        <p:tgtEl>
                                          <p:spTgt spid="1099"/>
                                        </p:tgtEl>
                                      </p:cBhvr>
                                    </p:animEffect>
                                  </p:childTnLst>
                                </p:cTn>
                              </p:par>
                              <p:par>
                                <p:cTn id="1241" nodeType="withEffect" fill="hold" presetClass="entr" presetID="10">
                                  <p:stCondLst>
                                    <p:cond delay="1750"/>
                                  </p:stCondLst>
                                  <p:childTnLst>
                                    <p:set>
                                      <p:cBhvr>
                                        <p:cTn id="1242" dur="1" fill="hold">
                                          <p:stCondLst>
                                            <p:cond delay="0"/>
                                          </p:stCondLst>
                                        </p:cTn>
                                        <p:tgtEl>
                                          <p:spTgt spid="1100"/>
                                        </p:tgtEl>
                                        <p:attrNameLst>
                                          <p:attrName>style.visibility</p:attrName>
                                        </p:attrNameLst>
                                      </p:cBhvr>
                                      <p:to>
                                        <p:strVal val="visible"/>
                                      </p:to>
                                    </p:set>
                                    <p:animEffect filter="fade" transition="in">
                                      <p:cBhvr additive="repl">
                                        <p:cTn id="1243" dur="400"/>
                                        <p:tgtEl>
                                          <p:spTgt spid="1100"/>
                                        </p:tgtEl>
                                      </p:cBhvr>
                                    </p:animEffect>
                                  </p:childTnLst>
                                </p:cTn>
                              </p:par>
                              <p:par>
                                <p:cTn id="1244" nodeType="withEffect" fill="hold" presetClass="entr" presetID="10">
                                  <p:stCondLst>
                                    <p:cond delay="1750"/>
                                  </p:stCondLst>
                                  <p:childTnLst>
                                    <p:set>
                                      <p:cBhvr>
                                        <p:cTn id="1245" dur="1" fill="hold">
                                          <p:stCondLst>
                                            <p:cond delay="0"/>
                                          </p:stCondLst>
                                        </p:cTn>
                                        <p:tgtEl>
                                          <p:spTgt spid="1101"/>
                                        </p:tgtEl>
                                        <p:attrNameLst>
                                          <p:attrName>style.visibility</p:attrName>
                                        </p:attrNameLst>
                                      </p:cBhvr>
                                      <p:to>
                                        <p:strVal val="visible"/>
                                      </p:to>
                                    </p:set>
                                    <p:animEffect filter="fade" transition="in">
                                      <p:cBhvr additive="repl">
                                        <p:cTn id="1246" dur="400"/>
                                        <p:tgtEl>
                                          <p:spTgt spid="1101"/>
                                        </p:tgtEl>
                                      </p:cBhvr>
                                    </p:animEffect>
                                  </p:childTnLst>
                                </p:cTn>
                              </p:par>
                              <p:par>
                                <p:cTn id="1247" nodeType="withEffect" fill="hold" presetClass="entr" presetID="10">
                                  <p:stCondLst>
                                    <p:cond delay="1750"/>
                                  </p:stCondLst>
                                  <p:childTnLst>
                                    <p:set>
                                      <p:cBhvr>
                                        <p:cTn id="1248" dur="1" fill="hold">
                                          <p:stCondLst>
                                            <p:cond delay="0"/>
                                          </p:stCondLst>
                                        </p:cTn>
                                        <p:tgtEl>
                                          <p:spTgt spid="1102"/>
                                        </p:tgtEl>
                                        <p:attrNameLst>
                                          <p:attrName>style.visibility</p:attrName>
                                        </p:attrNameLst>
                                      </p:cBhvr>
                                      <p:to>
                                        <p:strVal val="visible"/>
                                      </p:to>
                                    </p:set>
                                    <p:animEffect filter="fade" transition="in">
                                      <p:cBhvr additive="repl">
                                        <p:cTn id="1249" dur="400"/>
                                        <p:tgtEl>
                                          <p:spTgt spid="1102"/>
                                        </p:tgtEl>
                                      </p:cBhvr>
                                    </p:animEffect>
                                  </p:childTnLst>
                                </p:cTn>
                              </p:par>
                              <p:par>
                                <p:cTn id="1250" nodeType="withEffect" fill="hold" presetClass="entr" presetID="10">
                                  <p:stCondLst>
                                    <p:cond delay="1750"/>
                                  </p:stCondLst>
                                  <p:childTnLst>
                                    <p:set>
                                      <p:cBhvr>
                                        <p:cTn id="1251" dur="1" fill="hold">
                                          <p:stCondLst>
                                            <p:cond delay="0"/>
                                          </p:stCondLst>
                                        </p:cTn>
                                        <p:tgtEl>
                                          <p:spTgt spid="1103"/>
                                        </p:tgtEl>
                                        <p:attrNameLst>
                                          <p:attrName>style.visibility</p:attrName>
                                        </p:attrNameLst>
                                      </p:cBhvr>
                                      <p:to>
                                        <p:strVal val="visible"/>
                                      </p:to>
                                    </p:set>
                                    <p:animEffect filter="fade" transition="in">
                                      <p:cBhvr additive="repl">
                                        <p:cTn id="1252" dur="400"/>
                                        <p:tgtEl>
                                          <p:spTgt spid="1103"/>
                                        </p:tgtEl>
                                      </p:cBhvr>
                                    </p:animEffect>
                                  </p:childTnLst>
                                </p:cTn>
                              </p:par>
                              <p:par>
                                <p:cTn id="1253" nodeType="withEffect" fill="hold" presetClass="entr" presetID="10">
                                  <p:stCondLst>
                                    <p:cond delay="1750"/>
                                  </p:stCondLst>
                                  <p:childTnLst>
                                    <p:set>
                                      <p:cBhvr>
                                        <p:cTn id="1254" dur="1" fill="hold">
                                          <p:stCondLst>
                                            <p:cond delay="0"/>
                                          </p:stCondLst>
                                        </p:cTn>
                                        <p:tgtEl>
                                          <p:spTgt spid="1104"/>
                                        </p:tgtEl>
                                        <p:attrNameLst>
                                          <p:attrName>style.visibility</p:attrName>
                                        </p:attrNameLst>
                                      </p:cBhvr>
                                      <p:to>
                                        <p:strVal val="visible"/>
                                      </p:to>
                                    </p:set>
                                    <p:animEffect filter="fade" transition="in">
                                      <p:cBhvr additive="repl">
                                        <p:cTn id="1255" dur="400"/>
                                        <p:tgtEl>
                                          <p:spTgt spid="1104"/>
                                        </p:tgtEl>
                                      </p:cBhvr>
                                    </p:animEffect>
                                  </p:childTnLst>
                                </p:cTn>
                              </p:par>
                              <p:par>
                                <p:cTn id="1256" nodeType="withEffect" fill="hold" presetClass="entr" presetID="10">
                                  <p:stCondLst>
                                    <p:cond delay="1750"/>
                                  </p:stCondLst>
                                  <p:childTnLst>
                                    <p:set>
                                      <p:cBhvr>
                                        <p:cTn id="1257" dur="1" fill="hold">
                                          <p:stCondLst>
                                            <p:cond delay="0"/>
                                          </p:stCondLst>
                                        </p:cTn>
                                        <p:tgtEl>
                                          <p:spTgt spid="1105"/>
                                        </p:tgtEl>
                                        <p:attrNameLst>
                                          <p:attrName>style.visibility</p:attrName>
                                        </p:attrNameLst>
                                      </p:cBhvr>
                                      <p:to>
                                        <p:strVal val="visible"/>
                                      </p:to>
                                    </p:set>
                                    <p:animEffect filter="fade" transition="in">
                                      <p:cBhvr additive="repl">
                                        <p:cTn id="1258" dur="400"/>
                                        <p:tgtEl>
                                          <p:spTgt spid="1105"/>
                                        </p:tgtEl>
                                      </p:cBhvr>
                                    </p:animEffect>
                                  </p:childTnLst>
                                </p:cTn>
                              </p:par>
                              <p:par>
                                <p:cTn id="1259" nodeType="withEffect" fill="hold" presetClass="entr" presetID="10">
                                  <p:stCondLst>
                                    <p:cond delay="1750"/>
                                  </p:stCondLst>
                                  <p:childTnLst>
                                    <p:set>
                                      <p:cBhvr>
                                        <p:cTn id="1260" dur="1" fill="hold">
                                          <p:stCondLst>
                                            <p:cond delay="0"/>
                                          </p:stCondLst>
                                        </p:cTn>
                                        <p:tgtEl>
                                          <p:spTgt spid="1106"/>
                                        </p:tgtEl>
                                        <p:attrNameLst>
                                          <p:attrName>style.visibility</p:attrName>
                                        </p:attrNameLst>
                                      </p:cBhvr>
                                      <p:to>
                                        <p:strVal val="visible"/>
                                      </p:to>
                                    </p:set>
                                    <p:animEffect filter="fade" transition="in">
                                      <p:cBhvr additive="repl">
                                        <p:cTn id="1261" dur="400"/>
                                        <p:tgtEl>
                                          <p:spTgt spid="1106"/>
                                        </p:tgtEl>
                                      </p:cBhvr>
                                    </p:animEffect>
                                  </p:childTnLst>
                                </p:cTn>
                              </p:par>
                              <p:par>
                                <p:cTn id="1262" nodeType="withEffect" fill="hold" presetClass="entr" presetID="10">
                                  <p:stCondLst>
                                    <p:cond delay="1750"/>
                                  </p:stCondLst>
                                  <p:childTnLst>
                                    <p:set>
                                      <p:cBhvr>
                                        <p:cTn id="1263" dur="1" fill="hold">
                                          <p:stCondLst>
                                            <p:cond delay="0"/>
                                          </p:stCondLst>
                                        </p:cTn>
                                        <p:tgtEl>
                                          <p:spTgt spid="1107"/>
                                        </p:tgtEl>
                                        <p:attrNameLst>
                                          <p:attrName>style.visibility</p:attrName>
                                        </p:attrNameLst>
                                      </p:cBhvr>
                                      <p:to>
                                        <p:strVal val="visible"/>
                                      </p:to>
                                    </p:set>
                                    <p:animEffect filter="fade" transition="in">
                                      <p:cBhvr additive="repl">
                                        <p:cTn id="1264" dur="400"/>
                                        <p:tgtEl>
                                          <p:spTgt spid="1107"/>
                                        </p:tgtEl>
                                      </p:cBhvr>
                                    </p:animEffect>
                                  </p:childTnLst>
                                </p:cTn>
                              </p:par>
                              <p:par>
                                <p:cTn id="1265" nodeType="withEffect" fill="hold" presetClass="entr" presetID="10">
                                  <p:stCondLst>
                                    <p:cond delay="1750"/>
                                  </p:stCondLst>
                                  <p:childTnLst>
                                    <p:set>
                                      <p:cBhvr>
                                        <p:cTn id="1266" dur="1" fill="hold">
                                          <p:stCondLst>
                                            <p:cond delay="0"/>
                                          </p:stCondLst>
                                        </p:cTn>
                                        <p:tgtEl>
                                          <p:spTgt spid="1108"/>
                                        </p:tgtEl>
                                        <p:attrNameLst>
                                          <p:attrName>style.visibility</p:attrName>
                                        </p:attrNameLst>
                                      </p:cBhvr>
                                      <p:to>
                                        <p:strVal val="visible"/>
                                      </p:to>
                                    </p:set>
                                    <p:animEffect filter="fade" transition="in">
                                      <p:cBhvr additive="repl">
                                        <p:cTn id="1267" dur="400"/>
                                        <p:tgtEl>
                                          <p:spTgt spid="1108"/>
                                        </p:tgtEl>
                                      </p:cBhvr>
                                    </p:animEffect>
                                  </p:childTnLst>
                                </p:cTn>
                              </p:par>
                              <p:par>
                                <p:cTn id="1268" nodeType="withEffect" fill="hold" presetClass="entr" presetID="10">
                                  <p:stCondLst>
                                    <p:cond delay="1750"/>
                                  </p:stCondLst>
                                  <p:childTnLst>
                                    <p:set>
                                      <p:cBhvr>
                                        <p:cTn id="1269" dur="1" fill="hold">
                                          <p:stCondLst>
                                            <p:cond delay="0"/>
                                          </p:stCondLst>
                                        </p:cTn>
                                        <p:tgtEl>
                                          <p:spTgt spid="1109"/>
                                        </p:tgtEl>
                                        <p:attrNameLst>
                                          <p:attrName>style.visibility</p:attrName>
                                        </p:attrNameLst>
                                      </p:cBhvr>
                                      <p:to>
                                        <p:strVal val="visible"/>
                                      </p:to>
                                    </p:set>
                                    <p:animEffect filter="fade" transition="in">
                                      <p:cBhvr additive="repl">
                                        <p:cTn id="1270" dur="400"/>
                                        <p:tgtEl>
                                          <p:spTgt spid="1109"/>
                                        </p:tgtEl>
                                      </p:cBhvr>
                                    </p:animEffect>
                                  </p:childTnLst>
                                </p:cTn>
                              </p:par>
                              <p:par>
                                <p:cTn id="1271" nodeType="withEffect" fill="hold" presetClass="entr" presetID="10">
                                  <p:stCondLst>
                                    <p:cond delay="1750"/>
                                  </p:stCondLst>
                                  <p:childTnLst>
                                    <p:set>
                                      <p:cBhvr>
                                        <p:cTn id="1272" dur="1" fill="hold">
                                          <p:stCondLst>
                                            <p:cond delay="0"/>
                                          </p:stCondLst>
                                        </p:cTn>
                                        <p:tgtEl>
                                          <p:spTgt spid="1110"/>
                                        </p:tgtEl>
                                        <p:attrNameLst>
                                          <p:attrName>style.visibility</p:attrName>
                                        </p:attrNameLst>
                                      </p:cBhvr>
                                      <p:to>
                                        <p:strVal val="visible"/>
                                      </p:to>
                                    </p:set>
                                    <p:animEffect filter="fade" transition="in">
                                      <p:cBhvr additive="repl">
                                        <p:cTn id="1273" dur="400"/>
                                        <p:tgtEl>
                                          <p:spTgt spid="1110"/>
                                        </p:tgtEl>
                                      </p:cBhvr>
                                    </p:animEffect>
                                  </p:childTnLst>
                                </p:cTn>
                              </p:par>
                              <p:par>
                                <p:cTn id="1274" nodeType="withEffect" fill="hold" presetClass="entr" presetID="10">
                                  <p:stCondLst>
                                    <p:cond delay="1750"/>
                                  </p:stCondLst>
                                  <p:childTnLst>
                                    <p:set>
                                      <p:cBhvr>
                                        <p:cTn id="1275" dur="1" fill="hold">
                                          <p:stCondLst>
                                            <p:cond delay="0"/>
                                          </p:stCondLst>
                                        </p:cTn>
                                        <p:tgtEl>
                                          <p:spTgt spid="1111"/>
                                        </p:tgtEl>
                                        <p:attrNameLst>
                                          <p:attrName>style.visibility</p:attrName>
                                        </p:attrNameLst>
                                      </p:cBhvr>
                                      <p:to>
                                        <p:strVal val="visible"/>
                                      </p:to>
                                    </p:set>
                                    <p:animEffect filter="fade" transition="in">
                                      <p:cBhvr additive="repl">
                                        <p:cTn id="1276" dur="400"/>
                                        <p:tgtEl>
                                          <p:spTgt spid="1111"/>
                                        </p:tgtEl>
                                      </p:cBhvr>
                                    </p:animEffect>
                                  </p:childTnLst>
                                </p:cTn>
                              </p:par>
                              <p:par>
                                <p:cTn id="1277" nodeType="withEffect" fill="hold" presetClass="entr" presetID="10">
                                  <p:stCondLst>
                                    <p:cond delay="1750"/>
                                  </p:stCondLst>
                                  <p:childTnLst>
                                    <p:set>
                                      <p:cBhvr>
                                        <p:cTn id="1278" dur="1" fill="hold">
                                          <p:stCondLst>
                                            <p:cond delay="0"/>
                                          </p:stCondLst>
                                        </p:cTn>
                                        <p:tgtEl>
                                          <p:spTgt spid="1112"/>
                                        </p:tgtEl>
                                        <p:attrNameLst>
                                          <p:attrName>style.visibility</p:attrName>
                                        </p:attrNameLst>
                                      </p:cBhvr>
                                      <p:to>
                                        <p:strVal val="visible"/>
                                      </p:to>
                                    </p:set>
                                    <p:animEffect filter="fade" transition="in">
                                      <p:cBhvr additive="repl">
                                        <p:cTn id="1279" dur="400"/>
                                        <p:tgtEl>
                                          <p:spTgt spid="1112"/>
                                        </p:tgtEl>
                                      </p:cBhvr>
                                    </p:animEffect>
                                  </p:childTnLst>
                                </p:cTn>
                              </p:par>
                              <p:par>
                                <p:cTn id="1280" nodeType="withEffect" fill="hold" presetClass="entr" presetID="10">
                                  <p:stCondLst>
                                    <p:cond delay="1750"/>
                                  </p:stCondLst>
                                  <p:childTnLst>
                                    <p:set>
                                      <p:cBhvr>
                                        <p:cTn id="1281" dur="1" fill="hold">
                                          <p:stCondLst>
                                            <p:cond delay="0"/>
                                          </p:stCondLst>
                                        </p:cTn>
                                        <p:tgtEl>
                                          <p:spTgt spid="1113"/>
                                        </p:tgtEl>
                                        <p:attrNameLst>
                                          <p:attrName>style.visibility</p:attrName>
                                        </p:attrNameLst>
                                      </p:cBhvr>
                                      <p:to>
                                        <p:strVal val="visible"/>
                                      </p:to>
                                    </p:set>
                                    <p:animEffect filter="fade" transition="in">
                                      <p:cBhvr additive="repl">
                                        <p:cTn id="1282" dur="400"/>
                                        <p:tgtEl>
                                          <p:spTgt spid="1113"/>
                                        </p:tgtEl>
                                      </p:cBhvr>
                                    </p:animEffect>
                                  </p:childTnLst>
                                </p:cTn>
                              </p:par>
                              <p:par>
                                <p:cTn id="1283" nodeType="withEffect" fill="hold" presetClass="entr" presetID="10">
                                  <p:stCondLst>
                                    <p:cond delay="1750"/>
                                  </p:stCondLst>
                                  <p:childTnLst>
                                    <p:set>
                                      <p:cBhvr>
                                        <p:cTn id="1284" dur="1" fill="hold">
                                          <p:stCondLst>
                                            <p:cond delay="0"/>
                                          </p:stCondLst>
                                        </p:cTn>
                                        <p:tgtEl>
                                          <p:spTgt spid="1114"/>
                                        </p:tgtEl>
                                        <p:attrNameLst>
                                          <p:attrName>style.visibility</p:attrName>
                                        </p:attrNameLst>
                                      </p:cBhvr>
                                      <p:to>
                                        <p:strVal val="visible"/>
                                      </p:to>
                                    </p:set>
                                    <p:animEffect filter="fade" transition="in">
                                      <p:cBhvr additive="repl">
                                        <p:cTn id="1285" dur="400"/>
                                        <p:tgtEl>
                                          <p:spTgt spid="1114"/>
                                        </p:tgtEl>
                                      </p:cBhvr>
                                    </p:animEffect>
                                  </p:childTnLst>
                                </p:cTn>
                              </p:par>
                              <p:par>
                                <p:cTn id="1286" nodeType="withEffect" fill="hold" presetClass="entr" presetID="10">
                                  <p:stCondLst>
                                    <p:cond delay="1750"/>
                                  </p:stCondLst>
                                  <p:childTnLst>
                                    <p:set>
                                      <p:cBhvr>
                                        <p:cTn id="1287" dur="1" fill="hold">
                                          <p:stCondLst>
                                            <p:cond delay="0"/>
                                          </p:stCondLst>
                                        </p:cTn>
                                        <p:tgtEl>
                                          <p:spTgt spid="1115"/>
                                        </p:tgtEl>
                                        <p:attrNameLst>
                                          <p:attrName>style.visibility</p:attrName>
                                        </p:attrNameLst>
                                      </p:cBhvr>
                                      <p:to>
                                        <p:strVal val="visible"/>
                                      </p:to>
                                    </p:set>
                                    <p:animEffect filter="fade" transition="in">
                                      <p:cBhvr additive="repl">
                                        <p:cTn id="1288" dur="400"/>
                                        <p:tgtEl>
                                          <p:spTgt spid="1115"/>
                                        </p:tgtEl>
                                      </p:cBhvr>
                                    </p:animEffect>
                                  </p:childTnLst>
                                </p:cTn>
                              </p:par>
                              <p:par>
                                <p:cTn id="1289" nodeType="withEffect" fill="hold" presetClass="entr" presetID="10">
                                  <p:stCondLst>
                                    <p:cond delay="1750"/>
                                  </p:stCondLst>
                                  <p:childTnLst>
                                    <p:set>
                                      <p:cBhvr>
                                        <p:cTn id="1290" dur="1" fill="hold">
                                          <p:stCondLst>
                                            <p:cond delay="0"/>
                                          </p:stCondLst>
                                        </p:cTn>
                                        <p:tgtEl>
                                          <p:spTgt spid="1116"/>
                                        </p:tgtEl>
                                        <p:attrNameLst>
                                          <p:attrName>style.visibility</p:attrName>
                                        </p:attrNameLst>
                                      </p:cBhvr>
                                      <p:to>
                                        <p:strVal val="visible"/>
                                      </p:to>
                                    </p:set>
                                    <p:animEffect filter="fade" transition="in">
                                      <p:cBhvr additive="repl">
                                        <p:cTn id="1291" dur="400"/>
                                        <p:tgtEl>
                                          <p:spTgt spid="1116"/>
                                        </p:tgtEl>
                                      </p:cBhvr>
                                    </p:animEffect>
                                  </p:childTnLst>
                                </p:cTn>
                              </p:par>
                              <p:par>
                                <p:cTn id="1292" nodeType="withEffect" fill="hold" presetClass="entr" presetID="10">
                                  <p:stCondLst>
                                    <p:cond delay="1750"/>
                                  </p:stCondLst>
                                  <p:childTnLst>
                                    <p:set>
                                      <p:cBhvr>
                                        <p:cTn id="1293" dur="1" fill="hold">
                                          <p:stCondLst>
                                            <p:cond delay="0"/>
                                          </p:stCondLst>
                                        </p:cTn>
                                        <p:tgtEl>
                                          <p:spTgt spid="1117"/>
                                        </p:tgtEl>
                                        <p:attrNameLst>
                                          <p:attrName>style.visibility</p:attrName>
                                        </p:attrNameLst>
                                      </p:cBhvr>
                                      <p:to>
                                        <p:strVal val="visible"/>
                                      </p:to>
                                    </p:set>
                                    <p:animEffect filter="fade" transition="in">
                                      <p:cBhvr additive="repl">
                                        <p:cTn id="1294" dur="400"/>
                                        <p:tgtEl>
                                          <p:spTgt spid="1117"/>
                                        </p:tgtEl>
                                      </p:cBhvr>
                                    </p:animEffect>
                                  </p:childTnLst>
                                </p:cTn>
                              </p:par>
                              <p:par>
                                <p:cTn id="1295" nodeType="withEffect" fill="hold" presetClass="entr" presetID="10">
                                  <p:stCondLst>
                                    <p:cond delay="1750"/>
                                  </p:stCondLst>
                                  <p:childTnLst>
                                    <p:set>
                                      <p:cBhvr>
                                        <p:cTn id="1296" dur="1" fill="hold">
                                          <p:stCondLst>
                                            <p:cond delay="0"/>
                                          </p:stCondLst>
                                        </p:cTn>
                                        <p:tgtEl>
                                          <p:spTgt spid="1118"/>
                                        </p:tgtEl>
                                        <p:attrNameLst>
                                          <p:attrName>style.visibility</p:attrName>
                                        </p:attrNameLst>
                                      </p:cBhvr>
                                      <p:to>
                                        <p:strVal val="visible"/>
                                      </p:to>
                                    </p:set>
                                    <p:animEffect filter="fade" transition="in">
                                      <p:cBhvr additive="repl">
                                        <p:cTn id="1297" dur="400"/>
                                        <p:tgtEl>
                                          <p:spTgt spid="1118"/>
                                        </p:tgtEl>
                                      </p:cBhvr>
                                    </p:animEffect>
                                  </p:childTnLst>
                                </p:cTn>
                              </p:par>
                              <p:par>
                                <p:cTn id="1298" nodeType="withEffect" fill="hold" presetClass="entr" presetID="10">
                                  <p:stCondLst>
                                    <p:cond delay="1750"/>
                                  </p:stCondLst>
                                  <p:childTnLst>
                                    <p:set>
                                      <p:cBhvr>
                                        <p:cTn id="1299" dur="1" fill="hold">
                                          <p:stCondLst>
                                            <p:cond delay="0"/>
                                          </p:stCondLst>
                                        </p:cTn>
                                        <p:tgtEl>
                                          <p:spTgt spid="1119"/>
                                        </p:tgtEl>
                                        <p:attrNameLst>
                                          <p:attrName>style.visibility</p:attrName>
                                        </p:attrNameLst>
                                      </p:cBhvr>
                                      <p:to>
                                        <p:strVal val="visible"/>
                                      </p:to>
                                    </p:set>
                                    <p:animEffect filter="fade" transition="in">
                                      <p:cBhvr additive="repl">
                                        <p:cTn id="1300" dur="400"/>
                                        <p:tgtEl>
                                          <p:spTgt spid="1119"/>
                                        </p:tgtEl>
                                      </p:cBhvr>
                                    </p:animEffect>
                                  </p:childTnLst>
                                </p:cTn>
                              </p:par>
                              <p:par>
                                <p:cTn id="1301" nodeType="withEffect" fill="hold" presetClass="entr" presetID="10">
                                  <p:stCondLst>
                                    <p:cond delay="1750"/>
                                  </p:stCondLst>
                                  <p:childTnLst>
                                    <p:set>
                                      <p:cBhvr>
                                        <p:cTn id="1302" dur="1" fill="hold">
                                          <p:stCondLst>
                                            <p:cond delay="0"/>
                                          </p:stCondLst>
                                        </p:cTn>
                                        <p:tgtEl>
                                          <p:spTgt spid="1120"/>
                                        </p:tgtEl>
                                        <p:attrNameLst>
                                          <p:attrName>style.visibility</p:attrName>
                                        </p:attrNameLst>
                                      </p:cBhvr>
                                      <p:to>
                                        <p:strVal val="visible"/>
                                      </p:to>
                                    </p:set>
                                    <p:animEffect filter="fade" transition="in">
                                      <p:cBhvr additive="repl">
                                        <p:cTn id="1303" dur="400"/>
                                        <p:tgtEl>
                                          <p:spTgt spid="1120"/>
                                        </p:tgtEl>
                                      </p:cBhvr>
                                    </p:animEffect>
                                  </p:childTnLst>
                                </p:cTn>
                              </p:par>
                              <p:par>
                                <p:cTn id="1304" nodeType="withEffect" fill="hold" presetClass="entr" presetID="10">
                                  <p:stCondLst>
                                    <p:cond delay="1750"/>
                                  </p:stCondLst>
                                  <p:childTnLst>
                                    <p:set>
                                      <p:cBhvr>
                                        <p:cTn id="1305" dur="1" fill="hold">
                                          <p:stCondLst>
                                            <p:cond delay="0"/>
                                          </p:stCondLst>
                                        </p:cTn>
                                        <p:tgtEl>
                                          <p:spTgt spid="1121"/>
                                        </p:tgtEl>
                                        <p:attrNameLst>
                                          <p:attrName>style.visibility</p:attrName>
                                        </p:attrNameLst>
                                      </p:cBhvr>
                                      <p:to>
                                        <p:strVal val="visible"/>
                                      </p:to>
                                    </p:set>
                                    <p:animEffect filter="fade" transition="in">
                                      <p:cBhvr additive="repl">
                                        <p:cTn id="1306" dur="400"/>
                                        <p:tgtEl>
                                          <p:spTgt spid="1121"/>
                                        </p:tgtEl>
                                      </p:cBhvr>
                                    </p:animEffect>
                                  </p:childTnLst>
                                </p:cTn>
                              </p:par>
                              <p:par>
                                <p:cTn id="1307" nodeType="withEffect" fill="hold" presetClass="entr" presetID="10">
                                  <p:stCondLst>
                                    <p:cond delay="2000"/>
                                  </p:stCondLst>
                                  <p:childTnLst>
                                    <p:set>
                                      <p:cBhvr>
                                        <p:cTn id="1308" dur="1" fill="hold">
                                          <p:stCondLst>
                                            <p:cond delay="0"/>
                                          </p:stCondLst>
                                        </p:cTn>
                                        <p:tgtEl>
                                          <p:spTgt spid="1122"/>
                                        </p:tgtEl>
                                        <p:attrNameLst>
                                          <p:attrName>style.visibility</p:attrName>
                                        </p:attrNameLst>
                                      </p:cBhvr>
                                      <p:to>
                                        <p:strVal val="visible"/>
                                      </p:to>
                                    </p:set>
                                    <p:animEffect filter="fade" transition="in">
                                      <p:cBhvr additive="repl">
                                        <p:cTn id="1309" dur="400"/>
                                        <p:tgtEl>
                                          <p:spTgt spid="1122"/>
                                        </p:tgtEl>
                                      </p:cBhvr>
                                    </p:animEffect>
                                  </p:childTnLst>
                                </p:cTn>
                              </p:par>
                              <p:par>
                                <p:cTn id="1310" nodeType="withEffect" fill="hold" presetClass="entr" presetID="10">
                                  <p:stCondLst>
                                    <p:cond delay="2000"/>
                                  </p:stCondLst>
                                  <p:childTnLst>
                                    <p:set>
                                      <p:cBhvr>
                                        <p:cTn id="1311" dur="1" fill="hold">
                                          <p:stCondLst>
                                            <p:cond delay="0"/>
                                          </p:stCondLst>
                                        </p:cTn>
                                        <p:tgtEl>
                                          <p:spTgt spid="1123"/>
                                        </p:tgtEl>
                                        <p:attrNameLst>
                                          <p:attrName>style.visibility</p:attrName>
                                        </p:attrNameLst>
                                      </p:cBhvr>
                                      <p:to>
                                        <p:strVal val="visible"/>
                                      </p:to>
                                    </p:set>
                                    <p:animEffect filter="fade" transition="in">
                                      <p:cBhvr additive="repl">
                                        <p:cTn id="1312" dur="400"/>
                                        <p:tgtEl>
                                          <p:spTgt spid="1123"/>
                                        </p:tgtEl>
                                      </p:cBhvr>
                                    </p:animEffect>
                                  </p:childTnLst>
                                </p:cTn>
                              </p:par>
                              <p:par>
                                <p:cTn id="1313" nodeType="withEffect" fill="hold" presetClass="entr" presetID="10">
                                  <p:stCondLst>
                                    <p:cond delay="2000"/>
                                  </p:stCondLst>
                                  <p:childTnLst>
                                    <p:set>
                                      <p:cBhvr>
                                        <p:cTn id="1314" dur="1" fill="hold">
                                          <p:stCondLst>
                                            <p:cond delay="0"/>
                                          </p:stCondLst>
                                        </p:cTn>
                                        <p:tgtEl>
                                          <p:spTgt spid="1124"/>
                                        </p:tgtEl>
                                        <p:attrNameLst>
                                          <p:attrName>style.visibility</p:attrName>
                                        </p:attrNameLst>
                                      </p:cBhvr>
                                      <p:to>
                                        <p:strVal val="visible"/>
                                      </p:to>
                                    </p:set>
                                    <p:animEffect filter="fade" transition="in">
                                      <p:cBhvr additive="repl">
                                        <p:cTn id="1315" dur="400"/>
                                        <p:tgtEl>
                                          <p:spTgt spid="1124"/>
                                        </p:tgtEl>
                                      </p:cBhvr>
                                    </p:animEffect>
                                  </p:childTnLst>
                                </p:cTn>
                              </p:par>
                              <p:par>
                                <p:cTn id="1316" nodeType="withEffect" fill="hold" presetClass="entr" presetID="10">
                                  <p:stCondLst>
                                    <p:cond delay="2000"/>
                                  </p:stCondLst>
                                  <p:childTnLst>
                                    <p:set>
                                      <p:cBhvr>
                                        <p:cTn id="1317" dur="1" fill="hold">
                                          <p:stCondLst>
                                            <p:cond delay="0"/>
                                          </p:stCondLst>
                                        </p:cTn>
                                        <p:tgtEl>
                                          <p:spTgt spid="1125"/>
                                        </p:tgtEl>
                                        <p:attrNameLst>
                                          <p:attrName>style.visibility</p:attrName>
                                        </p:attrNameLst>
                                      </p:cBhvr>
                                      <p:to>
                                        <p:strVal val="visible"/>
                                      </p:to>
                                    </p:set>
                                    <p:animEffect filter="fade" transition="in">
                                      <p:cBhvr additive="repl">
                                        <p:cTn id="1318" dur="400"/>
                                        <p:tgtEl>
                                          <p:spTgt spid="1125"/>
                                        </p:tgtEl>
                                      </p:cBhvr>
                                    </p:animEffect>
                                  </p:childTnLst>
                                </p:cTn>
                              </p:par>
                              <p:par>
                                <p:cTn id="1319" nodeType="withEffect" fill="hold" presetClass="entr" presetID="10">
                                  <p:stCondLst>
                                    <p:cond delay="2000"/>
                                  </p:stCondLst>
                                  <p:childTnLst>
                                    <p:set>
                                      <p:cBhvr>
                                        <p:cTn id="1320" dur="1" fill="hold">
                                          <p:stCondLst>
                                            <p:cond delay="0"/>
                                          </p:stCondLst>
                                        </p:cTn>
                                        <p:tgtEl>
                                          <p:spTgt spid="1126"/>
                                        </p:tgtEl>
                                        <p:attrNameLst>
                                          <p:attrName>style.visibility</p:attrName>
                                        </p:attrNameLst>
                                      </p:cBhvr>
                                      <p:to>
                                        <p:strVal val="visible"/>
                                      </p:to>
                                    </p:set>
                                    <p:animEffect filter="fade" transition="in">
                                      <p:cBhvr additive="repl">
                                        <p:cTn id="1321" dur="400"/>
                                        <p:tgtEl>
                                          <p:spTgt spid="1126"/>
                                        </p:tgtEl>
                                      </p:cBhvr>
                                    </p:animEffect>
                                  </p:childTnLst>
                                </p:cTn>
                              </p:par>
                              <p:par>
                                <p:cTn id="1322" nodeType="withEffect" fill="hold" presetClass="entr" presetID="10">
                                  <p:stCondLst>
                                    <p:cond delay="2000"/>
                                  </p:stCondLst>
                                  <p:childTnLst>
                                    <p:set>
                                      <p:cBhvr>
                                        <p:cTn id="1323" dur="1" fill="hold">
                                          <p:stCondLst>
                                            <p:cond delay="0"/>
                                          </p:stCondLst>
                                        </p:cTn>
                                        <p:tgtEl>
                                          <p:spTgt spid="1127"/>
                                        </p:tgtEl>
                                        <p:attrNameLst>
                                          <p:attrName>style.visibility</p:attrName>
                                        </p:attrNameLst>
                                      </p:cBhvr>
                                      <p:to>
                                        <p:strVal val="visible"/>
                                      </p:to>
                                    </p:set>
                                    <p:animEffect filter="fade" transition="in">
                                      <p:cBhvr additive="repl">
                                        <p:cTn id="1324" dur="400"/>
                                        <p:tgtEl>
                                          <p:spTgt spid="1127"/>
                                        </p:tgtEl>
                                      </p:cBhvr>
                                    </p:animEffect>
                                  </p:childTnLst>
                                </p:cTn>
                              </p:par>
                              <p:par>
                                <p:cTn id="1325" nodeType="withEffect" fill="hold" presetClass="entr" presetID="10">
                                  <p:stCondLst>
                                    <p:cond delay="2000"/>
                                  </p:stCondLst>
                                  <p:childTnLst>
                                    <p:set>
                                      <p:cBhvr>
                                        <p:cTn id="1326" dur="1" fill="hold">
                                          <p:stCondLst>
                                            <p:cond delay="0"/>
                                          </p:stCondLst>
                                        </p:cTn>
                                        <p:tgtEl>
                                          <p:spTgt spid="1128"/>
                                        </p:tgtEl>
                                        <p:attrNameLst>
                                          <p:attrName>style.visibility</p:attrName>
                                        </p:attrNameLst>
                                      </p:cBhvr>
                                      <p:to>
                                        <p:strVal val="visible"/>
                                      </p:to>
                                    </p:set>
                                    <p:animEffect filter="fade" transition="in">
                                      <p:cBhvr additive="repl">
                                        <p:cTn id="1327" dur="400"/>
                                        <p:tgtEl>
                                          <p:spTgt spid="1128"/>
                                        </p:tgtEl>
                                      </p:cBhvr>
                                    </p:animEffect>
                                  </p:childTnLst>
                                </p:cTn>
                              </p:par>
                              <p:par>
                                <p:cTn id="1328" nodeType="withEffect" fill="hold" presetClass="entr" presetID="10">
                                  <p:stCondLst>
                                    <p:cond delay="2000"/>
                                  </p:stCondLst>
                                  <p:childTnLst>
                                    <p:set>
                                      <p:cBhvr>
                                        <p:cTn id="1329" dur="1" fill="hold">
                                          <p:stCondLst>
                                            <p:cond delay="0"/>
                                          </p:stCondLst>
                                        </p:cTn>
                                        <p:tgtEl>
                                          <p:spTgt spid="1129"/>
                                        </p:tgtEl>
                                        <p:attrNameLst>
                                          <p:attrName>style.visibility</p:attrName>
                                        </p:attrNameLst>
                                      </p:cBhvr>
                                      <p:to>
                                        <p:strVal val="visible"/>
                                      </p:to>
                                    </p:set>
                                    <p:animEffect filter="fade" transition="in">
                                      <p:cBhvr additive="repl">
                                        <p:cTn id="1330" dur="400"/>
                                        <p:tgtEl>
                                          <p:spTgt spid="1129"/>
                                        </p:tgtEl>
                                      </p:cBhvr>
                                    </p:animEffect>
                                  </p:childTnLst>
                                </p:cTn>
                              </p:par>
                              <p:par>
                                <p:cTn id="1331" nodeType="withEffect" fill="hold" presetClass="entr" presetID="10">
                                  <p:stCondLst>
                                    <p:cond delay="2000"/>
                                  </p:stCondLst>
                                  <p:childTnLst>
                                    <p:set>
                                      <p:cBhvr>
                                        <p:cTn id="1332" dur="1" fill="hold">
                                          <p:stCondLst>
                                            <p:cond delay="0"/>
                                          </p:stCondLst>
                                        </p:cTn>
                                        <p:tgtEl>
                                          <p:spTgt spid="1130"/>
                                        </p:tgtEl>
                                        <p:attrNameLst>
                                          <p:attrName>style.visibility</p:attrName>
                                        </p:attrNameLst>
                                      </p:cBhvr>
                                      <p:to>
                                        <p:strVal val="visible"/>
                                      </p:to>
                                    </p:set>
                                    <p:animEffect filter="fade" transition="in">
                                      <p:cBhvr additive="repl">
                                        <p:cTn id="1333" dur="400"/>
                                        <p:tgtEl>
                                          <p:spTgt spid="1130"/>
                                        </p:tgtEl>
                                      </p:cBhvr>
                                    </p:animEffect>
                                  </p:childTnLst>
                                </p:cTn>
                              </p:par>
                              <p:par>
                                <p:cTn id="1334" nodeType="withEffect" fill="hold" presetClass="entr" presetID="10">
                                  <p:stCondLst>
                                    <p:cond delay="2000"/>
                                  </p:stCondLst>
                                  <p:childTnLst>
                                    <p:set>
                                      <p:cBhvr>
                                        <p:cTn id="1335" dur="1" fill="hold">
                                          <p:stCondLst>
                                            <p:cond delay="0"/>
                                          </p:stCondLst>
                                        </p:cTn>
                                        <p:tgtEl>
                                          <p:spTgt spid="1131"/>
                                        </p:tgtEl>
                                        <p:attrNameLst>
                                          <p:attrName>style.visibility</p:attrName>
                                        </p:attrNameLst>
                                      </p:cBhvr>
                                      <p:to>
                                        <p:strVal val="visible"/>
                                      </p:to>
                                    </p:set>
                                    <p:animEffect filter="fade" transition="in">
                                      <p:cBhvr additive="repl">
                                        <p:cTn id="1336" dur="400"/>
                                        <p:tgtEl>
                                          <p:spTgt spid="1131"/>
                                        </p:tgtEl>
                                      </p:cBhvr>
                                    </p:animEffect>
                                  </p:childTnLst>
                                </p:cTn>
                              </p:par>
                              <p:par>
                                <p:cTn id="1337" nodeType="withEffect" fill="hold" presetClass="entr" presetID="10">
                                  <p:stCondLst>
                                    <p:cond delay="2000"/>
                                  </p:stCondLst>
                                  <p:childTnLst>
                                    <p:set>
                                      <p:cBhvr>
                                        <p:cTn id="1338" dur="1" fill="hold">
                                          <p:stCondLst>
                                            <p:cond delay="0"/>
                                          </p:stCondLst>
                                        </p:cTn>
                                        <p:tgtEl>
                                          <p:spTgt spid="1132"/>
                                        </p:tgtEl>
                                        <p:attrNameLst>
                                          <p:attrName>style.visibility</p:attrName>
                                        </p:attrNameLst>
                                      </p:cBhvr>
                                      <p:to>
                                        <p:strVal val="visible"/>
                                      </p:to>
                                    </p:set>
                                    <p:animEffect filter="fade" transition="in">
                                      <p:cBhvr additive="repl">
                                        <p:cTn id="1339" dur="400"/>
                                        <p:tgtEl>
                                          <p:spTgt spid="1132"/>
                                        </p:tgtEl>
                                      </p:cBhvr>
                                    </p:animEffect>
                                  </p:childTnLst>
                                </p:cTn>
                              </p:par>
                              <p:par>
                                <p:cTn id="1340" nodeType="withEffect" fill="hold" presetClass="entr" presetID="10">
                                  <p:stCondLst>
                                    <p:cond delay="2000"/>
                                  </p:stCondLst>
                                  <p:childTnLst>
                                    <p:set>
                                      <p:cBhvr>
                                        <p:cTn id="1341" dur="1" fill="hold">
                                          <p:stCondLst>
                                            <p:cond delay="0"/>
                                          </p:stCondLst>
                                        </p:cTn>
                                        <p:tgtEl>
                                          <p:spTgt spid="1133"/>
                                        </p:tgtEl>
                                        <p:attrNameLst>
                                          <p:attrName>style.visibility</p:attrName>
                                        </p:attrNameLst>
                                      </p:cBhvr>
                                      <p:to>
                                        <p:strVal val="visible"/>
                                      </p:to>
                                    </p:set>
                                    <p:animEffect filter="fade" transition="in">
                                      <p:cBhvr additive="repl">
                                        <p:cTn id="1342" dur="400"/>
                                        <p:tgtEl>
                                          <p:spTgt spid="1133"/>
                                        </p:tgtEl>
                                      </p:cBhvr>
                                    </p:animEffect>
                                  </p:childTnLst>
                                </p:cTn>
                              </p:par>
                              <p:par>
                                <p:cTn id="1343" nodeType="withEffect" fill="hold" presetClass="entr" presetID="10">
                                  <p:stCondLst>
                                    <p:cond delay="2000"/>
                                  </p:stCondLst>
                                  <p:childTnLst>
                                    <p:set>
                                      <p:cBhvr>
                                        <p:cTn id="1344" dur="1" fill="hold">
                                          <p:stCondLst>
                                            <p:cond delay="0"/>
                                          </p:stCondLst>
                                        </p:cTn>
                                        <p:tgtEl>
                                          <p:spTgt spid="1134"/>
                                        </p:tgtEl>
                                        <p:attrNameLst>
                                          <p:attrName>style.visibility</p:attrName>
                                        </p:attrNameLst>
                                      </p:cBhvr>
                                      <p:to>
                                        <p:strVal val="visible"/>
                                      </p:to>
                                    </p:set>
                                    <p:animEffect filter="fade" transition="in">
                                      <p:cBhvr additive="repl">
                                        <p:cTn id="1345" dur="400"/>
                                        <p:tgtEl>
                                          <p:spTgt spid="1134"/>
                                        </p:tgtEl>
                                      </p:cBhvr>
                                    </p:animEffect>
                                  </p:childTnLst>
                                </p:cTn>
                              </p:par>
                              <p:par>
                                <p:cTn id="1346" nodeType="withEffect" fill="hold" presetClass="entr" presetID="10">
                                  <p:stCondLst>
                                    <p:cond delay="2000"/>
                                  </p:stCondLst>
                                  <p:childTnLst>
                                    <p:set>
                                      <p:cBhvr>
                                        <p:cTn id="1347" dur="1" fill="hold">
                                          <p:stCondLst>
                                            <p:cond delay="0"/>
                                          </p:stCondLst>
                                        </p:cTn>
                                        <p:tgtEl>
                                          <p:spTgt spid="1135"/>
                                        </p:tgtEl>
                                        <p:attrNameLst>
                                          <p:attrName>style.visibility</p:attrName>
                                        </p:attrNameLst>
                                      </p:cBhvr>
                                      <p:to>
                                        <p:strVal val="visible"/>
                                      </p:to>
                                    </p:set>
                                    <p:animEffect filter="fade" transition="in">
                                      <p:cBhvr additive="repl">
                                        <p:cTn id="1348" dur="400"/>
                                        <p:tgtEl>
                                          <p:spTgt spid="1135"/>
                                        </p:tgtEl>
                                      </p:cBhvr>
                                    </p:animEffect>
                                  </p:childTnLst>
                                </p:cTn>
                              </p:par>
                              <p:par>
                                <p:cTn id="1349" nodeType="withEffect" fill="hold" presetClass="entr" presetID="10">
                                  <p:stCondLst>
                                    <p:cond delay="2000"/>
                                  </p:stCondLst>
                                  <p:childTnLst>
                                    <p:set>
                                      <p:cBhvr>
                                        <p:cTn id="1350" dur="1" fill="hold">
                                          <p:stCondLst>
                                            <p:cond delay="0"/>
                                          </p:stCondLst>
                                        </p:cTn>
                                        <p:tgtEl>
                                          <p:spTgt spid="1136"/>
                                        </p:tgtEl>
                                        <p:attrNameLst>
                                          <p:attrName>style.visibility</p:attrName>
                                        </p:attrNameLst>
                                      </p:cBhvr>
                                      <p:to>
                                        <p:strVal val="visible"/>
                                      </p:to>
                                    </p:set>
                                    <p:animEffect filter="fade" transition="in">
                                      <p:cBhvr additive="repl">
                                        <p:cTn id="1351" dur="400"/>
                                        <p:tgtEl>
                                          <p:spTgt spid="1136"/>
                                        </p:tgtEl>
                                      </p:cBhvr>
                                    </p:animEffect>
                                  </p:childTnLst>
                                </p:cTn>
                              </p:par>
                              <p:par>
                                <p:cTn id="1352" nodeType="withEffect" fill="hold" presetClass="entr" presetID="10">
                                  <p:stCondLst>
                                    <p:cond delay="2000"/>
                                  </p:stCondLst>
                                  <p:childTnLst>
                                    <p:set>
                                      <p:cBhvr>
                                        <p:cTn id="1353" dur="1" fill="hold">
                                          <p:stCondLst>
                                            <p:cond delay="0"/>
                                          </p:stCondLst>
                                        </p:cTn>
                                        <p:tgtEl>
                                          <p:spTgt spid="1137"/>
                                        </p:tgtEl>
                                        <p:attrNameLst>
                                          <p:attrName>style.visibility</p:attrName>
                                        </p:attrNameLst>
                                      </p:cBhvr>
                                      <p:to>
                                        <p:strVal val="visible"/>
                                      </p:to>
                                    </p:set>
                                    <p:animEffect filter="fade" transition="in">
                                      <p:cBhvr additive="repl">
                                        <p:cTn id="1354" dur="400"/>
                                        <p:tgtEl>
                                          <p:spTgt spid="1137"/>
                                        </p:tgtEl>
                                      </p:cBhvr>
                                    </p:animEffect>
                                  </p:childTnLst>
                                </p:cTn>
                              </p:par>
                              <p:par>
                                <p:cTn id="1355" nodeType="withEffect" fill="hold" presetClass="entr" presetID="10">
                                  <p:stCondLst>
                                    <p:cond delay="2000"/>
                                  </p:stCondLst>
                                  <p:childTnLst>
                                    <p:set>
                                      <p:cBhvr>
                                        <p:cTn id="1356" dur="1" fill="hold">
                                          <p:stCondLst>
                                            <p:cond delay="0"/>
                                          </p:stCondLst>
                                        </p:cTn>
                                        <p:tgtEl>
                                          <p:spTgt spid="1138"/>
                                        </p:tgtEl>
                                        <p:attrNameLst>
                                          <p:attrName>style.visibility</p:attrName>
                                        </p:attrNameLst>
                                      </p:cBhvr>
                                      <p:to>
                                        <p:strVal val="visible"/>
                                      </p:to>
                                    </p:set>
                                    <p:animEffect filter="fade" transition="in">
                                      <p:cBhvr additive="repl">
                                        <p:cTn id="1357" dur="400"/>
                                        <p:tgtEl>
                                          <p:spTgt spid="1138"/>
                                        </p:tgtEl>
                                      </p:cBhvr>
                                    </p:animEffect>
                                  </p:childTnLst>
                                </p:cTn>
                              </p:par>
                              <p:par>
                                <p:cTn id="1358" nodeType="withEffect" fill="hold" presetClass="entr" presetID="10">
                                  <p:stCondLst>
                                    <p:cond delay="2000"/>
                                  </p:stCondLst>
                                  <p:childTnLst>
                                    <p:set>
                                      <p:cBhvr>
                                        <p:cTn id="1359" dur="1" fill="hold">
                                          <p:stCondLst>
                                            <p:cond delay="0"/>
                                          </p:stCondLst>
                                        </p:cTn>
                                        <p:tgtEl>
                                          <p:spTgt spid="1139"/>
                                        </p:tgtEl>
                                        <p:attrNameLst>
                                          <p:attrName>style.visibility</p:attrName>
                                        </p:attrNameLst>
                                      </p:cBhvr>
                                      <p:to>
                                        <p:strVal val="visible"/>
                                      </p:to>
                                    </p:set>
                                    <p:animEffect filter="fade" transition="in">
                                      <p:cBhvr additive="repl">
                                        <p:cTn id="1360" dur="400"/>
                                        <p:tgtEl>
                                          <p:spTgt spid="1139"/>
                                        </p:tgtEl>
                                      </p:cBhvr>
                                    </p:animEffect>
                                  </p:childTnLst>
                                </p:cTn>
                              </p:par>
                              <p:par>
                                <p:cTn id="1361" nodeType="withEffect" fill="hold" presetClass="entr" presetID="10">
                                  <p:stCondLst>
                                    <p:cond delay="2000"/>
                                  </p:stCondLst>
                                  <p:childTnLst>
                                    <p:set>
                                      <p:cBhvr>
                                        <p:cTn id="1362" dur="1" fill="hold">
                                          <p:stCondLst>
                                            <p:cond delay="0"/>
                                          </p:stCondLst>
                                        </p:cTn>
                                        <p:tgtEl>
                                          <p:spTgt spid="1140"/>
                                        </p:tgtEl>
                                        <p:attrNameLst>
                                          <p:attrName>style.visibility</p:attrName>
                                        </p:attrNameLst>
                                      </p:cBhvr>
                                      <p:to>
                                        <p:strVal val="visible"/>
                                      </p:to>
                                    </p:set>
                                    <p:animEffect filter="fade" transition="in">
                                      <p:cBhvr additive="repl">
                                        <p:cTn id="1363" dur="400"/>
                                        <p:tgtEl>
                                          <p:spTgt spid="1140"/>
                                        </p:tgtEl>
                                      </p:cBhvr>
                                    </p:animEffect>
                                  </p:childTnLst>
                                </p:cTn>
                              </p:par>
                              <p:par>
                                <p:cTn id="1364" nodeType="withEffect" fill="hold" presetClass="entr" presetID="10">
                                  <p:stCondLst>
                                    <p:cond delay="2000"/>
                                  </p:stCondLst>
                                  <p:childTnLst>
                                    <p:set>
                                      <p:cBhvr>
                                        <p:cTn id="1365" dur="1" fill="hold">
                                          <p:stCondLst>
                                            <p:cond delay="0"/>
                                          </p:stCondLst>
                                        </p:cTn>
                                        <p:tgtEl>
                                          <p:spTgt spid="1141"/>
                                        </p:tgtEl>
                                        <p:attrNameLst>
                                          <p:attrName>style.visibility</p:attrName>
                                        </p:attrNameLst>
                                      </p:cBhvr>
                                      <p:to>
                                        <p:strVal val="visible"/>
                                      </p:to>
                                    </p:set>
                                    <p:animEffect filter="fade" transition="in">
                                      <p:cBhvr additive="repl">
                                        <p:cTn id="1366" dur="400"/>
                                        <p:tgtEl>
                                          <p:spTgt spid="1141"/>
                                        </p:tgtEl>
                                      </p:cBhvr>
                                    </p:animEffect>
                                  </p:childTnLst>
                                </p:cTn>
                              </p:par>
                              <p:par>
                                <p:cTn id="1367" nodeType="withEffect" fill="hold" presetClass="entr" presetID="10">
                                  <p:stCondLst>
                                    <p:cond delay="2000"/>
                                  </p:stCondLst>
                                  <p:childTnLst>
                                    <p:set>
                                      <p:cBhvr>
                                        <p:cTn id="1368" dur="1" fill="hold">
                                          <p:stCondLst>
                                            <p:cond delay="0"/>
                                          </p:stCondLst>
                                        </p:cTn>
                                        <p:tgtEl>
                                          <p:spTgt spid="1142"/>
                                        </p:tgtEl>
                                        <p:attrNameLst>
                                          <p:attrName>style.visibility</p:attrName>
                                        </p:attrNameLst>
                                      </p:cBhvr>
                                      <p:to>
                                        <p:strVal val="visible"/>
                                      </p:to>
                                    </p:set>
                                    <p:animEffect filter="fade" transition="in">
                                      <p:cBhvr additive="repl">
                                        <p:cTn id="1369" dur="400"/>
                                        <p:tgtEl>
                                          <p:spTgt spid="1142"/>
                                        </p:tgtEl>
                                      </p:cBhvr>
                                    </p:animEffect>
                                  </p:childTnLst>
                                </p:cTn>
                              </p:par>
                              <p:par>
                                <p:cTn id="1370" nodeType="withEffect" fill="hold" presetClass="entr" presetID="10">
                                  <p:stCondLst>
                                    <p:cond delay="2000"/>
                                  </p:stCondLst>
                                  <p:childTnLst>
                                    <p:set>
                                      <p:cBhvr>
                                        <p:cTn id="1371" dur="1" fill="hold">
                                          <p:stCondLst>
                                            <p:cond delay="0"/>
                                          </p:stCondLst>
                                        </p:cTn>
                                        <p:tgtEl>
                                          <p:spTgt spid="1143"/>
                                        </p:tgtEl>
                                        <p:attrNameLst>
                                          <p:attrName>style.visibility</p:attrName>
                                        </p:attrNameLst>
                                      </p:cBhvr>
                                      <p:to>
                                        <p:strVal val="visible"/>
                                      </p:to>
                                    </p:set>
                                    <p:animEffect filter="fade" transition="in">
                                      <p:cBhvr additive="repl">
                                        <p:cTn id="1372" dur="400"/>
                                        <p:tgtEl>
                                          <p:spTgt spid="1143"/>
                                        </p:tgtEl>
                                      </p:cBhvr>
                                    </p:animEffect>
                                  </p:childTnLst>
                                </p:cTn>
                              </p:par>
                              <p:par>
                                <p:cTn id="1373" nodeType="withEffect" fill="hold" presetClass="entr" presetID="10">
                                  <p:stCondLst>
                                    <p:cond delay="2300"/>
                                  </p:stCondLst>
                                  <p:childTnLst>
                                    <p:set>
                                      <p:cBhvr>
                                        <p:cTn id="1374" dur="1" fill="hold">
                                          <p:stCondLst>
                                            <p:cond delay="0"/>
                                          </p:stCondLst>
                                        </p:cTn>
                                        <p:tgtEl>
                                          <p:spTgt spid="1144"/>
                                        </p:tgtEl>
                                        <p:attrNameLst>
                                          <p:attrName>style.visibility</p:attrName>
                                        </p:attrNameLst>
                                      </p:cBhvr>
                                      <p:to>
                                        <p:strVal val="visible"/>
                                      </p:to>
                                    </p:set>
                                    <p:animEffect filter="fade" transition="in">
                                      <p:cBhvr additive="repl">
                                        <p:cTn id="1375" dur="400"/>
                                        <p:tgtEl>
                                          <p:spTgt spid="1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238" name="o1" descr="BONUS → NIVEAU SUIVANT"/>
          <p:cNvPicPr/>
          <p:nvPr/>
        </p:nvPicPr>
        <p:blipFill>
          <a:blip r:embed="rId1"/>
          <a:stretch/>
        </p:blipFill>
        <p:spPr>
          <a:xfrm>
            <a:off x="548640" y="411480"/>
            <a:ext cx="3218400" cy="145800"/>
          </a:xfrm>
          <a:prstGeom prst="rect">
            <a:avLst/>
          </a:prstGeom>
          <a:ln w="0">
            <a:noFill/>
          </a:ln>
        </p:spPr>
      </p:pic>
      <p:pic>
        <p:nvPicPr>
          <p:cNvPr id="1239" name="o2" descr="Angles morts et niveau suivant"/>
          <p:cNvPicPr/>
          <p:nvPr/>
        </p:nvPicPr>
        <p:blipFill>
          <a:blip r:embed="rId2"/>
          <a:stretch/>
        </p:blipFill>
        <p:spPr>
          <a:xfrm>
            <a:off x="548640" y="777240"/>
            <a:ext cx="8229240" cy="273960"/>
          </a:xfrm>
          <a:prstGeom prst="rect">
            <a:avLst/>
          </a:prstGeom>
          <a:ln w="0">
            <a:noFill/>
          </a:ln>
        </p:spPr>
      </p:pic>
      <p:pic>
        <p:nvPicPr>
          <p:cNvPr id="1240" name="o3" descr="key"/>
          <p:cNvPicPr/>
          <p:nvPr/>
        </p:nvPicPr>
        <p:blipFill>
          <a:blip r:embed="rId3"/>
          <a:stretch/>
        </p:blipFill>
        <p:spPr>
          <a:xfrm>
            <a:off x="11073240" y="365760"/>
            <a:ext cx="566640" cy="566640"/>
          </a:xfrm>
          <a:prstGeom prst="rect">
            <a:avLst/>
          </a:prstGeom>
          <a:ln w="0">
            <a:noFill/>
          </a:ln>
        </p:spPr>
      </p:pic>
      <p:pic>
        <p:nvPicPr>
          <p:cNvPr id="1241" name="o4" descr="super pac-gomme"/>
          <p:cNvPicPr/>
          <p:nvPr/>
        </p:nvPicPr>
        <p:blipFill>
          <a:blip r:embed="rId4"/>
          <a:stretch/>
        </p:blipFill>
        <p:spPr>
          <a:xfrm>
            <a:off x="11448360" y="6355080"/>
            <a:ext cx="182520" cy="182520"/>
          </a:xfrm>
          <a:prstGeom prst="rect">
            <a:avLst/>
          </a:prstGeom>
          <a:ln w="0">
            <a:noFill/>
          </a:ln>
        </p:spPr>
      </p:pic>
      <p:sp>
        <p:nvSpPr>
          <p:cNvPr id="1242" name="o8"/>
          <p:cNvSpPr/>
          <p:nvPr/>
        </p:nvSpPr>
        <p:spPr>
          <a:xfrm>
            <a:off x="548640" y="1645920"/>
            <a:ext cx="5486040" cy="4388760"/>
          </a:xfrm>
          <a:prstGeom prst="roundRect">
            <a:avLst>
              <a:gd name="adj" fmla="val 2917"/>
            </a:avLst>
          </a:prstGeom>
          <a:solidFill>
            <a:srgbClr val="000000"/>
          </a:solidFill>
          <a:ln w="28575">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sp>
        <p:nvSpPr>
          <p:cNvPr id="1243" name="o9"/>
          <p:cNvSpPr/>
          <p:nvPr/>
        </p:nvSpPr>
        <p:spPr>
          <a:xfrm>
            <a:off x="617400" y="1714680"/>
            <a:ext cx="5348880" cy="4251600"/>
          </a:xfrm>
          <a:prstGeom prst="roundRect">
            <a:avLst>
              <a:gd name="adj" fmla="val 1398"/>
            </a:avLst>
          </a:prstGeom>
          <a:noFill/>
          <a:ln w="12700">
            <a:solidFill>
              <a:srgbClr val="2121de"/>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pic>
        <p:nvPicPr>
          <p:cNvPr id="1244" name="o10" descr="ANGLES MORTS DE LA SOURCE"/>
          <p:cNvPicPr/>
          <p:nvPr/>
        </p:nvPicPr>
        <p:blipFill>
          <a:blip r:embed="rId5"/>
          <a:stretch/>
        </p:blipFill>
        <p:spPr>
          <a:xfrm>
            <a:off x="914400" y="1965960"/>
            <a:ext cx="3657240" cy="145800"/>
          </a:xfrm>
          <a:prstGeom prst="rect">
            <a:avLst/>
          </a:prstGeom>
          <a:ln w="0">
            <a:noFill/>
          </a:ln>
        </p:spPr>
      </p:pic>
      <p:pic>
        <p:nvPicPr>
          <p:cNvPr id="1245" name="o11" descr="attention"/>
          <p:cNvPicPr/>
          <p:nvPr/>
        </p:nvPicPr>
        <p:blipFill>
          <a:blip r:embed="rId6"/>
          <a:stretch/>
        </p:blipFill>
        <p:spPr>
          <a:xfrm>
            <a:off x="914400" y="2505600"/>
            <a:ext cx="328680" cy="328680"/>
          </a:xfrm>
          <a:prstGeom prst="rect">
            <a:avLst/>
          </a:prstGeom>
          <a:ln w="0">
            <a:noFill/>
          </a:ln>
        </p:spPr>
      </p:pic>
      <p:sp>
        <p:nvSpPr>
          <p:cNvPr id="1246" name="o12"/>
          <p:cNvSpPr/>
          <p:nvPr/>
        </p:nvSpPr>
        <p:spPr>
          <a:xfrm>
            <a:off x="1463040" y="2468880"/>
            <a:ext cx="438876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ffffff"/>
                </a:solidFill>
                <a:latin typeface="Arial"/>
                <a:ea typeface="Arial"/>
              </a:rPr>
              <a:t>Pas de ventes dématérialisées ni mobiles</a:t>
            </a:r>
            <a:endParaRPr b="0" lang="en-US" sz="1700" spc="-1" strike="noStrike">
              <a:solidFill>
                <a:srgbClr val="ffffff"/>
              </a:solidFill>
              <a:latin typeface="Arial"/>
            </a:endParaRPr>
          </a:p>
        </p:txBody>
      </p:sp>
      <p:sp>
        <p:nvSpPr>
          <p:cNvPr id="1247" name="o13"/>
          <p:cNvSpPr/>
          <p:nvPr/>
        </p:nvSpPr>
        <p:spPr>
          <a:xfrm>
            <a:off x="1463040" y="2853000"/>
            <a:ext cx="43430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Steam, PSN, App Store : invisibles dans VGChartz</a:t>
            </a:r>
            <a:endParaRPr b="0" lang="en-US" sz="1400" spc="-1" strike="noStrike">
              <a:solidFill>
                <a:srgbClr val="ffffff"/>
              </a:solidFill>
              <a:latin typeface="Arial"/>
            </a:endParaRPr>
          </a:p>
        </p:txBody>
      </p:sp>
      <p:pic>
        <p:nvPicPr>
          <p:cNvPr id="1248" name="o14" descr="attention"/>
          <p:cNvPicPr/>
          <p:nvPr/>
        </p:nvPicPr>
        <p:blipFill>
          <a:blip r:embed="rId7"/>
          <a:stretch/>
        </p:blipFill>
        <p:spPr>
          <a:xfrm>
            <a:off x="914400" y="3602880"/>
            <a:ext cx="328680" cy="328680"/>
          </a:xfrm>
          <a:prstGeom prst="rect">
            <a:avLst/>
          </a:prstGeom>
          <a:ln w="0">
            <a:noFill/>
          </a:ln>
        </p:spPr>
      </p:pic>
      <p:sp>
        <p:nvSpPr>
          <p:cNvPr id="1249" name="o15"/>
          <p:cNvSpPr/>
          <p:nvPr/>
        </p:nvSpPr>
        <p:spPr>
          <a:xfrm>
            <a:off x="1463040" y="3566160"/>
            <a:ext cx="438876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ffffff"/>
                </a:solidFill>
                <a:latin typeface="Arial"/>
                <a:ea typeface="Arial"/>
              </a:rPr>
              <a:t>Année 2016 incomplète</a:t>
            </a:r>
            <a:endParaRPr b="0" lang="en-US" sz="1700" spc="-1" strike="noStrike">
              <a:solidFill>
                <a:srgbClr val="ffffff"/>
              </a:solidFill>
              <a:latin typeface="Arial"/>
            </a:endParaRPr>
          </a:p>
        </p:txBody>
      </p:sp>
      <p:sp>
        <p:nvSpPr>
          <p:cNvPr id="1250" name="o16"/>
          <p:cNvSpPr/>
          <p:nvPr/>
        </p:nvSpPr>
        <p:spPr>
          <a:xfrm>
            <a:off x="1463040" y="3950280"/>
            <a:ext cx="43430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le fichier s'arrête en cours d'année</a:t>
            </a:r>
            <a:endParaRPr b="0" lang="en-US" sz="1400" spc="-1" strike="noStrike">
              <a:solidFill>
                <a:srgbClr val="ffffff"/>
              </a:solidFill>
              <a:latin typeface="Arial"/>
            </a:endParaRPr>
          </a:p>
        </p:txBody>
      </p:sp>
      <p:pic>
        <p:nvPicPr>
          <p:cNvPr id="1251" name="o17" descr="attention"/>
          <p:cNvPicPr/>
          <p:nvPr/>
        </p:nvPicPr>
        <p:blipFill>
          <a:blip r:embed="rId8"/>
          <a:stretch/>
        </p:blipFill>
        <p:spPr>
          <a:xfrm>
            <a:off x="914400" y="4700160"/>
            <a:ext cx="328680" cy="328680"/>
          </a:xfrm>
          <a:prstGeom prst="rect">
            <a:avLst/>
          </a:prstGeom>
          <a:ln w="0">
            <a:noFill/>
          </a:ln>
        </p:spPr>
      </p:pic>
      <p:sp>
        <p:nvSpPr>
          <p:cNvPr id="1252" name="o18"/>
          <p:cNvSpPr/>
          <p:nvPr/>
        </p:nvSpPr>
        <p:spPr>
          <a:xfrm>
            <a:off x="1463040" y="4663440"/>
            <a:ext cx="438876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ffffff"/>
                </a:solidFill>
                <a:latin typeface="Arial"/>
                <a:ea typeface="Arial"/>
              </a:rPr>
              <a:t>Régions parfois mal saisies</a:t>
            </a:r>
            <a:endParaRPr b="0" lang="en-US" sz="1700" spc="-1" strike="noStrike">
              <a:solidFill>
                <a:srgbClr val="ffffff"/>
              </a:solidFill>
              <a:latin typeface="Arial"/>
            </a:endParaRPr>
          </a:p>
        </p:txBody>
      </p:sp>
      <p:sp>
        <p:nvSpPr>
          <p:cNvPr id="1253" name="o19"/>
          <p:cNvSpPr/>
          <p:nvPr/>
        </p:nvSpPr>
        <p:spPr>
          <a:xfrm>
            <a:off x="1463040" y="5047560"/>
            <a:ext cx="434304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c4c4e4"/>
                </a:solidFill>
                <a:latin typeface="Arial"/>
                <a:ea typeface="Arial"/>
              </a:rPr>
              <a:t>ex. ventes européennes de Gran Turismo 4 en « reste du monde »</a:t>
            </a:r>
            <a:endParaRPr b="0" lang="en-US" sz="1400" spc="-1" strike="noStrike">
              <a:solidFill>
                <a:srgbClr val="ffffff"/>
              </a:solidFill>
              <a:latin typeface="Arial"/>
            </a:endParaRPr>
          </a:p>
        </p:txBody>
      </p:sp>
      <p:sp>
        <p:nvSpPr>
          <p:cNvPr id="1254" name="o20"/>
          <p:cNvSpPr/>
          <p:nvPr/>
        </p:nvSpPr>
        <p:spPr>
          <a:xfrm>
            <a:off x="6400800" y="1645920"/>
            <a:ext cx="5239080" cy="4388760"/>
          </a:xfrm>
          <a:prstGeom prst="roundRect">
            <a:avLst>
              <a:gd name="adj" fmla="val 2917"/>
            </a:avLst>
          </a:prstGeom>
          <a:solidFill>
            <a:srgbClr val="000000"/>
          </a:solidFill>
          <a:ln w="28575">
            <a:solidFill>
              <a:srgbClr val="00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sp>
        <p:nvSpPr>
          <p:cNvPr id="1255" name="o21"/>
          <p:cNvSpPr/>
          <p:nvPr/>
        </p:nvSpPr>
        <p:spPr>
          <a:xfrm>
            <a:off x="6469560" y="1714680"/>
            <a:ext cx="5101920" cy="4251600"/>
          </a:xfrm>
          <a:prstGeom prst="roundRect">
            <a:avLst>
              <a:gd name="adj" fmla="val 1398"/>
            </a:avLst>
          </a:prstGeom>
          <a:noFill/>
          <a:ln w="12700">
            <a:solidFill>
              <a:srgbClr val="00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Arial"/>
            </a:endParaRPr>
          </a:p>
        </p:txBody>
      </p:sp>
      <p:pic>
        <p:nvPicPr>
          <p:cNvPr id="1256" name="o22" descr="clé"/>
          <p:cNvPicPr/>
          <p:nvPr/>
        </p:nvPicPr>
        <p:blipFill>
          <a:blip r:embed="rId9"/>
          <a:stretch/>
        </p:blipFill>
        <p:spPr>
          <a:xfrm>
            <a:off x="8563320" y="1920240"/>
            <a:ext cx="914040" cy="914040"/>
          </a:xfrm>
          <a:prstGeom prst="rect">
            <a:avLst/>
          </a:prstGeom>
          <a:ln w="0">
            <a:noFill/>
          </a:ln>
        </p:spPr>
      </p:pic>
      <p:pic>
        <p:nvPicPr>
          <p:cNvPr id="1257" name="o23" descr="NEXT LEVEL"/>
          <p:cNvPicPr/>
          <p:nvPr/>
        </p:nvPicPr>
        <p:blipFill>
          <a:blip r:embed="rId10"/>
          <a:stretch/>
        </p:blipFill>
        <p:spPr>
          <a:xfrm>
            <a:off x="8014680" y="3063240"/>
            <a:ext cx="2011320" cy="200880"/>
          </a:xfrm>
          <a:prstGeom prst="rect">
            <a:avLst/>
          </a:prstGeom>
          <a:ln w="0">
            <a:noFill/>
          </a:ln>
        </p:spPr>
      </p:pic>
      <p:pic>
        <p:nvPicPr>
          <p:cNvPr id="1258" name="o24" descr="BDD 2"/>
          <p:cNvPicPr/>
          <p:nvPr/>
        </p:nvPicPr>
        <p:blipFill>
          <a:blip r:embed="rId11"/>
          <a:stretch/>
        </p:blipFill>
        <p:spPr>
          <a:xfrm>
            <a:off x="7603200" y="3566160"/>
            <a:ext cx="2834280" cy="566640"/>
          </a:xfrm>
          <a:prstGeom prst="rect">
            <a:avLst/>
          </a:prstGeom>
          <a:ln w="0">
            <a:noFill/>
          </a:ln>
        </p:spPr>
      </p:pic>
      <p:sp>
        <p:nvSpPr>
          <p:cNvPr id="1259" name="o25"/>
          <p:cNvSpPr/>
          <p:nvPr/>
        </p:nvSpPr>
        <p:spPr>
          <a:xfrm>
            <a:off x="6858000" y="4389120"/>
            <a:ext cx="4324680" cy="6854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500" spc="-1" strike="noStrike">
                <a:solidFill>
                  <a:srgbClr val="c4c4e4"/>
                </a:solidFill>
                <a:latin typeface="Arial"/>
                <a:ea typeface="Arial"/>
              </a:rPr>
              <a:t>Les ventes ne disent pas si un jeu est bon : une deuxième source pour le mesurer</a:t>
            </a:r>
            <a:endParaRPr b="0" lang="en-US" sz="1500" spc="-1" strike="noStrike">
              <a:solidFill>
                <a:srgbClr val="ffffff"/>
              </a:solidFill>
              <a:latin typeface="Arial"/>
            </a:endParaRPr>
          </a:p>
        </p:txBody>
      </p:sp>
      <p:pic>
        <p:nvPicPr>
          <p:cNvPr id="1260" name="o26" descr="→ ON CONTINUE !"/>
          <p:cNvPicPr/>
          <p:nvPr/>
        </p:nvPicPr>
        <p:blipFill>
          <a:blip r:embed="rId12"/>
          <a:stretch/>
        </p:blipFill>
        <p:spPr>
          <a:xfrm>
            <a:off x="7788000" y="5303520"/>
            <a:ext cx="2464680" cy="164160"/>
          </a:xfrm>
          <a:prstGeom prst="rect">
            <a:avLst/>
          </a:prstGeom>
          <a:ln w="0">
            <a:noFill/>
          </a:ln>
        </p:spPr>
      </p:pic>
      <p:pic>
        <p:nvPicPr>
          <p:cNvPr id="1261" name="barre_fantome" descr="image.gif"/>
          <p:cNvPicPr/>
          <p:nvPr/>
        </p:nvPicPr>
        <p:blipFill>
          <a:blip r:embed="rId13"/>
          <a:stretch/>
        </p:blipFill>
        <p:spPr>
          <a:xfrm>
            <a:off x="4236840" y="6291000"/>
            <a:ext cx="310680" cy="310680"/>
          </a:xfrm>
          <a:prstGeom prst="rect">
            <a:avLst/>
          </a:prstGeom>
          <a:ln w="0">
            <a:noFill/>
          </a:ln>
        </p:spPr>
      </p:pic>
      <p:sp>
        <p:nvSpPr>
          <p:cNvPr id="1263" name="barre_pastille"/>
          <p:cNvSpPr/>
          <p:nvPr/>
        </p:nvSpPr>
        <p:spPr>
          <a:xfrm>
            <a:off x="5257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64"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63"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64"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65"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66"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67"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68"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69"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0"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1"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2"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3"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4"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5"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6"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7"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8"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79"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80"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81"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82"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83"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84"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85"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86"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287"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262" name="barre_pacman" descr="image.gif"/>
          <p:cNvPicPr/>
          <p:nvPr/>
        </p:nvPicPr>
        <p:blipFill>
          <a:blip r:embed="rId14"/>
          <a:stretch/>
        </p:blipFill>
        <p:spPr>
          <a:xfrm>
            <a:off x="4803840" y="6291000"/>
            <a:ext cx="310680" cy="310680"/>
          </a:xfrm>
          <a:prstGeom prst="rect">
            <a:avLst/>
          </a:prstGeom>
          <a:ln w="0">
            <a:noFill/>
          </a:ln>
        </p:spPr>
      </p:pic>
      <p:sp>
        <p:nvSpPr>
          <p:cNvPr id="1288"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1440" dur="indefinite" restart="never" nodeType="tmRoot">
          <p:childTnLst>
            <p:seq>
              <p:cTn id="1441" dur="indefinite" nodeType="mainSeq">
                <p:childTnLst>
                  <p:par>
                    <p:cTn id="1442" fill="hold">
                      <p:stCondLst>
                        <p:cond delay="0"/>
                      </p:stCondLst>
                      <p:childTnLst>
                        <p:par>
                          <p:cTn id="1443" fill="hold">
                            <p:stCondLst>
                              <p:cond delay="0"/>
                            </p:stCondLst>
                            <p:childTnLst>
                              <p:par>
                                <p:cTn id="1444" nodeType="withEffect" fill="hold" presetClass="path">
                                  <p:stCondLst>
                                    <p:cond delay="0"/>
                                  </p:stCondLst>
                                  <p:childTnLst>
                                    <p:animMotion origin="layout" path="M 0 0 L 0.02252 0 E">
                                      <p:cBhvr>
                                        <p:cTn id="1445" dur="900" fill="hold"/>
                                        <p:tgtEl>
                                          <p:spTgt spid="1261"/>
                                        </p:tgtEl>
                                        <p:attrNameLst>
                                          <p:attrName>ppt_x</p:attrName>
                                          <p:attrName>ppt_y</p:attrName>
                                        </p:attrNameLst>
                                      </p:cBhvr>
                                    </p:animMotion>
                                  </p:childTnLst>
                                </p:cTn>
                              </p:par>
                              <p:par>
                                <p:cTn id="1446" nodeType="withEffect" fill="hold" presetClass="path">
                                  <p:stCondLst>
                                    <p:cond delay="0"/>
                                  </p:stCondLst>
                                  <p:childTnLst>
                                    <p:animMotion origin="layout" path="M 0 0 L 0.02252 0 E">
                                      <p:cBhvr>
                                        <p:cTn id="1447" dur="900" fill="hold"/>
                                        <p:tgtEl>
                                          <p:spTgt spid="1262"/>
                                        </p:tgtEl>
                                        <p:attrNameLst>
                                          <p:attrName>ppt_x</p:attrName>
                                          <p:attrName>ppt_y</p:attrName>
                                        </p:attrNameLst>
                                      </p:cBhvr>
                                    </p:animMotion>
                                  </p:childTnLst>
                                </p:cTn>
                              </p:par>
                              <p:par>
                                <p:cTn id="1448" nodeType="withEffect" fill="hold" presetClass="exit" presetID="1">
                                  <p:stCondLst>
                                    <p:cond delay="92"/>
                                  </p:stCondLst>
                                  <p:childTnLst>
                                    <p:set>
                                      <p:cBhvr>
                                        <p:cTn id="1449" dur="1" fill="hold">
                                          <p:stCondLst>
                                            <p:cond delay="0"/>
                                          </p:stCondLst>
                                        </p:cTn>
                                        <p:tgtEl>
                                          <p:spTgt spid="1263"/>
                                        </p:tgtEl>
                                        <p:attrNameLst>
                                          <p:attrName>style.visibility</p:attrName>
                                        </p:attrNameLst>
                                      </p:cBhvr>
                                      <p:to>
                                        <p:strVal val="hidden"/>
                                      </p:to>
                                    </p:set>
                                  </p:childTnLst>
                                </p:cTn>
                              </p:par>
                              <p:par>
                                <p:cTn id="1450" nodeType="withEffect" fill="hold" presetClass="exit" presetID="1">
                                  <p:stCondLst>
                                    <p:cond delay="862"/>
                                  </p:stCondLst>
                                  <p:childTnLst>
                                    <p:set>
                                      <p:cBhvr>
                                        <p:cTn id="1451" dur="1" fill="hold">
                                          <p:stCondLst>
                                            <p:cond delay="0"/>
                                          </p:stCondLst>
                                        </p:cTn>
                                        <p:tgtEl>
                                          <p:spTgt spid="1264"/>
                                        </p:tgtEl>
                                        <p:attrNameLst>
                                          <p:attrName>style.visibility</p:attrName>
                                        </p:attrNameLst>
                                      </p:cBhvr>
                                      <p:to>
                                        <p:strVal val="hidden"/>
                                      </p:to>
                                    </p:set>
                                  </p:childTnLst>
                                </p:cTn>
                              </p:par>
                              <p:par>
                                <p:cTn id="1452" nodeType="withEffect" fill="hold" presetClass="entr" presetID="10">
                                  <p:stCondLst>
                                    <p:cond delay="200"/>
                                  </p:stCondLst>
                                  <p:childTnLst>
                                    <p:set>
                                      <p:cBhvr>
                                        <p:cTn id="1453" dur="1" fill="hold">
                                          <p:stCondLst>
                                            <p:cond delay="0"/>
                                          </p:stCondLst>
                                        </p:cTn>
                                        <p:tgtEl>
                                          <p:spTgt spid="1242"/>
                                        </p:tgtEl>
                                        <p:attrNameLst>
                                          <p:attrName>style.visibility</p:attrName>
                                        </p:attrNameLst>
                                      </p:cBhvr>
                                      <p:to>
                                        <p:strVal val="visible"/>
                                      </p:to>
                                    </p:set>
                                    <p:animEffect filter="fade" transition="in">
                                      <p:cBhvr additive="repl">
                                        <p:cTn id="1454" dur="400"/>
                                        <p:tgtEl>
                                          <p:spTgt spid="1242"/>
                                        </p:tgtEl>
                                      </p:cBhvr>
                                    </p:animEffect>
                                  </p:childTnLst>
                                </p:cTn>
                              </p:par>
                              <p:par>
                                <p:cTn id="1455" nodeType="withEffect" fill="hold" presetClass="entr" presetID="10">
                                  <p:stCondLst>
                                    <p:cond delay="200"/>
                                  </p:stCondLst>
                                  <p:childTnLst>
                                    <p:set>
                                      <p:cBhvr>
                                        <p:cTn id="1456" dur="1" fill="hold">
                                          <p:stCondLst>
                                            <p:cond delay="0"/>
                                          </p:stCondLst>
                                        </p:cTn>
                                        <p:tgtEl>
                                          <p:spTgt spid="1243"/>
                                        </p:tgtEl>
                                        <p:attrNameLst>
                                          <p:attrName>style.visibility</p:attrName>
                                        </p:attrNameLst>
                                      </p:cBhvr>
                                      <p:to>
                                        <p:strVal val="visible"/>
                                      </p:to>
                                    </p:set>
                                    <p:animEffect filter="fade" transition="in">
                                      <p:cBhvr additive="repl">
                                        <p:cTn id="1457" dur="400"/>
                                        <p:tgtEl>
                                          <p:spTgt spid="1243"/>
                                        </p:tgtEl>
                                      </p:cBhvr>
                                    </p:animEffect>
                                  </p:childTnLst>
                                </p:cTn>
                              </p:par>
                              <p:par>
                                <p:cTn id="1458" nodeType="withEffect" fill="hold" presetClass="entr" presetID="10">
                                  <p:stCondLst>
                                    <p:cond delay="200"/>
                                  </p:stCondLst>
                                  <p:childTnLst>
                                    <p:set>
                                      <p:cBhvr>
                                        <p:cTn id="1459" dur="1" fill="hold">
                                          <p:stCondLst>
                                            <p:cond delay="0"/>
                                          </p:stCondLst>
                                        </p:cTn>
                                        <p:tgtEl>
                                          <p:spTgt spid="1244"/>
                                        </p:tgtEl>
                                        <p:attrNameLst>
                                          <p:attrName>style.visibility</p:attrName>
                                        </p:attrNameLst>
                                      </p:cBhvr>
                                      <p:to>
                                        <p:strVal val="visible"/>
                                      </p:to>
                                    </p:set>
                                    <p:animEffect filter="fade" transition="in">
                                      <p:cBhvr additive="repl">
                                        <p:cTn id="1460" dur="400"/>
                                        <p:tgtEl>
                                          <p:spTgt spid="1244"/>
                                        </p:tgtEl>
                                      </p:cBhvr>
                                    </p:animEffect>
                                  </p:childTnLst>
                                </p:cTn>
                              </p:par>
                              <p:par>
                                <p:cTn id="1461" nodeType="withEffect" fill="hold" presetClass="entr" presetID="10">
                                  <p:stCondLst>
                                    <p:cond delay="400"/>
                                  </p:stCondLst>
                                  <p:childTnLst>
                                    <p:set>
                                      <p:cBhvr>
                                        <p:cTn id="1462" dur="1" fill="hold">
                                          <p:stCondLst>
                                            <p:cond delay="0"/>
                                          </p:stCondLst>
                                        </p:cTn>
                                        <p:tgtEl>
                                          <p:spTgt spid="1245"/>
                                        </p:tgtEl>
                                        <p:attrNameLst>
                                          <p:attrName>style.visibility</p:attrName>
                                        </p:attrNameLst>
                                      </p:cBhvr>
                                      <p:to>
                                        <p:strVal val="visible"/>
                                      </p:to>
                                    </p:set>
                                    <p:animEffect filter="fade" transition="in">
                                      <p:cBhvr additive="repl">
                                        <p:cTn id="1463" dur="400"/>
                                        <p:tgtEl>
                                          <p:spTgt spid="1245"/>
                                        </p:tgtEl>
                                      </p:cBhvr>
                                    </p:animEffect>
                                  </p:childTnLst>
                                </p:cTn>
                              </p:par>
                              <p:par>
                                <p:cTn id="1464" nodeType="withEffect" fill="hold" presetClass="entr" presetID="10">
                                  <p:stCondLst>
                                    <p:cond delay="400"/>
                                  </p:stCondLst>
                                  <p:childTnLst>
                                    <p:set>
                                      <p:cBhvr>
                                        <p:cTn id="1465" dur="1" fill="hold">
                                          <p:stCondLst>
                                            <p:cond delay="0"/>
                                          </p:stCondLst>
                                        </p:cTn>
                                        <p:tgtEl>
                                          <p:spTgt spid="1246"/>
                                        </p:tgtEl>
                                        <p:attrNameLst>
                                          <p:attrName>style.visibility</p:attrName>
                                        </p:attrNameLst>
                                      </p:cBhvr>
                                      <p:to>
                                        <p:strVal val="visible"/>
                                      </p:to>
                                    </p:set>
                                    <p:animEffect filter="fade" transition="in">
                                      <p:cBhvr additive="repl">
                                        <p:cTn id="1466" dur="400"/>
                                        <p:tgtEl>
                                          <p:spTgt spid="1246"/>
                                        </p:tgtEl>
                                      </p:cBhvr>
                                    </p:animEffect>
                                  </p:childTnLst>
                                </p:cTn>
                              </p:par>
                              <p:par>
                                <p:cTn id="1467" nodeType="withEffect" fill="hold" presetClass="entr" presetID="10">
                                  <p:stCondLst>
                                    <p:cond delay="400"/>
                                  </p:stCondLst>
                                  <p:childTnLst>
                                    <p:set>
                                      <p:cBhvr>
                                        <p:cTn id="1468" dur="1" fill="hold">
                                          <p:stCondLst>
                                            <p:cond delay="0"/>
                                          </p:stCondLst>
                                        </p:cTn>
                                        <p:tgtEl>
                                          <p:spTgt spid="1247"/>
                                        </p:tgtEl>
                                        <p:attrNameLst>
                                          <p:attrName>style.visibility</p:attrName>
                                        </p:attrNameLst>
                                      </p:cBhvr>
                                      <p:to>
                                        <p:strVal val="visible"/>
                                      </p:to>
                                    </p:set>
                                    <p:animEffect filter="fade" transition="in">
                                      <p:cBhvr additive="repl">
                                        <p:cTn id="1469" dur="400"/>
                                        <p:tgtEl>
                                          <p:spTgt spid="1247"/>
                                        </p:tgtEl>
                                      </p:cBhvr>
                                    </p:animEffect>
                                  </p:childTnLst>
                                </p:cTn>
                              </p:par>
                              <p:par>
                                <p:cTn id="1470" nodeType="withEffect" fill="hold" presetClass="entr" presetID="10">
                                  <p:stCondLst>
                                    <p:cond delay="650"/>
                                  </p:stCondLst>
                                  <p:childTnLst>
                                    <p:set>
                                      <p:cBhvr>
                                        <p:cTn id="1471" dur="1" fill="hold">
                                          <p:stCondLst>
                                            <p:cond delay="0"/>
                                          </p:stCondLst>
                                        </p:cTn>
                                        <p:tgtEl>
                                          <p:spTgt spid="1248"/>
                                        </p:tgtEl>
                                        <p:attrNameLst>
                                          <p:attrName>style.visibility</p:attrName>
                                        </p:attrNameLst>
                                      </p:cBhvr>
                                      <p:to>
                                        <p:strVal val="visible"/>
                                      </p:to>
                                    </p:set>
                                    <p:animEffect filter="fade" transition="in">
                                      <p:cBhvr additive="repl">
                                        <p:cTn id="1472" dur="400"/>
                                        <p:tgtEl>
                                          <p:spTgt spid="1248"/>
                                        </p:tgtEl>
                                      </p:cBhvr>
                                    </p:animEffect>
                                  </p:childTnLst>
                                </p:cTn>
                              </p:par>
                              <p:par>
                                <p:cTn id="1473" nodeType="withEffect" fill="hold" presetClass="entr" presetID="10">
                                  <p:stCondLst>
                                    <p:cond delay="650"/>
                                  </p:stCondLst>
                                  <p:childTnLst>
                                    <p:set>
                                      <p:cBhvr>
                                        <p:cTn id="1474" dur="1" fill="hold">
                                          <p:stCondLst>
                                            <p:cond delay="0"/>
                                          </p:stCondLst>
                                        </p:cTn>
                                        <p:tgtEl>
                                          <p:spTgt spid="1249"/>
                                        </p:tgtEl>
                                        <p:attrNameLst>
                                          <p:attrName>style.visibility</p:attrName>
                                        </p:attrNameLst>
                                      </p:cBhvr>
                                      <p:to>
                                        <p:strVal val="visible"/>
                                      </p:to>
                                    </p:set>
                                    <p:animEffect filter="fade" transition="in">
                                      <p:cBhvr additive="repl">
                                        <p:cTn id="1475" dur="400"/>
                                        <p:tgtEl>
                                          <p:spTgt spid="1249"/>
                                        </p:tgtEl>
                                      </p:cBhvr>
                                    </p:animEffect>
                                  </p:childTnLst>
                                </p:cTn>
                              </p:par>
                              <p:par>
                                <p:cTn id="1476" nodeType="withEffect" fill="hold" presetClass="entr" presetID="10">
                                  <p:stCondLst>
                                    <p:cond delay="650"/>
                                  </p:stCondLst>
                                  <p:childTnLst>
                                    <p:set>
                                      <p:cBhvr>
                                        <p:cTn id="1477" dur="1" fill="hold">
                                          <p:stCondLst>
                                            <p:cond delay="0"/>
                                          </p:stCondLst>
                                        </p:cTn>
                                        <p:tgtEl>
                                          <p:spTgt spid="1250"/>
                                        </p:tgtEl>
                                        <p:attrNameLst>
                                          <p:attrName>style.visibility</p:attrName>
                                        </p:attrNameLst>
                                      </p:cBhvr>
                                      <p:to>
                                        <p:strVal val="visible"/>
                                      </p:to>
                                    </p:set>
                                    <p:animEffect filter="fade" transition="in">
                                      <p:cBhvr additive="repl">
                                        <p:cTn id="1478" dur="400"/>
                                        <p:tgtEl>
                                          <p:spTgt spid="1250"/>
                                        </p:tgtEl>
                                      </p:cBhvr>
                                    </p:animEffect>
                                  </p:childTnLst>
                                </p:cTn>
                              </p:par>
                              <p:par>
                                <p:cTn id="1479" nodeType="withEffect" fill="hold" presetClass="entr" presetID="10">
                                  <p:stCondLst>
                                    <p:cond delay="900"/>
                                  </p:stCondLst>
                                  <p:childTnLst>
                                    <p:set>
                                      <p:cBhvr>
                                        <p:cTn id="1480" dur="1" fill="hold">
                                          <p:stCondLst>
                                            <p:cond delay="0"/>
                                          </p:stCondLst>
                                        </p:cTn>
                                        <p:tgtEl>
                                          <p:spTgt spid="1251"/>
                                        </p:tgtEl>
                                        <p:attrNameLst>
                                          <p:attrName>style.visibility</p:attrName>
                                        </p:attrNameLst>
                                      </p:cBhvr>
                                      <p:to>
                                        <p:strVal val="visible"/>
                                      </p:to>
                                    </p:set>
                                    <p:animEffect filter="fade" transition="in">
                                      <p:cBhvr additive="repl">
                                        <p:cTn id="1481" dur="400"/>
                                        <p:tgtEl>
                                          <p:spTgt spid="1251"/>
                                        </p:tgtEl>
                                      </p:cBhvr>
                                    </p:animEffect>
                                  </p:childTnLst>
                                </p:cTn>
                              </p:par>
                              <p:par>
                                <p:cTn id="1482" nodeType="withEffect" fill="hold" presetClass="entr" presetID="10">
                                  <p:stCondLst>
                                    <p:cond delay="900"/>
                                  </p:stCondLst>
                                  <p:childTnLst>
                                    <p:set>
                                      <p:cBhvr>
                                        <p:cTn id="1483" dur="1" fill="hold">
                                          <p:stCondLst>
                                            <p:cond delay="0"/>
                                          </p:stCondLst>
                                        </p:cTn>
                                        <p:tgtEl>
                                          <p:spTgt spid="1252"/>
                                        </p:tgtEl>
                                        <p:attrNameLst>
                                          <p:attrName>style.visibility</p:attrName>
                                        </p:attrNameLst>
                                      </p:cBhvr>
                                      <p:to>
                                        <p:strVal val="visible"/>
                                      </p:to>
                                    </p:set>
                                    <p:animEffect filter="fade" transition="in">
                                      <p:cBhvr additive="repl">
                                        <p:cTn id="1484" dur="400"/>
                                        <p:tgtEl>
                                          <p:spTgt spid="1252"/>
                                        </p:tgtEl>
                                      </p:cBhvr>
                                    </p:animEffect>
                                  </p:childTnLst>
                                </p:cTn>
                              </p:par>
                              <p:par>
                                <p:cTn id="1485" nodeType="withEffect" fill="hold" presetClass="entr" presetID="10">
                                  <p:stCondLst>
                                    <p:cond delay="900"/>
                                  </p:stCondLst>
                                  <p:childTnLst>
                                    <p:set>
                                      <p:cBhvr>
                                        <p:cTn id="1486" dur="1" fill="hold">
                                          <p:stCondLst>
                                            <p:cond delay="0"/>
                                          </p:stCondLst>
                                        </p:cTn>
                                        <p:tgtEl>
                                          <p:spTgt spid="1253"/>
                                        </p:tgtEl>
                                        <p:attrNameLst>
                                          <p:attrName>style.visibility</p:attrName>
                                        </p:attrNameLst>
                                      </p:cBhvr>
                                      <p:to>
                                        <p:strVal val="visible"/>
                                      </p:to>
                                    </p:set>
                                    <p:animEffect filter="fade" transition="in">
                                      <p:cBhvr additive="repl">
                                        <p:cTn id="1487" dur="400"/>
                                        <p:tgtEl>
                                          <p:spTgt spid="1253"/>
                                        </p:tgtEl>
                                      </p:cBhvr>
                                    </p:animEffect>
                                  </p:childTnLst>
                                </p:cTn>
                              </p:par>
                              <p:par>
                                <p:cTn id="1488" nodeType="withEffect" fill="hold" presetClass="entr" presetID="10">
                                  <p:stCondLst>
                                    <p:cond delay="1300"/>
                                  </p:stCondLst>
                                  <p:childTnLst>
                                    <p:set>
                                      <p:cBhvr>
                                        <p:cTn id="1489" dur="1" fill="hold">
                                          <p:stCondLst>
                                            <p:cond delay="0"/>
                                          </p:stCondLst>
                                        </p:cTn>
                                        <p:tgtEl>
                                          <p:spTgt spid="1254"/>
                                        </p:tgtEl>
                                        <p:attrNameLst>
                                          <p:attrName>style.visibility</p:attrName>
                                        </p:attrNameLst>
                                      </p:cBhvr>
                                      <p:to>
                                        <p:strVal val="visible"/>
                                      </p:to>
                                    </p:set>
                                    <p:animEffect filter="fade" transition="in">
                                      <p:cBhvr additive="repl">
                                        <p:cTn id="1490" dur="400"/>
                                        <p:tgtEl>
                                          <p:spTgt spid="1254"/>
                                        </p:tgtEl>
                                      </p:cBhvr>
                                    </p:animEffect>
                                  </p:childTnLst>
                                </p:cTn>
                              </p:par>
                              <p:par>
                                <p:cTn id="1491" nodeType="withEffect" fill="hold" presetClass="entr" presetID="10">
                                  <p:stCondLst>
                                    <p:cond delay="1300"/>
                                  </p:stCondLst>
                                  <p:childTnLst>
                                    <p:set>
                                      <p:cBhvr>
                                        <p:cTn id="1492" dur="1" fill="hold">
                                          <p:stCondLst>
                                            <p:cond delay="0"/>
                                          </p:stCondLst>
                                        </p:cTn>
                                        <p:tgtEl>
                                          <p:spTgt spid="1255"/>
                                        </p:tgtEl>
                                        <p:attrNameLst>
                                          <p:attrName>style.visibility</p:attrName>
                                        </p:attrNameLst>
                                      </p:cBhvr>
                                      <p:to>
                                        <p:strVal val="visible"/>
                                      </p:to>
                                    </p:set>
                                    <p:animEffect filter="fade" transition="in">
                                      <p:cBhvr additive="repl">
                                        <p:cTn id="1493" dur="400"/>
                                        <p:tgtEl>
                                          <p:spTgt spid="1255"/>
                                        </p:tgtEl>
                                      </p:cBhvr>
                                    </p:animEffect>
                                  </p:childTnLst>
                                </p:cTn>
                              </p:par>
                              <p:par>
                                <p:cTn id="1494" nodeType="withEffect" fill="hold" presetClass="entr" presetID="10">
                                  <p:stCondLst>
                                    <p:cond delay="1300"/>
                                  </p:stCondLst>
                                  <p:childTnLst>
                                    <p:set>
                                      <p:cBhvr>
                                        <p:cTn id="1495" dur="1" fill="hold">
                                          <p:stCondLst>
                                            <p:cond delay="0"/>
                                          </p:stCondLst>
                                        </p:cTn>
                                        <p:tgtEl>
                                          <p:spTgt spid="1256"/>
                                        </p:tgtEl>
                                        <p:attrNameLst>
                                          <p:attrName>style.visibility</p:attrName>
                                        </p:attrNameLst>
                                      </p:cBhvr>
                                      <p:to>
                                        <p:strVal val="visible"/>
                                      </p:to>
                                    </p:set>
                                    <p:animEffect filter="fade" transition="in">
                                      <p:cBhvr additive="repl">
                                        <p:cTn id="1496" dur="400"/>
                                        <p:tgtEl>
                                          <p:spTgt spid="1256"/>
                                        </p:tgtEl>
                                      </p:cBhvr>
                                    </p:animEffect>
                                  </p:childTnLst>
                                </p:cTn>
                              </p:par>
                              <p:par>
                                <p:cTn id="1497" nodeType="withEffect" fill="hold" presetClass="entr" presetID="10">
                                  <p:stCondLst>
                                    <p:cond delay="1300"/>
                                  </p:stCondLst>
                                  <p:childTnLst>
                                    <p:set>
                                      <p:cBhvr>
                                        <p:cTn id="1498" dur="1" fill="hold">
                                          <p:stCondLst>
                                            <p:cond delay="0"/>
                                          </p:stCondLst>
                                        </p:cTn>
                                        <p:tgtEl>
                                          <p:spTgt spid="1257"/>
                                        </p:tgtEl>
                                        <p:attrNameLst>
                                          <p:attrName>style.visibility</p:attrName>
                                        </p:attrNameLst>
                                      </p:cBhvr>
                                      <p:to>
                                        <p:strVal val="visible"/>
                                      </p:to>
                                    </p:set>
                                    <p:animEffect filter="fade" transition="in">
                                      <p:cBhvr additive="repl">
                                        <p:cTn id="1499" dur="400"/>
                                        <p:tgtEl>
                                          <p:spTgt spid="1257"/>
                                        </p:tgtEl>
                                      </p:cBhvr>
                                    </p:animEffect>
                                  </p:childTnLst>
                                </p:cTn>
                              </p:par>
                              <p:par>
                                <p:cTn id="1500" nodeType="withEffect" fill="hold" presetClass="entr" presetID="10">
                                  <p:stCondLst>
                                    <p:cond delay="1300"/>
                                  </p:stCondLst>
                                  <p:childTnLst>
                                    <p:set>
                                      <p:cBhvr>
                                        <p:cTn id="1501" dur="1" fill="hold">
                                          <p:stCondLst>
                                            <p:cond delay="0"/>
                                          </p:stCondLst>
                                        </p:cTn>
                                        <p:tgtEl>
                                          <p:spTgt spid="1258"/>
                                        </p:tgtEl>
                                        <p:attrNameLst>
                                          <p:attrName>style.visibility</p:attrName>
                                        </p:attrNameLst>
                                      </p:cBhvr>
                                      <p:to>
                                        <p:strVal val="visible"/>
                                      </p:to>
                                    </p:set>
                                    <p:animEffect filter="fade" transition="in">
                                      <p:cBhvr additive="repl">
                                        <p:cTn id="1502" dur="400"/>
                                        <p:tgtEl>
                                          <p:spTgt spid="1258"/>
                                        </p:tgtEl>
                                      </p:cBhvr>
                                    </p:animEffect>
                                  </p:childTnLst>
                                </p:cTn>
                              </p:par>
                              <p:par>
                                <p:cTn id="1503" nodeType="withEffect" fill="hold" presetClass="entr" presetID="10">
                                  <p:stCondLst>
                                    <p:cond delay="1300"/>
                                  </p:stCondLst>
                                  <p:childTnLst>
                                    <p:set>
                                      <p:cBhvr>
                                        <p:cTn id="1504" dur="1" fill="hold">
                                          <p:stCondLst>
                                            <p:cond delay="0"/>
                                          </p:stCondLst>
                                        </p:cTn>
                                        <p:tgtEl>
                                          <p:spTgt spid="1259"/>
                                        </p:tgtEl>
                                        <p:attrNameLst>
                                          <p:attrName>style.visibility</p:attrName>
                                        </p:attrNameLst>
                                      </p:cBhvr>
                                      <p:to>
                                        <p:strVal val="visible"/>
                                      </p:to>
                                    </p:set>
                                    <p:animEffect filter="fade" transition="in">
                                      <p:cBhvr additive="repl">
                                        <p:cTn id="1505" dur="400"/>
                                        <p:tgtEl>
                                          <p:spTgt spid="1259"/>
                                        </p:tgtEl>
                                      </p:cBhvr>
                                    </p:animEffect>
                                  </p:childTnLst>
                                </p:cTn>
                              </p:par>
                              <p:par>
                                <p:cTn id="1506" nodeType="withEffect" fill="hold" presetClass="entr" presetID="10">
                                  <p:stCondLst>
                                    <p:cond delay="1700"/>
                                  </p:stCondLst>
                                  <p:childTnLst>
                                    <p:set>
                                      <p:cBhvr>
                                        <p:cTn id="1507" dur="1" fill="hold">
                                          <p:stCondLst>
                                            <p:cond delay="0"/>
                                          </p:stCondLst>
                                        </p:cTn>
                                        <p:tgtEl>
                                          <p:spTgt spid="1260"/>
                                        </p:tgtEl>
                                        <p:attrNameLst>
                                          <p:attrName>style.visibility</p:attrName>
                                        </p:attrNameLst>
                                      </p:cBhvr>
                                      <p:to>
                                        <p:strVal val="visible"/>
                                      </p:to>
                                    </p:set>
                                    <p:animEffect filter="fade" transition="in">
                                      <p:cBhvr additive="repl">
                                        <p:cTn id="1508" dur="400"/>
                                        <p:tgtEl>
                                          <p:spTgt spid="1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290" name="o1" descr="DATA WRANGLING · PROJET FINAL"/>
          <p:cNvPicPr/>
          <p:nvPr/>
        </p:nvPicPr>
        <p:blipFill>
          <a:blip r:embed="rId1"/>
          <a:stretch/>
        </p:blipFill>
        <p:spPr>
          <a:xfrm>
            <a:off x="3974400" y="530280"/>
            <a:ext cx="4242600" cy="145800"/>
          </a:xfrm>
          <a:prstGeom prst="rect">
            <a:avLst/>
          </a:prstGeom>
          <a:ln w="0">
            <a:noFill/>
          </a:ln>
        </p:spPr>
      </p:pic>
      <p:pic>
        <p:nvPicPr>
          <p:cNvPr id="1291" name="o2" descr="VENTES MONDIALES"/>
          <p:cNvPicPr/>
          <p:nvPr/>
        </p:nvPicPr>
        <p:blipFill>
          <a:blip r:embed="rId2"/>
          <a:stretch/>
        </p:blipFill>
        <p:spPr>
          <a:xfrm>
            <a:off x="2438280" y="960120"/>
            <a:ext cx="7314840" cy="456840"/>
          </a:xfrm>
          <a:prstGeom prst="rect">
            <a:avLst/>
          </a:prstGeom>
          <a:ln w="0">
            <a:noFill/>
          </a:ln>
        </p:spPr>
      </p:pic>
      <p:pic>
        <p:nvPicPr>
          <p:cNvPr id="1292" name="o3" descr="DE JEUX VIDEO"/>
          <p:cNvPicPr/>
          <p:nvPr/>
        </p:nvPicPr>
        <p:blipFill>
          <a:blip r:embed="rId3"/>
          <a:stretch/>
        </p:blipFill>
        <p:spPr>
          <a:xfrm>
            <a:off x="3124080" y="1600200"/>
            <a:ext cx="5943240" cy="456840"/>
          </a:xfrm>
          <a:prstGeom prst="rect">
            <a:avLst/>
          </a:prstGeom>
          <a:ln w="0">
            <a:noFill/>
          </a:ln>
        </p:spPr>
      </p:pic>
      <p:sp>
        <p:nvSpPr>
          <p:cNvPr id="1293" name="o4"/>
          <p:cNvSpPr/>
          <p:nvPr/>
        </p:nvSpPr>
        <p:spPr>
          <a:xfrm>
            <a:off x="1371600" y="2423160"/>
            <a:ext cx="9448200" cy="3052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2000" spc="-1" strike="noStrike">
                <a:solidFill>
                  <a:srgbClr val="c4c4e4"/>
                </a:solidFill>
                <a:latin typeface="Arial"/>
              </a:rPr>
              <a:t>1980 – 2016  ·  16 719 jeux  ·  Partie 2 : la base Metacritic</a:t>
            </a:r>
            <a:endParaRPr b="0" lang="en-US" sz="2000" spc="-1" strike="noStrike">
              <a:solidFill>
                <a:srgbClr val="ffffff"/>
              </a:solidFill>
              <a:latin typeface="Arial"/>
            </a:endParaRPr>
          </a:p>
        </p:txBody>
      </p:sp>
      <p:pic>
        <p:nvPicPr>
          <p:cNvPr id="1294" name="rangee_sprite" descr="image-1-8.gif"/>
          <p:cNvPicPr/>
          <p:nvPr/>
        </p:nvPicPr>
        <p:blipFill>
          <a:blip r:embed="rId4"/>
          <a:stretch/>
        </p:blipFill>
        <p:spPr>
          <a:xfrm>
            <a:off x="822960" y="3173040"/>
            <a:ext cx="420120" cy="420120"/>
          </a:xfrm>
          <a:prstGeom prst="rect">
            <a:avLst/>
          </a:prstGeom>
          <a:ln w="0">
            <a:noFill/>
          </a:ln>
        </p:spPr>
      </p:pic>
      <p:pic>
        <p:nvPicPr>
          <p:cNvPr id="1295" name="rangee_sprite" descr="image-1-7.gif"/>
          <p:cNvPicPr/>
          <p:nvPr/>
        </p:nvPicPr>
        <p:blipFill>
          <a:blip r:embed="rId5"/>
          <a:stretch/>
        </p:blipFill>
        <p:spPr>
          <a:xfrm>
            <a:off x="1371600" y="3173040"/>
            <a:ext cx="420120" cy="420120"/>
          </a:xfrm>
          <a:prstGeom prst="rect">
            <a:avLst/>
          </a:prstGeom>
          <a:ln w="0">
            <a:noFill/>
          </a:ln>
        </p:spPr>
      </p:pic>
      <p:pic>
        <p:nvPicPr>
          <p:cNvPr id="1296" name="rangee_sprite" descr="image-1-6.gif"/>
          <p:cNvPicPr/>
          <p:nvPr/>
        </p:nvPicPr>
        <p:blipFill>
          <a:blip r:embed="rId6"/>
          <a:stretch/>
        </p:blipFill>
        <p:spPr>
          <a:xfrm>
            <a:off x="1920240" y="3173040"/>
            <a:ext cx="420120" cy="420120"/>
          </a:xfrm>
          <a:prstGeom prst="rect">
            <a:avLst/>
          </a:prstGeom>
          <a:ln w="0">
            <a:noFill/>
          </a:ln>
        </p:spPr>
      </p:pic>
      <p:pic>
        <p:nvPicPr>
          <p:cNvPr id="1297" name="rangee_sprite" descr="image-1-15.gif"/>
          <p:cNvPicPr/>
          <p:nvPr/>
        </p:nvPicPr>
        <p:blipFill>
          <a:blip r:embed="rId7"/>
          <a:stretch/>
        </p:blipFill>
        <p:spPr>
          <a:xfrm>
            <a:off x="2468880" y="3173040"/>
            <a:ext cx="420120" cy="420120"/>
          </a:xfrm>
          <a:prstGeom prst="rect">
            <a:avLst/>
          </a:prstGeom>
          <a:ln w="0">
            <a:noFill/>
          </a:ln>
        </p:spPr>
      </p:pic>
      <p:pic>
        <p:nvPicPr>
          <p:cNvPr id="1298" name="rangee_pacman" descr="image-1-14.gif"/>
          <p:cNvPicPr/>
          <p:nvPr/>
        </p:nvPicPr>
        <p:blipFill>
          <a:blip r:embed="rId8"/>
          <a:stretch/>
        </p:blipFill>
        <p:spPr>
          <a:xfrm>
            <a:off x="3108960" y="3173040"/>
            <a:ext cx="420120" cy="420120"/>
          </a:xfrm>
          <a:prstGeom prst="rect">
            <a:avLst/>
          </a:prstGeom>
          <a:ln w="0">
            <a:noFill/>
          </a:ln>
        </p:spPr>
      </p:pic>
      <p:sp>
        <p:nvSpPr>
          <p:cNvPr id="1299" name="rangee_pastille"/>
          <p:cNvSpPr/>
          <p:nvPr/>
        </p:nvSpPr>
        <p:spPr>
          <a:xfrm>
            <a:off x="374904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0" name="rangee_pastille"/>
          <p:cNvSpPr/>
          <p:nvPr/>
        </p:nvSpPr>
        <p:spPr>
          <a:xfrm>
            <a:off x="411480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1" name="rangee_pastille"/>
          <p:cNvSpPr/>
          <p:nvPr/>
        </p:nvSpPr>
        <p:spPr>
          <a:xfrm>
            <a:off x="448056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2" name="rangee_pastille"/>
          <p:cNvSpPr/>
          <p:nvPr/>
        </p:nvSpPr>
        <p:spPr>
          <a:xfrm>
            <a:off x="484632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3" name="rangee_pastille"/>
          <p:cNvSpPr/>
          <p:nvPr/>
        </p:nvSpPr>
        <p:spPr>
          <a:xfrm>
            <a:off x="521208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4" name="rangee_pastille"/>
          <p:cNvSpPr/>
          <p:nvPr/>
        </p:nvSpPr>
        <p:spPr>
          <a:xfrm>
            <a:off x="557784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5" name="rangee_pastille"/>
          <p:cNvSpPr/>
          <p:nvPr/>
        </p:nvSpPr>
        <p:spPr>
          <a:xfrm>
            <a:off x="594360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6" name="rangee_pastille"/>
          <p:cNvSpPr/>
          <p:nvPr/>
        </p:nvSpPr>
        <p:spPr>
          <a:xfrm>
            <a:off x="630936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7" name="rangee_pastille"/>
          <p:cNvSpPr/>
          <p:nvPr/>
        </p:nvSpPr>
        <p:spPr>
          <a:xfrm>
            <a:off x="667512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8" name="rangee_pastille"/>
          <p:cNvSpPr/>
          <p:nvPr/>
        </p:nvSpPr>
        <p:spPr>
          <a:xfrm>
            <a:off x="704088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09" name="rangee_pastille"/>
          <p:cNvSpPr/>
          <p:nvPr/>
        </p:nvSpPr>
        <p:spPr>
          <a:xfrm>
            <a:off x="740664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10" name="rangee_pastille"/>
          <p:cNvSpPr/>
          <p:nvPr/>
        </p:nvSpPr>
        <p:spPr>
          <a:xfrm>
            <a:off x="777240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11" name="rangee_pastille"/>
          <p:cNvSpPr/>
          <p:nvPr/>
        </p:nvSpPr>
        <p:spPr>
          <a:xfrm>
            <a:off x="813816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12" name="rangee_pastille"/>
          <p:cNvSpPr/>
          <p:nvPr/>
        </p:nvSpPr>
        <p:spPr>
          <a:xfrm>
            <a:off x="850392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13" name="rangee_pastille"/>
          <p:cNvSpPr/>
          <p:nvPr/>
        </p:nvSpPr>
        <p:spPr>
          <a:xfrm>
            <a:off x="886968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14" name="rangee_pastille"/>
          <p:cNvSpPr/>
          <p:nvPr/>
        </p:nvSpPr>
        <p:spPr>
          <a:xfrm>
            <a:off x="923544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315" name="rangee_pastille"/>
          <p:cNvSpPr/>
          <p:nvPr/>
        </p:nvSpPr>
        <p:spPr>
          <a:xfrm>
            <a:off x="9601200" y="334656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pic>
        <p:nvPicPr>
          <p:cNvPr id="1316" name="o27" descr="MODE COOP"/>
          <p:cNvPicPr/>
          <p:nvPr/>
        </p:nvPicPr>
        <p:blipFill>
          <a:blip r:embed="rId9"/>
          <a:stretch/>
        </p:blipFill>
        <p:spPr>
          <a:xfrm>
            <a:off x="5439420" y="4069080"/>
            <a:ext cx="1312200" cy="145800"/>
          </a:xfrm>
          <a:prstGeom prst="rect">
            <a:avLst/>
          </a:prstGeom>
          <a:ln w="0">
            <a:noFill/>
          </a:ln>
        </p:spPr>
      </p:pic>
      <p:pic>
        <p:nvPicPr>
          <p:cNvPr id="1317" name="o28" descr="1 EQUIPE · 2 BASES"/>
          <p:cNvPicPr/>
          <p:nvPr/>
        </p:nvPicPr>
        <p:blipFill>
          <a:blip r:embed="rId10"/>
          <a:stretch/>
        </p:blipFill>
        <p:spPr>
          <a:xfrm>
            <a:off x="3959400" y="4343400"/>
            <a:ext cx="4272601" cy="237240"/>
          </a:xfrm>
          <a:prstGeom prst="rect">
            <a:avLst/>
          </a:prstGeom>
          <a:ln w="0">
            <a:noFill/>
          </a:ln>
        </p:spPr>
      </p:pic>
      <p:pic>
        <p:nvPicPr>
          <p:cNvPr id="1318" name="o29" descr="CONTINUE ?"/>
          <p:cNvPicPr/>
          <p:nvPr/>
        </p:nvPicPr>
        <p:blipFill>
          <a:blip r:embed="rId11"/>
          <a:stretch/>
        </p:blipFill>
        <p:spPr>
          <a:xfrm>
            <a:off x="5181480" y="4892040"/>
            <a:ext cx="1828440" cy="182520"/>
          </a:xfrm>
          <a:prstGeom prst="rect">
            <a:avLst/>
          </a:prstGeom>
          <a:ln w="0">
            <a:noFill/>
          </a:ln>
        </p:spPr>
      </p:pic>
      <p:pic>
        <p:nvPicPr>
          <p:cNvPr id="1319" name="o30" descr="© 2026 PGE3 · 23 OCTOBRE"/>
          <p:cNvPicPr/>
          <p:nvPr/>
        </p:nvPicPr>
        <p:blipFill>
          <a:blip r:embed="rId12"/>
          <a:stretch/>
        </p:blipFill>
        <p:spPr>
          <a:xfrm>
            <a:off x="4559760" y="5440680"/>
            <a:ext cx="3071880" cy="127800"/>
          </a:xfrm>
          <a:prstGeom prst="rect">
            <a:avLst/>
          </a:prstGeom>
          <a:ln w="0">
            <a:noFill/>
          </a:ln>
        </p:spPr>
      </p:pic>
      <p:pic>
        <p:nvPicPr>
          <p:cNvPr id="1320" name="fin_pastille" descr="image-1-13.gif"/>
          <p:cNvPicPr/>
          <p:nvPr/>
        </p:nvPicPr>
        <p:blipFill>
          <a:blip r:embed="rId13"/>
          <a:stretch/>
        </p:blipFill>
        <p:spPr>
          <a:xfrm>
            <a:off x="11448360" y="6355080"/>
            <a:ext cx="182520" cy="182520"/>
          </a:xfrm>
          <a:prstGeom prst="rect">
            <a:avLst/>
          </a:prstGeom>
          <a:ln w="0">
            <a:noFill/>
          </a:ln>
        </p:spPr>
      </p:pic>
      <p:pic>
        <p:nvPicPr>
          <p:cNvPr id="1321" name="barre_fantome" descr="image.gif"/>
          <p:cNvPicPr/>
          <p:nvPr/>
        </p:nvPicPr>
        <p:blipFill>
          <a:blip r:embed="rId14"/>
          <a:stretch/>
        </p:blipFill>
        <p:spPr>
          <a:xfrm>
            <a:off x="4511376" y="6291000"/>
            <a:ext cx="310680" cy="310680"/>
          </a:xfrm>
          <a:prstGeom prst="rect">
            <a:avLst/>
          </a:prstGeom>
          <a:ln w="0">
            <a:noFill/>
          </a:ln>
        </p:spPr>
      </p:pic>
      <p:sp>
        <p:nvSpPr>
          <p:cNvPr id="1323" name="barre_pastille"/>
          <p:cNvSpPr/>
          <p:nvPr/>
        </p:nvSpPr>
        <p:spPr>
          <a:xfrm>
            <a:off x="5486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23"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24"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25"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26"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27"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28"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29"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0"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1"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2"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3"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4"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5"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6"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7"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8"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39"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40"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41"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42"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43"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44"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45"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46"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47"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322" name="barre_pacman" descr="image.gif"/>
          <p:cNvPicPr/>
          <p:nvPr/>
        </p:nvPicPr>
        <p:blipFill>
          <a:blip r:embed="rId15"/>
          <a:stretch/>
        </p:blipFill>
        <p:spPr>
          <a:xfrm>
            <a:off x="5078376" y="6291000"/>
            <a:ext cx="310680" cy="310680"/>
          </a:xfrm>
          <a:prstGeom prst="rect">
            <a:avLst/>
          </a:prstGeom>
          <a:ln w="0">
            <a:noFill/>
          </a:ln>
        </p:spPr>
      </p:pic>
      <p:sp>
        <p:nvSpPr>
          <p:cNvPr id="1348"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1509" dur="indefinite" restart="never" nodeType="tmRoot">
          <p:childTnLst>
            <p:seq>
              <p:cTn id="1510" dur="indefinite" nodeType="mainSeq">
                <p:childTnLst>
                  <p:par>
                    <p:cTn id="1511" fill="hold">
                      <p:stCondLst>
                        <p:cond delay="0"/>
                      </p:stCondLst>
                      <p:childTnLst>
                        <p:par>
                          <p:cTn id="1512" fill="hold">
                            <p:stCondLst>
                              <p:cond delay="0"/>
                            </p:stCondLst>
                            <p:childTnLst>
                              <p:par>
                                <p:cTn id="1513" nodeType="withEffect" fill="hold" presetClass="path">
                                  <p:stCondLst>
                                    <p:cond delay="0"/>
                                  </p:stCondLst>
                                  <p:childTnLst>
                                    <p:animMotion origin="layout" path="M 0 0 L 0.02252 0 E">
                                      <p:cBhvr>
                                        <p:cTn id="1514" dur="900" fill="hold"/>
                                        <p:tgtEl>
                                          <p:spTgt spid="1321"/>
                                        </p:tgtEl>
                                        <p:attrNameLst>
                                          <p:attrName>ppt_x</p:attrName>
                                          <p:attrName>ppt_y</p:attrName>
                                        </p:attrNameLst>
                                      </p:cBhvr>
                                    </p:animMotion>
                                  </p:childTnLst>
                                </p:cTn>
                              </p:par>
                              <p:par>
                                <p:cTn id="1515" nodeType="withEffect" fill="hold" presetClass="path">
                                  <p:stCondLst>
                                    <p:cond delay="0"/>
                                  </p:stCondLst>
                                  <p:childTnLst>
                                    <p:animMotion origin="layout" path="M 0 0 L 0.02252 0 E">
                                      <p:cBhvr>
                                        <p:cTn id="1516" dur="900" fill="hold"/>
                                        <p:tgtEl>
                                          <p:spTgt spid="1322"/>
                                        </p:tgtEl>
                                        <p:attrNameLst>
                                          <p:attrName>ppt_x</p:attrName>
                                          <p:attrName>ppt_y</p:attrName>
                                        </p:attrNameLst>
                                      </p:cBhvr>
                                    </p:animMotion>
                                  </p:childTnLst>
                                </p:cTn>
                              </p:par>
                              <p:par>
                                <p:cTn id="1517" nodeType="withEffect" fill="hold" presetClass="exit" presetID="1">
                                  <p:stCondLst>
                                    <p:cond delay="733"/>
                                  </p:stCondLst>
                                  <p:childTnLst>
                                    <p:set>
                                      <p:cBhvr>
                                        <p:cTn id="1518" dur="1" fill="hold">
                                          <p:stCondLst>
                                            <p:cond delay="0"/>
                                          </p:stCondLst>
                                        </p:cTn>
                                        <p:tgtEl>
                                          <p:spTgt spid="1323"/>
                                        </p:tgtEl>
                                        <p:attrNameLst>
                                          <p:attrName>style.visibility</p:attrName>
                                        </p:attrNameLst>
                                      </p:cBhvr>
                                      <p:to>
                                        <p:strVal val="hidden"/>
                                      </p:to>
                                    </p:set>
                                  </p:childTnLst>
                                </p:cTn>
                              </p:par>
                              <p:par>
                                <p:cTn id="1519" nodeType="withEffect" fill="hold" presetClass="path">
                                  <p:stCondLst>
                                    <p:cond delay="300"/>
                                  </p:stCondLst>
                                  <p:childTnLst>
                                    <p:animMotion origin="layout" path="M 0 0 L 0.55501 0 E">
                                      <p:cBhvr>
                                        <p:cTn id="1520" dur="3000" fill="hold"/>
                                        <p:tgtEl>
                                          <p:spTgt spid="1294"/>
                                        </p:tgtEl>
                                        <p:attrNameLst>
                                          <p:attrName>ppt_x</p:attrName>
                                          <p:attrName>ppt_y</p:attrName>
                                        </p:attrNameLst>
                                      </p:cBhvr>
                                    </p:animMotion>
                                  </p:childTnLst>
                                </p:cTn>
                              </p:par>
                              <p:par>
                                <p:cTn id="1521" nodeType="withEffect" fill="hold" presetClass="path">
                                  <p:stCondLst>
                                    <p:cond delay="300"/>
                                  </p:stCondLst>
                                  <p:childTnLst>
                                    <p:animMotion origin="layout" path="M 0 0 L 0.55501 0 E">
                                      <p:cBhvr>
                                        <p:cTn id="1522" dur="3000" fill="hold"/>
                                        <p:tgtEl>
                                          <p:spTgt spid="1295"/>
                                        </p:tgtEl>
                                        <p:attrNameLst>
                                          <p:attrName>ppt_x</p:attrName>
                                          <p:attrName>ppt_y</p:attrName>
                                        </p:attrNameLst>
                                      </p:cBhvr>
                                    </p:animMotion>
                                  </p:childTnLst>
                                </p:cTn>
                              </p:par>
                              <p:par>
                                <p:cTn id="1523" nodeType="withEffect" fill="hold" presetClass="path">
                                  <p:stCondLst>
                                    <p:cond delay="300"/>
                                  </p:stCondLst>
                                  <p:childTnLst>
                                    <p:animMotion origin="layout" path="M 0 0 L 0.55501 0 E">
                                      <p:cBhvr>
                                        <p:cTn id="1524" dur="3000" fill="hold"/>
                                        <p:tgtEl>
                                          <p:spTgt spid="1296"/>
                                        </p:tgtEl>
                                        <p:attrNameLst>
                                          <p:attrName>ppt_x</p:attrName>
                                          <p:attrName>ppt_y</p:attrName>
                                        </p:attrNameLst>
                                      </p:cBhvr>
                                    </p:animMotion>
                                  </p:childTnLst>
                                </p:cTn>
                              </p:par>
                              <p:par>
                                <p:cTn id="1525" nodeType="withEffect" fill="hold" presetClass="path">
                                  <p:stCondLst>
                                    <p:cond delay="300"/>
                                  </p:stCondLst>
                                  <p:childTnLst>
                                    <p:animMotion origin="layout" path="M 0 0 L 0.55501 0 E">
                                      <p:cBhvr>
                                        <p:cTn id="1526" dur="3000" fill="hold"/>
                                        <p:tgtEl>
                                          <p:spTgt spid="1297"/>
                                        </p:tgtEl>
                                        <p:attrNameLst>
                                          <p:attrName>ppt_x</p:attrName>
                                          <p:attrName>ppt_y</p:attrName>
                                        </p:attrNameLst>
                                      </p:cBhvr>
                                    </p:animMotion>
                                  </p:childTnLst>
                                </p:cTn>
                              </p:par>
                              <p:par>
                                <p:cTn id="1527" nodeType="withEffect" fill="hold" presetClass="path">
                                  <p:stCondLst>
                                    <p:cond delay="300"/>
                                  </p:stCondLst>
                                  <p:childTnLst>
                                    <p:animMotion origin="layout" path="M 0 0 L 0.55501 0 E">
                                      <p:cBhvr>
                                        <p:cTn id="1528" dur="3000" fill="hold"/>
                                        <p:tgtEl>
                                          <p:spTgt spid="1298"/>
                                        </p:tgtEl>
                                        <p:attrNameLst>
                                          <p:attrName>ppt_x</p:attrName>
                                          <p:attrName>ppt_y</p:attrName>
                                        </p:attrNameLst>
                                      </p:cBhvr>
                                    </p:animMotion>
                                  </p:childTnLst>
                                </p:cTn>
                              </p:par>
                              <p:par>
                                <p:cTn id="1529" nodeType="withEffect" fill="hold" presetClass="exit" presetID="1">
                                  <p:stCondLst>
                                    <p:cond delay="450"/>
                                  </p:stCondLst>
                                  <p:childTnLst>
                                    <p:set>
                                      <p:cBhvr>
                                        <p:cTn id="1530" dur="1" fill="hold">
                                          <p:stCondLst>
                                            <p:cond delay="0"/>
                                          </p:stCondLst>
                                        </p:cTn>
                                        <p:tgtEl>
                                          <p:spTgt spid="1299"/>
                                        </p:tgtEl>
                                        <p:attrNameLst>
                                          <p:attrName>style.visibility</p:attrName>
                                        </p:attrNameLst>
                                      </p:cBhvr>
                                      <p:to>
                                        <p:strVal val="hidden"/>
                                      </p:to>
                                    </p:set>
                                  </p:childTnLst>
                                </p:cTn>
                              </p:par>
                              <p:par>
                                <p:cTn id="1531" nodeType="withEffect" fill="hold" presetClass="exit" presetID="1">
                                  <p:stCondLst>
                                    <p:cond delay="612"/>
                                  </p:stCondLst>
                                  <p:childTnLst>
                                    <p:set>
                                      <p:cBhvr>
                                        <p:cTn id="1532" dur="1" fill="hold">
                                          <p:stCondLst>
                                            <p:cond delay="0"/>
                                          </p:stCondLst>
                                        </p:cTn>
                                        <p:tgtEl>
                                          <p:spTgt spid="1300"/>
                                        </p:tgtEl>
                                        <p:attrNameLst>
                                          <p:attrName>style.visibility</p:attrName>
                                        </p:attrNameLst>
                                      </p:cBhvr>
                                      <p:to>
                                        <p:strVal val="hidden"/>
                                      </p:to>
                                    </p:set>
                                  </p:childTnLst>
                                </p:cTn>
                              </p:par>
                              <p:par>
                                <p:cTn id="1533" nodeType="withEffect" fill="hold" presetClass="exit" presetID="1">
                                  <p:stCondLst>
                                    <p:cond delay="774"/>
                                  </p:stCondLst>
                                  <p:childTnLst>
                                    <p:set>
                                      <p:cBhvr>
                                        <p:cTn id="1534" dur="1" fill="hold">
                                          <p:stCondLst>
                                            <p:cond delay="0"/>
                                          </p:stCondLst>
                                        </p:cTn>
                                        <p:tgtEl>
                                          <p:spTgt spid="1301"/>
                                        </p:tgtEl>
                                        <p:attrNameLst>
                                          <p:attrName>style.visibility</p:attrName>
                                        </p:attrNameLst>
                                      </p:cBhvr>
                                      <p:to>
                                        <p:strVal val="hidden"/>
                                      </p:to>
                                    </p:set>
                                  </p:childTnLst>
                                </p:cTn>
                              </p:par>
                              <p:par>
                                <p:cTn id="1535" nodeType="withEffect" fill="hold" presetClass="exit" presetID="1">
                                  <p:stCondLst>
                                    <p:cond delay="936"/>
                                  </p:stCondLst>
                                  <p:childTnLst>
                                    <p:set>
                                      <p:cBhvr>
                                        <p:cTn id="1536" dur="1" fill="hold">
                                          <p:stCondLst>
                                            <p:cond delay="0"/>
                                          </p:stCondLst>
                                        </p:cTn>
                                        <p:tgtEl>
                                          <p:spTgt spid="1302"/>
                                        </p:tgtEl>
                                        <p:attrNameLst>
                                          <p:attrName>style.visibility</p:attrName>
                                        </p:attrNameLst>
                                      </p:cBhvr>
                                      <p:to>
                                        <p:strVal val="hidden"/>
                                      </p:to>
                                    </p:set>
                                  </p:childTnLst>
                                </p:cTn>
                              </p:par>
                              <p:par>
                                <p:cTn id="1537" nodeType="withEffect" fill="hold" presetClass="exit" presetID="1">
                                  <p:stCondLst>
                                    <p:cond delay="1099"/>
                                  </p:stCondLst>
                                  <p:childTnLst>
                                    <p:set>
                                      <p:cBhvr>
                                        <p:cTn id="1538" dur="1" fill="hold">
                                          <p:stCondLst>
                                            <p:cond delay="0"/>
                                          </p:stCondLst>
                                        </p:cTn>
                                        <p:tgtEl>
                                          <p:spTgt spid="1303"/>
                                        </p:tgtEl>
                                        <p:attrNameLst>
                                          <p:attrName>style.visibility</p:attrName>
                                        </p:attrNameLst>
                                      </p:cBhvr>
                                      <p:to>
                                        <p:strVal val="hidden"/>
                                      </p:to>
                                    </p:set>
                                  </p:childTnLst>
                                </p:cTn>
                              </p:par>
                              <p:par>
                                <p:cTn id="1539" nodeType="withEffect" fill="hold" presetClass="exit" presetID="1">
                                  <p:stCondLst>
                                    <p:cond delay="1261"/>
                                  </p:stCondLst>
                                  <p:childTnLst>
                                    <p:set>
                                      <p:cBhvr>
                                        <p:cTn id="1540" dur="1" fill="hold">
                                          <p:stCondLst>
                                            <p:cond delay="0"/>
                                          </p:stCondLst>
                                        </p:cTn>
                                        <p:tgtEl>
                                          <p:spTgt spid="1304"/>
                                        </p:tgtEl>
                                        <p:attrNameLst>
                                          <p:attrName>style.visibility</p:attrName>
                                        </p:attrNameLst>
                                      </p:cBhvr>
                                      <p:to>
                                        <p:strVal val="hidden"/>
                                      </p:to>
                                    </p:set>
                                  </p:childTnLst>
                                </p:cTn>
                              </p:par>
                              <p:par>
                                <p:cTn id="1541" nodeType="withEffect" fill="hold" presetClass="exit" presetID="1">
                                  <p:stCondLst>
                                    <p:cond delay="1423"/>
                                  </p:stCondLst>
                                  <p:childTnLst>
                                    <p:set>
                                      <p:cBhvr>
                                        <p:cTn id="1542" dur="1" fill="hold">
                                          <p:stCondLst>
                                            <p:cond delay="0"/>
                                          </p:stCondLst>
                                        </p:cTn>
                                        <p:tgtEl>
                                          <p:spTgt spid="1305"/>
                                        </p:tgtEl>
                                        <p:attrNameLst>
                                          <p:attrName>style.visibility</p:attrName>
                                        </p:attrNameLst>
                                      </p:cBhvr>
                                      <p:to>
                                        <p:strVal val="hidden"/>
                                      </p:to>
                                    </p:set>
                                  </p:childTnLst>
                                </p:cTn>
                              </p:par>
                              <p:par>
                                <p:cTn id="1543" nodeType="withEffect" fill="hold" presetClass="exit" presetID="1">
                                  <p:stCondLst>
                                    <p:cond delay="1585"/>
                                  </p:stCondLst>
                                  <p:childTnLst>
                                    <p:set>
                                      <p:cBhvr>
                                        <p:cTn id="1544" dur="1" fill="hold">
                                          <p:stCondLst>
                                            <p:cond delay="0"/>
                                          </p:stCondLst>
                                        </p:cTn>
                                        <p:tgtEl>
                                          <p:spTgt spid="1306"/>
                                        </p:tgtEl>
                                        <p:attrNameLst>
                                          <p:attrName>style.visibility</p:attrName>
                                        </p:attrNameLst>
                                      </p:cBhvr>
                                      <p:to>
                                        <p:strVal val="hidden"/>
                                      </p:to>
                                    </p:set>
                                  </p:childTnLst>
                                </p:cTn>
                              </p:par>
                              <p:par>
                                <p:cTn id="1545" nodeType="withEffect" fill="hold" presetClass="exit" presetID="1">
                                  <p:stCondLst>
                                    <p:cond delay="1747"/>
                                  </p:stCondLst>
                                  <p:childTnLst>
                                    <p:set>
                                      <p:cBhvr>
                                        <p:cTn id="1546" dur="1" fill="hold">
                                          <p:stCondLst>
                                            <p:cond delay="0"/>
                                          </p:stCondLst>
                                        </p:cTn>
                                        <p:tgtEl>
                                          <p:spTgt spid="1307"/>
                                        </p:tgtEl>
                                        <p:attrNameLst>
                                          <p:attrName>style.visibility</p:attrName>
                                        </p:attrNameLst>
                                      </p:cBhvr>
                                      <p:to>
                                        <p:strVal val="hidden"/>
                                      </p:to>
                                    </p:set>
                                  </p:childTnLst>
                                </p:cTn>
                              </p:par>
                              <p:par>
                                <p:cTn id="1547" nodeType="withEffect" fill="hold" presetClass="exit" presetID="1">
                                  <p:stCondLst>
                                    <p:cond delay="1909"/>
                                  </p:stCondLst>
                                  <p:childTnLst>
                                    <p:set>
                                      <p:cBhvr>
                                        <p:cTn id="1548" dur="1" fill="hold">
                                          <p:stCondLst>
                                            <p:cond delay="0"/>
                                          </p:stCondLst>
                                        </p:cTn>
                                        <p:tgtEl>
                                          <p:spTgt spid="1308"/>
                                        </p:tgtEl>
                                        <p:attrNameLst>
                                          <p:attrName>style.visibility</p:attrName>
                                        </p:attrNameLst>
                                      </p:cBhvr>
                                      <p:to>
                                        <p:strVal val="hidden"/>
                                      </p:to>
                                    </p:set>
                                  </p:childTnLst>
                                </p:cTn>
                              </p:par>
                              <p:par>
                                <p:cTn id="1549" nodeType="withEffect" fill="hold" presetClass="exit" presetID="1">
                                  <p:stCondLst>
                                    <p:cond delay="2072"/>
                                  </p:stCondLst>
                                  <p:childTnLst>
                                    <p:set>
                                      <p:cBhvr>
                                        <p:cTn id="1550" dur="1" fill="hold">
                                          <p:stCondLst>
                                            <p:cond delay="0"/>
                                          </p:stCondLst>
                                        </p:cTn>
                                        <p:tgtEl>
                                          <p:spTgt spid="1309"/>
                                        </p:tgtEl>
                                        <p:attrNameLst>
                                          <p:attrName>style.visibility</p:attrName>
                                        </p:attrNameLst>
                                      </p:cBhvr>
                                      <p:to>
                                        <p:strVal val="hidden"/>
                                      </p:to>
                                    </p:set>
                                  </p:childTnLst>
                                </p:cTn>
                              </p:par>
                              <p:par>
                                <p:cTn id="1551" nodeType="withEffect" fill="hold" presetClass="exit" presetID="1">
                                  <p:stCondLst>
                                    <p:cond delay="2234"/>
                                  </p:stCondLst>
                                  <p:childTnLst>
                                    <p:set>
                                      <p:cBhvr>
                                        <p:cTn id="1552" dur="1" fill="hold">
                                          <p:stCondLst>
                                            <p:cond delay="0"/>
                                          </p:stCondLst>
                                        </p:cTn>
                                        <p:tgtEl>
                                          <p:spTgt spid="1310"/>
                                        </p:tgtEl>
                                        <p:attrNameLst>
                                          <p:attrName>style.visibility</p:attrName>
                                        </p:attrNameLst>
                                      </p:cBhvr>
                                      <p:to>
                                        <p:strVal val="hidden"/>
                                      </p:to>
                                    </p:set>
                                  </p:childTnLst>
                                </p:cTn>
                              </p:par>
                              <p:par>
                                <p:cTn id="1553" nodeType="withEffect" fill="hold" presetClass="exit" presetID="1">
                                  <p:stCondLst>
                                    <p:cond delay="2396"/>
                                  </p:stCondLst>
                                  <p:childTnLst>
                                    <p:set>
                                      <p:cBhvr>
                                        <p:cTn id="1554" dur="1" fill="hold">
                                          <p:stCondLst>
                                            <p:cond delay="0"/>
                                          </p:stCondLst>
                                        </p:cTn>
                                        <p:tgtEl>
                                          <p:spTgt spid="1311"/>
                                        </p:tgtEl>
                                        <p:attrNameLst>
                                          <p:attrName>style.visibility</p:attrName>
                                        </p:attrNameLst>
                                      </p:cBhvr>
                                      <p:to>
                                        <p:strVal val="hidden"/>
                                      </p:to>
                                    </p:set>
                                  </p:childTnLst>
                                </p:cTn>
                              </p:par>
                              <p:par>
                                <p:cTn id="1555" nodeType="withEffect" fill="hold" presetClass="exit" presetID="1">
                                  <p:stCondLst>
                                    <p:cond delay="2558"/>
                                  </p:stCondLst>
                                  <p:childTnLst>
                                    <p:set>
                                      <p:cBhvr>
                                        <p:cTn id="1556" dur="1" fill="hold">
                                          <p:stCondLst>
                                            <p:cond delay="0"/>
                                          </p:stCondLst>
                                        </p:cTn>
                                        <p:tgtEl>
                                          <p:spTgt spid="1312"/>
                                        </p:tgtEl>
                                        <p:attrNameLst>
                                          <p:attrName>style.visibility</p:attrName>
                                        </p:attrNameLst>
                                      </p:cBhvr>
                                      <p:to>
                                        <p:strVal val="hidden"/>
                                      </p:to>
                                    </p:set>
                                  </p:childTnLst>
                                </p:cTn>
                              </p:par>
                              <p:par>
                                <p:cTn id="1557" nodeType="withEffect" fill="hold" presetClass="exit" presetID="1">
                                  <p:stCondLst>
                                    <p:cond delay="2720"/>
                                  </p:stCondLst>
                                  <p:childTnLst>
                                    <p:set>
                                      <p:cBhvr>
                                        <p:cTn id="1558" dur="1" fill="hold">
                                          <p:stCondLst>
                                            <p:cond delay="0"/>
                                          </p:stCondLst>
                                        </p:cTn>
                                        <p:tgtEl>
                                          <p:spTgt spid="1313"/>
                                        </p:tgtEl>
                                        <p:attrNameLst>
                                          <p:attrName>style.visibility</p:attrName>
                                        </p:attrNameLst>
                                      </p:cBhvr>
                                      <p:to>
                                        <p:strVal val="hidden"/>
                                      </p:to>
                                    </p:set>
                                  </p:childTnLst>
                                </p:cTn>
                              </p:par>
                              <p:par>
                                <p:cTn id="1559" nodeType="withEffect" fill="hold" presetClass="exit" presetID="1">
                                  <p:stCondLst>
                                    <p:cond delay="2882"/>
                                  </p:stCondLst>
                                  <p:childTnLst>
                                    <p:set>
                                      <p:cBhvr>
                                        <p:cTn id="1560" dur="1" fill="hold">
                                          <p:stCondLst>
                                            <p:cond delay="0"/>
                                          </p:stCondLst>
                                        </p:cTn>
                                        <p:tgtEl>
                                          <p:spTgt spid="1314"/>
                                        </p:tgtEl>
                                        <p:attrNameLst>
                                          <p:attrName>style.visibility</p:attrName>
                                        </p:attrNameLst>
                                      </p:cBhvr>
                                      <p:to>
                                        <p:strVal val="hidden"/>
                                      </p:to>
                                    </p:set>
                                  </p:childTnLst>
                                </p:cTn>
                              </p:par>
                              <p:par>
                                <p:cTn id="1561" nodeType="withEffect" fill="hold" presetClass="exit" presetID="1">
                                  <p:stCondLst>
                                    <p:cond delay="3045"/>
                                  </p:stCondLst>
                                  <p:childTnLst>
                                    <p:set>
                                      <p:cBhvr>
                                        <p:cTn id="1562" dur="1" fill="hold">
                                          <p:stCondLst>
                                            <p:cond delay="0"/>
                                          </p:stCondLst>
                                        </p:cTn>
                                        <p:tgtEl>
                                          <p:spTgt spid="13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348" name="o1" descr="MENU → CHOISIS TON NIVEAU"/>
          <p:cNvPicPr/>
          <p:nvPr/>
        </p:nvPicPr>
        <p:blipFill>
          <a:blip r:embed="rId1"/>
          <a:stretch/>
        </p:blipFill>
        <p:spPr>
          <a:xfrm>
            <a:off x="548640" y="411480"/>
            <a:ext cx="3657240" cy="145800"/>
          </a:xfrm>
          <a:prstGeom prst="rect">
            <a:avLst/>
          </a:prstGeom>
          <a:ln w="0">
            <a:noFill/>
          </a:ln>
        </p:spPr>
      </p:pic>
      <p:pic>
        <p:nvPicPr>
          <p:cNvPr id="1349" name="o2" descr="Notre parcours"/>
          <p:cNvPicPr/>
          <p:nvPr/>
        </p:nvPicPr>
        <p:blipFill>
          <a:blip r:embed="rId2"/>
          <a:stretch/>
        </p:blipFill>
        <p:spPr>
          <a:xfrm>
            <a:off x="548640" y="777240"/>
            <a:ext cx="3835440" cy="273960"/>
          </a:xfrm>
          <a:prstGeom prst="rect">
            <a:avLst/>
          </a:prstGeom>
          <a:ln w="0">
            <a:noFill/>
          </a:ln>
        </p:spPr>
      </p:pic>
      <p:pic>
        <p:nvPicPr>
          <p:cNvPr id="1350" name="o3" descr="icone_etoile.png"/>
          <p:cNvPicPr/>
          <p:nvPr/>
        </p:nvPicPr>
        <p:blipFill>
          <a:blip r:embed="rId3"/>
          <a:stretch/>
        </p:blipFill>
        <p:spPr>
          <a:xfrm>
            <a:off x="11073240" y="365760"/>
            <a:ext cx="566640" cy="566640"/>
          </a:xfrm>
          <a:prstGeom prst="rect">
            <a:avLst/>
          </a:prstGeom>
          <a:ln w="0">
            <a:noFill/>
          </a:ln>
        </p:spPr>
      </p:pic>
      <p:sp>
        <p:nvSpPr>
          <p:cNvPr id="1351" name="o4"/>
          <p:cNvSpPr/>
          <p:nvPr/>
        </p:nvSpPr>
        <p:spPr>
          <a:xfrm>
            <a:off x="548640" y="1691640"/>
            <a:ext cx="1718640" cy="2944080"/>
          </a:xfrm>
          <a:prstGeom prst="roundRect">
            <a:avLst>
              <a:gd name="adj" fmla="val 7446"/>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352" name="o5"/>
          <p:cNvSpPr/>
          <p:nvPr/>
        </p:nvSpPr>
        <p:spPr>
          <a:xfrm>
            <a:off x="617040" y="1760400"/>
            <a:ext cx="1581480" cy="2806920"/>
          </a:xfrm>
          <a:prstGeom prst="roundRect">
            <a:avLst>
              <a:gd name="adj" fmla="val 3757"/>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353" name="o6" descr="LEVEL 1"/>
          <p:cNvPicPr/>
          <p:nvPr/>
        </p:nvPicPr>
        <p:blipFill>
          <a:blip r:embed="rId4"/>
          <a:stretch/>
        </p:blipFill>
        <p:spPr>
          <a:xfrm>
            <a:off x="896040" y="1920240"/>
            <a:ext cx="1023840" cy="145800"/>
          </a:xfrm>
          <a:prstGeom prst="rect">
            <a:avLst/>
          </a:prstGeom>
          <a:ln w="0">
            <a:noFill/>
          </a:ln>
        </p:spPr>
      </p:pic>
      <p:pic>
        <p:nvPicPr>
          <p:cNvPr id="1354" name="o7" descr="image-2-7.png"/>
          <p:cNvPicPr/>
          <p:nvPr/>
        </p:nvPicPr>
        <p:blipFill>
          <a:blip r:embed="rId5"/>
          <a:stretch/>
        </p:blipFill>
        <p:spPr>
          <a:xfrm>
            <a:off x="1042560" y="2286000"/>
            <a:ext cx="731160" cy="731160"/>
          </a:xfrm>
          <a:prstGeom prst="rect">
            <a:avLst/>
          </a:prstGeom>
          <a:ln w="0">
            <a:noFill/>
          </a:ln>
        </p:spPr>
      </p:pic>
      <p:pic>
        <p:nvPicPr>
          <p:cNvPr id="1355" name="o8" descr="MISSION"/>
          <p:cNvPicPr/>
          <p:nvPr/>
        </p:nvPicPr>
        <p:blipFill>
          <a:blip r:embed="rId6"/>
          <a:stretch/>
        </p:blipFill>
        <p:spPr>
          <a:xfrm>
            <a:off x="864000" y="3246120"/>
            <a:ext cx="1087920" cy="155160"/>
          </a:xfrm>
          <a:prstGeom prst="rect">
            <a:avLst/>
          </a:prstGeom>
          <a:ln w="0">
            <a:noFill/>
          </a:ln>
        </p:spPr>
      </p:pic>
      <p:sp>
        <p:nvSpPr>
          <p:cNvPr id="1356" name="o9"/>
          <p:cNvSpPr/>
          <p:nvPr/>
        </p:nvSpPr>
        <p:spPr>
          <a:xfrm>
            <a:off x="640080" y="3703320"/>
            <a:ext cx="1535760" cy="198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300" spc="-1" strike="noStrike">
                <a:solidFill>
                  <a:srgbClr val="c4c4e4"/>
                </a:solidFill>
                <a:latin typeface="Arial"/>
              </a:rPr>
              <a:t>La 2e source</a:t>
            </a:r>
            <a:endParaRPr b="0" lang="en-US" sz="1300" spc="-1" strike="noStrike">
              <a:solidFill>
                <a:srgbClr val="ffffff"/>
              </a:solidFill>
              <a:latin typeface="Arial"/>
            </a:endParaRPr>
          </a:p>
        </p:txBody>
      </p:sp>
      <p:sp>
        <p:nvSpPr>
          <p:cNvPr id="1357" name="o10"/>
          <p:cNvSpPr/>
          <p:nvPr/>
        </p:nvSpPr>
        <p:spPr>
          <a:xfrm>
            <a:off x="2423160" y="1691640"/>
            <a:ext cx="1718640" cy="2944080"/>
          </a:xfrm>
          <a:prstGeom prst="roundRect">
            <a:avLst>
              <a:gd name="adj" fmla="val 7446"/>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358" name="o11"/>
          <p:cNvSpPr/>
          <p:nvPr/>
        </p:nvSpPr>
        <p:spPr>
          <a:xfrm>
            <a:off x="2491920" y="1760400"/>
            <a:ext cx="1581480" cy="2806920"/>
          </a:xfrm>
          <a:prstGeom prst="roundRect">
            <a:avLst>
              <a:gd name="adj" fmla="val 3757"/>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359" name="o12" descr="LEVEL 2"/>
          <p:cNvPicPr/>
          <p:nvPr/>
        </p:nvPicPr>
        <p:blipFill>
          <a:blip r:embed="rId7"/>
          <a:stretch/>
        </p:blipFill>
        <p:spPr>
          <a:xfrm>
            <a:off x="2770560" y="1920240"/>
            <a:ext cx="1023840" cy="145800"/>
          </a:xfrm>
          <a:prstGeom prst="rect">
            <a:avLst/>
          </a:prstGeom>
          <a:ln w="0">
            <a:noFill/>
          </a:ln>
        </p:spPr>
      </p:pic>
      <p:pic>
        <p:nvPicPr>
          <p:cNvPr id="1360" name="o13" descr="image-2-10.png"/>
          <p:cNvPicPr/>
          <p:nvPr/>
        </p:nvPicPr>
        <p:blipFill>
          <a:blip r:embed="rId8"/>
          <a:stretch/>
        </p:blipFill>
        <p:spPr>
          <a:xfrm>
            <a:off x="2917080" y="2286000"/>
            <a:ext cx="731160" cy="731160"/>
          </a:xfrm>
          <a:prstGeom prst="rect">
            <a:avLst/>
          </a:prstGeom>
          <a:ln w="0">
            <a:noFill/>
          </a:ln>
        </p:spPr>
      </p:pic>
      <p:pic>
        <p:nvPicPr>
          <p:cNvPr id="1361" name="o14" descr="NETTOYAGE"/>
          <p:cNvPicPr/>
          <p:nvPr/>
        </p:nvPicPr>
        <p:blipFill>
          <a:blip r:embed="rId9"/>
          <a:stretch/>
        </p:blipFill>
        <p:spPr>
          <a:xfrm>
            <a:off x="2583000" y="3246120"/>
            <a:ext cx="1398600" cy="155160"/>
          </a:xfrm>
          <a:prstGeom prst="rect">
            <a:avLst/>
          </a:prstGeom>
          <a:ln w="0">
            <a:noFill/>
          </a:ln>
        </p:spPr>
      </p:pic>
      <p:sp>
        <p:nvSpPr>
          <p:cNvPr id="1362" name="o15"/>
          <p:cNvSpPr/>
          <p:nvPr/>
        </p:nvSpPr>
        <p:spPr>
          <a:xfrm>
            <a:off x="2514600" y="3703320"/>
            <a:ext cx="1535760" cy="198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300" spc="-1" strike="noStrike">
                <a:solidFill>
                  <a:srgbClr val="c4c4e4"/>
                </a:solidFill>
                <a:latin typeface="Arial"/>
              </a:rPr>
              <a:t>Nouveaux fantômes</a:t>
            </a:r>
            <a:endParaRPr b="0" lang="en-US" sz="1300" spc="-1" strike="noStrike">
              <a:solidFill>
                <a:srgbClr val="ffffff"/>
              </a:solidFill>
              <a:latin typeface="Arial"/>
            </a:endParaRPr>
          </a:p>
        </p:txBody>
      </p:sp>
      <p:sp>
        <p:nvSpPr>
          <p:cNvPr id="1363" name="o16"/>
          <p:cNvSpPr/>
          <p:nvPr/>
        </p:nvSpPr>
        <p:spPr>
          <a:xfrm>
            <a:off x="4297680" y="1691640"/>
            <a:ext cx="1718640" cy="2944080"/>
          </a:xfrm>
          <a:prstGeom prst="roundRect">
            <a:avLst>
              <a:gd name="adj" fmla="val 7446"/>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364" name="o17"/>
          <p:cNvSpPr/>
          <p:nvPr/>
        </p:nvSpPr>
        <p:spPr>
          <a:xfrm>
            <a:off x="4366080" y="1760400"/>
            <a:ext cx="1581480" cy="2806920"/>
          </a:xfrm>
          <a:prstGeom prst="roundRect">
            <a:avLst>
              <a:gd name="adj" fmla="val 3757"/>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365" name="o18" descr="LEVEL 3"/>
          <p:cNvPicPr/>
          <p:nvPr/>
        </p:nvPicPr>
        <p:blipFill>
          <a:blip r:embed="rId10"/>
          <a:stretch/>
        </p:blipFill>
        <p:spPr>
          <a:xfrm>
            <a:off x="4645080" y="1920240"/>
            <a:ext cx="1023840" cy="145800"/>
          </a:xfrm>
          <a:prstGeom prst="rect">
            <a:avLst/>
          </a:prstGeom>
          <a:ln w="0">
            <a:noFill/>
          </a:ln>
        </p:spPr>
      </p:pic>
      <p:pic>
        <p:nvPicPr>
          <p:cNvPr id="1366" name="o19" descr="image-2-13.png"/>
          <p:cNvPicPr/>
          <p:nvPr/>
        </p:nvPicPr>
        <p:blipFill>
          <a:blip r:embed="rId11"/>
          <a:stretch/>
        </p:blipFill>
        <p:spPr>
          <a:xfrm>
            <a:off x="4791600" y="2286000"/>
            <a:ext cx="731160" cy="731160"/>
          </a:xfrm>
          <a:prstGeom prst="rect">
            <a:avLst/>
          </a:prstGeom>
          <a:ln w="0">
            <a:noFill/>
          </a:ln>
        </p:spPr>
      </p:pic>
      <p:pic>
        <p:nvPicPr>
          <p:cNvPr id="1367" name="o20" descr="JOINTURE"/>
          <p:cNvPicPr/>
          <p:nvPr/>
        </p:nvPicPr>
        <p:blipFill>
          <a:blip r:embed="rId12"/>
          <a:stretch/>
        </p:blipFill>
        <p:spPr>
          <a:xfrm>
            <a:off x="4535280" y="3246120"/>
            <a:ext cx="1243080" cy="155160"/>
          </a:xfrm>
          <a:prstGeom prst="rect">
            <a:avLst/>
          </a:prstGeom>
          <a:ln w="0">
            <a:noFill/>
          </a:ln>
        </p:spPr>
      </p:pic>
      <p:sp>
        <p:nvSpPr>
          <p:cNvPr id="1368" name="o21"/>
          <p:cNvSpPr/>
          <p:nvPr/>
        </p:nvSpPr>
        <p:spPr>
          <a:xfrm>
            <a:off x="4389120" y="3703320"/>
            <a:ext cx="1535760" cy="198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300" spc="-1" strike="noStrike">
                <a:solidFill>
                  <a:srgbClr val="c4c4e4"/>
                </a:solidFill>
                <a:latin typeface="Arial"/>
              </a:rPr>
              <a:t>Relier 2 bases</a:t>
            </a:r>
            <a:endParaRPr b="0" lang="en-US" sz="1300" spc="-1" strike="noStrike">
              <a:solidFill>
                <a:srgbClr val="ffffff"/>
              </a:solidFill>
              <a:latin typeface="Arial"/>
            </a:endParaRPr>
          </a:p>
        </p:txBody>
      </p:sp>
      <p:sp>
        <p:nvSpPr>
          <p:cNvPr id="1369" name="o22"/>
          <p:cNvSpPr/>
          <p:nvPr/>
        </p:nvSpPr>
        <p:spPr>
          <a:xfrm>
            <a:off x="6172200" y="1691640"/>
            <a:ext cx="1718640" cy="2944080"/>
          </a:xfrm>
          <a:prstGeom prst="roundRect">
            <a:avLst>
              <a:gd name="adj" fmla="val 7446"/>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370" name="o23"/>
          <p:cNvSpPr/>
          <p:nvPr/>
        </p:nvSpPr>
        <p:spPr>
          <a:xfrm>
            <a:off x="6240600" y="1760400"/>
            <a:ext cx="1581480" cy="2806920"/>
          </a:xfrm>
          <a:prstGeom prst="roundRect">
            <a:avLst>
              <a:gd name="adj" fmla="val 3757"/>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371" name="o24" descr="LEVEL 4"/>
          <p:cNvPicPr/>
          <p:nvPr/>
        </p:nvPicPr>
        <p:blipFill>
          <a:blip r:embed="rId13"/>
          <a:stretch/>
        </p:blipFill>
        <p:spPr>
          <a:xfrm>
            <a:off x="6519600" y="1920240"/>
            <a:ext cx="1023840" cy="145800"/>
          </a:xfrm>
          <a:prstGeom prst="rect">
            <a:avLst/>
          </a:prstGeom>
          <a:ln w="0">
            <a:noFill/>
          </a:ln>
        </p:spPr>
      </p:pic>
      <p:pic>
        <p:nvPicPr>
          <p:cNvPr id="1372" name="o25" descr="image-10-3.png"/>
          <p:cNvPicPr/>
          <p:nvPr/>
        </p:nvPicPr>
        <p:blipFill>
          <a:blip r:embed="rId14"/>
          <a:stretch/>
        </p:blipFill>
        <p:spPr>
          <a:xfrm>
            <a:off x="6666120" y="2286000"/>
            <a:ext cx="731160" cy="731160"/>
          </a:xfrm>
          <a:prstGeom prst="rect">
            <a:avLst/>
          </a:prstGeom>
          <a:ln w="0">
            <a:noFill/>
          </a:ln>
        </p:spPr>
      </p:pic>
      <p:pic>
        <p:nvPicPr>
          <p:cNvPr id="1373" name="o26" descr="INSIGHTS"/>
          <p:cNvPicPr/>
          <p:nvPr/>
        </p:nvPicPr>
        <p:blipFill>
          <a:blip r:embed="rId15"/>
          <a:stretch/>
        </p:blipFill>
        <p:spPr>
          <a:xfrm>
            <a:off x="6409800" y="3246120"/>
            <a:ext cx="1243080" cy="155160"/>
          </a:xfrm>
          <a:prstGeom prst="rect">
            <a:avLst/>
          </a:prstGeom>
          <a:ln w="0">
            <a:noFill/>
          </a:ln>
        </p:spPr>
      </p:pic>
      <p:sp>
        <p:nvSpPr>
          <p:cNvPr id="1374" name="o27"/>
          <p:cNvSpPr/>
          <p:nvPr/>
        </p:nvSpPr>
        <p:spPr>
          <a:xfrm>
            <a:off x="6263640" y="3703320"/>
            <a:ext cx="1535760" cy="198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300" spc="-1" strike="noStrike">
                <a:solidFill>
                  <a:srgbClr val="c4c4e4"/>
                </a:solidFill>
                <a:latin typeface="Arial"/>
              </a:rPr>
              <a:t>4 découvertes</a:t>
            </a:r>
            <a:endParaRPr b="0" lang="en-US" sz="1300" spc="-1" strike="noStrike">
              <a:solidFill>
                <a:srgbClr val="ffffff"/>
              </a:solidFill>
              <a:latin typeface="Arial"/>
            </a:endParaRPr>
          </a:p>
        </p:txBody>
      </p:sp>
      <p:sp>
        <p:nvSpPr>
          <p:cNvPr id="1375" name="o28"/>
          <p:cNvSpPr/>
          <p:nvPr/>
        </p:nvSpPr>
        <p:spPr>
          <a:xfrm>
            <a:off x="8046720" y="1691640"/>
            <a:ext cx="1718640" cy="2944080"/>
          </a:xfrm>
          <a:prstGeom prst="roundRect">
            <a:avLst>
              <a:gd name="adj" fmla="val 7446"/>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376" name="o29"/>
          <p:cNvSpPr/>
          <p:nvPr/>
        </p:nvSpPr>
        <p:spPr>
          <a:xfrm>
            <a:off x="8115120" y="1760400"/>
            <a:ext cx="1581480" cy="2806920"/>
          </a:xfrm>
          <a:prstGeom prst="roundRect">
            <a:avLst>
              <a:gd name="adj" fmla="val 3757"/>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377" name="o30" descr="LEVEL 5"/>
          <p:cNvPicPr/>
          <p:nvPr/>
        </p:nvPicPr>
        <p:blipFill>
          <a:blip r:embed="rId16"/>
          <a:stretch/>
        </p:blipFill>
        <p:spPr>
          <a:xfrm>
            <a:off x="8394120" y="1920240"/>
            <a:ext cx="1023840" cy="145800"/>
          </a:xfrm>
          <a:prstGeom prst="rect">
            <a:avLst/>
          </a:prstGeom>
          <a:ln w="0">
            <a:noFill/>
          </a:ln>
        </p:spPr>
      </p:pic>
      <p:pic>
        <p:nvPicPr>
          <p:cNvPr id="1378" name="o31" descr="image-14-1.png"/>
          <p:cNvPicPr/>
          <p:nvPr/>
        </p:nvPicPr>
        <p:blipFill>
          <a:blip r:embed="rId17"/>
          <a:stretch/>
        </p:blipFill>
        <p:spPr>
          <a:xfrm>
            <a:off x="8540640" y="2286000"/>
            <a:ext cx="731160" cy="731160"/>
          </a:xfrm>
          <a:prstGeom prst="rect">
            <a:avLst/>
          </a:prstGeom>
          <a:ln w="0">
            <a:noFill/>
          </a:ln>
        </p:spPr>
      </p:pic>
      <p:pic>
        <p:nvPicPr>
          <p:cNvPr id="1379" name="o32" descr="BOSS"/>
          <p:cNvPicPr/>
          <p:nvPr/>
        </p:nvPicPr>
        <p:blipFill>
          <a:blip r:embed="rId18"/>
          <a:stretch/>
        </p:blipFill>
        <p:spPr>
          <a:xfrm>
            <a:off x="8595360" y="3246120"/>
            <a:ext cx="621360" cy="155160"/>
          </a:xfrm>
          <a:prstGeom prst="rect">
            <a:avLst/>
          </a:prstGeom>
          <a:ln w="0">
            <a:noFill/>
          </a:ln>
        </p:spPr>
      </p:pic>
      <p:sp>
        <p:nvSpPr>
          <p:cNvPr id="1380" name="o33"/>
          <p:cNvSpPr/>
          <p:nvPr/>
        </p:nvSpPr>
        <p:spPr>
          <a:xfrm>
            <a:off x="8138160" y="3703320"/>
            <a:ext cx="1535760" cy="198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300" spc="-1" strike="noStrike">
                <a:solidFill>
                  <a:srgbClr val="c4c4e4"/>
                </a:solidFill>
                <a:latin typeface="Arial"/>
              </a:rPr>
              <a:t>MPI + qualité</a:t>
            </a:r>
            <a:endParaRPr b="0" lang="en-US" sz="1300" spc="-1" strike="noStrike">
              <a:solidFill>
                <a:srgbClr val="ffffff"/>
              </a:solidFill>
              <a:latin typeface="Arial"/>
            </a:endParaRPr>
          </a:p>
        </p:txBody>
      </p:sp>
      <p:sp>
        <p:nvSpPr>
          <p:cNvPr id="1381" name="o34"/>
          <p:cNvSpPr/>
          <p:nvPr/>
        </p:nvSpPr>
        <p:spPr>
          <a:xfrm>
            <a:off x="9921240" y="1691640"/>
            <a:ext cx="1718640" cy="2944080"/>
          </a:xfrm>
          <a:prstGeom prst="roundRect">
            <a:avLst>
              <a:gd name="adj" fmla="val 7446"/>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382" name="o35"/>
          <p:cNvSpPr/>
          <p:nvPr/>
        </p:nvSpPr>
        <p:spPr>
          <a:xfrm>
            <a:off x="9989640" y="1760400"/>
            <a:ext cx="1581480" cy="2806920"/>
          </a:xfrm>
          <a:prstGeom prst="roundRect">
            <a:avLst>
              <a:gd name="adj" fmla="val 3757"/>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383" name="o36" descr="LEVEL 6"/>
          <p:cNvPicPr/>
          <p:nvPr/>
        </p:nvPicPr>
        <p:blipFill>
          <a:blip r:embed="rId19"/>
          <a:stretch/>
        </p:blipFill>
        <p:spPr>
          <a:xfrm>
            <a:off x="10268640" y="1920240"/>
            <a:ext cx="1023840" cy="145800"/>
          </a:xfrm>
          <a:prstGeom prst="rect">
            <a:avLst/>
          </a:prstGeom>
          <a:ln w="0">
            <a:noFill/>
          </a:ln>
        </p:spPr>
      </p:pic>
      <p:pic>
        <p:nvPicPr>
          <p:cNvPr id="1384" name="o37" descr="image-16-1.png"/>
          <p:cNvPicPr/>
          <p:nvPr/>
        </p:nvPicPr>
        <p:blipFill>
          <a:blip r:embed="rId20"/>
          <a:stretch/>
        </p:blipFill>
        <p:spPr>
          <a:xfrm>
            <a:off x="10415160" y="2286000"/>
            <a:ext cx="731160" cy="731160"/>
          </a:xfrm>
          <a:prstGeom prst="rect">
            <a:avLst/>
          </a:prstGeom>
          <a:ln w="0">
            <a:noFill/>
          </a:ln>
        </p:spPr>
      </p:pic>
      <p:pic>
        <p:nvPicPr>
          <p:cNvPr id="1385" name="o38" descr="LIVE DEMO"/>
          <p:cNvPicPr/>
          <p:nvPr/>
        </p:nvPicPr>
        <p:blipFill>
          <a:blip r:embed="rId21"/>
          <a:stretch/>
        </p:blipFill>
        <p:spPr>
          <a:xfrm>
            <a:off x="10081440" y="3246120"/>
            <a:ext cx="1398600" cy="155160"/>
          </a:xfrm>
          <a:prstGeom prst="rect">
            <a:avLst/>
          </a:prstGeom>
          <a:ln w="0">
            <a:noFill/>
          </a:ln>
        </p:spPr>
      </p:pic>
      <p:sp>
        <p:nvSpPr>
          <p:cNvPr id="1386" name="o39"/>
          <p:cNvSpPr/>
          <p:nvPr/>
        </p:nvSpPr>
        <p:spPr>
          <a:xfrm>
            <a:off x="10012680" y="3703320"/>
            <a:ext cx="1535760" cy="198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300" spc="-1" strike="noStrike">
                <a:solidFill>
                  <a:srgbClr val="c4c4e4"/>
                </a:solidFill>
                <a:latin typeface="Arial"/>
              </a:rPr>
              <a:t>Les 2 bases</a:t>
            </a:r>
            <a:endParaRPr b="0" lang="en-US" sz="1300" spc="-1" strike="noStrike">
              <a:solidFill>
                <a:srgbClr val="ffffff"/>
              </a:solidFill>
              <a:latin typeface="Arial"/>
            </a:endParaRPr>
          </a:p>
        </p:txBody>
      </p:sp>
      <p:sp>
        <p:nvSpPr>
          <p:cNvPr id="1387" name="o40"/>
          <p:cNvSpPr/>
          <p:nvPr/>
        </p:nvSpPr>
        <p:spPr>
          <a:xfrm>
            <a:off x="548640" y="4983480"/>
            <a:ext cx="11091240" cy="795240"/>
          </a:xfrm>
          <a:prstGeom prst="roundRect">
            <a:avLst>
              <a:gd name="adj" fmla="val 16091"/>
            </a:avLst>
          </a:prstGeom>
          <a:solidFill>
            <a:srgbClr val="000000"/>
          </a:solidFill>
          <a:ln w="28575">
            <a:solidFill>
              <a:srgbClr val="ffb8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388" name="o41"/>
          <p:cNvSpPr/>
          <p:nvPr/>
        </p:nvSpPr>
        <p:spPr>
          <a:xfrm>
            <a:off x="617040" y="5052240"/>
            <a:ext cx="10954080" cy="658080"/>
          </a:xfrm>
          <a:prstGeom prst="roundRect">
            <a:avLst>
              <a:gd name="adj" fmla="val 9027"/>
            </a:avLst>
          </a:prstGeom>
          <a:noFill/>
          <a:ln w="12700">
            <a:solidFill>
              <a:srgbClr val="ffb8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389" name="o42" descr="image-17-12.png"/>
          <p:cNvPicPr/>
          <p:nvPr/>
        </p:nvPicPr>
        <p:blipFill>
          <a:blip r:embed="rId22"/>
          <a:stretch/>
        </p:blipFill>
        <p:spPr>
          <a:xfrm>
            <a:off x="868680" y="5120640"/>
            <a:ext cx="502560" cy="502560"/>
          </a:xfrm>
          <a:prstGeom prst="rect">
            <a:avLst/>
          </a:prstGeom>
          <a:ln w="0">
            <a:noFill/>
          </a:ln>
        </p:spPr>
      </p:pic>
      <p:pic>
        <p:nvPicPr>
          <p:cNvPr id="1390" name="o43" descr="BONUS"/>
          <p:cNvPicPr/>
          <p:nvPr/>
        </p:nvPicPr>
        <p:blipFill>
          <a:blip r:embed="rId23"/>
          <a:stretch/>
        </p:blipFill>
        <p:spPr>
          <a:xfrm>
            <a:off x="1554480" y="5294520"/>
            <a:ext cx="776880" cy="155160"/>
          </a:xfrm>
          <a:prstGeom prst="rect">
            <a:avLst/>
          </a:prstGeom>
          <a:ln w="0">
            <a:noFill/>
          </a:ln>
        </p:spPr>
      </p:pic>
      <p:sp>
        <p:nvSpPr>
          <p:cNvPr id="1391" name="o44"/>
          <p:cNvSpPr/>
          <p:nvPr/>
        </p:nvSpPr>
        <p:spPr>
          <a:xfrm>
            <a:off x="2514600" y="5248800"/>
            <a:ext cx="877788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600" spc="-1" strike="noStrike">
                <a:solidFill>
                  <a:srgbClr val="c4c4e4"/>
                </a:solidFill>
                <a:latin typeface="Arial"/>
              </a:rPr>
              <a:t>Le prix de la prestation avant / après, puis les limites et nos recommandations au client</a:t>
            </a:r>
            <a:endParaRPr b="0" lang="en-US" sz="1600" spc="-1" strike="noStrike">
              <a:solidFill>
                <a:srgbClr val="ffffff"/>
              </a:solidFill>
              <a:latin typeface="Arial"/>
            </a:endParaRPr>
          </a:p>
        </p:txBody>
      </p:sp>
      <p:pic>
        <p:nvPicPr>
          <p:cNvPr id="1392" name="fin_pastille" descr="image-1-13.gif"/>
          <p:cNvPicPr/>
          <p:nvPr/>
        </p:nvPicPr>
        <p:blipFill>
          <a:blip r:embed="rId24"/>
          <a:stretch/>
        </p:blipFill>
        <p:spPr>
          <a:xfrm>
            <a:off x="11448360" y="6355080"/>
            <a:ext cx="182520" cy="182520"/>
          </a:xfrm>
          <a:prstGeom prst="rect">
            <a:avLst/>
          </a:prstGeom>
          <a:ln w="0">
            <a:noFill/>
          </a:ln>
        </p:spPr>
      </p:pic>
      <p:pic>
        <p:nvPicPr>
          <p:cNvPr id="1393" name="barre_fantome" descr="image.gif"/>
          <p:cNvPicPr/>
          <p:nvPr/>
        </p:nvPicPr>
        <p:blipFill>
          <a:blip r:embed="rId25"/>
          <a:stretch/>
        </p:blipFill>
        <p:spPr>
          <a:xfrm>
            <a:off x="4785912" y="6291000"/>
            <a:ext cx="310680" cy="310680"/>
          </a:xfrm>
          <a:prstGeom prst="rect">
            <a:avLst/>
          </a:prstGeom>
          <a:ln w="0">
            <a:noFill/>
          </a:ln>
        </p:spPr>
      </p:pic>
      <p:sp>
        <p:nvSpPr>
          <p:cNvPr id="1395" name="barre_pastille"/>
          <p:cNvSpPr/>
          <p:nvPr/>
        </p:nvSpPr>
        <p:spPr>
          <a:xfrm>
            <a:off x="5715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95"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96"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97"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98"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399"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0"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1"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2"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3"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4"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5"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6"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7"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8"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09"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0"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1"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2"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3"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4"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5"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6"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7"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18"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394" name="barre_pacman" descr="image.gif"/>
          <p:cNvPicPr/>
          <p:nvPr/>
        </p:nvPicPr>
        <p:blipFill>
          <a:blip r:embed="rId26"/>
          <a:stretch/>
        </p:blipFill>
        <p:spPr>
          <a:xfrm>
            <a:off x="5352912" y="6291000"/>
            <a:ext cx="310680" cy="310680"/>
          </a:xfrm>
          <a:prstGeom prst="rect">
            <a:avLst/>
          </a:prstGeom>
          <a:ln w="0">
            <a:noFill/>
          </a:ln>
        </p:spPr>
      </p:pic>
      <p:sp>
        <p:nvSpPr>
          <p:cNvPr id="1419" name="orateur" descr="Orateur : K"/>
          <p:cNvSpPr/>
          <p:nvPr/>
        </p:nvSpPr>
        <p:spPr>
          <a:xfrm>
            <a:off x="11704320" y="6263640"/>
            <a:ext cx="365760" cy="365760"/>
          </a:xfrm>
          <a:prstGeom prst="roundRect">
            <a:avLst>
              <a:gd name="adj" fmla="val 22000"/>
            </a:avLst>
          </a:prstGeom>
          <a:solidFill>
            <a:srgbClr val="000000"/>
          </a:solidFill>
          <a:ln w="19050">
            <a:solidFill>
              <a:srgbClr val="FF4FD8"/>
            </a:solidFill>
          </a:ln>
        </p:spPr>
        <p:txBody>
          <a:bodyPr lIns="0" rIns="0" tIns="0" bIns="0" anchor="ctr">
            <a:noAutofit/>
          </a:bodyPr>
          <a:lstStyle/>
          <a:p>
            <a:pPr algn="ctr"/>
            <a:r>
              <a:rPr lang="fr-FR" sz="1300" b="1">
                <a:solidFill>
                  <a:srgbClr val="FF4FD8"/>
                </a:solidFill>
                <a:latin typeface="Arial"/>
              </a:rPr>
              <a:t>K</a:t>
            </a:r>
          </a:p>
        </p:txBody>
      </p:sp>
    </p:spTree>
  </p:cSld>
  <p:transition>
    <p:fade/>
  </p:transition>
  <p:timing>
    <p:tnLst>
      <p:par>
        <p:cTn id="1563" dur="indefinite" restart="never" nodeType="tmRoot">
          <p:childTnLst>
            <p:seq>
              <p:cTn id="1564" dur="indefinite" nodeType="mainSeq">
                <p:childTnLst>
                  <p:par>
                    <p:cTn id="1565" fill="hold">
                      <p:stCondLst>
                        <p:cond delay="0"/>
                      </p:stCondLst>
                      <p:childTnLst>
                        <p:par>
                          <p:cTn id="1566" fill="hold">
                            <p:stCondLst>
                              <p:cond delay="0"/>
                            </p:stCondLst>
                            <p:childTnLst>
                              <p:par>
                                <p:cTn id="1567" nodeType="withEffect" fill="hold" presetClass="path">
                                  <p:stCondLst>
                                    <p:cond delay="0"/>
                                  </p:stCondLst>
                                  <p:childTnLst>
                                    <p:animMotion origin="layout" path="M 0 0 L 0.02252 0 E">
                                      <p:cBhvr>
                                        <p:cTn id="1568" dur="900" fill="hold"/>
                                        <p:tgtEl>
                                          <p:spTgt spid="1393"/>
                                        </p:tgtEl>
                                        <p:attrNameLst>
                                          <p:attrName>ppt_x</p:attrName>
                                          <p:attrName>ppt_y</p:attrName>
                                        </p:attrNameLst>
                                      </p:cBhvr>
                                    </p:animMotion>
                                  </p:childTnLst>
                                </p:cTn>
                              </p:par>
                              <p:par>
                                <p:cTn id="1569" nodeType="withEffect" fill="hold" presetClass="path">
                                  <p:stCondLst>
                                    <p:cond delay="0"/>
                                  </p:stCondLst>
                                  <p:childTnLst>
                                    <p:animMotion origin="layout" path="M 0 0 L 0.02252 0 E">
                                      <p:cBhvr>
                                        <p:cTn id="1570" dur="900" fill="hold"/>
                                        <p:tgtEl>
                                          <p:spTgt spid="1394"/>
                                        </p:tgtEl>
                                        <p:attrNameLst>
                                          <p:attrName>ppt_x</p:attrName>
                                          <p:attrName>ppt_y</p:attrName>
                                        </p:attrNameLst>
                                      </p:cBhvr>
                                    </p:animMotion>
                                  </p:childTnLst>
                                </p:cTn>
                              </p:par>
                              <p:par>
                                <p:cTn id="1571" nodeType="withEffect" fill="hold" presetClass="exit" presetID="1">
                                  <p:stCondLst>
                                    <p:cond delay="604"/>
                                  </p:stCondLst>
                                  <p:childTnLst>
                                    <p:set>
                                      <p:cBhvr>
                                        <p:cTn id="1572" dur="1" fill="hold">
                                          <p:stCondLst>
                                            <p:cond delay="0"/>
                                          </p:stCondLst>
                                        </p:cTn>
                                        <p:tgtEl>
                                          <p:spTgt spid="1395"/>
                                        </p:tgtEl>
                                        <p:attrNameLst>
                                          <p:attrName>style.visibility</p:attrName>
                                        </p:attrNameLst>
                                      </p:cBhvr>
                                      <p:to>
                                        <p:strVal val="hidden"/>
                                      </p:to>
                                    </p:set>
                                  </p:childTnLst>
                                </p:cTn>
                              </p:par>
                              <p:par>
                                <p:cTn id="1573" nodeType="withEffect" fill="hold" presetClass="entr" presetID="10">
                                  <p:stCondLst>
                                    <p:cond delay="150"/>
                                  </p:stCondLst>
                                  <p:childTnLst>
                                    <p:set>
                                      <p:cBhvr>
                                        <p:cTn id="1574" dur="1" fill="hold">
                                          <p:stCondLst>
                                            <p:cond delay="0"/>
                                          </p:stCondLst>
                                        </p:cTn>
                                        <p:tgtEl>
                                          <p:spTgt spid="1351"/>
                                        </p:tgtEl>
                                        <p:attrNameLst>
                                          <p:attrName>style.visibility</p:attrName>
                                        </p:attrNameLst>
                                      </p:cBhvr>
                                      <p:to>
                                        <p:strVal val="visible"/>
                                      </p:to>
                                    </p:set>
                                    <p:animEffect filter="fade" transition="in">
                                      <p:cBhvr additive="repl">
                                        <p:cTn id="1575" dur="400"/>
                                        <p:tgtEl>
                                          <p:spTgt spid="1351"/>
                                        </p:tgtEl>
                                      </p:cBhvr>
                                    </p:animEffect>
                                  </p:childTnLst>
                                </p:cTn>
                              </p:par>
                              <p:par>
                                <p:cTn id="1576" nodeType="withEffect" fill="hold" presetClass="entr" presetID="10">
                                  <p:stCondLst>
                                    <p:cond delay="150"/>
                                  </p:stCondLst>
                                  <p:childTnLst>
                                    <p:set>
                                      <p:cBhvr>
                                        <p:cTn id="1577" dur="1" fill="hold">
                                          <p:stCondLst>
                                            <p:cond delay="0"/>
                                          </p:stCondLst>
                                        </p:cTn>
                                        <p:tgtEl>
                                          <p:spTgt spid="1352"/>
                                        </p:tgtEl>
                                        <p:attrNameLst>
                                          <p:attrName>style.visibility</p:attrName>
                                        </p:attrNameLst>
                                      </p:cBhvr>
                                      <p:to>
                                        <p:strVal val="visible"/>
                                      </p:to>
                                    </p:set>
                                    <p:animEffect filter="fade" transition="in">
                                      <p:cBhvr additive="repl">
                                        <p:cTn id="1578" dur="400"/>
                                        <p:tgtEl>
                                          <p:spTgt spid="1352"/>
                                        </p:tgtEl>
                                      </p:cBhvr>
                                    </p:animEffect>
                                  </p:childTnLst>
                                </p:cTn>
                              </p:par>
                              <p:par>
                                <p:cTn id="1579" nodeType="withEffect" fill="hold" presetClass="entr" presetID="10">
                                  <p:stCondLst>
                                    <p:cond delay="150"/>
                                  </p:stCondLst>
                                  <p:childTnLst>
                                    <p:set>
                                      <p:cBhvr>
                                        <p:cTn id="1580" dur="1" fill="hold">
                                          <p:stCondLst>
                                            <p:cond delay="0"/>
                                          </p:stCondLst>
                                        </p:cTn>
                                        <p:tgtEl>
                                          <p:spTgt spid="1353"/>
                                        </p:tgtEl>
                                        <p:attrNameLst>
                                          <p:attrName>style.visibility</p:attrName>
                                        </p:attrNameLst>
                                      </p:cBhvr>
                                      <p:to>
                                        <p:strVal val="visible"/>
                                      </p:to>
                                    </p:set>
                                    <p:animEffect filter="fade" transition="in">
                                      <p:cBhvr additive="repl">
                                        <p:cTn id="1581" dur="400"/>
                                        <p:tgtEl>
                                          <p:spTgt spid="1353"/>
                                        </p:tgtEl>
                                      </p:cBhvr>
                                    </p:animEffect>
                                  </p:childTnLst>
                                </p:cTn>
                              </p:par>
                              <p:par>
                                <p:cTn id="1582" nodeType="withEffect" fill="hold" presetClass="entr" presetID="10">
                                  <p:stCondLst>
                                    <p:cond delay="150"/>
                                  </p:stCondLst>
                                  <p:childTnLst>
                                    <p:set>
                                      <p:cBhvr>
                                        <p:cTn id="1583" dur="1" fill="hold">
                                          <p:stCondLst>
                                            <p:cond delay="0"/>
                                          </p:stCondLst>
                                        </p:cTn>
                                        <p:tgtEl>
                                          <p:spTgt spid="1354"/>
                                        </p:tgtEl>
                                        <p:attrNameLst>
                                          <p:attrName>style.visibility</p:attrName>
                                        </p:attrNameLst>
                                      </p:cBhvr>
                                      <p:to>
                                        <p:strVal val="visible"/>
                                      </p:to>
                                    </p:set>
                                    <p:animEffect filter="fade" transition="in">
                                      <p:cBhvr additive="repl">
                                        <p:cTn id="1584" dur="400"/>
                                        <p:tgtEl>
                                          <p:spTgt spid="1354"/>
                                        </p:tgtEl>
                                      </p:cBhvr>
                                    </p:animEffect>
                                  </p:childTnLst>
                                </p:cTn>
                              </p:par>
                              <p:par>
                                <p:cTn id="1585" nodeType="withEffect" fill="hold" presetClass="entr" presetID="10">
                                  <p:stCondLst>
                                    <p:cond delay="150"/>
                                  </p:stCondLst>
                                  <p:childTnLst>
                                    <p:set>
                                      <p:cBhvr>
                                        <p:cTn id="1586" dur="1" fill="hold">
                                          <p:stCondLst>
                                            <p:cond delay="0"/>
                                          </p:stCondLst>
                                        </p:cTn>
                                        <p:tgtEl>
                                          <p:spTgt spid="1355"/>
                                        </p:tgtEl>
                                        <p:attrNameLst>
                                          <p:attrName>style.visibility</p:attrName>
                                        </p:attrNameLst>
                                      </p:cBhvr>
                                      <p:to>
                                        <p:strVal val="visible"/>
                                      </p:to>
                                    </p:set>
                                    <p:animEffect filter="fade" transition="in">
                                      <p:cBhvr additive="repl">
                                        <p:cTn id="1587" dur="400"/>
                                        <p:tgtEl>
                                          <p:spTgt spid="1355"/>
                                        </p:tgtEl>
                                      </p:cBhvr>
                                    </p:animEffect>
                                  </p:childTnLst>
                                </p:cTn>
                              </p:par>
                              <p:par>
                                <p:cTn id="1588" nodeType="withEffect" fill="hold" presetClass="entr" presetID="10">
                                  <p:stCondLst>
                                    <p:cond delay="150"/>
                                  </p:stCondLst>
                                  <p:childTnLst>
                                    <p:set>
                                      <p:cBhvr>
                                        <p:cTn id="1589" dur="1" fill="hold">
                                          <p:stCondLst>
                                            <p:cond delay="0"/>
                                          </p:stCondLst>
                                        </p:cTn>
                                        <p:tgtEl>
                                          <p:spTgt spid="1356"/>
                                        </p:tgtEl>
                                        <p:attrNameLst>
                                          <p:attrName>style.visibility</p:attrName>
                                        </p:attrNameLst>
                                      </p:cBhvr>
                                      <p:to>
                                        <p:strVal val="visible"/>
                                      </p:to>
                                    </p:set>
                                    <p:animEffect filter="fade" transition="in">
                                      <p:cBhvr additive="repl">
                                        <p:cTn id="1590" dur="400"/>
                                        <p:tgtEl>
                                          <p:spTgt spid="1356"/>
                                        </p:tgtEl>
                                      </p:cBhvr>
                                    </p:animEffect>
                                  </p:childTnLst>
                                </p:cTn>
                              </p:par>
                              <p:par>
                                <p:cTn id="1591" nodeType="withEffect" fill="hold" presetClass="entr" presetID="10">
                                  <p:stCondLst>
                                    <p:cond delay="330"/>
                                  </p:stCondLst>
                                  <p:childTnLst>
                                    <p:set>
                                      <p:cBhvr>
                                        <p:cTn id="1592" dur="1" fill="hold">
                                          <p:stCondLst>
                                            <p:cond delay="0"/>
                                          </p:stCondLst>
                                        </p:cTn>
                                        <p:tgtEl>
                                          <p:spTgt spid="1357"/>
                                        </p:tgtEl>
                                        <p:attrNameLst>
                                          <p:attrName>style.visibility</p:attrName>
                                        </p:attrNameLst>
                                      </p:cBhvr>
                                      <p:to>
                                        <p:strVal val="visible"/>
                                      </p:to>
                                    </p:set>
                                    <p:animEffect filter="fade" transition="in">
                                      <p:cBhvr additive="repl">
                                        <p:cTn id="1593" dur="400"/>
                                        <p:tgtEl>
                                          <p:spTgt spid="1357"/>
                                        </p:tgtEl>
                                      </p:cBhvr>
                                    </p:animEffect>
                                  </p:childTnLst>
                                </p:cTn>
                              </p:par>
                              <p:par>
                                <p:cTn id="1594" nodeType="withEffect" fill="hold" presetClass="entr" presetID="10">
                                  <p:stCondLst>
                                    <p:cond delay="330"/>
                                  </p:stCondLst>
                                  <p:childTnLst>
                                    <p:set>
                                      <p:cBhvr>
                                        <p:cTn id="1595" dur="1" fill="hold">
                                          <p:stCondLst>
                                            <p:cond delay="0"/>
                                          </p:stCondLst>
                                        </p:cTn>
                                        <p:tgtEl>
                                          <p:spTgt spid="1358"/>
                                        </p:tgtEl>
                                        <p:attrNameLst>
                                          <p:attrName>style.visibility</p:attrName>
                                        </p:attrNameLst>
                                      </p:cBhvr>
                                      <p:to>
                                        <p:strVal val="visible"/>
                                      </p:to>
                                    </p:set>
                                    <p:animEffect filter="fade" transition="in">
                                      <p:cBhvr additive="repl">
                                        <p:cTn id="1596" dur="400"/>
                                        <p:tgtEl>
                                          <p:spTgt spid="1358"/>
                                        </p:tgtEl>
                                      </p:cBhvr>
                                    </p:animEffect>
                                  </p:childTnLst>
                                </p:cTn>
                              </p:par>
                              <p:par>
                                <p:cTn id="1597" nodeType="withEffect" fill="hold" presetClass="entr" presetID="10">
                                  <p:stCondLst>
                                    <p:cond delay="330"/>
                                  </p:stCondLst>
                                  <p:childTnLst>
                                    <p:set>
                                      <p:cBhvr>
                                        <p:cTn id="1598" dur="1" fill="hold">
                                          <p:stCondLst>
                                            <p:cond delay="0"/>
                                          </p:stCondLst>
                                        </p:cTn>
                                        <p:tgtEl>
                                          <p:spTgt spid="1359"/>
                                        </p:tgtEl>
                                        <p:attrNameLst>
                                          <p:attrName>style.visibility</p:attrName>
                                        </p:attrNameLst>
                                      </p:cBhvr>
                                      <p:to>
                                        <p:strVal val="visible"/>
                                      </p:to>
                                    </p:set>
                                    <p:animEffect filter="fade" transition="in">
                                      <p:cBhvr additive="repl">
                                        <p:cTn id="1599" dur="400"/>
                                        <p:tgtEl>
                                          <p:spTgt spid="1359"/>
                                        </p:tgtEl>
                                      </p:cBhvr>
                                    </p:animEffect>
                                  </p:childTnLst>
                                </p:cTn>
                              </p:par>
                              <p:par>
                                <p:cTn id="1600" nodeType="withEffect" fill="hold" presetClass="entr" presetID="10">
                                  <p:stCondLst>
                                    <p:cond delay="330"/>
                                  </p:stCondLst>
                                  <p:childTnLst>
                                    <p:set>
                                      <p:cBhvr>
                                        <p:cTn id="1601" dur="1" fill="hold">
                                          <p:stCondLst>
                                            <p:cond delay="0"/>
                                          </p:stCondLst>
                                        </p:cTn>
                                        <p:tgtEl>
                                          <p:spTgt spid="1360"/>
                                        </p:tgtEl>
                                        <p:attrNameLst>
                                          <p:attrName>style.visibility</p:attrName>
                                        </p:attrNameLst>
                                      </p:cBhvr>
                                      <p:to>
                                        <p:strVal val="visible"/>
                                      </p:to>
                                    </p:set>
                                    <p:animEffect filter="fade" transition="in">
                                      <p:cBhvr additive="repl">
                                        <p:cTn id="1602" dur="400"/>
                                        <p:tgtEl>
                                          <p:spTgt spid="1360"/>
                                        </p:tgtEl>
                                      </p:cBhvr>
                                    </p:animEffect>
                                  </p:childTnLst>
                                </p:cTn>
                              </p:par>
                              <p:par>
                                <p:cTn id="1603" nodeType="withEffect" fill="hold" presetClass="entr" presetID="10">
                                  <p:stCondLst>
                                    <p:cond delay="330"/>
                                  </p:stCondLst>
                                  <p:childTnLst>
                                    <p:set>
                                      <p:cBhvr>
                                        <p:cTn id="1604" dur="1" fill="hold">
                                          <p:stCondLst>
                                            <p:cond delay="0"/>
                                          </p:stCondLst>
                                        </p:cTn>
                                        <p:tgtEl>
                                          <p:spTgt spid="1361"/>
                                        </p:tgtEl>
                                        <p:attrNameLst>
                                          <p:attrName>style.visibility</p:attrName>
                                        </p:attrNameLst>
                                      </p:cBhvr>
                                      <p:to>
                                        <p:strVal val="visible"/>
                                      </p:to>
                                    </p:set>
                                    <p:animEffect filter="fade" transition="in">
                                      <p:cBhvr additive="repl">
                                        <p:cTn id="1605" dur="400"/>
                                        <p:tgtEl>
                                          <p:spTgt spid="1361"/>
                                        </p:tgtEl>
                                      </p:cBhvr>
                                    </p:animEffect>
                                  </p:childTnLst>
                                </p:cTn>
                              </p:par>
                              <p:par>
                                <p:cTn id="1606" nodeType="withEffect" fill="hold" presetClass="entr" presetID="10">
                                  <p:stCondLst>
                                    <p:cond delay="330"/>
                                  </p:stCondLst>
                                  <p:childTnLst>
                                    <p:set>
                                      <p:cBhvr>
                                        <p:cTn id="1607" dur="1" fill="hold">
                                          <p:stCondLst>
                                            <p:cond delay="0"/>
                                          </p:stCondLst>
                                        </p:cTn>
                                        <p:tgtEl>
                                          <p:spTgt spid="1362"/>
                                        </p:tgtEl>
                                        <p:attrNameLst>
                                          <p:attrName>style.visibility</p:attrName>
                                        </p:attrNameLst>
                                      </p:cBhvr>
                                      <p:to>
                                        <p:strVal val="visible"/>
                                      </p:to>
                                    </p:set>
                                    <p:animEffect filter="fade" transition="in">
                                      <p:cBhvr additive="repl">
                                        <p:cTn id="1608" dur="400"/>
                                        <p:tgtEl>
                                          <p:spTgt spid="1362"/>
                                        </p:tgtEl>
                                      </p:cBhvr>
                                    </p:animEffect>
                                  </p:childTnLst>
                                </p:cTn>
                              </p:par>
                              <p:par>
                                <p:cTn id="1609" nodeType="withEffect" fill="hold" presetClass="entr" presetID="10">
                                  <p:stCondLst>
                                    <p:cond delay="510"/>
                                  </p:stCondLst>
                                  <p:childTnLst>
                                    <p:set>
                                      <p:cBhvr>
                                        <p:cTn id="1610" dur="1" fill="hold">
                                          <p:stCondLst>
                                            <p:cond delay="0"/>
                                          </p:stCondLst>
                                        </p:cTn>
                                        <p:tgtEl>
                                          <p:spTgt spid="1363"/>
                                        </p:tgtEl>
                                        <p:attrNameLst>
                                          <p:attrName>style.visibility</p:attrName>
                                        </p:attrNameLst>
                                      </p:cBhvr>
                                      <p:to>
                                        <p:strVal val="visible"/>
                                      </p:to>
                                    </p:set>
                                    <p:animEffect filter="fade" transition="in">
                                      <p:cBhvr additive="repl">
                                        <p:cTn id="1611" dur="400"/>
                                        <p:tgtEl>
                                          <p:spTgt spid="1363"/>
                                        </p:tgtEl>
                                      </p:cBhvr>
                                    </p:animEffect>
                                  </p:childTnLst>
                                </p:cTn>
                              </p:par>
                              <p:par>
                                <p:cTn id="1612" nodeType="withEffect" fill="hold" presetClass="entr" presetID="10">
                                  <p:stCondLst>
                                    <p:cond delay="510"/>
                                  </p:stCondLst>
                                  <p:childTnLst>
                                    <p:set>
                                      <p:cBhvr>
                                        <p:cTn id="1613" dur="1" fill="hold">
                                          <p:stCondLst>
                                            <p:cond delay="0"/>
                                          </p:stCondLst>
                                        </p:cTn>
                                        <p:tgtEl>
                                          <p:spTgt spid="1364"/>
                                        </p:tgtEl>
                                        <p:attrNameLst>
                                          <p:attrName>style.visibility</p:attrName>
                                        </p:attrNameLst>
                                      </p:cBhvr>
                                      <p:to>
                                        <p:strVal val="visible"/>
                                      </p:to>
                                    </p:set>
                                    <p:animEffect filter="fade" transition="in">
                                      <p:cBhvr additive="repl">
                                        <p:cTn id="1614" dur="400"/>
                                        <p:tgtEl>
                                          <p:spTgt spid="1364"/>
                                        </p:tgtEl>
                                      </p:cBhvr>
                                    </p:animEffect>
                                  </p:childTnLst>
                                </p:cTn>
                              </p:par>
                              <p:par>
                                <p:cTn id="1615" nodeType="withEffect" fill="hold" presetClass="entr" presetID="10">
                                  <p:stCondLst>
                                    <p:cond delay="510"/>
                                  </p:stCondLst>
                                  <p:childTnLst>
                                    <p:set>
                                      <p:cBhvr>
                                        <p:cTn id="1616" dur="1" fill="hold">
                                          <p:stCondLst>
                                            <p:cond delay="0"/>
                                          </p:stCondLst>
                                        </p:cTn>
                                        <p:tgtEl>
                                          <p:spTgt spid="1365"/>
                                        </p:tgtEl>
                                        <p:attrNameLst>
                                          <p:attrName>style.visibility</p:attrName>
                                        </p:attrNameLst>
                                      </p:cBhvr>
                                      <p:to>
                                        <p:strVal val="visible"/>
                                      </p:to>
                                    </p:set>
                                    <p:animEffect filter="fade" transition="in">
                                      <p:cBhvr additive="repl">
                                        <p:cTn id="1617" dur="400"/>
                                        <p:tgtEl>
                                          <p:spTgt spid="1365"/>
                                        </p:tgtEl>
                                      </p:cBhvr>
                                    </p:animEffect>
                                  </p:childTnLst>
                                </p:cTn>
                              </p:par>
                              <p:par>
                                <p:cTn id="1618" nodeType="withEffect" fill="hold" presetClass="entr" presetID="10">
                                  <p:stCondLst>
                                    <p:cond delay="510"/>
                                  </p:stCondLst>
                                  <p:childTnLst>
                                    <p:set>
                                      <p:cBhvr>
                                        <p:cTn id="1619" dur="1" fill="hold">
                                          <p:stCondLst>
                                            <p:cond delay="0"/>
                                          </p:stCondLst>
                                        </p:cTn>
                                        <p:tgtEl>
                                          <p:spTgt spid="1366"/>
                                        </p:tgtEl>
                                        <p:attrNameLst>
                                          <p:attrName>style.visibility</p:attrName>
                                        </p:attrNameLst>
                                      </p:cBhvr>
                                      <p:to>
                                        <p:strVal val="visible"/>
                                      </p:to>
                                    </p:set>
                                    <p:animEffect filter="fade" transition="in">
                                      <p:cBhvr additive="repl">
                                        <p:cTn id="1620" dur="400"/>
                                        <p:tgtEl>
                                          <p:spTgt spid="1366"/>
                                        </p:tgtEl>
                                      </p:cBhvr>
                                    </p:animEffect>
                                  </p:childTnLst>
                                </p:cTn>
                              </p:par>
                              <p:par>
                                <p:cTn id="1621" nodeType="withEffect" fill="hold" presetClass="entr" presetID="10">
                                  <p:stCondLst>
                                    <p:cond delay="510"/>
                                  </p:stCondLst>
                                  <p:childTnLst>
                                    <p:set>
                                      <p:cBhvr>
                                        <p:cTn id="1622" dur="1" fill="hold">
                                          <p:stCondLst>
                                            <p:cond delay="0"/>
                                          </p:stCondLst>
                                        </p:cTn>
                                        <p:tgtEl>
                                          <p:spTgt spid="1367"/>
                                        </p:tgtEl>
                                        <p:attrNameLst>
                                          <p:attrName>style.visibility</p:attrName>
                                        </p:attrNameLst>
                                      </p:cBhvr>
                                      <p:to>
                                        <p:strVal val="visible"/>
                                      </p:to>
                                    </p:set>
                                    <p:animEffect filter="fade" transition="in">
                                      <p:cBhvr additive="repl">
                                        <p:cTn id="1623" dur="400"/>
                                        <p:tgtEl>
                                          <p:spTgt spid="1367"/>
                                        </p:tgtEl>
                                      </p:cBhvr>
                                    </p:animEffect>
                                  </p:childTnLst>
                                </p:cTn>
                              </p:par>
                              <p:par>
                                <p:cTn id="1624" nodeType="withEffect" fill="hold" presetClass="entr" presetID="10">
                                  <p:stCondLst>
                                    <p:cond delay="510"/>
                                  </p:stCondLst>
                                  <p:childTnLst>
                                    <p:set>
                                      <p:cBhvr>
                                        <p:cTn id="1625" dur="1" fill="hold">
                                          <p:stCondLst>
                                            <p:cond delay="0"/>
                                          </p:stCondLst>
                                        </p:cTn>
                                        <p:tgtEl>
                                          <p:spTgt spid="1368"/>
                                        </p:tgtEl>
                                        <p:attrNameLst>
                                          <p:attrName>style.visibility</p:attrName>
                                        </p:attrNameLst>
                                      </p:cBhvr>
                                      <p:to>
                                        <p:strVal val="visible"/>
                                      </p:to>
                                    </p:set>
                                    <p:animEffect filter="fade" transition="in">
                                      <p:cBhvr additive="repl">
                                        <p:cTn id="1626" dur="400"/>
                                        <p:tgtEl>
                                          <p:spTgt spid="1368"/>
                                        </p:tgtEl>
                                      </p:cBhvr>
                                    </p:animEffect>
                                  </p:childTnLst>
                                </p:cTn>
                              </p:par>
                              <p:par>
                                <p:cTn id="1627" nodeType="withEffect" fill="hold" presetClass="entr" presetID="10">
                                  <p:stCondLst>
                                    <p:cond delay="690"/>
                                  </p:stCondLst>
                                  <p:childTnLst>
                                    <p:set>
                                      <p:cBhvr>
                                        <p:cTn id="1628" dur="1" fill="hold">
                                          <p:stCondLst>
                                            <p:cond delay="0"/>
                                          </p:stCondLst>
                                        </p:cTn>
                                        <p:tgtEl>
                                          <p:spTgt spid="1369"/>
                                        </p:tgtEl>
                                        <p:attrNameLst>
                                          <p:attrName>style.visibility</p:attrName>
                                        </p:attrNameLst>
                                      </p:cBhvr>
                                      <p:to>
                                        <p:strVal val="visible"/>
                                      </p:to>
                                    </p:set>
                                    <p:animEffect filter="fade" transition="in">
                                      <p:cBhvr additive="repl">
                                        <p:cTn id="1629" dur="400"/>
                                        <p:tgtEl>
                                          <p:spTgt spid="1369"/>
                                        </p:tgtEl>
                                      </p:cBhvr>
                                    </p:animEffect>
                                  </p:childTnLst>
                                </p:cTn>
                              </p:par>
                              <p:par>
                                <p:cTn id="1630" nodeType="withEffect" fill="hold" presetClass="entr" presetID="10">
                                  <p:stCondLst>
                                    <p:cond delay="690"/>
                                  </p:stCondLst>
                                  <p:childTnLst>
                                    <p:set>
                                      <p:cBhvr>
                                        <p:cTn id="1631" dur="1" fill="hold">
                                          <p:stCondLst>
                                            <p:cond delay="0"/>
                                          </p:stCondLst>
                                        </p:cTn>
                                        <p:tgtEl>
                                          <p:spTgt spid="1370"/>
                                        </p:tgtEl>
                                        <p:attrNameLst>
                                          <p:attrName>style.visibility</p:attrName>
                                        </p:attrNameLst>
                                      </p:cBhvr>
                                      <p:to>
                                        <p:strVal val="visible"/>
                                      </p:to>
                                    </p:set>
                                    <p:animEffect filter="fade" transition="in">
                                      <p:cBhvr additive="repl">
                                        <p:cTn id="1632" dur="400"/>
                                        <p:tgtEl>
                                          <p:spTgt spid="1370"/>
                                        </p:tgtEl>
                                      </p:cBhvr>
                                    </p:animEffect>
                                  </p:childTnLst>
                                </p:cTn>
                              </p:par>
                              <p:par>
                                <p:cTn id="1633" nodeType="withEffect" fill="hold" presetClass="entr" presetID="10">
                                  <p:stCondLst>
                                    <p:cond delay="690"/>
                                  </p:stCondLst>
                                  <p:childTnLst>
                                    <p:set>
                                      <p:cBhvr>
                                        <p:cTn id="1634" dur="1" fill="hold">
                                          <p:stCondLst>
                                            <p:cond delay="0"/>
                                          </p:stCondLst>
                                        </p:cTn>
                                        <p:tgtEl>
                                          <p:spTgt spid="1371"/>
                                        </p:tgtEl>
                                        <p:attrNameLst>
                                          <p:attrName>style.visibility</p:attrName>
                                        </p:attrNameLst>
                                      </p:cBhvr>
                                      <p:to>
                                        <p:strVal val="visible"/>
                                      </p:to>
                                    </p:set>
                                    <p:animEffect filter="fade" transition="in">
                                      <p:cBhvr additive="repl">
                                        <p:cTn id="1635" dur="400"/>
                                        <p:tgtEl>
                                          <p:spTgt spid="1371"/>
                                        </p:tgtEl>
                                      </p:cBhvr>
                                    </p:animEffect>
                                  </p:childTnLst>
                                </p:cTn>
                              </p:par>
                              <p:par>
                                <p:cTn id="1636" nodeType="withEffect" fill="hold" presetClass="entr" presetID="10">
                                  <p:stCondLst>
                                    <p:cond delay="690"/>
                                  </p:stCondLst>
                                  <p:childTnLst>
                                    <p:set>
                                      <p:cBhvr>
                                        <p:cTn id="1637" dur="1" fill="hold">
                                          <p:stCondLst>
                                            <p:cond delay="0"/>
                                          </p:stCondLst>
                                        </p:cTn>
                                        <p:tgtEl>
                                          <p:spTgt spid="1372"/>
                                        </p:tgtEl>
                                        <p:attrNameLst>
                                          <p:attrName>style.visibility</p:attrName>
                                        </p:attrNameLst>
                                      </p:cBhvr>
                                      <p:to>
                                        <p:strVal val="visible"/>
                                      </p:to>
                                    </p:set>
                                    <p:animEffect filter="fade" transition="in">
                                      <p:cBhvr additive="repl">
                                        <p:cTn id="1638" dur="400"/>
                                        <p:tgtEl>
                                          <p:spTgt spid="1372"/>
                                        </p:tgtEl>
                                      </p:cBhvr>
                                    </p:animEffect>
                                  </p:childTnLst>
                                </p:cTn>
                              </p:par>
                              <p:par>
                                <p:cTn id="1639" nodeType="withEffect" fill="hold" presetClass="entr" presetID="10">
                                  <p:stCondLst>
                                    <p:cond delay="690"/>
                                  </p:stCondLst>
                                  <p:childTnLst>
                                    <p:set>
                                      <p:cBhvr>
                                        <p:cTn id="1640" dur="1" fill="hold">
                                          <p:stCondLst>
                                            <p:cond delay="0"/>
                                          </p:stCondLst>
                                        </p:cTn>
                                        <p:tgtEl>
                                          <p:spTgt spid="1373"/>
                                        </p:tgtEl>
                                        <p:attrNameLst>
                                          <p:attrName>style.visibility</p:attrName>
                                        </p:attrNameLst>
                                      </p:cBhvr>
                                      <p:to>
                                        <p:strVal val="visible"/>
                                      </p:to>
                                    </p:set>
                                    <p:animEffect filter="fade" transition="in">
                                      <p:cBhvr additive="repl">
                                        <p:cTn id="1641" dur="400"/>
                                        <p:tgtEl>
                                          <p:spTgt spid="1373"/>
                                        </p:tgtEl>
                                      </p:cBhvr>
                                    </p:animEffect>
                                  </p:childTnLst>
                                </p:cTn>
                              </p:par>
                              <p:par>
                                <p:cTn id="1642" nodeType="withEffect" fill="hold" presetClass="entr" presetID="10">
                                  <p:stCondLst>
                                    <p:cond delay="690"/>
                                  </p:stCondLst>
                                  <p:childTnLst>
                                    <p:set>
                                      <p:cBhvr>
                                        <p:cTn id="1643" dur="1" fill="hold">
                                          <p:stCondLst>
                                            <p:cond delay="0"/>
                                          </p:stCondLst>
                                        </p:cTn>
                                        <p:tgtEl>
                                          <p:spTgt spid="1374"/>
                                        </p:tgtEl>
                                        <p:attrNameLst>
                                          <p:attrName>style.visibility</p:attrName>
                                        </p:attrNameLst>
                                      </p:cBhvr>
                                      <p:to>
                                        <p:strVal val="visible"/>
                                      </p:to>
                                    </p:set>
                                    <p:animEffect filter="fade" transition="in">
                                      <p:cBhvr additive="repl">
                                        <p:cTn id="1644" dur="400"/>
                                        <p:tgtEl>
                                          <p:spTgt spid="1374"/>
                                        </p:tgtEl>
                                      </p:cBhvr>
                                    </p:animEffect>
                                  </p:childTnLst>
                                </p:cTn>
                              </p:par>
                              <p:par>
                                <p:cTn id="1645" nodeType="withEffect" fill="hold" presetClass="entr" presetID="10">
                                  <p:stCondLst>
                                    <p:cond delay="870"/>
                                  </p:stCondLst>
                                  <p:childTnLst>
                                    <p:set>
                                      <p:cBhvr>
                                        <p:cTn id="1646" dur="1" fill="hold">
                                          <p:stCondLst>
                                            <p:cond delay="0"/>
                                          </p:stCondLst>
                                        </p:cTn>
                                        <p:tgtEl>
                                          <p:spTgt spid="1375"/>
                                        </p:tgtEl>
                                        <p:attrNameLst>
                                          <p:attrName>style.visibility</p:attrName>
                                        </p:attrNameLst>
                                      </p:cBhvr>
                                      <p:to>
                                        <p:strVal val="visible"/>
                                      </p:to>
                                    </p:set>
                                    <p:animEffect filter="fade" transition="in">
                                      <p:cBhvr additive="repl">
                                        <p:cTn id="1647" dur="400"/>
                                        <p:tgtEl>
                                          <p:spTgt spid="1375"/>
                                        </p:tgtEl>
                                      </p:cBhvr>
                                    </p:animEffect>
                                  </p:childTnLst>
                                </p:cTn>
                              </p:par>
                              <p:par>
                                <p:cTn id="1648" nodeType="withEffect" fill="hold" presetClass="entr" presetID="10">
                                  <p:stCondLst>
                                    <p:cond delay="870"/>
                                  </p:stCondLst>
                                  <p:childTnLst>
                                    <p:set>
                                      <p:cBhvr>
                                        <p:cTn id="1649" dur="1" fill="hold">
                                          <p:stCondLst>
                                            <p:cond delay="0"/>
                                          </p:stCondLst>
                                        </p:cTn>
                                        <p:tgtEl>
                                          <p:spTgt spid="1376"/>
                                        </p:tgtEl>
                                        <p:attrNameLst>
                                          <p:attrName>style.visibility</p:attrName>
                                        </p:attrNameLst>
                                      </p:cBhvr>
                                      <p:to>
                                        <p:strVal val="visible"/>
                                      </p:to>
                                    </p:set>
                                    <p:animEffect filter="fade" transition="in">
                                      <p:cBhvr additive="repl">
                                        <p:cTn id="1650" dur="400"/>
                                        <p:tgtEl>
                                          <p:spTgt spid="1376"/>
                                        </p:tgtEl>
                                      </p:cBhvr>
                                    </p:animEffect>
                                  </p:childTnLst>
                                </p:cTn>
                              </p:par>
                              <p:par>
                                <p:cTn id="1651" nodeType="withEffect" fill="hold" presetClass="entr" presetID="10">
                                  <p:stCondLst>
                                    <p:cond delay="870"/>
                                  </p:stCondLst>
                                  <p:childTnLst>
                                    <p:set>
                                      <p:cBhvr>
                                        <p:cTn id="1652" dur="1" fill="hold">
                                          <p:stCondLst>
                                            <p:cond delay="0"/>
                                          </p:stCondLst>
                                        </p:cTn>
                                        <p:tgtEl>
                                          <p:spTgt spid="1377"/>
                                        </p:tgtEl>
                                        <p:attrNameLst>
                                          <p:attrName>style.visibility</p:attrName>
                                        </p:attrNameLst>
                                      </p:cBhvr>
                                      <p:to>
                                        <p:strVal val="visible"/>
                                      </p:to>
                                    </p:set>
                                    <p:animEffect filter="fade" transition="in">
                                      <p:cBhvr additive="repl">
                                        <p:cTn id="1653" dur="400"/>
                                        <p:tgtEl>
                                          <p:spTgt spid="1377"/>
                                        </p:tgtEl>
                                      </p:cBhvr>
                                    </p:animEffect>
                                  </p:childTnLst>
                                </p:cTn>
                              </p:par>
                              <p:par>
                                <p:cTn id="1654" nodeType="withEffect" fill="hold" presetClass="entr" presetID="10">
                                  <p:stCondLst>
                                    <p:cond delay="870"/>
                                  </p:stCondLst>
                                  <p:childTnLst>
                                    <p:set>
                                      <p:cBhvr>
                                        <p:cTn id="1655" dur="1" fill="hold">
                                          <p:stCondLst>
                                            <p:cond delay="0"/>
                                          </p:stCondLst>
                                        </p:cTn>
                                        <p:tgtEl>
                                          <p:spTgt spid="1378"/>
                                        </p:tgtEl>
                                        <p:attrNameLst>
                                          <p:attrName>style.visibility</p:attrName>
                                        </p:attrNameLst>
                                      </p:cBhvr>
                                      <p:to>
                                        <p:strVal val="visible"/>
                                      </p:to>
                                    </p:set>
                                    <p:animEffect filter="fade" transition="in">
                                      <p:cBhvr additive="repl">
                                        <p:cTn id="1656" dur="400"/>
                                        <p:tgtEl>
                                          <p:spTgt spid="1378"/>
                                        </p:tgtEl>
                                      </p:cBhvr>
                                    </p:animEffect>
                                  </p:childTnLst>
                                </p:cTn>
                              </p:par>
                              <p:par>
                                <p:cTn id="1657" nodeType="withEffect" fill="hold" presetClass="entr" presetID="10">
                                  <p:stCondLst>
                                    <p:cond delay="870"/>
                                  </p:stCondLst>
                                  <p:childTnLst>
                                    <p:set>
                                      <p:cBhvr>
                                        <p:cTn id="1658" dur="1" fill="hold">
                                          <p:stCondLst>
                                            <p:cond delay="0"/>
                                          </p:stCondLst>
                                        </p:cTn>
                                        <p:tgtEl>
                                          <p:spTgt spid="1379"/>
                                        </p:tgtEl>
                                        <p:attrNameLst>
                                          <p:attrName>style.visibility</p:attrName>
                                        </p:attrNameLst>
                                      </p:cBhvr>
                                      <p:to>
                                        <p:strVal val="visible"/>
                                      </p:to>
                                    </p:set>
                                    <p:animEffect filter="fade" transition="in">
                                      <p:cBhvr additive="repl">
                                        <p:cTn id="1659" dur="400"/>
                                        <p:tgtEl>
                                          <p:spTgt spid="1379"/>
                                        </p:tgtEl>
                                      </p:cBhvr>
                                    </p:animEffect>
                                  </p:childTnLst>
                                </p:cTn>
                              </p:par>
                              <p:par>
                                <p:cTn id="1660" nodeType="withEffect" fill="hold" presetClass="entr" presetID="10">
                                  <p:stCondLst>
                                    <p:cond delay="870"/>
                                  </p:stCondLst>
                                  <p:childTnLst>
                                    <p:set>
                                      <p:cBhvr>
                                        <p:cTn id="1661" dur="1" fill="hold">
                                          <p:stCondLst>
                                            <p:cond delay="0"/>
                                          </p:stCondLst>
                                        </p:cTn>
                                        <p:tgtEl>
                                          <p:spTgt spid="1380"/>
                                        </p:tgtEl>
                                        <p:attrNameLst>
                                          <p:attrName>style.visibility</p:attrName>
                                        </p:attrNameLst>
                                      </p:cBhvr>
                                      <p:to>
                                        <p:strVal val="visible"/>
                                      </p:to>
                                    </p:set>
                                    <p:animEffect filter="fade" transition="in">
                                      <p:cBhvr additive="repl">
                                        <p:cTn id="1662" dur="400"/>
                                        <p:tgtEl>
                                          <p:spTgt spid="1380"/>
                                        </p:tgtEl>
                                      </p:cBhvr>
                                    </p:animEffect>
                                  </p:childTnLst>
                                </p:cTn>
                              </p:par>
                              <p:par>
                                <p:cTn id="1663" nodeType="withEffect" fill="hold" presetClass="entr" presetID="10">
                                  <p:stCondLst>
                                    <p:cond delay="1050"/>
                                  </p:stCondLst>
                                  <p:childTnLst>
                                    <p:set>
                                      <p:cBhvr>
                                        <p:cTn id="1664" dur="1" fill="hold">
                                          <p:stCondLst>
                                            <p:cond delay="0"/>
                                          </p:stCondLst>
                                        </p:cTn>
                                        <p:tgtEl>
                                          <p:spTgt spid="1381"/>
                                        </p:tgtEl>
                                        <p:attrNameLst>
                                          <p:attrName>style.visibility</p:attrName>
                                        </p:attrNameLst>
                                      </p:cBhvr>
                                      <p:to>
                                        <p:strVal val="visible"/>
                                      </p:to>
                                    </p:set>
                                    <p:animEffect filter="fade" transition="in">
                                      <p:cBhvr additive="repl">
                                        <p:cTn id="1665" dur="400"/>
                                        <p:tgtEl>
                                          <p:spTgt spid="1381"/>
                                        </p:tgtEl>
                                      </p:cBhvr>
                                    </p:animEffect>
                                  </p:childTnLst>
                                </p:cTn>
                              </p:par>
                              <p:par>
                                <p:cTn id="1666" nodeType="withEffect" fill="hold" presetClass="entr" presetID="10">
                                  <p:stCondLst>
                                    <p:cond delay="1050"/>
                                  </p:stCondLst>
                                  <p:childTnLst>
                                    <p:set>
                                      <p:cBhvr>
                                        <p:cTn id="1667" dur="1" fill="hold">
                                          <p:stCondLst>
                                            <p:cond delay="0"/>
                                          </p:stCondLst>
                                        </p:cTn>
                                        <p:tgtEl>
                                          <p:spTgt spid="1382"/>
                                        </p:tgtEl>
                                        <p:attrNameLst>
                                          <p:attrName>style.visibility</p:attrName>
                                        </p:attrNameLst>
                                      </p:cBhvr>
                                      <p:to>
                                        <p:strVal val="visible"/>
                                      </p:to>
                                    </p:set>
                                    <p:animEffect filter="fade" transition="in">
                                      <p:cBhvr additive="repl">
                                        <p:cTn id="1668" dur="400"/>
                                        <p:tgtEl>
                                          <p:spTgt spid="1382"/>
                                        </p:tgtEl>
                                      </p:cBhvr>
                                    </p:animEffect>
                                  </p:childTnLst>
                                </p:cTn>
                              </p:par>
                              <p:par>
                                <p:cTn id="1669" nodeType="withEffect" fill="hold" presetClass="entr" presetID="10">
                                  <p:stCondLst>
                                    <p:cond delay="1050"/>
                                  </p:stCondLst>
                                  <p:childTnLst>
                                    <p:set>
                                      <p:cBhvr>
                                        <p:cTn id="1670" dur="1" fill="hold">
                                          <p:stCondLst>
                                            <p:cond delay="0"/>
                                          </p:stCondLst>
                                        </p:cTn>
                                        <p:tgtEl>
                                          <p:spTgt spid="1383"/>
                                        </p:tgtEl>
                                        <p:attrNameLst>
                                          <p:attrName>style.visibility</p:attrName>
                                        </p:attrNameLst>
                                      </p:cBhvr>
                                      <p:to>
                                        <p:strVal val="visible"/>
                                      </p:to>
                                    </p:set>
                                    <p:animEffect filter="fade" transition="in">
                                      <p:cBhvr additive="repl">
                                        <p:cTn id="1671" dur="400"/>
                                        <p:tgtEl>
                                          <p:spTgt spid="1383"/>
                                        </p:tgtEl>
                                      </p:cBhvr>
                                    </p:animEffect>
                                  </p:childTnLst>
                                </p:cTn>
                              </p:par>
                              <p:par>
                                <p:cTn id="1672" nodeType="withEffect" fill="hold" presetClass="entr" presetID="10">
                                  <p:stCondLst>
                                    <p:cond delay="1050"/>
                                  </p:stCondLst>
                                  <p:childTnLst>
                                    <p:set>
                                      <p:cBhvr>
                                        <p:cTn id="1673" dur="1" fill="hold">
                                          <p:stCondLst>
                                            <p:cond delay="0"/>
                                          </p:stCondLst>
                                        </p:cTn>
                                        <p:tgtEl>
                                          <p:spTgt spid="1384"/>
                                        </p:tgtEl>
                                        <p:attrNameLst>
                                          <p:attrName>style.visibility</p:attrName>
                                        </p:attrNameLst>
                                      </p:cBhvr>
                                      <p:to>
                                        <p:strVal val="visible"/>
                                      </p:to>
                                    </p:set>
                                    <p:animEffect filter="fade" transition="in">
                                      <p:cBhvr additive="repl">
                                        <p:cTn id="1674" dur="400"/>
                                        <p:tgtEl>
                                          <p:spTgt spid="1384"/>
                                        </p:tgtEl>
                                      </p:cBhvr>
                                    </p:animEffect>
                                  </p:childTnLst>
                                </p:cTn>
                              </p:par>
                              <p:par>
                                <p:cTn id="1675" nodeType="withEffect" fill="hold" presetClass="entr" presetID="10">
                                  <p:stCondLst>
                                    <p:cond delay="1050"/>
                                  </p:stCondLst>
                                  <p:childTnLst>
                                    <p:set>
                                      <p:cBhvr>
                                        <p:cTn id="1676" dur="1" fill="hold">
                                          <p:stCondLst>
                                            <p:cond delay="0"/>
                                          </p:stCondLst>
                                        </p:cTn>
                                        <p:tgtEl>
                                          <p:spTgt spid="1385"/>
                                        </p:tgtEl>
                                        <p:attrNameLst>
                                          <p:attrName>style.visibility</p:attrName>
                                        </p:attrNameLst>
                                      </p:cBhvr>
                                      <p:to>
                                        <p:strVal val="visible"/>
                                      </p:to>
                                    </p:set>
                                    <p:animEffect filter="fade" transition="in">
                                      <p:cBhvr additive="repl">
                                        <p:cTn id="1677" dur="400"/>
                                        <p:tgtEl>
                                          <p:spTgt spid="1385"/>
                                        </p:tgtEl>
                                      </p:cBhvr>
                                    </p:animEffect>
                                  </p:childTnLst>
                                </p:cTn>
                              </p:par>
                              <p:par>
                                <p:cTn id="1678" nodeType="withEffect" fill="hold" presetClass="entr" presetID="10">
                                  <p:stCondLst>
                                    <p:cond delay="1050"/>
                                  </p:stCondLst>
                                  <p:childTnLst>
                                    <p:set>
                                      <p:cBhvr>
                                        <p:cTn id="1679" dur="1" fill="hold">
                                          <p:stCondLst>
                                            <p:cond delay="0"/>
                                          </p:stCondLst>
                                        </p:cTn>
                                        <p:tgtEl>
                                          <p:spTgt spid="1386"/>
                                        </p:tgtEl>
                                        <p:attrNameLst>
                                          <p:attrName>style.visibility</p:attrName>
                                        </p:attrNameLst>
                                      </p:cBhvr>
                                      <p:to>
                                        <p:strVal val="visible"/>
                                      </p:to>
                                    </p:set>
                                    <p:animEffect filter="fade" transition="in">
                                      <p:cBhvr additive="repl">
                                        <p:cTn id="1680" dur="400"/>
                                        <p:tgtEl>
                                          <p:spTgt spid="1386"/>
                                        </p:tgtEl>
                                      </p:cBhvr>
                                    </p:animEffect>
                                  </p:childTnLst>
                                </p:cTn>
                              </p:par>
                              <p:par>
                                <p:cTn id="1681" nodeType="withEffect" fill="hold" presetClass="entr" presetID="10">
                                  <p:stCondLst>
                                    <p:cond delay="1400"/>
                                  </p:stCondLst>
                                  <p:childTnLst>
                                    <p:set>
                                      <p:cBhvr>
                                        <p:cTn id="1682" dur="1" fill="hold">
                                          <p:stCondLst>
                                            <p:cond delay="0"/>
                                          </p:stCondLst>
                                        </p:cTn>
                                        <p:tgtEl>
                                          <p:spTgt spid="1387"/>
                                        </p:tgtEl>
                                        <p:attrNameLst>
                                          <p:attrName>style.visibility</p:attrName>
                                        </p:attrNameLst>
                                      </p:cBhvr>
                                      <p:to>
                                        <p:strVal val="visible"/>
                                      </p:to>
                                    </p:set>
                                    <p:animEffect filter="fade" transition="in">
                                      <p:cBhvr additive="repl">
                                        <p:cTn id="1683" dur="400"/>
                                        <p:tgtEl>
                                          <p:spTgt spid="1387"/>
                                        </p:tgtEl>
                                      </p:cBhvr>
                                    </p:animEffect>
                                  </p:childTnLst>
                                </p:cTn>
                              </p:par>
                              <p:par>
                                <p:cTn id="1684" nodeType="withEffect" fill="hold" presetClass="entr" presetID="10">
                                  <p:stCondLst>
                                    <p:cond delay="1400"/>
                                  </p:stCondLst>
                                  <p:childTnLst>
                                    <p:set>
                                      <p:cBhvr>
                                        <p:cTn id="1685" dur="1" fill="hold">
                                          <p:stCondLst>
                                            <p:cond delay="0"/>
                                          </p:stCondLst>
                                        </p:cTn>
                                        <p:tgtEl>
                                          <p:spTgt spid="1388"/>
                                        </p:tgtEl>
                                        <p:attrNameLst>
                                          <p:attrName>style.visibility</p:attrName>
                                        </p:attrNameLst>
                                      </p:cBhvr>
                                      <p:to>
                                        <p:strVal val="visible"/>
                                      </p:to>
                                    </p:set>
                                    <p:animEffect filter="fade" transition="in">
                                      <p:cBhvr additive="repl">
                                        <p:cTn id="1686" dur="400"/>
                                        <p:tgtEl>
                                          <p:spTgt spid="1388"/>
                                        </p:tgtEl>
                                      </p:cBhvr>
                                    </p:animEffect>
                                  </p:childTnLst>
                                </p:cTn>
                              </p:par>
                              <p:par>
                                <p:cTn id="1687" nodeType="withEffect" fill="hold" presetClass="entr" presetID="10">
                                  <p:stCondLst>
                                    <p:cond delay="1400"/>
                                  </p:stCondLst>
                                  <p:childTnLst>
                                    <p:set>
                                      <p:cBhvr>
                                        <p:cTn id="1688" dur="1" fill="hold">
                                          <p:stCondLst>
                                            <p:cond delay="0"/>
                                          </p:stCondLst>
                                        </p:cTn>
                                        <p:tgtEl>
                                          <p:spTgt spid="1389"/>
                                        </p:tgtEl>
                                        <p:attrNameLst>
                                          <p:attrName>style.visibility</p:attrName>
                                        </p:attrNameLst>
                                      </p:cBhvr>
                                      <p:to>
                                        <p:strVal val="visible"/>
                                      </p:to>
                                    </p:set>
                                    <p:animEffect filter="fade" transition="in">
                                      <p:cBhvr additive="repl">
                                        <p:cTn id="1689" dur="400"/>
                                        <p:tgtEl>
                                          <p:spTgt spid="1389"/>
                                        </p:tgtEl>
                                      </p:cBhvr>
                                    </p:animEffect>
                                  </p:childTnLst>
                                </p:cTn>
                              </p:par>
                              <p:par>
                                <p:cTn id="1690" nodeType="withEffect" fill="hold" presetClass="entr" presetID="10">
                                  <p:stCondLst>
                                    <p:cond delay="1400"/>
                                  </p:stCondLst>
                                  <p:childTnLst>
                                    <p:set>
                                      <p:cBhvr>
                                        <p:cTn id="1691" dur="1" fill="hold">
                                          <p:stCondLst>
                                            <p:cond delay="0"/>
                                          </p:stCondLst>
                                        </p:cTn>
                                        <p:tgtEl>
                                          <p:spTgt spid="1390"/>
                                        </p:tgtEl>
                                        <p:attrNameLst>
                                          <p:attrName>style.visibility</p:attrName>
                                        </p:attrNameLst>
                                      </p:cBhvr>
                                      <p:to>
                                        <p:strVal val="visible"/>
                                      </p:to>
                                    </p:set>
                                    <p:animEffect filter="fade" transition="in">
                                      <p:cBhvr additive="repl">
                                        <p:cTn id="1692" dur="400"/>
                                        <p:tgtEl>
                                          <p:spTgt spid="1390"/>
                                        </p:tgtEl>
                                      </p:cBhvr>
                                    </p:animEffect>
                                  </p:childTnLst>
                                </p:cTn>
                              </p:par>
                              <p:par>
                                <p:cTn id="1693" nodeType="withEffect" fill="hold" presetClass="entr" presetID="10">
                                  <p:stCondLst>
                                    <p:cond delay="1400"/>
                                  </p:stCondLst>
                                  <p:childTnLst>
                                    <p:set>
                                      <p:cBhvr>
                                        <p:cTn id="1694" dur="1" fill="hold">
                                          <p:stCondLst>
                                            <p:cond delay="0"/>
                                          </p:stCondLst>
                                        </p:cTn>
                                        <p:tgtEl>
                                          <p:spTgt spid="1391"/>
                                        </p:tgtEl>
                                        <p:attrNameLst>
                                          <p:attrName>style.visibility</p:attrName>
                                        </p:attrNameLst>
                                      </p:cBhvr>
                                      <p:to>
                                        <p:strVal val="visible"/>
                                      </p:to>
                                    </p:set>
                                    <p:animEffect filter="fade" transition="in">
                                      <p:cBhvr additive="repl">
                                        <p:cTn id="1695" dur="400"/>
                                        <p:tgtEl>
                                          <p:spTgt spid="1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419" name="o1"/>
          <p:cNvSpPr/>
          <p:nvPr/>
        </p:nvSpPr>
        <p:spPr>
          <a:xfrm>
            <a:off x="274320" y="228600"/>
            <a:ext cx="11642760" cy="5897520"/>
          </a:xfrm>
          <a:prstGeom prst="roundRect">
            <a:avLst>
              <a:gd name="adj" fmla="val 217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20" name="o2"/>
          <p:cNvSpPr/>
          <p:nvPr/>
        </p:nvSpPr>
        <p:spPr>
          <a:xfrm>
            <a:off x="343080" y="297360"/>
            <a:ext cx="11505600" cy="5760360"/>
          </a:xfrm>
          <a:prstGeom prst="roundRect">
            <a:avLst>
              <a:gd name="adj" fmla="val 103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21" name="o3"/>
          <p:cNvSpPr/>
          <p:nvPr/>
        </p:nvSpPr>
        <p:spPr>
          <a:xfrm>
            <a:off x="86868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22" name="o4"/>
          <p:cNvSpPr/>
          <p:nvPr/>
        </p:nvSpPr>
        <p:spPr>
          <a:xfrm>
            <a:off x="93708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23" name="o5"/>
          <p:cNvSpPr/>
          <p:nvPr/>
        </p:nvSpPr>
        <p:spPr>
          <a:xfrm>
            <a:off x="976860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24" name="o6"/>
          <p:cNvSpPr/>
          <p:nvPr/>
        </p:nvSpPr>
        <p:spPr>
          <a:xfrm>
            <a:off x="983700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25" name="o7"/>
          <p:cNvSpPr/>
          <p:nvPr/>
        </p:nvSpPr>
        <p:spPr>
          <a:xfrm>
            <a:off x="86868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26" name="o8"/>
          <p:cNvSpPr/>
          <p:nvPr/>
        </p:nvSpPr>
        <p:spPr>
          <a:xfrm>
            <a:off x="93708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27" name="o9"/>
          <p:cNvSpPr/>
          <p:nvPr/>
        </p:nvSpPr>
        <p:spPr>
          <a:xfrm>
            <a:off x="976860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28" name="o10"/>
          <p:cNvSpPr/>
          <p:nvPr/>
        </p:nvSpPr>
        <p:spPr>
          <a:xfrm>
            <a:off x="983700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429" name="o11" descr="image-2-7.png"/>
          <p:cNvPicPr/>
          <p:nvPr/>
        </p:nvPicPr>
        <p:blipFill>
          <a:blip r:embed="rId1"/>
          <a:stretch/>
        </p:blipFill>
        <p:spPr>
          <a:xfrm>
            <a:off x="5684760" y="777240"/>
            <a:ext cx="822600" cy="822600"/>
          </a:xfrm>
          <a:prstGeom prst="rect">
            <a:avLst/>
          </a:prstGeom>
          <a:ln w="0">
            <a:noFill/>
          </a:ln>
        </p:spPr>
      </p:pic>
      <p:pic>
        <p:nvPicPr>
          <p:cNvPr id="1430" name="o12" descr="LEVEL 1"/>
          <p:cNvPicPr/>
          <p:nvPr/>
        </p:nvPicPr>
        <p:blipFill>
          <a:blip r:embed="rId2"/>
          <a:stretch/>
        </p:blipFill>
        <p:spPr>
          <a:xfrm>
            <a:off x="5263920" y="1828800"/>
            <a:ext cx="1663920" cy="237240"/>
          </a:xfrm>
          <a:prstGeom prst="rect">
            <a:avLst/>
          </a:prstGeom>
          <a:ln w="0">
            <a:noFill/>
          </a:ln>
        </p:spPr>
      </p:pic>
      <p:pic>
        <p:nvPicPr>
          <p:cNvPr id="1431" name="o13" descr="MISSION"/>
          <p:cNvPicPr/>
          <p:nvPr/>
        </p:nvPicPr>
        <p:blipFill>
          <a:blip r:embed="rId3"/>
          <a:stretch/>
        </p:blipFill>
        <p:spPr>
          <a:xfrm>
            <a:off x="4303800" y="2331720"/>
            <a:ext cx="3584160" cy="511560"/>
          </a:xfrm>
          <a:prstGeom prst="rect">
            <a:avLst/>
          </a:prstGeom>
          <a:ln w="0">
            <a:noFill/>
          </a:ln>
        </p:spPr>
      </p:pic>
      <p:sp>
        <p:nvSpPr>
          <p:cNvPr id="1432" name="o14"/>
          <p:cNvSpPr/>
          <p:nvPr/>
        </p:nvSpPr>
        <p:spPr>
          <a:xfrm>
            <a:off x="1371600" y="3108960"/>
            <a:ext cx="9448200" cy="3052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2000" spc="-1" strike="noStrike">
                <a:solidFill>
                  <a:srgbClr val="c4c4e4"/>
                </a:solidFill>
                <a:latin typeface="Arial"/>
              </a:rPr>
              <a:t>Pourquoi une deuxième source ?</a:t>
            </a:r>
            <a:endParaRPr b="0" lang="en-US" sz="2000" spc="-1" strike="noStrike">
              <a:solidFill>
                <a:srgbClr val="ffffff"/>
              </a:solidFill>
              <a:latin typeface="Arial"/>
            </a:endParaRPr>
          </a:p>
        </p:txBody>
      </p:sp>
      <p:pic>
        <p:nvPicPr>
          <p:cNvPr id="1433" name="rangee_sprite" descr="image-1-8.gif"/>
          <p:cNvPicPr/>
          <p:nvPr/>
        </p:nvPicPr>
        <p:blipFill>
          <a:blip r:embed="rId4"/>
          <a:stretch/>
        </p:blipFill>
        <p:spPr>
          <a:xfrm>
            <a:off x="704160" y="3950280"/>
            <a:ext cx="420120" cy="420120"/>
          </a:xfrm>
          <a:prstGeom prst="rect">
            <a:avLst/>
          </a:prstGeom>
          <a:ln w="0">
            <a:noFill/>
          </a:ln>
        </p:spPr>
      </p:pic>
      <p:pic>
        <p:nvPicPr>
          <p:cNvPr id="1434" name="rangee_sprite" descr="image-1-7.gif"/>
          <p:cNvPicPr/>
          <p:nvPr/>
        </p:nvPicPr>
        <p:blipFill>
          <a:blip r:embed="rId5"/>
          <a:stretch/>
        </p:blipFill>
        <p:spPr>
          <a:xfrm>
            <a:off x="1252800" y="3950280"/>
            <a:ext cx="420120" cy="420120"/>
          </a:xfrm>
          <a:prstGeom prst="rect">
            <a:avLst/>
          </a:prstGeom>
          <a:ln w="0">
            <a:noFill/>
          </a:ln>
        </p:spPr>
      </p:pic>
      <p:pic>
        <p:nvPicPr>
          <p:cNvPr id="1435" name="rangee_sprite" descr="image-1-6.gif"/>
          <p:cNvPicPr/>
          <p:nvPr/>
        </p:nvPicPr>
        <p:blipFill>
          <a:blip r:embed="rId6"/>
          <a:stretch/>
        </p:blipFill>
        <p:spPr>
          <a:xfrm>
            <a:off x="1801440" y="3950280"/>
            <a:ext cx="420120" cy="420120"/>
          </a:xfrm>
          <a:prstGeom prst="rect">
            <a:avLst/>
          </a:prstGeom>
          <a:ln w="0">
            <a:noFill/>
          </a:ln>
        </p:spPr>
      </p:pic>
      <p:pic>
        <p:nvPicPr>
          <p:cNvPr id="1436" name="rangee_sprite" descr="image-1-15.gif"/>
          <p:cNvPicPr/>
          <p:nvPr/>
        </p:nvPicPr>
        <p:blipFill>
          <a:blip r:embed="rId7"/>
          <a:stretch/>
        </p:blipFill>
        <p:spPr>
          <a:xfrm>
            <a:off x="2350080" y="3950280"/>
            <a:ext cx="420120" cy="420120"/>
          </a:xfrm>
          <a:prstGeom prst="rect">
            <a:avLst/>
          </a:prstGeom>
          <a:ln w="0">
            <a:noFill/>
          </a:ln>
        </p:spPr>
      </p:pic>
      <p:pic>
        <p:nvPicPr>
          <p:cNvPr id="1437" name="rangee_pacman" descr="image-1-14.gif"/>
          <p:cNvPicPr/>
          <p:nvPr/>
        </p:nvPicPr>
        <p:blipFill>
          <a:blip r:embed="rId8"/>
          <a:stretch/>
        </p:blipFill>
        <p:spPr>
          <a:xfrm>
            <a:off x="2990160" y="3950280"/>
            <a:ext cx="420120" cy="420120"/>
          </a:xfrm>
          <a:prstGeom prst="rect">
            <a:avLst/>
          </a:prstGeom>
          <a:ln w="0">
            <a:noFill/>
          </a:ln>
        </p:spPr>
      </p:pic>
      <p:sp>
        <p:nvSpPr>
          <p:cNvPr id="1438" name="rangee_pastille"/>
          <p:cNvSpPr/>
          <p:nvPr/>
        </p:nvSpPr>
        <p:spPr>
          <a:xfrm>
            <a:off x="36302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39" name="rangee_pastille"/>
          <p:cNvSpPr/>
          <p:nvPr/>
        </p:nvSpPr>
        <p:spPr>
          <a:xfrm>
            <a:off x="39960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0" name="rangee_pastille"/>
          <p:cNvSpPr/>
          <p:nvPr/>
        </p:nvSpPr>
        <p:spPr>
          <a:xfrm>
            <a:off x="43617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1" name="rangee_pastille"/>
          <p:cNvSpPr/>
          <p:nvPr/>
        </p:nvSpPr>
        <p:spPr>
          <a:xfrm>
            <a:off x="47275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2" name="rangee_pastille"/>
          <p:cNvSpPr/>
          <p:nvPr/>
        </p:nvSpPr>
        <p:spPr>
          <a:xfrm>
            <a:off x="50932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3" name="rangee_pastille"/>
          <p:cNvSpPr/>
          <p:nvPr/>
        </p:nvSpPr>
        <p:spPr>
          <a:xfrm>
            <a:off x="54590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4" name="rangee_pastille"/>
          <p:cNvSpPr/>
          <p:nvPr/>
        </p:nvSpPr>
        <p:spPr>
          <a:xfrm>
            <a:off x="58248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5" name="rangee_pastille"/>
          <p:cNvSpPr/>
          <p:nvPr/>
        </p:nvSpPr>
        <p:spPr>
          <a:xfrm>
            <a:off x="61905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6" name="rangee_pastille"/>
          <p:cNvSpPr/>
          <p:nvPr/>
        </p:nvSpPr>
        <p:spPr>
          <a:xfrm>
            <a:off x="65563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7" name="rangee_pastille"/>
          <p:cNvSpPr/>
          <p:nvPr/>
        </p:nvSpPr>
        <p:spPr>
          <a:xfrm>
            <a:off x="69220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8" name="rangee_pastille"/>
          <p:cNvSpPr/>
          <p:nvPr/>
        </p:nvSpPr>
        <p:spPr>
          <a:xfrm>
            <a:off x="72878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49" name="rangee_pastille"/>
          <p:cNvSpPr/>
          <p:nvPr/>
        </p:nvSpPr>
        <p:spPr>
          <a:xfrm>
            <a:off x="76536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50" name="rangee_pastille"/>
          <p:cNvSpPr/>
          <p:nvPr/>
        </p:nvSpPr>
        <p:spPr>
          <a:xfrm>
            <a:off x="80193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51" name="rangee_pastille"/>
          <p:cNvSpPr/>
          <p:nvPr/>
        </p:nvSpPr>
        <p:spPr>
          <a:xfrm>
            <a:off x="83851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52" name="rangee_pastille"/>
          <p:cNvSpPr/>
          <p:nvPr/>
        </p:nvSpPr>
        <p:spPr>
          <a:xfrm>
            <a:off x="87508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53" name="rangee_pastille"/>
          <p:cNvSpPr/>
          <p:nvPr/>
        </p:nvSpPr>
        <p:spPr>
          <a:xfrm>
            <a:off x="91166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454" name="rangee_pastille"/>
          <p:cNvSpPr/>
          <p:nvPr/>
        </p:nvSpPr>
        <p:spPr>
          <a:xfrm>
            <a:off x="94824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pic>
        <p:nvPicPr>
          <p:cNvPr id="1455" name="ready" descr="READY!"/>
          <p:cNvPicPr/>
          <p:nvPr/>
        </p:nvPicPr>
        <p:blipFill>
          <a:blip r:embed="rId9"/>
          <a:stretch/>
        </p:blipFill>
        <p:spPr>
          <a:xfrm>
            <a:off x="5492520" y="4617720"/>
            <a:ext cx="1206720" cy="200880"/>
          </a:xfrm>
          <a:prstGeom prst="rect">
            <a:avLst/>
          </a:prstGeom>
          <a:ln w="0">
            <a:noFill/>
          </a:ln>
        </p:spPr>
      </p:pic>
      <p:pic>
        <p:nvPicPr>
          <p:cNvPr id="1456" name="fin_pastille" descr="image-1-13.gif"/>
          <p:cNvPicPr/>
          <p:nvPr/>
        </p:nvPicPr>
        <p:blipFill>
          <a:blip r:embed="rId10"/>
          <a:stretch/>
        </p:blipFill>
        <p:spPr>
          <a:xfrm>
            <a:off x="11448360" y="6355080"/>
            <a:ext cx="182520" cy="182520"/>
          </a:xfrm>
          <a:prstGeom prst="rect">
            <a:avLst/>
          </a:prstGeom>
          <a:ln w="0">
            <a:noFill/>
          </a:ln>
        </p:spPr>
      </p:pic>
      <p:pic>
        <p:nvPicPr>
          <p:cNvPr id="1457" name="barre_fantome" descr="image.gif"/>
          <p:cNvPicPr/>
          <p:nvPr/>
        </p:nvPicPr>
        <p:blipFill>
          <a:blip r:embed="rId11"/>
          <a:stretch/>
        </p:blipFill>
        <p:spPr>
          <a:xfrm>
            <a:off x="5060448" y="6291000"/>
            <a:ext cx="310680" cy="310680"/>
          </a:xfrm>
          <a:prstGeom prst="rect">
            <a:avLst/>
          </a:prstGeom>
          <a:ln w="0">
            <a:noFill/>
          </a:ln>
        </p:spPr>
      </p:pic>
      <p:sp>
        <p:nvSpPr>
          <p:cNvPr id="1459" name="barre_pastille"/>
          <p:cNvSpPr/>
          <p:nvPr/>
        </p:nvSpPr>
        <p:spPr>
          <a:xfrm>
            <a:off x="5943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59" name="barre_pastille"/>
          <p:cNvSpPr/>
          <p:nvPr/>
        </p:nvSpPr>
        <p:spPr>
          <a:xfrm>
            <a:off x="6172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0"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1"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2"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3"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4"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5"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6"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7"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8"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69"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0"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1"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2"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3"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4"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5"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6"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7"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8"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79"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80"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481"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458" name="barre_pacman" descr="image.gif"/>
          <p:cNvPicPr/>
          <p:nvPr/>
        </p:nvPicPr>
        <p:blipFill>
          <a:blip r:embed="rId12"/>
          <a:stretch/>
        </p:blipFill>
        <p:spPr>
          <a:xfrm>
            <a:off x="5627448" y="6291000"/>
            <a:ext cx="310680" cy="310680"/>
          </a:xfrm>
          <a:prstGeom prst="rect">
            <a:avLst/>
          </a:prstGeom>
          <a:ln w="0">
            <a:noFill/>
          </a:ln>
        </p:spPr>
      </p:pic>
      <p:sp>
        <p:nvSpPr>
          <p:cNvPr id="1482"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1696" dur="indefinite" restart="never" nodeType="tmRoot">
          <p:childTnLst>
            <p:seq>
              <p:cTn id="1697" dur="indefinite" nodeType="mainSeq">
                <p:childTnLst>
                  <p:par>
                    <p:cTn id="1698" fill="hold">
                      <p:stCondLst>
                        <p:cond delay="0"/>
                      </p:stCondLst>
                      <p:childTnLst>
                        <p:par>
                          <p:cTn id="1699" fill="hold">
                            <p:stCondLst>
                              <p:cond delay="0"/>
                            </p:stCondLst>
                            <p:childTnLst>
                              <p:par>
                                <p:cTn id="1700" nodeType="withEffect" fill="hold" presetClass="path">
                                  <p:stCondLst>
                                    <p:cond delay="0"/>
                                  </p:stCondLst>
                                  <p:childTnLst>
                                    <p:animMotion origin="layout" path="M 0 0 L 0.02252 0 E">
                                      <p:cBhvr>
                                        <p:cTn id="1701" dur="900" fill="hold"/>
                                        <p:tgtEl>
                                          <p:spTgt spid="1457"/>
                                        </p:tgtEl>
                                        <p:attrNameLst>
                                          <p:attrName>ppt_x</p:attrName>
                                          <p:attrName>ppt_y</p:attrName>
                                        </p:attrNameLst>
                                      </p:cBhvr>
                                    </p:animMotion>
                                  </p:childTnLst>
                                </p:cTn>
                              </p:par>
                              <p:par>
                                <p:cTn id="1702" nodeType="withEffect" fill="hold" presetClass="path">
                                  <p:stCondLst>
                                    <p:cond delay="0"/>
                                  </p:stCondLst>
                                  <p:childTnLst>
                                    <p:animMotion origin="layout" path="M 0 0 L 0.02252 0 E">
                                      <p:cBhvr>
                                        <p:cTn id="1703" dur="900" fill="hold"/>
                                        <p:tgtEl>
                                          <p:spTgt spid="1458"/>
                                        </p:tgtEl>
                                        <p:attrNameLst>
                                          <p:attrName>ppt_x</p:attrName>
                                          <p:attrName>ppt_y</p:attrName>
                                        </p:attrNameLst>
                                      </p:cBhvr>
                                    </p:animMotion>
                                  </p:childTnLst>
                                </p:cTn>
                              </p:par>
                              <p:par>
                                <p:cTn id="1704" nodeType="withEffect" fill="hold" presetClass="exit" presetID="1">
                                  <p:stCondLst>
                                    <p:cond delay="475"/>
                                  </p:stCondLst>
                                  <p:childTnLst>
                                    <p:set>
                                      <p:cBhvr>
                                        <p:cTn id="1705" dur="1" fill="hold">
                                          <p:stCondLst>
                                            <p:cond delay="0"/>
                                          </p:stCondLst>
                                        </p:cTn>
                                        <p:tgtEl>
                                          <p:spTgt spid="1459"/>
                                        </p:tgtEl>
                                        <p:attrNameLst>
                                          <p:attrName>style.visibility</p:attrName>
                                        </p:attrNameLst>
                                      </p:cBhvr>
                                      <p:to>
                                        <p:strVal val="hidden"/>
                                      </p:to>
                                    </p:set>
                                  </p:childTnLst>
                                </p:cTn>
                              </p:par>
                              <p:par>
                                <p:cTn id="1706" nodeType="withEffect" fill="hold" presetClass="exit" presetID="1">
                                  <p:stCondLst>
                                    <p:cond delay="900"/>
                                  </p:stCondLst>
                                  <p:childTnLst>
                                    <p:set>
                                      <p:cBhvr>
                                        <p:cTn id="1707" dur="1" fill="hold">
                                          <p:stCondLst>
                                            <p:cond delay="0"/>
                                          </p:stCondLst>
                                        </p:cTn>
                                        <p:tgtEl>
                                          <p:spTgt spid="1455"/>
                                        </p:tgtEl>
                                        <p:attrNameLst>
                                          <p:attrName>style.visibility</p:attrName>
                                        </p:attrNameLst>
                                      </p:cBhvr>
                                      <p:to>
                                        <p:strVal val="hidden"/>
                                      </p:to>
                                    </p:set>
                                  </p:childTnLst>
                                </p:cTn>
                              </p:par>
                              <p:par>
                                <p:cTn id="1708" nodeType="withEffect" fill="hold" presetClass="path">
                                  <p:stCondLst>
                                    <p:cond delay="900"/>
                                  </p:stCondLst>
                                  <p:childTnLst>
                                    <p:animMotion origin="layout" path="M 0 0 L 0.57001 0 E">
                                      <p:cBhvr>
                                        <p:cTn id="1709" dur="2600" fill="hold"/>
                                        <p:tgtEl>
                                          <p:spTgt spid="1433"/>
                                        </p:tgtEl>
                                        <p:attrNameLst>
                                          <p:attrName>ppt_x</p:attrName>
                                          <p:attrName>ppt_y</p:attrName>
                                        </p:attrNameLst>
                                      </p:cBhvr>
                                    </p:animMotion>
                                  </p:childTnLst>
                                </p:cTn>
                              </p:par>
                              <p:par>
                                <p:cTn id="1710" nodeType="withEffect" fill="hold" presetClass="path">
                                  <p:stCondLst>
                                    <p:cond delay="900"/>
                                  </p:stCondLst>
                                  <p:childTnLst>
                                    <p:animMotion origin="layout" path="M 0 0 L 0.57001 0 E">
                                      <p:cBhvr>
                                        <p:cTn id="1711" dur="2600" fill="hold"/>
                                        <p:tgtEl>
                                          <p:spTgt spid="1434"/>
                                        </p:tgtEl>
                                        <p:attrNameLst>
                                          <p:attrName>ppt_x</p:attrName>
                                          <p:attrName>ppt_y</p:attrName>
                                        </p:attrNameLst>
                                      </p:cBhvr>
                                    </p:animMotion>
                                  </p:childTnLst>
                                </p:cTn>
                              </p:par>
                              <p:par>
                                <p:cTn id="1712" nodeType="withEffect" fill="hold" presetClass="path">
                                  <p:stCondLst>
                                    <p:cond delay="900"/>
                                  </p:stCondLst>
                                  <p:childTnLst>
                                    <p:animMotion origin="layout" path="M 0 0 L 0.57001 0 E">
                                      <p:cBhvr>
                                        <p:cTn id="1713" dur="2600" fill="hold"/>
                                        <p:tgtEl>
                                          <p:spTgt spid="1435"/>
                                        </p:tgtEl>
                                        <p:attrNameLst>
                                          <p:attrName>ppt_x</p:attrName>
                                          <p:attrName>ppt_y</p:attrName>
                                        </p:attrNameLst>
                                      </p:cBhvr>
                                    </p:animMotion>
                                  </p:childTnLst>
                                </p:cTn>
                              </p:par>
                              <p:par>
                                <p:cTn id="1714" nodeType="withEffect" fill="hold" presetClass="path">
                                  <p:stCondLst>
                                    <p:cond delay="900"/>
                                  </p:stCondLst>
                                  <p:childTnLst>
                                    <p:animMotion origin="layout" path="M 0 0 L 0.57001 0 E">
                                      <p:cBhvr>
                                        <p:cTn id="1715" dur="2600" fill="hold"/>
                                        <p:tgtEl>
                                          <p:spTgt spid="1436"/>
                                        </p:tgtEl>
                                        <p:attrNameLst>
                                          <p:attrName>ppt_x</p:attrName>
                                          <p:attrName>ppt_y</p:attrName>
                                        </p:attrNameLst>
                                      </p:cBhvr>
                                    </p:animMotion>
                                  </p:childTnLst>
                                </p:cTn>
                              </p:par>
                              <p:par>
                                <p:cTn id="1716" nodeType="withEffect" fill="hold" presetClass="path">
                                  <p:stCondLst>
                                    <p:cond delay="900"/>
                                  </p:stCondLst>
                                  <p:childTnLst>
                                    <p:animMotion origin="layout" path="M 0 0 L 0.57001 0 E">
                                      <p:cBhvr>
                                        <p:cTn id="1717" dur="2600" fill="hold"/>
                                        <p:tgtEl>
                                          <p:spTgt spid="1437"/>
                                        </p:tgtEl>
                                        <p:attrNameLst>
                                          <p:attrName>ppt_x</p:attrName>
                                          <p:attrName>ppt_y</p:attrName>
                                        </p:attrNameLst>
                                      </p:cBhvr>
                                    </p:animMotion>
                                  </p:childTnLst>
                                </p:cTn>
                              </p:par>
                              <p:par>
                                <p:cTn id="1718" nodeType="withEffect" fill="hold" presetClass="exit" presetID="1">
                                  <p:stCondLst>
                                    <p:cond delay="1027"/>
                                  </p:stCondLst>
                                  <p:childTnLst>
                                    <p:set>
                                      <p:cBhvr>
                                        <p:cTn id="1719" dur="1" fill="hold">
                                          <p:stCondLst>
                                            <p:cond delay="0"/>
                                          </p:stCondLst>
                                        </p:cTn>
                                        <p:tgtEl>
                                          <p:spTgt spid="1438"/>
                                        </p:tgtEl>
                                        <p:attrNameLst>
                                          <p:attrName>style.visibility</p:attrName>
                                        </p:attrNameLst>
                                      </p:cBhvr>
                                      <p:to>
                                        <p:strVal val="hidden"/>
                                      </p:to>
                                    </p:set>
                                  </p:childTnLst>
                                </p:cTn>
                              </p:par>
                              <p:par>
                                <p:cTn id="1720" nodeType="withEffect" fill="hold" presetClass="exit" presetID="1">
                                  <p:stCondLst>
                                    <p:cond delay="1163"/>
                                  </p:stCondLst>
                                  <p:childTnLst>
                                    <p:set>
                                      <p:cBhvr>
                                        <p:cTn id="1721" dur="1" fill="hold">
                                          <p:stCondLst>
                                            <p:cond delay="0"/>
                                          </p:stCondLst>
                                        </p:cTn>
                                        <p:tgtEl>
                                          <p:spTgt spid="1439"/>
                                        </p:tgtEl>
                                        <p:attrNameLst>
                                          <p:attrName>style.visibility</p:attrName>
                                        </p:attrNameLst>
                                      </p:cBhvr>
                                      <p:to>
                                        <p:strVal val="hidden"/>
                                      </p:to>
                                    </p:set>
                                  </p:childTnLst>
                                </p:cTn>
                              </p:par>
                              <p:par>
                                <p:cTn id="1722" nodeType="withEffect" fill="hold" presetClass="exit" presetID="1">
                                  <p:stCondLst>
                                    <p:cond delay="1300"/>
                                  </p:stCondLst>
                                  <p:childTnLst>
                                    <p:set>
                                      <p:cBhvr>
                                        <p:cTn id="1723" dur="1" fill="hold">
                                          <p:stCondLst>
                                            <p:cond delay="0"/>
                                          </p:stCondLst>
                                        </p:cTn>
                                        <p:tgtEl>
                                          <p:spTgt spid="1440"/>
                                        </p:tgtEl>
                                        <p:attrNameLst>
                                          <p:attrName>style.visibility</p:attrName>
                                        </p:attrNameLst>
                                      </p:cBhvr>
                                      <p:to>
                                        <p:strVal val="hidden"/>
                                      </p:to>
                                    </p:set>
                                  </p:childTnLst>
                                </p:cTn>
                              </p:par>
                              <p:par>
                                <p:cTn id="1724" nodeType="withEffect" fill="hold" presetClass="exit" presetID="1">
                                  <p:stCondLst>
                                    <p:cond delay="1437"/>
                                  </p:stCondLst>
                                  <p:childTnLst>
                                    <p:set>
                                      <p:cBhvr>
                                        <p:cTn id="1725" dur="1" fill="hold">
                                          <p:stCondLst>
                                            <p:cond delay="0"/>
                                          </p:stCondLst>
                                        </p:cTn>
                                        <p:tgtEl>
                                          <p:spTgt spid="1441"/>
                                        </p:tgtEl>
                                        <p:attrNameLst>
                                          <p:attrName>style.visibility</p:attrName>
                                        </p:attrNameLst>
                                      </p:cBhvr>
                                      <p:to>
                                        <p:strVal val="hidden"/>
                                      </p:to>
                                    </p:set>
                                  </p:childTnLst>
                                </p:cTn>
                              </p:par>
                              <p:par>
                                <p:cTn id="1726" nodeType="withEffect" fill="hold" presetClass="exit" presetID="1">
                                  <p:stCondLst>
                                    <p:cond delay="1574"/>
                                  </p:stCondLst>
                                  <p:childTnLst>
                                    <p:set>
                                      <p:cBhvr>
                                        <p:cTn id="1727" dur="1" fill="hold">
                                          <p:stCondLst>
                                            <p:cond delay="0"/>
                                          </p:stCondLst>
                                        </p:cTn>
                                        <p:tgtEl>
                                          <p:spTgt spid="1442"/>
                                        </p:tgtEl>
                                        <p:attrNameLst>
                                          <p:attrName>style.visibility</p:attrName>
                                        </p:attrNameLst>
                                      </p:cBhvr>
                                      <p:to>
                                        <p:strVal val="hidden"/>
                                      </p:to>
                                    </p:set>
                                  </p:childTnLst>
                                </p:cTn>
                              </p:par>
                              <p:par>
                                <p:cTn id="1728" nodeType="withEffect" fill="hold" presetClass="exit" presetID="1">
                                  <p:stCondLst>
                                    <p:cond delay="1711"/>
                                  </p:stCondLst>
                                  <p:childTnLst>
                                    <p:set>
                                      <p:cBhvr>
                                        <p:cTn id="1729" dur="1" fill="hold">
                                          <p:stCondLst>
                                            <p:cond delay="0"/>
                                          </p:stCondLst>
                                        </p:cTn>
                                        <p:tgtEl>
                                          <p:spTgt spid="1443"/>
                                        </p:tgtEl>
                                        <p:attrNameLst>
                                          <p:attrName>style.visibility</p:attrName>
                                        </p:attrNameLst>
                                      </p:cBhvr>
                                      <p:to>
                                        <p:strVal val="hidden"/>
                                      </p:to>
                                    </p:set>
                                  </p:childTnLst>
                                </p:cTn>
                              </p:par>
                              <p:par>
                                <p:cTn id="1730" nodeType="withEffect" fill="hold" presetClass="exit" presetID="1">
                                  <p:stCondLst>
                                    <p:cond delay="1848"/>
                                  </p:stCondLst>
                                  <p:childTnLst>
                                    <p:set>
                                      <p:cBhvr>
                                        <p:cTn id="1731" dur="1" fill="hold">
                                          <p:stCondLst>
                                            <p:cond delay="0"/>
                                          </p:stCondLst>
                                        </p:cTn>
                                        <p:tgtEl>
                                          <p:spTgt spid="1444"/>
                                        </p:tgtEl>
                                        <p:attrNameLst>
                                          <p:attrName>style.visibility</p:attrName>
                                        </p:attrNameLst>
                                      </p:cBhvr>
                                      <p:to>
                                        <p:strVal val="hidden"/>
                                      </p:to>
                                    </p:set>
                                  </p:childTnLst>
                                </p:cTn>
                              </p:par>
                              <p:par>
                                <p:cTn id="1732" nodeType="withEffect" fill="hold" presetClass="exit" presetID="1">
                                  <p:stCondLst>
                                    <p:cond delay="1984"/>
                                  </p:stCondLst>
                                  <p:childTnLst>
                                    <p:set>
                                      <p:cBhvr>
                                        <p:cTn id="1733" dur="1" fill="hold">
                                          <p:stCondLst>
                                            <p:cond delay="0"/>
                                          </p:stCondLst>
                                        </p:cTn>
                                        <p:tgtEl>
                                          <p:spTgt spid="1445"/>
                                        </p:tgtEl>
                                        <p:attrNameLst>
                                          <p:attrName>style.visibility</p:attrName>
                                        </p:attrNameLst>
                                      </p:cBhvr>
                                      <p:to>
                                        <p:strVal val="hidden"/>
                                      </p:to>
                                    </p:set>
                                  </p:childTnLst>
                                </p:cTn>
                              </p:par>
                              <p:par>
                                <p:cTn id="1734" nodeType="withEffect" fill="hold" presetClass="exit" presetID="1">
                                  <p:stCondLst>
                                    <p:cond delay="2121"/>
                                  </p:stCondLst>
                                  <p:childTnLst>
                                    <p:set>
                                      <p:cBhvr>
                                        <p:cTn id="1735" dur="1" fill="hold">
                                          <p:stCondLst>
                                            <p:cond delay="0"/>
                                          </p:stCondLst>
                                        </p:cTn>
                                        <p:tgtEl>
                                          <p:spTgt spid="1446"/>
                                        </p:tgtEl>
                                        <p:attrNameLst>
                                          <p:attrName>style.visibility</p:attrName>
                                        </p:attrNameLst>
                                      </p:cBhvr>
                                      <p:to>
                                        <p:strVal val="hidden"/>
                                      </p:to>
                                    </p:set>
                                  </p:childTnLst>
                                </p:cTn>
                              </p:par>
                              <p:par>
                                <p:cTn id="1736" nodeType="withEffect" fill="hold" presetClass="exit" presetID="1">
                                  <p:stCondLst>
                                    <p:cond delay="2258"/>
                                  </p:stCondLst>
                                  <p:childTnLst>
                                    <p:set>
                                      <p:cBhvr>
                                        <p:cTn id="1737" dur="1" fill="hold">
                                          <p:stCondLst>
                                            <p:cond delay="0"/>
                                          </p:stCondLst>
                                        </p:cTn>
                                        <p:tgtEl>
                                          <p:spTgt spid="1447"/>
                                        </p:tgtEl>
                                        <p:attrNameLst>
                                          <p:attrName>style.visibility</p:attrName>
                                        </p:attrNameLst>
                                      </p:cBhvr>
                                      <p:to>
                                        <p:strVal val="hidden"/>
                                      </p:to>
                                    </p:set>
                                  </p:childTnLst>
                                </p:cTn>
                              </p:par>
                              <p:par>
                                <p:cTn id="1738" nodeType="withEffect" fill="hold" presetClass="exit" presetID="1">
                                  <p:stCondLst>
                                    <p:cond delay="2395"/>
                                  </p:stCondLst>
                                  <p:childTnLst>
                                    <p:set>
                                      <p:cBhvr>
                                        <p:cTn id="1739" dur="1" fill="hold">
                                          <p:stCondLst>
                                            <p:cond delay="0"/>
                                          </p:stCondLst>
                                        </p:cTn>
                                        <p:tgtEl>
                                          <p:spTgt spid="1448"/>
                                        </p:tgtEl>
                                        <p:attrNameLst>
                                          <p:attrName>style.visibility</p:attrName>
                                        </p:attrNameLst>
                                      </p:cBhvr>
                                      <p:to>
                                        <p:strVal val="hidden"/>
                                      </p:to>
                                    </p:set>
                                  </p:childTnLst>
                                </p:cTn>
                              </p:par>
                              <p:par>
                                <p:cTn id="1740" nodeType="withEffect" fill="hold" presetClass="exit" presetID="1">
                                  <p:stCondLst>
                                    <p:cond delay="2532"/>
                                  </p:stCondLst>
                                  <p:childTnLst>
                                    <p:set>
                                      <p:cBhvr>
                                        <p:cTn id="1741" dur="1" fill="hold">
                                          <p:stCondLst>
                                            <p:cond delay="0"/>
                                          </p:stCondLst>
                                        </p:cTn>
                                        <p:tgtEl>
                                          <p:spTgt spid="1449"/>
                                        </p:tgtEl>
                                        <p:attrNameLst>
                                          <p:attrName>style.visibility</p:attrName>
                                        </p:attrNameLst>
                                      </p:cBhvr>
                                      <p:to>
                                        <p:strVal val="hidden"/>
                                      </p:to>
                                    </p:set>
                                  </p:childTnLst>
                                </p:cTn>
                              </p:par>
                              <p:par>
                                <p:cTn id="1742" nodeType="withEffect" fill="hold" presetClass="exit" presetID="1">
                                  <p:stCondLst>
                                    <p:cond delay="2669"/>
                                  </p:stCondLst>
                                  <p:childTnLst>
                                    <p:set>
                                      <p:cBhvr>
                                        <p:cTn id="1743" dur="1" fill="hold">
                                          <p:stCondLst>
                                            <p:cond delay="0"/>
                                          </p:stCondLst>
                                        </p:cTn>
                                        <p:tgtEl>
                                          <p:spTgt spid="1450"/>
                                        </p:tgtEl>
                                        <p:attrNameLst>
                                          <p:attrName>style.visibility</p:attrName>
                                        </p:attrNameLst>
                                      </p:cBhvr>
                                      <p:to>
                                        <p:strVal val="hidden"/>
                                      </p:to>
                                    </p:set>
                                  </p:childTnLst>
                                </p:cTn>
                              </p:par>
                              <p:par>
                                <p:cTn id="1744" nodeType="withEffect" fill="hold" presetClass="exit" presetID="1">
                                  <p:stCondLst>
                                    <p:cond delay="2806"/>
                                  </p:stCondLst>
                                  <p:childTnLst>
                                    <p:set>
                                      <p:cBhvr>
                                        <p:cTn id="1745" dur="1" fill="hold">
                                          <p:stCondLst>
                                            <p:cond delay="0"/>
                                          </p:stCondLst>
                                        </p:cTn>
                                        <p:tgtEl>
                                          <p:spTgt spid="1451"/>
                                        </p:tgtEl>
                                        <p:attrNameLst>
                                          <p:attrName>style.visibility</p:attrName>
                                        </p:attrNameLst>
                                      </p:cBhvr>
                                      <p:to>
                                        <p:strVal val="hidden"/>
                                      </p:to>
                                    </p:set>
                                  </p:childTnLst>
                                </p:cTn>
                              </p:par>
                              <p:par>
                                <p:cTn id="1746" nodeType="withEffect" fill="hold" presetClass="exit" presetID="1">
                                  <p:stCondLst>
                                    <p:cond delay="2942"/>
                                  </p:stCondLst>
                                  <p:childTnLst>
                                    <p:set>
                                      <p:cBhvr>
                                        <p:cTn id="1747" dur="1" fill="hold">
                                          <p:stCondLst>
                                            <p:cond delay="0"/>
                                          </p:stCondLst>
                                        </p:cTn>
                                        <p:tgtEl>
                                          <p:spTgt spid="1452"/>
                                        </p:tgtEl>
                                        <p:attrNameLst>
                                          <p:attrName>style.visibility</p:attrName>
                                        </p:attrNameLst>
                                      </p:cBhvr>
                                      <p:to>
                                        <p:strVal val="hidden"/>
                                      </p:to>
                                    </p:set>
                                  </p:childTnLst>
                                </p:cTn>
                              </p:par>
                              <p:par>
                                <p:cTn id="1748" nodeType="withEffect" fill="hold" presetClass="exit" presetID="1">
                                  <p:stCondLst>
                                    <p:cond delay="3079"/>
                                  </p:stCondLst>
                                  <p:childTnLst>
                                    <p:set>
                                      <p:cBhvr>
                                        <p:cTn id="1749" dur="1" fill="hold">
                                          <p:stCondLst>
                                            <p:cond delay="0"/>
                                          </p:stCondLst>
                                        </p:cTn>
                                        <p:tgtEl>
                                          <p:spTgt spid="1453"/>
                                        </p:tgtEl>
                                        <p:attrNameLst>
                                          <p:attrName>style.visibility</p:attrName>
                                        </p:attrNameLst>
                                      </p:cBhvr>
                                      <p:to>
                                        <p:strVal val="hidden"/>
                                      </p:to>
                                    </p:set>
                                  </p:childTnLst>
                                </p:cTn>
                              </p:par>
                              <p:par>
                                <p:cTn id="1750" nodeType="withEffect" fill="hold" presetClass="exit" presetID="1">
                                  <p:stCondLst>
                                    <p:cond delay="3216"/>
                                  </p:stCondLst>
                                  <p:childTnLst>
                                    <p:set>
                                      <p:cBhvr>
                                        <p:cTn id="1751" dur="1" fill="hold">
                                          <p:stCondLst>
                                            <p:cond delay="0"/>
                                          </p:stCondLst>
                                        </p:cTn>
                                        <p:tgtEl>
                                          <p:spTgt spid="14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482" name="o1" descr="LEVEL 1 → MISSION"/>
          <p:cNvPicPr/>
          <p:nvPr/>
        </p:nvPicPr>
        <p:blipFill>
          <a:blip r:embed="rId1"/>
          <a:stretch/>
        </p:blipFill>
        <p:spPr>
          <a:xfrm>
            <a:off x="548640" y="411480"/>
            <a:ext cx="2486880" cy="145800"/>
          </a:xfrm>
          <a:prstGeom prst="rect">
            <a:avLst/>
          </a:prstGeom>
          <a:ln w="0">
            <a:noFill/>
          </a:ln>
        </p:spPr>
      </p:pic>
      <p:pic>
        <p:nvPicPr>
          <p:cNvPr id="1483" name="o2" descr="La demande du client"/>
          <p:cNvPicPr/>
          <p:nvPr/>
        </p:nvPicPr>
        <p:blipFill>
          <a:blip r:embed="rId2"/>
          <a:stretch/>
        </p:blipFill>
        <p:spPr>
          <a:xfrm>
            <a:off x="548640" y="777240"/>
            <a:ext cx="5486040" cy="273960"/>
          </a:xfrm>
          <a:prstGeom prst="rect">
            <a:avLst/>
          </a:prstGeom>
          <a:ln w="0">
            <a:noFill/>
          </a:ln>
        </p:spPr>
      </p:pic>
      <p:pic>
        <p:nvPicPr>
          <p:cNvPr id="1484" name="o3" descr="image-2-7.png"/>
          <p:cNvPicPr/>
          <p:nvPr/>
        </p:nvPicPr>
        <p:blipFill>
          <a:blip r:embed="rId3"/>
          <a:stretch/>
        </p:blipFill>
        <p:spPr>
          <a:xfrm>
            <a:off x="11073240" y="365760"/>
            <a:ext cx="566640" cy="566640"/>
          </a:xfrm>
          <a:prstGeom prst="rect">
            <a:avLst/>
          </a:prstGeom>
          <a:ln w="0">
            <a:noFill/>
          </a:ln>
        </p:spPr>
      </p:pic>
      <p:sp>
        <p:nvSpPr>
          <p:cNvPr id="1485" name="o4"/>
          <p:cNvSpPr/>
          <p:nvPr/>
        </p:nvSpPr>
        <p:spPr>
          <a:xfrm>
            <a:off x="548640" y="1691640"/>
            <a:ext cx="3565800" cy="502560"/>
          </a:xfrm>
          <a:prstGeom prst="roundRect">
            <a:avLst>
              <a:gd name="adj" fmla="val 25454"/>
            </a:avLst>
          </a:prstGeom>
          <a:solidFill>
            <a:srgbClr val="000000"/>
          </a:solidFill>
          <a:ln w="28575">
            <a:solidFill>
              <a:srgbClr val="ffb8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86" name="o5"/>
          <p:cNvSpPr/>
          <p:nvPr/>
        </p:nvSpPr>
        <p:spPr>
          <a:xfrm>
            <a:off x="617040" y="1760400"/>
            <a:ext cx="3428640" cy="365400"/>
          </a:xfrm>
          <a:prstGeom prst="roundRect">
            <a:avLst>
              <a:gd name="adj" fmla="val 16250"/>
            </a:avLst>
          </a:prstGeom>
          <a:noFill/>
          <a:ln w="12700">
            <a:solidFill>
              <a:srgbClr val="ffb8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487" name="o6" descr="QUETE : 2E SOURCE"/>
          <p:cNvPicPr/>
          <p:nvPr/>
        </p:nvPicPr>
        <p:blipFill>
          <a:blip r:embed="rId4"/>
          <a:stretch/>
        </p:blipFill>
        <p:spPr>
          <a:xfrm>
            <a:off x="1088280" y="1874520"/>
            <a:ext cx="2486880" cy="145800"/>
          </a:xfrm>
          <a:prstGeom prst="rect">
            <a:avLst/>
          </a:prstGeom>
          <a:ln w="0">
            <a:noFill/>
          </a:ln>
        </p:spPr>
      </p:pic>
      <p:sp>
        <p:nvSpPr>
          <p:cNvPr id="1488" name="o7"/>
          <p:cNvSpPr/>
          <p:nvPr/>
        </p:nvSpPr>
        <p:spPr>
          <a:xfrm>
            <a:off x="548640" y="2560320"/>
            <a:ext cx="5668920" cy="10364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400" spc="-1" strike="noStrike">
                <a:solidFill>
                  <a:srgbClr val="ffffff"/>
                </a:solidFill>
                <a:latin typeface="Arial"/>
              </a:rPr>
              <a:t>Une bonne note fait-elle </a:t>
            </a:r>
            <a:r>
              <a:rPr b="1" lang="en-US" sz="3400" spc="-1" strike="noStrike">
                <a:solidFill>
                  <a:srgbClr val="ffe600"/>
                </a:solidFill>
                <a:latin typeface="Arial"/>
              </a:rPr>
              <a:t>vendre</a:t>
            </a:r>
            <a:r>
              <a:rPr b="1" lang="en-US" sz="3400" spc="-1" strike="noStrike">
                <a:solidFill>
                  <a:srgbClr val="ffffff"/>
                </a:solidFill>
                <a:latin typeface="Arial"/>
              </a:rPr>
              <a:t> ?</a:t>
            </a:r>
            <a:endParaRPr b="0" lang="en-US" sz="3400" spc="-1" strike="noStrike">
              <a:solidFill>
                <a:srgbClr val="ffffff"/>
              </a:solidFill>
              <a:latin typeface="Arial"/>
            </a:endParaRPr>
          </a:p>
        </p:txBody>
      </p:sp>
      <p:sp>
        <p:nvSpPr>
          <p:cNvPr id="1489" name="o8"/>
          <p:cNvSpPr/>
          <p:nvPr/>
        </p:nvSpPr>
        <p:spPr>
          <a:xfrm>
            <a:off x="548640" y="3886200"/>
            <a:ext cx="5486040" cy="823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800" spc="-1" strike="noStrike">
                <a:solidFill>
                  <a:srgbClr val="c4c4e4"/>
                </a:solidFill>
                <a:latin typeface="Arial"/>
              </a:rPr>
              <a:t>Les ventes disent combien un jeu s'est vendu, pas s'il était bon. La deuxième base apporte l'avis de la presse et des joueurs sur chaque jeu.</a:t>
            </a:r>
            <a:endParaRPr b="0" lang="en-US" sz="1800" spc="-1" strike="noStrike">
              <a:solidFill>
                <a:srgbClr val="ffffff"/>
              </a:solidFill>
              <a:latin typeface="Arial"/>
            </a:endParaRPr>
          </a:p>
        </p:txBody>
      </p:sp>
      <p:sp>
        <p:nvSpPr>
          <p:cNvPr id="1490" name="o9"/>
          <p:cNvSpPr/>
          <p:nvPr/>
        </p:nvSpPr>
        <p:spPr>
          <a:xfrm>
            <a:off x="548640" y="5074920"/>
            <a:ext cx="5486040" cy="335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100" spc="-1" strike="noStrike">
                <a:solidFill>
                  <a:srgbClr val="7c7caa"/>
                </a:solidFill>
                <a:latin typeface="Arial"/>
              </a:rPr>
              <a:t>Source : Video Game Sales with Ratings (Kaggle, rush4ratio) · scraping Metacritic du 22/12/2016 · licence non précisée, usage pédagogique</a:t>
            </a:r>
            <a:endParaRPr b="0" lang="en-US" sz="1100" spc="-1" strike="noStrike">
              <a:solidFill>
                <a:srgbClr val="ffffff"/>
              </a:solidFill>
              <a:latin typeface="Arial"/>
            </a:endParaRPr>
          </a:p>
        </p:txBody>
      </p:sp>
      <p:sp>
        <p:nvSpPr>
          <p:cNvPr id="1491" name="o10"/>
          <p:cNvSpPr/>
          <p:nvPr/>
        </p:nvSpPr>
        <p:spPr>
          <a:xfrm>
            <a:off x="6446520" y="1691640"/>
            <a:ext cx="2422800" cy="1828440"/>
          </a:xfrm>
          <a:prstGeom prst="roundRect">
            <a:avLst>
              <a:gd name="adj" fmla="val 7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92" name="o11"/>
          <p:cNvSpPr/>
          <p:nvPr/>
        </p:nvSpPr>
        <p:spPr>
          <a:xfrm>
            <a:off x="6515280" y="1760400"/>
            <a:ext cx="2285640" cy="1691280"/>
          </a:xfrm>
          <a:prstGeom prst="roundRect">
            <a:avLst>
              <a:gd name="adj" fmla="val 3513"/>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493" name="o12" descr="16 719"/>
          <p:cNvPicPr/>
          <p:nvPr/>
        </p:nvPicPr>
        <p:blipFill>
          <a:blip r:embed="rId5"/>
          <a:stretch/>
        </p:blipFill>
        <p:spPr>
          <a:xfrm>
            <a:off x="6720840" y="1965960"/>
            <a:ext cx="1974600" cy="328680"/>
          </a:xfrm>
          <a:prstGeom prst="rect">
            <a:avLst/>
          </a:prstGeom>
          <a:ln w="0">
            <a:noFill/>
          </a:ln>
        </p:spPr>
      </p:pic>
      <p:sp>
        <p:nvSpPr>
          <p:cNvPr id="1494" name="o13"/>
          <p:cNvSpPr/>
          <p:nvPr/>
        </p:nvSpPr>
        <p:spPr>
          <a:xfrm>
            <a:off x="6720840" y="2523600"/>
            <a:ext cx="1874160" cy="64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lignes : un jeu sur une plateforme, comme vgsales</a:t>
            </a:r>
            <a:endParaRPr b="0" lang="en-US" sz="1400" spc="-1" strike="noStrike">
              <a:solidFill>
                <a:srgbClr val="ffffff"/>
              </a:solidFill>
              <a:latin typeface="Arial"/>
            </a:endParaRPr>
          </a:p>
        </p:txBody>
      </p:sp>
      <p:sp>
        <p:nvSpPr>
          <p:cNvPr id="1495" name="o14"/>
          <p:cNvSpPr/>
          <p:nvPr/>
        </p:nvSpPr>
        <p:spPr>
          <a:xfrm>
            <a:off x="9043560" y="1691640"/>
            <a:ext cx="2422800" cy="1828440"/>
          </a:xfrm>
          <a:prstGeom prst="roundRect">
            <a:avLst>
              <a:gd name="adj" fmla="val 7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496" name="o15"/>
          <p:cNvSpPr/>
          <p:nvPr/>
        </p:nvSpPr>
        <p:spPr>
          <a:xfrm>
            <a:off x="9111960" y="1760400"/>
            <a:ext cx="2285640" cy="1691280"/>
          </a:xfrm>
          <a:prstGeom prst="roundRect">
            <a:avLst>
              <a:gd name="adj" fmla="val 3513"/>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497" name="o16" descr="6"/>
          <p:cNvPicPr/>
          <p:nvPr/>
        </p:nvPicPr>
        <p:blipFill>
          <a:blip r:embed="rId6"/>
          <a:stretch/>
        </p:blipFill>
        <p:spPr>
          <a:xfrm>
            <a:off x="9317880" y="1965960"/>
            <a:ext cx="328680" cy="328680"/>
          </a:xfrm>
          <a:prstGeom prst="rect">
            <a:avLst/>
          </a:prstGeom>
          <a:ln w="0">
            <a:noFill/>
          </a:ln>
        </p:spPr>
      </p:pic>
      <p:sp>
        <p:nvSpPr>
          <p:cNvPr id="1498" name="o17"/>
          <p:cNvSpPr/>
          <p:nvPr/>
        </p:nvSpPr>
        <p:spPr>
          <a:xfrm>
            <a:off x="9317880" y="2523600"/>
            <a:ext cx="1874160" cy="64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colonnes nouvelles : notes, nombre d'avis, studio, âge</a:t>
            </a:r>
            <a:endParaRPr b="0" lang="en-US" sz="1400" spc="-1" strike="noStrike">
              <a:solidFill>
                <a:srgbClr val="ffffff"/>
              </a:solidFill>
              <a:latin typeface="Arial"/>
            </a:endParaRPr>
          </a:p>
        </p:txBody>
      </p:sp>
      <p:sp>
        <p:nvSpPr>
          <p:cNvPr id="1499" name="o18"/>
          <p:cNvSpPr/>
          <p:nvPr/>
        </p:nvSpPr>
        <p:spPr>
          <a:xfrm>
            <a:off x="6446520" y="3749040"/>
            <a:ext cx="2422800" cy="1828440"/>
          </a:xfrm>
          <a:prstGeom prst="roundRect">
            <a:avLst>
              <a:gd name="adj" fmla="val 7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00" name="o19"/>
          <p:cNvSpPr/>
          <p:nvPr/>
        </p:nvSpPr>
        <p:spPr>
          <a:xfrm>
            <a:off x="6515280" y="3817800"/>
            <a:ext cx="2285640" cy="1691280"/>
          </a:xfrm>
          <a:prstGeom prst="roundRect">
            <a:avLst>
              <a:gd name="adj" fmla="val 3513"/>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501" name="o20" descr="51%"/>
          <p:cNvPicPr/>
          <p:nvPr/>
        </p:nvPicPr>
        <p:blipFill>
          <a:blip r:embed="rId7"/>
          <a:stretch/>
        </p:blipFill>
        <p:spPr>
          <a:xfrm>
            <a:off x="6720840" y="4023360"/>
            <a:ext cx="987120" cy="328680"/>
          </a:xfrm>
          <a:prstGeom prst="rect">
            <a:avLst/>
          </a:prstGeom>
          <a:ln w="0">
            <a:noFill/>
          </a:ln>
        </p:spPr>
      </p:pic>
      <p:sp>
        <p:nvSpPr>
          <p:cNvPr id="1502" name="o21"/>
          <p:cNvSpPr/>
          <p:nvPr/>
        </p:nvSpPr>
        <p:spPr>
          <a:xfrm>
            <a:off x="6720840" y="4581000"/>
            <a:ext cx="1874160" cy="64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de notes presse manquantes dans le brut</a:t>
            </a:r>
            <a:endParaRPr b="0" lang="en-US" sz="1400" spc="-1" strike="noStrike">
              <a:solidFill>
                <a:srgbClr val="ffffff"/>
              </a:solidFill>
              <a:latin typeface="Arial"/>
            </a:endParaRPr>
          </a:p>
        </p:txBody>
      </p:sp>
      <p:sp>
        <p:nvSpPr>
          <p:cNvPr id="1503" name="o22"/>
          <p:cNvSpPr/>
          <p:nvPr/>
        </p:nvSpPr>
        <p:spPr>
          <a:xfrm>
            <a:off x="9043560" y="3749040"/>
            <a:ext cx="2422800" cy="1828440"/>
          </a:xfrm>
          <a:prstGeom prst="roundRect">
            <a:avLst>
              <a:gd name="adj" fmla="val 7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04" name="o23"/>
          <p:cNvSpPr/>
          <p:nvPr/>
        </p:nvSpPr>
        <p:spPr>
          <a:xfrm>
            <a:off x="9111960" y="3817800"/>
            <a:ext cx="2285640" cy="1691280"/>
          </a:xfrm>
          <a:prstGeom prst="roundRect">
            <a:avLst>
              <a:gd name="adj" fmla="val 3513"/>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505" name="o24" descr="99,7%"/>
          <p:cNvPicPr/>
          <p:nvPr/>
        </p:nvPicPr>
        <p:blipFill>
          <a:blip r:embed="rId8"/>
          <a:stretch/>
        </p:blipFill>
        <p:spPr>
          <a:xfrm>
            <a:off x="9317880" y="4023360"/>
            <a:ext cx="1645560" cy="328680"/>
          </a:xfrm>
          <a:prstGeom prst="rect">
            <a:avLst/>
          </a:prstGeom>
          <a:ln w="0">
            <a:noFill/>
          </a:ln>
        </p:spPr>
      </p:pic>
      <p:sp>
        <p:nvSpPr>
          <p:cNvPr id="1506" name="o25"/>
          <p:cNvSpPr/>
          <p:nvPr/>
        </p:nvSpPr>
        <p:spPr>
          <a:xfrm>
            <a:off x="9317880" y="4581000"/>
            <a:ext cx="1874160" cy="64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des jeux de vgsales retrouvés dans Metacritic</a:t>
            </a:r>
            <a:endParaRPr b="0" lang="en-US" sz="1400" spc="-1" strike="noStrike">
              <a:solidFill>
                <a:srgbClr val="ffffff"/>
              </a:solidFill>
              <a:latin typeface="Arial"/>
            </a:endParaRPr>
          </a:p>
        </p:txBody>
      </p:sp>
      <p:pic>
        <p:nvPicPr>
          <p:cNvPr id="1507" name="fin_pastille" descr="image-1-13.gif"/>
          <p:cNvPicPr/>
          <p:nvPr/>
        </p:nvPicPr>
        <p:blipFill>
          <a:blip r:embed="rId9"/>
          <a:stretch/>
        </p:blipFill>
        <p:spPr>
          <a:xfrm>
            <a:off x="11448360" y="6355080"/>
            <a:ext cx="182520" cy="182520"/>
          </a:xfrm>
          <a:prstGeom prst="rect">
            <a:avLst/>
          </a:prstGeom>
          <a:ln w="0">
            <a:noFill/>
          </a:ln>
        </p:spPr>
      </p:pic>
      <p:pic>
        <p:nvPicPr>
          <p:cNvPr id="1508" name="barre_fantome" descr="image.gif"/>
          <p:cNvPicPr/>
          <p:nvPr/>
        </p:nvPicPr>
        <p:blipFill>
          <a:blip r:embed="rId10"/>
          <a:stretch/>
        </p:blipFill>
        <p:spPr>
          <a:xfrm>
            <a:off x="5334984" y="6291000"/>
            <a:ext cx="310680" cy="310680"/>
          </a:xfrm>
          <a:prstGeom prst="rect">
            <a:avLst/>
          </a:prstGeom>
          <a:ln w="0">
            <a:noFill/>
          </a:ln>
        </p:spPr>
      </p:pic>
      <p:sp>
        <p:nvSpPr>
          <p:cNvPr id="1510" name="barre_pastille"/>
          <p:cNvSpPr/>
          <p:nvPr/>
        </p:nvSpPr>
        <p:spPr>
          <a:xfrm>
            <a:off x="6400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0"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1"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2"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3"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4"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5"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6"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7"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8"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19"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0"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1"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2"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3"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4"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5"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6"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7"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8"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29"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30"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509" name="barre_pacman" descr="image.gif"/>
          <p:cNvPicPr/>
          <p:nvPr/>
        </p:nvPicPr>
        <p:blipFill>
          <a:blip r:embed="rId11"/>
          <a:stretch/>
        </p:blipFill>
        <p:spPr>
          <a:xfrm>
            <a:off x="5901984" y="6291000"/>
            <a:ext cx="310680" cy="310680"/>
          </a:xfrm>
          <a:prstGeom prst="rect">
            <a:avLst/>
          </a:prstGeom>
          <a:ln w="0">
            <a:noFill/>
          </a:ln>
        </p:spPr>
      </p:pic>
      <p:sp>
        <p:nvSpPr>
          <p:cNvPr id="1531"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1752" dur="indefinite" restart="never" nodeType="tmRoot">
          <p:childTnLst>
            <p:seq>
              <p:cTn id="1753" dur="indefinite" nodeType="mainSeq">
                <p:childTnLst>
                  <p:par>
                    <p:cTn id="1754" fill="hold">
                      <p:stCondLst>
                        <p:cond delay="0"/>
                      </p:stCondLst>
                      <p:childTnLst>
                        <p:par>
                          <p:cTn id="1755" fill="hold">
                            <p:stCondLst>
                              <p:cond delay="0"/>
                            </p:stCondLst>
                            <p:childTnLst>
                              <p:par>
                                <p:cTn id="1756" nodeType="withEffect" fill="hold" presetClass="path">
                                  <p:stCondLst>
                                    <p:cond delay="0"/>
                                  </p:stCondLst>
                                  <p:childTnLst>
                                    <p:animMotion origin="layout" path="M 0 0 L 0.02252 0 E">
                                      <p:cBhvr>
                                        <p:cTn id="1757" dur="900" fill="hold"/>
                                        <p:tgtEl>
                                          <p:spTgt spid="1508"/>
                                        </p:tgtEl>
                                        <p:attrNameLst>
                                          <p:attrName>ppt_x</p:attrName>
                                          <p:attrName>ppt_y</p:attrName>
                                        </p:attrNameLst>
                                      </p:cBhvr>
                                    </p:animMotion>
                                  </p:childTnLst>
                                </p:cTn>
                              </p:par>
                              <p:par>
                                <p:cTn id="1758" nodeType="withEffect" fill="hold" presetClass="path">
                                  <p:stCondLst>
                                    <p:cond delay="0"/>
                                  </p:stCondLst>
                                  <p:childTnLst>
                                    <p:animMotion origin="layout" path="M 0 0 L 0.02252 0 E">
                                      <p:cBhvr>
                                        <p:cTn id="1759" dur="900" fill="hold"/>
                                        <p:tgtEl>
                                          <p:spTgt spid="1509"/>
                                        </p:tgtEl>
                                        <p:attrNameLst>
                                          <p:attrName>ppt_x</p:attrName>
                                          <p:attrName>ppt_y</p:attrName>
                                        </p:attrNameLst>
                                      </p:cBhvr>
                                    </p:animMotion>
                                  </p:childTnLst>
                                </p:cTn>
                              </p:par>
                              <p:par>
                                <p:cTn id="1760" nodeType="withEffect" fill="hold" presetClass="exit" presetID="1">
                                  <p:stCondLst>
                                    <p:cond delay="346"/>
                                  </p:stCondLst>
                                  <p:childTnLst>
                                    <p:set>
                                      <p:cBhvr>
                                        <p:cTn id="1761" dur="1" fill="hold">
                                          <p:stCondLst>
                                            <p:cond delay="0"/>
                                          </p:stCondLst>
                                        </p:cTn>
                                        <p:tgtEl>
                                          <p:spTgt spid="1510"/>
                                        </p:tgtEl>
                                        <p:attrNameLst>
                                          <p:attrName>style.visibility</p:attrName>
                                        </p:attrNameLst>
                                      </p:cBhvr>
                                      <p:to>
                                        <p:strVal val="hidden"/>
                                      </p:to>
                                    </p:set>
                                  </p:childTnLst>
                                </p:cTn>
                              </p:par>
                              <p:par>
                                <p:cTn id="1762" nodeType="withEffect" fill="hold" presetClass="entr" presetID="10">
                                  <p:stCondLst>
                                    <p:cond delay="200"/>
                                  </p:stCondLst>
                                  <p:childTnLst>
                                    <p:set>
                                      <p:cBhvr>
                                        <p:cTn id="1763" dur="1" fill="hold">
                                          <p:stCondLst>
                                            <p:cond delay="0"/>
                                          </p:stCondLst>
                                        </p:cTn>
                                        <p:tgtEl>
                                          <p:spTgt spid="1491"/>
                                        </p:tgtEl>
                                        <p:attrNameLst>
                                          <p:attrName>style.visibility</p:attrName>
                                        </p:attrNameLst>
                                      </p:cBhvr>
                                      <p:to>
                                        <p:strVal val="visible"/>
                                      </p:to>
                                    </p:set>
                                    <p:animEffect filter="fade" transition="in">
                                      <p:cBhvr additive="repl">
                                        <p:cTn id="1764" dur="400"/>
                                        <p:tgtEl>
                                          <p:spTgt spid="1491"/>
                                        </p:tgtEl>
                                      </p:cBhvr>
                                    </p:animEffect>
                                  </p:childTnLst>
                                </p:cTn>
                              </p:par>
                              <p:par>
                                <p:cTn id="1765" nodeType="withEffect" fill="hold" presetClass="entr" presetID="10">
                                  <p:stCondLst>
                                    <p:cond delay="200"/>
                                  </p:stCondLst>
                                  <p:childTnLst>
                                    <p:set>
                                      <p:cBhvr>
                                        <p:cTn id="1766" dur="1" fill="hold">
                                          <p:stCondLst>
                                            <p:cond delay="0"/>
                                          </p:stCondLst>
                                        </p:cTn>
                                        <p:tgtEl>
                                          <p:spTgt spid="1492"/>
                                        </p:tgtEl>
                                        <p:attrNameLst>
                                          <p:attrName>style.visibility</p:attrName>
                                        </p:attrNameLst>
                                      </p:cBhvr>
                                      <p:to>
                                        <p:strVal val="visible"/>
                                      </p:to>
                                    </p:set>
                                    <p:animEffect filter="fade" transition="in">
                                      <p:cBhvr additive="repl">
                                        <p:cTn id="1767" dur="400"/>
                                        <p:tgtEl>
                                          <p:spTgt spid="1492"/>
                                        </p:tgtEl>
                                      </p:cBhvr>
                                    </p:animEffect>
                                  </p:childTnLst>
                                </p:cTn>
                              </p:par>
                              <p:par>
                                <p:cTn id="1768" nodeType="withEffect" fill="hold" presetClass="entr" presetID="10">
                                  <p:stCondLst>
                                    <p:cond delay="200"/>
                                  </p:stCondLst>
                                  <p:childTnLst>
                                    <p:set>
                                      <p:cBhvr>
                                        <p:cTn id="1769" dur="1" fill="hold">
                                          <p:stCondLst>
                                            <p:cond delay="0"/>
                                          </p:stCondLst>
                                        </p:cTn>
                                        <p:tgtEl>
                                          <p:spTgt spid="1493"/>
                                        </p:tgtEl>
                                        <p:attrNameLst>
                                          <p:attrName>style.visibility</p:attrName>
                                        </p:attrNameLst>
                                      </p:cBhvr>
                                      <p:to>
                                        <p:strVal val="visible"/>
                                      </p:to>
                                    </p:set>
                                    <p:animEffect filter="fade" transition="in">
                                      <p:cBhvr additive="repl">
                                        <p:cTn id="1770" dur="400"/>
                                        <p:tgtEl>
                                          <p:spTgt spid="1493"/>
                                        </p:tgtEl>
                                      </p:cBhvr>
                                    </p:animEffect>
                                  </p:childTnLst>
                                </p:cTn>
                              </p:par>
                              <p:par>
                                <p:cTn id="1771" nodeType="withEffect" fill="hold" presetClass="entr" presetID="10">
                                  <p:stCondLst>
                                    <p:cond delay="200"/>
                                  </p:stCondLst>
                                  <p:childTnLst>
                                    <p:set>
                                      <p:cBhvr>
                                        <p:cTn id="1772" dur="1" fill="hold">
                                          <p:stCondLst>
                                            <p:cond delay="0"/>
                                          </p:stCondLst>
                                        </p:cTn>
                                        <p:tgtEl>
                                          <p:spTgt spid="1494"/>
                                        </p:tgtEl>
                                        <p:attrNameLst>
                                          <p:attrName>style.visibility</p:attrName>
                                        </p:attrNameLst>
                                      </p:cBhvr>
                                      <p:to>
                                        <p:strVal val="visible"/>
                                      </p:to>
                                    </p:set>
                                    <p:animEffect filter="fade" transition="in">
                                      <p:cBhvr additive="repl">
                                        <p:cTn id="1773" dur="400"/>
                                        <p:tgtEl>
                                          <p:spTgt spid="1494"/>
                                        </p:tgtEl>
                                      </p:cBhvr>
                                    </p:animEffect>
                                  </p:childTnLst>
                                </p:cTn>
                              </p:par>
                              <p:par>
                                <p:cTn id="1774" nodeType="withEffect" fill="hold" presetClass="entr" presetID="10">
                                  <p:stCondLst>
                                    <p:cond delay="400"/>
                                  </p:stCondLst>
                                  <p:childTnLst>
                                    <p:set>
                                      <p:cBhvr>
                                        <p:cTn id="1775" dur="1" fill="hold">
                                          <p:stCondLst>
                                            <p:cond delay="0"/>
                                          </p:stCondLst>
                                        </p:cTn>
                                        <p:tgtEl>
                                          <p:spTgt spid="1495"/>
                                        </p:tgtEl>
                                        <p:attrNameLst>
                                          <p:attrName>style.visibility</p:attrName>
                                        </p:attrNameLst>
                                      </p:cBhvr>
                                      <p:to>
                                        <p:strVal val="visible"/>
                                      </p:to>
                                    </p:set>
                                    <p:animEffect filter="fade" transition="in">
                                      <p:cBhvr additive="repl">
                                        <p:cTn id="1776" dur="400"/>
                                        <p:tgtEl>
                                          <p:spTgt spid="1495"/>
                                        </p:tgtEl>
                                      </p:cBhvr>
                                    </p:animEffect>
                                  </p:childTnLst>
                                </p:cTn>
                              </p:par>
                              <p:par>
                                <p:cTn id="1777" nodeType="withEffect" fill="hold" presetClass="entr" presetID="10">
                                  <p:stCondLst>
                                    <p:cond delay="400"/>
                                  </p:stCondLst>
                                  <p:childTnLst>
                                    <p:set>
                                      <p:cBhvr>
                                        <p:cTn id="1778" dur="1" fill="hold">
                                          <p:stCondLst>
                                            <p:cond delay="0"/>
                                          </p:stCondLst>
                                        </p:cTn>
                                        <p:tgtEl>
                                          <p:spTgt spid="1496"/>
                                        </p:tgtEl>
                                        <p:attrNameLst>
                                          <p:attrName>style.visibility</p:attrName>
                                        </p:attrNameLst>
                                      </p:cBhvr>
                                      <p:to>
                                        <p:strVal val="visible"/>
                                      </p:to>
                                    </p:set>
                                    <p:animEffect filter="fade" transition="in">
                                      <p:cBhvr additive="repl">
                                        <p:cTn id="1779" dur="400"/>
                                        <p:tgtEl>
                                          <p:spTgt spid="1496"/>
                                        </p:tgtEl>
                                      </p:cBhvr>
                                    </p:animEffect>
                                  </p:childTnLst>
                                </p:cTn>
                              </p:par>
                              <p:par>
                                <p:cTn id="1780" nodeType="withEffect" fill="hold" presetClass="entr" presetID="10">
                                  <p:stCondLst>
                                    <p:cond delay="400"/>
                                  </p:stCondLst>
                                  <p:childTnLst>
                                    <p:set>
                                      <p:cBhvr>
                                        <p:cTn id="1781" dur="1" fill="hold">
                                          <p:stCondLst>
                                            <p:cond delay="0"/>
                                          </p:stCondLst>
                                        </p:cTn>
                                        <p:tgtEl>
                                          <p:spTgt spid="1497"/>
                                        </p:tgtEl>
                                        <p:attrNameLst>
                                          <p:attrName>style.visibility</p:attrName>
                                        </p:attrNameLst>
                                      </p:cBhvr>
                                      <p:to>
                                        <p:strVal val="visible"/>
                                      </p:to>
                                    </p:set>
                                    <p:animEffect filter="fade" transition="in">
                                      <p:cBhvr additive="repl">
                                        <p:cTn id="1782" dur="400"/>
                                        <p:tgtEl>
                                          <p:spTgt spid="1497"/>
                                        </p:tgtEl>
                                      </p:cBhvr>
                                    </p:animEffect>
                                  </p:childTnLst>
                                </p:cTn>
                              </p:par>
                              <p:par>
                                <p:cTn id="1783" nodeType="withEffect" fill="hold" presetClass="entr" presetID="10">
                                  <p:stCondLst>
                                    <p:cond delay="400"/>
                                  </p:stCondLst>
                                  <p:childTnLst>
                                    <p:set>
                                      <p:cBhvr>
                                        <p:cTn id="1784" dur="1" fill="hold">
                                          <p:stCondLst>
                                            <p:cond delay="0"/>
                                          </p:stCondLst>
                                        </p:cTn>
                                        <p:tgtEl>
                                          <p:spTgt spid="1498"/>
                                        </p:tgtEl>
                                        <p:attrNameLst>
                                          <p:attrName>style.visibility</p:attrName>
                                        </p:attrNameLst>
                                      </p:cBhvr>
                                      <p:to>
                                        <p:strVal val="visible"/>
                                      </p:to>
                                    </p:set>
                                    <p:animEffect filter="fade" transition="in">
                                      <p:cBhvr additive="repl">
                                        <p:cTn id="1785" dur="400"/>
                                        <p:tgtEl>
                                          <p:spTgt spid="1498"/>
                                        </p:tgtEl>
                                      </p:cBhvr>
                                    </p:animEffect>
                                  </p:childTnLst>
                                </p:cTn>
                              </p:par>
                              <p:par>
                                <p:cTn id="1786" nodeType="withEffect" fill="hold" presetClass="entr" presetID="10">
                                  <p:stCondLst>
                                    <p:cond delay="600"/>
                                  </p:stCondLst>
                                  <p:childTnLst>
                                    <p:set>
                                      <p:cBhvr>
                                        <p:cTn id="1787" dur="1" fill="hold">
                                          <p:stCondLst>
                                            <p:cond delay="0"/>
                                          </p:stCondLst>
                                        </p:cTn>
                                        <p:tgtEl>
                                          <p:spTgt spid="1499"/>
                                        </p:tgtEl>
                                        <p:attrNameLst>
                                          <p:attrName>style.visibility</p:attrName>
                                        </p:attrNameLst>
                                      </p:cBhvr>
                                      <p:to>
                                        <p:strVal val="visible"/>
                                      </p:to>
                                    </p:set>
                                    <p:animEffect filter="fade" transition="in">
                                      <p:cBhvr additive="repl">
                                        <p:cTn id="1788" dur="400"/>
                                        <p:tgtEl>
                                          <p:spTgt spid="1499"/>
                                        </p:tgtEl>
                                      </p:cBhvr>
                                    </p:animEffect>
                                  </p:childTnLst>
                                </p:cTn>
                              </p:par>
                              <p:par>
                                <p:cTn id="1789" nodeType="withEffect" fill="hold" presetClass="entr" presetID="10">
                                  <p:stCondLst>
                                    <p:cond delay="600"/>
                                  </p:stCondLst>
                                  <p:childTnLst>
                                    <p:set>
                                      <p:cBhvr>
                                        <p:cTn id="1790" dur="1" fill="hold">
                                          <p:stCondLst>
                                            <p:cond delay="0"/>
                                          </p:stCondLst>
                                        </p:cTn>
                                        <p:tgtEl>
                                          <p:spTgt spid="1500"/>
                                        </p:tgtEl>
                                        <p:attrNameLst>
                                          <p:attrName>style.visibility</p:attrName>
                                        </p:attrNameLst>
                                      </p:cBhvr>
                                      <p:to>
                                        <p:strVal val="visible"/>
                                      </p:to>
                                    </p:set>
                                    <p:animEffect filter="fade" transition="in">
                                      <p:cBhvr additive="repl">
                                        <p:cTn id="1791" dur="400"/>
                                        <p:tgtEl>
                                          <p:spTgt spid="1500"/>
                                        </p:tgtEl>
                                      </p:cBhvr>
                                    </p:animEffect>
                                  </p:childTnLst>
                                </p:cTn>
                              </p:par>
                              <p:par>
                                <p:cTn id="1792" nodeType="withEffect" fill="hold" presetClass="entr" presetID="10">
                                  <p:stCondLst>
                                    <p:cond delay="600"/>
                                  </p:stCondLst>
                                  <p:childTnLst>
                                    <p:set>
                                      <p:cBhvr>
                                        <p:cTn id="1793" dur="1" fill="hold">
                                          <p:stCondLst>
                                            <p:cond delay="0"/>
                                          </p:stCondLst>
                                        </p:cTn>
                                        <p:tgtEl>
                                          <p:spTgt spid="1501"/>
                                        </p:tgtEl>
                                        <p:attrNameLst>
                                          <p:attrName>style.visibility</p:attrName>
                                        </p:attrNameLst>
                                      </p:cBhvr>
                                      <p:to>
                                        <p:strVal val="visible"/>
                                      </p:to>
                                    </p:set>
                                    <p:animEffect filter="fade" transition="in">
                                      <p:cBhvr additive="repl">
                                        <p:cTn id="1794" dur="400"/>
                                        <p:tgtEl>
                                          <p:spTgt spid="1501"/>
                                        </p:tgtEl>
                                      </p:cBhvr>
                                    </p:animEffect>
                                  </p:childTnLst>
                                </p:cTn>
                              </p:par>
                              <p:par>
                                <p:cTn id="1795" nodeType="withEffect" fill="hold" presetClass="entr" presetID="10">
                                  <p:stCondLst>
                                    <p:cond delay="600"/>
                                  </p:stCondLst>
                                  <p:childTnLst>
                                    <p:set>
                                      <p:cBhvr>
                                        <p:cTn id="1796" dur="1" fill="hold">
                                          <p:stCondLst>
                                            <p:cond delay="0"/>
                                          </p:stCondLst>
                                        </p:cTn>
                                        <p:tgtEl>
                                          <p:spTgt spid="1502"/>
                                        </p:tgtEl>
                                        <p:attrNameLst>
                                          <p:attrName>style.visibility</p:attrName>
                                        </p:attrNameLst>
                                      </p:cBhvr>
                                      <p:to>
                                        <p:strVal val="visible"/>
                                      </p:to>
                                    </p:set>
                                    <p:animEffect filter="fade" transition="in">
                                      <p:cBhvr additive="repl">
                                        <p:cTn id="1797" dur="400"/>
                                        <p:tgtEl>
                                          <p:spTgt spid="1502"/>
                                        </p:tgtEl>
                                      </p:cBhvr>
                                    </p:animEffect>
                                  </p:childTnLst>
                                </p:cTn>
                              </p:par>
                              <p:par>
                                <p:cTn id="1798" nodeType="withEffect" fill="hold" presetClass="entr" presetID="10">
                                  <p:stCondLst>
                                    <p:cond delay="800"/>
                                  </p:stCondLst>
                                  <p:childTnLst>
                                    <p:set>
                                      <p:cBhvr>
                                        <p:cTn id="1799" dur="1" fill="hold">
                                          <p:stCondLst>
                                            <p:cond delay="0"/>
                                          </p:stCondLst>
                                        </p:cTn>
                                        <p:tgtEl>
                                          <p:spTgt spid="1503"/>
                                        </p:tgtEl>
                                        <p:attrNameLst>
                                          <p:attrName>style.visibility</p:attrName>
                                        </p:attrNameLst>
                                      </p:cBhvr>
                                      <p:to>
                                        <p:strVal val="visible"/>
                                      </p:to>
                                    </p:set>
                                    <p:animEffect filter="fade" transition="in">
                                      <p:cBhvr additive="repl">
                                        <p:cTn id="1800" dur="400"/>
                                        <p:tgtEl>
                                          <p:spTgt spid="1503"/>
                                        </p:tgtEl>
                                      </p:cBhvr>
                                    </p:animEffect>
                                  </p:childTnLst>
                                </p:cTn>
                              </p:par>
                              <p:par>
                                <p:cTn id="1801" nodeType="withEffect" fill="hold" presetClass="entr" presetID="10">
                                  <p:stCondLst>
                                    <p:cond delay="800"/>
                                  </p:stCondLst>
                                  <p:childTnLst>
                                    <p:set>
                                      <p:cBhvr>
                                        <p:cTn id="1802" dur="1" fill="hold">
                                          <p:stCondLst>
                                            <p:cond delay="0"/>
                                          </p:stCondLst>
                                        </p:cTn>
                                        <p:tgtEl>
                                          <p:spTgt spid="1504"/>
                                        </p:tgtEl>
                                        <p:attrNameLst>
                                          <p:attrName>style.visibility</p:attrName>
                                        </p:attrNameLst>
                                      </p:cBhvr>
                                      <p:to>
                                        <p:strVal val="visible"/>
                                      </p:to>
                                    </p:set>
                                    <p:animEffect filter="fade" transition="in">
                                      <p:cBhvr additive="repl">
                                        <p:cTn id="1803" dur="400"/>
                                        <p:tgtEl>
                                          <p:spTgt spid="1504"/>
                                        </p:tgtEl>
                                      </p:cBhvr>
                                    </p:animEffect>
                                  </p:childTnLst>
                                </p:cTn>
                              </p:par>
                              <p:par>
                                <p:cTn id="1804" nodeType="withEffect" fill="hold" presetClass="entr" presetID="10">
                                  <p:stCondLst>
                                    <p:cond delay="800"/>
                                  </p:stCondLst>
                                  <p:childTnLst>
                                    <p:set>
                                      <p:cBhvr>
                                        <p:cTn id="1805" dur="1" fill="hold">
                                          <p:stCondLst>
                                            <p:cond delay="0"/>
                                          </p:stCondLst>
                                        </p:cTn>
                                        <p:tgtEl>
                                          <p:spTgt spid="1505"/>
                                        </p:tgtEl>
                                        <p:attrNameLst>
                                          <p:attrName>style.visibility</p:attrName>
                                        </p:attrNameLst>
                                      </p:cBhvr>
                                      <p:to>
                                        <p:strVal val="visible"/>
                                      </p:to>
                                    </p:set>
                                    <p:animEffect filter="fade" transition="in">
                                      <p:cBhvr additive="repl">
                                        <p:cTn id="1806" dur="400"/>
                                        <p:tgtEl>
                                          <p:spTgt spid="1505"/>
                                        </p:tgtEl>
                                      </p:cBhvr>
                                    </p:animEffect>
                                  </p:childTnLst>
                                </p:cTn>
                              </p:par>
                              <p:par>
                                <p:cTn id="1807" nodeType="withEffect" fill="hold" presetClass="entr" presetID="10">
                                  <p:stCondLst>
                                    <p:cond delay="800"/>
                                  </p:stCondLst>
                                  <p:childTnLst>
                                    <p:set>
                                      <p:cBhvr>
                                        <p:cTn id="1808" dur="1" fill="hold">
                                          <p:stCondLst>
                                            <p:cond delay="0"/>
                                          </p:stCondLst>
                                        </p:cTn>
                                        <p:tgtEl>
                                          <p:spTgt spid="1506"/>
                                        </p:tgtEl>
                                        <p:attrNameLst>
                                          <p:attrName>style.visibility</p:attrName>
                                        </p:attrNameLst>
                                      </p:cBhvr>
                                      <p:to>
                                        <p:strVal val="visible"/>
                                      </p:to>
                                    </p:set>
                                    <p:animEffect filter="fade" transition="in">
                                      <p:cBhvr additive="repl">
                                        <p:cTn id="1809" dur="400"/>
                                        <p:tgtEl>
                                          <p:spTgt spid="1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532" name="o1" descr="LEVEL 1 → MISSION"/>
          <p:cNvPicPr/>
          <p:nvPr/>
        </p:nvPicPr>
        <p:blipFill>
          <a:blip r:embed="rId1"/>
          <a:stretch/>
        </p:blipFill>
        <p:spPr>
          <a:xfrm>
            <a:off x="548640" y="411480"/>
            <a:ext cx="2486880" cy="145800"/>
          </a:xfrm>
          <a:prstGeom prst="rect">
            <a:avLst/>
          </a:prstGeom>
          <a:ln w="0">
            <a:noFill/>
          </a:ln>
        </p:spPr>
      </p:pic>
      <p:pic>
        <p:nvPicPr>
          <p:cNvPr id="1533" name="o2" descr="Pourquoi cette base ?"/>
          <p:cNvPicPr/>
          <p:nvPr/>
        </p:nvPicPr>
        <p:blipFill>
          <a:blip r:embed="rId2"/>
          <a:stretch/>
        </p:blipFill>
        <p:spPr>
          <a:xfrm>
            <a:off x="548640" y="777240"/>
            <a:ext cx="5760360" cy="273960"/>
          </a:xfrm>
          <a:prstGeom prst="rect">
            <a:avLst/>
          </a:prstGeom>
          <a:ln w="0">
            <a:noFill/>
          </a:ln>
        </p:spPr>
      </p:pic>
      <p:pic>
        <p:nvPicPr>
          <p:cNvPr id="1534" name="o3" descr="image-2-7.png"/>
          <p:cNvPicPr/>
          <p:nvPr/>
        </p:nvPicPr>
        <p:blipFill>
          <a:blip r:embed="rId3"/>
          <a:stretch/>
        </p:blipFill>
        <p:spPr>
          <a:xfrm>
            <a:off x="11073240" y="365760"/>
            <a:ext cx="566640" cy="566640"/>
          </a:xfrm>
          <a:prstGeom prst="rect">
            <a:avLst/>
          </a:prstGeom>
          <a:ln w="0">
            <a:noFill/>
          </a:ln>
        </p:spPr>
      </p:pic>
      <p:pic>
        <p:nvPicPr>
          <p:cNvPr id="1535" name="o4" descr="image-6-17.png"/>
          <p:cNvPicPr/>
          <p:nvPr/>
        </p:nvPicPr>
        <p:blipFill>
          <a:blip r:embed="rId4"/>
          <a:stretch/>
        </p:blipFill>
        <p:spPr>
          <a:xfrm>
            <a:off x="594360" y="1783080"/>
            <a:ext cx="502560" cy="502560"/>
          </a:xfrm>
          <a:prstGeom prst="rect">
            <a:avLst/>
          </a:prstGeom>
          <a:ln w="0">
            <a:noFill/>
          </a:ln>
        </p:spPr>
      </p:pic>
      <p:sp>
        <p:nvSpPr>
          <p:cNvPr id="1536" name="o5"/>
          <p:cNvSpPr/>
          <p:nvPr/>
        </p:nvSpPr>
        <p:spPr>
          <a:xfrm>
            <a:off x="1325880" y="1764720"/>
            <a:ext cx="44802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fffff"/>
                </a:solidFill>
                <a:latin typeface="Arial"/>
              </a:rPr>
              <a:t>Jeux vidéo, 1980-2016</a:t>
            </a:r>
            <a:endParaRPr b="0" lang="en-US" sz="2000" spc="-1" strike="noStrike">
              <a:solidFill>
                <a:srgbClr val="ffffff"/>
              </a:solidFill>
              <a:latin typeface="Arial"/>
            </a:endParaRPr>
          </a:p>
        </p:txBody>
      </p:sp>
      <p:sp>
        <p:nvSpPr>
          <p:cNvPr id="1537" name="o6"/>
          <p:cNvSpPr/>
          <p:nvPr/>
        </p:nvSpPr>
        <p:spPr>
          <a:xfrm>
            <a:off x="1325880" y="2167200"/>
            <a:ext cx="448020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la même période que nos ventes</a:t>
            </a:r>
            <a:endParaRPr b="0" lang="en-US" sz="1500" spc="-1" strike="noStrike">
              <a:solidFill>
                <a:srgbClr val="ffffff"/>
              </a:solidFill>
              <a:latin typeface="Arial"/>
            </a:endParaRPr>
          </a:p>
        </p:txBody>
      </p:sp>
      <p:pic>
        <p:nvPicPr>
          <p:cNvPr id="1538" name="o7" descr="image-6-17.png"/>
          <p:cNvPicPr/>
          <p:nvPr/>
        </p:nvPicPr>
        <p:blipFill>
          <a:blip r:embed="rId5"/>
          <a:stretch/>
        </p:blipFill>
        <p:spPr>
          <a:xfrm>
            <a:off x="594360" y="2807280"/>
            <a:ext cx="502560" cy="502560"/>
          </a:xfrm>
          <a:prstGeom prst="rect">
            <a:avLst/>
          </a:prstGeom>
          <a:ln w="0">
            <a:noFill/>
          </a:ln>
        </p:spPr>
      </p:pic>
      <p:sp>
        <p:nvSpPr>
          <p:cNvPr id="1539" name="o8"/>
          <p:cNvSpPr/>
          <p:nvPr/>
        </p:nvSpPr>
        <p:spPr>
          <a:xfrm>
            <a:off x="1325880" y="2788920"/>
            <a:ext cx="44802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fffff"/>
                </a:solidFill>
                <a:latin typeface="Arial"/>
              </a:rPr>
              <a:t>Une clé commune</a:t>
            </a:r>
            <a:endParaRPr b="0" lang="en-US" sz="2000" spc="-1" strike="noStrike">
              <a:solidFill>
                <a:srgbClr val="ffffff"/>
              </a:solidFill>
              <a:latin typeface="Arial"/>
            </a:endParaRPr>
          </a:p>
        </p:txBody>
      </p:sp>
      <p:sp>
        <p:nvSpPr>
          <p:cNvPr id="1540" name="o9"/>
          <p:cNvSpPr/>
          <p:nvPr/>
        </p:nvSpPr>
        <p:spPr>
          <a:xfrm>
            <a:off x="1325880" y="3191400"/>
            <a:ext cx="448020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nom + plateforme + année</a:t>
            </a:r>
            <a:endParaRPr b="0" lang="en-US" sz="1500" spc="-1" strike="noStrike">
              <a:solidFill>
                <a:srgbClr val="ffffff"/>
              </a:solidFill>
              <a:latin typeface="Arial"/>
            </a:endParaRPr>
          </a:p>
        </p:txBody>
      </p:sp>
      <p:pic>
        <p:nvPicPr>
          <p:cNvPr id="1541" name="o10" descr="image-6-17.png"/>
          <p:cNvPicPr/>
          <p:nvPr/>
        </p:nvPicPr>
        <p:blipFill>
          <a:blip r:embed="rId6"/>
          <a:stretch/>
        </p:blipFill>
        <p:spPr>
          <a:xfrm>
            <a:off x="594360" y="3831480"/>
            <a:ext cx="502560" cy="502560"/>
          </a:xfrm>
          <a:prstGeom prst="rect">
            <a:avLst/>
          </a:prstGeom>
          <a:ln w="0">
            <a:noFill/>
          </a:ln>
        </p:spPr>
      </p:pic>
      <p:sp>
        <p:nvSpPr>
          <p:cNvPr id="1542" name="o11"/>
          <p:cNvSpPr/>
          <p:nvPr/>
        </p:nvSpPr>
        <p:spPr>
          <a:xfrm>
            <a:off x="1325880" y="3813120"/>
            <a:ext cx="44802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fffff"/>
                </a:solidFill>
                <a:latin typeface="Arial"/>
              </a:rPr>
              <a:t>Une information nouvelle</a:t>
            </a:r>
            <a:endParaRPr b="0" lang="en-US" sz="2000" spc="-1" strike="noStrike">
              <a:solidFill>
                <a:srgbClr val="ffffff"/>
              </a:solidFill>
              <a:latin typeface="Arial"/>
            </a:endParaRPr>
          </a:p>
        </p:txBody>
      </p:sp>
      <p:sp>
        <p:nvSpPr>
          <p:cNvPr id="1543" name="o12"/>
          <p:cNvSpPr/>
          <p:nvPr/>
        </p:nvSpPr>
        <p:spPr>
          <a:xfrm>
            <a:off x="1325880" y="4215240"/>
            <a:ext cx="448020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notes, studio, classification d'âge</a:t>
            </a:r>
            <a:endParaRPr b="0" lang="en-US" sz="1500" spc="-1" strike="noStrike">
              <a:solidFill>
                <a:srgbClr val="ffffff"/>
              </a:solidFill>
              <a:latin typeface="Arial"/>
            </a:endParaRPr>
          </a:p>
        </p:txBody>
      </p:sp>
      <p:pic>
        <p:nvPicPr>
          <p:cNvPr id="1544" name="o13" descr="image-6-17.png"/>
          <p:cNvPicPr/>
          <p:nvPr/>
        </p:nvPicPr>
        <p:blipFill>
          <a:blip r:embed="rId7"/>
          <a:stretch/>
        </p:blipFill>
        <p:spPr>
          <a:xfrm>
            <a:off x="594360" y="4855320"/>
            <a:ext cx="502560" cy="502560"/>
          </a:xfrm>
          <a:prstGeom prst="rect">
            <a:avLst/>
          </a:prstGeom>
          <a:ln w="0">
            <a:noFill/>
          </a:ln>
        </p:spPr>
      </p:pic>
      <p:sp>
        <p:nvSpPr>
          <p:cNvPr id="1545" name="o14"/>
          <p:cNvSpPr/>
          <p:nvPr/>
        </p:nvSpPr>
        <p:spPr>
          <a:xfrm>
            <a:off x="1325880" y="4837320"/>
            <a:ext cx="448020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fffff"/>
                </a:solidFill>
                <a:latin typeface="Arial"/>
              </a:rPr>
              <a:t>Une source citable</a:t>
            </a:r>
            <a:endParaRPr b="0" lang="en-US" sz="2000" spc="-1" strike="noStrike">
              <a:solidFill>
                <a:srgbClr val="ffffff"/>
              </a:solidFill>
              <a:latin typeface="Arial"/>
            </a:endParaRPr>
          </a:p>
        </p:txBody>
      </p:sp>
      <p:sp>
        <p:nvSpPr>
          <p:cNvPr id="1546" name="o15"/>
          <p:cNvSpPr/>
          <p:nvPr/>
        </p:nvSpPr>
        <p:spPr>
          <a:xfrm>
            <a:off x="1325880" y="5239440"/>
            <a:ext cx="448020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Kaggle, scraping daté du 22/12/2016</a:t>
            </a:r>
            <a:endParaRPr b="0" lang="en-US" sz="1500" spc="-1" strike="noStrike">
              <a:solidFill>
                <a:srgbClr val="ffffff"/>
              </a:solidFill>
              <a:latin typeface="Arial"/>
            </a:endParaRPr>
          </a:p>
        </p:txBody>
      </p:sp>
      <p:sp>
        <p:nvSpPr>
          <p:cNvPr id="1547" name="o16"/>
          <p:cNvSpPr/>
          <p:nvPr/>
        </p:nvSpPr>
        <p:spPr>
          <a:xfrm>
            <a:off x="6309360" y="1691640"/>
            <a:ext cx="5330520" cy="4343040"/>
          </a:xfrm>
          <a:prstGeom prst="roundRect">
            <a:avLst>
              <a:gd name="adj" fmla="val 2947"/>
            </a:avLst>
          </a:prstGeom>
          <a:solidFill>
            <a:srgbClr val="000000"/>
          </a:solidFill>
          <a:ln w="28575">
            <a:solidFill>
              <a:srgbClr val="ffe6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48" name="o17"/>
          <p:cNvSpPr/>
          <p:nvPr/>
        </p:nvSpPr>
        <p:spPr>
          <a:xfrm>
            <a:off x="6378120" y="1760400"/>
            <a:ext cx="5193360" cy="4205880"/>
          </a:xfrm>
          <a:prstGeom prst="roundRect">
            <a:avLst>
              <a:gd name="adj" fmla="val 1413"/>
            </a:avLst>
          </a:prstGeom>
          <a:noFill/>
          <a:ln w="12700">
            <a:solidFill>
              <a:srgbClr val="ffe6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549" name="o18" descr="FICHE DE JEU"/>
          <p:cNvPicPr/>
          <p:nvPr/>
        </p:nvPicPr>
        <p:blipFill>
          <a:blip r:embed="rId8"/>
          <a:stretch/>
        </p:blipFill>
        <p:spPr>
          <a:xfrm>
            <a:off x="6629400" y="1965960"/>
            <a:ext cx="1755360" cy="145800"/>
          </a:xfrm>
          <a:prstGeom prst="rect">
            <a:avLst/>
          </a:prstGeom>
          <a:ln w="0">
            <a:noFill/>
          </a:ln>
        </p:spPr>
      </p:pic>
      <p:sp>
        <p:nvSpPr>
          <p:cNvPr id="1550" name="o19"/>
          <p:cNvSpPr/>
          <p:nvPr/>
        </p:nvSpPr>
        <p:spPr>
          <a:xfrm>
            <a:off x="6629400" y="2286000"/>
            <a:ext cx="475452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fffff"/>
                </a:solidFill>
                <a:latin typeface="Arial"/>
              </a:rPr>
              <a:t>Grand Theft Auto V · PS3 · 2013</a:t>
            </a:r>
            <a:endParaRPr b="0" lang="en-US" sz="2000" spc="-1" strike="noStrike">
              <a:solidFill>
                <a:srgbClr val="ffffff"/>
              </a:solidFill>
              <a:latin typeface="Arial"/>
            </a:endParaRPr>
          </a:p>
        </p:txBody>
      </p:sp>
      <p:pic>
        <p:nvPicPr>
          <p:cNvPr id="1551" name="o20" descr="BASE 1"/>
          <p:cNvPicPr/>
          <p:nvPr/>
        </p:nvPicPr>
        <p:blipFill>
          <a:blip r:embed="rId9"/>
          <a:stretch/>
        </p:blipFill>
        <p:spPr>
          <a:xfrm>
            <a:off x="6629400" y="2990160"/>
            <a:ext cx="712800" cy="118440"/>
          </a:xfrm>
          <a:prstGeom prst="rect">
            <a:avLst/>
          </a:prstGeom>
          <a:ln w="0">
            <a:noFill/>
          </a:ln>
        </p:spPr>
      </p:pic>
      <p:sp>
        <p:nvSpPr>
          <p:cNvPr id="1552" name="o21"/>
          <p:cNvSpPr/>
          <p:nvPr/>
        </p:nvSpPr>
        <p:spPr>
          <a:xfrm>
            <a:off x="7589520" y="2926080"/>
            <a:ext cx="155412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ventes</a:t>
            </a:r>
            <a:endParaRPr b="0" lang="en-US" sz="1500" spc="-1" strike="noStrike">
              <a:solidFill>
                <a:srgbClr val="ffffff"/>
              </a:solidFill>
              <a:latin typeface="Arial"/>
            </a:endParaRPr>
          </a:p>
        </p:txBody>
      </p:sp>
      <p:sp>
        <p:nvSpPr>
          <p:cNvPr id="1553" name="o22"/>
          <p:cNvSpPr/>
          <p:nvPr/>
        </p:nvSpPr>
        <p:spPr>
          <a:xfrm>
            <a:off x="9144000" y="2926080"/>
            <a:ext cx="228564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00ffff"/>
                </a:solidFill>
                <a:latin typeface="Arial"/>
              </a:rPr>
              <a:t>21,40 M</a:t>
            </a:r>
            <a:endParaRPr b="0" lang="en-US" sz="1600" spc="-1" strike="noStrike">
              <a:solidFill>
                <a:srgbClr val="ffffff"/>
              </a:solidFill>
              <a:latin typeface="Arial"/>
            </a:endParaRPr>
          </a:p>
        </p:txBody>
      </p:sp>
      <p:pic>
        <p:nvPicPr>
          <p:cNvPr id="1554" name="o23" descr="BASE 2"/>
          <p:cNvPicPr/>
          <p:nvPr/>
        </p:nvPicPr>
        <p:blipFill>
          <a:blip r:embed="rId10"/>
          <a:stretch/>
        </p:blipFill>
        <p:spPr>
          <a:xfrm>
            <a:off x="6629400" y="3557160"/>
            <a:ext cx="712800" cy="118440"/>
          </a:xfrm>
          <a:prstGeom prst="rect">
            <a:avLst/>
          </a:prstGeom>
          <a:ln w="0">
            <a:noFill/>
          </a:ln>
        </p:spPr>
      </p:pic>
      <p:sp>
        <p:nvSpPr>
          <p:cNvPr id="1555" name="o24"/>
          <p:cNvSpPr/>
          <p:nvPr/>
        </p:nvSpPr>
        <p:spPr>
          <a:xfrm>
            <a:off x="7589520" y="3493080"/>
            <a:ext cx="155412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note presse</a:t>
            </a:r>
            <a:endParaRPr b="0" lang="en-US" sz="1500" spc="-1" strike="noStrike">
              <a:solidFill>
                <a:srgbClr val="ffffff"/>
              </a:solidFill>
              <a:latin typeface="Arial"/>
            </a:endParaRPr>
          </a:p>
        </p:txBody>
      </p:sp>
      <p:sp>
        <p:nvSpPr>
          <p:cNvPr id="1556" name="o25"/>
          <p:cNvSpPr/>
          <p:nvPr/>
        </p:nvSpPr>
        <p:spPr>
          <a:xfrm>
            <a:off x="9144000" y="3493080"/>
            <a:ext cx="228564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e600"/>
                </a:solidFill>
                <a:latin typeface="Arial"/>
              </a:rPr>
              <a:t>97/100</a:t>
            </a:r>
            <a:endParaRPr b="0" lang="en-US" sz="1600" spc="-1" strike="noStrike">
              <a:solidFill>
                <a:srgbClr val="ffffff"/>
              </a:solidFill>
              <a:latin typeface="Arial"/>
            </a:endParaRPr>
          </a:p>
        </p:txBody>
      </p:sp>
      <p:pic>
        <p:nvPicPr>
          <p:cNvPr id="1557" name="o26" descr="BASE 2"/>
          <p:cNvPicPr/>
          <p:nvPr/>
        </p:nvPicPr>
        <p:blipFill>
          <a:blip r:embed="rId11"/>
          <a:stretch/>
        </p:blipFill>
        <p:spPr>
          <a:xfrm>
            <a:off x="6629400" y="4123800"/>
            <a:ext cx="712800" cy="118440"/>
          </a:xfrm>
          <a:prstGeom prst="rect">
            <a:avLst/>
          </a:prstGeom>
          <a:ln w="0">
            <a:noFill/>
          </a:ln>
        </p:spPr>
      </p:pic>
      <p:sp>
        <p:nvSpPr>
          <p:cNvPr id="1558" name="o27"/>
          <p:cNvSpPr/>
          <p:nvPr/>
        </p:nvSpPr>
        <p:spPr>
          <a:xfrm>
            <a:off x="7589520" y="4060080"/>
            <a:ext cx="155412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note joueurs</a:t>
            </a:r>
            <a:endParaRPr b="0" lang="en-US" sz="1500" spc="-1" strike="noStrike">
              <a:solidFill>
                <a:srgbClr val="ffffff"/>
              </a:solidFill>
              <a:latin typeface="Arial"/>
            </a:endParaRPr>
          </a:p>
        </p:txBody>
      </p:sp>
      <p:sp>
        <p:nvSpPr>
          <p:cNvPr id="1559" name="o28"/>
          <p:cNvSpPr/>
          <p:nvPr/>
        </p:nvSpPr>
        <p:spPr>
          <a:xfrm>
            <a:off x="9144000" y="4060080"/>
            <a:ext cx="228564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b8ff"/>
                </a:solidFill>
                <a:latin typeface="Arial"/>
              </a:rPr>
              <a:t>8,2/10</a:t>
            </a:r>
            <a:endParaRPr b="0" lang="en-US" sz="1600" spc="-1" strike="noStrike">
              <a:solidFill>
                <a:srgbClr val="ffffff"/>
              </a:solidFill>
              <a:latin typeface="Arial"/>
            </a:endParaRPr>
          </a:p>
        </p:txBody>
      </p:sp>
      <p:pic>
        <p:nvPicPr>
          <p:cNvPr id="1560" name="o29" descr="BASE 2"/>
          <p:cNvPicPr/>
          <p:nvPr/>
        </p:nvPicPr>
        <p:blipFill>
          <a:blip r:embed="rId12"/>
          <a:stretch/>
        </p:blipFill>
        <p:spPr>
          <a:xfrm>
            <a:off x="6629400" y="4690800"/>
            <a:ext cx="712800" cy="118440"/>
          </a:xfrm>
          <a:prstGeom prst="rect">
            <a:avLst/>
          </a:prstGeom>
          <a:ln w="0">
            <a:noFill/>
          </a:ln>
        </p:spPr>
      </p:pic>
      <p:sp>
        <p:nvSpPr>
          <p:cNvPr id="1561" name="o30"/>
          <p:cNvSpPr/>
          <p:nvPr/>
        </p:nvSpPr>
        <p:spPr>
          <a:xfrm>
            <a:off x="7589520" y="4626720"/>
            <a:ext cx="155412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studio</a:t>
            </a:r>
            <a:endParaRPr b="0" lang="en-US" sz="1500" spc="-1" strike="noStrike">
              <a:solidFill>
                <a:srgbClr val="ffffff"/>
              </a:solidFill>
              <a:latin typeface="Arial"/>
            </a:endParaRPr>
          </a:p>
        </p:txBody>
      </p:sp>
      <p:sp>
        <p:nvSpPr>
          <p:cNvPr id="1562" name="o31"/>
          <p:cNvSpPr/>
          <p:nvPr/>
        </p:nvSpPr>
        <p:spPr>
          <a:xfrm>
            <a:off x="9144000" y="4626720"/>
            <a:ext cx="228564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b852"/>
                </a:solidFill>
                <a:latin typeface="Arial"/>
              </a:rPr>
              <a:t>Rockstar North</a:t>
            </a:r>
            <a:endParaRPr b="0" lang="en-US" sz="1600" spc="-1" strike="noStrike">
              <a:solidFill>
                <a:srgbClr val="ffffff"/>
              </a:solidFill>
              <a:latin typeface="Arial"/>
            </a:endParaRPr>
          </a:p>
        </p:txBody>
      </p:sp>
      <p:pic>
        <p:nvPicPr>
          <p:cNvPr id="1563" name="o32" descr="BASE 2"/>
          <p:cNvPicPr/>
          <p:nvPr/>
        </p:nvPicPr>
        <p:blipFill>
          <a:blip r:embed="rId13"/>
          <a:stretch/>
        </p:blipFill>
        <p:spPr>
          <a:xfrm>
            <a:off x="6629400" y="5257800"/>
            <a:ext cx="712800" cy="118440"/>
          </a:xfrm>
          <a:prstGeom prst="rect">
            <a:avLst/>
          </a:prstGeom>
          <a:ln w="0">
            <a:noFill/>
          </a:ln>
        </p:spPr>
      </p:pic>
      <p:sp>
        <p:nvSpPr>
          <p:cNvPr id="1564" name="o33"/>
          <p:cNvSpPr/>
          <p:nvPr/>
        </p:nvSpPr>
        <p:spPr>
          <a:xfrm>
            <a:off x="7589520" y="5193720"/>
            <a:ext cx="155412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âge (ESRB)</a:t>
            </a:r>
            <a:endParaRPr b="0" lang="en-US" sz="1500" spc="-1" strike="noStrike">
              <a:solidFill>
                <a:srgbClr val="ffffff"/>
              </a:solidFill>
              <a:latin typeface="Arial"/>
            </a:endParaRPr>
          </a:p>
        </p:txBody>
      </p:sp>
      <p:sp>
        <p:nvSpPr>
          <p:cNvPr id="1565" name="o34"/>
          <p:cNvSpPr/>
          <p:nvPr/>
        </p:nvSpPr>
        <p:spPr>
          <a:xfrm>
            <a:off x="9144000" y="5193720"/>
            <a:ext cx="228564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b852"/>
                </a:solidFill>
                <a:latin typeface="Arial"/>
              </a:rPr>
              <a:t>M : Adultes (17+)</a:t>
            </a:r>
            <a:endParaRPr b="0" lang="en-US" sz="1600" spc="-1" strike="noStrike">
              <a:solidFill>
                <a:srgbClr val="ffffff"/>
              </a:solidFill>
              <a:latin typeface="Arial"/>
            </a:endParaRPr>
          </a:p>
        </p:txBody>
      </p:sp>
      <p:pic>
        <p:nvPicPr>
          <p:cNvPr id="1566" name="fin_pastille" descr="image-1-13.gif"/>
          <p:cNvPicPr/>
          <p:nvPr/>
        </p:nvPicPr>
        <p:blipFill>
          <a:blip r:embed="rId14"/>
          <a:stretch/>
        </p:blipFill>
        <p:spPr>
          <a:xfrm>
            <a:off x="11448360" y="6355080"/>
            <a:ext cx="182520" cy="182520"/>
          </a:xfrm>
          <a:prstGeom prst="rect">
            <a:avLst/>
          </a:prstGeom>
          <a:ln w="0">
            <a:noFill/>
          </a:ln>
        </p:spPr>
      </p:pic>
      <p:pic>
        <p:nvPicPr>
          <p:cNvPr id="1567" name="barre_fantome" descr="image.gif"/>
          <p:cNvPicPr/>
          <p:nvPr/>
        </p:nvPicPr>
        <p:blipFill>
          <a:blip r:embed="rId15"/>
          <a:stretch/>
        </p:blipFill>
        <p:spPr>
          <a:xfrm>
            <a:off x="5609520" y="6291000"/>
            <a:ext cx="310680" cy="310680"/>
          </a:xfrm>
          <a:prstGeom prst="rect">
            <a:avLst/>
          </a:prstGeom>
          <a:ln w="0">
            <a:noFill/>
          </a:ln>
        </p:spPr>
      </p:pic>
      <p:sp>
        <p:nvSpPr>
          <p:cNvPr id="1569" name="barre_pastille"/>
          <p:cNvSpPr/>
          <p:nvPr/>
        </p:nvSpPr>
        <p:spPr>
          <a:xfrm>
            <a:off x="6629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69"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0"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1"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2"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3"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4"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5"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6"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7"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8"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79"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0"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1"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2"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3"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4"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5"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6"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7"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588"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568" name="barre_pacman" descr="image.gif"/>
          <p:cNvPicPr/>
          <p:nvPr/>
        </p:nvPicPr>
        <p:blipFill>
          <a:blip r:embed="rId16"/>
          <a:stretch/>
        </p:blipFill>
        <p:spPr>
          <a:xfrm>
            <a:off x="6176520" y="6291000"/>
            <a:ext cx="310680" cy="310680"/>
          </a:xfrm>
          <a:prstGeom prst="rect">
            <a:avLst/>
          </a:prstGeom>
          <a:ln w="0">
            <a:noFill/>
          </a:ln>
        </p:spPr>
      </p:pic>
      <p:sp>
        <p:nvSpPr>
          <p:cNvPr id="1589"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1810" dur="indefinite" restart="never" nodeType="tmRoot">
          <p:childTnLst>
            <p:seq>
              <p:cTn id="1811" dur="indefinite" nodeType="mainSeq">
                <p:childTnLst>
                  <p:par>
                    <p:cTn id="1812" fill="hold">
                      <p:stCondLst>
                        <p:cond delay="0"/>
                      </p:stCondLst>
                      <p:childTnLst>
                        <p:par>
                          <p:cTn id="1813" fill="hold">
                            <p:stCondLst>
                              <p:cond delay="0"/>
                            </p:stCondLst>
                            <p:childTnLst>
                              <p:par>
                                <p:cTn id="1814" nodeType="withEffect" fill="hold" presetClass="path">
                                  <p:stCondLst>
                                    <p:cond delay="0"/>
                                  </p:stCondLst>
                                  <p:childTnLst>
                                    <p:animMotion origin="layout" path="M 0 0 L 0.02252 0 E">
                                      <p:cBhvr>
                                        <p:cTn id="1815" dur="900" fill="hold"/>
                                        <p:tgtEl>
                                          <p:spTgt spid="1567"/>
                                        </p:tgtEl>
                                        <p:attrNameLst>
                                          <p:attrName>ppt_x</p:attrName>
                                          <p:attrName>ppt_y</p:attrName>
                                        </p:attrNameLst>
                                      </p:cBhvr>
                                    </p:animMotion>
                                  </p:childTnLst>
                                </p:cTn>
                              </p:par>
                              <p:par>
                                <p:cTn id="1816" nodeType="withEffect" fill="hold" presetClass="path">
                                  <p:stCondLst>
                                    <p:cond delay="0"/>
                                  </p:stCondLst>
                                  <p:childTnLst>
                                    <p:animMotion origin="layout" path="M 0 0 L 0.02252 0 E">
                                      <p:cBhvr>
                                        <p:cTn id="1817" dur="900" fill="hold"/>
                                        <p:tgtEl>
                                          <p:spTgt spid="1568"/>
                                        </p:tgtEl>
                                        <p:attrNameLst>
                                          <p:attrName>ppt_x</p:attrName>
                                          <p:attrName>ppt_y</p:attrName>
                                        </p:attrNameLst>
                                      </p:cBhvr>
                                    </p:animMotion>
                                  </p:childTnLst>
                                </p:cTn>
                              </p:par>
                              <p:par>
                                <p:cTn id="1818" nodeType="withEffect" fill="hold" presetClass="exit" presetID="1">
                                  <p:stCondLst>
                                    <p:cond delay="217"/>
                                  </p:stCondLst>
                                  <p:childTnLst>
                                    <p:set>
                                      <p:cBhvr>
                                        <p:cTn id="1819" dur="1" fill="hold">
                                          <p:stCondLst>
                                            <p:cond delay="0"/>
                                          </p:stCondLst>
                                        </p:cTn>
                                        <p:tgtEl>
                                          <p:spTgt spid="1569"/>
                                        </p:tgtEl>
                                        <p:attrNameLst>
                                          <p:attrName>style.visibility</p:attrName>
                                        </p:attrNameLst>
                                      </p:cBhvr>
                                      <p:to>
                                        <p:strVal val="hidden"/>
                                      </p:to>
                                    </p:set>
                                  </p:childTnLst>
                                </p:cTn>
                              </p:par>
                              <p:par>
                                <p:cTn id="1820" nodeType="withEffect" fill="hold" presetClass="entr" presetID="10">
                                  <p:stCondLst>
                                    <p:cond delay="200"/>
                                  </p:stCondLst>
                                  <p:childTnLst>
                                    <p:set>
                                      <p:cBhvr>
                                        <p:cTn id="1821" dur="1" fill="hold">
                                          <p:stCondLst>
                                            <p:cond delay="0"/>
                                          </p:stCondLst>
                                        </p:cTn>
                                        <p:tgtEl>
                                          <p:spTgt spid="1535"/>
                                        </p:tgtEl>
                                        <p:attrNameLst>
                                          <p:attrName>style.visibility</p:attrName>
                                        </p:attrNameLst>
                                      </p:cBhvr>
                                      <p:to>
                                        <p:strVal val="visible"/>
                                      </p:to>
                                    </p:set>
                                    <p:animEffect filter="fade" transition="in">
                                      <p:cBhvr additive="repl">
                                        <p:cTn id="1822" dur="400"/>
                                        <p:tgtEl>
                                          <p:spTgt spid="1535"/>
                                        </p:tgtEl>
                                      </p:cBhvr>
                                    </p:animEffect>
                                  </p:childTnLst>
                                </p:cTn>
                              </p:par>
                              <p:par>
                                <p:cTn id="1823" nodeType="withEffect" fill="hold" presetClass="entr" presetID="10">
                                  <p:stCondLst>
                                    <p:cond delay="200"/>
                                  </p:stCondLst>
                                  <p:childTnLst>
                                    <p:set>
                                      <p:cBhvr>
                                        <p:cTn id="1824" dur="1" fill="hold">
                                          <p:stCondLst>
                                            <p:cond delay="0"/>
                                          </p:stCondLst>
                                        </p:cTn>
                                        <p:tgtEl>
                                          <p:spTgt spid="1536"/>
                                        </p:tgtEl>
                                        <p:attrNameLst>
                                          <p:attrName>style.visibility</p:attrName>
                                        </p:attrNameLst>
                                      </p:cBhvr>
                                      <p:to>
                                        <p:strVal val="visible"/>
                                      </p:to>
                                    </p:set>
                                    <p:animEffect filter="fade" transition="in">
                                      <p:cBhvr additive="repl">
                                        <p:cTn id="1825" dur="400"/>
                                        <p:tgtEl>
                                          <p:spTgt spid="1536"/>
                                        </p:tgtEl>
                                      </p:cBhvr>
                                    </p:animEffect>
                                  </p:childTnLst>
                                </p:cTn>
                              </p:par>
                              <p:par>
                                <p:cTn id="1826" nodeType="withEffect" fill="hold" presetClass="entr" presetID="10">
                                  <p:stCondLst>
                                    <p:cond delay="200"/>
                                  </p:stCondLst>
                                  <p:childTnLst>
                                    <p:set>
                                      <p:cBhvr>
                                        <p:cTn id="1827" dur="1" fill="hold">
                                          <p:stCondLst>
                                            <p:cond delay="0"/>
                                          </p:stCondLst>
                                        </p:cTn>
                                        <p:tgtEl>
                                          <p:spTgt spid="1537"/>
                                        </p:tgtEl>
                                        <p:attrNameLst>
                                          <p:attrName>style.visibility</p:attrName>
                                        </p:attrNameLst>
                                      </p:cBhvr>
                                      <p:to>
                                        <p:strVal val="visible"/>
                                      </p:to>
                                    </p:set>
                                    <p:animEffect filter="fade" transition="in">
                                      <p:cBhvr additive="repl">
                                        <p:cTn id="1828" dur="400"/>
                                        <p:tgtEl>
                                          <p:spTgt spid="1537"/>
                                        </p:tgtEl>
                                      </p:cBhvr>
                                    </p:animEffect>
                                  </p:childTnLst>
                                </p:cTn>
                              </p:par>
                              <p:par>
                                <p:cTn id="1829" nodeType="withEffect" fill="hold" presetClass="entr" presetID="10">
                                  <p:stCondLst>
                                    <p:cond delay="400"/>
                                  </p:stCondLst>
                                  <p:childTnLst>
                                    <p:set>
                                      <p:cBhvr>
                                        <p:cTn id="1830" dur="1" fill="hold">
                                          <p:stCondLst>
                                            <p:cond delay="0"/>
                                          </p:stCondLst>
                                        </p:cTn>
                                        <p:tgtEl>
                                          <p:spTgt spid="1538"/>
                                        </p:tgtEl>
                                        <p:attrNameLst>
                                          <p:attrName>style.visibility</p:attrName>
                                        </p:attrNameLst>
                                      </p:cBhvr>
                                      <p:to>
                                        <p:strVal val="visible"/>
                                      </p:to>
                                    </p:set>
                                    <p:animEffect filter="fade" transition="in">
                                      <p:cBhvr additive="repl">
                                        <p:cTn id="1831" dur="400"/>
                                        <p:tgtEl>
                                          <p:spTgt spid="1538"/>
                                        </p:tgtEl>
                                      </p:cBhvr>
                                    </p:animEffect>
                                  </p:childTnLst>
                                </p:cTn>
                              </p:par>
                              <p:par>
                                <p:cTn id="1832" nodeType="withEffect" fill="hold" presetClass="entr" presetID="10">
                                  <p:stCondLst>
                                    <p:cond delay="400"/>
                                  </p:stCondLst>
                                  <p:childTnLst>
                                    <p:set>
                                      <p:cBhvr>
                                        <p:cTn id="1833" dur="1" fill="hold">
                                          <p:stCondLst>
                                            <p:cond delay="0"/>
                                          </p:stCondLst>
                                        </p:cTn>
                                        <p:tgtEl>
                                          <p:spTgt spid="1539"/>
                                        </p:tgtEl>
                                        <p:attrNameLst>
                                          <p:attrName>style.visibility</p:attrName>
                                        </p:attrNameLst>
                                      </p:cBhvr>
                                      <p:to>
                                        <p:strVal val="visible"/>
                                      </p:to>
                                    </p:set>
                                    <p:animEffect filter="fade" transition="in">
                                      <p:cBhvr additive="repl">
                                        <p:cTn id="1834" dur="400"/>
                                        <p:tgtEl>
                                          <p:spTgt spid="1539"/>
                                        </p:tgtEl>
                                      </p:cBhvr>
                                    </p:animEffect>
                                  </p:childTnLst>
                                </p:cTn>
                              </p:par>
                              <p:par>
                                <p:cTn id="1835" nodeType="withEffect" fill="hold" presetClass="entr" presetID="10">
                                  <p:stCondLst>
                                    <p:cond delay="400"/>
                                  </p:stCondLst>
                                  <p:childTnLst>
                                    <p:set>
                                      <p:cBhvr>
                                        <p:cTn id="1836" dur="1" fill="hold">
                                          <p:stCondLst>
                                            <p:cond delay="0"/>
                                          </p:stCondLst>
                                        </p:cTn>
                                        <p:tgtEl>
                                          <p:spTgt spid="1540"/>
                                        </p:tgtEl>
                                        <p:attrNameLst>
                                          <p:attrName>style.visibility</p:attrName>
                                        </p:attrNameLst>
                                      </p:cBhvr>
                                      <p:to>
                                        <p:strVal val="visible"/>
                                      </p:to>
                                    </p:set>
                                    <p:animEffect filter="fade" transition="in">
                                      <p:cBhvr additive="repl">
                                        <p:cTn id="1837" dur="400"/>
                                        <p:tgtEl>
                                          <p:spTgt spid="1540"/>
                                        </p:tgtEl>
                                      </p:cBhvr>
                                    </p:animEffect>
                                  </p:childTnLst>
                                </p:cTn>
                              </p:par>
                              <p:par>
                                <p:cTn id="1838" nodeType="withEffect" fill="hold" presetClass="entr" presetID="10">
                                  <p:stCondLst>
                                    <p:cond delay="600"/>
                                  </p:stCondLst>
                                  <p:childTnLst>
                                    <p:set>
                                      <p:cBhvr>
                                        <p:cTn id="1839" dur="1" fill="hold">
                                          <p:stCondLst>
                                            <p:cond delay="0"/>
                                          </p:stCondLst>
                                        </p:cTn>
                                        <p:tgtEl>
                                          <p:spTgt spid="1541"/>
                                        </p:tgtEl>
                                        <p:attrNameLst>
                                          <p:attrName>style.visibility</p:attrName>
                                        </p:attrNameLst>
                                      </p:cBhvr>
                                      <p:to>
                                        <p:strVal val="visible"/>
                                      </p:to>
                                    </p:set>
                                    <p:animEffect filter="fade" transition="in">
                                      <p:cBhvr additive="repl">
                                        <p:cTn id="1840" dur="400"/>
                                        <p:tgtEl>
                                          <p:spTgt spid="1541"/>
                                        </p:tgtEl>
                                      </p:cBhvr>
                                    </p:animEffect>
                                  </p:childTnLst>
                                </p:cTn>
                              </p:par>
                              <p:par>
                                <p:cTn id="1841" nodeType="withEffect" fill="hold" presetClass="entr" presetID="10">
                                  <p:stCondLst>
                                    <p:cond delay="600"/>
                                  </p:stCondLst>
                                  <p:childTnLst>
                                    <p:set>
                                      <p:cBhvr>
                                        <p:cTn id="1842" dur="1" fill="hold">
                                          <p:stCondLst>
                                            <p:cond delay="0"/>
                                          </p:stCondLst>
                                        </p:cTn>
                                        <p:tgtEl>
                                          <p:spTgt spid="1542"/>
                                        </p:tgtEl>
                                        <p:attrNameLst>
                                          <p:attrName>style.visibility</p:attrName>
                                        </p:attrNameLst>
                                      </p:cBhvr>
                                      <p:to>
                                        <p:strVal val="visible"/>
                                      </p:to>
                                    </p:set>
                                    <p:animEffect filter="fade" transition="in">
                                      <p:cBhvr additive="repl">
                                        <p:cTn id="1843" dur="400"/>
                                        <p:tgtEl>
                                          <p:spTgt spid="1542"/>
                                        </p:tgtEl>
                                      </p:cBhvr>
                                    </p:animEffect>
                                  </p:childTnLst>
                                </p:cTn>
                              </p:par>
                              <p:par>
                                <p:cTn id="1844" nodeType="withEffect" fill="hold" presetClass="entr" presetID="10">
                                  <p:stCondLst>
                                    <p:cond delay="600"/>
                                  </p:stCondLst>
                                  <p:childTnLst>
                                    <p:set>
                                      <p:cBhvr>
                                        <p:cTn id="1845" dur="1" fill="hold">
                                          <p:stCondLst>
                                            <p:cond delay="0"/>
                                          </p:stCondLst>
                                        </p:cTn>
                                        <p:tgtEl>
                                          <p:spTgt spid="1543"/>
                                        </p:tgtEl>
                                        <p:attrNameLst>
                                          <p:attrName>style.visibility</p:attrName>
                                        </p:attrNameLst>
                                      </p:cBhvr>
                                      <p:to>
                                        <p:strVal val="visible"/>
                                      </p:to>
                                    </p:set>
                                    <p:animEffect filter="fade" transition="in">
                                      <p:cBhvr additive="repl">
                                        <p:cTn id="1846" dur="400"/>
                                        <p:tgtEl>
                                          <p:spTgt spid="1543"/>
                                        </p:tgtEl>
                                      </p:cBhvr>
                                    </p:animEffect>
                                  </p:childTnLst>
                                </p:cTn>
                              </p:par>
                              <p:par>
                                <p:cTn id="1847" nodeType="withEffect" fill="hold" presetClass="entr" presetID="10">
                                  <p:stCondLst>
                                    <p:cond delay="800"/>
                                  </p:stCondLst>
                                  <p:childTnLst>
                                    <p:set>
                                      <p:cBhvr>
                                        <p:cTn id="1848" dur="1" fill="hold">
                                          <p:stCondLst>
                                            <p:cond delay="0"/>
                                          </p:stCondLst>
                                        </p:cTn>
                                        <p:tgtEl>
                                          <p:spTgt spid="1544"/>
                                        </p:tgtEl>
                                        <p:attrNameLst>
                                          <p:attrName>style.visibility</p:attrName>
                                        </p:attrNameLst>
                                      </p:cBhvr>
                                      <p:to>
                                        <p:strVal val="visible"/>
                                      </p:to>
                                    </p:set>
                                    <p:animEffect filter="fade" transition="in">
                                      <p:cBhvr additive="repl">
                                        <p:cTn id="1849" dur="400"/>
                                        <p:tgtEl>
                                          <p:spTgt spid="1544"/>
                                        </p:tgtEl>
                                      </p:cBhvr>
                                    </p:animEffect>
                                  </p:childTnLst>
                                </p:cTn>
                              </p:par>
                              <p:par>
                                <p:cTn id="1850" nodeType="withEffect" fill="hold" presetClass="entr" presetID="10">
                                  <p:stCondLst>
                                    <p:cond delay="800"/>
                                  </p:stCondLst>
                                  <p:childTnLst>
                                    <p:set>
                                      <p:cBhvr>
                                        <p:cTn id="1851" dur="1" fill="hold">
                                          <p:stCondLst>
                                            <p:cond delay="0"/>
                                          </p:stCondLst>
                                        </p:cTn>
                                        <p:tgtEl>
                                          <p:spTgt spid="1545"/>
                                        </p:tgtEl>
                                        <p:attrNameLst>
                                          <p:attrName>style.visibility</p:attrName>
                                        </p:attrNameLst>
                                      </p:cBhvr>
                                      <p:to>
                                        <p:strVal val="visible"/>
                                      </p:to>
                                    </p:set>
                                    <p:animEffect filter="fade" transition="in">
                                      <p:cBhvr additive="repl">
                                        <p:cTn id="1852" dur="400"/>
                                        <p:tgtEl>
                                          <p:spTgt spid="1545"/>
                                        </p:tgtEl>
                                      </p:cBhvr>
                                    </p:animEffect>
                                  </p:childTnLst>
                                </p:cTn>
                              </p:par>
                              <p:par>
                                <p:cTn id="1853" nodeType="withEffect" fill="hold" presetClass="entr" presetID="10">
                                  <p:stCondLst>
                                    <p:cond delay="800"/>
                                  </p:stCondLst>
                                  <p:childTnLst>
                                    <p:set>
                                      <p:cBhvr>
                                        <p:cTn id="1854" dur="1" fill="hold">
                                          <p:stCondLst>
                                            <p:cond delay="0"/>
                                          </p:stCondLst>
                                        </p:cTn>
                                        <p:tgtEl>
                                          <p:spTgt spid="1546"/>
                                        </p:tgtEl>
                                        <p:attrNameLst>
                                          <p:attrName>style.visibility</p:attrName>
                                        </p:attrNameLst>
                                      </p:cBhvr>
                                      <p:to>
                                        <p:strVal val="visible"/>
                                      </p:to>
                                    </p:set>
                                    <p:animEffect filter="fade" transition="in">
                                      <p:cBhvr additive="repl">
                                        <p:cTn id="1855" dur="400"/>
                                        <p:tgtEl>
                                          <p:spTgt spid="1546"/>
                                        </p:tgtEl>
                                      </p:cBhvr>
                                    </p:animEffect>
                                  </p:childTnLst>
                                </p:cTn>
                              </p:par>
                              <p:par>
                                <p:cTn id="1856" nodeType="withEffect" fill="hold" presetClass="entr" presetID="10">
                                  <p:stCondLst>
                                    <p:cond delay="1100"/>
                                  </p:stCondLst>
                                  <p:childTnLst>
                                    <p:set>
                                      <p:cBhvr>
                                        <p:cTn id="1857" dur="1" fill="hold">
                                          <p:stCondLst>
                                            <p:cond delay="0"/>
                                          </p:stCondLst>
                                        </p:cTn>
                                        <p:tgtEl>
                                          <p:spTgt spid="1547"/>
                                        </p:tgtEl>
                                        <p:attrNameLst>
                                          <p:attrName>style.visibility</p:attrName>
                                        </p:attrNameLst>
                                      </p:cBhvr>
                                      <p:to>
                                        <p:strVal val="visible"/>
                                      </p:to>
                                    </p:set>
                                    <p:animEffect filter="fade" transition="in">
                                      <p:cBhvr additive="repl">
                                        <p:cTn id="1858" dur="400"/>
                                        <p:tgtEl>
                                          <p:spTgt spid="1547"/>
                                        </p:tgtEl>
                                      </p:cBhvr>
                                    </p:animEffect>
                                  </p:childTnLst>
                                </p:cTn>
                              </p:par>
                              <p:par>
                                <p:cTn id="1859" nodeType="withEffect" fill="hold" presetClass="entr" presetID="10">
                                  <p:stCondLst>
                                    <p:cond delay="1100"/>
                                  </p:stCondLst>
                                  <p:childTnLst>
                                    <p:set>
                                      <p:cBhvr>
                                        <p:cTn id="1860" dur="1" fill="hold">
                                          <p:stCondLst>
                                            <p:cond delay="0"/>
                                          </p:stCondLst>
                                        </p:cTn>
                                        <p:tgtEl>
                                          <p:spTgt spid="1548"/>
                                        </p:tgtEl>
                                        <p:attrNameLst>
                                          <p:attrName>style.visibility</p:attrName>
                                        </p:attrNameLst>
                                      </p:cBhvr>
                                      <p:to>
                                        <p:strVal val="visible"/>
                                      </p:to>
                                    </p:set>
                                    <p:animEffect filter="fade" transition="in">
                                      <p:cBhvr additive="repl">
                                        <p:cTn id="1861" dur="400"/>
                                        <p:tgtEl>
                                          <p:spTgt spid="1548"/>
                                        </p:tgtEl>
                                      </p:cBhvr>
                                    </p:animEffect>
                                  </p:childTnLst>
                                </p:cTn>
                              </p:par>
                              <p:par>
                                <p:cTn id="1862" nodeType="withEffect" fill="hold" presetClass="entr" presetID="10">
                                  <p:stCondLst>
                                    <p:cond delay="1100"/>
                                  </p:stCondLst>
                                  <p:childTnLst>
                                    <p:set>
                                      <p:cBhvr>
                                        <p:cTn id="1863" dur="1" fill="hold">
                                          <p:stCondLst>
                                            <p:cond delay="0"/>
                                          </p:stCondLst>
                                        </p:cTn>
                                        <p:tgtEl>
                                          <p:spTgt spid="1549"/>
                                        </p:tgtEl>
                                        <p:attrNameLst>
                                          <p:attrName>style.visibility</p:attrName>
                                        </p:attrNameLst>
                                      </p:cBhvr>
                                      <p:to>
                                        <p:strVal val="visible"/>
                                      </p:to>
                                    </p:set>
                                    <p:animEffect filter="fade" transition="in">
                                      <p:cBhvr additive="repl">
                                        <p:cTn id="1864" dur="400"/>
                                        <p:tgtEl>
                                          <p:spTgt spid="1549"/>
                                        </p:tgtEl>
                                      </p:cBhvr>
                                    </p:animEffect>
                                  </p:childTnLst>
                                </p:cTn>
                              </p:par>
                              <p:par>
                                <p:cTn id="1865" nodeType="withEffect" fill="hold" presetClass="entr" presetID="10">
                                  <p:stCondLst>
                                    <p:cond delay="1100"/>
                                  </p:stCondLst>
                                  <p:childTnLst>
                                    <p:set>
                                      <p:cBhvr>
                                        <p:cTn id="1866" dur="1" fill="hold">
                                          <p:stCondLst>
                                            <p:cond delay="0"/>
                                          </p:stCondLst>
                                        </p:cTn>
                                        <p:tgtEl>
                                          <p:spTgt spid="1550"/>
                                        </p:tgtEl>
                                        <p:attrNameLst>
                                          <p:attrName>style.visibility</p:attrName>
                                        </p:attrNameLst>
                                      </p:cBhvr>
                                      <p:to>
                                        <p:strVal val="visible"/>
                                      </p:to>
                                    </p:set>
                                    <p:animEffect filter="fade" transition="in">
                                      <p:cBhvr additive="repl">
                                        <p:cTn id="1867" dur="400"/>
                                        <p:tgtEl>
                                          <p:spTgt spid="1550"/>
                                        </p:tgtEl>
                                      </p:cBhvr>
                                    </p:animEffect>
                                  </p:childTnLst>
                                </p:cTn>
                              </p:par>
                              <p:par>
                                <p:cTn id="1868" nodeType="withEffect" fill="hold" presetClass="entr" presetID="10">
                                  <p:stCondLst>
                                    <p:cond delay="1300"/>
                                  </p:stCondLst>
                                  <p:childTnLst>
                                    <p:set>
                                      <p:cBhvr>
                                        <p:cTn id="1869" dur="1" fill="hold">
                                          <p:stCondLst>
                                            <p:cond delay="0"/>
                                          </p:stCondLst>
                                        </p:cTn>
                                        <p:tgtEl>
                                          <p:spTgt spid="1551"/>
                                        </p:tgtEl>
                                        <p:attrNameLst>
                                          <p:attrName>style.visibility</p:attrName>
                                        </p:attrNameLst>
                                      </p:cBhvr>
                                      <p:to>
                                        <p:strVal val="visible"/>
                                      </p:to>
                                    </p:set>
                                    <p:animEffect filter="fade" transition="in">
                                      <p:cBhvr additive="repl">
                                        <p:cTn id="1870" dur="400"/>
                                        <p:tgtEl>
                                          <p:spTgt spid="1551"/>
                                        </p:tgtEl>
                                      </p:cBhvr>
                                    </p:animEffect>
                                  </p:childTnLst>
                                </p:cTn>
                              </p:par>
                              <p:par>
                                <p:cTn id="1871" nodeType="withEffect" fill="hold" presetClass="entr" presetID="10">
                                  <p:stCondLst>
                                    <p:cond delay="1300"/>
                                  </p:stCondLst>
                                  <p:childTnLst>
                                    <p:set>
                                      <p:cBhvr>
                                        <p:cTn id="1872" dur="1" fill="hold">
                                          <p:stCondLst>
                                            <p:cond delay="0"/>
                                          </p:stCondLst>
                                        </p:cTn>
                                        <p:tgtEl>
                                          <p:spTgt spid="1552"/>
                                        </p:tgtEl>
                                        <p:attrNameLst>
                                          <p:attrName>style.visibility</p:attrName>
                                        </p:attrNameLst>
                                      </p:cBhvr>
                                      <p:to>
                                        <p:strVal val="visible"/>
                                      </p:to>
                                    </p:set>
                                    <p:animEffect filter="fade" transition="in">
                                      <p:cBhvr additive="repl">
                                        <p:cTn id="1873" dur="400"/>
                                        <p:tgtEl>
                                          <p:spTgt spid="1552"/>
                                        </p:tgtEl>
                                      </p:cBhvr>
                                    </p:animEffect>
                                  </p:childTnLst>
                                </p:cTn>
                              </p:par>
                              <p:par>
                                <p:cTn id="1874" nodeType="withEffect" fill="hold" presetClass="entr" presetID="10">
                                  <p:stCondLst>
                                    <p:cond delay="1300"/>
                                  </p:stCondLst>
                                  <p:childTnLst>
                                    <p:set>
                                      <p:cBhvr>
                                        <p:cTn id="1875" dur="1" fill="hold">
                                          <p:stCondLst>
                                            <p:cond delay="0"/>
                                          </p:stCondLst>
                                        </p:cTn>
                                        <p:tgtEl>
                                          <p:spTgt spid="1553"/>
                                        </p:tgtEl>
                                        <p:attrNameLst>
                                          <p:attrName>style.visibility</p:attrName>
                                        </p:attrNameLst>
                                      </p:cBhvr>
                                      <p:to>
                                        <p:strVal val="visible"/>
                                      </p:to>
                                    </p:set>
                                    <p:animEffect filter="fade" transition="in">
                                      <p:cBhvr additive="repl">
                                        <p:cTn id="1876" dur="400"/>
                                        <p:tgtEl>
                                          <p:spTgt spid="1553"/>
                                        </p:tgtEl>
                                      </p:cBhvr>
                                    </p:animEffect>
                                  </p:childTnLst>
                                </p:cTn>
                              </p:par>
                              <p:par>
                                <p:cTn id="1877" nodeType="withEffect" fill="hold" presetClass="entr" presetID="10">
                                  <p:stCondLst>
                                    <p:cond delay="1450"/>
                                  </p:stCondLst>
                                  <p:childTnLst>
                                    <p:set>
                                      <p:cBhvr>
                                        <p:cTn id="1878" dur="1" fill="hold">
                                          <p:stCondLst>
                                            <p:cond delay="0"/>
                                          </p:stCondLst>
                                        </p:cTn>
                                        <p:tgtEl>
                                          <p:spTgt spid="1554"/>
                                        </p:tgtEl>
                                        <p:attrNameLst>
                                          <p:attrName>style.visibility</p:attrName>
                                        </p:attrNameLst>
                                      </p:cBhvr>
                                      <p:to>
                                        <p:strVal val="visible"/>
                                      </p:to>
                                    </p:set>
                                    <p:animEffect filter="fade" transition="in">
                                      <p:cBhvr additive="repl">
                                        <p:cTn id="1879" dur="400"/>
                                        <p:tgtEl>
                                          <p:spTgt spid="1554"/>
                                        </p:tgtEl>
                                      </p:cBhvr>
                                    </p:animEffect>
                                  </p:childTnLst>
                                </p:cTn>
                              </p:par>
                              <p:par>
                                <p:cTn id="1880" nodeType="withEffect" fill="hold" presetClass="entr" presetID="10">
                                  <p:stCondLst>
                                    <p:cond delay="1450"/>
                                  </p:stCondLst>
                                  <p:childTnLst>
                                    <p:set>
                                      <p:cBhvr>
                                        <p:cTn id="1881" dur="1" fill="hold">
                                          <p:stCondLst>
                                            <p:cond delay="0"/>
                                          </p:stCondLst>
                                        </p:cTn>
                                        <p:tgtEl>
                                          <p:spTgt spid="1555"/>
                                        </p:tgtEl>
                                        <p:attrNameLst>
                                          <p:attrName>style.visibility</p:attrName>
                                        </p:attrNameLst>
                                      </p:cBhvr>
                                      <p:to>
                                        <p:strVal val="visible"/>
                                      </p:to>
                                    </p:set>
                                    <p:animEffect filter="fade" transition="in">
                                      <p:cBhvr additive="repl">
                                        <p:cTn id="1882" dur="400"/>
                                        <p:tgtEl>
                                          <p:spTgt spid="1555"/>
                                        </p:tgtEl>
                                      </p:cBhvr>
                                    </p:animEffect>
                                  </p:childTnLst>
                                </p:cTn>
                              </p:par>
                              <p:par>
                                <p:cTn id="1883" nodeType="withEffect" fill="hold" presetClass="entr" presetID="10">
                                  <p:stCondLst>
                                    <p:cond delay="1450"/>
                                  </p:stCondLst>
                                  <p:childTnLst>
                                    <p:set>
                                      <p:cBhvr>
                                        <p:cTn id="1884" dur="1" fill="hold">
                                          <p:stCondLst>
                                            <p:cond delay="0"/>
                                          </p:stCondLst>
                                        </p:cTn>
                                        <p:tgtEl>
                                          <p:spTgt spid="1556"/>
                                        </p:tgtEl>
                                        <p:attrNameLst>
                                          <p:attrName>style.visibility</p:attrName>
                                        </p:attrNameLst>
                                      </p:cBhvr>
                                      <p:to>
                                        <p:strVal val="visible"/>
                                      </p:to>
                                    </p:set>
                                    <p:animEffect filter="fade" transition="in">
                                      <p:cBhvr additive="repl">
                                        <p:cTn id="1885" dur="400"/>
                                        <p:tgtEl>
                                          <p:spTgt spid="1556"/>
                                        </p:tgtEl>
                                      </p:cBhvr>
                                    </p:animEffect>
                                  </p:childTnLst>
                                </p:cTn>
                              </p:par>
                              <p:par>
                                <p:cTn id="1886" nodeType="withEffect" fill="hold" presetClass="entr" presetID="10">
                                  <p:stCondLst>
                                    <p:cond delay="1600"/>
                                  </p:stCondLst>
                                  <p:childTnLst>
                                    <p:set>
                                      <p:cBhvr>
                                        <p:cTn id="1887" dur="1" fill="hold">
                                          <p:stCondLst>
                                            <p:cond delay="0"/>
                                          </p:stCondLst>
                                        </p:cTn>
                                        <p:tgtEl>
                                          <p:spTgt spid="1557"/>
                                        </p:tgtEl>
                                        <p:attrNameLst>
                                          <p:attrName>style.visibility</p:attrName>
                                        </p:attrNameLst>
                                      </p:cBhvr>
                                      <p:to>
                                        <p:strVal val="visible"/>
                                      </p:to>
                                    </p:set>
                                    <p:animEffect filter="fade" transition="in">
                                      <p:cBhvr additive="repl">
                                        <p:cTn id="1888" dur="400"/>
                                        <p:tgtEl>
                                          <p:spTgt spid="1557"/>
                                        </p:tgtEl>
                                      </p:cBhvr>
                                    </p:animEffect>
                                  </p:childTnLst>
                                </p:cTn>
                              </p:par>
                              <p:par>
                                <p:cTn id="1889" nodeType="withEffect" fill="hold" presetClass="entr" presetID="10">
                                  <p:stCondLst>
                                    <p:cond delay="1600"/>
                                  </p:stCondLst>
                                  <p:childTnLst>
                                    <p:set>
                                      <p:cBhvr>
                                        <p:cTn id="1890" dur="1" fill="hold">
                                          <p:stCondLst>
                                            <p:cond delay="0"/>
                                          </p:stCondLst>
                                        </p:cTn>
                                        <p:tgtEl>
                                          <p:spTgt spid="1558"/>
                                        </p:tgtEl>
                                        <p:attrNameLst>
                                          <p:attrName>style.visibility</p:attrName>
                                        </p:attrNameLst>
                                      </p:cBhvr>
                                      <p:to>
                                        <p:strVal val="visible"/>
                                      </p:to>
                                    </p:set>
                                    <p:animEffect filter="fade" transition="in">
                                      <p:cBhvr additive="repl">
                                        <p:cTn id="1891" dur="400"/>
                                        <p:tgtEl>
                                          <p:spTgt spid="1558"/>
                                        </p:tgtEl>
                                      </p:cBhvr>
                                    </p:animEffect>
                                  </p:childTnLst>
                                </p:cTn>
                              </p:par>
                              <p:par>
                                <p:cTn id="1892" nodeType="withEffect" fill="hold" presetClass="entr" presetID="10">
                                  <p:stCondLst>
                                    <p:cond delay="1600"/>
                                  </p:stCondLst>
                                  <p:childTnLst>
                                    <p:set>
                                      <p:cBhvr>
                                        <p:cTn id="1893" dur="1" fill="hold">
                                          <p:stCondLst>
                                            <p:cond delay="0"/>
                                          </p:stCondLst>
                                        </p:cTn>
                                        <p:tgtEl>
                                          <p:spTgt spid="1559"/>
                                        </p:tgtEl>
                                        <p:attrNameLst>
                                          <p:attrName>style.visibility</p:attrName>
                                        </p:attrNameLst>
                                      </p:cBhvr>
                                      <p:to>
                                        <p:strVal val="visible"/>
                                      </p:to>
                                    </p:set>
                                    <p:animEffect filter="fade" transition="in">
                                      <p:cBhvr additive="repl">
                                        <p:cTn id="1894" dur="400"/>
                                        <p:tgtEl>
                                          <p:spTgt spid="1559"/>
                                        </p:tgtEl>
                                      </p:cBhvr>
                                    </p:animEffect>
                                  </p:childTnLst>
                                </p:cTn>
                              </p:par>
                              <p:par>
                                <p:cTn id="1895" nodeType="withEffect" fill="hold" presetClass="entr" presetID="10">
                                  <p:stCondLst>
                                    <p:cond delay="1750"/>
                                  </p:stCondLst>
                                  <p:childTnLst>
                                    <p:set>
                                      <p:cBhvr>
                                        <p:cTn id="1896" dur="1" fill="hold">
                                          <p:stCondLst>
                                            <p:cond delay="0"/>
                                          </p:stCondLst>
                                        </p:cTn>
                                        <p:tgtEl>
                                          <p:spTgt spid="1560"/>
                                        </p:tgtEl>
                                        <p:attrNameLst>
                                          <p:attrName>style.visibility</p:attrName>
                                        </p:attrNameLst>
                                      </p:cBhvr>
                                      <p:to>
                                        <p:strVal val="visible"/>
                                      </p:to>
                                    </p:set>
                                    <p:animEffect filter="fade" transition="in">
                                      <p:cBhvr additive="repl">
                                        <p:cTn id="1897" dur="400"/>
                                        <p:tgtEl>
                                          <p:spTgt spid="1560"/>
                                        </p:tgtEl>
                                      </p:cBhvr>
                                    </p:animEffect>
                                  </p:childTnLst>
                                </p:cTn>
                              </p:par>
                              <p:par>
                                <p:cTn id="1898" nodeType="withEffect" fill="hold" presetClass="entr" presetID="10">
                                  <p:stCondLst>
                                    <p:cond delay="1750"/>
                                  </p:stCondLst>
                                  <p:childTnLst>
                                    <p:set>
                                      <p:cBhvr>
                                        <p:cTn id="1899" dur="1" fill="hold">
                                          <p:stCondLst>
                                            <p:cond delay="0"/>
                                          </p:stCondLst>
                                        </p:cTn>
                                        <p:tgtEl>
                                          <p:spTgt spid="1561"/>
                                        </p:tgtEl>
                                        <p:attrNameLst>
                                          <p:attrName>style.visibility</p:attrName>
                                        </p:attrNameLst>
                                      </p:cBhvr>
                                      <p:to>
                                        <p:strVal val="visible"/>
                                      </p:to>
                                    </p:set>
                                    <p:animEffect filter="fade" transition="in">
                                      <p:cBhvr additive="repl">
                                        <p:cTn id="1900" dur="400"/>
                                        <p:tgtEl>
                                          <p:spTgt spid="1561"/>
                                        </p:tgtEl>
                                      </p:cBhvr>
                                    </p:animEffect>
                                  </p:childTnLst>
                                </p:cTn>
                              </p:par>
                              <p:par>
                                <p:cTn id="1901" nodeType="withEffect" fill="hold" presetClass="entr" presetID="10">
                                  <p:stCondLst>
                                    <p:cond delay="1750"/>
                                  </p:stCondLst>
                                  <p:childTnLst>
                                    <p:set>
                                      <p:cBhvr>
                                        <p:cTn id="1902" dur="1" fill="hold">
                                          <p:stCondLst>
                                            <p:cond delay="0"/>
                                          </p:stCondLst>
                                        </p:cTn>
                                        <p:tgtEl>
                                          <p:spTgt spid="1562"/>
                                        </p:tgtEl>
                                        <p:attrNameLst>
                                          <p:attrName>style.visibility</p:attrName>
                                        </p:attrNameLst>
                                      </p:cBhvr>
                                      <p:to>
                                        <p:strVal val="visible"/>
                                      </p:to>
                                    </p:set>
                                    <p:animEffect filter="fade" transition="in">
                                      <p:cBhvr additive="repl">
                                        <p:cTn id="1903" dur="400"/>
                                        <p:tgtEl>
                                          <p:spTgt spid="1562"/>
                                        </p:tgtEl>
                                      </p:cBhvr>
                                    </p:animEffect>
                                  </p:childTnLst>
                                </p:cTn>
                              </p:par>
                              <p:par>
                                <p:cTn id="1904" nodeType="withEffect" fill="hold" presetClass="entr" presetID="10">
                                  <p:stCondLst>
                                    <p:cond delay="1900"/>
                                  </p:stCondLst>
                                  <p:childTnLst>
                                    <p:set>
                                      <p:cBhvr>
                                        <p:cTn id="1905" dur="1" fill="hold">
                                          <p:stCondLst>
                                            <p:cond delay="0"/>
                                          </p:stCondLst>
                                        </p:cTn>
                                        <p:tgtEl>
                                          <p:spTgt spid="1563"/>
                                        </p:tgtEl>
                                        <p:attrNameLst>
                                          <p:attrName>style.visibility</p:attrName>
                                        </p:attrNameLst>
                                      </p:cBhvr>
                                      <p:to>
                                        <p:strVal val="visible"/>
                                      </p:to>
                                    </p:set>
                                    <p:animEffect filter="fade" transition="in">
                                      <p:cBhvr additive="repl">
                                        <p:cTn id="1906" dur="400"/>
                                        <p:tgtEl>
                                          <p:spTgt spid="1563"/>
                                        </p:tgtEl>
                                      </p:cBhvr>
                                    </p:animEffect>
                                  </p:childTnLst>
                                </p:cTn>
                              </p:par>
                              <p:par>
                                <p:cTn id="1907" nodeType="withEffect" fill="hold" presetClass="entr" presetID="10">
                                  <p:stCondLst>
                                    <p:cond delay="1900"/>
                                  </p:stCondLst>
                                  <p:childTnLst>
                                    <p:set>
                                      <p:cBhvr>
                                        <p:cTn id="1908" dur="1" fill="hold">
                                          <p:stCondLst>
                                            <p:cond delay="0"/>
                                          </p:stCondLst>
                                        </p:cTn>
                                        <p:tgtEl>
                                          <p:spTgt spid="1564"/>
                                        </p:tgtEl>
                                        <p:attrNameLst>
                                          <p:attrName>style.visibility</p:attrName>
                                        </p:attrNameLst>
                                      </p:cBhvr>
                                      <p:to>
                                        <p:strVal val="visible"/>
                                      </p:to>
                                    </p:set>
                                    <p:animEffect filter="fade" transition="in">
                                      <p:cBhvr additive="repl">
                                        <p:cTn id="1909" dur="400"/>
                                        <p:tgtEl>
                                          <p:spTgt spid="1564"/>
                                        </p:tgtEl>
                                      </p:cBhvr>
                                    </p:animEffect>
                                  </p:childTnLst>
                                </p:cTn>
                              </p:par>
                              <p:par>
                                <p:cTn id="1910" nodeType="withEffect" fill="hold" presetClass="entr" presetID="10">
                                  <p:stCondLst>
                                    <p:cond delay="1900"/>
                                  </p:stCondLst>
                                  <p:childTnLst>
                                    <p:set>
                                      <p:cBhvr>
                                        <p:cTn id="1911" dur="1" fill="hold">
                                          <p:stCondLst>
                                            <p:cond delay="0"/>
                                          </p:stCondLst>
                                        </p:cTn>
                                        <p:tgtEl>
                                          <p:spTgt spid="1565"/>
                                        </p:tgtEl>
                                        <p:attrNameLst>
                                          <p:attrName>style.visibility</p:attrName>
                                        </p:attrNameLst>
                                      </p:cBhvr>
                                      <p:to>
                                        <p:strVal val="visible"/>
                                      </p:to>
                                    </p:set>
                                    <p:animEffect filter="fade" transition="in">
                                      <p:cBhvr additive="repl">
                                        <p:cTn id="1912" dur="400"/>
                                        <p:tgtEl>
                                          <p:spTgt spid="15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590" name="o1"/>
          <p:cNvSpPr/>
          <p:nvPr/>
        </p:nvSpPr>
        <p:spPr>
          <a:xfrm>
            <a:off x="274320" y="228600"/>
            <a:ext cx="11642760" cy="5897520"/>
          </a:xfrm>
          <a:prstGeom prst="roundRect">
            <a:avLst>
              <a:gd name="adj" fmla="val 217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91" name="o2"/>
          <p:cNvSpPr/>
          <p:nvPr/>
        </p:nvSpPr>
        <p:spPr>
          <a:xfrm>
            <a:off x="343080" y="297360"/>
            <a:ext cx="11505600" cy="5760360"/>
          </a:xfrm>
          <a:prstGeom prst="roundRect">
            <a:avLst>
              <a:gd name="adj" fmla="val 103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92" name="o3"/>
          <p:cNvSpPr/>
          <p:nvPr/>
        </p:nvSpPr>
        <p:spPr>
          <a:xfrm>
            <a:off x="86868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93" name="o4"/>
          <p:cNvSpPr/>
          <p:nvPr/>
        </p:nvSpPr>
        <p:spPr>
          <a:xfrm>
            <a:off x="93708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94" name="o5"/>
          <p:cNvSpPr/>
          <p:nvPr/>
        </p:nvSpPr>
        <p:spPr>
          <a:xfrm>
            <a:off x="976860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95" name="o6"/>
          <p:cNvSpPr/>
          <p:nvPr/>
        </p:nvSpPr>
        <p:spPr>
          <a:xfrm>
            <a:off x="983700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96" name="o7"/>
          <p:cNvSpPr/>
          <p:nvPr/>
        </p:nvSpPr>
        <p:spPr>
          <a:xfrm>
            <a:off x="86868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97" name="o8"/>
          <p:cNvSpPr/>
          <p:nvPr/>
        </p:nvSpPr>
        <p:spPr>
          <a:xfrm>
            <a:off x="93708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98" name="o9"/>
          <p:cNvSpPr/>
          <p:nvPr/>
        </p:nvSpPr>
        <p:spPr>
          <a:xfrm>
            <a:off x="976860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599" name="o10"/>
          <p:cNvSpPr/>
          <p:nvPr/>
        </p:nvSpPr>
        <p:spPr>
          <a:xfrm>
            <a:off x="983700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600" name="o11" descr="image-2-10.png"/>
          <p:cNvPicPr/>
          <p:nvPr/>
        </p:nvPicPr>
        <p:blipFill>
          <a:blip r:embed="rId1"/>
          <a:stretch/>
        </p:blipFill>
        <p:spPr>
          <a:xfrm>
            <a:off x="5684760" y="777240"/>
            <a:ext cx="822600" cy="822600"/>
          </a:xfrm>
          <a:prstGeom prst="rect">
            <a:avLst/>
          </a:prstGeom>
          <a:ln w="0">
            <a:noFill/>
          </a:ln>
        </p:spPr>
      </p:pic>
      <p:pic>
        <p:nvPicPr>
          <p:cNvPr id="1601" name="o12" descr="LEVEL 2"/>
          <p:cNvPicPr/>
          <p:nvPr/>
        </p:nvPicPr>
        <p:blipFill>
          <a:blip r:embed="rId2"/>
          <a:stretch/>
        </p:blipFill>
        <p:spPr>
          <a:xfrm>
            <a:off x="5263920" y="1828800"/>
            <a:ext cx="1663920" cy="237240"/>
          </a:xfrm>
          <a:prstGeom prst="rect">
            <a:avLst/>
          </a:prstGeom>
          <a:ln w="0">
            <a:noFill/>
          </a:ln>
        </p:spPr>
      </p:pic>
      <p:pic>
        <p:nvPicPr>
          <p:cNvPr id="1602" name="o13" descr="NETTOYAGE"/>
          <p:cNvPicPr/>
          <p:nvPr/>
        </p:nvPicPr>
        <p:blipFill>
          <a:blip r:embed="rId3"/>
          <a:stretch/>
        </p:blipFill>
        <p:spPr>
          <a:xfrm>
            <a:off x="3791520" y="2331720"/>
            <a:ext cx="4608360" cy="511560"/>
          </a:xfrm>
          <a:prstGeom prst="rect">
            <a:avLst/>
          </a:prstGeom>
          <a:ln w="0">
            <a:noFill/>
          </a:ln>
        </p:spPr>
      </p:pic>
      <p:sp>
        <p:nvSpPr>
          <p:cNvPr id="1603" name="o14"/>
          <p:cNvSpPr/>
          <p:nvPr/>
        </p:nvSpPr>
        <p:spPr>
          <a:xfrm>
            <a:off x="1371600" y="3108960"/>
            <a:ext cx="9448200" cy="3052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2000" spc="-1" strike="noStrike">
                <a:solidFill>
                  <a:srgbClr val="c4c4e4"/>
                </a:solidFill>
                <a:latin typeface="Arial"/>
              </a:rPr>
              <a:t>Les nouveaux fantômes de la base 2</a:t>
            </a:r>
            <a:endParaRPr b="0" lang="en-US" sz="2000" spc="-1" strike="noStrike">
              <a:solidFill>
                <a:srgbClr val="ffffff"/>
              </a:solidFill>
              <a:latin typeface="Arial"/>
            </a:endParaRPr>
          </a:p>
        </p:txBody>
      </p:sp>
      <p:pic>
        <p:nvPicPr>
          <p:cNvPr id="1604" name="rangee_sprite" descr="image-1-8.gif"/>
          <p:cNvPicPr/>
          <p:nvPr/>
        </p:nvPicPr>
        <p:blipFill>
          <a:blip r:embed="rId4"/>
          <a:stretch/>
        </p:blipFill>
        <p:spPr>
          <a:xfrm>
            <a:off x="704160" y="3950280"/>
            <a:ext cx="420120" cy="420120"/>
          </a:xfrm>
          <a:prstGeom prst="rect">
            <a:avLst/>
          </a:prstGeom>
          <a:ln w="0">
            <a:noFill/>
          </a:ln>
        </p:spPr>
      </p:pic>
      <p:pic>
        <p:nvPicPr>
          <p:cNvPr id="1605" name="rangee_sprite" descr="image-1-7.gif"/>
          <p:cNvPicPr/>
          <p:nvPr/>
        </p:nvPicPr>
        <p:blipFill>
          <a:blip r:embed="rId5"/>
          <a:stretch/>
        </p:blipFill>
        <p:spPr>
          <a:xfrm>
            <a:off x="1252800" y="3950280"/>
            <a:ext cx="420120" cy="420120"/>
          </a:xfrm>
          <a:prstGeom prst="rect">
            <a:avLst/>
          </a:prstGeom>
          <a:ln w="0">
            <a:noFill/>
          </a:ln>
        </p:spPr>
      </p:pic>
      <p:pic>
        <p:nvPicPr>
          <p:cNvPr id="1606" name="rangee_sprite" descr="image-1-6.gif"/>
          <p:cNvPicPr/>
          <p:nvPr/>
        </p:nvPicPr>
        <p:blipFill>
          <a:blip r:embed="rId6"/>
          <a:stretch/>
        </p:blipFill>
        <p:spPr>
          <a:xfrm>
            <a:off x="1801440" y="3950280"/>
            <a:ext cx="420120" cy="420120"/>
          </a:xfrm>
          <a:prstGeom prst="rect">
            <a:avLst/>
          </a:prstGeom>
          <a:ln w="0">
            <a:noFill/>
          </a:ln>
        </p:spPr>
      </p:pic>
      <p:pic>
        <p:nvPicPr>
          <p:cNvPr id="1607" name="rangee_sprite" descr="image-1-15.gif"/>
          <p:cNvPicPr/>
          <p:nvPr/>
        </p:nvPicPr>
        <p:blipFill>
          <a:blip r:embed="rId7"/>
          <a:stretch/>
        </p:blipFill>
        <p:spPr>
          <a:xfrm>
            <a:off x="2350080" y="3950280"/>
            <a:ext cx="420120" cy="420120"/>
          </a:xfrm>
          <a:prstGeom prst="rect">
            <a:avLst/>
          </a:prstGeom>
          <a:ln w="0">
            <a:noFill/>
          </a:ln>
        </p:spPr>
      </p:pic>
      <p:pic>
        <p:nvPicPr>
          <p:cNvPr id="1608" name="rangee_pacman" descr="image-1-14.gif"/>
          <p:cNvPicPr/>
          <p:nvPr/>
        </p:nvPicPr>
        <p:blipFill>
          <a:blip r:embed="rId8"/>
          <a:stretch/>
        </p:blipFill>
        <p:spPr>
          <a:xfrm>
            <a:off x="2990160" y="3950280"/>
            <a:ext cx="420120" cy="420120"/>
          </a:xfrm>
          <a:prstGeom prst="rect">
            <a:avLst/>
          </a:prstGeom>
          <a:ln w="0">
            <a:noFill/>
          </a:ln>
        </p:spPr>
      </p:pic>
      <p:sp>
        <p:nvSpPr>
          <p:cNvPr id="1609" name="rangee_pastille"/>
          <p:cNvSpPr/>
          <p:nvPr/>
        </p:nvSpPr>
        <p:spPr>
          <a:xfrm>
            <a:off x="36302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0" name="rangee_pastille"/>
          <p:cNvSpPr/>
          <p:nvPr/>
        </p:nvSpPr>
        <p:spPr>
          <a:xfrm>
            <a:off x="39960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1" name="rangee_pastille"/>
          <p:cNvSpPr/>
          <p:nvPr/>
        </p:nvSpPr>
        <p:spPr>
          <a:xfrm>
            <a:off x="43617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2" name="rangee_pastille"/>
          <p:cNvSpPr/>
          <p:nvPr/>
        </p:nvSpPr>
        <p:spPr>
          <a:xfrm>
            <a:off x="47275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3" name="rangee_pastille"/>
          <p:cNvSpPr/>
          <p:nvPr/>
        </p:nvSpPr>
        <p:spPr>
          <a:xfrm>
            <a:off x="50932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4" name="rangee_pastille"/>
          <p:cNvSpPr/>
          <p:nvPr/>
        </p:nvSpPr>
        <p:spPr>
          <a:xfrm>
            <a:off x="54590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5" name="rangee_pastille"/>
          <p:cNvSpPr/>
          <p:nvPr/>
        </p:nvSpPr>
        <p:spPr>
          <a:xfrm>
            <a:off x="58248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6" name="rangee_pastille"/>
          <p:cNvSpPr/>
          <p:nvPr/>
        </p:nvSpPr>
        <p:spPr>
          <a:xfrm>
            <a:off x="61905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7" name="rangee_pastille"/>
          <p:cNvSpPr/>
          <p:nvPr/>
        </p:nvSpPr>
        <p:spPr>
          <a:xfrm>
            <a:off x="65563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8" name="rangee_pastille"/>
          <p:cNvSpPr/>
          <p:nvPr/>
        </p:nvSpPr>
        <p:spPr>
          <a:xfrm>
            <a:off x="69220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19" name="rangee_pastille"/>
          <p:cNvSpPr/>
          <p:nvPr/>
        </p:nvSpPr>
        <p:spPr>
          <a:xfrm>
            <a:off x="72878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20" name="rangee_pastille"/>
          <p:cNvSpPr/>
          <p:nvPr/>
        </p:nvSpPr>
        <p:spPr>
          <a:xfrm>
            <a:off x="76536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21" name="rangee_pastille"/>
          <p:cNvSpPr/>
          <p:nvPr/>
        </p:nvSpPr>
        <p:spPr>
          <a:xfrm>
            <a:off x="80193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22" name="rangee_pastille"/>
          <p:cNvSpPr/>
          <p:nvPr/>
        </p:nvSpPr>
        <p:spPr>
          <a:xfrm>
            <a:off x="83851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23" name="rangee_pastille"/>
          <p:cNvSpPr/>
          <p:nvPr/>
        </p:nvSpPr>
        <p:spPr>
          <a:xfrm>
            <a:off x="87508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24" name="rangee_pastille"/>
          <p:cNvSpPr/>
          <p:nvPr/>
        </p:nvSpPr>
        <p:spPr>
          <a:xfrm>
            <a:off x="91166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625" name="rangee_pastille"/>
          <p:cNvSpPr/>
          <p:nvPr/>
        </p:nvSpPr>
        <p:spPr>
          <a:xfrm>
            <a:off x="94824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pic>
        <p:nvPicPr>
          <p:cNvPr id="1626" name="ready" descr="READY!"/>
          <p:cNvPicPr/>
          <p:nvPr/>
        </p:nvPicPr>
        <p:blipFill>
          <a:blip r:embed="rId9"/>
          <a:stretch/>
        </p:blipFill>
        <p:spPr>
          <a:xfrm>
            <a:off x="5492520" y="4617720"/>
            <a:ext cx="1206720" cy="200880"/>
          </a:xfrm>
          <a:prstGeom prst="rect">
            <a:avLst/>
          </a:prstGeom>
          <a:ln w="0">
            <a:noFill/>
          </a:ln>
        </p:spPr>
      </p:pic>
      <p:pic>
        <p:nvPicPr>
          <p:cNvPr id="1627" name="fin_pastille" descr="image-1-13.gif"/>
          <p:cNvPicPr/>
          <p:nvPr/>
        </p:nvPicPr>
        <p:blipFill>
          <a:blip r:embed="rId10"/>
          <a:stretch/>
        </p:blipFill>
        <p:spPr>
          <a:xfrm>
            <a:off x="11448360" y="6355080"/>
            <a:ext cx="182520" cy="182520"/>
          </a:xfrm>
          <a:prstGeom prst="rect">
            <a:avLst/>
          </a:prstGeom>
          <a:ln w="0">
            <a:noFill/>
          </a:ln>
        </p:spPr>
      </p:pic>
      <p:pic>
        <p:nvPicPr>
          <p:cNvPr id="1628" name="barre_fantome" descr="image.gif"/>
          <p:cNvPicPr/>
          <p:nvPr/>
        </p:nvPicPr>
        <p:blipFill>
          <a:blip r:embed="rId11"/>
          <a:stretch/>
        </p:blipFill>
        <p:spPr>
          <a:xfrm>
            <a:off x="5884056" y="6291000"/>
            <a:ext cx="310680" cy="310680"/>
          </a:xfrm>
          <a:prstGeom prst="rect">
            <a:avLst/>
          </a:prstGeom>
          <a:ln w="0">
            <a:noFill/>
          </a:ln>
        </p:spPr>
      </p:pic>
      <p:sp>
        <p:nvSpPr>
          <p:cNvPr id="1630" name="barre_pastille"/>
          <p:cNvSpPr/>
          <p:nvPr/>
        </p:nvSpPr>
        <p:spPr>
          <a:xfrm>
            <a:off x="6858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1"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0"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1"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2"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3"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4"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5"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6"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7"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8"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39"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40"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41"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42"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43"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44"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45"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46"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47"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629" name="barre_pacman" descr="image.gif"/>
          <p:cNvPicPr/>
          <p:nvPr/>
        </p:nvPicPr>
        <p:blipFill>
          <a:blip r:embed="rId12"/>
          <a:stretch/>
        </p:blipFill>
        <p:spPr>
          <a:xfrm>
            <a:off x="6451056" y="6291000"/>
            <a:ext cx="310680" cy="310680"/>
          </a:xfrm>
          <a:prstGeom prst="rect">
            <a:avLst/>
          </a:prstGeom>
          <a:ln w="0">
            <a:noFill/>
          </a:ln>
        </p:spPr>
      </p:pic>
      <p:sp>
        <p:nvSpPr>
          <p:cNvPr id="1648"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p:transition>
    <p:fade/>
  </p:transition>
  <p:timing>
    <p:tnLst>
      <p:par>
        <p:cTn id="1913" dur="indefinite" restart="never" nodeType="tmRoot">
          <p:childTnLst>
            <p:seq>
              <p:cTn id="1914" dur="indefinite" nodeType="mainSeq">
                <p:childTnLst>
                  <p:par>
                    <p:cTn id="1915" fill="hold">
                      <p:stCondLst>
                        <p:cond delay="0"/>
                      </p:stCondLst>
                      <p:childTnLst>
                        <p:par>
                          <p:cTn id="1916" fill="hold">
                            <p:stCondLst>
                              <p:cond delay="0"/>
                            </p:stCondLst>
                            <p:childTnLst>
                              <p:par>
                                <p:cTn id="1917" nodeType="withEffect" fill="hold" presetClass="path">
                                  <p:stCondLst>
                                    <p:cond delay="0"/>
                                  </p:stCondLst>
                                  <p:childTnLst>
                                    <p:animMotion origin="layout" path="M 0 0 L 0.02252 0 E">
                                      <p:cBhvr>
                                        <p:cTn id="1918" dur="900" fill="hold"/>
                                        <p:tgtEl>
                                          <p:spTgt spid="1628"/>
                                        </p:tgtEl>
                                        <p:attrNameLst>
                                          <p:attrName>ppt_x</p:attrName>
                                          <p:attrName>ppt_y</p:attrName>
                                        </p:attrNameLst>
                                      </p:cBhvr>
                                    </p:animMotion>
                                  </p:childTnLst>
                                </p:cTn>
                              </p:par>
                              <p:par>
                                <p:cTn id="1919" nodeType="withEffect" fill="hold" presetClass="path">
                                  <p:stCondLst>
                                    <p:cond delay="0"/>
                                  </p:stCondLst>
                                  <p:childTnLst>
                                    <p:animMotion origin="layout" path="M 0 0 L 0.02252 0 E">
                                      <p:cBhvr>
                                        <p:cTn id="1920" dur="900" fill="hold"/>
                                        <p:tgtEl>
                                          <p:spTgt spid="1629"/>
                                        </p:tgtEl>
                                        <p:attrNameLst>
                                          <p:attrName>ppt_x</p:attrName>
                                          <p:attrName>ppt_y</p:attrName>
                                        </p:attrNameLst>
                                      </p:cBhvr>
                                    </p:animMotion>
                                  </p:childTnLst>
                                </p:cTn>
                              </p:par>
                              <p:par>
                                <p:cTn id="1921" nodeType="withEffect" fill="hold" presetClass="exit" presetID="1">
                                  <p:stCondLst>
                                    <p:cond delay="88"/>
                                  </p:stCondLst>
                                  <p:childTnLst>
                                    <p:set>
                                      <p:cBhvr>
                                        <p:cTn id="1922" dur="1" fill="hold">
                                          <p:stCondLst>
                                            <p:cond delay="0"/>
                                          </p:stCondLst>
                                        </p:cTn>
                                        <p:tgtEl>
                                          <p:spTgt spid="1630"/>
                                        </p:tgtEl>
                                        <p:attrNameLst>
                                          <p:attrName>style.visibility</p:attrName>
                                        </p:attrNameLst>
                                      </p:cBhvr>
                                      <p:to>
                                        <p:strVal val="hidden"/>
                                      </p:to>
                                    </p:set>
                                  </p:childTnLst>
                                </p:cTn>
                              </p:par>
                              <p:par>
                                <p:cTn id="1923" nodeType="withEffect" fill="hold" presetClass="exit" presetID="1">
                                  <p:stCondLst>
                                    <p:cond delay="858"/>
                                  </p:stCondLst>
                                  <p:childTnLst>
                                    <p:set>
                                      <p:cBhvr>
                                        <p:cTn id="1924" dur="1" fill="hold">
                                          <p:stCondLst>
                                            <p:cond delay="0"/>
                                          </p:stCondLst>
                                        </p:cTn>
                                        <p:tgtEl>
                                          <p:spTgt spid="1631"/>
                                        </p:tgtEl>
                                        <p:attrNameLst>
                                          <p:attrName>style.visibility</p:attrName>
                                        </p:attrNameLst>
                                      </p:cBhvr>
                                      <p:to>
                                        <p:strVal val="hidden"/>
                                      </p:to>
                                    </p:set>
                                  </p:childTnLst>
                                </p:cTn>
                              </p:par>
                              <p:par>
                                <p:cTn id="1925" nodeType="withEffect" fill="hold" presetClass="exit" presetID="1">
                                  <p:stCondLst>
                                    <p:cond delay="900"/>
                                  </p:stCondLst>
                                  <p:childTnLst>
                                    <p:set>
                                      <p:cBhvr>
                                        <p:cTn id="1926" dur="1" fill="hold">
                                          <p:stCondLst>
                                            <p:cond delay="0"/>
                                          </p:stCondLst>
                                        </p:cTn>
                                        <p:tgtEl>
                                          <p:spTgt spid="1626"/>
                                        </p:tgtEl>
                                        <p:attrNameLst>
                                          <p:attrName>style.visibility</p:attrName>
                                        </p:attrNameLst>
                                      </p:cBhvr>
                                      <p:to>
                                        <p:strVal val="hidden"/>
                                      </p:to>
                                    </p:set>
                                  </p:childTnLst>
                                </p:cTn>
                              </p:par>
                              <p:par>
                                <p:cTn id="1927" nodeType="withEffect" fill="hold" presetClass="path">
                                  <p:stCondLst>
                                    <p:cond delay="900"/>
                                  </p:stCondLst>
                                  <p:childTnLst>
                                    <p:animMotion origin="layout" path="M 0 0 L 0.57001 0 E">
                                      <p:cBhvr>
                                        <p:cTn id="1928" dur="2600" fill="hold"/>
                                        <p:tgtEl>
                                          <p:spTgt spid="1604"/>
                                        </p:tgtEl>
                                        <p:attrNameLst>
                                          <p:attrName>ppt_x</p:attrName>
                                          <p:attrName>ppt_y</p:attrName>
                                        </p:attrNameLst>
                                      </p:cBhvr>
                                    </p:animMotion>
                                  </p:childTnLst>
                                </p:cTn>
                              </p:par>
                              <p:par>
                                <p:cTn id="1929" nodeType="withEffect" fill="hold" presetClass="path">
                                  <p:stCondLst>
                                    <p:cond delay="900"/>
                                  </p:stCondLst>
                                  <p:childTnLst>
                                    <p:animMotion origin="layout" path="M 0 0 L 0.57001 0 E">
                                      <p:cBhvr>
                                        <p:cTn id="1930" dur="2600" fill="hold"/>
                                        <p:tgtEl>
                                          <p:spTgt spid="1605"/>
                                        </p:tgtEl>
                                        <p:attrNameLst>
                                          <p:attrName>ppt_x</p:attrName>
                                          <p:attrName>ppt_y</p:attrName>
                                        </p:attrNameLst>
                                      </p:cBhvr>
                                    </p:animMotion>
                                  </p:childTnLst>
                                </p:cTn>
                              </p:par>
                              <p:par>
                                <p:cTn id="1931" nodeType="withEffect" fill="hold" presetClass="path">
                                  <p:stCondLst>
                                    <p:cond delay="900"/>
                                  </p:stCondLst>
                                  <p:childTnLst>
                                    <p:animMotion origin="layout" path="M 0 0 L 0.57001 0 E">
                                      <p:cBhvr>
                                        <p:cTn id="1932" dur="2600" fill="hold"/>
                                        <p:tgtEl>
                                          <p:spTgt spid="1606"/>
                                        </p:tgtEl>
                                        <p:attrNameLst>
                                          <p:attrName>ppt_x</p:attrName>
                                          <p:attrName>ppt_y</p:attrName>
                                        </p:attrNameLst>
                                      </p:cBhvr>
                                    </p:animMotion>
                                  </p:childTnLst>
                                </p:cTn>
                              </p:par>
                              <p:par>
                                <p:cTn id="1933" nodeType="withEffect" fill="hold" presetClass="path">
                                  <p:stCondLst>
                                    <p:cond delay="900"/>
                                  </p:stCondLst>
                                  <p:childTnLst>
                                    <p:animMotion origin="layout" path="M 0 0 L 0.57001 0 E">
                                      <p:cBhvr>
                                        <p:cTn id="1934" dur="2600" fill="hold"/>
                                        <p:tgtEl>
                                          <p:spTgt spid="1607"/>
                                        </p:tgtEl>
                                        <p:attrNameLst>
                                          <p:attrName>ppt_x</p:attrName>
                                          <p:attrName>ppt_y</p:attrName>
                                        </p:attrNameLst>
                                      </p:cBhvr>
                                    </p:animMotion>
                                  </p:childTnLst>
                                </p:cTn>
                              </p:par>
                              <p:par>
                                <p:cTn id="1935" nodeType="withEffect" fill="hold" presetClass="path">
                                  <p:stCondLst>
                                    <p:cond delay="900"/>
                                  </p:stCondLst>
                                  <p:childTnLst>
                                    <p:animMotion origin="layout" path="M 0 0 L 0.57001 0 E">
                                      <p:cBhvr>
                                        <p:cTn id="1936" dur="2600" fill="hold"/>
                                        <p:tgtEl>
                                          <p:spTgt spid="1608"/>
                                        </p:tgtEl>
                                        <p:attrNameLst>
                                          <p:attrName>ppt_x</p:attrName>
                                          <p:attrName>ppt_y</p:attrName>
                                        </p:attrNameLst>
                                      </p:cBhvr>
                                    </p:animMotion>
                                  </p:childTnLst>
                                </p:cTn>
                              </p:par>
                              <p:par>
                                <p:cTn id="1937" nodeType="withEffect" fill="hold" presetClass="exit" presetID="1">
                                  <p:stCondLst>
                                    <p:cond delay="1027"/>
                                  </p:stCondLst>
                                  <p:childTnLst>
                                    <p:set>
                                      <p:cBhvr>
                                        <p:cTn id="1938" dur="1" fill="hold">
                                          <p:stCondLst>
                                            <p:cond delay="0"/>
                                          </p:stCondLst>
                                        </p:cTn>
                                        <p:tgtEl>
                                          <p:spTgt spid="1609"/>
                                        </p:tgtEl>
                                        <p:attrNameLst>
                                          <p:attrName>style.visibility</p:attrName>
                                        </p:attrNameLst>
                                      </p:cBhvr>
                                      <p:to>
                                        <p:strVal val="hidden"/>
                                      </p:to>
                                    </p:set>
                                  </p:childTnLst>
                                </p:cTn>
                              </p:par>
                              <p:par>
                                <p:cTn id="1939" nodeType="withEffect" fill="hold" presetClass="exit" presetID="1">
                                  <p:stCondLst>
                                    <p:cond delay="1163"/>
                                  </p:stCondLst>
                                  <p:childTnLst>
                                    <p:set>
                                      <p:cBhvr>
                                        <p:cTn id="1940" dur="1" fill="hold">
                                          <p:stCondLst>
                                            <p:cond delay="0"/>
                                          </p:stCondLst>
                                        </p:cTn>
                                        <p:tgtEl>
                                          <p:spTgt spid="1610"/>
                                        </p:tgtEl>
                                        <p:attrNameLst>
                                          <p:attrName>style.visibility</p:attrName>
                                        </p:attrNameLst>
                                      </p:cBhvr>
                                      <p:to>
                                        <p:strVal val="hidden"/>
                                      </p:to>
                                    </p:set>
                                  </p:childTnLst>
                                </p:cTn>
                              </p:par>
                              <p:par>
                                <p:cTn id="1941" nodeType="withEffect" fill="hold" presetClass="exit" presetID="1">
                                  <p:stCondLst>
                                    <p:cond delay="1300"/>
                                  </p:stCondLst>
                                  <p:childTnLst>
                                    <p:set>
                                      <p:cBhvr>
                                        <p:cTn id="1942" dur="1" fill="hold">
                                          <p:stCondLst>
                                            <p:cond delay="0"/>
                                          </p:stCondLst>
                                        </p:cTn>
                                        <p:tgtEl>
                                          <p:spTgt spid="1611"/>
                                        </p:tgtEl>
                                        <p:attrNameLst>
                                          <p:attrName>style.visibility</p:attrName>
                                        </p:attrNameLst>
                                      </p:cBhvr>
                                      <p:to>
                                        <p:strVal val="hidden"/>
                                      </p:to>
                                    </p:set>
                                  </p:childTnLst>
                                </p:cTn>
                              </p:par>
                              <p:par>
                                <p:cTn id="1943" nodeType="withEffect" fill="hold" presetClass="exit" presetID="1">
                                  <p:stCondLst>
                                    <p:cond delay="1437"/>
                                  </p:stCondLst>
                                  <p:childTnLst>
                                    <p:set>
                                      <p:cBhvr>
                                        <p:cTn id="1944" dur="1" fill="hold">
                                          <p:stCondLst>
                                            <p:cond delay="0"/>
                                          </p:stCondLst>
                                        </p:cTn>
                                        <p:tgtEl>
                                          <p:spTgt spid="1612"/>
                                        </p:tgtEl>
                                        <p:attrNameLst>
                                          <p:attrName>style.visibility</p:attrName>
                                        </p:attrNameLst>
                                      </p:cBhvr>
                                      <p:to>
                                        <p:strVal val="hidden"/>
                                      </p:to>
                                    </p:set>
                                  </p:childTnLst>
                                </p:cTn>
                              </p:par>
                              <p:par>
                                <p:cTn id="1945" nodeType="withEffect" fill="hold" presetClass="exit" presetID="1">
                                  <p:stCondLst>
                                    <p:cond delay="1574"/>
                                  </p:stCondLst>
                                  <p:childTnLst>
                                    <p:set>
                                      <p:cBhvr>
                                        <p:cTn id="1946" dur="1" fill="hold">
                                          <p:stCondLst>
                                            <p:cond delay="0"/>
                                          </p:stCondLst>
                                        </p:cTn>
                                        <p:tgtEl>
                                          <p:spTgt spid="1613"/>
                                        </p:tgtEl>
                                        <p:attrNameLst>
                                          <p:attrName>style.visibility</p:attrName>
                                        </p:attrNameLst>
                                      </p:cBhvr>
                                      <p:to>
                                        <p:strVal val="hidden"/>
                                      </p:to>
                                    </p:set>
                                  </p:childTnLst>
                                </p:cTn>
                              </p:par>
                              <p:par>
                                <p:cTn id="1947" nodeType="withEffect" fill="hold" presetClass="exit" presetID="1">
                                  <p:stCondLst>
                                    <p:cond delay="1711"/>
                                  </p:stCondLst>
                                  <p:childTnLst>
                                    <p:set>
                                      <p:cBhvr>
                                        <p:cTn id="1948" dur="1" fill="hold">
                                          <p:stCondLst>
                                            <p:cond delay="0"/>
                                          </p:stCondLst>
                                        </p:cTn>
                                        <p:tgtEl>
                                          <p:spTgt spid="1614"/>
                                        </p:tgtEl>
                                        <p:attrNameLst>
                                          <p:attrName>style.visibility</p:attrName>
                                        </p:attrNameLst>
                                      </p:cBhvr>
                                      <p:to>
                                        <p:strVal val="hidden"/>
                                      </p:to>
                                    </p:set>
                                  </p:childTnLst>
                                </p:cTn>
                              </p:par>
                              <p:par>
                                <p:cTn id="1949" nodeType="withEffect" fill="hold" presetClass="exit" presetID="1">
                                  <p:stCondLst>
                                    <p:cond delay="1848"/>
                                  </p:stCondLst>
                                  <p:childTnLst>
                                    <p:set>
                                      <p:cBhvr>
                                        <p:cTn id="1950" dur="1" fill="hold">
                                          <p:stCondLst>
                                            <p:cond delay="0"/>
                                          </p:stCondLst>
                                        </p:cTn>
                                        <p:tgtEl>
                                          <p:spTgt spid="1615"/>
                                        </p:tgtEl>
                                        <p:attrNameLst>
                                          <p:attrName>style.visibility</p:attrName>
                                        </p:attrNameLst>
                                      </p:cBhvr>
                                      <p:to>
                                        <p:strVal val="hidden"/>
                                      </p:to>
                                    </p:set>
                                  </p:childTnLst>
                                </p:cTn>
                              </p:par>
                              <p:par>
                                <p:cTn id="1951" nodeType="withEffect" fill="hold" presetClass="exit" presetID="1">
                                  <p:stCondLst>
                                    <p:cond delay="1984"/>
                                  </p:stCondLst>
                                  <p:childTnLst>
                                    <p:set>
                                      <p:cBhvr>
                                        <p:cTn id="1952" dur="1" fill="hold">
                                          <p:stCondLst>
                                            <p:cond delay="0"/>
                                          </p:stCondLst>
                                        </p:cTn>
                                        <p:tgtEl>
                                          <p:spTgt spid="1616"/>
                                        </p:tgtEl>
                                        <p:attrNameLst>
                                          <p:attrName>style.visibility</p:attrName>
                                        </p:attrNameLst>
                                      </p:cBhvr>
                                      <p:to>
                                        <p:strVal val="hidden"/>
                                      </p:to>
                                    </p:set>
                                  </p:childTnLst>
                                </p:cTn>
                              </p:par>
                              <p:par>
                                <p:cTn id="1953" nodeType="withEffect" fill="hold" presetClass="exit" presetID="1">
                                  <p:stCondLst>
                                    <p:cond delay="2121"/>
                                  </p:stCondLst>
                                  <p:childTnLst>
                                    <p:set>
                                      <p:cBhvr>
                                        <p:cTn id="1954" dur="1" fill="hold">
                                          <p:stCondLst>
                                            <p:cond delay="0"/>
                                          </p:stCondLst>
                                        </p:cTn>
                                        <p:tgtEl>
                                          <p:spTgt spid="1617"/>
                                        </p:tgtEl>
                                        <p:attrNameLst>
                                          <p:attrName>style.visibility</p:attrName>
                                        </p:attrNameLst>
                                      </p:cBhvr>
                                      <p:to>
                                        <p:strVal val="hidden"/>
                                      </p:to>
                                    </p:set>
                                  </p:childTnLst>
                                </p:cTn>
                              </p:par>
                              <p:par>
                                <p:cTn id="1955" nodeType="withEffect" fill="hold" presetClass="exit" presetID="1">
                                  <p:stCondLst>
                                    <p:cond delay="2258"/>
                                  </p:stCondLst>
                                  <p:childTnLst>
                                    <p:set>
                                      <p:cBhvr>
                                        <p:cTn id="1956" dur="1" fill="hold">
                                          <p:stCondLst>
                                            <p:cond delay="0"/>
                                          </p:stCondLst>
                                        </p:cTn>
                                        <p:tgtEl>
                                          <p:spTgt spid="1618"/>
                                        </p:tgtEl>
                                        <p:attrNameLst>
                                          <p:attrName>style.visibility</p:attrName>
                                        </p:attrNameLst>
                                      </p:cBhvr>
                                      <p:to>
                                        <p:strVal val="hidden"/>
                                      </p:to>
                                    </p:set>
                                  </p:childTnLst>
                                </p:cTn>
                              </p:par>
                              <p:par>
                                <p:cTn id="1957" nodeType="withEffect" fill="hold" presetClass="exit" presetID="1">
                                  <p:stCondLst>
                                    <p:cond delay="2395"/>
                                  </p:stCondLst>
                                  <p:childTnLst>
                                    <p:set>
                                      <p:cBhvr>
                                        <p:cTn id="1958" dur="1" fill="hold">
                                          <p:stCondLst>
                                            <p:cond delay="0"/>
                                          </p:stCondLst>
                                        </p:cTn>
                                        <p:tgtEl>
                                          <p:spTgt spid="1619"/>
                                        </p:tgtEl>
                                        <p:attrNameLst>
                                          <p:attrName>style.visibility</p:attrName>
                                        </p:attrNameLst>
                                      </p:cBhvr>
                                      <p:to>
                                        <p:strVal val="hidden"/>
                                      </p:to>
                                    </p:set>
                                  </p:childTnLst>
                                </p:cTn>
                              </p:par>
                              <p:par>
                                <p:cTn id="1959" nodeType="withEffect" fill="hold" presetClass="exit" presetID="1">
                                  <p:stCondLst>
                                    <p:cond delay="2532"/>
                                  </p:stCondLst>
                                  <p:childTnLst>
                                    <p:set>
                                      <p:cBhvr>
                                        <p:cTn id="1960" dur="1" fill="hold">
                                          <p:stCondLst>
                                            <p:cond delay="0"/>
                                          </p:stCondLst>
                                        </p:cTn>
                                        <p:tgtEl>
                                          <p:spTgt spid="1620"/>
                                        </p:tgtEl>
                                        <p:attrNameLst>
                                          <p:attrName>style.visibility</p:attrName>
                                        </p:attrNameLst>
                                      </p:cBhvr>
                                      <p:to>
                                        <p:strVal val="hidden"/>
                                      </p:to>
                                    </p:set>
                                  </p:childTnLst>
                                </p:cTn>
                              </p:par>
                              <p:par>
                                <p:cTn id="1961" nodeType="withEffect" fill="hold" presetClass="exit" presetID="1">
                                  <p:stCondLst>
                                    <p:cond delay="2669"/>
                                  </p:stCondLst>
                                  <p:childTnLst>
                                    <p:set>
                                      <p:cBhvr>
                                        <p:cTn id="1962" dur="1" fill="hold">
                                          <p:stCondLst>
                                            <p:cond delay="0"/>
                                          </p:stCondLst>
                                        </p:cTn>
                                        <p:tgtEl>
                                          <p:spTgt spid="1621"/>
                                        </p:tgtEl>
                                        <p:attrNameLst>
                                          <p:attrName>style.visibility</p:attrName>
                                        </p:attrNameLst>
                                      </p:cBhvr>
                                      <p:to>
                                        <p:strVal val="hidden"/>
                                      </p:to>
                                    </p:set>
                                  </p:childTnLst>
                                </p:cTn>
                              </p:par>
                              <p:par>
                                <p:cTn id="1963" nodeType="withEffect" fill="hold" presetClass="exit" presetID="1">
                                  <p:stCondLst>
                                    <p:cond delay="2806"/>
                                  </p:stCondLst>
                                  <p:childTnLst>
                                    <p:set>
                                      <p:cBhvr>
                                        <p:cTn id="1964" dur="1" fill="hold">
                                          <p:stCondLst>
                                            <p:cond delay="0"/>
                                          </p:stCondLst>
                                        </p:cTn>
                                        <p:tgtEl>
                                          <p:spTgt spid="1622"/>
                                        </p:tgtEl>
                                        <p:attrNameLst>
                                          <p:attrName>style.visibility</p:attrName>
                                        </p:attrNameLst>
                                      </p:cBhvr>
                                      <p:to>
                                        <p:strVal val="hidden"/>
                                      </p:to>
                                    </p:set>
                                  </p:childTnLst>
                                </p:cTn>
                              </p:par>
                              <p:par>
                                <p:cTn id="1965" nodeType="withEffect" fill="hold" presetClass="exit" presetID="1">
                                  <p:stCondLst>
                                    <p:cond delay="2942"/>
                                  </p:stCondLst>
                                  <p:childTnLst>
                                    <p:set>
                                      <p:cBhvr>
                                        <p:cTn id="1966" dur="1" fill="hold">
                                          <p:stCondLst>
                                            <p:cond delay="0"/>
                                          </p:stCondLst>
                                        </p:cTn>
                                        <p:tgtEl>
                                          <p:spTgt spid="1623"/>
                                        </p:tgtEl>
                                        <p:attrNameLst>
                                          <p:attrName>style.visibility</p:attrName>
                                        </p:attrNameLst>
                                      </p:cBhvr>
                                      <p:to>
                                        <p:strVal val="hidden"/>
                                      </p:to>
                                    </p:set>
                                  </p:childTnLst>
                                </p:cTn>
                              </p:par>
                              <p:par>
                                <p:cTn id="1967" nodeType="withEffect" fill="hold" presetClass="exit" presetID="1">
                                  <p:stCondLst>
                                    <p:cond delay="3079"/>
                                  </p:stCondLst>
                                  <p:childTnLst>
                                    <p:set>
                                      <p:cBhvr>
                                        <p:cTn id="1968" dur="1" fill="hold">
                                          <p:stCondLst>
                                            <p:cond delay="0"/>
                                          </p:stCondLst>
                                        </p:cTn>
                                        <p:tgtEl>
                                          <p:spTgt spid="1624"/>
                                        </p:tgtEl>
                                        <p:attrNameLst>
                                          <p:attrName>style.visibility</p:attrName>
                                        </p:attrNameLst>
                                      </p:cBhvr>
                                      <p:to>
                                        <p:strVal val="hidden"/>
                                      </p:to>
                                    </p:set>
                                  </p:childTnLst>
                                </p:cTn>
                              </p:par>
                              <p:par>
                                <p:cTn id="1969" nodeType="withEffect" fill="hold" presetClass="exit" presetID="1">
                                  <p:stCondLst>
                                    <p:cond delay="3216"/>
                                  </p:stCondLst>
                                  <p:childTnLst>
                                    <p:set>
                                      <p:cBhvr>
                                        <p:cTn id="1970" dur="1" fill="hold">
                                          <p:stCondLst>
                                            <p:cond delay="0"/>
                                          </p:stCondLst>
                                        </p:cTn>
                                        <p:tgtEl>
                                          <p:spTgt spid="16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650" name="o1" descr="LEVEL 2 → NETTOYAGE"/>
          <p:cNvPicPr/>
          <p:nvPr/>
        </p:nvPicPr>
        <p:blipFill>
          <a:blip r:embed="rId1"/>
          <a:stretch/>
        </p:blipFill>
        <p:spPr>
          <a:xfrm>
            <a:off x="548640" y="411480"/>
            <a:ext cx="2779560" cy="145800"/>
          </a:xfrm>
          <a:prstGeom prst="rect">
            <a:avLst/>
          </a:prstGeom>
          <a:ln w="0">
            <a:noFill/>
          </a:ln>
        </p:spPr>
      </p:pic>
      <p:pic>
        <p:nvPicPr>
          <p:cNvPr id="1651" name="o2" descr="4 nouveaux fantômes"/>
          <p:cNvPicPr/>
          <p:nvPr/>
        </p:nvPicPr>
        <p:blipFill>
          <a:blip r:embed="rId2"/>
          <a:stretch/>
        </p:blipFill>
        <p:spPr>
          <a:xfrm>
            <a:off x="548640" y="777240"/>
            <a:ext cx="5211720" cy="273960"/>
          </a:xfrm>
          <a:prstGeom prst="rect">
            <a:avLst/>
          </a:prstGeom>
          <a:ln w="0">
            <a:noFill/>
          </a:ln>
        </p:spPr>
      </p:pic>
      <p:pic>
        <p:nvPicPr>
          <p:cNvPr id="1652" name="o3" descr="image-2-10.png"/>
          <p:cNvPicPr/>
          <p:nvPr/>
        </p:nvPicPr>
        <p:blipFill>
          <a:blip r:embed="rId3"/>
          <a:stretch/>
        </p:blipFill>
        <p:spPr>
          <a:xfrm>
            <a:off x="11073240" y="365760"/>
            <a:ext cx="566640" cy="566640"/>
          </a:xfrm>
          <a:prstGeom prst="rect">
            <a:avLst/>
          </a:prstGeom>
          <a:ln w="0">
            <a:noFill/>
          </a:ln>
        </p:spPr>
      </p:pic>
      <p:sp>
        <p:nvSpPr>
          <p:cNvPr id="1653" name="o4"/>
          <p:cNvSpPr/>
          <p:nvPr/>
        </p:nvSpPr>
        <p:spPr>
          <a:xfrm>
            <a:off x="548640" y="1645920"/>
            <a:ext cx="3200040" cy="1874160"/>
          </a:xfrm>
          <a:prstGeom prst="roundRect">
            <a:avLst>
              <a:gd name="adj" fmla="val 6829"/>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654" name="o5"/>
          <p:cNvSpPr/>
          <p:nvPr/>
        </p:nvSpPr>
        <p:spPr>
          <a:xfrm>
            <a:off x="617040" y="1714680"/>
            <a:ext cx="3062880" cy="1737000"/>
          </a:xfrm>
          <a:prstGeom prst="roundRect">
            <a:avLst>
              <a:gd name="adj" fmla="val 342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655" name="carte_peur_0" descr="image-17-7.gif"/>
          <p:cNvPicPr/>
          <p:nvPr/>
        </p:nvPicPr>
        <p:blipFill>
          <a:blip r:embed="rId4"/>
          <a:stretch/>
        </p:blipFill>
        <p:spPr>
          <a:xfrm>
            <a:off x="795600" y="1892880"/>
            <a:ext cx="511560" cy="511560"/>
          </a:xfrm>
          <a:prstGeom prst="rect">
            <a:avLst/>
          </a:prstGeom>
          <a:ln w="0">
            <a:noFill/>
          </a:ln>
        </p:spPr>
      </p:pic>
      <p:pic>
        <p:nvPicPr>
          <p:cNvPr id="1656" name="carte_yeux_0" descr="image-17-7.gif"/>
          <p:cNvPicPr/>
          <p:nvPr/>
        </p:nvPicPr>
        <p:blipFill>
          <a:blip r:embed="rId5"/>
          <a:stretch/>
        </p:blipFill>
        <p:spPr>
          <a:xfrm>
            <a:off x="795600" y="1892880"/>
            <a:ext cx="511560" cy="511560"/>
          </a:xfrm>
          <a:prstGeom prst="rect">
            <a:avLst/>
          </a:prstGeom>
          <a:ln w="0">
            <a:noFill/>
          </a:ln>
        </p:spPr>
      </p:pic>
      <p:pic>
        <p:nvPicPr>
          <p:cNvPr id="1657" name="o8" descr="2 425"/>
          <p:cNvPicPr/>
          <p:nvPr/>
        </p:nvPicPr>
        <p:blipFill>
          <a:blip r:embed="rId6"/>
          <a:stretch/>
        </p:blipFill>
        <p:spPr>
          <a:xfrm>
            <a:off x="1508760" y="1892880"/>
            <a:ext cx="1279800" cy="255600"/>
          </a:xfrm>
          <a:prstGeom prst="rect">
            <a:avLst/>
          </a:prstGeom>
          <a:ln w="0">
            <a:noFill/>
          </a:ln>
        </p:spPr>
      </p:pic>
      <p:sp>
        <p:nvSpPr>
          <p:cNvPr id="1658" name="o9"/>
          <p:cNvSpPr/>
          <p:nvPr/>
        </p:nvSpPr>
        <p:spPr>
          <a:xfrm>
            <a:off x="1508760" y="2249280"/>
            <a:ext cx="210276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ffff"/>
                </a:solidFill>
                <a:latin typeface="Arial"/>
              </a:rPr>
              <a:t>notes « tbd »</a:t>
            </a:r>
            <a:endParaRPr b="0" lang="en-US" sz="1600" spc="-1" strike="noStrike">
              <a:solidFill>
                <a:srgbClr val="ffffff"/>
              </a:solidFill>
              <a:latin typeface="Arial"/>
            </a:endParaRPr>
          </a:p>
        </p:txBody>
      </p:sp>
      <p:sp>
        <p:nvSpPr>
          <p:cNvPr id="1659" name="o10"/>
          <p:cNvSpPr/>
          <p:nvPr/>
        </p:nvSpPr>
        <p:spPr>
          <a:xfrm>
            <a:off x="795600" y="2670120"/>
            <a:ext cx="2742840" cy="427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pas une note mais pas assez de votes : valeur manquante</a:t>
            </a:r>
            <a:endParaRPr b="0" lang="en-US" sz="1400" spc="-1" strike="noStrike">
              <a:solidFill>
                <a:srgbClr val="ffffff"/>
              </a:solidFill>
              <a:latin typeface="Arial"/>
            </a:endParaRPr>
          </a:p>
        </p:txBody>
      </p:sp>
      <p:sp>
        <p:nvSpPr>
          <p:cNvPr id="1660" name="o11"/>
          <p:cNvSpPr/>
          <p:nvPr/>
        </p:nvSpPr>
        <p:spPr>
          <a:xfrm>
            <a:off x="3968640" y="1645920"/>
            <a:ext cx="3200040" cy="1874160"/>
          </a:xfrm>
          <a:prstGeom prst="roundRect">
            <a:avLst>
              <a:gd name="adj" fmla="val 6829"/>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661" name="o12"/>
          <p:cNvSpPr/>
          <p:nvPr/>
        </p:nvSpPr>
        <p:spPr>
          <a:xfrm>
            <a:off x="4037040" y="1714680"/>
            <a:ext cx="3062880" cy="1737000"/>
          </a:xfrm>
          <a:prstGeom prst="roundRect">
            <a:avLst>
              <a:gd name="adj" fmla="val 342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662" name="carte_peur_1" descr="image-17-7.gif"/>
          <p:cNvPicPr/>
          <p:nvPr/>
        </p:nvPicPr>
        <p:blipFill>
          <a:blip r:embed="rId7"/>
          <a:stretch/>
        </p:blipFill>
        <p:spPr>
          <a:xfrm>
            <a:off x="4215240" y="1892880"/>
            <a:ext cx="511560" cy="511560"/>
          </a:xfrm>
          <a:prstGeom prst="rect">
            <a:avLst/>
          </a:prstGeom>
          <a:ln w="0">
            <a:noFill/>
          </a:ln>
        </p:spPr>
      </p:pic>
      <p:pic>
        <p:nvPicPr>
          <p:cNvPr id="1663" name="carte_yeux_1" descr="image-17-7.gif"/>
          <p:cNvPicPr/>
          <p:nvPr/>
        </p:nvPicPr>
        <p:blipFill>
          <a:blip r:embed="rId8"/>
          <a:stretch/>
        </p:blipFill>
        <p:spPr>
          <a:xfrm>
            <a:off x="4215240" y="1892880"/>
            <a:ext cx="511560" cy="511560"/>
          </a:xfrm>
          <a:prstGeom prst="rect">
            <a:avLst/>
          </a:prstGeom>
          <a:ln w="0">
            <a:noFill/>
          </a:ln>
        </p:spPr>
      </p:pic>
      <p:pic>
        <p:nvPicPr>
          <p:cNvPr id="1664" name="o15" descr="51%"/>
          <p:cNvPicPr/>
          <p:nvPr/>
        </p:nvPicPr>
        <p:blipFill>
          <a:blip r:embed="rId9"/>
          <a:stretch/>
        </p:blipFill>
        <p:spPr>
          <a:xfrm>
            <a:off x="4928760" y="1892880"/>
            <a:ext cx="767880" cy="255600"/>
          </a:xfrm>
          <a:prstGeom prst="rect">
            <a:avLst/>
          </a:prstGeom>
          <a:ln w="0">
            <a:noFill/>
          </a:ln>
        </p:spPr>
      </p:pic>
      <p:sp>
        <p:nvSpPr>
          <p:cNvPr id="1665" name="o16"/>
          <p:cNvSpPr/>
          <p:nvPr/>
        </p:nvSpPr>
        <p:spPr>
          <a:xfrm>
            <a:off x="4928760" y="2249280"/>
            <a:ext cx="210276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ffff"/>
                </a:solidFill>
                <a:latin typeface="Arial"/>
              </a:rPr>
              <a:t>sans note presse</a:t>
            </a:r>
            <a:endParaRPr b="0" lang="en-US" sz="1600" spc="-1" strike="noStrike">
              <a:solidFill>
                <a:srgbClr val="ffffff"/>
              </a:solidFill>
              <a:latin typeface="Arial"/>
            </a:endParaRPr>
          </a:p>
        </p:txBody>
      </p:sp>
      <p:sp>
        <p:nvSpPr>
          <p:cNvPr id="1666" name="o17"/>
          <p:cNvSpPr/>
          <p:nvPr/>
        </p:nvSpPr>
        <p:spPr>
          <a:xfrm>
            <a:off x="4215240" y="2670120"/>
            <a:ext cx="2742840" cy="427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non imputées : quasi aucune note avant 2000</a:t>
            </a:r>
            <a:endParaRPr b="0" lang="en-US" sz="1400" spc="-1" strike="noStrike">
              <a:solidFill>
                <a:srgbClr val="ffffff"/>
              </a:solidFill>
              <a:latin typeface="Arial"/>
            </a:endParaRPr>
          </a:p>
        </p:txBody>
      </p:sp>
      <p:sp>
        <p:nvSpPr>
          <p:cNvPr id="1667" name="o18"/>
          <p:cNvSpPr/>
          <p:nvPr/>
        </p:nvSpPr>
        <p:spPr>
          <a:xfrm>
            <a:off x="548640" y="3712320"/>
            <a:ext cx="3200040" cy="1874160"/>
          </a:xfrm>
          <a:prstGeom prst="roundRect">
            <a:avLst>
              <a:gd name="adj" fmla="val 6829"/>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668" name="o19"/>
          <p:cNvSpPr/>
          <p:nvPr/>
        </p:nvSpPr>
        <p:spPr>
          <a:xfrm>
            <a:off x="617040" y="3781080"/>
            <a:ext cx="3062880" cy="1737000"/>
          </a:xfrm>
          <a:prstGeom prst="roundRect">
            <a:avLst>
              <a:gd name="adj" fmla="val 342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669" name="carte_peur_2" descr="image-17-7.gif"/>
          <p:cNvPicPr/>
          <p:nvPr/>
        </p:nvPicPr>
        <p:blipFill>
          <a:blip r:embed="rId10"/>
          <a:stretch/>
        </p:blipFill>
        <p:spPr>
          <a:xfrm>
            <a:off x="795600" y="3959280"/>
            <a:ext cx="511560" cy="511560"/>
          </a:xfrm>
          <a:prstGeom prst="rect">
            <a:avLst/>
          </a:prstGeom>
          <a:ln w="0">
            <a:noFill/>
          </a:ln>
        </p:spPr>
      </p:pic>
      <p:pic>
        <p:nvPicPr>
          <p:cNvPr id="1670" name="carte_yeux_2" descr="image-17-7.gif"/>
          <p:cNvPicPr/>
          <p:nvPr/>
        </p:nvPicPr>
        <p:blipFill>
          <a:blip r:embed="rId11"/>
          <a:stretch/>
        </p:blipFill>
        <p:spPr>
          <a:xfrm>
            <a:off x="795600" y="3959280"/>
            <a:ext cx="511560" cy="511560"/>
          </a:xfrm>
          <a:prstGeom prst="rect">
            <a:avLst/>
          </a:prstGeom>
          <a:ln w="0">
            <a:noFill/>
          </a:ln>
        </p:spPr>
      </p:pic>
      <p:pic>
        <p:nvPicPr>
          <p:cNvPr id="1671" name="o22" descr="6"/>
          <p:cNvPicPr/>
          <p:nvPr/>
        </p:nvPicPr>
        <p:blipFill>
          <a:blip r:embed="rId12"/>
          <a:stretch/>
        </p:blipFill>
        <p:spPr>
          <a:xfrm>
            <a:off x="1508760" y="3959280"/>
            <a:ext cx="255600" cy="255600"/>
          </a:xfrm>
          <a:prstGeom prst="rect">
            <a:avLst/>
          </a:prstGeom>
          <a:ln w="0">
            <a:noFill/>
          </a:ln>
        </p:spPr>
      </p:pic>
      <p:sp>
        <p:nvSpPr>
          <p:cNvPr id="1672" name="o23"/>
          <p:cNvSpPr/>
          <p:nvPr/>
        </p:nvSpPr>
        <p:spPr>
          <a:xfrm>
            <a:off x="1508760" y="4316040"/>
            <a:ext cx="210276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ffff"/>
                </a:solidFill>
                <a:latin typeface="Arial"/>
              </a:rPr>
              <a:t>remakes mal notés</a:t>
            </a:r>
            <a:endParaRPr b="0" lang="en-US" sz="1600" spc="-1" strike="noStrike">
              <a:solidFill>
                <a:srgbClr val="ffffff"/>
              </a:solidFill>
              <a:latin typeface="Arial"/>
            </a:endParaRPr>
          </a:p>
        </p:txBody>
      </p:sp>
      <p:sp>
        <p:nvSpPr>
          <p:cNvPr id="1673" name="o24"/>
          <p:cNvSpPr/>
          <p:nvPr/>
        </p:nvSpPr>
        <p:spPr>
          <a:xfrm>
            <a:off x="795600" y="4736520"/>
            <a:ext cx="2742840" cy="427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NFS Most Wanted 2005 = 2012 : note retirée plutôt que fausse</a:t>
            </a:r>
            <a:endParaRPr b="0" lang="en-US" sz="1400" spc="-1" strike="noStrike">
              <a:solidFill>
                <a:srgbClr val="ffffff"/>
              </a:solidFill>
              <a:latin typeface="Arial"/>
            </a:endParaRPr>
          </a:p>
        </p:txBody>
      </p:sp>
      <p:sp>
        <p:nvSpPr>
          <p:cNvPr id="1674" name="o25"/>
          <p:cNvSpPr/>
          <p:nvPr/>
        </p:nvSpPr>
        <p:spPr>
          <a:xfrm>
            <a:off x="3968640" y="3712320"/>
            <a:ext cx="3200040" cy="1874160"/>
          </a:xfrm>
          <a:prstGeom prst="roundRect">
            <a:avLst>
              <a:gd name="adj" fmla="val 6829"/>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675" name="o26"/>
          <p:cNvSpPr/>
          <p:nvPr/>
        </p:nvSpPr>
        <p:spPr>
          <a:xfrm>
            <a:off x="4037040" y="3781080"/>
            <a:ext cx="3062880" cy="1737000"/>
          </a:xfrm>
          <a:prstGeom prst="roundRect">
            <a:avLst>
              <a:gd name="adj" fmla="val 342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676" name="carte_peur_3" descr="image-17-7.gif"/>
          <p:cNvPicPr/>
          <p:nvPr/>
        </p:nvPicPr>
        <p:blipFill>
          <a:blip r:embed="rId13"/>
          <a:stretch/>
        </p:blipFill>
        <p:spPr>
          <a:xfrm>
            <a:off x="4215240" y="3959280"/>
            <a:ext cx="511560" cy="511560"/>
          </a:xfrm>
          <a:prstGeom prst="rect">
            <a:avLst/>
          </a:prstGeom>
          <a:ln w="0">
            <a:noFill/>
          </a:ln>
        </p:spPr>
      </p:pic>
      <p:pic>
        <p:nvPicPr>
          <p:cNvPr id="1677" name="carte_yeux_3" descr="image-17-7.gif"/>
          <p:cNvPicPr/>
          <p:nvPr/>
        </p:nvPicPr>
        <p:blipFill>
          <a:blip r:embed="rId14"/>
          <a:stretch/>
        </p:blipFill>
        <p:spPr>
          <a:xfrm>
            <a:off x="4215240" y="3959280"/>
            <a:ext cx="511560" cy="511560"/>
          </a:xfrm>
          <a:prstGeom prst="rect">
            <a:avLst/>
          </a:prstGeom>
          <a:ln w="0">
            <a:noFill/>
          </a:ln>
        </p:spPr>
      </p:pic>
      <p:pic>
        <p:nvPicPr>
          <p:cNvPr id="1678" name="o29" descr="114"/>
          <p:cNvPicPr/>
          <p:nvPr/>
        </p:nvPicPr>
        <p:blipFill>
          <a:blip r:embed="rId15"/>
          <a:stretch/>
        </p:blipFill>
        <p:spPr>
          <a:xfrm>
            <a:off x="4928760" y="3959280"/>
            <a:ext cx="767880" cy="255600"/>
          </a:xfrm>
          <a:prstGeom prst="rect">
            <a:avLst/>
          </a:prstGeom>
          <a:ln w="0">
            <a:noFill/>
          </a:ln>
        </p:spPr>
      </p:pic>
      <p:sp>
        <p:nvSpPr>
          <p:cNvPr id="1679" name="o30"/>
          <p:cNvSpPr/>
          <p:nvPr/>
        </p:nvSpPr>
        <p:spPr>
          <a:xfrm>
            <a:off x="4928760" y="4316040"/>
            <a:ext cx="210276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ffff"/>
                </a:solidFill>
                <a:latin typeface="Arial"/>
              </a:rPr>
              <a:t>fiches fusionnées</a:t>
            </a:r>
            <a:endParaRPr b="0" lang="en-US" sz="1600" spc="-1" strike="noStrike">
              <a:solidFill>
                <a:srgbClr val="ffffff"/>
              </a:solidFill>
              <a:latin typeface="Arial"/>
            </a:endParaRPr>
          </a:p>
        </p:txBody>
      </p:sp>
      <p:sp>
        <p:nvSpPr>
          <p:cNvPr id="1680" name="o31"/>
          <p:cNvSpPr/>
          <p:nvPr/>
        </p:nvSpPr>
        <p:spPr>
          <a:xfrm>
            <a:off x="4215240" y="4736520"/>
            <a:ext cx="2742840" cy="427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mêmes règles que la base 1 : mêmes chiffres</a:t>
            </a:r>
            <a:endParaRPr b="0" lang="en-US" sz="1400" spc="-1" strike="noStrike">
              <a:solidFill>
                <a:srgbClr val="ffffff"/>
              </a:solidFill>
              <a:latin typeface="Arial"/>
            </a:endParaRPr>
          </a:p>
        </p:txBody>
      </p:sp>
      <p:pic>
        <p:nvPicPr>
          <p:cNvPr id="1681" name="o32" descr="image-8-19.gif"/>
          <p:cNvPicPr/>
          <p:nvPr/>
        </p:nvPicPr>
        <p:blipFill>
          <a:blip r:embed="rId16"/>
          <a:stretch/>
        </p:blipFill>
        <p:spPr>
          <a:xfrm>
            <a:off x="8732520" y="1645920"/>
            <a:ext cx="1142640" cy="1142640"/>
          </a:xfrm>
          <a:prstGeom prst="rect">
            <a:avLst/>
          </a:prstGeom>
          <a:ln w="0">
            <a:noFill/>
          </a:ln>
        </p:spPr>
      </p:pic>
      <p:pic>
        <p:nvPicPr>
          <p:cNvPr id="1682" name="o33" descr="16 447"/>
          <p:cNvPicPr/>
          <p:nvPr/>
        </p:nvPicPr>
        <p:blipFill>
          <a:blip r:embed="rId17"/>
          <a:stretch/>
        </p:blipFill>
        <p:spPr>
          <a:xfrm>
            <a:off x="8494920" y="3154680"/>
            <a:ext cx="2304000" cy="383760"/>
          </a:xfrm>
          <a:prstGeom prst="rect">
            <a:avLst/>
          </a:prstGeom>
          <a:ln w="0">
            <a:noFill/>
          </a:ln>
        </p:spPr>
      </p:pic>
      <p:sp>
        <p:nvSpPr>
          <p:cNvPr id="1683" name="o34"/>
          <p:cNvSpPr/>
          <p:nvPr/>
        </p:nvSpPr>
        <p:spPr>
          <a:xfrm>
            <a:off x="7680960" y="3675960"/>
            <a:ext cx="3931560" cy="2440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600" spc="-1" strike="noStrike">
                <a:solidFill>
                  <a:srgbClr val="c4c4e4"/>
                </a:solidFill>
                <a:latin typeface="Arial"/>
              </a:rPr>
              <a:t>jeux propres</a:t>
            </a:r>
            <a:endParaRPr b="0" lang="en-US" sz="1600" spc="-1" strike="noStrike">
              <a:solidFill>
                <a:srgbClr val="ffffff"/>
              </a:solidFill>
              <a:latin typeface="Arial"/>
            </a:endParaRPr>
          </a:p>
        </p:txBody>
      </p:sp>
      <p:sp>
        <p:nvSpPr>
          <p:cNvPr id="1684" name="o35"/>
          <p:cNvSpPr/>
          <p:nvPr/>
        </p:nvSpPr>
        <p:spPr>
          <a:xfrm>
            <a:off x="7680960" y="4160520"/>
            <a:ext cx="3931560" cy="3052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2000" spc="-1" strike="noStrike">
                <a:solidFill>
                  <a:srgbClr val="ffffff"/>
                </a:solidFill>
                <a:latin typeface="Arial"/>
              </a:rPr>
              <a:t>16 719 → 16 447 lignes</a:t>
            </a:r>
            <a:endParaRPr b="0" lang="en-US" sz="2000" spc="-1" strike="noStrike">
              <a:solidFill>
                <a:srgbClr val="ffffff"/>
              </a:solidFill>
              <a:latin typeface="Arial"/>
            </a:endParaRPr>
          </a:p>
        </p:txBody>
      </p:sp>
      <p:sp>
        <p:nvSpPr>
          <p:cNvPr id="1685" name="o36"/>
          <p:cNvSpPr/>
          <p:nvPr/>
        </p:nvSpPr>
        <p:spPr>
          <a:xfrm>
            <a:off x="7680960" y="4617720"/>
            <a:ext cx="3931560" cy="1987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1300" spc="-1" strike="noStrike">
                <a:solidFill>
                  <a:srgbClr val="c4c4e4"/>
                </a:solidFill>
                <a:latin typeface="Arial"/>
              </a:rPr>
              <a:t>8 061 notes presse · 7 528 notes joueurs</a:t>
            </a:r>
            <a:endParaRPr b="0" lang="en-US" sz="1300" spc="-1" strike="noStrike">
              <a:solidFill>
                <a:srgbClr val="ffffff"/>
              </a:solidFill>
              <a:latin typeface="Arial"/>
            </a:endParaRPr>
          </a:p>
        </p:txBody>
      </p:sp>
      <p:sp>
        <p:nvSpPr>
          <p:cNvPr id="1686" name="o37"/>
          <p:cNvSpPr/>
          <p:nvPr/>
        </p:nvSpPr>
        <p:spPr>
          <a:xfrm>
            <a:off x="7680960" y="5120640"/>
            <a:ext cx="3931560" cy="4273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i="1" lang="en-US" sz="1400" spc="-1" strike="noStrike">
                <a:solidFill>
                  <a:srgbClr val="7c7caa"/>
                </a:solidFill>
                <a:latin typeface="Arial"/>
              </a:rPr>
              <a:t>Mêmes règles, mêmes chiffres : le nettoyage de la base 1 est validé</a:t>
            </a:r>
            <a:endParaRPr b="0" lang="en-US" sz="1400" spc="-1" strike="noStrike">
              <a:solidFill>
                <a:srgbClr val="ffffff"/>
              </a:solidFill>
              <a:latin typeface="Arial"/>
            </a:endParaRPr>
          </a:p>
        </p:txBody>
      </p:sp>
      <p:pic>
        <p:nvPicPr>
          <p:cNvPr id="1687" name="fin_pastille" descr="image-1-13.gif"/>
          <p:cNvPicPr/>
          <p:nvPr/>
        </p:nvPicPr>
        <p:blipFill>
          <a:blip r:embed="rId18"/>
          <a:stretch/>
        </p:blipFill>
        <p:spPr>
          <a:xfrm>
            <a:off x="11448360" y="6355080"/>
            <a:ext cx="182520" cy="182520"/>
          </a:xfrm>
          <a:prstGeom prst="rect">
            <a:avLst/>
          </a:prstGeom>
          <a:ln w="0">
            <a:noFill/>
          </a:ln>
        </p:spPr>
      </p:pic>
      <p:pic>
        <p:nvPicPr>
          <p:cNvPr id="1688" name="barre_fantome" descr="image.gif"/>
          <p:cNvPicPr/>
          <p:nvPr/>
        </p:nvPicPr>
        <p:blipFill>
          <a:blip r:embed="rId19"/>
          <a:stretch/>
        </p:blipFill>
        <p:spPr>
          <a:xfrm>
            <a:off x="6158592" y="6291000"/>
            <a:ext cx="310680" cy="310680"/>
          </a:xfrm>
          <a:prstGeom prst="rect">
            <a:avLst/>
          </a:prstGeom>
          <a:ln w="0">
            <a:noFill/>
          </a:ln>
        </p:spPr>
      </p:pic>
      <p:sp>
        <p:nvSpPr>
          <p:cNvPr id="1690" name="barre_pastille"/>
          <p:cNvSpPr/>
          <p:nvPr/>
        </p:nvSpPr>
        <p:spPr>
          <a:xfrm>
            <a:off x="7086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0"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1"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2"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3"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4"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5"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6"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7"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8"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699"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00"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01"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02"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03"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04"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05"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06"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07"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689" name="barre_pacman" descr="image.gif"/>
          <p:cNvPicPr/>
          <p:nvPr/>
        </p:nvPicPr>
        <p:blipFill>
          <a:blip r:embed="rId20"/>
          <a:stretch/>
        </p:blipFill>
        <p:spPr>
          <a:xfrm>
            <a:off x="6725592" y="6291000"/>
            <a:ext cx="310680" cy="310680"/>
          </a:xfrm>
          <a:prstGeom prst="rect">
            <a:avLst/>
          </a:prstGeom>
          <a:ln w="0">
            <a:noFill/>
          </a:ln>
        </p:spPr>
      </p:pic>
      <p:sp>
        <p:nvSpPr>
          <p:cNvPr id="1708"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p:transition>
    <p:fade/>
  </p:transition>
  <p:timing>
    <p:tnLst>
      <p:par>
        <p:cTn id="1971" dur="indefinite" restart="never" nodeType="tmRoot">
          <p:childTnLst>
            <p:seq>
              <p:cTn id="1972" dur="indefinite" nodeType="mainSeq">
                <p:childTnLst>
                  <p:par>
                    <p:cTn id="1973" fill="hold">
                      <p:stCondLst>
                        <p:cond delay="0"/>
                      </p:stCondLst>
                      <p:childTnLst>
                        <p:par>
                          <p:cTn id="1974" fill="hold">
                            <p:stCondLst>
                              <p:cond delay="0"/>
                            </p:stCondLst>
                            <p:childTnLst>
                              <p:par>
                                <p:cTn id="1975" nodeType="withEffect" fill="hold" presetClass="path">
                                  <p:stCondLst>
                                    <p:cond delay="0"/>
                                  </p:stCondLst>
                                  <p:childTnLst>
                                    <p:animMotion origin="layout" path="M 0 0 L 0.02252 0 E">
                                      <p:cBhvr>
                                        <p:cTn id="1976" dur="900" fill="hold"/>
                                        <p:tgtEl>
                                          <p:spTgt spid="1688"/>
                                        </p:tgtEl>
                                        <p:attrNameLst>
                                          <p:attrName>ppt_x</p:attrName>
                                          <p:attrName>ppt_y</p:attrName>
                                        </p:attrNameLst>
                                      </p:cBhvr>
                                    </p:animMotion>
                                  </p:childTnLst>
                                </p:cTn>
                              </p:par>
                              <p:par>
                                <p:cTn id="1977" nodeType="withEffect" fill="hold" presetClass="path">
                                  <p:stCondLst>
                                    <p:cond delay="0"/>
                                  </p:stCondLst>
                                  <p:childTnLst>
                                    <p:animMotion origin="layout" path="M 0 0 L 0.02252 0 E">
                                      <p:cBhvr>
                                        <p:cTn id="1978" dur="900" fill="hold"/>
                                        <p:tgtEl>
                                          <p:spTgt spid="1689"/>
                                        </p:tgtEl>
                                        <p:attrNameLst>
                                          <p:attrName>ppt_x</p:attrName>
                                          <p:attrName>ppt_y</p:attrName>
                                        </p:attrNameLst>
                                      </p:cBhvr>
                                    </p:animMotion>
                                  </p:childTnLst>
                                </p:cTn>
                              </p:par>
                              <p:par>
                                <p:cTn id="1979" nodeType="withEffect" fill="hold" presetClass="exit" presetID="1">
                                  <p:stCondLst>
                                    <p:cond delay="729"/>
                                  </p:stCondLst>
                                  <p:childTnLst>
                                    <p:set>
                                      <p:cBhvr>
                                        <p:cTn id="1980" dur="1" fill="hold">
                                          <p:stCondLst>
                                            <p:cond delay="0"/>
                                          </p:stCondLst>
                                        </p:cTn>
                                        <p:tgtEl>
                                          <p:spTgt spid="1690"/>
                                        </p:tgtEl>
                                        <p:attrNameLst>
                                          <p:attrName>style.visibility</p:attrName>
                                        </p:attrNameLst>
                                      </p:cBhvr>
                                      <p:to>
                                        <p:strVal val="hidden"/>
                                      </p:to>
                                    </p:set>
                                  </p:childTnLst>
                                </p:cTn>
                              </p:par>
                              <p:par>
                                <p:cTn id="1981" nodeType="withEffect" fill="hold" presetClass="exit" presetID="1">
                                  <p:stCondLst>
                                    <p:cond delay="1600"/>
                                  </p:stCondLst>
                                  <p:childTnLst>
                                    <p:set>
                                      <p:cBhvr>
                                        <p:cTn id="1982" dur="1" fill="hold">
                                          <p:stCondLst>
                                            <p:cond delay="0"/>
                                          </p:stCondLst>
                                        </p:cTn>
                                        <p:tgtEl>
                                          <p:spTgt spid="1655"/>
                                        </p:tgtEl>
                                        <p:attrNameLst>
                                          <p:attrName>style.visibility</p:attrName>
                                        </p:attrNameLst>
                                      </p:cBhvr>
                                      <p:to>
                                        <p:strVal val="hidden"/>
                                      </p:to>
                                    </p:set>
                                  </p:childTnLst>
                                </p:cTn>
                              </p:par>
                              <p:par>
                                <p:cTn id="1983" nodeType="withEffect" fill="hold" presetClass="entr" presetID="1">
                                  <p:stCondLst>
                                    <p:cond delay="1600"/>
                                  </p:stCondLst>
                                  <p:childTnLst>
                                    <p:set>
                                      <p:cBhvr>
                                        <p:cTn id="1984" dur="1" fill="hold">
                                          <p:stCondLst>
                                            <p:cond delay="0"/>
                                          </p:stCondLst>
                                        </p:cTn>
                                        <p:tgtEl>
                                          <p:spTgt spid="1656"/>
                                        </p:tgtEl>
                                        <p:attrNameLst>
                                          <p:attrName>style.visibility</p:attrName>
                                        </p:attrNameLst>
                                      </p:cBhvr>
                                      <p:to>
                                        <p:strVal val="visible"/>
                                      </p:to>
                                    </p:set>
                                  </p:childTnLst>
                                </p:cTn>
                              </p:par>
                              <p:par>
                                <p:cTn id="1985" nodeType="withEffect" fill="hold" presetClass="exit" presetID="1">
                                  <p:stCondLst>
                                    <p:cond delay="1950"/>
                                  </p:stCondLst>
                                  <p:childTnLst>
                                    <p:set>
                                      <p:cBhvr>
                                        <p:cTn id="1986" dur="1" fill="hold">
                                          <p:stCondLst>
                                            <p:cond delay="0"/>
                                          </p:stCondLst>
                                        </p:cTn>
                                        <p:tgtEl>
                                          <p:spTgt spid="1662"/>
                                        </p:tgtEl>
                                        <p:attrNameLst>
                                          <p:attrName>style.visibility</p:attrName>
                                        </p:attrNameLst>
                                      </p:cBhvr>
                                      <p:to>
                                        <p:strVal val="hidden"/>
                                      </p:to>
                                    </p:set>
                                  </p:childTnLst>
                                </p:cTn>
                              </p:par>
                              <p:par>
                                <p:cTn id="1987" nodeType="withEffect" fill="hold" presetClass="entr" presetID="1">
                                  <p:stCondLst>
                                    <p:cond delay="1950"/>
                                  </p:stCondLst>
                                  <p:childTnLst>
                                    <p:set>
                                      <p:cBhvr>
                                        <p:cTn id="1988" dur="1" fill="hold">
                                          <p:stCondLst>
                                            <p:cond delay="0"/>
                                          </p:stCondLst>
                                        </p:cTn>
                                        <p:tgtEl>
                                          <p:spTgt spid="1663"/>
                                        </p:tgtEl>
                                        <p:attrNameLst>
                                          <p:attrName>style.visibility</p:attrName>
                                        </p:attrNameLst>
                                      </p:cBhvr>
                                      <p:to>
                                        <p:strVal val="visible"/>
                                      </p:to>
                                    </p:set>
                                  </p:childTnLst>
                                </p:cTn>
                              </p:par>
                              <p:par>
                                <p:cTn id="1989" nodeType="withEffect" fill="hold" presetClass="exit" presetID="1">
                                  <p:stCondLst>
                                    <p:cond delay="2300"/>
                                  </p:stCondLst>
                                  <p:childTnLst>
                                    <p:set>
                                      <p:cBhvr>
                                        <p:cTn id="1990" dur="1" fill="hold">
                                          <p:stCondLst>
                                            <p:cond delay="0"/>
                                          </p:stCondLst>
                                        </p:cTn>
                                        <p:tgtEl>
                                          <p:spTgt spid="1669"/>
                                        </p:tgtEl>
                                        <p:attrNameLst>
                                          <p:attrName>style.visibility</p:attrName>
                                        </p:attrNameLst>
                                      </p:cBhvr>
                                      <p:to>
                                        <p:strVal val="hidden"/>
                                      </p:to>
                                    </p:set>
                                  </p:childTnLst>
                                </p:cTn>
                              </p:par>
                              <p:par>
                                <p:cTn id="1991" nodeType="withEffect" fill="hold" presetClass="entr" presetID="1">
                                  <p:stCondLst>
                                    <p:cond delay="2300"/>
                                  </p:stCondLst>
                                  <p:childTnLst>
                                    <p:set>
                                      <p:cBhvr>
                                        <p:cTn id="1992" dur="1" fill="hold">
                                          <p:stCondLst>
                                            <p:cond delay="0"/>
                                          </p:stCondLst>
                                        </p:cTn>
                                        <p:tgtEl>
                                          <p:spTgt spid="1670"/>
                                        </p:tgtEl>
                                        <p:attrNameLst>
                                          <p:attrName>style.visibility</p:attrName>
                                        </p:attrNameLst>
                                      </p:cBhvr>
                                      <p:to>
                                        <p:strVal val="visible"/>
                                      </p:to>
                                    </p:set>
                                  </p:childTnLst>
                                </p:cTn>
                              </p:par>
                              <p:par>
                                <p:cTn id="1993" nodeType="withEffect" fill="hold" presetClass="exit" presetID="1">
                                  <p:stCondLst>
                                    <p:cond delay="2650"/>
                                  </p:stCondLst>
                                  <p:childTnLst>
                                    <p:set>
                                      <p:cBhvr>
                                        <p:cTn id="1994" dur="1" fill="hold">
                                          <p:stCondLst>
                                            <p:cond delay="0"/>
                                          </p:stCondLst>
                                        </p:cTn>
                                        <p:tgtEl>
                                          <p:spTgt spid="1676"/>
                                        </p:tgtEl>
                                        <p:attrNameLst>
                                          <p:attrName>style.visibility</p:attrName>
                                        </p:attrNameLst>
                                      </p:cBhvr>
                                      <p:to>
                                        <p:strVal val="hidden"/>
                                      </p:to>
                                    </p:set>
                                  </p:childTnLst>
                                </p:cTn>
                              </p:par>
                              <p:par>
                                <p:cTn id="1995" nodeType="withEffect" fill="hold" presetClass="entr" presetID="1">
                                  <p:stCondLst>
                                    <p:cond delay="2650"/>
                                  </p:stCondLst>
                                  <p:childTnLst>
                                    <p:set>
                                      <p:cBhvr>
                                        <p:cTn id="1996" dur="1" fill="hold">
                                          <p:stCondLst>
                                            <p:cond delay="0"/>
                                          </p:stCondLst>
                                        </p:cTn>
                                        <p:tgtEl>
                                          <p:spTgt spid="1677"/>
                                        </p:tgtEl>
                                        <p:attrNameLst>
                                          <p:attrName>style.visibility</p:attrName>
                                        </p:attrNameLst>
                                      </p:cBhvr>
                                      <p:to>
                                        <p:strVal val="visible"/>
                                      </p:to>
                                    </p:set>
                                  </p:childTnLst>
                                </p:cTn>
                              </p:par>
                              <p:par>
                                <p:cTn id="1997" nodeType="withEffect" fill="hold" presetClass="entr" presetID="10">
                                  <p:stCondLst>
                                    <p:cond delay="150"/>
                                  </p:stCondLst>
                                  <p:childTnLst>
                                    <p:set>
                                      <p:cBhvr>
                                        <p:cTn id="1998" dur="1" fill="hold">
                                          <p:stCondLst>
                                            <p:cond delay="0"/>
                                          </p:stCondLst>
                                        </p:cTn>
                                        <p:tgtEl>
                                          <p:spTgt spid="1653"/>
                                        </p:tgtEl>
                                        <p:attrNameLst>
                                          <p:attrName>style.visibility</p:attrName>
                                        </p:attrNameLst>
                                      </p:cBhvr>
                                      <p:to>
                                        <p:strVal val="visible"/>
                                      </p:to>
                                    </p:set>
                                    <p:animEffect filter="fade" transition="in">
                                      <p:cBhvr additive="repl">
                                        <p:cTn id="1999" dur="400"/>
                                        <p:tgtEl>
                                          <p:spTgt spid="1653"/>
                                        </p:tgtEl>
                                      </p:cBhvr>
                                    </p:animEffect>
                                  </p:childTnLst>
                                </p:cTn>
                              </p:par>
                              <p:par>
                                <p:cTn id="2000" nodeType="withEffect" fill="hold" presetClass="entr" presetID="10">
                                  <p:stCondLst>
                                    <p:cond delay="150"/>
                                  </p:stCondLst>
                                  <p:childTnLst>
                                    <p:set>
                                      <p:cBhvr>
                                        <p:cTn id="2001" dur="1" fill="hold">
                                          <p:stCondLst>
                                            <p:cond delay="0"/>
                                          </p:stCondLst>
                                        </p:cTn>
                                        <p:tgtEl>
                                          <p:spTgt spid="1654"/>
                                        </p:tgtEl>
                                        <p:attrNameLst>
                                          <p:attrName>style.visibility</p:attrName>
                                        </p:attrNameLst>
                                      </p:cBhvr>
                                      <p:to>
                                        <p:strVal val="visible"/>
                                      </p:to>
                                    </p:set>
                                    <p:animEffect filter="fade" transition="in">
                                      <p:cBhvr additive="repl">
                                        <p:cTn id="2002" dur="400"/>
                                        <p:tgtEl>
                                          <p:spTgt spid="1654"/>
                                        </p:tgtEl>
                                      </p:cBhvr>
                                    </p:animEffect>
                                  </p:childTnLst>
                                </p:cTn>
                              </p:par>
                              <p:par>
                                <p:cTn id="2003" nodeType="withEffect" fill="hold" presetClass="entr" presetID="10">
                                  <p:stCondLst>
                                    <p:cond delay="150"/>
                                  </p:stCondLst>
                                  <p:childTnLst>
                                    <p:set>
                                      <p:cBhvr>
                                        <p:cTn id="2004" dur="1" fill="hold">
                                          <p:stCondLst>
                                            <p:cond delay="0"/>
                                          </p:stCondLst>
                                        </p:cTn>
                                        <p:tgtEl>
                                          <p:spTgt spid="1655"/>
                                        </p:tgtEl>
                                        <p:attrNameLst>
                                          <p:attrName>style.visibility</p:attrName>
                                        </p:attrNameLst>
                                      </p:cBhvr>
                                      <p:to>
                                        <p:strVal val="visible"/>
                                      </p:to>
                                    </p:set>
                                    <p:animEffect filter="fade" transition="in">
                                      <p:cBhvr additive="repl">
                                        <p:cTn id="2005" dur="400"/>
                                        <p:tgtEl>
                                          <p:spTgt spid="1655"/>
                                        </p:tgtEl>
                                      </p:cBhvr>
                                    </p:animEffect>
                                  </p:childTnLst>
                                </p:cTn>
                              </p:par>
                              <p:par>
                                <p:cTn id="2006" nodeType="withEffect" fill="hold" presetClass="entr" presetID="10">
                                  <p:stCondLst>
                                    <p:cond delay="150"/>
                                  </p:stCondLst>
                                  <p:childTnLst>
                                    <p:set>
                                      <p:cBhvr>
                                        <p:cTn id="2007" dur="1" fill="hold">
                                          <p:stCondLst>
                                            <p:cond delay="0"/>
                                          </p:stCondLst>
                                        </p:cTn>
                                        <p:tgtEl>
                                          <p:spTgt spid="1657"/>
                                        </p:tgtEl>
                                        <p:attrNameLst>
                                          <p:attrName>style.visibility</p:attrName>
                                        </p:attrNameLst>
                                      </p:cBhvr>
                                      <p:to>
                                        <p:strVal val="visible"/>
                                      </p:to>
                                    </p:set>
                                    <p:animEffect filter="fade" transition="in">
                                      <p:cBhvr additive="repl">
                                        <p:cTn id="2008" dur="400"/>
                                        <p:tgtEl>
                                          <p:spTgt spid="1657"/>
                                        </p:tgtEl>
                                      </p:cBhvr>
                                    </p:animEffect>
                                  </p:childTnLst>
                                </p:cTn>
                              </p:par>
                              <p:par>
                                <p:cTn id="2009" nodeType="withEffect" fill="hold" presetClass="entr" presetID="10">
                                  <p:stCondLst>
                                    <p:cond delay="150"/>
                                  </p:stCondLst>
                                  <p:childTnLst>
                                    <p:set>
                                      <p:cBhvr>
                                        <p:cTn id="2010" dur="1" fill="hold">
                                          <p:stCondLst>
                                            <p:cond delay="0"/>
                                          </p:stCondLst>
                                        </p:cTn>
                                        <p:tgtEl>
                                          <p:spTgt spid="1658"/>
                                        </p:tgtEl>
                                        <p:attrNameLst>
                                          <p:attrName>style.visibility</p:attrName>
                                        </p:attrNameLst>
                                      </p:cBhvr>
                                      <p:to>
                                        <p:strVal val="visible"/>
                                      </p:to>
                                    </p:set>
                                    <p:animEffect filter="fade" transition="in">
                                      <p:cBhvr additive="repl">
                                        <p:cTn id="2011" dur="400"/>
                                        <p:tgtEl>
                                          <p:spTgt spid="1658"/>
                                        </p:tgtEl>
                                      </p:cBhvr>
                                    </p:animEffect>
                                  </p:childTnLst>
                                </p:cTn>
                              </p:par>
                              <p:par>
                                <p:cTn id="2012" nodeType="withEffect" fill="hold" presetClass="entr" presetID="10">
                                  <p:stCondLst>
                                    <p:cond delay="150"/>
                                  </p:stCondLst>
                                  <p:childTnLst>
                                    <p:set>
                                      <p:cBhvr>
                                        <p:cTn id="2013" dur="1" fill="hold">
                                          <p:stCondLst>
                                            <p:cond delay="0"/>
                                          </p:stCondLst>
                                        </p:cTn>
                                        <p:tgtEl>
                                          <p:spTgt spid="1659"/>
                                        </p:tgtEl>
                                        <p:attrNameLst>
                                          <p:attrName>style.visibility</p:attrName>
                                        </p:attrNameLst>
                                      </p:cBhvr>
                                      <p:to>
                                        <p:strVal val="visible"/>
                                      </p:to>
                                    </p:set>
                                    <p:animEffect filter="fade" transition="in">
                                      <p:cBhvr additive="repl">
                                        <p:cTn id="2014" dur="400"/>
                                        <p:tgtEl>
                                          <p:spTgt spid="1659"/>
                                        </p:tgtEl>
                                      </p:cBhvr>
                                    </p:animEffect>
                                  </p:childTnLst>
                                </p:cTn>
                              </p:par>
                              <p:par>
                                <p:cTn id="2015" nodeType="withEffect" fill="hold" presetClass="entr" presetID="10">
                                  <p:stCondLst>
                                    <p:cond delay="330"/>
                                  </p:stCondLst>
                                  <p:childTnLst>
                                    <p:set>
                                      <p:cBhvr>
                                        <p:cTn id="2016" dur="1" fill="hold">
                                          <p:stCondLst>
                                            <p:cond delay="0"/>
                                          </p:stCondLst>
                                        </p:cTn>
                                        <p:tgtEl>
                                          <p:spTgt spid="1660"/>
                                        </p:tgtEl>
                                        <p:attrNameLst>
                                          <p:attrName>style.visibility</p:attrName>
                                        </p:attrNameLst>
                                      </p:cBhvr>
                                      <p:to>
                                        <p:strVal val="visible"/>
                                      </p:to>
                                    </p:set>
                                    <p:animEffect filter="fade" transition="in">
                                      <p:cBhvr additive="repl">
                                        <p:cTn id="2017" dur="400"/>
                                        <p:tgtEl>
                                          <p:spTgt spid="1660"/>
                                        </p:tgtEl>
                                      </p:cBhvr>
                                    </p:animEffect>
                                  </p:childTnLst>
                                </p:cTn>
                              </p:par>
                              <p:par>
                                <p:cTn id="2018" nodeType="withEffect" fill="hold" presetClass="entr" presetID="10">
                                  <p:stCondLst>
                                    <p:cond delay="330"/>
                                  </p:stCondLst>
                                  <p:childTnLst>
                                    <p:set>
                                      <p:cBhvr>
                                        <p:cTn id="2019" dur="1" fill="hold">
                                          <p:stCondLst>
                                            <p:cond delay="0"/>
                                          </p:stCondLst>
                                        </p:cTn>
                                        <p:tgtEl>
                                          <p:spTgt spid="1661"/>
                                        </p:tgtEl>
                                        <p:attrNameLst>
                                          <p:attrName>style.visibility</p:attrName>
                                        </p:attrNameLst>
                                      </p:cBhvr>
                                      <p:to>
                                        <p:strVal val="visible"/>
                                      </p:to>
                                    </p:set>
                                    <p:animEffect filter="fade" transition="in">
                                      <p:cBhvr additive="repl">
                                        <p:cTn id="2020" dur="400"/>
                                        <p:tgtEl>
                                          <p:spTgt spid="1661"/>
                                        </p:tgtEl>
                                      </p:cBhvr>
                                    </p:animEffect>
                                  </p:childTnLst>
                                </p:cTn>
                              </p:par>
                              <p:par>
                                <p:cTn id="2021" nodeType="withEffect" fill="hold" presetClass="entr" presetID="10">
                                  <p:stCondLst>
                                    <p:cond delay="330"/>
                                  </p:stCondLst>
                                  <p:childTnLst>
                                    <p:set>
                                      <p:cBhvr>
                                        <p:cTn id="2022" dur="1" fill="hold">
                                          <p:stCondLst>
                                            <p:cond delay="0"/>
                                          </p:stCondLst>
                                        </p:cTn>
                                        <p:tgtEl>
                                          <p:spTgt spid="1662"/>
                                        </p:tgtEl>
                                        <p:attrNameLst>
                                          <p:attrName>style.visibility</p:attrName>
                                        </p:attrNameLst>
                                      </p:cBhvr>
                                      <p:to>
                                        <p:strVal val="visible"/>
                                      </p:to>
                                    </p:set>
                                    <p:animEffect filter="fade" transition="in">
                                      <p:cBhvr additive="repl">
                                        <p:cTn id="2023" dur="400"/>
                                        <p:tgtEl>
                                          <p:spTgt spid="1662"/>
                                        </p:tgtEl>
                                      </p:cBhvr>
                                    </p:animEffect>
                                  </p:childTnLst>
                                </p:cTn>
                              </p:par>
                              <p:par>
                                <p:cTn id="2024" nodeType="withEffect" fill="hold" presetClass="entr" presetID="10">
                                  <p:stCondLst>
                                    <p:cond delay="330"/>
                                  </p:stCondLst>
                                  <p:childTnLst>
                                    <p:set>
                                      <p:cBhvr>
                                        <p:cTn id="2025" dur="1" fill="hold">
                                          <p:stCondLst>
                                            <p:cond delay="0"/>
                                          </p:stCondLst>
                                        </p:cTn>
                                        <p:tgtEl>
                                          <p:spTgt spid="1664"/>
                                        </p:tgtEl>
                                        <p:attrNameLst>
                                          <p:attrName>style.visibility</p:attrName>
                                        </p:attrNameLst>
                                      </p:cBhvr>
                                      <p:to>
                                        <p:strVal val="visible"/>
                                      </p:to>
                                    </p:set>
                                    <p:animEffect filter="fade" transition="in">
                                      <p:cBhvr additive="repl">
                                        <p:cTn id="2026" dur="400"/>
                                        <p:tgtEl>
                                          <p:spTgt spid="1664"/>
                                        </p:tgtEl>
                                      </p:cBhvr>
                                    </p:animEffect>
                                  </p:childTnLst>
                                </p:cTn>
                              </p:par>
                              <p:par>
                                <p:cTn id="2027" nodeType="withEffect" fill="hold" presetClass="entr" presetID="10">
                                  <p:stCondLst>
                                    <p:cond delay="330"/>
                                  </p:stCondLst>
                                  <p:childTnLst>
                                    <p:set>
                                      <p:cBhvr>
                                        <p:cTn id="2028" dur="1" fill="hold">
                                          <p:stCondLst>
                                            <p:cond delay="0"/>
                                          </p:stCondLst>
                                        </p:cTn>
                                        <p:tgtEl>
                                          <p:spTgt spid="1665"/>
                                        </p:tgtEl>
                                        <p:attrNameLst>
                                          <p:attrName>style.visibility</p:attrName>
                                        </p:attrNameLst>
                                      </p:cBhvr>
                                      <p:to>
                                        <p:strVal val="visible"/>
                                      </p:to>
                                    </p:set>
                                    <p:animEffect filter="fade" transition="in">
                                      <p:cBhvr additive="repl">
                                        <p:cTn id="2029" dur="400"/>
                                        <p:tgtEl>
                                          <p:spTgt spid="1665"/>
                                        </p:tgtEl>
                                      </p:cBhvr>
                                    </p:animEffect>
                                  </p:childTnLst>
                                </p:cTn>
                              </p:par>
                              <p:par>
                                <p:cTn id="2030" nodeType="withEffect" fill="hold" presetClass="entr" presetID="10">
                                  <p:stCondLst>
                                    <p:cond delay="330"/>
                                  </p:stCondLst>
                                  <p:childTnLst>
                                    <p:set>
                                      <p:cBhvr>
                                        <p:cTn id="2031" dur="1" fill="hold">
                                          <p:stCondLst>
                                            <p:cond delay="0"/>
                                          </p:stCondLst>
                                        </p:cTn>
                                        <p:tgtEl>
                                          <p:spTgt spid="1666"/>
                                        </p:tgtEl>
                                        <p:attrNameLst>
                                          <p:attrName>style.visibility</p:attrName>
                                        </p:attrNameLst>
                                      </p:cBhvr>
                                      <p:to>
                                        <p:strVal val="visible"/>
                                      </p:to>
                                    </p:set>
                                    <p:animEffect filter="fade" transition="in">
                                      <p:cBhvr additive="repl">
                                        <p:cTn id="2032" dur="400"/>
                                        <p:tgtEl>
                                          <p:spTgt spid="1666"/>
                                        </p:tgtEl>
                                      </p:cBhvr>
                                    </p:animEffect>
                                  </p:childTnLst>
                                </p:cTn>
                              </p:par>
                              <p:par>
                                <p:cTn id="2033" nodeType="withEffect" fill="hold" presetClass="entr" presetID="10">
                                  <p:stCondLst>
                                    <p:cond delay="510"/>
                                  </p:stCondLst>
                                  <p:childTnLst>
                                    <p:set>
                                      <p:cBhvr>
                                        <p:cTn id="2034" dur="1" fill="hold">
                                          <p:stCondLst>
                                            <p:cond delay="0"/>
                                          </p:stCondLst>
                                        </p:cTn>
                                        <p:tgtEl>
                                          <p:spTgt spid="1667"/>
                                        </p:tgtEl>
                                        <p:attrNameLst>
                                          <p:attrName>style.visibility</p:attrName>
                                        </p:attrNameLst>
                                      </p:cBhvr>
                                      <p:to>
                                        <p:strVal val="visible"/>
                                      </p:to>
                                    </p:set>
                                    <p:animEffect filter="fade" transition="in">
                                      <p:cBhvr additive="repl">
                                        <p:cTn id="2035" dur="400"/>
                                        <p:tgtEl>
                                          <p:spTgt spid="1667"/>
                                        </p:tgtEl>
                                      </p:cBhvr>
                                    </p:animEffect>
                                  </p:childTnLst>
                                </p:cTn>
                              </p:par>
                              <p:par>
                                <p:cTn id="2036" nodeType="withEffect" fill="hold" presetClass="entr" presetID="10">
                                  <p:stCondLst>
                                    <p:cond delay="510"/>
                                  </p:stCondLst>
                                  <p:childTnLst>
                                    <p:set>
                                      <p:cBhvr>
                                        <p:cTn id="2037" dur="1" fill="hold">
                                          <p:stCondLst>
                                            <p:cond delay="0"/>
                                          </p:stCondLst>
                                        </p:cTn>
                                        <p:tgtEl>
                                          <p:spTgt spid="1668"/>
                                        </p:tgtEl>
                                        <p:attrNameLst>
                                          <p:attrName>style.visibility</p:attrName>
                                        </p:attrNameLst>
                                      </p:cBhvr>
                                      <p:to>
                                        <p:strVal val="visible"/>
                                      </p:to>
                                    </p:set>
                                    <p:animEffect filter="fade" transition="in">
                                      <p:cBhvr additive="repl">
                                        <p:cTn id="2038" dur="400"/>
                                        <p:tgtEl>
                                          <p:spTgt spid="1668"/>
                                        </p:tgtEl>
                                      </p:cBhvr>
                                    </p:animEffect>
                                  </p:childTnLst>
                                </p:cTn>
                              </p:par>
                              <p:par>
                                <p:cTn id="2039" nodeType="withEffect" fill="hold" presetClass="entr" presetID="10">
                                  <p:stCondLst>
                                    <p:cond delay="510"/>
                                  </p:stCondLst>
                                  <p:childTnLst>
                                    <p:set>
                                      <p:cBhvr>
                                        <p:cTn id="2040" dur="1" fill="hold">
                                          <p:stCondLst>
                                            <p:cond delay="0"/>
                                          </p:stCondLst>
                                        </p:cTn>
                                        <p:tgtEl>
                                          <p:spTgt spid="1669"/>
                                        </p:tgtEl>
                                        <p:attrNameLst>
                                          <p:attrName>style.visibility</p:attrName>
                                        </p:attrNameLst>
                                      </p:cBhvr>
                                      <p:to>
                                        <p:strVal val="visible"/>
                                      </p:to>
                                    </p:set>
                                    <p:animEffect filter="fade" transition="in">
                                      <p:cBhvr additive="repl">
                                        <p:cTn id="2041" dur="400"/>
                                        <p:tgtEl>
                                          <p:spTgt spid="1669"/>
                                        </p:tgtEl>
                                      </p:cBhvr>
                                    </p:animEffect>
                                  </p:childTnLst>
                                </p:cTn>
                              </p:par>
                              <p:par>
                                <p:cTn id="2042" nodeType="withEffect" fill="hold" presetClass="entr" presetID="10">
                                  <p:stCondLst>
                                    <p:cond delay="510"/>
                                  </p:stCondLst>
                                  <p:childTnLst>
                                    <p:set>
                                      <p:cBhvr>
                                        <p:cTn id="2043" dur="1" fill="hold">
                                          <p:stCondLst>
                                            <p:cond delay="0"/>
                                          </p:stCondLst>
                                        </p:cTn>
                                        <p:tgtEl>
                                          <p:spTgt spid="1671"/>
                                        </p:tgtEl>
                                        <p:attrNameLst>
                                          <p:attrName>style.visibility</p:attrName>
                                        </p:attrNameLst>
                                      </p:cBhvr>
                                      <p:to>
                                        <p:strVal val="visible"/>
                                      </p:to>
                                    </p:set>
                                    <p:animEffect filter="fade" transition="in">
                                      <p:cBhvr additive="repl">
                                        <p:cTn id="2044" dur="400"/>
                                        <p:tgtEl>
                                          <p:spTgt spid="1671"/>
                                        </p:tgtEl>
                                      </p:cBhvr>
                                    </p:animEffect>
                                  </p:childTnLst>
                                </p:cTn>
                              </p:par>
                              <p:par>
                                <p:cTn id="2045" nodeType="withEffect" fill="hold" presetClass="entr" presetID="10">
                                  <p:stCondLst>
                                    <p:cond delay="510"/>
                                  </p:stCondLst>
                                  <p:childTnLst>
                                    <p:set>
                                      <p:cBhvr>
                                        <p:cTn id="2046" dur="1" fill="hold">
                                          <p:stCondLst>
                                            <p:cond delay="0"/>
                                          </p:stCondLst>
                                        </p:cTn>
                                        <p:tgtEl>
                                          <p:spTgt spid="1672"/>
                                        </p:tgtEl>
                                        <p:attrNameLst>
                                          <p:attrName>style.visibility</p:attrName>
                                        </p:attrNameLst>
                                      </p:cBhvr>
                                      <p:to>
                                        <p:strVal val="visible"/>
                                      </p:to>
                                    </p:set>
                                    <p:animEffect filter="fade" transition="in">
                                      <p:cBhvr additive="repl">
                                        <p:cTn id="2047" dur="400"/>
                                        <p:tgtEl>
                                          <p:spTgt spid="1672"/>
                                        </p:tgtEl>
                                      </p:cBhvr>
                                    </p:animEffect>
                                  </p:childTnLst>
                                </p:cTn>
                              </p:par>
                              <p:par>
                                <p:cTn id="2048" nodeType="withEffect" fill="hold" presetClass="entr" presetID="10">
                                  <p:stCondLst>
                                    <p:cond delay="510"/>
                                  </p:stCondLst>
                                  <p:childTnLst>
                                    <p:set>
                                      <p:cBhvr>
                                        <p:cTn id="2049" dur="1" fill="hold">
                                          <p:stCondLst>
                                            <p:cond delay="0"/>
                                          </p:stCondLst>
                                        </p:cTn>
                                        <p:tgtEl>
                                          <p:spTgt spid="1673"/>
                                        </p:tgtEl>
                                        <p:attrNameLst>
                                          <p:attrName>style.visibility</p:attrName>
                                        </p:attrNameLst>
                                      </p:cBhvr>
                                      <p:to>
                                        <p:strVal val="visible"/>
                                      </p:to>
                                    </p:set>
                                    <p:animEffect filter="fade" transition="in">
                                      <p:cBhvr additive="repl">
                                        <p:cTn id="2050" dur="400"/>
                                        <p:tgtEl>
                                          <p:spTgt spid="1673"/>
                                        </p:tgtEl>
                                      </p:cBhvr>
                                    </p:animEffect>
                                  </p:childTnLst>
                                </p:cTn>
                              </p:par>
                              <p:par>
                                <p:cTn id="2051" nodeType="withEffect" fill="hold" presetClass="entr" presetID="10">
                                  <p:stCondLst>
                                    <p:cond delay="690"/>
                                  </p:stCondLst>
                                  <p:childTnLst>
                                    <p:set>
                                      <p:cBhvr>
                                        <p:cTn id="2052" dur="1" fill="hold">
                                          <p:stCondLst>
                                            <p:cond delay="0"/>
                                          </p:stCondLst>
                                        </p:cTn>
                                        <p:tgtEl>
                                          <p:spTgt spid="1674"/>
                                        </p:tgtEl>
                                        <p:attrNameLst>
                                          <p:attrName>style.visibility</p:attrName>
                                        </p:attrNameLst>
                                      </p:cBhvr>
                                      <p:to>
                                        <p:strVal val="visible"/>
                                      </p:to>
                                    </p:set>
                                    <p:animEffect filter="fade" transition="in">
                                      <p:cBhvr additive="repl">
                                        <p:cTn id="2053" dur="400"/>
                                        <p:tgtEl>
                                          <p:spTgt spid="1674"/>
                                        </p:tgtEl>
                                      </p:cBhvr>
                                    </p:animEffect>
                                  </p:childTnLst>
                                </p:cTn>
                              </p:par>
                              <p:par>
                                <p:cTn id="2054" nodeType="withEffect" fill="hold" presetClass="entr" presetID="10">
                                  <p:stCondLst>
                                    <p:cond delay="690"/>
                                  </p:stCondLst>
                                  <p:childTnLst>
                                    <p:set>
                                      <p:cBhvr>
                                        <p:cTn id="2055" dur="1" fill="hold">
                                          <p:stCondLst>
                                            <p:cond delay="0"/>
                                          </p:stCondLst>
                                        </p:cTn>
                                        <p:tgtEl>
                                          <p:spTgt spid="1675"/>
                                        </p:tgtEl>
                                        <p:attrNameLst>
                                          <p:attrName>style.visibility</p:attrName>
                                        </p:attrNameLst>
                                      </p:cBhvr>
                                      <p:to>
                                        <p:strVal val="visible"/>
                                      </p:to>
                                    </p:set>
                                    <p:animEffect filter="fade" transition="in">
                                      <p:cBhvr additive="repl">
                                        <p:cTn id="2056" dur="400"/>
                                        <p:tgtEl>
                                          <p:spTgt spid="1675"/>
                                        </p:tgtEl>
                                      </p:cBhvr>
                                    </p:animEffect>
                                  </p:childTnLst>
                                </p:cTn>
                              </p:par>
                              <p:par>
                                <p:cTn id="2057" nodeType="withEffect" fill="hold" presetClass="entr" presetID="10">
                                  <p:stCondLst>
                                    <p:cond delay="690"/>
                                  </p:stCondLst>
                                  <p:childTnLst>
                                    <p:set>
                                      <p:cBhvr>
                                        <p:cTn id="2058" dur="1" fill="hold">
                                          <p:stCondLst>
                                            <p:cond delay="0"/>
                                          </p:stCondLst>
                                        </p:cTn>
                                        <p:tgtEl>
                                          <p:spTgt spid="1676"/>
                                        </p:tgtEl>
                                        <p:attrNameLst>
                                          <p:attrName>style.visibility</p:attrName>
                                        </p:attrNameLst>
                                      </p:cBhvr>
                                      <p:to>
                                        <p:strVal val="visible"/>
                                      </p:to>
                                    </p:set>
                                    <p:animEffect filter="fade" transition="in">
                                      <p:cBhvr additive="repl">
                                        <p:cTn id="2059" dur="400"/>
                                        <p:tgtEl>
                                          <p:spTgt spid="1676"/>
                                        </p:tgtEl>
                                      </p:cBhvr>
                                    </p:animEffect>
                                  </p:childTnLst>
                                </p:cTn>
                              </p:par>
                              <p:par>
                                <p:cTn id="2060" nodeType="withEffect" fill="hold" presetClass="entr" presetID="10">
                                  <p:stCondLst>
                                    <p:cond delay="690"/>
                                  </p:stCondLst>
                                  <p:childTnLst>
                                    <p:set>
                                      <p:cBhvr>
                                        <p:cTn id="2061" dur="1" fill="hold">
                                          <p:stCondLst>
                                            <p:cond delay="0"/>
                                          </p:stCondLst>
                                        </p:cTn>
                                        <p:tgtEl>
                                          <p:spTgt spid="1678"/>
                                        </p:tgtEl>
                                        <p:attrNameLst>
                                          <p:attrName>style.visibility</p:attrName>
                                        </p:attrNameLst>
                                      </p:cBhvr>
                                      <p:to>
                                        <p:strVal val="visible"/>
                                      </p:to>
                                    </p:set>
                                    <p:animEffect filter="fade" transition="in">
                                      <p:cBhvr additive="repl">
                                        <p:cTn id="2062" dur="400"/>
                                        <p:tgtEl>
                                          <p:spTgt spid="1678"/>
                                        </p:tgtEl>
                                      </p:cBhvr>
                                    </p:animEffect>
                                  </p:childTnLst>
                                </p:cTn>
                              </p:par>
                              <p:par>
                                <p:cTn id="2063" nodeType="withEffect" fill="hold" presetClass="entr" presetID="10">
                                  <p:stCondLst>
                                    <p:cond delay="690"/>
                                  </p:stCondLst>
                                  <p:childTnLst>
                                    <p:set>
                                      <p:cBhvr>
                                        <p:cTn id="2064" dur="1" fill="hold">
                                          <p:stCondLst>
                                            <p:cond delay="0"/>
                                          </p:stCondLst>
                                        </p:cTn>
                                        <p:tgtEl>
                                          <p:spTgt spid="1679"/>
                                        </p:tgtEl>
                                        <p:attrNameLst>
                                          <p:attrName>style.visibility</p:attrName>
                                        </p:attrNameLst>
                                      </p:cBhvr>
                                      <p:to>
                                        <p:strVal val="visible"/>
                                      </p:to>
                                    </p:set>
                                    <p:animEffect filter="fade" transition="in">
                                      <p:cBhvr additive="repl">
                                        <p:cTn id="2065" dur="400"/>
                                        <p:tgtEl>
                                          <p:spTgt spid="1679"/>
                                        </p:tgtEl>
                                      </p:cBhvr>
                                    </p:animEffect>
                                  </p:childTnLst>
                                </p:cTn>
                              </p:par>
                              <p:par>
                                <p:cTn id="2066" nodeType="withEffect" fill="hold" presetClass="entr" presetID="10">
                                  <p:stCondLst>
                                    <p:cond delay="690"/>
                                  </p:stCondLst>
                                  <p:childTnLst>
                                    <p:set>
                                      <p:cBhvr>
                                        <p:cTn id="2067" dur="1" fill="hold">
                                          <p:stCondLst>
                                            <p:cond delay="0"/>
                                          </p:stCondLst>
                                        </p:cTn>
                                        <p:tgtEl>
                                          <p:spTgt spid="1680"/>
                                        </p:tgtEl>
                                        <p:attrNameLst>
                                          <p:attrName>style.visibility</p:attrName>
                                        </p:attrNameLst>
                                      </p:cBhvr>
                                      <p:to>
                                        <p:strVal val="visible"/>
                                      </p:to>
                                    </p:set>
                                    <p:animEffect filter="fade" transition="in">
                                      <p:cBhvr additive="repl">
                                        <p:cTn id="2068" dur="400"/>
                                        <p:tgtEl>
                                          <p:spTgt spid="1680"/>
                                        </p:tgtEl>
                                      </p:cBhvr>
                                    </p:animEffect>
                                  </p:childTnLst>
                                </p:cTn>
                              </p:par>
                              <p:par>
                                <p:cTn id="2069" nodeType="withEffect" fill="hold" presetClass="entr" presetID="10">
                                  <p:stCondLst>
                                    <p:cond delay="1000"/>
                                  </p:stCondLst>
                                  <p:childTnLst>
                                    <p:set>
                                      <p:cBhvr>
                                        <p:cTn id="2070" dur="1" fill="hold">
                                          <p:stCondLst>
                                            <p:cond delay="0"/>
                                          </p:stCondLst>
                                        </p:cTn>
                                        <p:tgtEl>
                                          <p:spTgt spid="1681"/>
                                        </p:tgtEl>
                                        <p:attrNameLst>
                                          <p:attrName>style.visibility</p:attrName>
                                        </p:attrNameLst>
                                      </p:cBhvr>
                                      <p:to>
                                        <p:strVal val="visible"/>
                                      </p:to>
                                    </p:set>
                                    <p:animEffect filter="fade" transition="in">
                                      <p:cBhvr additive="repl">
                                        <p:cTn id="2071" dur="400"/>
                                        <p:tgtEl>
                                          <p:spTgt spid="1681"/>
                                        </p:tgtEl>
                                      </p:cBhvr>
                                    </p:animEffect>
                                  </p:childTnLst>
                                </p:cTn>
                              </p:par>
                              <p:par>
                                <p:cTn id="2072" nodeType="withEffect" fill="hold" presetClass="entr" presetID="10">
                                  <p:stCondLst>
                                    <p:cond delay="1000"/>
                                  </p:stCondLst>
                                  <p:childTnLst>
                                    <p:set>
                                      <p:cBhvr>
                                        <p:cTn id="2073" dur="1" fill="hold">
                                          <p:stCondLst>
                                            <p:cond delay="0"/>
                                          </p:stCondLst>
                                        </p:cTn>
                                        <p:tgtEl>
                                          <p:spTgt spid="1682"/>
                                        </p:tgtEl>
                                        <p:attrNameLst>
                                          <p:attrName>style.visibility</p:attrName>
                                        </p:attrNameLst>
                                      </p:cBhvr>
                                      <p:to>
                                        <p:strVal val="visible"/>
                                      </p:to>
                                    </p:set>
                                    <p:animEffect filter="fade" transition="in">
                                      <p:cBhvr additive="repl">
                                        <p:cTn id="2074" dur="400"/>
                                        <p:tgtEl>
                                          <p:spTgt spid="1682"/>
                                        </p:tgtEl>
                                      </p:cBhvr>
                                    </p:animEffect>
                                  </p:childTnLst>
                                </p:cTn>
                              </p:par>
                              <p:par>
                                <p:cTn id="2075" nodeType="withEffect" fill="hold" presetClass="entr" presetID="10">
                                  <p:stCondLst>
                                    <p:cond delay="1000"/>
                                  </p:stCondLst>
                                  <p:childTnLst>
                                    <p:set>
                                      <p:cBhvr>
                                        <p:cTn id="2076" dur="1" fill="hold">
                                          <p:stCondLst>
                                            <p:cond delay="0"/>
                                          </p:stCondLst>
                                        </p:cTn>
                                        <p:tgtEl>
                                          <p:spTgt spid="1683"/>
                                        </p:tgtEl>
                                        <p:attrNameLst>
                                          <p:attrName>style.visibility</p:attrName>
                                        </p:attrNameLst>
                                      </p:cBhvr>
                                      <p:to>
                                        <p:strVal val="visible"/>
                                      </p:to>
                                    </p:set>
                                    <p:animEffect filter="fade" transition="in">
                                      <p:cBhvr additive="repl">
                                        <p:cTn id="2077" dur="400"/>
                                        <p:tgtEl>
                                          <p:spTgt spid="1683"/>
                                        </p:tgtEl>
                                      </p:cBhvr>
                                    </p:animEffect>
                                  </p:childTnLst>
                                </p:cTn>
                              </p:par>
                              <p:par>
                                <p:cTn id="2078" nodeType="withEffect" fill="hold" presetClass="entr" presetID="10">
                                  <p:stCondLst>
                                    <p:cond delay="1000"/>
                                  </p:stCondLst>
                                  <p:childTnLst>
                                    <p:set>
                                      <p:cBhvr>
                                        <p:cTn id="2079" dur="1" fill="hold">
                                          <p:stCondLst>
                                            <p:cond delay="0"/>
                                          </p:stCondLst>
                                        </p:cTn>
                                        <p:tgtEl>
                                          <p:spTgt spid="1684"/>
                                        </p:tgtEl>
                                        <p:attrNameLst>
                                          <p:attrName>style.visibility</p:attrName>
                                        </p:attrNameLst>
                                      </p:cBhvr>
                                      <p:to>
                                        <p:strVal val="visible"/>
                                      </p:to>
                                    </p:set>
                                    <p:animEffect filter="fade" transition="in">
                                      <p:cBhvr additive="repl">
                                        <p:cTn id="2080" dur="400"/>
                                        <p:tgtEl>
                                          <p:spTgt spid="1684"/>
                                        </p:tgtEl>
                                      </p:cBhvr>
                                    </p:animEffect>
                                  </p:childTnLst>
                                </p:cTn>
                              </p:par>
                              <p:par>
                                <p:cTn id="2081" nodeType="withEffect" fill="hold" presetClass="entr" presetID="10">
                                  <p:stCondLst>
                                    <p:cond delay="1000"/>
                                  </p:stCondLst>
                                  <p:childTnLst>
                                    <p:set>
                                      <p:cBhvr>
                                        <p:cTn id="2082" dur="1" fill="hold">
                                          <p:stCondLst>
                                            <p:cond delay="0"/>
                                          </p:stCondLst>
                                        </p:cTn>
                                        <p:tgtEl>
                                          <p:spTgt spid="1685"/>
                                        </p:tgtEl>
                                        <p:attrNameLst>
                                          <p:attrName>style.visibility</p:attrName>
                                        </p:attrNameLst>
                                      </p:cBhvr>
                                      <p:to>
                                        <p:strVal val="visible"/>
                                      </p:to>
                                    </p:set>
                                    <p:animEffect filter="fade" transition="in">
                                      <p:cBhvr additive="repl">
                                        <p:cTn id="2083" dur="400"/>
                                        <p:tgtEl>
                                          <p:spTgt spid="1685"/>
                                        </p:tgtEl>
                                      </p:cBhvr>
                                    </p:animEffect>
                                  </p:childTnLst>
                                </p:cTn>
                              </p:par>
                              <p:par>
                                <p:cTn id="2084" nodeType="withEffect" fill="hold" presetClass="entr" presetID="10">
                                  <p:stCondLst>
                                    <p:cond delay="1000"/>
                                  </p:stCondLst>
                                  <p:childTnLst>
                                    <p:set>
                                      <p:cBhvr>
                                        <p:cTn id="2085" dur="1" fill="hold">
                                          <p:stCondLst>
                                            <p:cond delay="0"/>
                                          </p:stCondLst>
                                        </p:cTn>
                                        <p:tgtEl>
                                          <p:spTgt spid="1686"/>
                                        </p:tgtEl>
                                        <p:attrNameLst>
                                          <p:attrName>style.visibility</p:attrName>
                                        </p:attrNameLst>
                                      </p:cBhvr>
                                      <p:to>
                                        <p:strVal val="visible"/>
                                      </p:to>
                                    </p:set>
                                    <p:animEffect filter="fade" transition="in">
                                      <p:cBhvr additive="repl">
                                        <p:cTn id="2086" dur="400"/>
                                        <p:tgtEl>
                                          <p:spTgt spid="16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708" name="o1"/>
          <p:cNvSpPr/>
          <p:nvPr/>
        </p:nvSpPr>
        <p:spPr>
          <a:xfrm>
            <a:off x="274320" y="228600"/>
            <a:ext cx="11642760" cy="5897520"/>
          </a:xfrm>
          <a:prstGeom prst="roundRect">
            <a:avLst>
              <a:gd name="adj" fmla="val 217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09" name="o2"/>
          <p:cNvSpPr/>
          <p:nvPr/>
        </p:nvSpPr>
        <p:spPr>
          <a:xfrm>
            <a:off x="343080" y="297360"/>
            <a:ext cx="11505600" cy="5760360"/>
          </a:xfrm>
          <a:prstGeom prst="roundRect">
            <a:avLst>
              <a:gd name="adj" fmla="val 103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10" name="o3"/>
          <p:cNvSpPr/>
          <p:nvPr/>
        </p:nvSpPr>
        <p:spPr>
          <a:xfrm>
            <a:off x="86868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11" name="o4"/>
          <p:cNvSpPr/>
          <p:nvPr/>
        </p:nvSpPr>
        <p:spPr>
          <a:xfrm>
            <a:off x="93708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12" name="o5"/>
          <p:cNvSpPr/>
          <p:nvPr/>
        </p:nvSpPr>
        <p:spPr>
          <a:xfrm>
            <a:off x="976860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13" name="o6"/>
          <p:cNvSpPr/>
          <p:nvPr/>
        </p:nvSpPr>
        <p:spPr>
          <a:xfrm>
            <a:off x="983700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14" name="o7"/>
          <p:cNvSpPr/>
          <p:nvPr/>
        </p:nvSpPr>
        <p:spPr>
          <a:xfrm>
            <a:off x="86868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15" name="o8"/>
          <p:cNvSpPr/>
          <p:nvPr/>
        </p:nvSpPr>
        <p:spPr>
          <a:xfrm>
            <a:off x="93708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16" name="o9"/>
          <p:cNvSpPr/>
          <p:nvPr/>
        </p:nvSpPr>
        <p:spPr>
          <a:xfrm>
            <a:off x="976860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17" name="o10"/>
          <p:cNvSpPr/>
          <p:nvPr/>
        </p:nvSpPr>
        <p:spPr>
          <a:xfrm>
            <a:off x="983700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718" name="o11" descr="image-2-13.png"/>
          <p:cNvPicPr/>
          <p:nvPr/>
        </p:nvPicPr>
        <p:blipFill>
          <a:blip r:embed="rId1"/>
          <a:stretch/>
        </p:blipFill>
        <p:spPr>
          <a:xfrm>
            <a:off x="5684760" y="777240"/>
            <a:ext cx="822600" cy="822600"/>
          </a:xfrm>
          <a:prstGeom prst="rect">
            <a:avLst/>
          </a:prstGeom>
          <a:ln w="0">
            <a:noFill/>
          </a:ln>
        </p:spPr>
      </p:pic>
      <p:pic>
        <p:nvPicPr>
          <p:cNvPr id="1719" name="o12" descr="LEVEL 3"/>
          <p:cNvPicPr/>
          <p:nvPr/>
        </p:nvPicPr>
        <p:blipFill>
          <a:blip r:embed="rId2"/>
          <a:stretch/>
        </p:blipFill>
        <p:spPr>
          <a:xfrm>
            <a:off x="5263920" y="1828800"/>
            <a:ext cx="1663920" cy="237240"/>
          </a:xfrm>
          <a:prstGeom prst="rect">
            <a:avLst/>
          </a:prstGeom>
          <a:ln w="0">
            <a:noFill/>
          </a:ln>
        </p:spPr>
      </p:pic>
      <p:pic>
        <p:nvPicPr>
          <p:cNvPr id="1720" name="o13" descr="JOINTURE"/>
          <p:cNvPicPr/>
          <p:nvPr/>
        </p:nvPicPr>
        <p:blipFill>
          <a:blip r:embed="rId3"/>
          <a:stretch/>
        </p:blipFill>
        <p:spPr>
          <a:xfrm>
            <a:off x="4047480" y="2331720"/>
            <a:ext cx="4096080" cy="511560"/>
          </a:xfrm>
          <a:prstGeom prst="rect">
            <a:avLst/>
          </a:prstGeom>
          <a:ln w="0">
            <a:noFill/>
          </a:ln>
        </p:spPr>
      </p:pic>
      <p:sp>
        <p:nvSpPr>
          <p:cNvPr id="1721" name="o14"/>
          <p:cNvSpPr/>
          <p:nvPr/>
        </p:nvSpPr>
        <p:spPr>
          <a:xfrm>
            <a:off x="1371600" y="3108960"/>
            <a:ext cx="9448200" cy="3052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2000" spc="-1" strike="noStrike">
                <a:solidFill>
                  <a:srgbClr val="c4c4e4"/>
                </a:solidFill>
                <a:latin typeface="Arial"/>
              </a:rPr>
              <a:t>Relier les ventes et les notes</a:t>
            </a:r>
            <a:endParaRPr b="0" lang="en-US" sz="2000" spc="-1" strike="noStrike">
              <a:solidFill>
                <a:srgbClr val="ffffff"/>
              </a:solidFill>
              <a:latin typeface="Arial"/>
            </a:endParaRPr>
          </a:p>
        </p:txBody>
      </p:sp>
      <p:pic>
        <p:nvPicPr>
          <p:cNvPr id="1722" name="rangee_sprite" descr="image-1-8.gif"/>
          <p:cNvPicPr/>
          <p:nvPr/>
        </p:nvPicPr>
        <p:blipFill>
          <a:blip r:embed="rId4"/>
          <a:stretch/>
        </p:blipFill>
        <p:spPr>
          <a:xfrm>
            <a:off x="704160" y="3950280"/>
            <a:ext cx="420120" cy="420120"/>
          </a:xfrm>
          <a:prstGeom prst="rect">
            <a:avLst/>
          </a:prstGeom>
          <a:ln w="0">
            <a:noFill/>
          </a:ln>
        </p:spPr>
      </p:pic>
      <p:pic>
        <p:nvPicPr>
          <p:cNvPr id="1723" name="rangee_sprite" descr="image-1-7.gif"/>
          <p:cNvPicPr/>
          <p:nvPr/>
        </p:nvPicPr>
        <p:blipFill>
          <a:blip r:embed="rId5"/>
          <a:stretch/>
        </p:blipFill>
        <p:spPr>
          <a:xfrm>
            <a:off x="1252800" y="3950280"/>
            <a:ext cx="420120" cy="420120"/>
          </a:xfrm>
          <a:prstGeom prst="rect">
            <a:avLst/>
          </a:prstGeom>
          <a:ln w="0">
            <a:noFill/>
          </a:ln>
        </p:spPr>
      </p:pic>
      <p:pic>
        <p:nvPicPr>
          <p:cNvPr id="1724" name="rangee_sprite" descr="image-1-6.gif"/>
          <p:cNvPicPr/>
          <p:nvPr/>
        </p:nvPicPr>
        <p:blipFill>
          <a:blip r:embed="rId6"/>
          <a:stretch/>
        </p:blipFill>
        <p:spPr>
          <a:xfrm>
            <a:off x="1801440" y="3950280"/>
            <a:ext cx="420120" cy="420120"/>
          </a:xfrm>
          <a:prstGeom prst="rect">
            <a:avLst/>
          </a:prstGeom>
          <a:ln w="0">
            <a:noFill/>
          </a:ln>
        </p:spPr>
      </p:pic>
      <p:pic>
        <p:nvPicPr>
          <p:cNvPr id="1725" name="rangee_sprite" descr="image-1-15.gif"/>
          <p:cNvPicPr/>
          <p:nvPr/>
        </p:nvPicPr>
        <p:blipFill>
          <a:blip r:embed="rId7"/>
          <a:stretch/>
        </p:blipFill>
        <p:spPr>
          <a:xfrm>
            <a:off x="2350080" y="3950280"/>
            <a:ext cx="420120" cy="420120"/>
          </a:xfrm>
          <a:prstGeom prst="rect">
            <a:avLst/>
          </a:prstGeom>
          <a:ln w="0">
            <a:noFill/>
          </a:ln>
        </p:spPr>
      </p:pic>
      <p:pic>
        <p:nvPicPr>
          <p:cNvPr id="1726" name="rangee_pacman" descr="image-1-14.gif"/>
          <p:cNvPicPr/>
          <p:nvPr/>
        </p:nvPicPr>
        <p:blipFill>
          <a:blip r:embed="rId8"/>
          <a:stretch/>
        </p:blipFill>
        <p:spPr>
          <a:xfrm>
            <a:off x="2990160" y="3950280"/>
            <a:ext cx="420120" cy="420120"/>
          </a:xfrm>
          <a:prstGeom prst="rect">
            <a:avLst/>
          </a:prstGeom>
          <a:ln w="0">
            <a:noFill/>
          </a:ln>
        </p:spPr>
      </p:pic>
      <p:sp>
        <p:nvSpPr>
          <p:cNvPr id="1727" name="rangee_pastille"/>
          <p:cNvSpPr/>
          <p:nvPr/>
        </p:nvSpPr>
        <p:spPr>
          <a:xfrm>
            <a:off x="36302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28" name="rangee_pastille"/>
          <p:cNvSpPr/>
          <p:nvPr/>
        </p:nvSpPr>
        <p:spPr>
          <a:xfrm>
            <a:off x="39960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29" name="rangee_pastille"/>
          <p:cNvSpPr/>
          <p:nvPr/>
        </p:nvSpPr>
        <p:spPr>
          <a:xfrm>
            <a:off x="43617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0" name="rangee_pastille"/>
          <p:cNvSpPr/>
          <p:nvPr/>
        </p:nvSpPr>
        <p:spPr>
          <a:xfrm>
            <a:off x="47275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1" name="rangee_pastille"/>
          <p:cNvSpPr/>
          <p:nvPr/>
        </p:nvSpPr>
        <p:spPr>
          <a:xfrm>
            <a:off x="50932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2" name="rangee_pastille"/>
          <p:cNvSpPr/>
          <p:nvPr/>
        </p:nvSpPr>
        <p:spPr>
          <a:xfrm>
            <a:off x="54590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3" name="rangee_pastille"/>
          <p:cNvSpPr/>
          <p:nvPr/>
        </p:nvSpPr>
        <p:spPr>
          <a:xfrm>
            <a:off x="58248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4" name="rangee_pastille"/>
          <p:cNvSpPr/>
          <p:nvPr/>
        </p:nvSpPr>
        <p:spPr>
          <a:xfrm>
            <a:off x="61905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5" name="rangee_pastille"/>
          <p:cNvSpPr/>
          <p:nvPr/>
        </p:nvSpPr>
        <p:spPr>
          <a:xfrm>
            <a:off x="65563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6" name="rangee_pastille"/>
          <p:cNvSpPr/>
          <p:nvPr/>
        </p:nvSpPr>
        <p:spPr>
          <a:xfrm>
            <a:off x="69220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7" name="rangee_pastille"/>
          <p:cNvSpPr/>
          <p:nvPr/>
        </p:nvSpPr>
        <p:spPr>
          <a:xfrm>
            <a:off x="72878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8" name="rangee_pastille"/>
          <p:cNvSpPr/>
          <p:nvPr/>
        </p:nvSpPr>
        <p:spPr>
          <a:xfrm>
            <a:off x="76536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39" name="rangee_pastille"/>
          <p:cNvSpPr/>
          <p:nvPr/>
        </p:nvSpPr>
        <p:spPr>
          <a:xfrm>
            <a:off x="80193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40" name="rangee_pastille"/>
          <p:cNvSpPr/>
          <p:nvPr/>
        </p:nvSpPr>
        <p:spPr>
          <a:xfrm>
            <a:off x="83851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41" name="rangee_pastille"/>
          <p:cNvSpPr/>
          <p:nvPr/>
        </p:nvSpPr>
        <p:spPr>
          <a:xfrm>
            <a:off x="87508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42" name="rangee_pastille"/>
          <p:cNvSpPr/>
          <p:nvPr/>
        </p:nvSpPr>
        <p:spPr>
          <a:xfrm>
            <a:off x="91166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743" name="rangee_pastille"/>
          <p:cNvSpPr/>
          <p:nvPr/>
        </p:nvSpPr>
        <p:spPr>
          <a:xfrm>
            <a:off x="94824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pic>
        <p:nvPicPr>
          <p:cNvPr id="1744" name="ready" descr="READY!"/>
          <p:cNvPicPr/>
          <p:nvPr/>
        </p:nvPicPr>
        <p:blipFill>
          <a:blip r:embed="rId9"/>
          <a:stretch/>
        </p:blipFill>
        <p:spPr>
          <a:xfrm>
            <a:off x="5492520" y="4617720"/>
            <a:ext cx="1206720" cy="200880"/>
          </a:xfrm>
          <a:prstGeom prst="rect">
            <a:avLst/>
          </a:prstGeom>
          <a:ln w="0">
            <a:noFill/>
          </a:ln>
        </p:spPr>
      </p:pic>
      <p:pic>
        <p:nvPicPr>
          <p:cNvPr id="1745" name="fin_pastille" descr="image-1-13.gif"/>
          <p:cNvPicPr/>
          <p:nvPr/>
        </p:nvPicPr>
        <p:blipFill>
          <a:blip r:embed="rId10"/>
          <a:stretch/>
        </p:blipFill>
        <p:spPr>
          <a:xfrm>
            <a:off x="11448360" y="6355080"/>
            <a:ext cx="182520" cy="182520"/>
          </a:xfrm>
          <a:prstGeom prst="rect">
            <a:avLst/>
          </a:prstGeom>
          <a:ln w="0">
            <a:noFill/>
          </a:ln>
        </p:spPr>
      </p:pic>
      <p:pic>
        <p:nvPicPr>
          <p:cNvPr id="1746" name="barre_fantome" descr="image.gif"/>
          <p:cNvPicPr/>
          <p:nvPr/>
        </p:nvPicPr>
        <p:blipFill>
          <a:blip r:embed="rId11"/>
          <a:stretch/>
        </p:blipFill>
        <p:spPr>
          <a:xfrm>
            <a:off x="6433128" y="6291000"/>
            <a:ext cx="310680" cy="310680"/>
          </a:xfrm>
          <a:prstGeom prst="rect">
            <a:avLst/>
          </a:prstGeom>
          <a:ln w="0">
            <a:noFill/>
          </a:ln>
        </p:spPr>
      </p:pic>
      <p:sp>
        <p:nvSpPr>
          <p:cNvPr id="1748" name="barre_pastille"/>
          <p:cNvSpPr/>
          <p:nvPr/>
        </p:nvSpPr>
        <p:spPr>
          <a:xfrm>
            <a:off x="7315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48" name="barre_pastille"/>
          <p:cNvSpPr/>
          <p:nvPr/>
        </p:nvSpPr>
        <p:spPr>
          <a:xfrm>
            <a:off x="7543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49"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0"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1"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2"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3"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4"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5"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6"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7"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8"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59"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60"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61"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62"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63"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764"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747" name="barre_pacman" descr="image.gif"/>
          <p:cNvPicPr/>
          <p:nvPr/>
        </p:nvPicPr>
        <p:blipFill>
          <a:blip r:embed="rId12"/>
          <a:stretch/>
        </p:blipFill>
        <p:spPr>
          <a:xfrm>
            <a:off x="7000128" y="6291000"/>
            <a:ext cx="310680" cy="310680"/>
          </a:xfrm>
          <a:prstGeom prst="rect">
            <a:avLst/>
          </a:prstGeom>
          <a:ln w="0">
            <a:noFill/>
          </a:ln>
        </p:spPr>
      </p:pic>
      <p:sp>
        <p:nvSpPr>
          <p:cNvPr id="1765"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087" dur="indefinite" restart="never" nodeType="tmRoot">
          <p:childTnLst>
            <p:seq>
              <p:cTn id="2088" dur="indefinite" nodeType="mainSeq">
                <p:childTnLst>
                  <p:par>
                    <p:cTn id="2089" fill="hold">
                      <p:stCondLst>
                        <p:cond delay="0"/>
                      </p:stCondLst>
                      <p:childTnLst>
                        <p:par>
                          <p:cTn id="2090" fill="hold">
                            <p:stCondLst>
                              <p:cond delay="0"/>
                            </p:stCondLst>
                            <p:childTnLst>
                              <p:par>
                                <p:cTn id="2091" nodeType="withEffect" fill="hold" presetClass="path">
                                  <p:stCondLst>
                                    <p:cond delay="0"/>
                                  </p:stCondLst>
                                  <p:childTnLst>
                                    <p:animMotion origin="layout" path="M 0 0 L 0.02252 0 E">
                                      <p:cBhvr>
                                        <p:cTn id="2092" dur="900" fill="hold"/>
                                        <p:tgtEl>
                                          <p:spTgt spid="1746"/>
                                        </p:tgtEl>
                                        <p:attrNameLst>
                                          <p:attrName>ppt_x</p:attrName>
                                          <p:attrName>ppt_y</p:attrName>
                                        </p:attrNameLst>
                                      </p:cBhvr>
                                    </p:animMotion>
                                  </p:childTnLst>
                                </p:cTn>
                              </p:par>
                              <p:par>
                                <p:cTn id="2093" nodeType="withEffect" fill="hold" presetClass="path">
                                  <p:stCondLst>
                                    <p:cond delay="0"/>
                                  </p:stCondLst>
                                  <p:childTnLst>
                                    <p:animMotion origin="layout" path="M 0 0 L 0.02252 0 E">
                                      <p:cBhvr>
                                        <p:cTn id="2094" dur="900" fill="hold"/>
                                        <p:tgtEl>
                                          <p:spTgt spid="1747"/>
                                        </p:tgtEl>
                                        <p:attrNameLst>
                                          <p:attrName>ppt_x</p:attrName>
                                          <p:attrName>ppt_y</p:attrName>
                                        </p:attrNameLst>
                                      </p:cBhvr>
                                    </p:animMotion>
                                  </p:childTnLst>
                                </p:cTn>
                              </p:par>
                              <p:par>
                                <p:cTn id="2095" nodeType="withEffect" fill="hold" presetClass="exit" presetID="1">
                                  <p:stCondLst>
                                    <p:cond delay="600"/>
                                  </p:stCondLst>
                                  <p:childTnLst>
                                    <p:set>
                                      <p:cBhvr>
                                        <p:cTn id="2096" dur="1" fill="hold">
                                          <p:stCondLst>
                                            <p:cond delay="0"/>
                                          </p:stCondLst>
                                        </p:cTn>
                                        <p:tgtEl>
                                          <p:spTgt spid="1748"/>
                                        </p:tgtEl>
                                        <p:attrNameLst>
                                          <p:attrName>style.visibility</p:attrName>
                                        </p:attrNameLst>
                                      </p:cBhvr>
                                      <p:to>
                                        <p:strVal val="hidden"/>
                                      </p:to>
                                    </p:set>
                                  </p:childTnLst>
                                </p:cTn>
                              </p:par>
                              <p:par>
                                <p:cTn id="2097" nodeType="withEffect" fill="hold" presetClass="exit" presetID="1">
                                  <p:stCondLst>
                                    <p:cond delay="900"/>
                                  </p:stCondLst>
                                  <p:childTnLst>
                                    <p:set>
                                      <p:cBhvr>
                                        <p:cTn id="2098" dur="1" fill="hold">
                                          <p:stCondLst>
                                            <p:cond delay="0"/>
                                          </p:stCondLst>
                                        </p:cTn>
                                        <p:tgtEl>
                                          <p:spTgt spid="1744"/>
                                        </p:tgtEl>
                                        <p:attrNameLst>
                                          <p:attrName>style.visibility</p:attrName>
                                        </p:attrNameLst>
                                      </p:cBhvr>
                                      <p:to>
                                        <p:strVal val="hidden"/>
                                      </p:to>
                                    </p:set>
                                  </p:childTnLst>
                                </p:cTn>
                              </p:par>
                              <p:par>
                                <p:cTn id="2099" nodeType="withEffect" fill="hold" presetClass="path">
                                  <p:stCondLst>
                                    <p:cond delay="900"/>
                                  </p:stCondLst>
                                  <p:childTnLst>
                                    <p:animMotion origin="layout" path="M 0 0 L 0.57001 0 E">
                                      <p:cBhvr>
                                        <p:cTn id="2100" dur="2600" fill="hold"/>
                                        <p:tgtEl>
                                          <p:spTgt spid="1722"/>
                                        </p:tgtEl>
                                        <p:attrNameLst>
                                          <p:attrName>ppt_x</p:attrName>
                                          <p:attrName>ppt_y</p:attrName>
                                        </p:attrNameLst>
                                      </p:cBhvr>
                                    </p:animMotion>
                                  </p:childTnLst>
                                </p:cTn>
                              </p:par>
                              <p:par>
                                <p:cTn id="2101" nodeType="withEffect" fill="hold" presetClass="path">
                                  <p:stCondLst>
                                    <p:cond delay="900"/>
                                  </p:stCondLst>
                                  <p:childTnLst>
                                    <p:animMotion origin="layout" path="M 0 0 L 0.57001 0 E">
                                      <p:cBhvr>
                                        <p:cTn id="2102" dur="2600" fill="hold"/>
                                        <p:tgtEl>
                                          <p:spTgt spid="1723"/>
                                        </p:tgtEl>
                                        <p:attrNameLst>
                                          <p:attrName>ppt_x</p:attrName>
                                          <p:attrName>ppt_y</p:attrName>
                                        </p:attrNameLst>
                                      </p:cBhvr>
                                    </p:animMotion>
                                  </p:childTnLst>
                                </p:cTn>
                              </p:par>
                              <p:par>
                                <p:cTn id="2103" nodeType="withEffect" fill="hold" presetClass="path">
                                  <p:stCondLst>
                                    <p:cond delay="900"/>
                                  </p:stCondLst>
                                  <p:childTnLst>
                                    <p:animMotion origin="layout" path="M 0 0 L 0.57001 0 E">
                                      <p:cBhvr>
                                        <p:cTn id="2104" dur="2600" fill="hold"/>
                                        <p:tgtEl>
                                          <p:spTgt spid="1724"/>
                                        </p:tgtEl>
                                        <p:attrNameLst>
                                          <p:attrName>ppt_x</p:attrName>
                                          <p:attrName>ppt_y</p:attrName>
                                        </p:attrNameLst>
                                      </p:cBhvr>
                                    </p:animMotion>
                                  </p:childTnLst>
                                </p:cTn>
                              </p:par>
                              <p:par>
                                <p:cTn id="2105" nodeType="withEffect" fill="hold" presetClass="path">
                                  <p:stCondLst>
                                    <p:cond delay="900"/>
                                  </p:stCondLst>
                                  <p:childTnLst>
                                    <p:animMotion origin="layout" path="M 0 0 L 0.57001 0 E">
                                      <p:cBhvr>
                                        <p:cTn id="2106" dur="2600" fill="hold"/>
                                        <p:tgtEl>
                                          <p:spTgt spid="1725"/>
                                        </p:tgtEl>
                                        <p:attrNameLst>
                                          <p:attrName>ppt_x</p:attrName>
                                          <p:attrName>ppt_y</p:attrName>
                                        </p:attrNameLst>
                                      </p:cBhvr>
                                    </p:animMotion>
                                  </p:childTnLst>
                                </p:cTn>
                              </p:par>
                              <p:par>
                                <p:cTn id="2107" nodeType="withEffect" fill="hold" presetClass="path">
                                  <p:stCondLst>
                                    <p:cond delay="900"/>
                                  </p:stCondLst>
                                  <p:childTnLst>
                                    <p:animMotion origin="layout" path="M 0 0 L 0.57001 0 E">
                                      <p:cBhvr>
                                        <p:cTn id="2108" dur="2600" fill="hold"/>
                                        <p:tgtEl>
                                          <p:spTgt spid="1726"/>
                                        </p:tgtEl>
                                        <p:attrNameLst>
                                          <p:attrName>ppt_x</p:attrName>
                                          <p:attrName>ppt_y</p:attrName>
                                        </p:attrNameLst>
                                      </p:cBhvr>
                                    </p:animMotion>
                                  </p:childTnLst>
                                </p:cTn>
                              </p:par>
                              <p:par>
                                <p:cTn id="2109" nodeType="withEffect" fill="hold" presetClass="exit" presetID="1">
                                  <p:stCondLst>
                                    <p:cond delay="1027"/>
                                  </p:stCondLst>
                                  <p:childTnLst>
                                    <p:set>
                                      <p:cBhvr>
                                        <p:cTn id="2110" dur="1" fill="hold">
                                          <p:stCondLst>
                                            <p:cond delay="0"/>
                                          </p:stCondLst>
                                        </p:cTn>
                                        <p:tgtEl>
                                          <p:spTgt spid="1727"/>
                                        </p:tgtEl>
                                        <p:attrNameLst>
                                          <p:attrName>style.visibility</p:attrName>
                                        </p:attrNameLst>
                                      </p:cBhvr>
                                      <p:to>
                                        <p:strVal val="hidden"/>
                                      </p:to>
                                    </p:set>
                                  </p:childTnLst>
                                </p:cTn>
                              </p:par>
                              <p:par>
                                <p:cTn id="2111" nodeType="withEffect" fill="hold" presetClass="exit" presetID="1">
                                  <p:stCondLst>
                                    <p:cond delay="1163"/>
                                  </p:stCondLst>
                                  <p:childTnLst>
                                    <p:set>
                                      <p:cBhvr>
                                        <p:cTn id="2112" dur="1" fill="hold">
                                          <p:stCondLst>
                                            <p:cond delay="0"/>
                                          </p:stCondLst>
                                        </p:cTn>
                                        <p:tgtEl>
                                          <p:spTgt spid="1728"/>
                                        </p:tgtEl>
                                        <p:attrNameLst>
                                          <p:attrName>style.visibility</p:attrName>
                                        </p:attrNameLst>
                                      </p:cBhvr>
                                      <p:to>
                                        <p:strVal val="hidden"/>
                                      </p:to>
                                    </p:set>
                                  </p:childTnLst>
                                </p:cTn>
                              </p:par>
                              <p:par>
                                <p:cTn id="2113" nodeType="withEffect" fill="hold" presetClass="exit" presetID="1">
                                  <p:stCondLst>
                                    <p:cond delay="1300"/>
                                  </p:stCondLst>
                                  <p:childTnLst>
                                    <p:set>
                                      <p:cBhvr>
                                        <p:cTn id="2114" dur="1" fill="hold">
                                          <p:stCondLst>
                                            <p:cond delay="0"/>
                                          </p:stCondLst>
                                        </p:cTn>
                                        <p:tgtEl>
                                          <p:spTgt spid="1729"/>
                                        </p:tgtEl>
                                        <p:attrNameLst>
                                          <p:attrName>style.visibility</p:attrName>
                                        </p:attrNameLst>
                                      </p:cBhvr>
                                      <p:to>
                                        <p:strVal val="hidden"/>
                                      </p:to>
                                    </p:set>
                                  </p:childTnLst>
                                </p:cTn>
                              </p:par>
                              <p:par>
                                <p:cTn id="2115" nodeType="withEffect" fill="hold" presetClass="exit" presetID="1">
                                  <p:stCondLst>
                                    <p:cond delay="1437"/>
                                  </p:stCondLst>
                                  <p:childTnLst>
                                    <p:set>
                                      <p:cBhvr>
                                        <p:cTn id="2116" dur="1" fill="hold">
                                          <p:stCondLst>
                                            <p:cond delay="0"/>
                                          </p:stCondLst>
                                        </p:cTn>
                                        <p:tgtEl>
                                          <p:spTgt spid="1730"/>
                                        </p:tgtEl>
                                        <p:attrNameLst>
                                          <p:attrName>style.visibility</p:attrName>
                                        </p:attrNameLst>
                                      </p:cBhvr>
                                      <p:to>
                                        <p:strVal val="hidden"/>
                                      </p:to>
                                    </p:set>
                                  </p:childTnLst>
                                </p:cTn>
                              </p:par>
                              <p:par>
                                <p:cTn id="2117" nodeType="withEffect" fill="hold" presetClass="exit" presetID="1">
                                  <p:stCondLst>
                                    <p:cond delay="1574"/>
                                  </p:stCondLst>
                                  <p:childTnLst>
                                    <p:set>
                                      <p:cBhvr>
                                        <p:cTn id="2118" dur="1" fill="hold">
                                          <p:stCondLst>
                                            <p:cond delay="0"/>
                                          </p:stCondLst>
                                        </p:cTn>
                                        <p:tgtEl>
                                          <p:spTgt spid="1731"/>
                                        </p:tgtEl>
                                        <p:attrNameLst>
                                          <p:attrName>style.visibility</p:attrName>
                                        </p:attrNameLst>
                                      </p:cBhvr>
                                      <p:to>
                                        <p:strVal val="hidden"/>
                                      </p:to>
                                    </p:set>
                                  </p:childTnLst>
                                </p:cTn>
                              </p:par>
                              <p:par>
                                <p:cTn id="2119" nodeType="withEffect" fill="hold" presetClass="exit" presetID="1">
                                  <p:stCondLst>
                                    <p:cond delay="1711"/>
                                  </p:stCondLst>
                                  <p:childTnLst>
                                    <p:set>
                                      <p:cBhvr>
                                        <p:cTn id="2120" dur="1" fill="hold">
                                          <p:stCondLst>
                                            <p:cond delay="0"/>
                                          </p:stCondLst>
                                        </p:cTn>
                                        <p:tgtEl>
                                          <p:spTgt spid="1732"/>
                                        </p:tgtEl>
                                        <p:attrNameLst>
                                          <p:attrName>style.visibility</p:attrName>
                                        </p:attrNameLst>
                                      </p:cBhvr>
                                      <p:to>
                                        <p:strVal val="hidden"/>
                                      </p:to>
                                    </p:set>
                                  </p:childTnLst>
                                </p:cTn>
                              </p:par>
                              <p:par>
                                <p:cTn id="2121" nodeType="withEffect" fill="hold" presetClass="exit" presetID="1">
                                  <p:stCondLst>
                                    <p:cond delay="1848"/>
                                  </p:stCondLst>
                                  <p:childTnLst>
                                    <p:set>
                                      <p:cBhvr>
                                        <p:cTn id="2122" dur="1" fill="hold">
                                          <p:stCondLst>
                                            <p:cond delay="0"/>
                                          </p:stCondLst>
                                        </p:cTn>
                                        <p:tgtEl>
                                          <p:spTgt spid="1733"/>
                                        </p:tgtEl>
                                        <p:attrNameLst>
                                          <p:attrName>style.visibility</p:attrName>
                                        </p:attrNameLst>
                                      </p:cBhvr>
                                      <p:to>
                                        <p:strVal val="hidden"/>
                                      </p:to>
                                    </p:set>
                                  </p:childTnLst>
                                </p:cTn>
                              </p:par>
                              <p:par>
                                <p:cTn id="2123" nodeType="withEffect" fill="hold" presetClass="exit" presetID="1">
                                  <p:stCondLst>
                                    <p:cond delay="1984"/>
                                  </p:stCondLst>
                                  <p:childTnLst>
                                    <p:set>
                                      <p:cBhvr>
                                        <p:cTn id="2124" dur="1" fill="hold">
                                          <p:stCondLst>
                                            <p:cond delay="0"/>
                                          </p:stCondLst>
                                        </p:cTn>
                                        <p:tgtEl>
                                          <p:spTgt spid="1734"/>
                                        </p:tgtEl>
                                        <p:attrNameLst>
                                          <p:attrName>style.visibility</p:attrName>
                                        </p:attrNameLst>
                                      </p:cBhvr>
                                      <p:to>
                                        <p:strVal val="hidden"/>
                                      </p:to>
                                    </p:set>
                                  </p:childTnLst>
                                </p:cTn>
                              </p:par>
                              <p:par>
                                <p:cTn id="2125" nodeType="withEffect" fill="hold" presetClass="exit" presetID="1">
                                  <p:stCondLst>
                                    <p:cond delay="2121"/>
                                  </p:stCondLst>
                                  <p:childTnLst>
                                    <p:set>
                                      <p:cBhvr>
                                        <p:cTn id="2126" dur="1" fill="hold">
                                          <p:stCondLst>
                                            <p:cond delay="0"/>
                                          </p:stCondLst>
                                        </p:cTn>
                                        <p:tgtEl>
                                          <p:spTgt spid="1735"/>
                                        </p:tgtEl>
                                        <p:attrNameLst>
                                          <p:attrName>style.visibility</p:attrName>
                                        </p:attrNameLst>
                                      </p:cBhvr>
                                      <p:to>
                                        <p:strVal val="hidden"/>
                                      </p:to>
                                    </p:set>
                                  </p:childTnLst>
                                </p:cTn>
                              </p:par>
                              <p:par>
                                <p:cTn id="2127" nodeType="withEffect" fill="hold" presetClass="exit" presetID="1">
                                  <p:stCondLst>
                                    <p:cond delay="2258"/>
                                  </p:stCondLst>
                                  <p:childTnLst>
                                    <p:set>
                                      <p:cBhvr>
                                        <p:cTn id="2128" dur="1" fill="hold">
                                          <p:stCondLst>
                                            <p:cond delay="0"/>
                                          </p:stCondLst>
                                        </p:cTn>
                                        <p:tgtEl>
                                          <p:spTgt spid="1736"/>
                                        </p:tgtEl>
                                        <p:attrNameLst>
                                          <p:attrName>style.visibility</p:attrName>
                                        </p:attrNameLst>
                                      </p:cBhvr>
                                      <p:to>
                                        <p:strVal val="hidden"/>
                                      </p:to>
                                    </p:set>
                                  </p:childTnLst>
                                </p:cTn>
                              </p:par>
                              <p:par>
                                <p:cTn id="2129" nodeType="withEffect" fill="hold" presetClass="exit" presetID="1">
                                  <p:stCondLst>
                                    <p:cond delay="2395"/>
                                  </p:stCondLst>
                                  <p:childTnLst>
                                    <p:set>
                                      <p:cBhvr>
                                        <p:cTn id="2130" dur="1" fill="hold">
                                          <p:stCondLst>
                                            <p:cond delay="0"/>
                                          </p:stCondLst>
                                        </p:cTn>
                                        <p:tgtEl>
                                          <p:spTgt spid="1737"/>
                                        </p:tgtEl>
                                        <p:attrNameLst>
                                          <p:attrName>style.visibility</p:attrName>
                                        </p:attrNameLst>
                                      </p:cBhvr>
                                      <p:to>
                                        <p:strVal val="hidden"/>
                                      </p:to>
                                    </p:set>
                                  </p:childTnLst>
                                </p:cTn>
                              </p:par>
                              <p:par>
                                <p:cTn id="2131" nodeType="withEffect" fill="hold" presetClass="exit" presetID="1">
                                  <p:stCondLst>
                                    <p:cond delay="2532"/>
                                  </p:stCondLst>
                                  <p:childTnLst>
                                    <p:set>
                                      <p:cBhvr>
                                        <p:cTn id="2132" dur="1" fill="hold">
                                          <p:stCondLst>
                                            <p:cond delay="0"/>
                                          </p:stCondLst>
                                        </p:cTn>
                                        <p:tgtEl>
                                          <p:spTgt spid="1738"/>
                                        </p:tgtEl>
                                        <p:attrNameLst>
                                          <p:attrName>style.visibility</p:attrName>
                                        </p:attrNameLst>
                                      </p:cBhvr>
                                      <p:to>
                                        <p:strVal val="hidden"/>
                                      </p:to>
                                    </p:set>
                                  </p:childTnLst>
                                </p:cTn>
                              </p:par>
                              <p:par>
                                <p:cTn id="2133" nodeType="withEffect" fill="hold" presetClass="exit" presetID="1">
                                  <p:stCondLst>
                                    <p:cond delay="2669"/>
                                  </p:stCondLst>
                                  <p:childTnLst>
                                    <p:set>
                                      <p:cBhvr>
                                        <p:cTn id="2134" dur="1" fill="hold">
                                          <p:stCondLst>
                                            <p:cond delay="0"/>
                                          </p:stCondLst>
                                        </p:cTn>
                                        <p:tgtEl>
                                          <p:spTgt spid="1739"/>
                                        </p:tgtEl>
                                        <p:attrNameLst>
                                          <p:attrName>style.visibility</p:attrName>
                                        </p:attrNameLst>
                                      </p:cBhvr>
                                      <p:to>
                                        <p:strVal val="hidden"/>
                                      </p:to>
                                    </p:set>
                                  </p:childTnLst>
                                </p:cTn>
                              </p:par>
                              <p:par>
                                <p:cTn id="2135" nodeType="withEffect" fill="hold" presetClass="exit" presetID="1">
                                  <p:stCondLst>
                                    <p:cond delay="2806"/>
                                  </p:stCondLst>
                                  <p:childTnLst>
                                    <p:set>
                                      <p:cBhvr>
                                        <p:cTn id="2136" dur="1" fill="hold">
                                          <p:stCondLst>
                                            <p:cond delay="0"/>
                                          </p:stCondLst>
                                        </p:cTn>
                                        <p:tgtEl>
                                          <p:spTgt spid="1740"/>
                                        </p:tgtEl>
                                        <p:attrNameLst>
                                          <p:attrName>style.visibility</p:attrName>
                                        </p:attrNameLst>
                                      </p:cBhvr>
                                      <p:to>
                                        <p:strVal val="hidden"/>
                                      </p:to>
                                    </p:set>
                                  </p:childTnLst>
                                </p:cTn>
                              </p:par>
                              <p:par>
                                <p:cTn id="2137" nodeType="withEffect" fill="hold" presetClass="exit" presetID="1">
                                  <p:stCondLst>
                                    <p:cond delay="2942"/>
                                  </p:stCondLst>
                                  <p:childTnLst>
                                    <p:set>
                                      <p:cBhvr>
                                        <p:cTn id="2138" dur="1" fill="hold">
                                          <p:stCondLst>
                                            <p:cond delay="0"/>
                                          </p:stCondLst>
                                        </p:cTn>
                                        <p:tgtEl>
                                          <p:spTgt spid="1741"/>
                                        </p:tgtEl>
                                        <p:attrNameLst>
                                          <p:attrName>style.visibility</p:attrName>
                                        </p:attrNameLst>
                                      </p:cBhvr>
                                      <p:to>
                                        <p:strVal val="hidden"/>
                                      </p:to>
                                    </p:set>
                                  </p:childTnLst>
                                </p:cTn>
                              </p:par>
                              <p:par>
                                <p:cTn id="2139" nodeType="withEffect" fill="hold" presetClass="exit" presetID="1">
                                  <p:stCondLst>
                                    <p:cond delay="3079"/>
                                  </p:stCondLst>
                                  <p:childTnLst>
                                    <p:set>
                                      <p:cBhvr>
                                        <p:cTn id="2140" dur="1" fill="hold">
                                          <p:stCondLst>
                                            <p:cond delay="0"/>
                                          </p:stCondLst>
                                        </p:cTn>
                                        <p:tgtEl>
                                          <p:spTgt spid="1742"/>
                                        </p:tgtEl>
                                        <p:attrNameLst>
                                          <p:attrName>style.visibility</p:attrName>
                                        </p:attrNameLst>
                                      </p:cBhvr>
                                      <p:to>
                                        <p:strVal val="hidden"/>
                                      </p:to>
                                    </p:set>
                                  </p:childTnLst>
                                </p:cTn>
                              </p:par>
                              <p:par>
                                <p:cTn id="2141" nodeType="withEffect" fill="hold" presetClass="exit" presetID="1">
                                  <p:stCondLst>
                                    <p:cond delay="3216"/>
                                  </p:stCondLst>
                                  <p:childTnLst>
                                    <p:set>
                                      <p:cBhvr>
                                        <p:cTn id="2142" dur="1" fill="hold">
                                          <p:stCondLst>
                                            <p:cond delay="0"/>
                                          </p:stCondLst>
                                        </p:cTn>
                                        <p:tgtEl>
                                          <p:spTgt spid="174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765" name="o1" descr="LEVEL 3 → JOINTURE"/>
          <p:cNvPicPr/>
          <p:nvPr/>
        </p:nvPicPr>
        <p:blipFill>
          <a:blip r:embed="rId1"/>
          <a:stretch/>
        </p:blipFill>
        <p:spPr>
          <a:xfrm>
            <a:off x="548640" y="411480"/>
            <a:ext cx="2633040" cy="145800"/>
          </a:xfrm>
          <a:prstGeom prst="rect">
            <a:avLst/>
          </a:prstGeom>
          <a:ln w="0">
            <a:noFill/>
          </a:ln>
        </p:spPr>
      </p:pic>
      <p:pic>
        <p:nvPicPr>
          <p:cNvPr id="1766" name="o2" descr="Une clé pour relier deux bases"/>
          <p:cNvPicPr/>
          <p:nvPr/>
        </p:nvPicPr>
        <p:blipFill>
          <a:blip r:embed="rId2"/>
          <a:stretch/>
        </p:blipFill>
        <p:spPr>
          <a:xfrm>
            <a:off x="548640" y="777240"/>
            <a:ext cx="8229240" cy="273960"/>
          </a:xfrm>
          <a:prstGeom prst="rect">
            <a:avLst/>
          </a:prstGeom>
          <a:ln w="0">
            <a:noFill/>
          </a:ln>
        </p:spPr>
      </p:pic>
      <p:pic>
        <p:nvPicPr>
          <p:cNvPr id="1767" name="o3" descr="image-2-13.png"/>
          <p:cNvPicPr/>
          <p:nvPr/>
        </p:nvPicPr>
        <p:blipFill>
          <a:blip r:embed="rId3"/>
          <a:stretch/>
        </p:blipFill>
        <p:spPr>
          <a:xfrm>
            <a:off x="11073240" y="365760"/>
            <a:ext cx="566640" cy="566640"/>
          </a:xfrm>
          <a:prstGeom prst="rect">
            <a:avLst/>
          </a:prstGeom>
          <a:ln w="0">
            <a:noFill/>
          </a:ln>
        </p:spPr>
      </p:pic>
      <p:sp>
        <p:nvSpPr>
          <p:cNvPr id="1768" name="o4"/>
          <p:cNvSpPr/>
          <p:nvPr/>
        </p:nvSpPr>
        <p:spPr>
          <a:xfrm>
            <a:off x="548640" y="1645920"/>
            <a:ext cx="4023000" cy="1782720"/>
          </a:xfrm>
          <a:prstGeom prst="roundRect">
            <a:avLst>
              <a:gd name="adj" fmla="val 7179"/>
            </a:avLst>
          </a:prstGeom>
          <a:solidFill>
            <a:srgbClr val="000000"/>
          </a:solidFill>
          <a:ln w="28575">
            <a:solidFill>
              <a:srgbClr val="00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69" name="o5"/>
          <p:cNvSpPr/>
          <p:nvPr/>
        </p:nvSpPr>
        <p:spPr>
          <a:xfrm>
            <a:off x="617040" y="1714680"/>
            <a:ext cx="3885840" cy="1645560"/>
          </a:xfrm>
          <a:prstGeom prst="roundRect">
            <a:avLst>
              <a:gd name="adj" fmla="val 3611"/>
            </a:avLst>
          </a:prstGeom>
          <a:noFill/>
          <a:ln w="12700">
            <a:solidFill>
              <a:srgbClr val="00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770" name="o6" descr="NOM NORMALISE"/>
          <p:cNvPicPr/>
          <p:nvPr/>
        </p:nvPicPr>
        <p:blipFill>
          <a:blip r:embed="rId4"/>
          <a:stretch/>
        </p:blipFill>
        <p:spPr>
          <a:xfrm>
            <a:off x="822960" y="1892880"/>
            <a:ext cx="1782720" cy="136800"/>
          </a:xfrm>
          <a:prstGeom prst="rect">
            <a:avLst/>
          </a:prstGeom>
          <a:ln w="0">
            <a:noFill/>
          </a:ln>
        </p:spPr>
      </p:pic>
      <p:sp>
        <p:nvSpPr>
          <p:cNvPr id="1771" name="o7"/>
          <p:cNvSpPr/>
          <p:nvPr/>
        </p:nvSpPr>
        <p:spPr>
          <a:xfrm>
            <a:off x="822960" y="2240280"/>
            <a:ext cx="347436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600" spc="-1" strike="noStrike">
                <a:solidFill>
                  <a:srgbClr val="ffffff"/>
                </a:solidFill>
                <a:latin typeface="Arial"/>
              </a:rPr>
              <a:t>WWE SmackDown! vs. RAW 2006</a:t>
            </a:r>
            <a:endParaRPr b="0" lang="en-US" sz="1600" spc="-1" strike="noStrike">
              <a:solidFill>
                <a:srgbClr val="ffffff"/>
              </a:solidFill>
              <a:latin typeface="Arial"/>
            </a:endParaRPr>
          </a:p>
        </p:txBody>
      </p:sp>
      <p:sp>
        <p:nvSpPr>
          <p:cNvPr id="1772" name="o8"/>
          <p:cNvSpPr/>
          <p:nvPr/>
        </p:nvSpPr>
        <p:spPr>
          <a:xfrm>
            <a:off x="822960" y="2560320"/>
            <a:ext cx="34743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a:t>
            </a:r>
            <a:endParaRPr b="0" lang="en-US" sz="1400" spc="-1" strike="noStrike">
              <a:solidFill>
                <a:srgbClr val="ffffff"/>
              </a:solidFill>
              <a:latin typeface="Arial"/>
            </a:endParaRPr>
          </a:p>
        </p:txBody>
      </p:sp>
      <p:sp>
        <p:nvSpPr>
          <p:cNvPr id="1773" name="o9"/>
          <p:cNvSpPr/>
          <p:nvPr/>
        </p:nvSpPr>
        <p:spPr>
          <a:xfrm>
            <a:off x="822960" y="2834640"/>
            <a:ext cx="347436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00ffff"/>
                </a:solidFill>
                <a:latin typeface="Courier New"/>
              </a:rPr>
              <a:t>wwesmackdownvsraw2006</a:t>
            </a:r>
            <a:endParaRPr b="0" lang="en-US" sz="1600" spc="-1" strike="noStrike">
              <a:solidFill>
                <a:srgbClr val="ffffff"/>
              </a:solidFill>
              <a:latin typeface="Arial"/>
            </a:endParaRPr>
          </a:p>
        </p:txBody>
      </p:sp>
      <p:sp>
        <p:nvSpPr>
          <p:cNvPr id="1774" name="o10"/>
          <p:cNvSpPr/>
          <p:nvPr/>
        </p:nvSpPr>
        <p:spPr>
          <a:xfrm>
            <a:off x="4572000" y="2286000"/>
            <a:ext cx="228240" cy="3661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2400" spc="-1" strike="noStrike">
                <a:solidFill>
                  <a:srgbClr val="ffe600"/>
                </a:solidFill>
                <a:latin typeface="Arial"/>
              </a:rPr>
              <a:t>+</a:t>
            </a:r>
            <a:endParaRPr b="0" lang="en-US" sz="2400" spc="-1" strike="noStrike">
              <a:solidFill>
                <a:srgbClr val="ffffff"/>
              </a:solidFill>
              <a:latin typeface="Arial"/>
            </a:endParaRPr>
          </a:p>
        </p:txBody>
      </p:sp>
      <p:sp>
        <p:nvSpPr>
          <p:cNvPr id="1775" name="o11"/>
          <p:cNvSpPr/>
          <p:nvPr/>
        </p:nvSpPr>
        <p:spPr>
          <a:xfrm>
            <a:off x="4800600" y="1645920"/>
            <a:ext cx="2102760" cy="1782720"/>
          </a:xfrm>
          <a:prstGeom prst="roundRect">
            <a:avLst>
              <a:gd name="adj" fmla="val 7179"/>
            </a:avLst>
          </a:prstGeom>
          <a:solidFill>
            <a:srgbClr val="000000"/>
          </a:solidFill>
          <a:ln w="28575">
            <a:solidFill>
              <a:srgbClr val="ffb8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76" name="o12"/>
          <p:cNvSpPr/>
          <p:nvPr/>
        </p:nvSpPr>
        <p:spPr>
          <a:xfrm>
            <a:off x="4869360" y="1714680"/>
            <a:ext cx="1965600" cy="1645560"/>
          </a:xfrm>
          <a:prstGeom prst="roundRect">
            <a:avLst>
              <a:gd name="adj" fmla="val 3611"/>
            </a:avLst>
          </a:prstGeom>
          <a:noFill/>
          <a:ln w="12700">
            <a:solidFill>
              <a:srgbClr val="ffb8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777" name="o13" descr="PLATEFORME"/>
          <p:cNvPicPr/>
          <p:nvPr/>
        </p:nvPicPr>
        <p:blipFill>
          <a:blip r:embed="rId5"/>
          <a:stretch/>
        </p:blipFill>
        <p:spPr>
          <a:xfrm>
            <a:off x="5074920" y="1892880"/>
            <a:ext cx="1371240" cy="136800"/>
          </a:xfrm>
          <a:prstGeom prst="rect">
            <a:avLst/>
          </a:prstGeom>
          <a:ln w="0">
            <a:noFill/>
          </a:ln>
        </p:spPr>
      </p:pic>
      <p:sp>
        <p:nvSpPr>
          <p:cNvPr id="1778" name="o14"/>
          <p:cNvSpPr/>
          <p:nvPr/>
        </p:nvSpPr>
        <p:spPr>
          <a:xfrm>
            <a:off x="5074920" y="2240280"/>
            <a:ext cx="155412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600" spc="-1" strike="noStrike">
                <a:solidFill>
                  <a:srgbClr val="ffffff"/>
                </a:solidFill>
                <a:latin typeface="Arial"/>
              </a:rPr>
              <a:t>PS2</a:t>
            </a:r>
            <a:endParaRPr b="0" lang="en-US" sz="1600" spc="-1" strike="noStrike">
              <a:solidFill>
                <a:srgbClr val="ffffff"/>
              </a:solidFill>
              <a:latin typeface="Arial"/>
            </a:endParaRPr>
          </a:p>
        </p:txBody>
      </p:sp>
      <p:sp>
        <p:nvSpPr>
          <p:cNvPr id="1779" name="o15"/>
          <p:cNvSpPr/>
          <p:nvPr/>
        </p:nvSpPr>
        <p:spPr>
          <a:xfrm>
            <a:off x="5074920" y="2560320"/>
            <a:ext cx="155412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a:t>
            </a:r>
            <a:endParaRPr b="0" lang="en-US" sz="1400" spc="-1" strike="noStrike">
              <a:solidFill>
                <a:srgbClr val="ffffff"/>
              </a:solidFill>
              <a:latin typeface="Arial"/>
            </a:endParaRPr>
          </a:p>
        </p:txBody>
      </p:sp>
      <p:sp>
        <p:nvSpPr>
          <p:cNvPr id="1780" name="o16"/>
          <p:cNvSpPr/>
          <p:nvPr/>
        </p:nvSpPr>
        <p:spPr>
          <a:xfrm>
            <a:off x="5074920" y="2834640"/>
            <a:ext cx="155412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b8ff"/>
                </a:solidFill>
                <a:latin typeface="Courier New"/>
              </a:rPr>
              <a:t>PS2</a:t>
            </a:r>
            <a:endParaRPr b="0" lang="en-US" sz="1600" spc="-1" strike="noStrike">
              <a:solidFill>
                <a:srgbClr val="ffffff"/>
              </a:solidFill>
              <a:latin typeface="Arial"/>
            </a:endParaRPr>
          </a:p>
        </p:txBody>
      </p:sp>
      <p:sp>
        <p:nvSpPr>
          <p:cNvPr id="1781" name="o17"/>
          <p:cNvSpPr/>
          <p:nvPr/>
        </p:nvSpPr>
        <p:spPr>
          <a:xfrm>
            <a:off x="6903720" y="2286000"/>
            <a:ext cx="228240" cy="3661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2400" spc="-1" strike="noStrike">
                <a:solidFill>
                  <a:srgbClr val="ffe600"/>
                </a:solidFill>
                <a:latin typeface="Arial"/>
              </a:rPr>
              <a:t>+</a:t>
            </a:r>
            <a:endParaRPr b="0" lang="en-US" sz="2400" spc="-1" strike="noStrike">
              <a:solidFill>
                <a:srgbClr val="ffffff"/>
              </a:solidFill>
              <a:latin typeface="Arial"/>
            </a:endParaRPr>
          </a:p>
        </p:txBody>
      </p:sp>
      <p:sp>
        <p:nvSpPr>
          <p:cNvPr id="1782" name="o18"/>
          <p:cNvSpPr/>
          <p:nvPr/>
        </p:nvSpPr>
        <p:spPr>
          <a:xfrm>
            <a:off x="7132320" y="1645920"/>
            <a:ext cx="2102760" cy="1782720"/>
          </a:xfrm>
          <a:prstGeom prst="roundRect">
            <a:avLst>
              <a:gd name="adj" fmla="val 7179"/>
            </a:avLst>
          </a:prstGeom>
          <a:solidFill>
            <a:srgbClr val="000000"/>
          </a:solidFill>
          <a:ln w="28575">
            <a:solidFill>
              <a:srgbClr val="ffb85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83" name="o19"/>
          <p:cNvSpPr/>
          <p:nvPr/>
        </p:nvSpPr>
        <p:spPr>
          <a:xfrm>
            <a:off x="7201080" y="1714680"/>
            <a:ext cx="1965600" cy="1645560"/>
          </a:xfrm>
          <a:prstGeom prst="roundRect">
            <a:avLst>
              <a:gd name="adj" fmla="val 3611"/>
            </a:avLst>
          </a:prstGeom>
          <a:noFill/>
          <a:ln w="12700">
            <a:solidFill>
              <a:srgbClr val="ffb85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784" name="o20" descr="ANNEE"/>
          <p:cNvPicPr/>
          <p:nvPr/>
        </p:nvPicPr>
        <p:blipFill>
          <a:blip r:embed="rId6"/>
          <a:stretch/>
        </p:blipFill>
        <p:spPr>
          <a:xfrm>
            <a:off x="7406640" y="1892880"/>
            <a:ext cx="685440" cy="136800"/>
          </a:xfrm>
          <a:prstGeom prst="rect">
            <a:avLst/>
          </a:prstGeom>
          <a:ln w="0">
            <a:noFill/>
          </a:ln>
        </p:spPr>
      </p:pic>
      <p:sp>
        <p:nvSpPr>
          <p:cNvPr id="1785" name="o21"/>
          <p:cNvSpPr/>
          <p:nvPr/>
        </p:nvSpPr>
        <p:spPr>
          <a:xfrm>
            <a:off x="7406640" y="2240280"/>
            <a:ext cx="155412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600" spc="-1" strike="noStrike">
                <a:solidFill>
                  <a:srgbClr val="ffffff"/>
                </a:solidFill>
                <a:latin typeface="Arial"/>
              </a:rPr>
              <a:t>2005</a:t>
            </a:r>
            <a:endParaRPr b="0" lang="en-US" sz="1600" spc="-1" strike="noStrike">
              <a:solidFill>
                <a:srgbClr val="ffffff"/>
              </a:solidFill>
              <a:latin typeface="Arial"/>
            </a:endParaRPr>
          </a:p>
        </p:txBody>
      </p:sp>
      <p:sp>
        <p:nvSpPr>
          <p:cNvPr id="1786" name="o22"/>
          <p:cNvSpPr/>
          <p:nvPr/>
        </p:nvSpPr>
        <p:spPr>
          <a:xfrm>
            <a:off x="7406640" y="2560320"/>
            <a:ext cx="155412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a:t>
            </a:r>
            <a:endParaRPr b="0" lang="en-US" sz="1400" spc="-1" strike="noStrike">
              <a:solidFill>
                <a:srgbClr val="ffffff"/>
              </a:solidFill>
              <a:latin typeface="Arial"/>
            </a:endParaRPr>
          </a:p>
        </p:txBody>
      </p:sp>
      <p:sp>
        <p:nvSpPr>
          <p:cNvPr id="1787" name="o23"/>
          <p:cNvSpPr/>
          <p:nvPr/>
        </p:nvSpPr>
        <p:spPr>
          <a:xfrm>
            <a:off x="7406640" y="2834640"/>
            <a:ext cx="155412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b852"/>
                </a:solidFill>
                <a:latin typeface="Courier New"/>
              </a:rPr>
              <a:t>2005</a:t>
            </a:r>
            <a:endParaRPr b="0" lang="en-US" sz="1600" spc="-1" strike="noStrike">
              <a:solidFill>
                <a:srgbClr val="ffffff"/>
              </a:solidFill>
              <a:latin typeface="Arial"/>
            </a:endParaRPr>
          </a:p>
        </p:txBody>
      </p:sp>
      <p:pic>
        <p:nvPicPr>
          <p:cNvPr id="1788" name="o24" descr="icone_chaine.png"/>
          <p:cNvPicPr/>
          <p:nvPr/>
        </p:nvPicPr>
        <p:blipFill>
          <a:blip r:embed="rId7"/>
          <a:stretch/>
        </p:blipFill>
        <p:spPr>
          <a:xfrm>
            <a:off x="10104120" y="1874520"/>
            <a:ext cx="1279800" cy="1279800"/>
          </a:xfrm>
          <a:prstGeom prst="rect">
            <a:avLst/>
          </a:prstGeom>
          <a:ln w="0">
            <a:noFill/>
          </a:ln>
        </p:spPr>
      </p:pic>
      <p:sp>
        <p:nvSpPr>
          <p:cNvPr id="1789" name="o25"/>
          <p:cNvSpPr/>
          <p:nvPr/>
        </p:nvSpPr>
        <p:spPr>
          <a:xfrm>
            <a:off x="548640" y="3703320"/>
            <a:ext cx="3565800" cy="2331360"/>
          </a:xfrm>
          <a:prstGeom prst="roundRect">
            <a:avLst>
              <a:gd name="adj" fmla="val 549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90" name="o26"/>
          <p:cNvSpPr/>
          <p:nvPr/>
        </p:nvSpPr>
        <p:spPr>
          <a:xfrm>
            <a:off x="617040" y="3772080"/>
            <a:ext cx="3428640" cy="2194200"/>
          </a:xfrm>
          <a:prstGeom prst="roundRect">
            <a:avLst>
              <a:gd name="adj" fmla="val 2708"/>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791" name="o27" descr="99,7%"/>
          <p:cNvPicPr/>
          <p:nvPr/>
        </p:nvPicPr>
        <p:blipFill>
          <a:blip r:embed="rId8"/>
          <a:stretch/>
        </p:blipFill>
        <p:spPr>
          <a:xfrm>
            <a:off x="822960" y="3977640"/>
            <a:ext cx="1828440" cy="365400"/>
          </a:xfrm>
          <a:prstGeom prst="rect">
            <a:avLst/>
          </a:prstGeom>
          <a:ln w="0">
            <a:noFill/>
          </a:ln>
        </p:spPr>
      </p:pic>
      <p:sp>
        <p:nvSpPr>
          <p:cNvPr id="1792" name="o28"/>
          <p:cNvSpPr/>
          <p:nvPr/>
        </p:nvSpPr>
        <p:spPr>
          <a:xfrm>
            <a:off x="822960" y="4572000"/>
            <a:ext cx="3017160" cy="457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des jeux de vgsales retrouvent leur fiche Metacritic</a:t>
            </a:r>
            <a:endParaRPr b="0" lang="en-US" sz="1500" spc="-1" strike="noStrike">
              <a:solidFill>
                <a:srgbClr val="ffffff"/>
              </a:solidFill>
              <a:latin typeface="Arial"/>
            </a:endParaRPr>
          </a:p>
        </p:txBody>
      </p:sp>
      <p:sp>
        <p:nvSpPr>
          <p:cNvPr id="1793" name="o29"/>
          <p:cNvSpPr/>
          <p:nvPr/>
        </p:nvSpPr>
        <p:spPr>
          <a:xfrm>
            <a:off x="4306680" y="3703320"/>
            <a:ext cx="3565800" cy="2331360"/>
          </a:xfrm>
          <a:prstGeom prst="roundRect">
            <a:avLst>
              <a:gd name="adj" fmla="val 549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94" name="o30"/>
          <p:cNvSpPr/>
          <p:nvPr/>
        </p:nvSpPr>
        <p:spPr>
          <a:xfrm>
            <a:off x="4375440" y="3772080"/>
            <a:ext cx="3428640" cy="2194200"/>
          </a:xfrm>
          <a:prstGeom prst="roundRect">
            <a:avLst>
              <a:gd name="adj" fmla="val 2708"/>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795" name="o31" descr="44"/>
          <p:cNvPicPr/>
          <p:nvPr/>
        </p:nvPicPr>
        <p:blipFill>
          <a:blip r:embed="rId9"/>
          <a:stretch/>
        </p:blipFill>
        <p:spPr>
          <a:xfrm>
            <a:off x="4581000" y="3977640"/>
            <a:ext cx="731160" cy="365400"/>
          </a:xfrm>
          <a:prstGeom prst="rect">
            <a:avLst/>
          </a:prstGeom>
          <a:ln w="0">
            <a:noFill/>
          </a:ln>
        </p:spPr>
      </p:pic>
      <p:sp>
        <p:nvSpPr>
          <p:cNvPr id="1796" name="o32"/>
          <p:cNvSpPr/>
          <p:nvPr/>
        </p:nvSpPr>
        <p:spPr>
          <a:xfrm>
            <a:off x="4581000" y="4572000"/>
            <a:ext cx="3017160" cy="457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jeux sans partenaire : 0,56 M de ventes, négligeable</a:t>
            </a:r>
            <a:endParaRPr b="0" lang="en-US" sz="1500" spc="-1" strike="noStrike">
              <a:solidFill>
                <a:srgbClr val="ffffff"/>
              </a:solidFill>
              <a:latin typeface="Arial"/>
            </a:endParaRPr>
          </a:p>
        </p:txBody>
      </p:sp>
      <p:sp>
        <p:nvSpPr>
          <p:cNvPr id="1797" name="o33"/>
          <p:cNvSpPr/>
          <p:nvPr/>
        </p:nvSpPr>
        <p:spPr>
          <a:xfrm>
            <a:off x="8065080" y="3703320"/>
            <a:ext cx="3565800" cy="2331360"/>
          </a:xfrm>
          <a:prstGeom prst="roundRect">
            <a:avLst>
              <a:gd name="adj" fmla="val 549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798" name="o34"/>
          <p:cNvSpPr/>
          <p:nvPr/>
        </p:nvSpPr>
        <p:spPr>
          <a:xfrm>
            <a:off x="8133480" y="3772080"/>
            <a:ext cx="3428640" cy="2194200"/>
          </a:xfrm>
          <a:prstGeom prst="roundRect">
            <a:avLst>
              <a:gd name="adj" fmla="val 2708"/>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799" name="o35" descr="186"/>
          <p:cNvPicPr/>
          <p:nvPr/>
        </p:nvPicPr>
        <p:blipFill>
          <a:blip r:embed="rId10"/>
          <a:stretch/>
        </p:blipFill>
        <p:spPr>
          <a:xfrm>
            <a:off x="8339400" y="3977640"/>
            <a:ext cx="1096920" cy="365400"/>
          </a:xfrm>
          <a:prstGeom prst="rect">
            <a:avLst/>
          </a:prstGeom>
          <a:ln w="0">
            <a:noFill/>
          </a:ln>
        </p:spPr>
      </p:pic>
      <p:sp>
        <p:nvSpPr>
          <p:cNvPr id="1800" name="o36"/>
          <p:cNvSpPr/>
          <p:nvPr/>
        </p:nvSpPr>
        <p:spPr>
          <a:xfrm>
            <a:off x="8339400" y="4572000"/>
            <a:ext cx="3017160" cy="6861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jeux aux ventes différentes entre les relevés : les ventes viennent toujours de la base 1</a:t>
            </a:r>
            <a:endParaRPr b="0" lang="en-US" sz="1500" spc="-1" strike="noStrike">
              <a:solidFill>
                <a:srgbClr val="ffffff"/>
              </a:solidFill>
              <a:latin typeface="Arial"/>
            </a:endParaRPr>
          </a:p>
        </p:txBody>
      </p:sp>
      <p:pic>
        <p:nvPicPr>
          <p:cNvPr id="1801" name="fin_pastille" descr="image-1-13.gif"/>
          <p:cNvPicPr/>
          <p:nvPr/>
        </p:nvPicPr>
        <p:blipFill>
          <a:blip r:embed="rId11"/>
          <a:stretch/>
        </p:blipFill>
        <p:spPr>
          <a:xfrm>
            <a:off x="11448360" y="6355080"/>
            <a:ext cx="182520" cy="182520"/>
          </a:xfrm>
          <a:prstGeom prst="rect">
            <a:avLst/>
          </a:prstGeom>
          <a:ln w="0">
            <a:noFill/>
          </a:ln>
        </p:spPr>
      </p:pic>
      <p:pic>
        <p:nvPicPr>
          <p:cNvPr id="1802" name="barre_fantome" descr="image.gif"/>
          <p:cNvPicPr/>
          <p:nvPr/>
        </p:nvPicPr>
        <p:blipFill>
          <a:blip r:embed="rId12"/>
          <a:stretch/>
        </p:blipFill>
        <p:spPr>
          <a:xfrm>
            <a:off x="6707664" y="6291000"/>
            <a:ext cx="310680" cy="310680"/>
          </a:xfrm>
          <a:prstGeom prst="rect">
            <a:avLst/>
          </a:prstGeom>
          <a:ln w="0">
            <a:noFill/>
          </a:ln>
        </p:spPr>
      </p:pic>
      <p:sp>
        <p:nvSpPr>
          <p:cNvPr id="1804" name="barre_pastille"/>
          <p:cNvSpPr/>
          <p:nvPr/>
        </p:nvSpPr>
        <p:spPr>
          <a:xfrm>
            <a:off x="7772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04"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05"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06"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07"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08"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09"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10"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11"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12"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13"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14"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15"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16"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17"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18"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803" name="barre_pacman" descr="image.gif"/>
          <p:cNvPicPr/>
          <p:nvPr/>
        </p:nvPicPr>
        <p:blipFill>
          <a:blip r:embed="rId13"/>
          <a:stretch/>
        </p:blipFill>
        <p:spPr>
          <a:xfrm>
            <a:off x="7274664" y="6291000"/>
            <a:ext cx="310680" cy="310680"/>
          </a:xfrm>
          <a:prstGeom prst="rect">
            <a:avLst/>
          </a:prstGeom>
          <a:ln w="0">
            <a:noFill/>
          </a:ln>
        </p:spPr>
      </p:pic>
      <p:sp>
        <p:nvSpPr>
          <p:cNvPr id="1819"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143" dur="indefinite" restart="never" nodeType="tmRoot">
          <p:childTnLst>
            <p:seq>
              <p:cTn id="2144" dur="indefinite" nodeType="mainSeq">
                <p:childTnLst>
                  <p:par>
                    <p:cTn id="2145" fill="hold">
                      <p:stCondLst>
                        <p:cond delay="0"/>
                      </p:stCondLst>
                      <p:childTnLst>
                        <p:par>
                          <p:cTn id="2146" fill="hold">
                            <p:stCondLst>
                              <p:cond delay="0"/>
                            </p:stCondLst>
                            <p:childTnLst>
                              <p:par>
                                <p:cTn id="2147" nodeType="withEffect" fill="hold" presetClass="path">
                                  <p:stCondLst>
                                    <p:cond delay="0"/>
                                  </p:stCondLst>
                                  <p:childTnLst>
                                    <p:animMotion origin="layout" path="M 0 0 L 0.02252 0 E">
                                      <p:cBhvr>
                                        <p:cTn id="2148" dur="900" fill="hold"/>
                                        <p:tgtEl>
                                          <p:spTgt spid="1802"/>
                                        </p:tgtEl>
                                        <p:attrNameLst>
                                          <p:attrName>ppt_x</p:attrName>
                                          <p:attrName>ppt_y</p:attrName>
                                        </p:attrNameLst>
                                      </p:cBhvr>
                                    </p:animMotion>
                                  </p:childTnLst>
                                </p:cTn>
                              </p:par>
                              <p:par>
                                <p:cTn id="2149" nodeType="withEffect" fill="hold" presetClass="path">
                                  <p:stCondLst>
                                    <p:cond delay="0"/>
                                  </p:stCondLst>
                                  <p:childTnLst>
                                    <p:animMotion origin="layout" path="M 0 0 L 0.02252 0 E">
                                      <p:cBhvr>
                                        <p:cTn id="2150" dur="900" fill="hold"/>
                                        <p:tgtEl>
                                          <p:spTgt spid="1803"/>
                                        </p:tgtEl>
                                        <p:attrNameLst>
                                          <p:attrName>ppt_x</p:attrName>
                                          <p:attrName>ppt_y</p:attrName>
                                        </p:attrNameLst>
                                      </p:cBhvr>
                                    </p:animMotion>
                                  </p:childTnLst>
                                </p:cTn>
                              </p:par>
                              <p:par>
                                <p:cTn id="2151" nodeType="withEffect" fill="hold" presetClass="exit" presetID="1">
                                  <p:stCondLst>
                                    <p:cond delay="471"/>
                                  </p:stCondLst>
                                  <p:childTnLst>
                                    <p:set>
                                      <p:cBhvr>
                                        <p:cTn id="2152" dur="1" fill="hold">
                                          <p:stCondLst>
                                            <p:cond delay="0"/>
                                          </p:stCondLst>
                                        </p:cTn>
                                        <p:tgtEl>
                                          <p:spTgt spid="1804"/>
                                        </p:tgtEl>
                                        <p:attrNameLst>
                                          <p:attrName>style.visibility</p:attrName>
                                        </p:attrNameLst>
                                      </p:cBhvr>
                                      <p:to>
                                        <p:strVal val="hidden"/>
                                      </p:to>
                                    </p:set>
                                  </p:childTnLst>
                                </p:cTn>
                              </p:par>
                              <p:par>
                                <p:cTn id="2153" nodeType="withEffect" fill="hold" presetClass="entr" presetID="10">
                                  <p:stCondLst>
                                    <p:cond delay="150"/>
                                  </p:stCondLst>
                                  <p:childTnLst>
                                    <p:set>
                                      <p:cBhvr>
                                        <p:cTn id="2154" dur="1" fill="hold">
                                          <p:stCondLst>
                                            <p:cond delay="0"/>
                                          </p:stCondLst>
                                        </p:cTn>
                                        <p:tgtEl>
                                          <p:spTgt spid="1768"/>
                                        </p:tgtEl>
                                        <p:attrNameLst>
                                          <p:attrName>style.visibility</p:attrName>
                                        </p:attrNameLst>
                                      </p:cBhvr>
                                      <p:to>
                                        <p:strVal val="visible"/>
                                      </p:to>
                                    </p:set>
                                    <p:animEffect filter="fade" transition="in">
                                      <p:cBhvr additive="repl">
                                        <p:cTn id="2155" dur="400"/>
                                        <p:tgtEl>
                                          <p:spTgt spid="1768"/>
                                        </p:tgtEl>
                                      </p:cBhvr>
                                    </p:animEffect>
                                  </p:childTnLst>
                                </p:cTn>
                              </p:par>
                              <p:par>
                                <p:cTn id="2156" nodeType="withEffect" fill="hold" presetClass="entr" presetID="10">
                                  <p:stCondLst>
                                    <p:cond delay="150"/>
                                  </p:stCondLst>
                                  <p:childTnLst>
                                    <p:set>
                                      <p:cBhvr>
                                        <p:cTn id="2157" dur="1" fill="hold">
                                          <p:stCondLst>
                                            <p:cond delay="0"/>
                                          </p:stCondLst>
                                        </p:cTn>
                                        <p:tgtEl>
                                          <p:spTgt spid="1769"/>
                                        </p:tgtEl>
                                        <p:attrNameLst>
                                          <p:attrName>style.visibility</p:attrName>
                                        </p:attrNameLst>
                                      </p:cBhvr>
                                      <p:to>
                                        <p:strVal val="visible"/>
                                      </p:to>
                                    </p:set>
                                    <p:animEffect filter="fade" transition="in">
                                      <p:cBhvr additive="repl">
                                        <p:cTn id="2158" dur="400"/>
                                        <p:tgtEl>
                                          <p:spTgt spid="1769"/>
                                        </p:tgtEl>
                                      </p:cBhvr>
                                    </p:animEffect>
                                  </p:childTnLst>
                                </p:cTn>
                              </p:par>
                              <p:par>
                                <p:cTn id="2159" nodeType="withEffect" fill="hold" presetClass="entr" presetID="10">
                                  <p:stCondLst>
                                    <p:cond delay="150"/>
                                  </p:stCondLst>
                                  <p:childTnLst>
                                    <p:set>
                                      <p:cBhvr>
                                        <p:cTn id="2160" dur="1" fill="hold">
                                          <p:stCondLst>
                                            <p:cond delay="0"/>
                                          </p:stCondLst>
                                        </p:cTn>
                                        <p:tgtEl>
                                          <p:spTgt spid="1770"/>
                                        </p:tgtEl>
                                        <p:attrNameLst>
                                          <p:attrName>style.visibility</p:attrName>
                                        </p:attrNameLst>
                                      </p:cBhvr>
                                      <p:to>
                                        <p:strVal val="visible"/>
                                      </p:to>
                                    </p:set>
                                    <p:animEffect filter="fade" transition="in">
                                      <p:cBhvr additive="repl">
                                        <p:cTn id="2161" dur="400"/>
                                        <p:tgtEl>
                                          <p:spTgt spid="1770"/>
                                        </p:tgtEl>
                                      </p:cBhvr>
                                    </p:animEffect>
                                  </p:childTnLst>
                                </p:cTn>
                              </p:par>
                              <p:par>
                                <p:cTn id="2162" nodeType="withEffect" fill="hold" presetClass="entr" presetID="10">
                                  <p:stCondLst>
                                    <p:cond delay="150"/>
                                  </p:stCondLst>
                                  <p:childTnLst>
                                    <p:set>
                                      <p:cBhvr>
                                        <p:cTn id="2163" dur="1" fill="hold">
                                          <p:stCondLst>
                                            <p:cond delay="0"/>
                                          </p:stCondLst>
                                        </p:cTn>
                                        <p:tgtEl>
                                          <p:spTgt spid="1771"/>
                                        </p:tgtEl>
                                        <p:attrNameLst>
                                          <p:attrName>style.visibility</p:attrName>
                                        </p:attrNameLst>
                                      </p:cBhvr>
                                      <p:to>
                                        <p:strVal val="visible"/>
                                      </p:to>
                                    </p:set>
                                    <p:animEffect filter="fade" transition="in">
                                      <p:cBhvr additive="repl">
                                        <p:cTn id="2164" dur="400"/>
                                        <p:tgtEl>
                                          <p:spTgt spid="1771"/>
                                        </p:tgtEl>
                                      </p:cBhvr>
                                    </p:animEffect>
                                  </p:childTnLst>
                                </p:cTn>
                              </p:par>
                              <p:par>
                                <p:cTn id="2165" nodeType="withEffect" fill="hold" presetClass="entr" presetID="10">
                                  <p:stCondLst>
                                    <p:cond delay="150"/>
                                  </p:stCondLst>
                                  <p:childTnLst>
                                    <p:set>
                                      <p:cBhvr>
                                        <p:cTn id="2166" dur="1" fill="hold">
                                          <p:stCondLst>
                                            <p:cond delay="0"/>
                                          </p:stCondLst>
                                        </p:cTn>
                                        <p:tgtEl>
                                          <p:spTgt spid="1772"/>
                                        </p:tgtEl>
                                        <p:attrNameLst>
                                          <p:attrName>style.visibility</p:attrName>
                                        </p:attrNameLst>
                                      </p:cBhvr>
                                      <p:to>
                                        <p:strVal val="visible"/>
                                      </p:to>
                                    </p:set>
                                    <p:animEffect filter="fade" transition="in">
                                      <p:cBhvr additive="repl">
                                        <p:cTn id="2167" dur="400"/>
                                        <p:tgtEl>
                                          <p:spTgt spid="1772"/>
                                        </p:tgtEl>
                                      </p:cBhvr>
                                    </p:animEffect>
                                  </p:childTnLst>
                                </p:cTn>
                              </p:par>
                              <p:par>
                                <p:cTn id="2168" nodeType="withEffect" fill="hold" presetClass="entr" presetID="10">
                                  <p:stCondLst>
                                    <p:cond delay="150"/>
                                  </p:stCondLst>
                                  <p:childTnLst>
                                    <p:set>
                                      <p:cBhvr>
                                        <p:cTn id="2169" dur="1" fill="hold">
                                          <p:stCondLst>
                                            <p:cond delay="0"/>
                                          </p:stCondLst>
                                        </p:cTn>
                                        <p:tgtEl>
                                          <p:spTgt spid="1773"/>
                                        </p:tgtEl>
                                        <p:attrNameLst>
                                          <p:attrName>style.visibility</p:attrName>
                                        </p:attrNameLst>
                                      </p:cBhvr>
                                      <p:to>
                                        <p:strVal val="visible"/>
                                      </p:to>
                                    </p:set>
                                    <p:animEffect filter="fade" transition="in">
                                      <p:cBhvr additive="repl">
                                        <p:cTn id="2170" dur="400"/>
                                        <p:tgtEl>
                                          <p:spTgt spid="1773"/>
                                        </p:tgtEl>
                                      </p:cBhvr>
                                    </p:animEffect>
                                  </p:childTnLst>
                                </p:cTn>
                              </p:par>
                              <p:par>
                                <p:cTn id="2171" nodeType="withEffect" fill="hold" presetClass="entr" presetID="10">
                                  <p:stCondLst>
                                    <p:cond delay="330"/>
                                  </p:stCondLst>
                                  <p:childTnLst>
                                    <p:set>
                                      <p:cBhvr>
                                        <p:cTn id="2172" dur="1" fill="hold">
                                          <p:stCondLst>
                                            <p:cond delay="0"/>
                                          </p:stCondLst>
                                        </p:cTn>
                                        <p:tgtEl>
                                          <p:spTgt spid="1774"/>
                                        </p:tgtEl>
                                        <p:attrNameLst>
                                          <p:attrName>style.visibility</p:attrName>
                                        </p:attrNameLst>
                                      </p:cBhvr>
                                      <p:to>
                                        <p:strVal val="visible"/>
                                      </p:to>
                                    </p:set>
                                    <p:animEffect filter="fade" transition="in">
                                      <p:cBhvr additive="repl">
                                        <p:cTn id="2173" dur="400"/>
                                        <p:tgtEl>
                                          <p:spTgt spid="1774"/>
                                        </p:tgtEl>
                                      </p:cBhvr>
                                    </p:animEffect>
                                  </p:childTnLst>
                                </p:cTn>
                              </p:par>
                              <p:par>
                                <p:cTn id="2174" nodeType="withEffect" fill="hold" presetClass="entr" presetID="10">
                                  <p:stCondLst>
                                    <p:cond delay="330"/>
                                  </p:stCondLst>
                                  <p:childTnLst>
                                    <p:set>
                                      <p:cBhvr>
                                        <p:cTn id="2175" dur="1" fill="hold">
                                          <p:stCondLst>
                                            <p:cond delay="0"/>
                                          </p:stCondLst>
                                        </p:cTn>
                                        <p:tgtEl>
                                          <p:spTgt spid="1775"/>
                                        </p:tgtEl>
                                        <p:attrNameLst>
                                          <p:attrName>style.visibility</p:attrName>
                                        </p:attrNameLst>
                                      </p:cBhvr>
                                      <p:to>
                                        <p:strVal val="visible"/>
                                      </p:to>
                                    </p:set>
                                    <p:animEffect filter="fade" transition="in">
                                      <p:cBhvr additive="repl">
                                        <p:cTn id="2176" dur="400"/>
                                        <p:tgtEl>
                                          <p:spTgt spid="1775"/>
                                        </p:tgtEl>
                                      </p:cBhvr>
                                    </p:animEffect>
                                  </p:childTnLst>
                                </p:cTn>
                              </p:par>
                              <p:par>
                                <p:cTn id="2177" nodeType="withEffect" fill="hold" presetClass="entr" presetID="10">
                                  <p:stCondLst>
                                    <p:cond delay="330"/>
                                  </p:stCondLst>
                                  <p:childTnLst>
                                    <p:set>
                                      <p:cBhvr>
                                        <p:cTn id="2178" dur="1" fill="hold">
                                          <p:stCondLst>
                                            <p:cond delay="0"/>
                                          </p:stCondLst>
                                        </p:cTn>
                                        <p:tgtEl>
                                          <p:spTgt spid="1776"/>
                                        </p:tgtEl>
                                        <p:attrNameLst>
                                          <p:attrName>style.visibility</p:attrName>
                                        </p:attrNameLst>
                                      </p:cBhvr>
                                      <p:to>
                                        <p:strVal val="visible"/>
                                      </p:to>
                                    </p:set>
                                    <p:animEffect filter="fade" transition="in">
                                      <p:cBhvr additive="repl">
                                        <p:cTn id="2179" dur="400"/>
                                        <p:tgtEl>
                                          <p:spTgt spid="1776"/>
                                        </p:tgtEl>
                                      </p:cBhvr>
                                    </p:animEffect>
                                  </p:childTnLst>
                                </p:cTn>
                              </p:par>
                              <p:par>
                                <p:cTn id="2180" nodeType="withEffect" fill="hold" presetClass="entr" presetID="10">
                                  <p:stCondLst>
                                    <p:cond delay="330"/>
                                  </p:stCondLst>
                                  <p:childTnLst>
                                    <p:set>
                                      <p:cBhvr>
                                        <p:cTn id="2181" dur="1" fill="hold">
                                          <p:stCondLst>
                                            <p:cond delay="0"/>
                                          </p:stCondLst>
                                        </p:cTn>
                                        <p:tgtEl>
                                          <p:spTgt spid="1777"/>
                                        </p:tgtEl>
                                        <p:attrNameLst>
                                          <p:attrName>style.visibility</p:attrName>
                                        </p:attrNameLst>
                                      </p:cBhvr>
                                      <p:to>
                                        <p:strVal val="visible"/>
                                      </p:to>
                                    </p:set>
                                    <p:animEffect filter="fade" transition="in">
                                      <p:cBhvr additive="repl">
                                        <p:cTn id="2182" dur="400"/>
                                        <p:tgtEl>
                                          <p:spTgt spid="1777"/>
                                        </p:tgtEl>
                                      </p:cBhvr>
                                    </p:animEffect>
                                  </p:childTnLst>
                                </p:cTn>
                              </p:par>
                              <p:par>
                                <p:cTn id="2183" nodeType="withEffect" fill="hold" presetClass="entr" presetID="10">
                                  <p:stCondLst>
                                    <p:cond delay="330"/>
                                  </p:stCondLst>
                                  <p:childTnLst>
                                    <p:set>
                                      <p:cBhvr>
                                        <p:cTn id="2184" dur="1" fill="hold">
                                          <p:stCondLst>
                                            <p:cond delay="0"/>
                                          </p:stCondLst>
                                        </p:cTn>
                                        <p:tgtEl>
                                          <p:spTgt spid="1778"/>
                                        </p:tgtEl>
                                        <p:attrNameLst>
                                          <p:attrName>style.visibility</p:attrName>
                                        </p:attrNameLst>
                                      </p:cBhvr>
                                      <p:to>
                                        <p:strVal val="visible"/>
                                      </p:to>
                                    </p:set>
                                    <p:animEffect filter="fade" transition="in">
                                      <p:cBhvr additive="repl">
                                        <p:cTn id="2185" dur="400"/>
                                        <p:tgtEl>
                                          <p:spTgt spid="1778"/>
                                        </p:tgtEl>
                                      </p:cBhvr>
                                    </p:animEffect>
                                  </p:childTnLst>
                                </p:cTn>
                              </p:par>
                              <p:par>
                                <p:cTn id="2186" nodeType="withEffect" fill="hold" presetClass="entr" presetID="10">
                                  <p:stCondLst>
                                    <p:cond delay="330"/>
                                  </p:stCondLst>
                                  <p:childTnLst>
                                    <p:set>
                                      <p:cBhvr>
                                        <p:cTn id="2187" dur="1" fill="hold">
                                          <p:stCondLst>
                                            <p:cond delay="0"/>
                                          </p:stCondLst>
                                        </p:cTn>
                                        <p:tgtEl>
                                          <p:spTgt spid="1779"/>
                                        </p:tgtEl>
                                        <p:attrNameLst>
                                          <p:attrName>style.visibility</p:attrName>
                                        </p:attrNameLst>
                                      </p:cBhvr>
                                      <p:to>
                                        <p:strVal val="visible"/>
                                      </p:to>
                                    </p:set>
                                    <p:animEffect filter="fade" transition="in">
                                      <p:cBhvr additive="repl">
                                        <p:cTn id="2188" dur="400"/>
                                        <p:tgtEl>
                                          <p:spTgt spid="1779"/>
                                        </p:tgtEl>
                                      </p:cBhvr>
                                    </p:animEffect>
                                  </p:childTnLst>
                                </p:cTn>
                              </p:par>
                              <p:par>
                                <p:cTn id="2189" nodeType="withEffect" fill="hold" presetClass="entr" presetID="10">
                                  <p:stCondLst>
                                    <p:cond delay="330"/>
                                  </p:stCondLst>
                                  <p:childTnLst>
                                    <p:set>
                                      <p:cBhvr>
                                        <p:cTn id="2190" dur="1" fill="hold">
                                          <p:stCondLst>
                                            <p:cond delay="0"/>
                                          </p:stCondLst>
                                        </p:cTn>
                                        <p:tgtEl>
                                          <p:spTgt spid="1780"/>
                                        </p:tgtEl>
                                        <p:attrNameLst>
                                          <p:attrName>style.visibility</p:attrName>
                                        </p:attrNameLst>
                                      </p:cBhvr>
                                      <p:to>
                                        <p:strVal val="visible"/>
                                      </p:to>
                                    </p:set>
                                    <p:animEffect filter="fade" transition="in">
                                      <p:cBhvr additive="repl">
                                        <p:cTn id="2191" dur="400"/>
                                        <p:tgtEl>
                                          <p:spTgt spid="1780"/>
                                        </p:tgtEl>
                                      </p:cBhvr>
                                    </p:animEffect>
                                  </p:childTnLst>
                                </p:cTn>
                              </p:par>
                              <p:par>
                                <p:cTn id="2192" nodeType="withEffect" fill="hold" presetClass="entr" presetID="10">
                                  <p:stCondLst>
                                    <p:cond delay="510"/>
                                  </p:stCondLst>
                                  <p:childTnLst>
                                    <p:set>
                                      <p:cBhvr>
                                        <p:cTn id="2193" dur="1" fill="hold">
                                          <p:stCondLst>
                                            <p:cond delay="0"/>
                                          </p:stCondLst>
                                        </p:cTn>
                                        <p:tgtEl>
                                          <p:spTgt spid="1781"/>
                                        </p:tgtEl>
                                        <p:attrNameLst>
                                          <p:attrName>style.visibility</p:attrName>
                                        </p:attrNameLst>
                                      </p:cBhvr>
                                      <p:to>
                                        <p:strVal val="visible"/>
                                      </p:to>
                                    </p:set>
                                    <p:animEffect filter="fade" transition="in">
                                      <p:cBhvr additive="repl">
                                        <p:cTn id="2194" dur="400"/>
                                        <p:tgtEl>
                                          <p:spTgt spid="1781"/>
                                        </p:tgtEl>
                                      </p:cBhvr>
                                    </p:animEffect>
                                  </p:childTnLst>
                                </p:cTn>
                              </p:par>
                              <p:par>
                                <p:cTn id="2195" nodeType="withEffect" fill="hold" presetClass="entr" presetID="10">
                                  <p:stCondLst>
                                    <p:cond delay="510"/>
                                  </p:stCondLst>
                                  <p:childTnLst>
                                    <p:set>
                                      <p:cBhvr>
                                        <p:cTn id="2196" dur="1" fill="hold">
                                          <p:stCondLst>
                                            <p:cond delay="0"/>
                                          </p:stCondLst>
                                        </p:cTn>
                                        <p:tgtEl>
                                          <p:spTgt spid="1782"/>
                                        </p:tgtEl>
                                        <p:attrNameLst>
                                          <p:attrName>style.visibility</p:attrName>
                                        </p:attrNameLst>
                                      </p:cBhvr>
                                      <p:to>
                                        <p:strVal val="visible"/>
                                      </p:to>
                                    </p:set>
                                    <p:animEffect filter="fade" transition="in">
                                      <p:cBhvr additive="repl">
                                        <p:cTn id="2197" dur="400"/>
                                        <p:tgtEl>
                                          <p:spTgt spid="1782"/>
                                        </p:tgtEl>
                                      </p:cBhvr>
                                    </p:animEffect>
                                  </p:childTnLst>
                                </p:cTn>
                              </p:par>
                              <p:par>
                                <p:cTn id="2198" nodeType="withEffect" fill="hold" presetClass="entr" presetID="10">
                                  <p:stCondLst>
                                    <p:cond delay="510"/>
                                  </p:stCondLst>
                                  <p:childTnLst>
                                    <p:set>
                                      <p:cBhvr>
                                        <p:cTn id="2199" dur="1" fill="hold">
                                          <p:stCondLst>
                                            <p:cond delay="0"/>
                                          </p:stCondLst>
                                        </p:cTn>
                                        <p:tgtEl>
                                          <p:spTgt spid="1783"/>
                                        </p:tgtEl>
                                        <p:attrNameLst>
                                          <p:attrName>style.visibility</p:attrName>
                                        </p:attrNameLst>
                                      </p:cBhvr>
                                      <p:to>
                                        <p:strVal val="visible"/>
                                      </p:to>
                                    </p:set>
                                    <p:animEffect filter="fade" transition="in">
                                      <p:cBhvr additive="repl">
                                        <p:cTn id="2200" dur="400"/>
                                        <p:tgtEl>
                                          <p:spTgt spid="1783"/>
                                        </p:tgtEl>
                                      </p:cBhvr>
                                    </p:animEffect>
                                  </p:childTnLst>
                                </p:cTn>
                              </p:par>
                              <p:par>
                                <p:cTn id="2201" nodeType="withEffect" fill="hold" presetClass="entr" presetID="10">
                                  <p:stCondLst>
                                    <p:cond delay="510"/>
                                  </p:stCondLst>
                                  <p:childTnLst>
                                    <p:set>
                                      <p:cBhvr>
                                        <p:cTn id="2202" dur="1" fill="hold">
                                          <p:stCondLst>
                                            <p:cond delay="0"/>
                                          </p:stCondLst>
                                        </p:cTn>
                                        <p:tgtEl>
                                          <p:spTgt spid="1784"/>
                                        </p:tgtEl>
                                        <p:attrNameLst>
                                          <p:attrName>style.visibility</p:attrName>
                                        </p:attrNameLst>
                                      </p:cBhvr>
                                      <p:to>
                                        <p:strVal val="visible"/>
                                      </p:to>
                                    </p:set>
                                    <p:animEffect filter="fade" transition="in">
                                      <p:cBhvr additive="repl">
                                        <p:cTn id="2203" dur="400"/>
                                        <p:tgtEl>
                                          <p:spTgt spid="1784"/>
                                        </p:tgtEl>
                                      </p:cBhvr>
                                    </p:animEffect>
                                  </p:childTnLst>
                                </p:cTn>
                              </p:par>
                              <p:par>
                                <p:cTn id="2204" nodeType="withEffect" fill="hold" presetClass="entr" presetID="10">
                                  <p:stCondLst>
                                    <p:cond delay="510"/>
                                  </p:stCondLst>
                                  <p:childTnLst>
                                    <p:set>
                                      <p:cBhvr>
                                        <p:cTn id="2205" dur="1" fill="hold">
                                          <p:stCondLst>
                                            <p:cond delay="0"/>
                                          </p:stCondLst>
                                        </p:cTn>
                                        <p:tgtEl>
                                          <p:spTgt spid="1785"/>
                                        </p:tgtEl>
                                        <p:attrNameLst>
                                          <p:attrName>style.visibility</p:attrName>
                                        </p:attrNameLst>
                                      </p:cBhvr>
                                      <p:to>
                                        <p:strVal val="visible"/>
                                      </p:to>
                                    </p:set>
                                    <p:animEffect filter="fade" transition="in">
                                      <p:cBhvr additive="repl">
                                        <p:cTn id="2206" dur="400"/>
                                        <p:tgtEl>
                                          <p:spTgt spid="1785"/>
                                        </p:tgtEl>
                                      </p:cBhvr>
                                    </p:animEffect>
                                  </p:childTnLst>
                                </p:cTn>
                              </p:par>
                              <p:par>
                                <p:cTn id="2207" nodeType="withEffect" fill="hold" presetClass="entr" presetID="10">
                                  <p:stCondLst>
                                    <p:cond delay="510"/>
                                  </p:stCondLst>
                                  <p:childTnLst>
                                    <p:set>
                                      <p:cBhvr>
                                        <p:cTn id="2208" dur="1" fill="hold">
                                          <p:stCondLst>
                                            <p:cond delay="0"/>
                                          </p:stCondLst>
                                        </p:cTn>
                                        <p:tgtEl>
                                          <p:spTgt spid="1786"/>
                                        </p:tgtEl>
                                        <p:attrNameLst>
                                          <p:attrName>style.visibility</p:attrName>
                                        </p:attrNameLst>
                                      </p:cBhvr>
                                      <p:to>
                                        <p:strVal val="visible"/>
                                      </p:to>
                                    </p:set>
                                    <p:animEffect filter="fade" transition="in">
                                      <p:cBhvr additive="repl">
                                        <p:cTn id="2209" dur="400"/>
                                        <p:tgtEl>
                                          <p:spTgt spid="1786"/>
                                        </p:tgtEl>
                                      </p:cBhvr>
                                    </p:animEffect>
                                  </p:childTnLst>
                                </p:cTn>
                              </p:par>
                              <p:par>
                                <p:cTn id="2210" nodeType="withEffect" fill="hold" presetClass="entr" presetID="10">
                                  <p:stCondLst>
                                    <p:cond delay="510"/>
                                  </p:stCondLst>
                                  <p:childTnLst>
                                    <p:set>
                                      <p:cBhvr>
                                        <p:cTn id="2211" dur="1" fill="hold">
                                          <p:stCondLst>
                                            <p:cond delay="0"/>
                                          </p:stCondLst>
                                        </p:cTn>
                                        <p:tgtEl>
                                          <p:spTgt spid="1787"/>
                                        </p:tgtEl>
                                        <p:attrNameLst>
                                          <p:attrName>style.visibility</p:attrName>
                                        </p:attrNameLst>
                                      </p:cBhvr>
                                      <p:to>
                                        <p:strVal val="visible"/>
                                      </p:to>
                                    </p:set>
                                    <p:animEffect filter="fade" transition="in">
                                      <p:cBhvr additive="repl">
                                        <p:cTn id="2212" dur="400"/>
                                        <p:tgtEl>
                                          <p:spTgt spid="1787"/>
                                        </p:tgtEl>
                                      </p:cBhvr>
                                    </p:animEffect>
                                  </p:childTnLst>
                                </p:cTn>
                              </p:par>
                              <p:par>
                                <p:cTn id="2213" nodeType="withEffect" fill="hold" presetClass="entr" presetID="10">
                                  <p:stCondLst>
                                    <p:cond delay="690"/>
                                  </p:stCondLst>
                                  <p:childTnLst>
                                    <p:set>
                                      <p:cBhvr>
                                        <p:cTn id="2214" dur="1" fill="hold">
                                          <p:stCondLst>
                                            <p:cond delay="0"/>
                                          </p:stCondLst>
                                        </p:cTn>
                                        <p:tgtEl>
                                          <p:spTgt spid="1788"/>
                                        </p:tgtEl>
                                        <p:attrNameLst>
                                          <p:attrName>style.visibility</p:attrName>
                                        </p:attrNameLst>
                                      </p:cBhvr>
                                      <p:to>
                                        <p:strVal val="visible"/>
                                      </p:to>
                                    </p:set>
                                    <p:animEffect filter="fade" transition="in">
                                      <p:cBhvr additive="repl">
                                        <p:cTn id="2215" dur="400"/>
                                        <p:tgtEl>
                                          <p:spTgt spid="1788"/>
                                        </p:tgtEl>
                                      </p:cBhvr>
                                    </p:animEffect>
                                  </p:childTnLst>
                                </p:cTn>
                              </p:par>
                              <p:par>
                                <p:cTn id="2216" nodeType="withEffect" fill="hold" presetClass="entr" presetID="10">
                                  <p:stCondLst>
                                    <p:cond delay="1000"/>
                                  </p:stCondLst>
                                  <p:childTnLst>
                                    <p:set>
                                      <p:cBhvr>
                                        <p:cTn id="2217" dur="1" fill="hold">
                                          <p:stCondLst>
                                            <p:cond delay="0"/>
                                          </p:stCondLst>
                                        </p:cTn>
                                        <p:tgtEl>
                                          <p:spTgt spid="1789"/>
                                        </p:tgtEl>
                                        <p:attrNameLst>
                                          <p:attrName>style.visibility</p:attrName>
                                        </p:attrNameLst>
                                      </p:cBhvr>
                                      <p:to>
                                        <p:strVal val="visible"/>
                                      </p:to>
                                    </p:set>
                                    <p:animEffect filter="fade" transition="in">
                                      <p:cBhvr additive="repl">
                                        <p:cTn id="2218" dur="400"/>
                                        <p:tgtEl>
                                          <p:spTgt spid="1789"/>
                                        </p:tgtEl>
                                      </p:cBhvr>
                                    </p:animEffect>
                                  </p:childTnLst>
                                </p:cTn>
                              </p:par>
                              <p:par>
                                <p:cTn id="2219" nodeType="withEffect" fill="hold" presetClass="entr" presetID="10">
                                  <p:stCondLst>
                                    <p:cond delay="1000"/>
                                  </p:stCondLst>
                                  <p:childTnLst>
                                    <p:set>
                                      <p:cBhvr>
                                        <p:cTn id="2220" dur="1" fill="hold">
                                          <p:stCondLst>
                                            <p:cond delay="0"/>
                                          </p:stCondLst>
                                        </p:cTn>
                                        <p:tgtEl>
                                          <p:spTgt spid="1790"/>
                                        </p:tgtEl>
                                        <p:attrNameLst>
                                          <p:attrName>style.visibility</p:attrName>
                                        </p:attrNameLst>
                                      </p:cBhvr>
                                      <p:to>
                                        <p:strVal val="visible"/>
                                      </p:to>
                                    </p:set>
                                    <p:animEffect filter="fade" transition="in">
                                      <p:cBhvr additive="repl">
                                        <p:cTn id="2221" dur="400"/>
                                        <p:tgtEl>
                                          <p:spTgt spid="1790"/>
                                        </p:tgtEl>
                                      </p:cBhvr>
                                    </p:animEffect>
                                  </p:childTnLst>
                                </p:cTn>
                              </p:par>
                              <p:par>
                                <p:cTn id="2222" nodeType="withEffect" fill="hold" presetClass="entr" presetID="10">
                                  <p:stCondLst>
                                    <p:cond delay="1000"/>
                                  </p:stCondLst>
                                  <p:childTnLst>
                                    <p:set>
                                      <p:cBhvr>
                                        <p:cTn id="2223" dur="1" fill="hold">
                                          <p:stCondLst>
                                            <p:cond delay="0"/>
                                          </p:stCondLst>
                                        </p:cTn>
                                        <p:tgtEl>
                                          <p:spTgt spid="1791"/>
                                        </p:tgtEl>
                                        <p:attrNameLst>
                                          <p:attrName>style.visibility</p:attrName>
                                        </p:attrNameLst>
                                      </p:cBhvr>
                                      <p:to>
                                        <p:strVal val="visible"/>
                                      </p:to>
                                    </p:set>
                                    <p:animEffect filter="fade" transition="in">
                                      <p:cBhvr additive="repl">
                                        <p:cTn id="2224" dur="400"/>
                                        <p:tgtEl>
                                          <p:spTgt spid="1791"/>
                                        </p:tgtEl>
                                      </p:cBhvr>
                                    </p:animEffect>
                                  </p:childTnLst>
                                </p:cTn>
                              </p:par>
                              <p:par>
                                <p:cTn id="2225" nodeType="withEffect" fill="hold" presetClass="entr" presetID="10">
                                  <p:stCondLst>
                                    <p:cond delay="1000"/>
                                  </p:stCondLst>
                                  <p:childTnLst>
                                    <p:set>
                                      <p:cBhvr>
                                        <p:cTn id="2226" dur="1" fill="hold">
                                          <p:stCondLst>
                                            <p:cond delay="0"/>
                                          </p:stCondLst>
                                        </p:cTn>
                                        <p:tgtEl>
                                          <p:spTgt spid="1792"/>
                                        </p:tgtEl>
                                        <p:attrNameLst>
                                          <p:attrName>style.visibility</p:attrName>
                                        </p:attrNameLst>
                                      </p:cBhvr>
                                      <p:to>
                                        <p:strVal val="visible"/>
                                      </p:to>
                                    </p:set>
                                    <p:animEffect filter="fade" transition="in">
                                      <p:cBhvr additive="repl">
                                        <p:cTn id="2227" dur="400"/>
                                        <p:tgtEl>
                                          <p:spTgt spid="1792"/>
                                        </p:tgtEl>
                                      </p:cBhvr>
                                    </p:animEffect>
                                  </p:childTnLst>
                                </p:cTn>
                              </p:par>
                              <p:par>
                                <p:cTn id="2228" nodeType="withEffect" fill="hold" presetClass="entr" presetID="10">
                                  <p:stCondLst>
                                    <p:cond delay="1200"/>
                                  </p:stCondLst>
                                  <p:childTnLst>
                                    <p:set>
                                      <p:cBhvr>
                                        <p:cTn id="2229" dur="1" fill="hold">
                                          <p:stCondLst>
                                            <p:cond delay="0"/>
                                          </p:stCondLst>
                                        </p:cTn>
                                        <p:tgtEl>
                                          <p:spTgt spid="1793"/>
                                        </p:tgtEl>
                                        <p:attrNameLst>
                                          <p:attrName>style.visibility</p:attrName>
                                        </p:attrNameLst>
                                      </p:cBhvr>
                                      <p:to>
                                        <p:strVal val="visible"/>
                                      </p:to>
                                    </p:set>
                                    <p:animEffect filter="fade" transition="in">
                                      <p:cBhvr additive="repl">
                                        <p:cTn id="2230" dur="400"/>
                                        <p:tgtEl>
                                          <p:spTgt spid="1793"/>
                                        </p:tgtEl>
                                      </p:cBhvr>
                                    </p:animEffect>
                                  </p:childTnLst>
                                </p:cTn>
                              </p:par>
                              <p:par>
                                <p:cTn id="2231" nodeType="withEffect" fill="hold" presetClass="entr" presetID="10">
                                  <p:stCondLst>
                                    <p:cond delay="1200"/>
                                  </p:stCondLst>
                                  <p:childTnLst>
                                    <p:set>
                                      <p:cBhvr>
                                        <p:cTn id="2232" dur="1" fill="hold">
                                          <p:stCondLst>
                                            <p:cond delay="0"/>
                                          </p:stCondLst>
                                        </p:cTn>
                                        <p:tgtEl>
                                          <p:spTgt spid="1794"/>
                                        </p:tgtEl>
                                        <p:attrNameLst>
                                          <p:attrName>style.visibility</p:attrName>
                                        </p:attrNameLst>
                                      </p:cBhvr>
                                      <p:to>
                                        <p:strVal val="visible"/>
                                      </p:to>
                                    </p:set>
                                    <p:animEffect filter="fade" transition="in">
                                      <p:cBhvr additive="repl">
                                        <p:cTn id="2233" dur="400"/>
                                        <p:tgtEl>
                                          <p:spTgt spid="1794"/>
                                        </p:tgtEl>
                                      </p:cBhvr>
                                    </p:animEffect>
                                  </p:childTnLst>
                                </p:cTn>
                              </p:par>
                              <p:par>
                                <p:cTn id="2234" nodeType="withEffect" fill="hold" presetClass="entr" presetID="10">
                                  <p:stCondLst>
                                    <p:cond delay="1200"/>
                                  </p:stCondLst>
                                  <p:childTnLst>
                                    <p:set>
                                      <p:cBhvr>
                                        <p:cTn id="2235" dur="1" fill="hold">
                                          <p:stCondLst>
                                            <p:cond delay="0"/>
                                          </p:stCondLst>
                                        </p:cTn>
                                        <p:tgtEl>
                                          <p:spTgt spid="1795"/>
                                        </p:tgtEl>
                                        <p:attrNameLst>
                                          <p:attrName>style.visibility</p:attrName>
                                        </p:attrNameLst>
                                      </p:cBhvr>
                                      <p:to>
                                        <p:strVal val="visible"/>
                                      </p:to>
                                    </p:set>
                                    <p:animEffect filter="fade" transition="in">
                                      <p:cBhvr additive="repl">
                                        <p:cTn id="2236" dur="400"/>
                                        <p:tgtEl>
                                          <p:spTgt spid="1795"/>
                                        </p:tgtEl>
                                      </p:cBhvr>
                                    </p:animEffect>
                                  </p:childTnLst>
                                </p:cTn>
                              </p:par>
                              <p:par>
                                <p:cTn id="2237" nodeType="withEffect" fill="hold" presetClass="entr" presetID="10">
                                  <p:stCondLst>
                                    <p:cond delay="1200"/>
                                  </p:stCondLst>
                                  <p:childTnLst>
                                    <p:set>
                                      <p:cBhvr>
                                        <p:cTn id="2238" dur="1" fill="hold">
                                          <p:stCondLst>
                                            <p:cond delay="0"/>
                                          </p:stCondLst>
                                        </p:cTn>
                                        <p:tgtEl>
                                          <p:spTgt spid="1796"/>
                                        </p:tgtEl>
                                        <p:attrNameLst>
                                          <p:attrName>style.visibility</p:attrName>
                                        </p:attrNameLst>
                                      </p:cBhvr>
                                      <p:to>
                                        <p:strVal val="visible"/>
                                      </p:to>
                                    </p:set>
                                    <p:animEffect filter="fade" transition="in">
                                      <p:cBhvr additive="repl">
                                        <p:cTn id="2239" dur="400"/>
                                        <p:tgtEl>
                                          <p:spTgt spid="1796"/>
                                        </p:tgtEl>
                                      </p:cBhvr>
                                    </p:animEffect>
                                  </p:childTnLst>
                                </p:cTn>
                              </p:par>
                              <p:par>
                                <p:cTn id="2240" nodeType="withEffect" fill="hold" presetClass="entr" presetID="10">
                                  <p:stCondLst>
                                    <p:cond delay="1400"/>
                                  </p:stCondLst>
                                  <p:childTnLst>
                                    <p:set>
                                      <p:cBhvr>
                                        <p:cTn id="2241" dur="1" fill="hold">
                                          <p:stCondLst>
                                            <p:cond delay="0"/>
                                          </p:stCondLst>
                                        </p:cTn>
                                        <p:tgtEl>
                                          <p:spTgt spid="1797"/>
                                        </p:tgtEl>
                                        <p:attrNameLst>
                                          <p:attrName>style.visibility</p:attrName>
                                        </p:attrNameLst>
                                      </p:cBhvr>
                                      <p:to>
                                        <p:strVal val="visible"/>
                                      </p:to>
                                    </p:set>
                                    <p:animEffect filter="fade" transition="in">
                                      <p:cBhvr additive="repl">
                                        <p:cTn id="2242" dur="400"/>
                                        <p:tgtEl>
                                          <p:spTgt spid="1797"/>
                                        </p:tgtEl>
                                      </p:cBhvr>
                                    </p:animEffect>
                                  </p:childTnLst>
                                </p:cTn>
                              </p:par>
                              <p:par>
                                <p:cTn id="2243" nodeType="withEffect" fill="hold" presetClass="entr" presetID="10">
                                  <p:stCondLst>
                                    <p:cond delay="1400"/>
                                  </p:stCondLst>
                                  <p:childTnLst>
                                    <p:set>
                                      <p:cBhvr>
                                        <p:cTn id="2244" dur="1" fill="hold">
                                          <p:stCondLst>
                                            <p:cond delay="0"/>
                                          </p:stCondLst>
                                        </p:cTn>
                                        <p:tgtEl>
                                          <p:spTgt spid="1798"/>
                                        </p:tgtEl>
                                        <p:attrNameLst>
                                          <p:attrName>style.visibility</p:attrName>
                                        </p:attrNameLst>
                                      </p:cBhvr>
                                      <p:to>
                                        <p:strVal val="visible"/>
                                      </p:to>
                                    </p:set>
                                    <p:animEffect filter="fade" transition="in">
                                      <p:cBhvr additive="repl">
                                        <p:cTn id="2245" dur="400"/>
                                        <p:tgtEl>
                                          <p:spTgt spid="1798"/>
                                        </p:tgtEl>
                                      </p:cBhvr>
                                    </p:animEffect>
                                  </p:childTnLst>
                                </p:cTn>
                              </p:par>
                              <p:par>
                                <p:cTn id="2246" nodeType="withEffect" fill="hold" presetClass="entr" presetID="10">
                                  <p:stCondLst>
                                    <p:cond delay="1400"/>
                                  </p:stCondLst>
                                  <p:childTnLst>
                                    <p:set>
                                      <p:cBhvr>
                                        <p:cTn id="2247" dur="1" fill="hold">
                                          <p:stCondLst>
                                            <p:cond delay="0"/>
                                          </p:stCondLst>
                                        </p:cTn>
                                        <p:tgtEl>
                                          <p:spTgt spid="1799"/>
                                        </p:tgtEl>
                                        <p:attrNameLst>
                                          <p:attrName>style.visibility</p:attrName>
                                        </p:attrNameLst>
                                      </p:cBhvr>
                                      <p:to>
                                        <p:strVal val="visible"/>
                                      </p:to>
                                    </p:set>
                                    <p:animEffect filter="fade" transition="in">
                                      <p:cBhvr additive="repl">
                                        <p:cTn id="2248" dur="400"/>
                                        <p:tgtEl>
                                          <p:spTgt spid="1799"/>
                                        </p:tgtEl>
                                      </p:cBhvr>
                                    </p:animEffect>
                                  </p:childTnLst>
                                </p:cTn>
                              </p:par>
                              <p:par>
                                <p:cTn id="2249" nodeType="withEffect" fill="hold" presetClass="entr" presetID="10">
                                  <p:stCondLst>
                                    <p:cond delay="1400"/>
                                  </p:stCondLst>
                                  <p:childTnLst>
                                    <p:set>
                                      <p:cBhvr>
                                        <p:cTn id="2250" dur="1" fill="hold">
                                          <p:stCondLst>
                                            <p:cond delay="0"/>
                                          </p:stCondLst>
                                        </p:cTn>
                                        <p:tgtEl>
                                          <p:spTgt spid="1800"/>
                                        </p:tgtEl>
                                        <p:attrNameLst>
                                          <p:attrName>style.visibility</p:attrName>
                                        </p:attrNameLst>
                                      </p:cBhvr>
                                      <p:to>
                                        <p:strVal val="visible"/>
                                      </p:to>
                                    </p:set>
                                    <p:animEffect filter="fade" transition="in">
                                      <p:cBhvr additive="repl">
                                        <p:cTn id="2251" dur="400"/>
                                        <p:tgtEl>
                                          <p:spTgt spid="18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820" name="o1" descr="LEVEL 3 → JOINTURE"/>
          <p:cNvPicPr/>
          <p:nvPr/>
        </p:nvPicPr>
        <p:blipFill>
          <a:blip r:embed="rId1"/>
          <a:stretch/>
        </p:blipFill>
        <p:spPr>
          <a:xfrm>
            <a:off x="548640" y="411480"/>
            <a:ext cx="2633040" cy="145800"/>
          </a:xfrm>
          <a:prstGeom prst="rect">
            <a:avLst/>
          </a:prstGeom>
          <a:ln w="0">
            <a:noFill/>
          </a:ln>
        </p:spPr>
      </p:pic>
      <p:pic>
        <p:nvPicPr>
          <p:cNvPr id="1821" name="o2" descr="Relié ≠ noté : le biais"/>
          <p:cNvPicPr/>
          <p:nvPr/>
        </p:nvPicPr>
        <p:blipFill>
          <a:blip r:embed="rId2"/>
          <a:stretch/>
        </p:blipFill>
        <p:spPr>
          <a:xfrm>
            <a:off x="548640" y="777240"/>
            <a:ext cx="6309000" cy="273960"/>
          </a:xfrm>
          <a:prstGeom prst="rect">
            <a:avLst/>
          </a:prstGeom>
          <a:ln w="0">
            <a:noFill/>
          </a:ln>
        </p:spPr>
      </p:pic>
      <p:pic>
        <p:nvPicPr>
          <p:cNvPr id="1822" name="o3" descr="image-2-13.png"/>
          <p:cNvPicPr/>
          <p:nvPr/>
        </p:nvPicPr>
        <p:blipFill>
          <a:blip r:embed="rId3"/>
          <a:stretch/>
        </p:blipFill>
        <p:spPr>
          <a:xfrm>
            <a:off x="11073240" y="365760"/>
            <a:ext cx="566640" cy="566640"/>
          </a:xfrm>
          <a:prstGeom prst="rect">
            <a:avLst/>
          </a:prstGeom>
          <a:ln w="0">
            <a:noFill/>
          </a:ln>
        </p:spPr>
      </p:pic>
      <p:graphicFrame>
        <p:nvGraphicFramePr>
          <p:cNvPr id="1823" name="o4"/>
          <p:cNvGraphicFramePr/>
          <p:nvPr/>
        </p:nvGraphicFramePr>
        <p:xfrm>
          <a:off x="457200" y="1600200"/>
          <a:ext cx="7314840" cy="4434480"/>
        </p:xfrm>
        <a:graphic>
          <a:graphicData uri="http://schemas.openxmlformats.org/drawingml/2006/chart">
            <c:chart xmlns:c="http://schemas.openxmlformats.org/drawingml/2006/chart" xmlns:r="http://schemas.openxmlformats.org/officeDocument/2006/relationships" r:id="rId4"/>
          </a:graphicData>
        </a:graphic>
      </p:graphicFrame>
      <p:sp>
        <p:nvSpPr>
          <p:cNvPr id="1824" name="o5"/>
          <p:cNvSpPr/>
          <p:nvPr/>
        </p:nvSpPr>
        <p:spPr>
          <a:xfrm>
            <a:off x="8183880" y="1691640"/>
            <a:ext cx="3456000" cy="2468520"/>
          </a:xfrm>
          <a:prstGeom prst="roundRect">
            <a:avLst>
              <a:gd name="adj" fmla="val 5185"/>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25" name="o6"/>
          <p:cNvSpPr/>
          <p:nvPr/>
        </p:nvSpPr>
        <p:spPr>
          <a:xfrm>
            <a:off x="8252280" y="1760400"/>
            <a:ext cx="3318840" cy="2331360"/>
          </a:xfrm>
          <a:prstGeom prst="roundRect">
            <a:avLst>
              <a:gd name="adj" fmla="val 2549"/>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826" name="o7" descr="49%"/>
          <p:cNvPicPr/>
          <p:nvPr/>
        </p:nvPicPr>
        <p:blipFill>
          <a:blip r:embed="rId5"/>
          <a:stretch/>
        </p:blipFill>
        <p:spPr>
          <a:xfrm>
            <a:off x="8503920" y="2011680"/>
            <a:ext cx="1151640" cy="383760"/>
          </a:xfrm>
          <a:prstGeom prst="rect">
            <a:avLst/>
          </a:prstGeom>
          <a:ln w="0">
            <a:noFill/>
          </a:ln>
        </p:spPr>
      </p:pic>
      <p:sp>
        <p:nvSpPr>
          <p:cNvPr id="1827" name="o8"/>
          <p:cNvSpPr/>
          <p:nvPr/>
        </p:nvSpPr>
        <p:spPr>
          <a:xfrm>
            <a:off x="9747360" y="2066040"/>
            <a:ext cx="1737000" cy="27504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800" spc="-1" strike="noStrike">
                <a:solidFill>
                  <a:srgbClr val="c4c4e4"/>
                </a:solidFill>
                <a:latin typeface="Arial"/>
              </a:rPr>
              <a:t>des jeux notés</a:t>
            </a:r>
            <a:endParaRPr b="0" lang="en-US" sz="1800" spc="-1" strike="noStrike">
              <a:solidFill>
                <a:srgbClr val="ffffff"/>
              </a:solidFill>
              <a:latin typeface="Arial"/>
            </a:endParaRPr>
          </a:p>
        </p:txBody>
      </p:sp>
      <p:sp>
        <p:nvSpPr>
          <p:cNvPr id="1828" name="o9"/>
          <p:cNvSpPr/>
          <p:nvPr/>
        </p:nvSpPr>
        <p:spPr>
          <a:xfrm>
            <a:off x="8503920" y="2606040"/>
            <a:ext cx="2742840" cy="2440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600" spc="-1" strike="noStrike">
                <a:solidFill>
                  <a:srgbClr val="7c7caa"/>
                </a:solidFill>
                <a:latin typeface="Arial"/>
              </a:rPr>
              <a:t>mais</a:t>
            </a:r>
            <a:endParaRPr b="0" lang="en-US" sz="1600" spc="-1" strike="noStrike">
              <a:solidFill>
                <a:srgbClr val="ffffff"/>
              </a:solidFill>
              <a:latin typeface="Arial"/>
            </a:endParaRPr>
          </a:p>
        </p:txBody>
      </p:sp>
      <p:pic>
        <p:nvPicPr>
          <p:cNvPr id="1829" name="o10" descr="63%"/>
          <p:cNvPicPr/>
          <p:nvPr/>
        </p:nvPicPr>
        <p:blipFill>
          <a:blip r:embed="rId6"/>
          <a:stretch/>
        </p:blipFill>
        <p:spPr>
          <a:xfrm>
            <a:off x="8503920" y="3063240"/>
            <a:ext cx="1151640" cy="383760"/>
          </a:xfrm>
          <a:prstGeom prst="rect">
            <a:avLst/>
          </a:prstGeom>
          <a:ln w="0">
            <a:noFill/>
          </a:ln>
        </p:spPr>
      </p:pic>
      <p:sp>
        <p:nvSpPr>
          <p:cNvPr id="1830" name="o11"/>
          <p:cNvSpPr/>
          <p:nvPr/>
        </p:nvSpPr>
        <p:spPr>
          <a:xfrm>
            <a:off x="9747360" y="3117600"/>
            <a:ext cx="1737000" cy="27504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800" spc="-1" strike="noStrike">
                <a:solidFill>
                  <a:srgbClr val="c4c4e4"/>
                </a:solidFill>
                <a:latin typeface="Arial"/>
              </a:rPr>
              <a:t>des ventes</a:t>
            </a:r>
            <a:endParaRPr b="0" lang="en-US" sz="1800" spc="-1" strike="noStrike">
              <a:solidFill>
                <a:srgbClr val="ffffff"/>
              </a:solidFill>
              <a:latin typeface="Arial"/>
            </a:endParaRPr>
          </a:p>
        </p:txBody>
      </p:sp>
      <p:sp>
        <p:nvSpPr>
          <p:cNvPr id="1831" name="o12"/>
          <p:cNvSpPr/>
          <p:nvPr/>
        </p:nvSpPr>
        <p:spPr>
          <a:xfrm>
            <a:off x="8183880" y="4389120"/>
            <a:ext cx="3456000" cy="1645560"/>
          </a:xfrm>
          <a:prstGeom prst="roundRect">
            <a:avLst>
              <a:gd name="adj" fmla="val 7777"/>
            </a:avLst>
          </a:prstGeom>
          <a:solidFill>
            <a:srgbClr val="000000"/>
          </a:solidFill>
          <a:ln w="28575">
            <a:solidFill>
              <a:srgbClr val="ffb85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32" name="o13"/>
          <p:cNvSpPr/>
          <p:nvPr/>
        </p:nvSpPr>
        <p:spPr>
          <a:xfrm>
            <a:off x="8252280" y="4457880"/>
            <a:ext cx="3318840" cy="1508400"/>
          </a:xfrm>
          <a:prstGeom prst="roundRect">
            <a:avLst>
              <a:gd name="adj" fmla="val 3939"/>
            </a:avLst>
          </a:prstGeom>
          <a:noFill/>
          <a:ln w="12700">
            <a:solidFill>
              <a:srgbClr val="ffb85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833" name="o14" descr="image-11-9.png"/>
          <p:cNvPicPr/>
          <p:nvPr/>
        </p:nvPicPr>
        <p:blipFill>
          <a:blip r:embed="rId7"/>
          <a:stretch/>
        </p:blipFill>
        <p:spPr>
          <a:xfrm>
            <a:off x="8476560" y="4645080"/>
            <a:ext cx="347040" cy="347040"/>
          </a:xfrm>
          <a:prstGeom prst="rect">
            <a:avLst/>
          </a:prstGeom>
          <a:ln w="0">
            <a:noFill/>
          </a:ln>
        </p:spPr>
      </p:pic>
      <p:pic>
        <p:nvPicPr>
          <p:cNvPr id="1834" name="o15" descr="BIAIS"/>
          <p:cNvPicPr/>
          <p:nvPr/>
        </p:nvPicPr>
        <p:blipFill>
          <a:blip r:embed="rId8"/>
          <a:stretch/>
        </p:blipFill>
        <p:spPr>
          <a:xfrm>
            <a:off x="8961120" y="4727520"/>
            <a:ext cx="685440" cy="136800"/>
          </a:xfrm>
          <a:prstGeom prst="rect">
            <a:avLst/>
          </a:prstGeom>
          <a:ln w="0">
            <a:noFill/>
          </a:ln>
        </p:spPr>
      </p:pic>
      <p:sp>
        <p:nvSpPr>
          <p:cNvPr id="1835" name="o16"/>
          <p:cNvSpPr/>
          <p:nvPr/>
        </p:nvSpPr>
        <p:spPr>
          <a:xfrm>
            <a:off x="8476560" y="5120640"/>
            <a:ext cx="2971440" cy="427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Les notes décrivent surtout les jeux visibles, sortis entre 2000 et 2016</a:t>
            </a:r>
            <a:endParaRPr b="0" lang="en-US" sz="1400" spc="-1" strike="noStrike">
              <a:solidFill>
                <a:srgbClr val="ffffff"/>
              </a:solidFill>
              <a:latin typeface="Arial"/>
            </a:endParaRPr>
          </a:p>
        </p:txBody>
      </p:sp>
      <p:pic>
        <p:nvPicPr>
          <p:cNvPr id="1836" name="fin_pastille" descr="image-1-13.gif"/>
          <p:cNvPicPr/>
          <p:nvPr/>
        </p:nvPicPr>
        <p:blipFill>
          <a:blip r:embed="rId9"/>
          <a:stretch/>
        </p:blipFill>
        <p:spPr>
          <a:xfrm>
            <a:off x="11448360" y="6355080"/>
            <a:ext cx="182520" cy="182520"/>
          </a:xfrm>
          <a:prstGeom prst="rect">
            <a:avLst/>
          </a:prstGeom>
          <a:ln w="0">
            <a:noFill/>
          </a:ln>
        </p:spPr>
      </p:pic>
      <p:pic>
        <p:nvPicPr>
          <p:cNvPr id="1837" name="barre_fantome" descr="image.gif"/>
          <p:cNvPicPr/>
          <p:nvPr/>
        </p:nvPicPr>
        <p:blipFill>
          <a:blip r:embed="rId10"/>
          <a:stretch/>
        </p:blipFill>
        <p:spPr>
          <a:xfrm>
            <a:off x="6982200" y="6291000"/>
            <a:ext cx="310680" cy="310680"/>
          </a:xfrm>
          <a:prstGeom prst="rect">
            <a:avLst/>
          </a:prstGeom>
          <a:ln w="0">
            <a:noFill/>
          </a:ln>
        </p:spPr>
      </p:pic>
      <p:sp>
        <p:nvSpPr>
          <p:cNvPr id="1839" name="barre_pastille"/>
          <p:cNvSpPr/>
          <p:nvPr/>
        </p:nvSpPr>
        <p:spPr>
          <a:xfrm>
            <a:off x="8001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39"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0"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1"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2"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3"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4"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5"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6"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7"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8"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49"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50"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51"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52"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838" name="barre_pacman" descr="image.gif"/>
          <p:cNvPicPr/>
          <p:nvPr/>
        </p:nvPicPr>
        <p:blipFill>
          <a:blip r:embed="rId11"/>
          <a:stretch/>
        </p:blipFill>
        <p:spPr>
          <a:xfrm>
            <a:off x="7549200" y="6291000"/>
            <a:ext cx="310680" cy="310680"/>
          </a:xfrm>
          <a:prstGeom prst="rect">
            <a:avLst/>
          </a:prstGeom>
          <a:ln w="0">
            <a:noFill/>
          </a:ln>
        </p:spPr>
      </p:pic>
      <p:sp>
        <p:nvSpPr>
          <p:cNvPr id="1853"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252" dur="indefinite" restart="never" nodeType="tmRoot">
          <p:childTnLst>
            <p:seq>
              <p:cTn id="2253" dur="indefinite" nodeType="mainSeq">
                <p:childTnLst>
                  <p:par>
                    <p:cTn id="2254" fill="hold">
                      <p:stCondLst>
                        <p:cond delay="0"/>
                      </p:stCondLst>
                      <p:childTnLst>
                        <p:par>
                          <p:cTn id="2255" fill="hold">
                            <p:stCondLst>
                              <p:cond delay="0"/>
                            </p:stCondLst>
                            <p:childTnLst>
                              <p:par>
                                <p:cTn id="2256" nodeType="withEffect" fill="hold" presetClass="path">
                                  <p:stCondLst>
                                    <p:cond delay="0"/>
                                  </p:stCondLst>
                                  <p:childTnLst>
                                    <p:animMotion origin="layout" path="M 0 0 L 0.02252 0 E">
                                      <p:cBhvr>
                                        <p:cTn id="2257" dur="900" fill="hold"/>
                                        <p:tgtEl>
                                          <p:spTgt spid="1837"/>
                                        </p:tgtEl>
                                        <p:attrNameLst>
                                          <p:attrName>ppt_x</p:attrName>
                                          <p:attrName>ppt_y</p:attrName>
                                        </p:attrNameLst>
                                      </p:cBhvr>
                                    </p:animMotion>
                                  </p:childTnLst>
                                </p:cTn>
                              </p:par>
                              <p:par>
                                <p:cTn id="2258" nodeType="withEffect" fill="hold" presetClass="path">
                                  <p:stCondLst>
                                    <p:cond delay="0"/>
                                  </p:stCondLst>
                                  <p:childTnLst>
                                    <p:animMotion origin="layout" path="M 0 0 L 0.02252 0 E">
                                      <p:cBhvr>
                                        <p:cTn id="2259" dur="900" fill="hold"/>
                                        <p:tgtEl>
                                          <p:spTgt spid="1838"/>
                                        </p:tgtEl>
                                        <p:attrNameLst>
                                          <p:attrName>ppt_x</p:attrName>
                                          <p:attrName>ppt_y</p:attrName>
                                        </p:attrNameLst>
                                      </p:cBhvr>
                                    </p:animMotion>
                                  </p:childTnLst>
                                </p:cTn>
                              </p:par>
                              <p:par>
                                <p:cTn id="2260" nodeType="withEffect" fill="hold" presetClass="exit" presetID="1">
                                  <p:stCondLst>
                                    <p:cond delay="342"/>
                                  </p:stCondLst>
                                  <p:childTnLst>
                                    <p:set>
                                      <p:cBhvr>
                                        <p:cTn id="2261" dur="1" fill="hold">
                                          <p:stCondLst>
                                            <p:cond delay="0"/>
                                          </p:stCondLst>
                                        </p:cTn>
                                        <p:tgtEl>
                                          <p:spTgt spid="1839"/>
                                        </p:tgtEl>
                                        <p:attrNameLst>
                                          <p:attrName>style.visibility</p:attrName>
                                        </p:attrNameLst>
                                      </p:cBhvr>
                                      <p:to>
                                        <p:strVal val="hidden"/>
                                      </p:to>
                                    </p:set>
                                  </p:childTnLst>
                                </p:cTn>
                              </p:par>
                              <p:par>
                                <p:cTn id="2262" nodeType="withEffect" fill="hold" presetClass="entr" presetID="10">
                                  <p:stCondLst>
                                    <p:cond delay="100"/>
                                  </p:stCondLst>
                                  <p:childTnLst>
                                    <p:set>
                                      <p:cBhvr>
                                        <p:cTn id="2263" dur="1" fill="hold">
                                          <p:stCondLst>
                                            <p:cond delay="0"/>
                                          </p:stCondLst>
                                        </p:cTn>
                                        <p:tgtEl>
                                          <p:spTgt spid="1823"/>
                                        </p:tgtEl>
                                        <p:attrNameLst>
                                          <p:attrName>style.visibility</p:attrName>
                                        </p:attrNameLst>
                                      </p:cBhvr>
                                      <p:to>
                                        <p:strVal val="visible"/>
                                      </p:to>
                                    </p:set>
                                    <p:animEffect filter="fade" transition="in">
                                      <p:cBhvr additive="repl">
                                        <p:cTn id="2264" dur="400"/>
                                        <p:tgtEl>
                                          <p:spTgt spid="1823"/>
                                        </p:tgtEl>
                                      </p:cBhvr>
                                    </p:animEffect>
                                  </p:childTnLst>
                                </p:cTn>
                              </p:par>
                              <p:par>
                                <p:cTn id="2265" nodeType="withEffect" fill="hold" presetClass="entr" presetID="10">
                                  <p:stCondLst>
                                    <p:cond delay="600"/>
                                  </p:stCondLst>
                                  <p:childTnLst>
                                    <p:set>
                                      <p:cBhvr>
                                        <p:cTn id="2266" dur="1" fill="hold">
                                          <p:stCondLst>
                                            <p:cond delay="0"/>
                                          </p:stCondLst>
                                        </p:cTn>
                                        <p:tgtEl>
                                          <p:spTgt spid="1824"/>
                                        </p:tgtEl>
                                        <p:attrNameLst>
                                          <p:attrName>style.visibility</p:attrName>
                                        </p:attrNameLst>
                                      </p:cBhvr>
                                      <p:to>
                                        <p:strVal val="visible"/>
                                      </p:to>
                                    </p:set>
                                    <p:animEffect filter="fade" transition="in">
                                      <p:cBhvr additive="repl">
                                        <p:cTn id="2267" dur="400"/>
                                        <p:tgtEl>
                                          <p:spTgt spid="1824"/>
                                        </p:tgtEl>
                                      </p:cBhvr>
                                    </p:animEffect>
                                  </p:childTnLst>
                                </p:cTn>
                              </p:par>
                              <p:par>
                                <p:cTn id="2268" nodeType="withEffect" fill="hold" presetClass="entr" presetID="10">
                                  <p:stCondLst>
                                    <p:cond delay="600"/>
                                  </p:stCondLst>
                                  <p:childTnLst>
                                    <p:set>
                                      <p:cBhvr>
                                        <p:cTn id="2269" dur="1" fill="hold">
                                          <p:stCondLst>
                                            <p:cond delay="0"/>
                                          </p:stCondLst>
                                        </p:cTn>
                                        <p:tgtEl>
                                          <p:spTgt spid="1825"/>
                                        </p:tgtEl>
                                        <p:attrNameLst>
                                          <p:attrName>style.visibility</p:attrName>
                                        </p:attrNameLst>
                                      </p:cBhvr>
                                      <p:to>
                                        <p:strVal val="visible"/>
                                      </p:to>
                                    </p:set>
                                    <p:animEffect filter="fade" transition="in">
                                      <p:cBhvr additive="repl">
                                        <p:cTn id="2270" dur="400"/>
                                        <p:tgtEl>
                                          <p:spTgt spid="1825"/>
                                        </p:tgtEl>
                                      </p:cBhvr>
                                    </p:animEffect>
                                  </p:childTnLst>
                                </p:cTn>
                              </p:par>
                              <p:par>
                                <p:cTn id="2271" nodeType="withEffect" fill="hold" presetClass="entr" presetID="10">
                                  <p:stCondLst>
                                    <p:cond delay="600"/>
                                  </p:stCondLst>
                                  <p:childTnLst>
                                    <p:set>
                                      <p:cBhvr>
                                        <p:cTn id="2272" dur="1" fill="hold">
                                          <p:stCondLst>
                                            <p:cond delay="0"/>
                                          </p:stCondLst>
                                        </p:cTn>
                                        <p:tgtEl>
                                          <p:spTgt spid="1826"/>
                                        </p:tgtEl>
                                        <p:attrNameLst>
                                          <p:attrName>style.visibility</p:attrName>
                                        </p:attrNameLst>
                                      </p:cBhvr>
                                      <p:to>
                                        <p:strVal val="visible"/>
                                      </p:to>
                                    </p:set>
                                    <p:animEffect filter="fade" transition="in">
                                      <p:cBhvr additive="repl">
                                        <p:cTn id="2273" dur="400"/>
                                        <p:tgtEl>
                                          <p:spTgt spid="1826"/>
                                        </p:tgtEl>
                                      </p:cBhvr>
                                    </p:animEffect>
                                  </p:childTnLst>
                                </p:cTn>
                              </p:par>
                              <p:par>
                                <p:cTn id="2274" nodeType="withEffect" fill="hold" presetClass="entr" presetID="10">
                                  <p:stCondLst>
                                    <p:cond delay="600"/>
                                  </p:stCondLst>
                                  <p:childTnLst>
                                    <p:set>
                                      <p:cBhvr>
                                        <p:cTn id="2275" dur="1" fill="hold">
                                          <p:stCondLst>
                                            <p:cond delay="0"/>
                                          </p:stCondLst>
                                        </p:cTn>
                                        <p:tgtEl>
                                          <p:spTgt spid="1827"/>
                                        </p:tgtEl>
                                        <p:attrNameLst>
                                          <p:attrName>style.visibility</p:attrName>
                                        </p:attrNameLst>
                                      </p:cBhvr>
                                      <p:to>
                                        <p:strVal val="visible"/>
                                      </p:to>
                                    </p:set>
                                    <p:animEffect filter="fade" transition="in">
                                      <p:cBhvr additive="repl">
                                        <p:cTn id="2276" dur="400"/>
                                        <p:tgtEl>
                                          <p:spTgt spid="1827"/>
                                        </p:tgtEl>
                                      </p:cBhvr>
                                    </p:animEffect>
                                  </p:childTnLst>
                                </p:cTn>
                              </p:par>
                              <p:par>
                                <p:cTn id="2277" nodeType="withEffect" fill="hold" presetClass="entr" presetID="10">
                                  <p:stCondLst>
                                    <p:cond delay="600"/>
                                  </p:stCondLst>
                                  <p:childTnLst>
                                    <p:set>
                                      <p:cBhvr>
                                        <p:cTn id="2278" dur="1" fill="hold">
                                          <p:stCondLst>
                                            <p:cond delay="0"/>
                                          </p:stCondLst>
                                        </p:cTn>
                                        <p:tgtEl>
                                          <p:spTgt spid="1828"/>
                                        </p:tgtEl>
                                        <p:attrNameLst>
                                          <p:attrName>style.visibility</p:attrName>
                                        </p:attrNameLst>
                                      </p:cBhvr>
                                      <p:to>
                                        <p:strVal val="visible"/>
                                      </p:to>
                                    </p:set>
                                    <p:animEffect filter="fade" transition="in">
                                      <p:cBhvr additive="repl">
                                        <p:cTn id="2279" dur="400"/>
                                        <p:tgtEl>
                                          <p:spTgt spid="1828"/>
                                        </p:tgtEl>
                                      </p:cBhvr>
                                    </p:animEffect>
                                  </p:childTnLst>
                                </p:cTn>
                              </p:par>
                              <p:par>
                                <p:cTn id="2280" nodeType="withEffect" fill="hold" presetClass="entr" presetID="10">
                                  <p:stCondLst>
                                    <p:cond delay="900"/>
                                  </p:stCondLst>
                                  <p:childTnLst>
                                    <p:set>
                                      <p:cBhvr>
                                        <p:cTn id="2281" dur="1" fill="hold">
                                          <p:stCondLst>
                                            <p:cond delay="0"/>
                                          </p:stCondLst>
                                        </p:cTn>
                                        <p:tgtEl>
                                          <p:spTgt spid="1829"/>
                                        </p:tgtEl>
                                        <p:attrNameLst>
                                          <p:attrName>style.visibility</p:attrName>
                                        </p:attrNameLst>
                                      </p:cBhvr>
                                      <p:to>
                                        <p:strVal val="visible"/>
                                      </p:to>
                                    </p:set>
                                    <p:animEffect filter="fade" transition="in">
                                      <p:cBhvr additive="repl">
                                        <p:cTn id="2282" dur="400"/>
                                        <p:tgtEl>
                                          <p:spTgt spid="1829"/>
                                        </p:tgtEl>
                                      </p:cBhvr>
                                    </p:animEffect>
                                  </p:childTnLst>
                                </p:cTn>
                              </p:par>
                              <p:par>
                                <p:cTn id="2283" nodeType="withEffect" fill="hold" presetClass="entr" presetID="10">
                                  <p:stCondLst>
                                    <p:cond delay="900"/>
                                  </p:stCondLst>
                                  <p:childTnLst>
                                    <p:set>
                                      <p:cBhvr>
                                        <p:cTn id="2284" dur="1" fill="hold">
                                          <p:stCondLst>
                                            <p:cond delay="0"/>
                                          </p:stCondLst>
                                        </p:cTn>
                                        <p:tgtEl>
                                          <p:spTgt spid="1830"/>
                                        </p:tgtEl>
                                        <p:attrNameLst>
                                          <p:attrName>style.visibility</p:attrName>
                                        </p:attrNameLst>
                                      </p:cBhvr>
                                      <p:to>
                                        <p:strVal val="visible"/>
                                      </p:to>
                                    </p:set>
                                    <p:animEffect filter="fade" transition="in">
                                      <p:cBhvr additive="repl">
                                        <p:cTn id="2285" dur="400"/>
                                        <p:tgtEl>
                                          <p:spTgt spid="1830"/>
                                        </p:tgtEl>
                                      </p:cBhvr>
                                    </p:animEffect>
                                  </p:childTnLst>
                                </p:cTn>
                              </p:par>
                              <p:par>
                                <p:cTn id="2286" nodeType="withEffect" fill="hold" presetClass="entr" presetID="10">
                                  <p:stCondLst>
                                    <p:cond delay="1200"/>
                                  </p:stCondLst>
                                  <p:childTnLst>
                                    <p:set>
                                      <p:cBhvr>
                                        <p:cTn id="2287" dur="1" fill="hold">
                                          <p:stCondLst>
                                            <p:cond delay="0"/>
                                          </p:stCondLst>
                                        </p:cTn>
                                        <p:tgtEl>
                                          <p:spTgt spid="1831"/>
                                        </p:tgtEl>
                                        <p:attrNameLst>
                                          <p:attrName>style.visibility</p:attrName>
                                        </p:attrNameLst>
                                      </p:cBhvr>
                                      <p:to>
                                        <p:strVal val="visible"/>
                                      </p:to>
                                    </p:set>
                                    <p:animEffect filter="fade" transition="in">
                                      <p:cBhvr additive="repl">
                                        <p:cTn id="2288" dur="400"/>
                                        <p:tgtEl>
                                          <p:spTgt spid="1831"/>
                                        </p:tgtEl>
                                      </p:cBhvr>
                                    </p:animEffect>
                                  </p:childTnLst>
                                </p:cTn>
                              </p:par>
                              <p:par>
                                <p:cTn id="2289" nodeType="withEffect" fill="hold" presetClass="entr" presetID="10">
                                  <p:stCondLst>
                                    <p:cond delay="1200"/>
                                  </p:stCondLst>
                                  <p:childTnLst>
                                    <p:set>
                                      <p:cBhvr>
                                        <p:cTn id="2290" dur="1" fill="hold">
                                          <p:stCondLst>
                                            <p:cond delay="0"/>
                                          </p:stCondLst>
                                        </p:cTn>
                                        <p:tgtEl>
                                          <p:spTgt spid="1832"/>
                                        </p:tgtEl>
                                        <p:attrNameLst>
                                          <p:attrName>style.visibility</p:attrName>
                                        </p:attrNameLst>
                                      </p:cBhvr>
                                      <p:to>
                                        <p:strVal val="visible"/>
                                      </p:to>
                                    </p:set>
                                    <p:animEffect filter="fade" transition="in">
                                      <p:cBhvr additive="repl">
                                        <p:cTn id="2291" dur="400"/>
                                        <p:tgtEl>
                                          <p:spTgt spid="1832"/>
                                        </p:tgtEl>
                                      </p:cBhvr>
                                    </p:animEffect>
                                  </p:childTnLst>
                                </p:cTn>
                              </p:par>
                              <p:par>
                                <p:cTn id="2292" nodeType="withEffect" fill="hold" presetClass="entr" presetID="10">
                                  <p:stCondLst>
                                    <p:cond delay="1200"/>
                                  </p:stCondLst>
                                  <p:childTnLst>
                                    <p:set>
                                      <p:cBhvr>
                                        <p:cTn id="2293" dur="1" fill="hold">
                                          <p:stCondLst>
                                            <p:cond delay="0"/>
                                          </p:stCondLst>
                                        </p:cTn>
                                        <p:tgtEl>
                                          <p:spTgt spid="1833"/>
                                        </p:tgtEl>
                                        <p:attrNameLst>
                                          <p:attrName>style.visibility</p:attrName>
                                        </p:attrNameLst>
                                      </p:cBhvr>
                                      <p:to>
                                        <p:strVal val="visible"/>
                                      </p:to>
                                    </p:set>
                                    <p:animEffect filter="fade" transition="in">
                                      <p:cBhvr additive="repl">
                                        <p:cTn id="2294" dur="400"/>
                                        <p:tgtEl>
                                          <p:spTgt spid="1833"/>
                                        </p:tgtEl>
                                      </p:cBhvr>
                                    </p:animEffect>
                                  </p:childTnLst>
                                </p:cTn>
                              </p:par>
                              <p:par>
                                <p:cTn id="2295" nodeType="withEffect" fill="hold" presetClass="entr" presetID="10">
                                  <p:stCondLst>
                                    <p:cond delay="1200"/>
                                  </p:stCondLst>
                                  <p:childTnLst>
                                    <p:set>
                                      <p:cBhvr>
                                        <p:cTn id="2296" dur="1" fill="hold">
                                          <p:stCondLst>
                                            <p:cond delay="0"/>
                                          </p:stCondLst>
                                        </p:cTn>
                                        <p:tgtEl>
                                          <p:spTgt spid="1834"/>
                                        </p:tgtEl>
                                        <p:attrNameLst>
                                          <p:attrName>style.visibility</p:attrName>
                                        </p:attrNameLst>
                                      </p:cBhvr>
                                      <p:to>
                                        <p:strVal val="visible"/>
                                      </p:to>
                                    </p:set>
                                    <p:animEffect filter="fade" transition="in">
                                      <p:cBhvr additive="repl">
                                        <p:cTn id="2297" dur="400"/>
                                        <p:tgtEl>
                                          <p:spTgt spid="1834"/>
                                        </p:tgtEl>
                                      </p:cBhvr>
                                    </p:animEffect>
                                  </p:childTnLst>
                                </p:cTn>
                              </p:par>
                              <p:par>
                                <p:cTn id="2298" nodeType="withEffect" fill="hold" presetClass="entr" presetID="10">
                                  <p:stCondLst>
                                    <p:cond delay="1200"/>
                                  </p:stCondLst>
                                  <p:childTnLst>
                                    <p:set>
                                      <p:cBhvr>
                                        <p:cTn id="2299" dur="1" fill="hold">
                                          <p:stCondLst>
                                            <p:cond delay="0"/>
                                          </p:stCondLst>
                                        </p:cTn>
                                        <p:tgtEl>
                                          <p:spTgt spid="1835"/>
                                        </p:tgtEl>
                                        <p:attrNameLst>
                                          <p:attrName>style.visibility</p:attrName>
                                        </p:attrNameLst>
                                      </p:cBhvr>
                                      <p:to>
                                        <p:strVal val="visible"/>
                                      </p:to>
                                    </p:set>
                                    <p:animEffect filter="fade" transition="in">
                                      <p:cBhvr additive="repl">
                                        <p:cTn id="2300" dur="400"/>
                                        <p:tgtEl>
                                          <p:spTgt spid="18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54" name="o1"/>
          <p:cNvSpPr/>
          <p:nvPr/>
        </p:nvSpPr>
        <p:spPr>
          <a:xfrm>
            <a:off x="274320" y="228600"/>
            <a:ext cx="11642760" cy="5897520"/>
          </a:xfrm>
          <a:prstGeom prst="roundRect">
            <a:avLst>
              <a:gd name="adj" fmla="val 217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55" name="o2"/>
          <p:cNvSpPr/>
          <p:nvPr/>
        </p:nvSpPr>
        <p:spPr>
          <a:xfrm>
            <a:off x="343080" y="297360"/>
            <a:ext cx="11505600" cy="5760360"/>
          </a:xfrm>
          <a:prstGeom prst="roundRect">
            <a:avLst>
              <a:gd name="adj" fmla="val 103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56" name="o3"/>
          <p:cNvSpPr/>
          <p:nvPr/>
        </p:nvSpPr>
        <p:spPr>
          <a:xfrm>
            <a:off x="86868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57" name="o4"/>
          <p:cNvSpPr/>
          <p:nvPr/>
        </p:nvSpPr>
        <p:spPr>
          <a:xfrm>
            <a:off x="93708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58" name="o5"/>
          <p:cNvSpPr/>
          <p:nvPr/>
        </p:nvSpPr>
        <p:spPr>
          <a:xfrm>
            <a:off x="976860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59" name="o6"/>
          <p:cNvSpPr/>
          <p:nvPr/>
        </p:nvSpPr>
        <p:spPr>
          <a:xfrm>
            <a:off x="983700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60" name="o7"/>
          <p:cNvSpPr/>
          <p:nvPr/>
        </p:nvSpPr>
        <p:spPr>
          <a:xfrm>
            <a:off x="86868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61" name="o8"/>
          <p:cNvSpPr/>
          <p:nvPr/>
        </p:nvSpPr>
        <p:spPr>
          <a:xfrm>
            <a:off x="93708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62" name="o9"/>
          <p:cNvSpPr/>
          <p:nvPr/>
        </p:nvSpPr>
        <p:spPr>
          <a:xfrm>
            <a:off x="976860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863" name="o10"/>
          <p:cNvSpPr/>
          <p:nvPr/>
        </p:nvSpPr>
        <p:spPr>
          <a:xfrm>
            <a:off x="983700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864" name="o11" descr="image-10-3.png"/>
          <p:cNvPicPr/>
          <p:nvPr/>
        </p:nvPicPr>
        <p:blipFill>
          <a:blip r:embed="rId1"/>
          <a:stretch/>
        </p:blipFill>
        <p:spPr>
          <a:xfrm>
            <a:off x="5684760" y="777240"/>
            <a:ext cx="822600" cy="822600"/>
          </a:xfrm>
          <a:prstGeom prst="rect">
            <a:avLst/>
          </a:prstGeom>
          <a:ln w="0">
            <a:noFill/>
          </a:ln>
        </p:spPr>
      </p:pic>
      <p:pic>
        <p:nvPicPr>
          <p:cNvPr id="1865" name="o12" descr="LEVEL 4"/>
          <p:cNvPicPr/>
          <p:nvPr/>
        </p:nvPicPr>
        <p:blipFill>
          <a:blip r:embed="rId2"/>
          <a:stretch/>
        </p:blipFill>
        <p:spPr>
          <a:xfrm>
            <a:off x="5263920" y="1828800"/>
            <a:ext cx="1663920" cy="237240"/>
          </a:xfrm>
          <a:prstGeom prst="rect">
            <a:avLst/>
          </a:prstGeom>
          <a:ln w="0">
            <a:noFill/>
          </a:ln>
        </p:spPr>
      </p:pic>
      <p:pic>
        <p:nvPicPr>
          <p:cNvPr id="1866" name="o13" descr="INSIGHTS"/>
          <p:cNvPicPr/>
          <p:nvPr/>
        </p:nvPicPr>
        <p:blipFill>
          <a:blip r:embed="rId3"/>
          <a:stretch/>
        </p:blipFill>
        <p:spPr>
          <a:xfrm>
            <a:off x="4047480" y="2331720"/>
            <a:ext cx="4096080" cy="511560"/>
          </a:xfrm>
          <a:prstGeom prst="rect">
            <a:avLst/>
          </a:prstGeom>
          <a:ln w="0">
            <a:noFill/>
          </a:ln>
        </p:spPr>
      </p:pic>
      <p:sp>
        <p:nvSpPr>
          <p:cNvPr id="1867" name="o14"/>
          <p:cNvSpPr/>
          <p:nvPr/>
        </p:nvSpPr>
        <p:spPr>
          <a:xfrm>
            <a:off x="1371600" y="3108960"/>
            <a:ext cx="9448200" cy="3052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2000" spc="-1" strike="noStrike">
                <a:solidFill>
                  <a:srgbClr val="c4c4e4"/>
                </a:solidFill>
                <a:latin typeface="Arial"/>
              </a:rPr>
              <a:t>4 découvertes en croisant notes et ventes</a:t>
            </a:r>
            <a:endParaRPr b="0" lang="en-US" sz="2000" spc="-1" strike="noStrike">
              <a:solidFill>
                <a:srgbClr val="ffffff"/>
              </a:solidFill>
              <a:latin typeface="Arial"/>
            </a:endParaRPr>
          </a:p>
        </p:txBody>
      </p:sp>
      <p:pic>
        <p:nvPicPr>
          <p:cNvPr id="1868" name="rangee_sprite" descr="image-1-8.gif"/>
          <p:cNvPicPr/>
          <p:nvPr/>
        </p:nvPicPr>
        <p:blipFill>
          <a:blip r:embed="rId4"/>
          <a:stretch/>
        </p:blipFill>
        <p:spPr>
          <a:xfrm>
            <a:off x="704160" y="3950280"/>
            <a:ext cx="420120" cy="420120"/>
          </a:xfrm>
          <a:prstGeom prst="rect">
            <a:avLst/>
          </a:prstGeom>
          <a:ln w="0">
            <a:noFill/>
          </a:ln>
        </p:spPr>
      </p:pic>
      <p:pic>
        <p:nvPicPr>
          <p:cNvPr id="1869" name="rangee_sprite" descr="image-1-7.gif"/>
          <p:cNvPicPr/>
          <p:nvPr/>
        </p:nvPicPr>
        <p:blipFill>
          <a:blip r:embed="rId5"/>
          <a:stretch/>
        </p:blipFill>
        <p:spPr>
          <a:xfrm>
            <a:off x="1252800" y="3950280"/>
            <a:ext cx="420120" cy="420120"/>
          </a:xfrm>
          <a:prstGeom prst="rect">
            <a:avLst/>
          </a:prstGeom>
          <a:ln w="0">
            <a:noFill/>
          </a:ln>
        </p:spPr>
      </p:pic>
      <p:pic>
        <p:nvPicPr>
          <p:cNvPr id="1870" name="rangee_sprite" descr="image-1-6.gif"/>
          <p:cNvPicPr/>
          <p:nvPr/>
        </p:nvPicPr>
        <p:blipFill>
          <a:blip r:embed="rId6"/>
          <a:stretch/>
        </p:blipFill>
        <p:spPr>
          <a:xfrm>
            <a:off x="1801440" y="3950280"/>
            <a:ext cx="420120" cy="420120"/>
          </a:xfrm>
          <a:prstGeom prst="rect">
            <a:avLst/>
          </a:prstGeom>
          <a:ln w="0">
            <a:noFill/>
          </a:ln>
        </p:spPr>
      </p:pic>
      <p:pic>
        <p:nvPicPr>
          <p:cNvPr id="1871" name="rangee_sprite" descr="image-1-15.gif"/>
          <p:cNvPicPr/>
          <p:nvPr/>
        </p:nvPicPr>
        <p:blipFill>
          <a:blip r:embed="rId7"/>
          <a:stretch/>
        </p:blipFill>
        <p:spPr>
          <a:xfrm>
            <a:off x="2350080" y="3950280"/>
            <a:ext cx="420120" cy="420120"/>
          </a:xfrm>
          <a:prstGeom prst="rect">
            <a:avLst/>
          </a:prstGeom>
          <a:ln w="0">
            <a:noFill/>
          </a:ln>
        </p:spPr>
      </p:pic>
      <p:pic>
        <p:nvPicPr>
          <p:cNvPr id="1872" name="rangee_pacman" descr="image-1-14.gif"/>
          <p:cNvPicPr/>
          <p:nvPr/>
        </p:nvPicPr>
        <p:blipFill>
          <a:blip r:embed="rId8"/>
          <a:stretch/>
        </p:blipFill>
        <p:spPr>
          <a:xfrm>
            <a:off x="2990160" y="3950280"/>
            <a:ext cx="420120" cy="420120"/>
          </a:xfrm>
          <a:prstGeom prst="rect">
            <a:avLst/>
          </a:prstGeom>
          <a:ln w="0">
            <a:noFill/>
          </a:ln>
        </p:spPr>
      </p:pic>
      <p:sp>
        <p:nvSpPr>
          <p:cNvPr id="1873" name="rangee_pastille"/>
          <p:cNvSpPr/>
          <p:nvPr/>
        </p:nvSpPr>
        <p:spPr>
          <a:xfrm>
            <a:off x="36302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74" name="rangee_pastille"/>
          <p:cNvSpPr/>
          <p:nvPr/>
        </p:nvSpPr>
        <p:spPr>
          <a:xfrm>
            <a:off x="39960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75" name="rangee_pastille"/>
          <p:cNvSpPr/>
          <p:nvPr/>
        </p:nvSpPr>
        <p:spPr>
          <a:xfrm>
            <a:off x="43617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76" name="rangee_pastille"/>
          <p:cNvSpPr/>
          <p:nvPr/>
        </p:nvSpPr>
        <p:spPr>
          <a:xfrm>
            <a:off x="47275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77" name="rangee_pastille"/>
          <p:cNvSpPr/>
          <p:nvPr/>
        </p:nvSpPr>
        <p:spPr>
          <a:xfrm>
            <a:off x="50932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78" name="rangee_pastille"/>
          <p:cNvSpPr/>
          <p:nvPr/>
        </p:nvSpPr>
        <p:spPr>
          <a:xfrm>
            <a:off x="54590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79" name="rangee_pastille"/>
          <p:cNvSpPr/>
          <p:nvPr/>
        </p:nvSpPr>
        <p:spPr>
          <a:xfrm>
            <a:off x="58248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0" name="rangee_pastille"/>
          <p:cNvSpPr/>
          <p:nvPr/>
        </p:nvSpPr>
        <p:spPr>
          <a:xfrm>
            <a:off x="61905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1" name="rangee_pastille"/>
          <p:cNvSpPr/>
          <p:nvPr/>
        </p:nvSpPr>
        <p:spPr>
          <a:xfrm>
            <a:off x="65563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2" name="rangee_pastille"/>
          <p:cNvSpPr/>
          <p:nvPr/>
        </p:nvSpPr>
        <p:spPr>
          <a:xfrm>
            <a:off x="69220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3" name="rangee_pastille"/>
          <p:cNvSpPr/>
          <p:nvPr/>
        </p:nvSpPr>
        <p:spPr>
          <a:xfrm>
            <a:off x="72878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4" name="rangee_pastille"/>
          <p:cNvSpPr/>
          <p:nvPr/>
        </p:nvSpPr>
        <p:spPr>
          <a:xfrm>
            <a:off x="76536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5" name="rangee_pastille"/>
          <p:cNvSpPr/>
          <p:nvPr/>
        </p:nvSpPr>
        <p:spPr>
          <a:xfrm>
            <a:off x="80193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6" name="rangee_pastille"/>
          <p:cNvSpPr/>
          <p:nvPr/>
        </p:nvSpPr>
        <p:spPr>
          <a:xfrm>
            <a:off x="83851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7" name="rangee_pastille"/>
          <p:cNvSpPr/>
          <p:nvPr/>
        </p:nvSpPr>
        <p:spPr>
          <a:xfrm>
            <a:off x="87508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8" name="rangee_pastille"/>
          <p:cNvSpPr/>
          <p:nvPr/>
        </p:nvSpPr>
        <p:spPr>
          <a:xfrm>
            <a:off x="91166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1889" name="rangee_pastille"/>
          <p:cNvSpPr/>
          <p:nvPr/>
        </p:nvSpPr>
        <p:spPr>
          <a:xfrm>
            <a:off x="94824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pic>
        <p:nvPicPr>
          <p:cNvPr id="1890" name="ready" descr="READY!"/>
          <p:cNvPicPr/>
          <p:nvPr/>
        </p:nvPicPr>
        <p:blipFill>
          <a:blip r:embed="rId9"/>
          <a:stretch/>
        </p:blipFill>
        <p:spPr>
          <a:xfrm>
            <a:off x="5492520" y="4617720"/>
            <a:ext cx="1206720" cy="200880"/>
          </a:xfrm>
          <a:prstGeom prst="rect">
            <a:avLst/>
          </a:prstGeom>
          <a:ln w="0">
            <a:noFill/>
          </a:ln>
        </p:spPr>
      </p:pic>
      <p:pic>
        <p:nvPicPr>
          <p:cNvPr id="1891" name="fin_pastille" descr="image-1-13.gif"/>
          <p:cNvPicPr/>
          <p:nvPr/>
        </p:nvPicPr>
        <p:blipFill>
          <a:blip r:embed="rId10"/>
          <a:stretch/>
        </p:blipFill>
        <p:spPr>
          <a:xfrm>
            <a:off x="11448360" y="6355080"/>
            <a:ext cx="182520" cy="182520"/>
          </a:xfrm>
          <a:prstGeom prst="rect">
            <a:avLst/>
          </a:prstGeom>
          <a:ln w="0">
            <a:noFill/>
          </a:ln>
        </p:spPr>
      </p:pic>
      <p:pic>
        <p:nvPicPr>
          <p:cNvPr id="1892" name="barre_fantome" descr="image.gif"/>
          <p:cNvPicPr/>
          <p:nvPr/>
        </p:nvPicPr>
        <p:blipFill>
          <a:blip r:embed="rId11"/>
          <a:stretch/>
        </p:blipFill>
        <p:spPr>
          <a:xfrm>
            <a:off x="7256736" y="6291000"/>
            <a:ext cx="310680" cy="310680"/>
          </a:xfrm>
          <a:prstGeom prst="rect">
            <a:avLst/>
          </a:prstGeom>
          <a:ln w="0">
            <a:noFill/>
          </a:ln>
        </p:spPr>
      </p:pic>
      <p:sp>
        <p:nvSpPr>
          <p:cNvPr id="1894" name="barre_pastille"/>
          <p:cNvSpPr/>
          <p:nvPr/>
        </p:nvSpPr>
        <p:spPr>
          <a:xfrm>
            <a:off x="8229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94"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95"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96"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97"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98"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899"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00"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01"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02"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03"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04"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05"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06"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893" name="barre_pacman" descr="image.gif"/>
          <p:cNvPicPr/>
          <p:nvPr/>
        </p:nvPicPr>
        <p:blipFill>
          <a:blip r:embed="rId12"/>
          <a:stretch/>
        </p:blipFill>
        <p:spPr>
          <a:xfrm>
            <a:off x="7823736" y="6291000"/>
            <a:ext cx="310680" cy="310680"/>
          </a:xfrm>
          <a:prstGeom prst="rect">
            <a:avLst/>
          </a:prstGeom>
          <a:ln w="0">
            <a:noFill/>
          </a:ln>
        </p:spPr>
      </p:pic>
      <p:sp>
        <p:nvSpPr>
          <p:cNvPr id="1907"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301" dur="indefinite" restart="never" nodeType="tmRoot">
          <p:childTnLst>
            <p:seq>
              <p:cTn id="2302" dur="indefinite" nodeType="mainSeq">
                <p:childTnLst>
                  <p:par>
                    <p:cTn id="2303" fill="hold">
                      <p:stCondLst>
                        <p:cond delay="0"/>
                      </p:stCondLst>
                      <p:childTnLst>
                        <p:par>
                          <p:cTn id="2304" fill="hold">
                            <p:stCondLst>
                              <p:cond delay="0"/>
                            </p:stCondLst>
                            <p:childTnLst>
                              <p:par>
                                <p:cTn id="2305" nodeType="withEffect" fill="hold" presetClass="path">
                                  <p:stCondLst>
                                    <p:cond delay="0"/>
                                  </p:stCondLst>
                                  <p:childTnLst>
                                    <p:animMotion origin="layout" path="M 0 0 L 0.02252 0 E">
                                      <p:cBhvr>
                                        <p:cTn id="2306" dur="900" fill="hold"/>
                                        <p:tgtEl>
                                          <p:spTgt spid="1892"/>
                                        </p:tgtEl>
                                        <p:attrNameLst>
                                          <p:attrName>ppt_x</p:attrName>
                                          <p:attrName>ppt_y</p:attrName>
                                        </p:attrNameLst>
                                      </p:cBhvr>
                                    </p:animMotion>
                                  </p:childTnLst>
                                </p:cTn>
                              </p:par>
                              <p:par>
                                <p:cTn id="2307" nodeType="withEffect" fill="hold" presetClass="path">
                                  <p:stCondLst>
                                    <p:cond delay="0"/>
                                  </p:stCondLst>
                                  <p:childTnLst>
                                    <p:animMotion origin="layout" path="M 0 0 L 0.02252 0 E">
                                      <p:cBhvr>
                                        <p:cTn id="2308" dur="900" fill="hold"/>
                                        <p:tgtEl>
                                          <p:spTgt spid="1893"/>
                                        </p:tgtEl>
                                        <p:attrNameLst>
                                          <p:attrName>ppt_x</p:attrName>
                                          <p:attrName>ppt_y</p:attrName>
                                        </p:attrNameLst>
                                      </p:cBhvr>
                                    </p:animMotion>
                                  </p:childTnLst>
                                </p:cTn>
                              </p:par>
                              <p:par>
                                <p:cTn id="2309" nodeType="withEffect" fill="hold" presetClass="exit" presetID="1">
                                  <p:stCondLst>
                                    <p:cond delay="212"/>
                                  </p:stCondLst>
                                  <p:childTnLst>
                                    <p:set>
                                      <p:cBhvr>
                                        <p:cTn id="2310" dur="1" fill="hold">
                                          <p:stCondLst>
                                            <p:cond delay="0"/>
                                          </p:stCondLst>
                                        </p:cTn>
                                        <p:tgtEl>
                                          <p:spTgt spid="1894"/>
                                        </p:tgtEl>
                                        <p:attrNameLst>
                                          <p:attrName>style.visibility</p:attrName>
                                        </p:attrNameLst>
                                      </p:cBhvr>
                                      <p:to>
                                        <p:strVal val="hidden"/>
                                      </p:to>
                                    </p:set>
                                  </p:childTnLst>
                                </p:cTn>
                              </p:par>
                              <p:par>
                                <p:cTn id="2311" nodeType="withEffect" fill="hold" presetClass="exit" presetID="1">
                                  <p:stCondLst>
                                    <p:cond delay="900"/>
                                  </p:stCondLst>
                                  <p:childTnLst>
                                    <p:set>
                                      <p:cBhvr>
                                        <p:cTn id="2312" dur="1" fill="hold">
                                          <p:stCondLst>
                                            <p:cond delay="0"/>
                                          </p:stCondLst>
                                        </p:cTn>
                                        <p:tgtEl>
                                          <p:spTgt spid="1890"/>
                                        </p:tgtEl>
                                        <p:attrNameLst>
                                          <p:attrName>style.visibility</p:attrName>
                                        </p:attrNameLst>
                                      </p:cBhvr>
                                      <p:to>
                                        <p:strVal val="hidden"/>
                                      </p:to>
                                    </p:set>
                                  </p:childTnLst>
                                </p:cTn>
                              </p:par>
                              <p:par>
                                <p:cTn id="2313" nodeType="withEffect" fill="hold" presetClass="path">
                                  <p:stCondLst>
                                    <p:cond delay="900"/>
                                  </p:stCondLst>
                                  <p:childTnLst>
                                    <p:animMotion origin="layout" path="M 0 0 L 0.57001 0 E">
                                      <p:cBhvr>
                                        <p:cTn id="2314" dur="2600" fill="hold"/>
                                        <p:tgtEl>
                                          <p:spTgt spid="1868"/>
                                        </p:tgtEl>
                                        <p:attrNameLst>
                                          <p:attrName>ppt_x</p:attrName>
                                          <p:attrName>ppt_y</p:attrName>
                                        </p:attrNameLst>
                                      </p:cBhvr>
                                    </p:animMotion>
                                  </p:childTnLst>
                                </p:cTn>
                              </p:par>
                              <p:par>
                                <p:cTn id="2315" nodeType="withEffect" fill="hold" presetClass="path">
                                  <p:stCondLst>
                                    <p:cond delay="900"/>
                                  </p:stCondLst>
                                  <p:childTnLst>
                                    <p:animMotion origin="layout" path="M 0 0 L 0.57001 0 E">
                                      <p:cBhvr>
                                        <p:cTn id="2316" dur="2600" fill="hold"/>
                                        <p:tgtEl>
                                          <p:spTgt spid="1869"/>
                                        </p:tgtEl>
                                        <p:attrNameLst>
                                          <p:attrName>ppt_x</p:attrName>
                                          <p:attrName>ppt_y</p:attrName>
                                        </p:attrNameLst>
                                      </p:cBhvr>
                                    </p:animMotion>
                                  </p:childTnLst>
                                </p:cTn>
                              </p:par>
                              <p:par>
                                <p:cTn id="2317" nodeType="withEffect" fill="hold" presetClass="path">
                                  <p:stCondLst>
                                    <p:cond delay="900"/>
                                  </p:stCondLst>
                                  <p:childTnLst>
                                    <p:animMotion origin="layout" path="M 0 0 L 0.57001 0 E">
                                      <p:cBhvr>
                                        <p:cTn id="2318" dur="2600" fill="hold"/>
                                        <p:tgtEl>
                                          <p:spTgt spid="1870"/>
                                        </p:tgtEl>
                                        <p:attrNameLst>
                                          <p:attrName>ppt_x</p:attrName>
                                          <p:attrName>ppt_y</p:attrName>
                                        </p:attrNameLst>
                                      </p:cBhvr>
                                    </p:animMotion>
                                  </p:childTnLst>
                                </p:cTn>
                              </p:par>
                              <p:par>
                                <p:cTn id="2319" nodeType="withEffect" fill="hold" presetClass="path">
                                  <p:stCondLst>
                                    <p:cond delay="900"/>
                                  </p:stCondLst>
                                  <p:childTnLst>
                                    <p:animMotion origin="layout" path="M 0 0 L 0.57001 0 E">
                                      <p:cBhvr>
                                        <p:cTn id="2320" dur="2600" fill="hold"/>
                                        <p:tgtEl>
                                          <p:spTgt spid="1871"/>
                                        </p:tgtEl>
                                        <p:attrNameLst>
                                          <p:attrName>ppt_x</p:attrName>
                                          <p:attrName>ppt_y</p:attrName>
                                        </p:attrNameLst>
                                      </p:cBhvr>
                                    </p:animMotion>
                                  </p:childTnLst>
                                </p:cTn>
                              </p:par>
                              <p:par>
                                <p:cTn id="2321" nodeType="withEffect" fill="hold" presetClass="path">
                                  <p:stCondLst>
                                    <p:cond delay="900"/>
                                  </p:stCondLst>
                                  <p:childTnLst>
                                    <p:animMotion origin="layout" path="M 0 0 L 0.57001 0 E">
                                      <p:cBhvr>
                                        <p:cTn id="2322" dur="2600" fill="hold"/>
                                        <p:tgtEl>
                                          <p:spTgt spid="1872"/>
                                        </p:tgtEl>
                                        <p:attrNameLst>
                                          <p:attrName>ppt_x</p:attrName>
                                          <p:attrName>ppt_y</p:attrName>
                                        </p:attrNameLst>
                                      </p:cBhvr>
                                    </p:animMotion>
                                  </p:childTnLst>
                                </p:cTn>
                              </p:par>
                              <p:par>
                                <p:cTn id="2323" nodeType="withEffect" fill="hold" presetClass="exit" presetID="1">
                                  <p:stCondLst>
                                    <p:cond delay="1027"/>
                                  </p:stCondLst>
                                  <p:childTnLst>
                                    <p:set>
                                      <p:cBhvr>
                                        <p:cTn id="2324" dur="1" fill="hold">
                                          <p:stCondLst>
                                            <p:cond delay="0"/>
                                          </p:stCondLst>
                                        </p:cTn>
                                        <p:tgtEl>
                                          <p:spTgt spid="1873"/>
                                        </p:tgtEl>
                                        <p:attrNameLst>
                                          <p:attrName>style.visibility</p:attrName>
                                        </p:attrNameLst>
                                      </p:cBhvr>
                                      <p:to>
                                        <p:strVal val="hidden"/>
                                      </p:to>
                                    </p:set>
                                  </p:childTnLst>
                                </p:cTn>
                              </p:par>
                              <p:par>
                                <p:cTn id="2325" nodeType="withEffect" fill="hold" presetClass="exit" presetID="1">
                                  <p:stCondLst>
                                    <p:cond delay="1163"/>
                                  </p:stCondLst>
                                  <p:childTnLst>
                                    <p:set>
                                      <p:cBhvr>
                                        <p:cTn id="2326" dur="1" fill="hold">
                                          <p:stCondLst>
                                            <p:cond delay="0"/>
                                          </p:stCondLst>
                                        </p:cTn>
                                        <p:tgtEl>
                                          <p:spTgt spid="1874"/>
                                        </p:tgtEl>
                                        <p:attrNameLst>
                                          <p:attrName>style.visibility</p:attrName>
                                        </p:attrNameLst>
                                      </p:cBhvr>
                                      <p:to>
                                        <p:strVal val="hidden"/>
                                      </p:to>
                                    </p:set>
                                  </p:childTnLst>
                                </p:cTn>
                              </p:par>
                              <p:par>
                                <p:cTn id="2327" nodeType="withEffect" fill="hold" presetClass="exit" presetID="1">
                                  <p:stCondLst>
                                    <p:cond delay="1300"/>
                                  </p:stCondLst>
                                  <p:childTnLst>
                                    <p:set>
                                      <p:cBhvr>
                                        <p:cTn id="2328" dur="1" fill="hold">
                                          <p:stCondLst>
                                            <p:cond delay="0"/>
                                          </p:stCondLst>
                                        </p:cTn>
                                        <p:tgtEl>
                                          <p:spTgt spid="1875"/>
                                        </p:tgtEl>
                                        <p:attrNameLst>
                                          <p:attrName>style.visibility</p:attrName>
                                        </p:attrNameLst>
                                      </p:cBhvr>
                                      <p:to>
                                        <p:strVal val="hidden"/>
                                      </p:to>
                                    </p:set>
                                  </p:childTnLst>
                                </p:cTn>
                              </p:par>
                              <p:par>
                                <p:cTn id="2329" nodeType="withEffect" fill="hold" presetClass="exit" presetID="1">
                                  <p:stCondLst>
                                    <p:cond delay="1437"/>
                                  </p:stCondLst>
                                  <p:childTnLst>
                                    <p:set>
                                      <p:cBhvr>
                                        <p:cTn id="2330" dur="1" fill="hold">
                                          <p:stCondLst>
                                            <p:cond delay="0"/>
                                          </p:stCondLst>
                                        </p:cTn>
                                        <p:tgtEl>
                                          <p:spTgt spid="1876"/>
                                        </p:tgtEl>
                                        <p:attrNameLst>
                                          <p:attrName>style.visibility</p:attrName>
                                        </p:attrNameLst>
                                      </p:cBhvr>
                                      <p:to>
                                        <p:strVal val="hidden"/>
                                      </p:to>
                                    </p:set>
                                  </p:childTnLst>
                                </p:cTn>
                              </p:par>
                              <p:par>
                                <p:cTn id="2331" nodeType="withEffect" fill="hold" presetClass="exit" presetID="1">
                                  <p:stCondLst>
                                    <p:cond delay="1574"/>
                                  </p:stCondLst>
                                  <p:childTnLst>
                                    <p:set>
                                      <p:cBhvr>
                                        <p:cTn id="2332" dur="1" fill="hold">
                                          <p:stCondLst>
                                            <p:cond delay="0"/>
                                          </p:stCondLst>
                                        </p:cTn>
                                        <p:tgtEl>
                                          <p:spTgt spid="1877"/>
                                        </p:tgtEl>
                                        <p:attrNameLst>
                                          <p:attrName>style.visibility</p:attrName>
                                        </p:attrNameLst>
                                      </p:cBhvr>
                                      <p:to>
                                        <p:strVal val="hidden"/>
                                      </p:to>
                                    </p:set>
                                  </p:childTnLst>
                                </p:cTn>
                              </p:par>
                              <p:par>
                                <p:cTn id="2333" nodeType="withEffect" fill="hold" presetClass="exit" presetID="1">
                                  <p:stCondLst>
                                    <p:cond delay="1711"/>
                                  </p:stCondLst>
                                  <p:childTnLst>
                                    <p:set>
                                      <p:cBhvr>
                                        <p:cTn id="2334" dur="1" fill="hold">
                                          <p:stCondLst>
                                            <p:cond delay="0"/>
                                          </p:stCondLst>
                                        </p:cTn>
                                        <p:tgtEl>
                                          <p:spTgt spid="1878"/>
                                        </p:tgtEl>
                                        <p:attrNameLst>
                                          <p:attrName>style.visibility</p:attrName>
                                        </p:attrNameLst>
                                      </p:cBhvr>
                                      <p:to>
                                        <p:strVal val="hidden"/>
                                      </p:to>
                                    </p:set>
                                  </p:childTnLst>
                                </p:cTn>
                              </p:par>
                              <p:par>
                                <p:cTn id="2335" nodeType="withEffect" fill="hold" presetClass="exit" presetID="1">
                                  <p:stCondLst>
                                    <p:cond delay="1848"/>
                                  </p:stCondLst>
                                  <p:childTnLst>
                                    <p:set>
                                      <p:cBhvr>
                                        <p:cTn id="2336" dur="1" fill="hold">
                                          <p:stCondLst>
                                            <p:cond delay="0"/>
                                          </p:stCondLst>
                                        </p:cTn>
                                        <p:tgtEl>
                                          <p:spTgt spid="1879"/>
                                        </p:tgtEl>
                                        <p:attrNameLst>
                                          <p:attrName>style.visibility</p:attrName>
                                        </p:attrNameLst>
                                      </p:cBhvr>
                                      <p:to>
                                        <p:strVal val="hidden"/>
                                      </p:to>
                                    </p:set>
                                  </p:childTnLst>
                                </p:cTn>
                              </p:par>
                              <p:par>
                                <p:cTn id="2337" nodeType="withEffect" fill="hold" presetClass="exit" presetID="1">
                                  <p:stCondLst>
                                    <p:cond delay="1984"/>
                                  </p:stCondLst>
                                  <p:childTnLst>
                                    <p:set>
                                      <p:cBhvr>
                                        <p:cTn id="2338" dur="1" fill="hold">
                                          <p:stCondLst>
                                            <p:cond delay="0"/>
                                          </p:stCondLst>
                                        </p:cTn>
                                        <p:tgtEl>
                                          <p:spTgt spid="1880"/>
                                        </p:tgtEl>
                                        <p:attrNameLst>
                                          <p:attrName>style.visibility</p:attrName>
                                        </p:attrNameLst>
                                      </p:cBhvr>
                                      <p:to>
                                        <p:strVal val="hidden"/>
                                      </p:to>
                                    </p:set>
                                  </p:childTnLst>
                                </p:cTn>
                              </p:par>
                              <p:par>
                                <p:cTn id="2339" nodeType="withEffect" fill="hold" presetClass="exit" presetID="1">
                                  <p:stCondLst>
                                    <p:cond delay="2121"/>
                                  </p:stCondLst>
                                  <p:childTnLst>
                                    <p:set>
                                      <p:cBhvr>
                                        <p:cTn id="2340" dur="1" fill="hold">
                                          <p:stCondLst>
                                            <p:cond delay="0"/>
                                          </p:stCondLst>
                                        </p:cTn>
                                        <p:tgtEl>
                                          <p:spTgt spid="1881"/>
                                        </p:tgtEl>
                                        <p:attrNameLst>
                                          <p:attrName>style.visibility</p:attrName>
                                        </p:attrNameLst>
                                      </p:cBhvr>
                                      <p:to>
                                        <p:strVal val="hidden"/>
                                      </p:to>
                                    </p:set>
                                  </p:childTnLst>
                                </p:cTn>
                              </p:par>
                              <p:par>
                                <p:cTn id="2341" nodeType="withEffect" fill="hold" presetClass="exit" presetID="1">
                                  <p:stCondLst>
                                    <p:cond delay="2258"/>
                                  </p:stCondLst>
                                  <p:childTnLst>
                                    <p:set>
                                      <p:cBhvr>
                                        <p:cTn id="2342" dur="1" fill="hold">
                                          <p:stCondLst>
                                            <p:cond delay="0"/>
                                          </p:stCondLst>
                                        </p:cTn>
                                        <p:tgtEl>
                                          <p:spTgt spid="1882"/>
                                        </p:tgtEl>
                                        <p:attrNameLst>
                                          <p:attrName>style.visibility</p:attrName>
                                        </p:attrNameLst>
                                      </p:cBhvr>
                                      <p:to>
                                        <p:strVal val="hidden"/>
                                      </p:to>
                                    </p:set>
                                  </p:childTnLst>
                                </p:cTn>
                              </p:par>
                              <p:par>
                                <p:cTn id="2343" nodeType="withEffect" fill="hold" presetClass="exit" presetID="1">
                                  <p:stCondLst>
                                    <p:cond delay="2395"/>
                                  </p:stCondLst>
                                  <p:childTnLst>
                                    <p:set>
                                      <p:cBhvr>
                                        <p:cTn id="2344" dur="1" fill="hold">
                                          <p:stCondLst>
                                            <p:cond delay="0"/>
                                          </p:stCondLst>
                                        </p:cTn>
                                        <p:tgtEl>
                                          <p:spTgt spid="1883"/>
                                        </p:tgtEl>
                                        <p:attrNameLst>
                                          <p:attrName>style.visibility</p:attrName>
                                        </p:attrNameLst>
                                      </p:cBhvr>
                                      <p:to>
                                        <p:strVal val="hidden"/>
                                      </p:to>
                                    </p:set>
                                  </p:childTnLst>
                                </p:cTn>
                              </p:par>
                              <p:par>
                                <p:cTn id="2345" nodeType="withEffect" fill="hold" presetClass="exit" presetID="1">
                                  <p:stCondLst>
                                    <p:cond delay="2532"/>
                                  </p:stCondLst>
                                  <p:childTnLst>
                                    <p:set>
                                      <p:cBhvr>
                                        <p:cTn id="2346" dur="1" fill="hold">
                                          <p:stCondLst>
                                            <p:cond delay="0"/>
                                          </p:stCondLst>
                                        </p:cTn>
                                        <p:tgtEl>
                                          <p:spTgt spid="1884"/>
                                        </p:tgtEl>
                                        <p:attrNameLst>
                                          <p:attrName>style.visibility</p:attrName>
                                        </p:attrNameLst>
                                      </p:cBhvr>
                                      <p:to>
                                        <p:strVal val="hidden"/>
                                      </p:to>
                                    </p:set>
                                  </p:childTnLst>
                                </p:cTn>
                              </p:par>
                              <p:par>
                                <p:cTn id="2347" nodeType="withEffect" fill="hold" presetClass="exit" presetID="1">
                                  <p:stCondLst>
                                    <p:cond delay="2669"/>
                                  </p:stCondLst>
                                  <p:childTnLst>
                                    <p:set>
                                      <p:cBhvr>
                                        <p:cTn id="2348" dur="1" fill="hold">
                                          <p:stCondLst>
                                            <p:cond delay="0"/>
                                          </p:stCondLst>
                                        </p:cTn>
                                        <p:tgtEl>
                                          <p:spTgt spid="1885"/>
                                        </p:tgtEl>
                                        <p:attrNameLst>
                                          <p:attrName>style.visibility</p:attrName>
                                        </p:attrNameLst>
                                      </p:cBhvr>
                                      <p:to>
                                        <p:strVal val="hidden"/>
                                      </p:to>
                                    </p:set>
                                  </p:childTnLst>
                                </p:cTn>
                              </p:par>
                              <p:par>
                                <p:cTn id="2349" nodeType="withEffect" fill="hold" presetClass="exit" presetID="1">
                                  <p:stCondLst>
                                    <p:cond delay="2806"/>
                                  </p:stCondLst>
                                  <p:childTnLst>
                                    <p:set>
                                      <p:cBhvr>
                                        <p:cTn id="2350" dur="1" fill="hold">
                                          <p:stCondLst>
                                            <p:cond delay="0"/>
                                          </p:stCondLst>
                                        </p:cTn>
                                        <p:tgtEl>
                                          <p:spTgt spid="1886"/>
                                        </p:tgtEl>
                                        <p:attrNameLst>
                                          <p:attrName>style.visibility</p:attrName>
                                        </p:attrNameLst>
                                      </p:cBhvr>
                                      <p:to>
                                        <p:strVal val="hidden"/>
                                      </p:to>
                                    </p:set>
                                  </p:childTnLst>
                                </p:cTn>
                              </p:par>
                              <p:par>
                                <p:cTn id="2351" nodeType="withEffect" fill="hold" presetClass="exit" presetID="1">
                                  <p:stCondLst>
                                    <p:cond delay="2942"/>
                                  </p:stCondLst>
                                  <p:childTnLst>
                                    <p:set>
                                      <p:cBhvr>
                                        <p:cTn id="2352" dur="1" fill="hold">
                                          <p:stCondLst>
                                            <p:cond delay="0"/>
                                          </p:stCondLst>
                                        </p:cTn>
                                        <p:tgtEl>
                                          <p:spTgt spid="1887"/>
                                        </p:tgtEl>
                                        <p:attrNameLst>
                                          <p:attrName>style.visibility</p:attrName>
                                        </p:attrNameLst>
                                      </p:cBhvr>
                                      <p:to>
                                        <p:strVal val="hidden"/>
                                      </p:to>
                                    </p:set>
                                  </p:childTnLst>
                                </p:cTn>
                              </p:par>
                              <p:par>
                                <p:cTn id="2353" nodeType="withEffect" fill="hold" presetClass="exit" presetID="1">
                                  <p:stCondLst>
                                    <p:cond delay="3079"/>
                                  </p:stCondLst>
                                  <p:childTnLst>
                                    <p:set>
                                      <p:cBhvr>
                                        <p:cTn id="2354" dur="1" fill="hold">
                                          <p:stCondLst>
                                            <p:cond delay="0"/>
                                          </p:stCondLst>
                                        </p:cTn>
                                        <p:tgtEl>
                                          <p:spTgt spid="1888"/>
                                        </p:tgtEl>
                                        <p:attrNameLst>
                                          <p:attrName>style.visibility</p:attrName>
                                        </p:attrNameLst>
                                      </p:cBhvr>
                                      <p:to>
                                        <p:strVal val="hidden"/>
                                      </p:to>
                                    </p:set>
                                  </p:childTnLst>
                                </p:cTn>
                              </p:par>
                              <p:par>
                                <p:cTn id="2355" nodeType="withEffect" fill="hold" presetClass="exit" presetID="1">
                                  <p:stCondLst>
                                    <p:cond delay="3216"/>
                                  </p:stCondLst>
                                  <p:childTnLst>
                                    <p:set>
                                      <p:cBhvr>
                                        <p:cTn id="2356" dur="1" fill="hold">
                                          <p:stCondLst>
                                            <p:cond delay="0"/>
                                          </p:stCondLst>
                                        </p:cTn>
                                        <p:tgtEl>
                                          <p:spTgt spid="188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908" name="o1" descr="LEVEL 4 → INSIGHT 1/4"/>
          <p:cNvPicPr/>
          <p:nvPr/>
        </p:nvPicPr>
        <p:blipFill>
          <a:blip r:embed="rId1"/>
          <a:stretch/>
        </p:blipFill>
        <p:spPr>
          <a:xfrm>
            <a:off x="548640" y="411480"/>
            <a:ext cx="3071880" cy="145800"/>
          </a:xfrm>
          <a:prstGeom prst="rect">
            <a:avLst/>
          </a:prstGeom>
          <a:ln w="0">
            <a:noFill/>
          </a:ln>
        </p:spPr>
      </p:pic>
      <p:pic>
        <p:nvPicPr>
          <p:cNvPr id="1909" name="o2" descr="Bien noté = bien vendu ?"/>
          <p:cNvPicPr/>
          <p:nvPr/>
        </p:nvPicPr>
        <p:blipFill>
          <a:blip r:embed="rId2"/>
          <a:stretch/>
        </p:blipFill>
        <p:spPr>
          <a:xfrm>
            <a:off x="548640" y="777240"/>
            <a:ext cx="6583320" cy="273960"/>
          </a:xfrm>
          <a:prstGeom prst="rect">
            <a:avLst/>
          </a:prstGeom>
          <a:ln w="0">
            <a:noFill/>
          </a:ln>
        </p:spPr>
      </p:pic>
      <p:pic>
        <p:nvPicPr>
          <p:cNvPr id="1910" name="o3" descr="image-10-3.png"/>
          <p:cNvPicPr/>
          <p:nvPr/>
        </p:nvPicPr>
        <p:blipFill>
          <a:blip r:embed="rId3"/>
          <a:stretch/>
        </p:blipFill>
        <p:spPr>
          <a:xfrm>
            <a:off x="11073240" y="365760"/>
            <a:ext cx="566640" cy="566640"/>
          </a:xfrm>
          <a:prstGeom prst="rect">
            <a:avLst/>
          </a:prstGeom>
          <a:ln w="0">
            <a:noFill/>
          </a:ln>
        </p:spPr>
      </p:pic>
      <p:graphicFrame>
        <p:nvGraphicFramePr>
          <p:cNvPr id="1911" name="o4"/>
          <p:cNvGraphicFramePr/>
          <p:nvPr/>
        </p:nvGraphicFramePr>
        <p:xfrm>
          <a:off x="457200" y="1600200"/>
          <a:ext cx="7314840" cy="4434480"/>
        </p:xfrm>
        <a:graphic>
          <a:graphicData uri="http://schemas.openxmlformats.org/drawingml/2006/chart">
            <c:chart xmlns:c="http://schemas.openxmlformats.org/drawingml/2006/chart" xmlns:r="http://schemas.openxmlformats.org/officeDocument/2006/relationships" r:id="rId4"/>
          </a:graphicData>
        </a:graphic>
      </p:graphicFrame>
      <p:sp>
        <p:nvSpPr>
          <p:cNvPr id="1912" name="o5"/>
          <p:cNvSpPr/>
          <p:nvPr/>
        </p:nvSpPr>
        <p:spPr>
          <a:xfrm>
            <a:off x="8183880" y="1691640"/>
            <a:ext cx="3456000" cy="2468520"/>
          </a:xfrm>
          <a:prstGeom prst="roundRect">
            <a:avLst>
              <a:gd name="adj" fmla="val 5185"/>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913" name="o6"/>
          <p:cNvSpPr/>
          <p:nvPr/>
        </p:nvSpPr>
        <p:spPr>
          <a:xfrm>
            <a:off x="8252280" y="1760400"/>
            <a:ext cx="3318840" cy="2331360"/>
          </a:xfrm>
          <a:prstGeom prst="roundRect">
            <a:avLst>
              <a:gd name="adj" fmla="val 2549"/>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914" name="o7" descr="×13"/>
          <p:cNvPicPr/>
          <p:nvPr/>
        </p:nvPicPr>
        <p:blipFill>
          <a:blip r:embed="rId5"/>
          <a:stretch/>
        </p:blipFill>
        <p:spPr>
          <a:xfrm>
            <a:off x="8503920" y="2011680"/>
            <a:ext cx="1151640" cy="383760"/>
          </a:xfrm>
          <a:prstGeom prst="rect">
            <a:avLst/>
          </a:prstGeom>
          <a:ln w="0">
            <a:noFill/>
          </a:ln>
        </p:spPr>
      </p:pic>
      <p:sp>
        <p:nvSpPr>
          <p:cNvPr id="1915" name="o8"/>
          <p:cNvSpPr/>
          <p:nvPr/>
        </p:nvSpPr>
        <p:spPr>
          <a:xfrm>
            <a:off x="8503920" y="2578680"/>
            <a:ext cx="2925720" cy="457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de ventes médianes : 90 et + face à moins de 50</a:t>
            </a:r>
            <a:endParaRPr b="0" lang="en-US" sz="1500" spc="-1" strike="noStrike">
              <a:solidFill>
                <a:srgbClr val="ffffff"/>
              </a:solidFill>
              <a:latin typeface="Arial"/>
            </a:endParaRPr>
          </a:p>
        </p:txBody>
      </p:sp>
      <p:pic>
        <p:nvPicPr>
          <p:cNvPr id="1916" name="o9" descr="4%→62%"/>
          <p:cNvPicPr/>
          <p:nvPr/>
        </p:nvPicPr>
        <p:blipFill>
          <a:blip r:embed="rId6"/>
          <a:stretch/>
        </p:blipFill>
        <p:spPr>
          <a:xfrm>
            <a:off x="8503920" y="3291840"/>
            <a:ext cx="1645560" cy="273960"/>
          </a:xfrm>
          <a:prstGeom prst="rect">
            <a:avLst/>
          </a:prstGeom>
          <a:ln w="0">
            <a:noFill/>
          </a:ln>
        </p:spPr>
      </p:pic>
      <p:sp>
        <p:nvSpPr>
          <p:cNvPr id="1917" name="o10"/>
          <p:cNvSpPr/>
          <p:nvPr/>
        </p:nvSpPr>
        <p:spPr>
          <a:xfrm>
            <a:off x="8503920" y="3657600"/>
            <a:ext cx="292572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de jeux à plus d'1 M</a:t>
            </a:r>
            <a:endParaRPr b="0" lang="en-US" sz="1500" spc="-1" strike="noStrike">
              <a:solidFill>
                <a:srgbClr val="ffffff"/>
              </a:solidFill>
              <a:latin typeface="Arial"/>
            </a:endParaRPr>
          </a:p>
        </p:txBody>
      </p:sp>
      <p:sp>
        <p:nvSpPr>
          <p:cNvPr id="1918" name="o11"/>
          <p:cNvSpPr/>
          <p:nvPr/>
        </p:nvSpPr>
        <p:spPr>
          <a:xfrm>
            <a:off x="8183880" y="4389120"/>
            <a:ext cx="3456000" cy="1645560"/>
          </a:xfrm>
          <a:prstGeom prst="roundRect">
            <a:avLst>
              <a:gd name="adj" fmla="val 7777"/>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919" name="o12"/>
          <p:cNvSpPr/>
          <p:nvPr/>
        </p:nvSpPr>
        <p:spPr>
          <a:xfrm>
            <a:off x="8252280" y="4457880"/>
            <a:ext cx="3318840" cy="1508400"/>
          </a:xfrm>
          <a:prstGeom prst="roundRect">
            <a:avLst>
              <a:gd name="adj" fmla="val 3939"/>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920" name="o13" descr="PIEGE"/>
          <p:cNvPicPr/>
          <p:nvPr/>
        </p:nvPicPr>
        <p:blipFill>
          <a:blip r:embed="rId7"/>
          <a:stretch/>
        </p:blipFill>
        <p:spPr>
          <a:xfrm>
            <a:off x="8503920" y="4617720"/>
            <a:ext cx="685440" cy="136800"/>
          </a:xfrm>
          <a:prstGeom prst="rect">
            <a:avLst/>
          </a:prstGeom>
          <a:ln w="0">
            <a:noFill/>
          </a:ln>
        </p:spPr>
      </p:pic>
      <p:sp>
        <p:nvSpPr>
          <p:cNvPr id="1921" name="o14"/>
          <p:cNvSpPr/>
          <p:nvPr/>
        </p:nvSpPr>
        <p:spPr>
          <a:xfrm>
            <a:off x="8503920" y="4846320"/>
            <a:ext cx="292572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fffff"/>
                </a:solidFill>
                <a:latin typeface="Arial"/>
              </a:rPr>
              <a:t>Lien ≠ cause</a:t>
            </a:r>
            <a:endParaRPr b="0" lang="en-US" sz="2000" spc="-1" strike="noStrike">
              <a:solidFill>
                <a:srgbClr val="ffffff"/>
              </a:solidFill>
              <a:latin typeface="Arial"/>
            </a:endParaRPr>
          </a:p>
        </p:txBody>
      </p:sp>
      <p:sp>
        <p:nvSpPr>
          <p:cNvPr id="1922" name="o15"/>
          <p:cNvSpPr/>
          <p:nvPr/>
        </p:nvSpPr>
        <p:spPr>
          <a:xfrm>
            <a:off x="8503920" y="5303520"/>
            <a:ext cx="2925720" cy="427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Wii Play : 58/100 et 29 M d'exemplaires</a:t>
            </a:r>
            <a:endParaRPr b="0" lang="en-US" sz="1400" spc="-1" strike="noStrike">
              <a:solidFill>
                <a:srgbClr val="ffffff"/>
              </a:solidFill>
              <a:latin typeface="Arial"/>
            </a:endParaRPr>
          </a:p>
        </p:txBody>
      </p:sp>
      <p:pic>
        <p:nvPicPr>
          <p:cNvPr id="1923" name="fin_pastille" descr="image-1-13.gif"/>
          <p:cNvPicPr/>
          <p:nvPr/>
        </p:nvPicPr>
        <p:blipFill>
          <a:blip r:embed="rId8"/>
          <a:stretch/>
        </p:blipFill>
        <p:spPr>
          <a:xfrm>
            <a:off x="11448360" y="6355080"/>
            <a:ext cx="182520" cy="182520"/>
          </a:xfrm>
          <a:prstGeom prst="rect">
            <a:avLst/>
          </a:prstGeom>
          <a:ln w="0">
            <a:noFill/>
          </a:ln>
        </p:spPr>
      </p:pic>
      <p:pic>
        <p:nvPicPr>
          <p:cNvPr id="1924" name="barre_fantome" descr="image.gif"/>
          <p:cNvPicPr/>
          <p:nvPr/>
        </p:nvPicPr>
        <p:blipFill>
          <a:blip r:embed="rId9"/>
          <a:stretch/>
        </p:blipFill>
        <p:spPr>
          <a:xfrm>
            <a:off x="7531272" y="6291000"/>
            <a:ext cx="310680" cy="310680"/>
          </a:xfrm>
          <a:prstGeom prst="rect">
            <a:avLst/>
          </a:prstGeom>
          <a:ln w="0">
            <a:noFill/>
          </a:ln>
        </p:spPr>
      </p:pic>
      <p:sp>
        <p:nvSpPr>
          <p:cNvPr id="1926" name="barre_pastille"/>
          <p:cNvSpPr/>
          <p:nvPr/>
        </p:nvSpPr>
        <p:spPr>
          <a:xfrm>
            <a:off x="8458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27"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26"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27"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28"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29"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30"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31"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32"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33"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34"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35"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36"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925" name="barre_pacman" descr="image.gif"/>
          <p:cNvPicPr/>
          <p:nvPr/>
        </p:nvPicPr>
        <p:blipFill>
          <a:blip r:embed="rId10"/>
          <a:stretch/>
        </p:blipFill>
        <p:spPr>
          <a:xfrm>
            <a:off x="8098272" y="6291000"/>
            <a:ext cx="310680" cy="310680"/>
          </a:xfrm>
          <a:prstGeom prst="rect">
            <a:avLst/>
          </a:prstGeom>
          <a:ln w="0">
            <a:noFill/>
          </a:ln>
        </p:spPr>
      </p:pic>
      <p:sp>
        <p:nvSpPr>
          <p:cNvPr id="1937"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357" dur="indefinite" restart="never" nodeType="tmRoot">
          <p:childTnLst>
            <p:seq>
              <p:cTn id="2358" dur="indefinite" nodeType="mainSeq">
                <p:childTnLst>
                  <p:par>
                    <p:cTn id="2359" fill="hold">
                      <p:stCondLst>
                        <p:cond delay="0"/>
                      </p:stCondLst>
                      <p:childTnLst>
                        <p:par>
                          <p:cTn id="2360" fill="hold">
                            <p:stCondLst>
                              <p:cond delay="0"/>
                            </p:stCondLst>
                            <p:childTnLst>
                              <p:par>
                                <p:cTn id="2361" nodeType="withEffect" fill="hold" presetClass="path">
                                  <p:stCondLst>
                                    <p:cond delay="0"/>
                                  </p:stCondLst>
                                  <p:childTnLst>
                                    <p:animMotion origin="layout" path="M 0 0 L 0.02252 0 E">
                                      <p:cBhvr>
                                        <p:cTn id="2362" dur="900" fill="hold"/>
                                        <p:tgtEl>
                                          <p:spTgt spid="1924"/>
                                        </p:tgtEl>
                                        <p:attrNameLst>
                                          <p:attrName>ppt_x</p:attrName>
                                          <p:attrName>ppt_y</p:attrName>
                                        </p:attrNameLst>
                                      </p:cBhvr>
                                    </p:animMotion>
                                  </p:childTnLst>
                                </p:cTn>
                              </p:par>
                              <p:par>
                                <p:cTn id="2363" nodeType="withEffect" fill="hold" presetClass="path">
                                  <p:stCondLst>
                                    <p:cond delay="0"/>
                                  </p:stCondLst>
                                  <p:childTnLst>
                                    <p:animMotion origin="layout" path="M 0 0 L 0.02252 0 E">
                                      <p:cBhvr>
                                        <p:cTn id="2364" dur="900" fill="hold"/>
                                        <p:tgtEl>
                                          <p:spTgt spid="1925"/>
                                        </p:tgtEl>
                                        <p:attrNameLst>
                                          <p:attrName>ppt_x</p:attrName>
                                          <p:attrName>ppt_y</p:attrName>
                                        </p:attrNameLst>
                                      </p:cBhvr>
                                    </p:animMotion>
                                  </p:childTnLst>
                                </p:cTn>
                              </p:par>
                              <p:par>
                                <p:cTn id="2365" nodeType="withEffect" fill="hold" presetClass="exit" presetID="1">
                                  <p:stCondLst>
                                    <p:cond delay="83"/>
                                  </p:stCondLst>
                                  <p:childTnLst>
                                    <p:set>
                                      <p:cBhvr>
                                        <p:cTn id="2366" dur="1" fill="hold">
                                          <p:stCondLst>
                                            <p:cond delay="0"/>
                                          </p:stCondLst>
                                        </p:cTn>
                                        <p:tgtEl>
                                          <p:spTgt spid="1926"/>
                                        </p:tgtEl>
                                        <p:attrNameLst>
                                          <p:attrName>style.visibility</p:attrName>
                                        </p:attrNameLst>
                                      </p:cBhvr>
                                      <p:to>
                                        <p:strVal val="hidden"/>
                                      </p:to>
                                    </p:set>
                                  </p:childTnLst>
                                </p:cTn>
                              </p:par>
                              <p:par>
                                <p:cTn id="2367" nodeType="withEffect" fill="hold" presetClass="exit" presetID="1">
                                  <p:stCondLst>
                                    <p:cond delay="854"/>
                                  </p:stCondLst>
                                  <p:childTnLst>
                                    <p:set>
                                      <p:cBhvr>
                                        <p:cTn id="2368" dur="1" fill="hold">
                                          <p:stCondLst>
                                            <p:cond delay="0"/>
                                          </p:stCondLst>
                                        </p:cTn>
                                        <p:tgtEl>
                                          <p:spTgt spid="1927"/>
                                        </p:tgtEl>
                                        <p:attrNameLst>
                                          <p:attrName>style.visibility</p:attrName>
                                        </p:attrNameLst>
                                      </p:cBhvr>
                                      <p:to>
                                        <p:strVal val="hidden"/>
                                      </p:to>
                                    </p:set>
                                  </p:childTnLst>
                                </p:cTn>
                              </p:par>
                              <p:par>
                                <p:cTn id="2369" nodeType="withEffect" fill="hold" presetClass="entr" presetID="10">
                                  <p:stCondLst>
                                    <p:cond delay="100"/>
                                  </p:stCondLst>
                                  <p:childTnLst>
                                    <p:set>
                                      <p:cBhvr>
                                        <p:cTn id="2370" dur="1" fill="hold">
                                          <p:stCondLst>
                                            <p:cond delay="0"/>
                                          </p:stCondLst>
                                        </p:cTn>
                                        <p:tgtEl>
                                          <p:spTgt spid="1911"/>
                                        </p:tgtEl>
                                        <p:attrNameLst>
                                          <p:attrName>style.visibility</p:attrName>
                                        </p:attrNameLst>
                                      </p:cBhvr>
                                      <p:to>
                                        <p:strVal val="visible"/>
                                      </p:to>
                                    </p:set>
                                    <p:animEffect filter="fade" transition="in">
                                      <p:cBhvr additive="repl">
                                        <p:cTn id="2371" dur="400"/>
                                        <p:tgtEl>
                                          <p:spTgt spid="1911"/>
                                        </p:tgtEl>
                                      </p:cBhvr>
                                    </p:animEffect>
                                  </p:childTnLst>
                                </p:cTn>
                              </p:par>
                              <p:par>
                                <p:cTn id="2372" nodeType="withEffect" fill="hold" presetClass="entr" presetID="10">
                                  <p:stCondLst>
                                    <p:cond delay="600"/>
                                  </p:stCondLst>
                                  <p:childTnLst>
                                    <p:set>
                                      <p:cBhvr>
                                        <p:cTn id="2373" dur="1" fill="hold">
                                          <p:stCondLst>
                                            <p:cond delay="0"/>
                                          </p:stCondLst>
                                        </p:cTn>
                                        <p:tgtEl>
                                          <p:spTgt spid="1912"/>
                                        </p:tgtEl>
                                        <p:attrNameLst>
                                          <p:attrName>style.visibility</p:attrName>
                                        </p:attrNameLst>
                                      </p:cBhvr>
                                      <p:to>
                                        <p:strVal val="visible"/>
                                      </p:to>
                                    </p:set>
                                    <p:animEffect filter="fade" transition="in">
                                      <p:cBhvr additive="repl">
                                        <p:cTn id="2374" dur="400"/>
                                        <p:tgtEl>
                                          <p:spTgt spid="1912"/>
                                        </p:tgtEl>
                                      </p:cBhvr>
                                    </p:animEffect>
                                  </p:childTnLst>
                                </p:cTn>
                              </p:par>
                              <p:par>
                                <p:cTn id="2375" nodeType="withEffect" fill="hold" presetClass="entr" presetID="10">
                                  <p:stCondLst>
                                    <p:cond delay="600"/>
                                  </p:stCondLst>
                                  <p:childTnLst>
                                    <p:set>
                                      <p:cBhvr>
                                        <p:cTn id="2376" dur="1" fill="hold">
                                          <p:stCondLst>
                                            <p:cond delay="0"/>
                                          </p:stCondLst>
                                        </p:cTn>
                                        <p:tgtEl>
                                          <p:spTgt spid="1913"/>
                                        </p:tgtEl>
                                        <p:attrNameLst>
                                          <p:attrName>style.visibility</p:attrName>
                                        </p:attrNameLst>
                                      </p:cBhvr>
                                      <p:to>
                                        <p:strVal val="visible"/>
                                      </p:to>
                                    </p:set>
                                    <p:animEffect filter="fade" transition="in">
                                      <p:cBhvr additive="repl">
                                        <p:cTn id="2377" dur="400"/>
                                        <p:tgtEl>
                                          <p:spTgt spid="1913"/>
                                        </p:tgtEl>
                                      </p:cBhvr>
                                    </p:animEffect>
                                  </p:childTnLst>
                                </p:cTn>
                              </p:par>
                              <p:par>
                                <p:cTn id="2378" nodeType="withEffect" fill="hold" presetClass="entr" presetID="10">
                                  <p:stCondLst>
                                    <p:cond delay="600"/>
                                  </p:stCondLst>
                                  <p:childTnLst>
                                    <p:set>
                                      <p:cBhvr>
                                        <p:cTn id="2379" dur="1" fill="hold">
                                          <p:stCondLst>
                                            <p:cond delay="0"/>
                                          </p:stCondLst>
                                        </p:cTn>
                                        <p:tgtEl>
                                          <p:spTgt spid="1914"/>
                                        </p:tgtEl>
                                        <p:attrNameLst>
                                          <p:attrName>style.visibility</p:attrName>
                                        </p:attrNameLst>
                                      </p:cBhvr>
                                      <p:to>
                                        <p:strVal val="visible"/>
                                      </p:to>
                                    </p:set>
                                    <p:animEffect filter="fade" transition="in">
                                      <p:cBhvr additive="repl">
                                        <p:cTn id="2380" dur="400"/>
                                        <p:tgtEl>
                                          <p:spTgt spid="1914"/>
                                        </p:tgtEl>
                                      </p:cBhvr>
                                    </p:animEffect>
                                  </p:childTnLst>
                                </p:cTn>
                              </p:par>
                              <p:par>
                                <p:cTn id="2381" nodeType="withEffect" fill="hold" presetClass="entr" presetID="10">
                                  <p:stCondLst>
                                    <p:cond delay="600"/>
                                  </p:stCondLst>
                                  <p:childTnLst>
                                    <p:set>
                                      <p:cBhvr>
                                        <p:cTn id="2382" dur="1" fill="hold">
                                          <p:stCondLst>
                                            <p:cond delay="0"/>
                                          </p:stCondLst>
                                        </p:cTn>
                                        <p:tgtEl>
                                          <p:spTgt spid="1915"/>
                                        </p:tgtEl>
                                        <p:attrNameLst>
                                          <p:attrName>style.visibility</p:attrName>
                                        </p:attrNameLst>
                                      </p:cBhvr>
                                      <p:to>
                                        <p:strVal val="visible"/>
                                      </p:to>
                                    </p:set>
                                    <p:animEffect filter="fade" transition="in">
                                      <p:cBhvr additive="repl">
                                        <p:cTn id="2383" dur="400"/>
                                        <p:tgtEl>
                                          <p:spTgt spid="1915"/>
                                        </p:tgtEl>
                                      </p:cBhvr>
                                    </p:animEffect>
                                  </p:childTnLst>
                                </p:cTn>
                              </p:par>
                              <p:par>
                                <p:cTn id="2384" nodeType="withEffect" fill="hold" presetClass="entr" presetID="10">
                                  <p:stCondLst>
                                    <p:cond delay="900"/>
                                  </p:stCondLst>
                                  <p:childTnLst>
                                    <p:set>
                                      <p:cBhvr>
                                        <p:cTn id="2385" dur="1" fill="hold">
                                          <p:stCondLst>
                                            <p:cond delay="0"/>
                                          </p:stCondLst>
                                        </p:cTn>
                                        <p:tgtEl>
                                          <p:spTgt spid="1916"/>
                                        </p:tgtEl>
                                        <p:attrNameLst>
                                          <p:attrName>style.visibility</p:attrName>
                                        </p:attrNameLst>
                                      </p:cBhvr>
                                      <p:to>
                                        <p:strVal val="visible"/>
                                      </p:to>
                                    </p:set>
                                    <p:animEffect filter="fade" transition="in">
                                      <p:cBhvr additive="repl">
                                        <p:cTn id="2386" dur="400"/>
                                        <p:tgtEl>
                                          <p:spTgt spid="1916"/>
                                        </p:tgtEl>
                                      </p:cBhvr>
                                    </p:animEffect>
                                  </p:childTnLst>
                                </p:cTn>
                              </p:par>
                              <p:par>
                                <p:cTn id="2387" nodeType="withEffect" fill="hold" presetClass="entr" presetID="10">
                                  <p:stCondLst>
                                    <p:cond delay="900"/>
                                  </p:stCondLst>
                                  <p:childTnLst>
                                    <p:set>
                                      <p:cBhvr>
                                        <p:cTn id="2388" dur="1" fill="hold">
                                          <p:stCondLst>
                                            <p:cond delay="0"/>
                                          </p:stCondLst>
                                        </p:cTn>
                                        <p:tgtEl>
                                          <p:spTgt spid="1917"/>
                                        </p:tgtEl>
                                        <p:attrNameLst>
                                          <p:attrName>style.visibility</p:attrName>
                                        </p:attrNameLst>
                                      </p:cBhvr>
                                      <p:to>
                                        <p:strVal val="visible"/>
                                      </p:to>
                                    </p:set>
                                    <p:animEffect filter="fade" transition="in">
                                      <p:cBhvr additive="repl">
                                        <p:cTn id="2389" dur="400"/>
                                        <p:tgtEl>
                                          <p:spTgt spid="1917"/>
                                        </p:tgtEl>
                                      </p:cBhvr>
                                    </p:animEffect>
                                  </p:childTnLst>
                                </p:cTn>
                              </p:par>
                              <p:par>
                                <p:cTn id="2390" nodeType="withEffect" fill="hold" presetClass="entr" presetID="10">
                                  <p:stCondLst>
                                    <p:cond delay="1200"/>
                                  </p:stCondLst>
                                  <p:childTnLst>
                                    <p:set>
                                      <p:cBhvr>
                                        <p:cTn id="2391" dur="1" fill="hold">
                                          <p:stCondLst>
                                            <p:cond delay="0"/>
                                          </p:stCondLst>
                                        </p:cTn>
                                        <p:tgtEl>
                                          <p:spTgt spid="1918"/>
                                        </p:tgtEl>
                                        <p:attrNameLst>
                                          <p:attrName>style.visibility</p:attrName>
                                        </p:attrNameLst>
                                      </p:cBhvr>
                                      <p:to>
                                        <p:strVal val="visible"/>
                                      </p:to>
                                    </p:set>
                                    <p:animEffect filter="fade" transition="in">
                                      <p:cBhvr additive="repl">
                                        <p:cTn id="2392" dur="400"/>
                                        <p:tgtEl>
                                          <p:spTgt spid="1918"/>
                                        </p:tgtEl>
                                      </p:cBhvr>
                                    </p:animEffect>
                                  </p:childTnLst>
                                </p:cTn>
                              </p:par>
                              <p:par>
                                <p:cTn id="2393" nodeType="withEffect" fill="hold" presetClass="entr" presetID="10">
                                  <p:stCondLst>
                                    <p:cond delay="1200"/>
                                  </p:stCondLst>
                                  <p:childTnLst>
                                    <p:set>
                                      <p:cBhvr>
                                        <p:cTn id="2394" dur="1" fill="hold">
                                          <p:stCondLst>
                                            <p:cond delay="0"/>
                                          </p:stCondLst>
                                        </p:cTn>
                                        <p:tgtEl>
                                          <p:spTgt spid="1919"/>
                                        </p:tgtEl>
                                        <p:attrNameLst>
                                          <p:attrName>style.visibility</p:attrName>
                                        </p:attrNameLst>
                                      </p:cBhvr>
                                      <p:to>
                                        <p:strVal val="visible"/>
                                      </p:to>
                                    </p:set>
                                    <p:animEffect filter="fade" transition="in">
                                      <p:cBhvr additive="repl">
                                        <p:cTn id="2395" dur="400"/>
                                        <p:tgtEl>
                                          <p:spTgt spid="1919"/>
                                        </p:tgtEl>
                                      </p:cBhvr>
                                    </p:animEffect>
                                  </p:childTnLst>
                                </p:cTn>
                              </p:par>
                              <p:par>
                                <p:cTn id="2396" nodeType="withEffect" fill="hold" presetClass="entr" presetID="10">
                                  <p:stCondLst>
                                    <p:cond delay="1200"/>
                                  </p:stCondLst>
                                  <p:childTnLst>
                                    <p:set>
                                      <p:cBhvr>
                                        <p:cTn id="2397" dur="1" fill="hold">
                                          <p:stCondLst>
                                            <p:cond delay="0"/>
                                          </p:stCondLst>
                                        </p:cTn>
                                        <p:tgtEl>
                                          <p:spTgt spid="1920"/>
                                        </p:tgtEl>
                                        <p:attrNameLst>
                                          <p:attrName>style.visibility</p:attrName>
                                        </p:attrNameLst>
                                      </p:cBhvr>
                                      <p:to>
                                        <p:strVal val="visible"/>
                                      </p:to>
                                    </p:set>
                                    <p:animEffect filter="fade" transition="in">
                                      <p:cBhvr additive="repl">
                                        <p:cTn id="2398" dur="400"/>
                                        <p:tgtEl>
                                          <p:spTgt spid="1920"/>
                                        </p:tgtEl>
                                      </p:cBhvr>
                                    </p:animEffect>
                                  </p:childTnLst>
                                </p:cTn>
                              </p:par>
                              <p:par>
                                <p:cTn id="2399" nodeType="withEffect" fill="hold" presetClass="entr" presetID="10">
                                  <p:stCondLst>
                                    <p:cond delay="1200"/>
                                  </p:stCondLst>
                                  <p:childTnLst>
                                    <p:set>
                                      <p:cBhvr>
                                        <p:cTn id="2400" dur="1" fill="hold">
                                          <p:stCondLst>
                                            <p:cond delay="0"/>
                                          </p:stCondLst>
                                        </p:cTn>
                                        <p:tgtEl>
                                          <p:spTgt spid="1921"/>
                                        </p:tgtEl>
                                        <p:attrNameLst>
                                          <p:attrName>style.visibility</p:attrName>
                                        </p:attrNameLst>
                                      </p:cBhvr>
                                      <p:to>
                                        <p:strVal val="visible"/>
                                      </p:to>
                                    </p:set>
                                    <p:animEffect filter="fade" transition="in">
                                      <p:cBhvr additive="repl">
                                        <p:cTn id="2401" dur="400"/>
                                        <p:tgtEl>
                                          <p:spTgt spid="1921"/>
                                        </p:tgtEl>
                                      </p:cBhvr>
                                    </p:animEffect>
                                  </p:childTnLst>
                                </p:cTn>
                              </p:par>
                              <p:par>
                                <p:cTn id="2402" nodeType="withEffect" fill="hold" presetClass="entr" presetID="10">
                                  <p:stCondLst>
                                    <p:cond delay="1200"/>
                                  </p:stCondLst>
                                  <p:childTnLst>
                                    <p:set>
                                      <p:cBhvr>
                                        <p:cTn id="2403" dur="1" fill="hold">
                                          <p:stCondLst>
                                            <p:cond delay="0"/>
                                          </p:stCondLst>
                                        </p:cTn>
                                        <p:tgtEl>
                                          <p:spTgt spid="1922"/>
                                        </p:tgtEl>
                                        <p:attrNameLst>
                                          <p:attrName>style.visibility</p:attrName>
                                        </p:attrNameLst>
                                      </p:cBhvr>
                                      <p:to>
                                        <p:strVal val="visible"/>
                                      </p:to>
                                    </p:set>
                                    <p:animEffect filter="fade" transition="in">
                                      <p:cBhvr additive="repl">
                                        <p:cTn id="2404" dur="400"/>
                                        <p:tgtEl>
                                          <p:spTgt spid="19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939" name="o1" descr="LEVEL 4 → INSIGHT 2/4"/>
          <p:cNvPicPr/>
          <p:nvPr/>
        </p:nvPicPr>
        <p:blipFill>
          <a:blip r:embed="rId1"/>
          <a:stretch/>
        </p:blipFill>
        <p:spPr>
          <a:xfrm>
            <a:off x="548640" y="411480"/>
            <a:ext cx="3071880" cy="145800"/>
          </a:xfrm>
          <a:prstGeom prst="rect">
            <a:avLst/>
          </a:prstGeom>
          <a:ln w="0">
            <a:noFill/>
          </a:ln>
        </p:spPr>
      </p:pic>
      <p:pic>
        <p:nvPicPr>
          <p:cNvPr id="1940" name="o2" descr="Presse et joueurs divorcent"/>
          <p:cNvPicPr/>
          <p:nvPr/>
        </p:nvPicPr>
        <p:blipFill>
          <a:blip r:embed="rId2"/>
          <a:stretch/>
        </p:blipFill>
        <p:spPr>
          <a:xfrm>
            <a:off x="548640" y="777240"/>
            <a:ext cx="7406280" cy="273960"/>
          </a:xfrm>
          <a:prstGeom prst="rect">
            <a:avLst/>
          </a:prstGeom>
          <a:ln w="0">
            <a:noFill/>
          </a:ln>
        </p:spPr>
      </p:pic>
      <p:pic>
        <p:nvPicPr>
          <p:cNvPr id="1941" name="o3" descr="image-10-3.png"/>
          <p:cNvPicPr/>
          <p:nvPr/>
        </p:nvPicPr>
        <p:blipFill>
          <a:blip r:embed="rId3"/>
          <a:stretch/>
        </p:blipFill>
        <p:spPr>
          <a:xfrm>
            <a:off x="11073240" y="365760"/>
            <a:ext cx="566640" cy="566640"/>
          </a:xfrm>
          <a:prstGeom prst="rect">
            <a:avLst/>
          </a:prstGeom>
          <a:ln w="0">
            <a:noFill/>
          </a:ln>
        </p:spPr>
      </p:pic>
      <p:graphicFrame>
        <p:nvGraphicFramePr>
          <p:cNvPr id="1942" name="o4"/>
          <p:cNvGraphicFramePr/>
          <p:nvPr/>
        </p:nvGraphicFramePr>
        <p:xfrm>
          <a:off x="457200" y="1600200"/>
          <a:ext cx="7314840" cy="4434480"/>
        </p:xfrm>
        <a:graphic>
          <a:graphicData uri="http://schemas.openxmlformats.org/drawingml/2006/chart">
            <c:chart xmlns:c="http://schemas.openxmlformats.org/drawingml/2006/chart" xmlns:r="http://schemas.openxmlformats.org/officeDocument/2006/relationships" r:id="rId4"/>
          </a:graphicData>
        </a:graphic>
      </p:graphicFrame>
      <p:sp>
        <p:nvSpPr>
          <p:cNvPr id="1943" name="o5"/>
          <p:cNvSpPr/>
          <p:nvPr/>
        </p:nvSpPr>
        <p:spPr>
          <a:xfrm>
            <a:off x="8183880" y="1691640"/>
            <a:ext cx="3456000" cy="1965600"/>
          </a:xfrm>
          <a:prstGeom prst="roundRect">
            <a:avLst>
              <a:gd name="adj" fmla="val 6511"/>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944" name="o6"/>
          <p:cNvSpPr/>
          <p:nvPr/>
        </p:nvSpPr>
        <p:spPr>
          <a:xfrm>
            <a:off x="8252280" y="1760400"/>
            <a:ext cx="3318840" cy="1828440"/>
          </a:xfrm>
          <a:prstGeom prst="roundRect">
            <a:avLst>
              <a:gd name="adj" fmla="val 3250"/>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945" name="o7" descr="≈ 2010"/>
          <p:cNvPicPr/>
          <p:nvPr/>
        </p:nvPicPr>
        <p:blipFill>
          <a:blip r:embed="rId5"/>
          <a:stretch/>
        </p:blipFill>
        <p:spPr>
          <a:xfrm>
            <a:off x="8503920" y="2011680"/>
            <a:ext cx="1974600" cy="328680"/>
          </a:xfrm>
          <a:prstGeom prst="rect">
            <a:avLst/>
          </a:prstGeom>
          <a:ln w="0">
            <a:noFill/>
          </a:ln>
        </p:spPr>
      </p:pic>
      <p:sp>
        <p:nvSpPr>
          <p:cNvPr id="1946" name="o8"/>
          <p:cNvSpPr/>
          <p:nvPr/>
        </p:nvSpPr>
        <p:spPr>
          <a:xfrm>
            <a:off x="8503920" y="2560320"/>
            <a:ext cx="2925720" cy="457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les joueurs deviennent plus sévères que la presse</a:t>
            </a:r>
            <a:endParaRPr b="0" lang="en-US" sz="1500" spc="-1" strike="noStrike">
              <a:solidFill>
                <a:srgbClr val="ffffff"/>
              </a:solidFill>
              <a:latin typeface="Arial"/>
            </a:endParaRPr>
          </a:p>
        </p:txBody>
      </p:sp>
      <p:sp>
        <p:nvSpPr>
          <p:cNvPr id="1947" name="o9"/>
          <p:cNvSpPr/>
          <p:nvPr/>
        </p:nvSpPr>
        <p:spPr>
          <a:xfrm>
            <a:off x="8183880" y="3886200"/>
            <a:ext cx="3456000" cy="2148480"/>
          </a:xfrm>
          <a:prstGeom prst="roundRect">
            <a:avLst>
              <a:gd name="adj" fmla="val 5957"/>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948" name="o10"/>
          <p:cNvSpPr/>
          <p:nvPr/>
        </p:nvSpPr>
        <p:spPr>
          <a:xfrm>
            <a:off x="8252280" y="3954960"/>
            <a:ext cx="3318840" cy="2011320"/>
          </a:xfrm>
          <a:prstGeom prst="roundRect">
            <a:avLst>
              <a:gd name="adj" fmla="val 2954"/>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949" name="o11" descr="88 VS 32"/>
          <p:cNvPicPr/>
          <p:nvPr/>
        </p:nvPicPr>
        <p:blipFill>
          <a:blip r:embed="rId6"/>
          <a:stretch/>
        </p:blipFill>
        <p:spPr>
          <a:xfrm>
            <a:off x="8503920" y="4160520"/>
            <a:ext cx="2194200" cy="273960"/>
          </a:xfrm>
          <a:prstGeom prst="rect">
            <a:avLst/>
          </a:prstGeom>
          <a:ln w="0">
            <a:noFill/>
          </a:ln>
        </p:spPr>
      </p:pic>
      <p:sp>
        <p:nvSpPr>
          <p:cNvPr id="1950" name="o12"/>
          <p:cNvSpPr/>
          <p:nvPr/>
        </p:nvSpPr>
        <p:spPr>
          <a:xfrm>
            <a:off x="8503920" y="4572000"/>
            <a:ext cx="2925720" cy="64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Call of Duty MW3 (2011) : presse contre joueurs, sur plus de 5 000 votes</a:t>
            </a:r>
            <a:endParaRPr b="0" lang="en-US" sz="1400" spc="-1" strike="noStrike">
              <a:solidFill>
                <a:srgbClr val="ffffff"/>
              </a:solidFill>
              <a:latin typeface="Arial"/>
            </a:endParaRPr>
          </a:p>
        </p:txBody>
      </p:sp>
      <p:sp>
        <p:nvSpPr>
          <p:cNvPr id="1951" name="o13"/>
          <p:cNvSpPr/>
          <p:nvPr/>
        </p:nvSpPr>
        <p:spPr>
          <a:xfrm>
            <a:off x="8503920" y="5440680"/>
            <a:ext cx="2925720" cy="1987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300" spc="-1" strike="noStrike">
                <a:solidFill>
                  <a:srgbClr val="7c7caa"/>
                </a:solidFill>
                <a:latin typeface="Arial"/>
              </a:rPr>
              <a:t>corrélation presse / joueurs : 0,58</a:t>
            </a:r>
            <a:endParaRPr b="0" lang="en-US" sz="1300" spc="-1" strike="noStrike">
              <a:solidFill>
                <a:srgbClr val="ffffff"/>
              </a:solidFill>
              <a:latin typeface="Arial"/>
            </a:endParaRPr>
          </a:p>
        </p:txBody>
      </p:sp>
      <p:pic>
        <p:nvPicPr>
          <p:cNvPr id="1952" name="fin_pastille" descr="image-1-13.gif"/>
          <p:cNvPicPr/>
          <p:nvPr/>
        </p:nvPicPr>
        <p:blipFill>
          <a:blip r:embed="rId7"/>
          <a:stretch/>
        </p:blipFill>
        <p:spPr>
          <a:xfrm>
            <a:off x="11448360" y="6355080"/>
            <a:ext cx="182520" cy="182520"/>
          </a:xfrm>
          <a:prstGeom prst="rect">
            <a:avLst/>
          </a:prstGeom>
          <a:ln w="0">
            <a:noFill/>
          </a:ln>
        </p:spPr>
      </p:pic>
      <p:pic>
        <p:nvPicPr>
          <p:cNvPr id="1953" name="barre_fantome" descr="image.gif"/>
          <p:cNvPicPr/>
          <p:nvPr/>
        </p:nvPicPr>
        <p:blipFill>
          <a:blip r:embed="rId8"/>
          <a:stretch/>
        </p:blipFill>
        <p:spPr>
          <a:xfrm>
            <a:off x="7805808" y="6291000"/>
            <a:ext cx="310680" cy="310680"/>
          </a:xfrm>
          <a:prstGeom prst="rect">
            <a:avLst/>
          </a:prstGeom>
          <a:ln w="0">
            <a:noFill/>
          </a:ln>
        </p:spPr>
      </p:pic>
      <p:sp>
        <p:nvSpPr>
          <p:cNvPr id="1955" name="barre_pastille"/>
          <p:cNvSpPr/>
          <p:nvPr/>
        </p:nvSpPr>
        <p:spPr>
          <a:xfrm>
            <a:off x="8686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55" name="barre_pastille"/>
          <p:cNvSpPr/>
          <p:nvPr/>
        </p:nvSpPr>
        <p:spPr>
          <a:xfrm>
            <a:off x="8915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56"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57"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58"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59"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60"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61"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62"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63"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64"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65"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954" name="barre_pacman" descr="image.gif"/>
          <p:cNvPicPr/>
          <p:nvPr/>
        </p:nvPicPr>
        <p:blipFill>
          <a:blip r:embed="rId9"/>
          <a:stretch/>
        </p:blipFill>
        <p:spPr>
          <a:xfrm>
            <a:off x="8372808" y="6291000"/>
            <a:ext cx="310680" cy="310680"/>
          </a:xfrm>
          <a:prstGeom prst="rect">
            <a:avLst/>
          </a:prstGeom>
          <a:ln w="0">
            <a:noFill/>
          </a:ln>
        </p:spPr>
      </p:pic>
      <p:sp>
        <p:nvSpPr>
          <p:cNvPr id="1966"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405" dur="indefinite" restart="never" nodeType="tmRoot">
          <p:childTnLst>
            <p:seq>
              <p:cTn id="2406" dur="indefinite" nodeType="mainSeq">
                <p:childTnLst>
                  <p:par>
                    <p:cTn id="2407" fill="hold">
                      <p:stCondLst>
                        <p:cond delay="0"/>
                      </p:stCondLst>
                      <p:childTnLst>
                        <p:par>
                          <p:cTn id="2408" fill="hold">
                            <p:stCondLst>
                              <p:cond delay="0"/>
                            </p:stCondLst>
                            <p:childTnLst>
                              <p:par>
                                <p:cTn id="2409" nodeType="withEffect" fill="hold" presetClass="path">
                                  <p:stCondLst>
                                    <p:cond delay="0"/>
                                  </p:stCondLst>
                                  <p:childTnLst>
                                    <p:animMotion origin="layout" path="M 0 0 L 0.02252 0 E">
                                      <p:cBhvr>
                                        <p:cTn id="2410" dur="900" fill="hold"/>
                                        <p:tgtEl>
                                          <p:spTgt spid="1953"/>
                                        </p:tgtEl>
                                        <p:attrNameLst>
                                          <p:attrName>ppt_x</p:attrName>
                                          <p:attrName>ppt_y</p:attrName>
                                        </p:attrNameLst>
                                      </p:cBhvr>
                                    </p:animMotion>
                                  </p:childTnLst>
                                </p:cTn>
                              </p:par>
                              <p:par>
                                <p:cTn id="2411" nodeType="withEffect" fill="hold" presetClass="path">
                                  <p:stCondLst>
                                    <p:cond delay="0"/>
                                  </p:stCondLst>
                                  <p:childTnLst>
                                    <p:animMotion origin="layout" path="M 0 0 L 0.02252 0 E">
                                      <p:cBhvr>
                                        <p:cTn id="2412" dur="900" fill="hold"/>
                                        <p:tgtEl>
                                          <p:spTgt spid="1954"/>
                                        </p:tgtEl>
                                        <p:attrNameLst>
                                          <p:attrName>ppt_x</p:attrName>
                                          <p:attrName>ppt_y</p:attrName>
                                        </p:attrNameLst>
                                      </p:cBhvr>
                                    </p:animMotion>
                                  </p:childTnLst>
                                </p:cTn>
                              </p:par>
                              <p:par>
                                <p:cTn id="2413" nodeType="withEffect" fill="hold" presetClass="exit" presetID="1">
                                  <p:stCondLst>
                                    <p:cond delay="725"/>
                                  </p:stCondLst>
                                  <p:childTnLst>
                                    <p:set>
                                      <p:cBhvr>
                                        <p:cTn id="2414" dur="1" fill="hold">
                                          <p:stCondLst>
                                            <p:cond delay="0"/>
                                          </p:stCondLst>
                                        </p:cTn>
                                        <p:tgtEl>
                                          <p:spTgt spid="1955"/>
                                        </p:tgtEl>
                                        <p:attrNameLst>
                                          <p:attrName>style.visibility</p:attrName>
                                        </p:attrNameLst>
                                      </p:cBhvr>
                                      <p:to>
                                        <p:strVal val="hidden"/>
                                      </p:to>
                                    </p:set>
                                  </p:childTnLst>
                                </p:cTn>
                              </p:par>
                              <p:par>
                                <p:cTn id="2415" nodeType="withEffect" fill="hold" presetClass="entr" presetID="10">
                                  <p:stCondLst>
                                    <p:cond delay="100"/>
                                  </p:stCondLst>
                                  <p:childTnLst>
                                    <p:set>
                                      <p:cBhvr>
                                        <p:cTn id="2416" dur="1" fill="hold">
                                          <p:stCondLst>
                                            <p:cond delay="0"/>
                                          </p:stCondLst>
                                        </p:cTn>
                                        <p:tgtEl>
                                          <p:spTgt spid="1942"/>
                                        </p:tgtEl>
                                        <p:attrNameLst>
                                          <p:attrName>style.visibility</p:attrName>
                                        </p:attrNameLst>
                                      </p:cBhvr>
                                      <p:to>
                                        <p:strVal val="visible"/>
                                      </p:to>
                                    </p:set>
                                    <p:animEffect filter="fade" transition="in">
                                      <p:cBhvr additive="repl">
                                        <p:cTn id="2417" dur="400"/>
                                        <p:tgtEl>
                                          <p:spTgt spid="1942"/>
                                        </p:tgtEl>
                                      </p:cBhvr>
                                    </p:animEffect>
                                  </p:childTnLst>
                                </p:cTn>
                              </p:par>
                              <p:par>
                                <p:cTn id="2418" nodeType="withEffect" fill="hold" presetClass="entr" presetID="10">
                                  <p:stCondLst>
                                    <p:cond delay="600"/>
                                  </p:stCondLst>
                                  <p:childTnLst>
                                    <p:set>
                                      <p:cBhvr>
                                        <p:cTn id="2419" dur="1" fill="hold">
                                          <p:stCondLst>
                                            <p:cond delay="0"/>
                                          </p:stCondLst>
                                        </p:cTn>
                                        <p:tgtEl>
                                          <p:spTgt spid="1943"/>
                                        </p:tgtEl>
                                        <p:attrNameLst>
                                          <p:attrName>style.visibility</p:attrName>
                                        </p:attrNameLst>
                                      </p:cBhvr>
                                      <p:to>
                                        <p:strVal val="visible"/>
                                      </p:to>
                                    </p:set>
                                    <p:animEffect filter="fade" transition="in">
                                      <p:cBhvr additive="repl">
                                        <p:cTn id="2420" dur="400"/>
                                        <p:tgtEl>
                                          <p:spTgt spid="1943"/>
                                        </p:tgtEl>
                                      </p:cBhvr>
                                    </p:animEffect>
                                  </p:childTnLst>
                                </p:cTn>
                              </p:par>
                              <p:par>
                                <p:cTn id="2421" nodeType="withEffect" fill="hold" presetClass="entr" presetID="10">
                                  <p:stCondLst>
                                    <p:cond delay="600"/>
                                  </p:stCondLst>
                                  <p:childTnLst>
                                    <p:set>
                                      <p:cBhvr>
                                        <p:cTn id="2422" dur="1" fill="hold">
                                          <p:stCondLst>
                                            <p:cond delay="0"/>
                                          </p:stCondLst>
                                        </p:cTn>
                                        <p:tgtEl>
                                          <p:spTgt spid="1944"/>
                                        </p:tgtEl>
                                        <p:attrNameLst>
                                          <p:attrName>style.visibility</p:attrName>
                                        </p:attrNameLst>
                                      </p:cBhvr>
                                      <p:to>
                                        <p:strVal val="visible"/>
                                      </p:to>
                                    </p:set>
                                    <p:animEffect filter="fade" transition="in">
                                      <p:cBhvr additive="repl">
                                        <p:cTn id="2423" dur="400"/>
                                        <p:tgtEl>
                                          <p:spTgt spid="1944"/>
                                        </p:tgtEl>
                                      </p:cBhvr>
                                    </p:animEffect>
                                  </p:childTnLst>
                                </p:cTn>
                              </p:par>
                              <p:par>
                                <p:cTn id="2424" nodeType="withEffect" fill="hold" presetClass="entr" presetID="10">
                                  <p:stCondLst>
                                    <p:cond delay="600"/>
                                  </p:stCondLst>
                                  <p:childTnLst>
                                    <p:set>
                                      <p:cBhvr>
                                        <p:cTn id="2425" dur="1" fill="hold">
                                          <p:stCondLst>
                                            <p:cond delay="0"/>
                                          </p:stCondLst>
                                        </p:cTn>
                                        <p:tgtEl>
                                          <p:spTgt spid="1945"/>
                                        </p:tgtEl>
                                        <p:attrNameLst>
                                          <p:attrName>style.visibility</p:attrName>
                                        </p:attrNameLst>
                                      </p:cBhvr>
                                      <p:to>
                                        <p:strVal val="visible"/>
                                      </p:to>
                                    </p:set>
                                    <p:animEffect filter="fade" transition="in">
                                      <p:cBhvr additive="repl">
                                        <p:cTn id="2426" dur="400"/>
                                        <p:tgtEl>
                                          <p:spTgt spid="1945"/>
                                        </p:tgtEl>
                                      </p:cBhvr>
                                    </p:animEffect>
                                  </p:childTnLst>
                                </p:cTn>
                              </p:par>
                              <p:par>
                                <p:cTn id="2427" nodeType="withEffect" fill="hold" presetClass="entr" presetID="10">
                                  <p:stCondLst>
                                    <p:cond delay="600"/>
                                  </p:stCondLst>
                                  <p:childTnLst>
                                    <p:set>
                                      <p:cBhvr>
                                        <p:cTn id="2428" dur="1" fill="hold">
                                          <p:stCondLst>
                                            <p:cond delay="0"/>
                                          </p:stCondLst>
                                        </p:cTn>
                                        <p:tgtEl>
                                          <p:spTgt spid="1946"/>
                                        </p:tgtEl>
                                        <p:attrNameLst>
                                          <p:attrName>style.visibility</p:attrName>
                                        </p:attrNameLst>
                                      </p:cBhvr>
                                      <p:to>
                                        <p:strVal val="visible"/>
                                      </p:to>
                                    </p:set>
                                    <p:animEffect filter="fade" transition="in">
                                      <p:cBhvr additive="repl">
                                        <p:cTn id="2429" dur="400"/>
                                        <p:tgtEl>
                                          <p:spTgt spid="1946"/>
                                        </p:tgtEl>
                                      </p:cBhvr>
                                    </p:animEffect>
                                  </p:childTnLst>
                                </p:cTn>
                              </p:par>
                              <p:par>
                                <p:cTn id="2430" nodeType="withEffect" fill="hold" presetClass="entr" presetID="10">
                                  <p:stCondLst>
                                    <p:cond delay="1200"/>
                                  </p:stCondLst>
                                  <p:childTnLst>
                                    <p:set>
                                      <p:cBhvr>
                                        <p:cTn id="2431" dur="1" fill="hold">
                                          <p:stCondLst>
                                            <p:cond delay="0"/>
                                          </p:stCondLst>
                                        </p:cTn>
                                        <p:tgtEl>
                                          <p:spTgt spid="1947"/>
                                        </p:tgtEl>
                                        <p:attrNameLst>
                                          <p:attrName>style.visibility</p:attrName>
                                        </p:attrNameLst>
                                      </p:cBhvr>
                                      <p:to>
                                        <p:strVal val="visible"/>
                                      </p:to>
                                    </p:set>
                                    <p:animEffect filter="fade" transition="in">
                                      <p:cBhvr additive="repl">
                                        <p:cTn id="2432" dur="400"/>
                                        <p:tgtEl>
                                          <p:spTgt spid="1947"/>
                                        </p:tgtEl>
                                      </p:cBhvr>
                                    </p:animEffect>
                                  </p:childTnLst>
                                </p:cTn>
                              </p:par>
                              <p:par>
                                <p:cTn id="2433" nodeType="withEffect" fill="hold" presetClass="entr" presetID="10">
                                  <p:stCondLst>
                                    <p:cond delay="1200"/>
                                  </p:stCondLst>
                                  <p:childTnLst>
                                    <p:set>
                                      <p:cBhvr>
                                        <p:cTn id="2434" dur="1" fill="hold">
                                          <p:stCondLst>
                                            <p:cond delay="0"/>
                                          </p:stCondLst>
                                        </p:cTn>
                                        <p:tgtEl>
                                          <p:spTgt spid="1948"/>
                                        </p:tgtEl>
                                        <p:attrNameLst>
                                          <p:attrName>style.visibility</p:attrName>
                                        </p:attrNameLst>
                                      </p:cBhvr>
                                      <p:to>
                                        <p:strVal val="visible"/>
                                      </p:to>
                                    </p:set>
                                    <p:animEffect filter="fade" transition="in">
                                      <p:cBhvr additive="repl">
                                        <p:cTn id="2435" dur="400"/>
                                        <p:tgtEl>
                                          <p:spTgt spid="1948"/>
                                        </p:tgtEl>
                                      </p:cBhvr>
                                    </p:animEffect>
                                  </p:childTnLst>
                                </p:cTn>
                              </p:par>
                              <p:par>
                                <p:cTn id="2436" nodeType="withEffect" fill="hold" presetClass="entr" presetID="10">
                                  <p:stCondLst>
                                    <p:cond delay="1200"/>
                                  </p:stCondLst>
                                  <p:childTnLst>
                                    <p:set>
                                      <p:cBhvr>
                                        <p:cTn id="2437" dur="1" fill="hold">
                                          <p:stCondLst>
                                            <p:cond delay="0"/>
                                          </p:stCondLst>
                                        </p:cTn>
                                        <p:tgtEl>
                                          <p:spTgt spid="1949"/>
                                        </p:tgtEl>
                                        <p:attrNameLst>
                                          <p:attrName>style.visibility</p:attrName>
                                        </p:attrNameLst>
                                      </p:cBhvr>
                                      <p:to>
                                        <p:strVal val="visible"/>
                                      </p:to>
                                    </p:set>
                                    <p:animEffect filter="fade" transition="in">
                                      <p:cBhvr additive="repl">
                                        <p:cTn id="2438" dur="400"/>
                                        <p:tgtEl>
                                          <p:spTgt spid="1949"/>
                                        </p:tgtEl>
                                      </p:cBhvr>
                                    </p:animEffect>
                                  </p:childTnLst>
                                </p:cTn>
                              </p:par>
                              <p:par>
                                <p:cTn id="2439" nodeType="withEffect" fill="hold" presetClass="entr" presetID="10">
                                  <p:stCondLst>
                                    <p:cond delay="1200"/>
                                  </p:stCondLst>
                                  <p:childTnLst>
                                    <p:set>
                                      <p:cBhvr>
                                        <p:cTn id="2440" dur="1" fill="hold">
                                          <p:stCondLst>
                                            <p:cond delay="0"/>
                                          </p:stCondLst>
                                        </p:cTn>
                                        <p:tgtEl>
                                          <p:spTgt spid="1950"/>
                                        </p:tgtEl>
                                        <p:attrNameLst>
                                          <p:attrName>style.visibility</p:attrName>
                                        </p:attrNameLst>
                                      </p:cBhvr>
                                      <p:to>
                                        <p:strVal val="visible"/>
                                      </p:to>
                                    </p:set>
                                    <p:animEffect filter="fade" transition="in">
                                      <p:cBhvr additive="repl">
                                        <p:cTn id="2441" dur="400"/>
                                        <p:tgtEl>
                                          <p:spTgt spid="1950"/>
                                        </p:tgtEl>
                                      </p:cBhvr>
                                    </p:animEffect>
                                  </p:childTnLst>
                                </p:cTn>
                              </p:par>
                              <p:par>
                                <p:cTn id="2442" nodeType="withEffect" fill="hold" presetClass="entr" presetID="10">
                                  <p:stCondLst>
                                    <p:cond delay="1200"/>
                                  </p:stCondLst>
                                  <p:childTnLst>
                                    <p:set>
                                      <p:cBhvr>
                                        <p:cTn id="2443" dur="1" fill="hold">
                                          <p:stCondLst>
                                            <p:cond delay="0"/>
                                          </p:stCondLst>
                                        </p:cTn>
                                        <p:tgtEl>
                                          <p:spTgt spid="1951"/>
                                        </p:tgtEl>
                                        <p:attrNameLst>
                                          <p:attrName>style.visibility</p:attrName>
                                        </p:attrNameLst>
                                      </p:cBhvr>
                                      <p:to>
                                        <p:strVal val="visible"/>
                                      </p:to>
                                    </p:set>
                                    <p:animEffect filter="fade" transition="in">
                                      <p:cBhvr additive="repl">
                                        <p:cTn id="2444" dur="400"/>
                                        <p:tgtEl>
                                          <p:spTgt spid="19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966" name="o1" descr="LEVEL 4 → INSIGHT 3/4"/>
          <p:cNvPicPr/>
          <p:nvPr/>
        </p:nvPicPr>
        <p:blipFill>
          <a:blip r:embed="rId1"/>
          <a:stretch/>
        </p:blipFill>
        <p:spPr>
          <a:xfrm>
            <a:off x="548640" y="411480"/>
            <a:ext cx="3071880" cy="145800"/>
          </a:xfrm>
          <a:prstGeom prst="rect">
            <a:avLst/>
          </a:prstGeom>
          <a:ln w="0">
            <a:noFill/>
          </a:ln>
        </p:spPr>
      </p:pic>
      <p:pic>
        <p:nvPicPr>
          <p:cNvPr id="1967" name="o2" descr="Wii et DS : vendues, pas notées"/>
          <p:cNvPicPr/>
          <p:nvPr/>
        </p:nvPicPr>
        <p:blipFill>
          <a:blip r:embed="rId2"/>
          <a:stretch/>
        </p:blipFill>
        <p:spPr>
          <a:xfrm>
            <a:off x="548640" y="777240"/>
            <a:ext cx="8503560" cy="273960"/>
          </a:xfrm>
          <a:prstGeom prst="rect">
            <a:avLst/>
          </a:prstGeom>
          <a:ln w="0">
            <a:noFill/>
          </a:ln>
        </p:spPr>
      </p:pic>
      <p:pic>
        <p:nvPicPr>
          <p:cNvPr id="1968" name="o3" descr="image-10-3.png"/>
          <p:cNvPicPr/>
          <p:nvPr/>
        </p:nvPicPr>
        <p:blipFill>
          <a:blip r:embed="rId3"/>
          <a:stretch/>
        </p:blipFill>
        <p:spPr>
          <a:xfrm>
            <a:off x="11073240" y="365760"/>
            <a:ext cx="566640" cy="566640"/>
          </a:xfrm>
          <a:prstGeom prst="rect">
            <a:avLst/>
          </a:prstGeom>
          <a:ln w="0">
            <a:noFill/>
          </a:ln>
        </p:spPr>
      </p:pic>
      <p:graphicFrame>
        <p:nvGraphicFramePr>
          <p:cNvPr id="1969" name="o4"/>
          <p:cNvGraphicFramePr/>
          <p:nvPr/>
        </p:nvGraphicFramePr>
        <p:xfrm>
          <a:off x="457200" y="1554480"/>
          <a:ext cx="7314840" cy="4297320"/>
        </p:xfrm>
        <a:graphic>
          <a:graphicData uri="http://schemas.openxmlformats.org/drawingml/2006/chart">
            <c:chart xmlns:c="http://schemas.openxmlformats.org/drawingml/2006/chart" xmlns:r="http://schemas.openxmlformats.org/officeDocument/2006/relationships" r:id="rId4"/>
          </a:graphicData>
        </a:graphic>
      </p:graphicFrame>
      <p:sp>
        <p:nvSpPr>
          <p:cNvPr id="1970" name="o5"/>
          <p:cNvSpPr/>
          <p:nvPr/>
        </p:nvSpPr>
        <p:spPr>
          <a:xfrm>
            <a:off x="8183880" y="1691640"/>
            <a:ext cx="3456000" cy="2377080"/>
          </a:xfrm>
          <a:prstGeom prst="roundRect">
            <a:avLst>
              <a:gd name="adj" fmla="val 5384"/>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971" name="o6"/>
          <p:cNvSpPr/>
          <p:nvPr/>
        </p:nvSpPr>
        <p:spPr>
          <a:xfrm>
            <a:off x="8252280" y="1760400"/>
            <a:ext cx="3318840" cy="2239920"/>
          </a:xfrm>
          <a:prstGeom prst="roundRect">
            <a:avLst>
              <a:gd name="adj" fmla="val 2653"/>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1972" name="o7" descr="62,8"/>
          <p:cNvPicPr/>
          <p:nvPr/>
        </p:nvPicPr>
        <p:blipFill>
          <a:blip r:embed="rId5"/>
          <a:stretch/>
        </p:blipFill>
        <p:spPr>
          <a:xfrm>
            <a:off x="8503920" y="2011680"/>
            <a:ext cx="1535760" cy="383760"/>
          </a:xfrm>
          <a:prstGeom prst="rect">
            <a:avLst/>
          </a:prstGeom>
          <a:ln w="0">
            <a:noFill/>
          </a:ln>
        </p:spPr>
      </p:pic>
      <p:sp>
        <p:nvSpPr>
          <p:cNvPr id="1973" name="o8"/>
          <p:cNvSpPr/>
          <p:nvPr/>
        </p:nvSpPr>
        <p:spPr>
          <a:xfrm>
            <a:off x="8503920" y="2578680"/>
            <a:ext cx="2925720" cy="457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note moyenne des jeux Wii, la plus basse</a:t>
            </a:r>
            <a:endParaRPr b="0" lang="en-US" sz="1500" spc="-1" strike="noStrike">
              <a:solidFill>
                <a:srgbClr val="ffffff"/>
              </a:solidFill>
              <a:latin typeface="Arial"/>
            </a:endParaRPr>
          </a:p>
        </p:txBody>
      </p:sp>
      <p:pic>
        <p:nvPicPr>
          <p:cNvPr id="1974" name="o9" descr="75,9"/>
          <p:cNvPicPr/>
          <p:nvPr/>
        </p:nvPicPr>
        <p:blipFill>
          <a:blip r:embed="rId6"/>
          <a:stretch/>
        </p:blipFill>
        <p:spPr>
          <a:xfrm>
            <a:off x="8503920" y="3200400"/>
            <a:ext cx="1096920" cy="273960"/>
          </a:xfrm>
          <a:prstGeom prst="rect">
            <a:avLst/>
          </a:prstGeom>
          <a:ln w="0">
            <a:noFill/>
          </a:ln>
        </p:spPr>
      </p:pic>
      <p:sp>
        <p:nvSpPr>
          <p:cNvPr id="1975" name="o10"/>
          <p:cNvSpPr/>
          <p:nvPr/>
        </p:nvSpPr>
        <p:spPr>
          <a:xfrm>
            <a:off x="9829800" y="3227040"/>
            <a:ext cx="1645560" cy="22932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500" spc="-1" strike="noStrike">
                <a:solidFill>
                  <a:srgbClr val="c4c4e4"/>
                </a:solidFill>
                <a:latin typeface="Arial"/>
              </a:rPr>
              <a:t>pour le PC</a:t>
            </a:r>
            <a:endParaRPr b="0" lang="en-US" sz="1500" spc="-1" strike="noStrike">
              <a:solidFill>
                <a:srgbClr val="ffffff"/>
              </a:solidFill>
              <a:latin typeface="Arial"/>
            </a:endParaRPr>
          </a:p>
        </p:txBody>
      </p:sp>
      <p:sp>
        <p:nvSpPr>
          <p:cNvPr id="1976" name="o11"/>
          <p:cNvSpPr/>
          <p:nvPr/>
        </p:nvSpPr>
        <p:spPr>
          <a:xfrm>
            <a:off x="8183880" y="4297680"/>
            <a:ext cx="3456000" cy="1737000"/>
          </a:xfrm>
          <a:prstGeom prst="roundRect">
            <a:avLst>
              <a:gd name="adj" fmla="val 7368"/>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977" name="o12"/>
          <p:cNvSpPr/>
          <p:nvPr/>
        </p:nvSpPr>
        <p:spPr>
          <a:xfrm>
            <a:off x="8252280" y="4366440"/>
            <a:ext cx="3318840" cy="1599840"/>
          </a:xfrm>
          <a:prstGeom prst="roundRect">
            <a:avLst>
              <a:gd name="adj" fmla="val 3714"/>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1978" name="o13"/>
          <p:cNvSpPr/>
          <p:nvPr/>
        </p:nvSpPr>
        <p:spPr>
          <a:xfrm>
            <a:off x="8503920" y="4544640"/>
            <a:ext cx="292572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000" spc="-1" strike="noStrike">
                <a:solidFill>
                  <a:srgbClr val="ffffff"/>
                </a:solidFill>
                <a:latin typeface="Arial"/>
              </a:rPr>
              <a:t>Ventes ≠ qualité</a:t>
            </a:r>
            <a:endParaRPr b="0" lang="en-US" sz="2000" spc="-1" strike="noStrike">
              <a:solidFill>
                <a:srgbClr val="ffffff"/>
              </a:solidFill>
              <a:latin typeface="Arial"/>
            </a:endParaRPr>
          </a:p>
        </p:txBody>
      </p:sp>
      <p:sp>
        <p:nvSpPr>
          <p:cNvPr id="1979" name="o14"/>
          <p:cNvSpPr/>
          <p:nvPr/>
        </p:nvSpPr>
        <p:spPr>
          <a:xfrm>
            <a:off x="8503920" y="4983480"/>
            <a:ext cx="2925720" cy="427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beaucoup de petits jeux familiaux à bas prix, mal notés</a:t>
            </a:r>
            <a:endParaRPr b="0" lang="en-US" sz="1400" spc="-1" strike="noStrike">
              <a:solidFill>
                <a:srgbClr val="ffffff"/>
              </a:solidFill>
              <a:latin typeface="Arial"/>
            </a:endParaRPr>
          </a:p>
        </p:txBody>
      </p:sp>
      <p:sp>
        <p:nvSpPr>
          <p:cNvPr id="1980" name="o15"/>
          <p:cNvSpPr/>
          <p:nvPr/>
        </p:nvSpPr>
        <p:spPr>
          <a:xfrm>
            <a:off x="1737360" y="5943600"/>
            <a:ext cx="127800" cy="127800"/>
          </a:xfrm>
          <a:prstGeom prst="rect">
            <a:avLst/>
          </a:prstGeom>
          <a:solidFill>
            <a:srgbClr val="ff2d2d"/>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ndParaRPr>
          </a:p>
        </p:txBody>
      </p:sp>
      <p:sp>
        <p:nvSpPr>
          <p:cNvPr id="1981" name="o16"/>
          <p:cNvSpPr/>
          <p:nvPr/>
        </p:nvSpPr>
        <p:spPr>
          <a:xfrm>
            <a:off x="1938600" y="5915520"/>
            <a:ext cx="1188360" cy="18360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200" spc="-1" strike="noStrike">
                <a:solidFill>
                  <a:srgbClr val="c4c4e4"/>
                </a:solidFill>
                <a:latin typeface="Arial"/>
              </a:rPr>
              <a:t>Nintendo</a:t>
            </a:r>
            <a:endParaRPr b="0" lang="en-US" sz="1200" spc="-1" strike="noStrike">
              <a:solidFill>
                <a:srgbClr val="ffffff"/>
              </a:solidFill>
              <a:latin typeface="Arial"/>
            </a:endParaRPr>
          </a:p>
        </p:txBody>
      </p:sp>
      <p:sp>
        <p:nvSpPr>
          <p:cNvPr id="1982" name="o17"/>
          <p:cNvSpPr/>
          <p:nvPr/>
        </p:nvSpPr>
        <p:spPr>
          <a:xfrm>
            <a:off x="3200400" y="5943600"/>
            <a:ext cx="127800" cy="127800"/>
          </a:xfrm>
          <a:prstGeom prst="rect">
            <a:avLst/>
          </a:prstGeom>
          <a:solidFill>
            <a:srgbClr val="2121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ndParaRPr>
          </a:p>
        </p:txBody>
      </p:sp>
      <p:sp>
        <p:nvSpPr>
          <p:cNvPr id="1983" name="o18"/>
          <p:cNvSpPr/>
          <p:nvPr/>
        </p:nvSpPr>
        <p:spPr>
          <a:xfrm>
            <a:off x="3401640" y="5915520"/>
            <a:ext cx="1188360" cy="18360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200" spc="-1" strike="noStrike">
                <a:solidFill>
                  <a:srgbClr val="c4c4e4"/>
                </a:solidFill>
                <a:latin typeface="Arial"/>
              </a:rPr>
              <a:t>Sony</a:t>
            </a:r>
            <a:endParaRPr b="0" lang="en-US" sz="1200" spc="-1" strike="noStrike">
              <a:solidFill>
                <a:srgbClr val="ffffff"/>
              </a:solidFill>
              <a:latin typeface="Arial"/>
            </a:endParaRPr>
          </a:p>
        </p:txBody>
      </p:sp>
      <p:sp>
        <p:nvSpPr>
          <p:cNvPr id="1984" name="o19"/>
          <p:cNvSpPr/>
          <p:nvPr/>
        </p:nvSpPr>
        <p:spPr>
          <a:xfrm>
            <a:off x="4663440" y="5943600"/>
            <a:ext cx="127800" cy="127800"/>
          </a:xfrm>
          <a:prstGeom prst="rect">
            <a:avLst/>
          </a:prstGeom>
          <a:solidFill>
            <a:srgbClr val="00de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ndParaRPr>
          </a:p>
        </p:txBody>
      </p:sp>
      <p:sp>
        <p:nvSpPr>
          <p:cNvPr id="1985" name="o20"/>
          <p:cNvSpPr/>
          <p:nvPr/>
        </p:nvSpPr>
        <p:spPr>
          <a:xfrm>
            <a:off x="4864680" y="5915520"/>
            <a:ext cx="1188360" cy="18360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200" spc="-1" strike="noStrike">
                <a:solidFill>
                  <a:srgbClr val="c4c4e4"/>
                </a:solidFill>
                <a:latin typeface="Arial"/>
              </a:rPr>
              <a:t>Microsoft</a:t>
            </a:r>
            <a:endParaRPr b="0" lang="en-US" sz="1200" spc="-1" strike="noStrike">
              <a:solidFill>
                <a:srgbClr val="ffffff"/>
              </a:solidFill>
              <a:latin typeface="Arial"/>
            </a:endParaRPr>
          </a:p>
        </p:txBody>
      </p:sp>
      <p:sp>
        <p:nvSpPr>
          <p:cNvPr id="1986" name="o21"/>
          <p:cNvSpPr/>
          <p:nvPr/>
        </p:nvSpPr>
        <p:spPr>
          <a:xfrm>
            <a:off x="6126480" y="5943600"/>
            <a:ext cx="127800" cy="127800"/>
          </a:xfrm>
          <a:prstGeom prst="rect">
            <a:avLst/>
          </a:prstGeom>
          <a:solidFill>
            <a:srgbClr val="ffe6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ndParaRPr>
          </a:p>
        </p:txBody>
      </p:sp>
      <p:sp>
        <p:nvSpPr>
          <p:cNvPr id="1987" name="o22"/>
          <p:cNvSpPr/>
          <p:nvPr/>
        </p:nvSpPr>
        <p:spPr>
          <a:xfrm>
            <a:off x="6327720" y="5915520"/>
            <a:ext cx="1188360" cy="18360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0" lang="en-US" sz="1200" spc="-1" strike="noStrike">
                <a:solidFill>
                  <a:srgbClr val="c4c4e4"/>
                </a:solidFill>
                <a:latin typeface="Arial"/>
              </a:rPr>
              <a:t>PC</a:t>
            </a:r>
            <a:endParaRPr b="0" lang="en-US" sz="1200" spc="-1" strike="noStrike">
              <a:solidFill>
                <a:srgbClr val="ffffff"/>
              </a:solidFill>
              <a:latin typeface="Arial"/>
            </a:endParaRPr>
          </a:p>
        </p:txBody>
      </p:sp>
      <p:pic>
        <p:nvPicPr>
          <p:cNvPr id="1988" name="fin_pastille" descr="image-1-13.gif"/>
          <p:cNvPicPr/>
          <p:nvPr/>
        </p:nvPicPr>
        <p:blipFill>
          <a:blip r:embed="rId7"/>
          <a:stretch/>
        </p:blipFill>
        <p:spPr>
          <a:xfrm>
            <a:off x="11448360" y="6355080"/>
            <a:ext cx="182520" cy="182520"/>
          </a:xfrm>
          <a:prstGeom prst="rect">
            <a:avLst/>
          </a:prstGeom>
          <a:ln w="0">
            <a:noFill/>
          </a:ln>
        </p:spPr>
      </p:pic>
      <p:pic>
        <p:nvPicPr>
          <p:cNvPr id="1989" name="barre_fantome" descr="image.gif"/>
          <p:cNvPicPr/>
          <p:nvPr/>
        </p:nvPicPr>
        <p:blipFill>
          <a:blip r:embed="rId8"/>
          <a:stretch/>
        </p:blipFill>
        <p:spPr>
          <a:xfrm>
            <a:off x="8080344" y="6291000"/>
            <a:ext cx="310680" cy="310680"/>
          </a:xfrm>
          <a:prstGeom prst="rect">
            <a:avLst/>
          </a:prstGeom>
          <a:ln w="0">
            <a:noFill/>
          </a:ln>
        </p:spPr>
      </p:pic>
      <p:sp>
        <p:nvSpPr>
          <p:cNvPr id="1991" name="barre_pastille"/>
          <p:cNvSpPr/>
          <p:nvPr/>
        </p:nvSpPr>
        <p:spPr>
          <a:xfrm>
            <a:off x="9144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91"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92"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93"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94"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95"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96"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97"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98"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1999"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1990" name="barre_pacman" descr="image.gif"/>
          <p:cNvPicPr/>
          <p:nvPr/>
        </p:nvPicPr>
        <p:blipFill>
          <a:blip r:embed="rId9"/>
          <a:stretch/>
        </p:blipFill>
        <p:spPr>
          <a:xfrm>
            <a:off x="8647344" y="6291000"/>
            <a:ext cx="310680" cy="310680"/>
          </a:xfrm>
          <a:prstGeom prst="rect">
            <a:avLst/>
          </a:prstGeom>
          <a:ln w="0">
            <a:noFill/>
          </a:ln>
        </p:spPr>
      </p:pic>
      <p:sp>
        <p:nvSpPr>
          <p:cNvPr id="2000"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445" dur="indefinite" restart="never" nodeType="tmRoot">
          <p:childTnLst>
            <p:seq>
              <p:cTn id="2446" dur="indefinite" nodeType="mainSeq">
                <p:childTnLst>
                  <p:par>
                    <p:cTn id="2447" fill="hold">
                      <p:stCondLst>
                        <p:cond delay="0"/>
                      </p:stCondLst>
                      <p:childTnLst>
                        <p:par>
                          <p:cTn id="2448" fill="hold">
                            <p:stCondLst>
                              <p:cond delay="0"/>
                            </p:stCondLst>
                            <p:childTnLst>
                              <p:par>
                                <p:cTn id="2449" nodeType="withEffect" fill="hold" presetClass="path">
                                  <p:stCondLst>
                                    <p:cond delay="0"/>
                                  </p:stCondLst>
                                  <p:childTnLst>
                                    <p:animMotion origin="layout" path="M 0 0 L 0.02252 0 E">
                                      <p:cBhvr>
                                        <p:cTn id="2450" dur="900" fill="hold"/>
                                        <p:tgtEl>
                                          <p:spTgt spid="1989"/>
                                        </p:tgtEl>
                                        <p:attrNameLst>
                                          <p:attrName>ppt_x</p:attrName>
                                          <p:attrName>ppt_y</p:attrName>
                                        </p:attrNameLst>
                                      </p:cBhvr>
                                    </p:animMotion>
                                  </p:childTnLst>
                                </p:cTn>
                              </p:par>
                              <p:par>
                                <p:cTn id="2451" nodeType="withEffect" fill="hold" presetClass="path">
                                  <p:stCondLst>
                                    <p:cond delay="0"/>
                                  </p:stCondLst>
                                  <p:childTnLst>
                                    <p:animMotion origin="layout" path="M 0 0 L 0.02252 0 E">
                                      <p:cBhvr>
                                        <p:cTn id="2452" dur="900" fill="hold"/>
                                        <p:tgtEl>
                                          <p:spTgt spid="1990"/>
                                        </p:tgtEl>
                                        <p:attrNameLst>
                                          <p:attrName>ppt_x</p:attrName>
                                          <p:attrName>ppt_y</p:attrName>
                                        </p:attrNameLst>
                                      </p:cBhvr>
                                    </p:animMotion>
                                  </p:childTnLst>
                                </p:cTn>
                              </p:par>
                              <p:par>
                                <p:cTn id="2453" nodeType="withEffect" fill="hold" presetClass="exit" presetID="1">
                                  <p:stCondLst>
                                    <p:cond delay="596"/>
                                  </p:stCondLst>
                                  <p:childTnLst>
                                    <p:set>
                                      <p:cBhvr>
                                        <p:cTn id="2454" dur="1" fill="hold">
                                          <p:stCondLst>
                                            <p:cond delay="0"/>
                                          </p:stCondLst>
                                        </p:cTn>
                                        <p:tgtEl>
                                          <p:spTgt spid="1991"/>
                                        </p:tgtEl>
                                        <p:attrNameLst>
                                          <p:attrName>style.visibility</p:attrName>
                                        </p:attrNameLst>
                                      </p:cBhvr>
                                      <p:to>
                                        <p:strVal val="hidden"/>
                                      </p:to>
                                    </p:set>
                                  </p:childTnLst>
                                </p:cTn>
                              </p:par>
                              <p:par>
                                <p:cTn id="2455" nodeType="withEffect" fill="hold" presetClass="entr" presetID="10">
                                  <p:stCondLst>
                                    <p:cond delay="100"/>
                                  </p:stCondLst>
                                  <p:childTnLst>
                                    <p:set>
                                      <p:cBhvr>
                                        <p:cTn id="2456" dur="1" fill="hold">
                                          <p:stCondLst>
                                            <p:cond delay="0"/>
                                          </p:stCondLst>
                                        </p:cTn>
                                        <p:tgtEl>
                                          <p:spTgt spid="1969"/>
                                        </p:tgtEl>
                                        <p:attrNameLst>
                                          <p:attrName>style.visibility</p:attrName>
                                        </p:attrNameLst>
                                      </p:cBhvr>
                                      <p:to>
                                        <p:strVal val="visible"/>
                                      </p:to>
                                    </p:set>
                                    <p:animEffect filter="fade" transition="in">
                                      <p:cBhvr additive="repl">
                                        <p:cTn id="2457" dur="400"/>
                                        <p:tgtEl>
                                          <p:spTgt spid="1969"/>
                                        </p:tgtEl>
                                      </p:cBhvr>
                                    </p:animEffect>
                                  </p:childTnLst>
                                </p:cTn>
                              </p:par>
                              <p:par>
                                <p:cTn id="2458" nodeType="withEffect" fill="hold" presetClass="entr" presetID="10">
                                  <p:stCondLst>
                                    <p:cond delay="600"/>
                                  </p:stCondLst>
                                  <p:childTnLst>
                                    <p:set>
                                      <p:cBhvr>
                                        <p:cTn id="2459" dur="1" fill="hold">
                                          <p:stCondLst>
                                            <p:cond delay="0"/>
                                          </p:stCondLst>
                                        </p:cTn>
                                        <p:tgtEl>
                                          <p:spTgt spid="1970"/>
                                        </p:tgtEl>
                                        <p:attrNameLst>
                                          <p:attrName>style.visibility</p:attrName>
                                        </p:attrNameLst>
                                      </p:cBhvr>
                                      <p:to>
                                        <p:strVal val="visible"/>
                                      </p:to>
                                    </p:set>
                                    <p:animEffect filter="fade" transition="in">
                                      <p:cBhvr additive="repl">
                                        <p:cTn id="2460" dur="400"/>
                                        <p:tgtEl>
                                          <p:spTgt spid="1970"/>
                                        </p:tgtEl>
                                      </p:cBhvr>
                                    </p:animEffect>
                                  </p:childTnLst>
                                </p:cTn>
                              </p:par>
                              <p:par>
                                <p:cTn id="2461" nodeType="withEffect" fill="hold" presetClass="entr" presetID="10">
                                  <p:stCondLst>
                                    <p:cond delay="600"/>
                                  </p:stCondLst>
                                  <p:childTnLst>
                                    <p:set>
                                      <p:cBhvr>
                                        <p:cTn id="2462" dur="1" fill="hold">
                                          <p:stCondLst>
                                            <p:cond delay="0"/>
                                          </p:stCondLst>
                                        </p:cTn>
                                        <p:tgtEl>
                                          <p:spTgt spid="1971"/>
                                        </p:tgtEl>
                                        <p:attrNameLst>
                                          <p:attrName>style.visibility</p:attrName>
                                        </p:attrNameLst>
                                      </p:cBhvr>
                                      <p:to>
                                        <p:strVal val="visible"/>
                                      </p:to>
                                    </p:set>
                                    <p:animEffect filter="fade" transition="in">
                                      <p:cBhvr additive="repl">
                                        <p:cTn id="2463" dur="400"/>
                                        <p:tgtEl>
                                          <p:spTgt spid="1971"/>
                                        </p:tgtEl>
                                      </p:cBhvr>
                                    </p:animEffect>
                                  </p:childTnLst>
                                </p:cTn>
                              </p:par>
                              <p:par>
                                <p:cTn id="2464" nodeType="withEffect" fill="hold" presetClass="entr" presetID="10">
                                  <p:stCondLst>
                                    <p:cond delay="600"/>
                                  </p:stCondLst>
                                  <p:childTnLst>
                                    <p:set>
                                      <p:cBhvr>
                                        <p:cTn id="2465" dur="1" fill="hold">
                                          <p:stCondLst>
                                            <p:cond delay="0"/>
                                          </p:stCondLst>
                                        </p:cTn>
                                        <p:tgtEl>
                                          <p:spTgt spid="1972"/>
                                        </p:tgtEl>
                                        <p:attrNameLst>
                                          <p:attrName>style.visibility</p:attrName>
                                        </p:attrNameLst>
                                      </p:cBhvr>
                                      <p:to>
                                        <p:strVal val="visible"/>
                                      </p:to>
                                    </p:set>
                                    <p:animEffect filter="fade" transition="in">
                                      <p:cBhvr additive="repl">
                                        <p:cTn id="2466" dur="400"/>
                                        <p:tgtEl>
                                          <p:spTgt spid="1972"/>
                                        </p:tgtEl>
                                      </p:cBhvr>
                                    </p:animEffect>
                                  </p:childTnLst>
                                </p:cTn>
                              </p:par>
                              <p:par>
                                <p:cTn id="2467" nodeType="withEffect" fill="hold" presetClass="entr" presetID="10">
                                  <p:stCondLst>
                                    <p:cond delay="600"/>
                                  </p:stCondLst>
                                  <p:childTnLst>
                                    <p:set>
                                      <p:cBhvr>
                                        <p:cTn id="2468" dur="1" fill="hold">
                                          <p:stCondLst>
                                            <p:cond delay="0"/>
                                          </p:stCondLst>
                                        </p:cTn>
                                        <p:tgtEl>
                                          <p:spTgt spid="1973"/>
                                        </p:tgtEl>
                                        <p:attrNameLst>
                                          <p:attrName>style.visibility</p:attrName>
                                        </p:attrNameLst>
                                      </p:cBhvr>
                                      <p:to>
                                        <p:strVal val="visible"/>
                                      </p:to>
                                    </p:set>
                                    <p:animEffect filter="fade" transition="in">
                                      <p:cBhvr additive="repl">
                                        <p:cTn id="2469" dur="400"/>
                                        <p:tgtEl>
                                          <p:spTgt spid="1973"/>
                                        </p:tgtEl>
                                      </p:cBhvr>
                                    </p:animEffect>
                                  </p:childTnLst>
                                </p:cTn>
                              </p:par>
                              <p:par>
                                <p:cTn id="2470" nodeType="withEffect" fill="hold" presetClass="entr" presetID="10">
                                  <p:stCondLst>
                                    <p:cond delay="900"/>
                                  </p:stCondLst>
                                  <p:childTnLst>
                                    <p:set>
                                      <p:cBhvr>
                                        <p:cTn id="2471" dur="1" fill="hold">
                                          <p:stCondLst>
                                            <p:cond delay="0"/>
                                          </p:stCondLst>
                                        </p:cTn>
                                        <p:tgtEl>
                                          <p:spTgt spid="1974"/>
                                        </p:tgtEl>
                                        <p:attrNameLst>
                                          <p:attrName>style.visibility</p:attrName>
                                        </p:attrNameLst>
                                      </p:cBhvr>
                                      <p:to>
                                        <p:strVal val="visible"/>
                                      </p:to>
                                    </p:set>
                                    <p:animEffect filter="fade" transition="in">
                                      <p:cBhvr additive="repl">
                                        <p:cTn id="2472" dur="400"/>
                                        <p:tgtEl>
                                          <p:spTgt spid="1974"/>
                                        </p:tgtEl>
                                      </p:cBhvr>
                                    </p:animEffect>
                                  </p:childTnLst>
                                </p:cTn>
                              </p:par>
                              <p:par>
                                <p:cTn id="2473" nodeType="withEffect" fill="hold" presetClass="entr" presetID="10">
                                  <p:stCondLst>
                                    <p:cond delay="900"/>
                                  </p:stCondLst>
                                  <p:childTnLst>
                                    <p:set>
                                      <p:cBhvr>
                                        <p:cTn id="2474" dur="1" fill="hold">
                                          <p:stCondLst>
                                            <p:cond delay="0"/>
                                          </p:stCondLst>
                                        </p:cTn>
                                        <p:tgtEl>
                                          <p:spTgt spid="1975"/>
                                        </p:tgtEl>
                                        <p:attrNameLst>
                                          <p:attrName>style.visibility</p:attrName>
                                        </p:attrNameLst>
                                      </p:cBhvr>
                                      <p:to>
                                        <p:strVal val="visible"/>
                                      </p:to>
                                    </p:set>
                                    <p:animEffect filter="fade" transition="in">
                                      <p:cBhvr additive="repl">
                                        <p:cTn id="2475" dur="400"/>
                                        <p:tgtEl>
                                          <p:spTgt spid="1975"/>
                                        </p:tgtEl>
                                      </p:cBhvr>
                                    </p:animEffect>
                                  </p:childTnLst>
                                </p:cTn>
                              </p:par>
                              <p:par>
                                <p:cTn id="2476" nodeType="withEffect" fill="hold" presetClass="entr" presetID="10">
                                  <p:stCondLst>
                                    <p:cond delay="1200"/>
                                  </p:stCondLst>
                                  <p:childTnLst>
                                    <p:set>
                                      <p:cBhvr>
                                        <p:cTn id="2477" dur="1" fill="hold">
                                          <p:stCondLst>
                                            <p:cond delay="0"/>
                                          </p:stCondLst>
                                        </p:cTn>
                                        <p:tgtEl>
                                          <p:spTgt spid="1976"/>
                                        </p:tgtEl>
                                        <p:attrNameLst>
                                          <p:attrName>style.visibility</p:attrName>
                                        </p:attrNameLst>
                                      </p:cBhvr>
                                      <p:to>
                                        <p:strVal val="visible"/>
                                      </p:to>
                                    </p:set>
                                    <p:animEffect filter="fade" transition="in">
                                      <p:cBhvr additive="repl">
                                        <p:cTn id="2478" dur="400"/>
                                        <p:tgtEl>
                                          <p:spTgt spid="1976"/>
                                        </p:tgtEl>
                                      </p:cBhvr>
                                    </p:animEffect>
                                  </p:childTnLst>
                                </p:cTn>
                              </p:par>
                              <p:par>
                                <p:cTn id="2479" nodeType="withEffect" fill="hold" presetClass="entr" presetID="10">
                                  <p:stCondLst>
                                    <p:cond delay="1200"/>
                                  </p:stCondLst>
                                  <p:childTnLst>
                                    <p:set>
                                      <p:cBhvr>
                                        <p:cTn id="2480" dur="1" fill="hold">
                                          <p:stCondLst>
                                            <p:cond delay="0"/>
                                          </p:stCondLst>
                                        </p:cTn>
                                        <p:tgtEl>
                                          <p:spTgt spid="1977"/>
                                        </p:tgtEl>
                                        <p:attrNameLst>
                                          <p:attrName>style.visibility</p:attrName>
                                        </p:attrNameLst>
                                      </p:cBhvr>
                                      <p:to>
                                        <p:strVal val="visible"/>
                                      </p:to>
                                    </p:set>
                                    <p:animEffect filter="fade" transition="in">
                                      <p:cBhvr additive="repl">
                                        <p:cTn id="2481" dur="400"/>
                                        <p:tgtEl>
                                          <p:spTgt spid="1977"/>
                                        </p:tgtEl>
                                      </p:cBhvr>
                                    </p:animEffect>
                                  </p:childTnLst>
                                </p:cTn>
                              </p:par>
                              <p:par>
                                <p:cTn id="2482" nodeType="withEffect" fill="hold" presetClass="entr" presetID="10">
                                  <p:stCondLst>
                                    <p:cond delay="1200"/>
                                  </p:stCondLst>
                                  <p:childTnLst>
                                    <p:set>
                                      <p:cBhvr>
                                        <p:cTn id="2483" dur="1" fill="hold">
                                          <p:stCondLst>
                                            <p:cond delay="0"/>
                                          </p:stCondLst>
                                        </p:cTn>
                                        <p:tgtEl>
                                          <p:spTgt spid="1978"/>
                                        </p:tgtEl>
                                        <p:attrNameLst>
                                          <p:attrName>style.visibility</p:attrName>
                                        </p:attrNameLst>
                                      </p:cBhvr>
                                      <p:to>
                                        <p:strVal val="visible"/>
                                      </p:to>
                                    </p:set>
                                    <p:animEffect filter="fade" transition="in">
                                      <p:cBhvr additive="repl">
                                        <p:cTn id="2484" dur="400"/>
                                        <p:tgtEl>
                                          <p:spTgt spid="1978"/>
                                        </p:tgtEl>
                                      </p:cBhvr>
                                    </p:animEffect>
                                  </p:childTnLst>
                                </p:cTn>
                              </p:par>
                              <p:par>
                                <p:cTn id="2485" nodeType="withEffect" fill="hold" presetClass="entr" presetID="10">
                                  <p:stCondLst>
                                    <p:cond delay="1200"/>
                                  </p:stCondLst>
                                  <p:childTnLst>
                                    <p:set>
                                      <p:cBhvr>
                                        <p:cTn id="2486" dur="1" fill="hold">
                                          <p:stCondLst>
                                            <p:cond delay="0"/>
                                          </p:stCondLst>
                                        </p:cTn>
                                        <p:tgtEl>
                                          <p:spTgt spid="1979"/>
                                        </p:tgtEl>
                                        <p:attrNameLst>
                                          <p:attrName>style.visibility</p:attrName>
                                        </p:attrNameLst>
                                      </p:cBhvr>
                                      <p:to>
                                        <p:strVal val="visible"/>
                                      </p:to>
                                    </p:set>
                                    <p:animEffect filter="fade" transition="in">
                                      <p:cBhvr additive="repl">
                                        <p:cTn id="2487" dur="400"/>
                                        <p:tgtEl>
                                          <p:spTgt spid="1979"/>
                                        </p:tgtEl>
                                      </p:cBhvr>
                                    </p:animEffect>
                                  </p:childTnLst>
                                </p:cTn>
                              </p:par>
                              <p:par>
                                <p:cTn id="2488" nodeType="withEffect" fill="hold" presetClass="entr" presetID="10">
                                  <p:stCondLst>
                                    <p:cond delay="100"/>
                                  </p:stCondLst>
                                  <p:childTnLst>
                                    <p:set>
                                      <p:cBhvr>
                                        <p:cTn id="2489" dur="1" fill="hold">
                                          <p:stCondLst>
                                            <p:cond delay="0"/>
                                          </p:stCondLst>
                                        </p:cTn>
                                        <p:tgtEl>
                                          <p:spTgt spid="1980"/>
                                        </p:tgtEl>
                                        <p:attrNameLst>
                                          <p:attrName>style.visibility</p:attrName>
                                        </p:attrNameLst>
                                      </p:cBhvr>
                                      <p:to>
                                        <p:strVal val="visible"/>
                                      </p:to>
                                    </p:set>
                                    <p:animEffect filter="fade" transition="in">
                                      <p:cBhvr additive="repl">
                                        <p:cTn id="2490" dur="400"/>
                                        <p:tgtEl>
                                          <p:spTgt spid="1980"/>
                                        </p:tgtEl>
                                      </p:cBhvr>
                                    </p:animEffect>
                                  </p:childTnLst>
                                </p:cTn>
                              </p:par>
                              <p:par>
                                <p:cTn id="2491" nodeType="withEffect" fill="hold" presetClass="entr" presetID="10">
                                  <p:stCondLst>
                                    <p:cond delay="100"/>
                                  </p:stCondLst>
                                  <p:childTnLst>
                                    <p:set>
                                      <p:cBhvr>
                                        <p:cTn id="2492" dur="1" fill="hold">
                                          <p:stCondLst>
                                            <p:cond delay="0"/>
                                          </p:stCondLst>
                                        </p:cTn>
                                        <p:tgtEl>
                                          <p:spTgt spid="1981"/>
                                        </p:tgtEl>
                                        <p:attrNameLst>
                                          <p:attrName>style.visibility</p:attrName>
                                        </p:attrNameLst>
                                      </p:cBhvr>
                                      <p:to>
                                        <p:strVal val="visible"/>
                                      </p:to>
                                    </p:set>
                                    <p:animEffect filter="fade" transition="in">
                                      <p:cBhvr additive="repl">
                                        <p:cTn id="2493" dur="400"/>
                                        <p:tgtEl>
                                          <p:spTgt spid="1981"/>
                                        </p:tgtEl>
                                      </p:cBhvr>
                                    </p:animEffect>
                                  </p:childTnLst>
                                </p:cTn>
                              </p:par>
                              <p:par>
                                <p:cTn id="2494" nodeType="withEffect" fill="hold" presetClass="entr" presetID="10">
                                  <p:stCondLst>
                                    <p:cond delay="100"/>
                                  </p:stCondLst>
                                  <p:childTnLst>
                                    <p:set>
                                      <p:cBhvr>
                                        <p:cTn id="2495" dur="1" fill="hold">
                                          <p:stCondLst>
                                            <p:cond delay="0"/>
                                          </p:stCondLst>
                                        </p:cTn>
                                        <p:tgtEl>
                                          <p:spTgt spid="1982"/>
                                        </p:tgtEl>
                                        <p:attrNameLst>
                                          <p:attrName>style.visibility</p:attrName>
                                        </p:attrNameLst>
                                      </p:cBhvr>
                                      <p:to>
                                        <p:strVal val="visible"/>
                                      </p:to>
                                    </p:set>
                                    <p:animEffect filter="fade" transition="in">
                                      <p:cBhvr additive="repl">
                                        <p:cTn id="2496" dur="400"/>
                                        <p:tgtEl>
                                          <p:spTgt spid="1982"/>
                                        </p:tgtEl>
                                      </p:cBhvr>
                                    </p:animEffect>
                                  </p:childTnLst>
                                </p:cTn>
                              </p:par>
                              <p:par>
                                <p:cTn id="2497" nodeType="withEffect" fill="hold" presetClass="entr" presetID="10">
                                  <p:stCondLst>
                                    <p:cond delay="100"/>
                                  </p:stCondLst>
                                  <p:childTnLst>
                                    <p:set>
                                      <p:cBhvr>
                                        <p:cTn id="2498" dur="1" fill="hold">
                                          <p:stCondLst>
                                            <p:cond delay="0"/>
                                          </p:stCondLst>
                                        </p:cTn>
                                        <p:tgtEl>
                                          <p:spTgt spid="1983"/>
                                        </p:tgtEl>
                                        <p:attrNameLst>
                                          <p:attrName>style.visibility</p:attrName>
                                        </p:attrNameLst>
                                      </p:cBhvr>
                                      <p:to>
                                        <p:strVal val="visible"/>
                                      </p:to>
                                    </p:set>
                                    <p:animEffect filter="fade" transition="in">
                                      <p:cBhvr additive="repl">
                                        <p:cTn id="2499" dur="400"/>
                                        <p:tgtEl>
                                          <p:spTgt spid="1983"/>
                                        </p:tgtEl>
                                      </p:cBhvr>
                                    </p:animEffect>
                                  </p:childTnLst>
                                </p:cTn>
                              </p:par>
                              <p:par>
                                <p:cTn id="2500" nodeType="withEffect" fill="hold" presetClass="entr" presetID="10">
                                  <p:stCondLst>
                                    <p:cond delay="100"/>
                                  </p:stCondLst>
                                  <p:childTnLst>
                                    <p:set>
                                      <p:cBhvr>
                                        <p:cTn id="2501" dur="1" fill="hold">
                                          <p:stCondLst>
                                            <p:cond delay="0"/>
                                          </p:stCondLst>
                                        </p:cTn>
                                        <p:tgtEl>
                                          <p:spTgt spid="1984"/>
                                        </p:tgtEl>
                                        <p:attrNameLst>
                                          <p:attrName>style.visibility</p:attrName>
                                        </p:attrNameLst>
                                      </p:cBhvr>
                                      <p:to>
                                        <p:strVal val="visible"/>
                                      </p:to>
                                    </p:set>
                                    <p:animEffect filter="fade" transition="in">
                                      <p:cBhvr additive="repl">
                                        <p:cTn id="2502" dur="400"/>
                                        <p:tgtEl>
                                          <p:spTgt spid="1984"/>
                                        </p:tgtEl>
                                      </p:cBhvr>
                                    </p:animEffect>
                                  </p:childTnLst>
                                </p:cTn>
                              </p:par>
                              <p:par>
                                <p:cTn id="2503" nodeType="withEffect" fill="hold" presetClass="entr" presetID="10">
                                  <p:stCondLst>
                                    <p:cond delay="100"/>
                                  </p:stCondLst>
                                  <p:childTnLst>
                                    <p:set>
                                      <p:cBhvr>
                                        <p:cTn id="2504" dur="1" fill="hold">
                                          <p:stCondLst>
                                            <p:cond delay="0"/>
                                          </p:stCondLst>
                                        </p:cTn>
                                        <p:tgtEl>
                                          <p:spTgt spid="1985"/>
                                        </p:tgtEl>
                                        <p:attrNameLst>
                                          <p:attrName>style.visibility</p:attrName>
                                        </p:attrNameLst>
                                      </p:cBhvr>
                                      <p:to>
                                        <p:strVal val="visible"/>
                                      </p:to>
                                    </p:set>
                                    <p:animEffect filter="fade" transition="in">
                                      <p:cBhvr additive="repl">
                                        <p:cTn id="2505" dur="400"/>
                                        <p:tgtEl>
                                          <p:spTgt spid="1985"/>
                                        </p:tgtEl>
                                      </p:cBhvr>
                                    </p:animEffect>
                                  </p:childTnLst>
                                </p:cTn>
                              </p:par>
                              <p:par>
                                <p:cTn id="2506" nodeType="withEffect" fill="hold" presetClass="entr" presetID="10">
                                  <p:stCondLst>
                                    <p:cond delay="100"/>
                                  </p:stCondLst>
                                  <p:childTnLst>
                                    <p:set>
                                      <p:cBhvr>
                                        <p:cTn id="2507" dur="1" fill="hold">
                                          <p:stCondLst>
                                            <p:cond delay="0"/>
                                          </p:stCondLst>
                                        </p:cTn>
                                        <p:tgtEl>
                                          <p:spTgt spid="1986"/>
                                        </p:tgtEl>
                                        <p:attrNameLst>
                                          <p:attrName>style.visibility</p:attrName>
                                        </p:attrNameLst>
                                      </p:cBhvr>
                                      <p:to>
                                        <p:strVal val="visible"/>
                                      </p:to>
                                    </p:set>
                                    <p:animEffect filter="fade" transition="in">
                                      <p:cBhvr additive="repl">
                                        <p:cTn id="2508" dur="400"/>
                                        <p:tgtEl>
                                          <p:spTgt spid="1986"/>
                                        </p:tgtEl>
                                      </p:cBhvr>
                                    </p:animEffect>
                                  </p:childTnLst>
                                </p:cTn>
                              </p:par>
                              <p:par>
                                <p:cTn id="2509" nodeType="withEffect" fill="hold" presetClass="entr" presetID="10">
                                  <p:stCondLst>
                                    <p:cond delay="100"/>
                                  </p:stCondLst>
                                  <p:childTnLst>
                                    <p:set>
                                      <p:cBhvr>
                                        <p:cTn id="2510" dur="1" fill="hold">
                                          <p:stCondLst>
                                            <p:cond delay="0"/>
                                          </p:stCondLst>
                                        </p:cTn>
                                        <p:tgtEl>
                                          <p:spTgt spid="1987"/>
                                        </p:tgtEl>
                                        <p:attrNameLst>
                                          <p:attrName>style.visibility</p:attrName>
                                        </p:attrNameLst>
                                      </p:cBhvr>
                                      <p:to>
                                        <p:strVal val="visible"/>
                                      </p:to>
                                    </p:set>
                                    <p:animEffect filter="fade" transition="in">
                                      <p:cBhvr additive="repl">
                                        <p:cTn id="2511" dur="400"/>
                                        <p:tgtEl>
                                          <p:spTgt spid="19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001" name="o1" descr="LEVEL 4 → INSIGHT 4/4"/>
          <p:cNvPicPr/>
          <p:nvPr/>
        </p:nvPicPr>
        <p:blipFill>
          <a:blip r:embed="rId1"/>
          <a:stretch/>
        </p:blipFill>
        <p:spPr>
          <a:xfrm>
            <a:off x="548640" y="411480"/>
            <a:ext cx="3071880" cy="145800"/>
          </a:xfrm>
          <a:prstGeom prst="rect">
            <a:avLst/>
          </a:prstGeom>
          <a:ln w="0">
            <a:noFill/>
          </a:ln>
        </p:spPr>
      </p:pic>
      <p:pic>
        <p:nvPicPr>
          <p:cNvPr id="2002" name="o2" descr="L'Europe écoute la critique"/>
          <p:cNvPicPr/>
          <p:nvPr/>
        </p:nvPicPr>
        <p:blipFill>
          <a:blip r:embed="rId2"/>
          <a:stretch/>
        </p:blipFill>
        <p:spPr>
          <a:xfrm>
            <a:off x="548640" y="777240"/>
            <a:ext cx="7406280" cy="273960"/>
          </a:xfrm>
          <a:prstGeom prst="rect">
            <a:avLst/>
          </a:prstGeom>
          <a:ln w="0">
            <a:noFill/>
          </a:ln>
        </p:spPr>
      </p:pic>
      <p:pic>
        <p:nvPicPr>
          <p:cNvPr id="2003" name="o3" descr="image-10-3.png"/>
          <p:cNvPicPr/>
          <p:nvPr/>
        </p:nvPicPr>
        <p:blipFill>
          <a:blip r:embed="rId3"/>
          <a:stretch/>
        </p:blipFill>
        <p:spPr>
          <a:xfrm>
            <a:off x="11073240" y="365760"/>
            <a:ext cx="566640" cy="566640"/>
          </a:xfrm>
          <a:prstGeom prst="rect">
            <a:avLst/>
          </a:prstGeom>
          <a:ln w="0">
            <a:noFill/>
          </a:ln>
        </p:spPr>
      </p:pic>
      <p:graphicFrame>
        <p:nvGraphicFramePr>
          <p:cNvPr id="2004" name="o4"/>
          <p:cNvGraphicFramePr/>
          <p:nvPr/>
        </p:nvGraphicFramePr>
        <p:xfrm>
          <a:off x="457200" y="1600200"/>
          <a:ext cx="7314840" cy="4434480"/>
        </p:xfrm>
        <a:graphic>
          <a:graphicData uri="http://schemas.openxmlformats.org/drawingml/2006/chart">
            <c:chart xmlns:c="http://schemas.openxmlformats.org/drawingml/2006/chart" xmlns:r="http://schemas.openxmlformats.org/officeDocument/2006/relationships" r:id="rId4"/>
          </a:graphicData>
        </a:graphic>
      </p:graphicFrame>
      <p:sp>
        <p:nvSpPr>
          <p:cNvPr id="2005" name="o5"/>
          <p:cNvSpPr/>
          <p:nvPr/>
        </p:nvSpPr>
        <p:spPr>
          <a:xfrm>
            <a:off x="8183880" y="1691640"/>
            <a:ext cx="3456000" cy="2102760"/>
          </a:xfrm>
          <a:prstGeom prst="roundRect">
            <a:avLst>
              <a:gd name="adj" fmla="val 6086"/>
            </a:avLst>
          </a:prstGeom>
          <a:solidFill>
            <a:srgbClr val="000000"/>
          </a:solidFill>
          <a:ln w="28575">
            <a:solidFill>
              <a:srgbClr val="00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06" name="o6"/>
          <p:cNvSpPr/>
          <p:nvPr/>
        </p:nvSpPr>
        <p:spPr>
          <a:xfrm>
            <a:off x="8252280" y="1760400"/>
            <a:ext cx="3318840" cy="1965600"/>
          </a:xfrm>
          <a:prstGeom prst="roundRect">
            <a:avLst>
              <a:gd name="adj" fmla="val 3023"/>
            </a:avLst>
          </a:prstGeom>
          <a:noFill/>
          <a:ln w="12700">
            <a:solidFill>
              <a:srgbClr val="00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007" name="o7" descr="AMERIQUE DU NORD"/>
          <p:cNvPicPr/>
          <p:nvPr/>
        </p:nvPicPr>
        <p:blipFill>
          <a:blip r:embed="rId5"/>
          <a:stretch/>
        </p:blipFill>
        <p:spPr>
          <a:xfrm>
            <a:off x="8503920" y="1965960"/>
            <a:ext cx="1901520" cy="118440"/>
          </a:xfrm>
          <a:prstGeom prst="rect">
            <a:avLst/>
          </a:prstGeom>
          <a:ln w="0">
            <a:noFill/>
          </a:ln>
        </p:spPr>
      </p:pic>
      <p:pic>
        <p:nvPicPr>
          <p:cNvPr id="2008" name="o8" descr="68%→49%"/>
          <p:cNvPicPr/>
          <p:nvPr/>
        </p:nvPicPr>
        <p:blipFill>
          <a:blip r:embed="rId6"/>
          <a:stretch/>
        </p:blipFill>
        <p:spPr>
          <a:xfrm>
            <a:off x="8503920" y="2286000"/>
            <a:ext cx="2304000" cy="328680"/>
          </a:xfrm>
          <a:prstGeom prst="rect">
            <a:avLst/>
          </a:prstGeom>
          <a:ln w="0">
            <a:noFill/>
          </a:ln>
        </p:spPr>
      </p:pic>
      <p:sp>
        <p:nvSpPr>
          <p:cNvPr id="2009" name="o9"/>
          <p:cNvSpPr/>
          <p:nvPr/>
        </p:nvSpPr>
        <p:spPr>
          <a:xfrm>
            <a:off x="8503920" y="2788920"/>
            <a:ext cx="2925720" cy="457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c4c4e4"/>
                </a:solidFill>
                <a:latin typeface="Arial"/>
              </a:rPr>
              <a:t>des ventes d'un jeu noté moins de 50, puis 90 et +</a:t>
            </a:r>
            <a:endParaRPr b="0" lang="en-US" sz="1500" spc="-1" strike="noStrike">
              <a:solidFill>
                <a:srgbClr val="ffffff"/>
              </a:solidFill>
              <a:latin typeface="Arial"/>
            </a:endParaRPr>
          </a:p>
        </p:txBody>
      </p:sp>
      <p:sp>
        <p:nvSpPr>
          <p:cNvPr id="2010" name="o10"/>
          <p:cNvSpPr/>
          <p:nvPr/>
        </p:nvSpPr>
        <p:spPr>
          <a:xfrm>
            <a:off x="8183880" y="3977640"/>
            <a:ext cx="3456000" cy="2057040"/>
          </a:xfrm>
          <a:prstGeom prst="roundRect">
            <a:avLst>
              <a:gd name="adj" fmla="val 6222"/>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11" name="o11"/>
          <p:cNvSpPr/>
          <p:nvPr/>
        </p:nvSpPr>
        <p:spPr>
          <a:xfrm>
            <a:off x="8252280" y="4046400"/>
            <a:ext cx="3318840" cy="1919880"/>
          </a:xfrm>
          <a:prstGeom prst="roundRect">
            <a:avLst>
              <a:gd name="adj" fmla="val 3095"/>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12" name="o12"/>
          <p:cNvSpPr/>
          <p:nvPr/>
        </p:nvSpPr>
        <p:spPr>
          <a:xfrm>
            <a:off x="8503920" y="4206240"/>
            <a:ext cx="2925720" cy="12956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1" lang="en-US" sz="1500" spc="-1" strike="noStrike">
                <a:solidFill>
                  <a:srgbClr val="ffb8ff"/>
                </a:solidFill>
                <a:latin typeface="Arial"/>
              </a:rPr>
              <a:t>Europe </a:t>
            </a:r>
            <a:r>
              <a:rPr b="1" lang="en-US" sz="1500" spc="-1" strike="noStrike">
                <a:solidFill>
                  <a:srgbClr val="ffffff"/>
                </a:solidFill>
                <a:latin typeface="Arial"/>
              </a:rPr>
              <a:t>0,37</a:t>
            </a:r>
            <a:endParaRPr b="0" lang="en-US" sz="1500" spc="-1" strike="noStrike">
              <a:solidFill>
                <a:srgbClr val="ffffff"/>
              </a:solidFill>
              <a:latin typeface="Arial"/>
            </a:endParaRPr>
          </a:p>
          <a:p>
            <a:pPr defTabSz="914400">
              <a:lnSpc>
                <a:spcPct val="100000"/>
              </a:lnSpc>
              <a:spcAft>
                <a:spcPts val="400"/>
              </a:spcAft>
            </a:pPr>
            <a:r>
              <a:rPr b="0" lang="en-US" sz="1500" spc="-1" strike="noStrike">
                <a:solidFill>
                  <a:srgbClr val="c4c4e4"/>
                </a:solidFill>
                <a:latin typeface="Arial"/>
              </a:rPr>
              <a:t>le marché le plus sensible aux notes</a:t>
            </a:r>
            <a:endParaRPr b="0" lang="en-US" sz="1500" spc="-1" strike="noStrike">
              <a:solidFill>
                <a:srgbClr val="ffffff"/>
              </a:solidFill>
              <a:latin typeface="Arial"/>
            </a:endParaRPr>
          </a:p>
          <a:p>
            <a:pPr defTabSz="914400">
              <a:lnSpc>
                <a:spcPct val="100000"/>
              </a:lnSpc>
              <a:spcAft>
                <a:spcPts val="400"/>
              </a:spcAft>
            </a:pPr>
            <a:r>
              <a:rPr b="1" lang="en-US" sz="1500" spc="-1" strike="noStrike">
                <a:solidFill>
                  <a:srgbClr val="ff2d2d"/>
                </a:solidFill>
                <a:latin typeface="Arial"/>
              </a:rPr>
              <a:t>Japon </a:t>
            </a:r>
            <a:r>
              <a:rPr b="1" lang="en-US" sz="1500" spc="-1" strike="noStrike">
                <a:solidFill>
                  <a:srgbClr val="ffffff"/>
                </a:solidFill>
                <a:latin typeface="Arial"/>
              </a:rPr>
              <a:t>0,24</a:t>
            </a:r>
            <a:endParaRPr b="0" lang="en-US" sz="1500" spc="-1" strike="noStrike">
              <a:solidFill>
                <a:srgbClr val="ffffff"/>
              </a:solidFill>
              <a:latin typeface="Arial"/>
            </a:endParaRPr>
          </a:p>
          <a:p>
            <a:pPr defTabSz="914400">
              <a:lnSpc>
                <a:spcPct val="100000"/>
              </a:lnSpc>
              <a:spcAft>
                <a:spcPts val="400"/>
              </a:spcAft>
            </a:pPr>
            <a:r>
              <a:rPr b="0" lang="en-US" sz="1500" spc="-1" strike="noStrike">
                <a:solidFill>
                  <a:srgbClr val="c4c4e4"/>
                </a:solidFill>
                <a:latin typeface="Arial"/>
              </a:rPr>
              <a:t>Metacritic = critiques occidentales</a:t>
            </a:r>
            <a:endParaRPr b="0" lang="en-US" sz="1500" spc="-1" strike="noStrike">
              <a:solidFill>
                <a:srgbClr val="ffffff"/>
              </a:solidFill>
              <a:latin typeface="Arial"/>
            </a:endParaRPr>
          </a:p>
        </p:txBody>
      </p:sp>
      <p:pic>
        <p:nvPicPr>
          <p:cNvPr id="2013" name="fin_pastille" descr="image-1-13.gif"/>
          <p:cNvPicPr/>
          <p:nvPr/>
        </p:nvPicPr>
        <p:blipFill>
          <a:blip r:embed="rId7"/>
          <a:stretch/>
        </p:blipFill>
        <p:spPr>
          <a:xfrm>
            <a:off x="11448360" y="6355080"/>
            <a:ext cx="182520" cy="182520"/>
          </a:xfrm>
          <a:prstGeom prst="rect">
            <a:avLst/>
          </a:prstGeom>
          <a:ln w="0">
            <a:noFill/>
          </a:ln>
        </p:spPr>
      </p:pic>
      <p:pic>
        <p:nvPicPr>
          <p:cNvPr id="2014" name="barre_fantome" descr="image.gif"/>
          <p:cNvPicPr/>
          <p:nvPr/>
        </p:nvPicPr>
        <p:blipFill>
          <a:blip r:embed="rId8"/>
          <a:stretch/>
        </p:blipFill>
        <p:spPr>
          <a:xfrm>
            <a:off x="8354880" y="6291000"/>
            <a:ext cx="310680" cy="310680"/>
          </a:xfrm>
          <a:prstGeom prst="rect">
            <a:avLst/>
          </a:prstGeom>
          <a:ln w="0">
            <a:noFill/>
          </a:ln>
        </p:spPr>
      </p:pic>
      <p:sp>
        <p:nvSpPr>
          <p:cNvPr id="2016" name="barre_pastille"/>
          <p:cNvSpPr/>
          <p:nvPr/>
        </p:nvSpPr>
        <p:spPr>
          <a:xfrm>
            <a:off x="9372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26"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27"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28"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29"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30"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31"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32"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33"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2015" name="barre_pacman" descr="image.gif"/>
          <p:cNvPicPr/>
          <p:nvPr/>
        </p:nvPicPr>
        <p:blipFill>
          <a:blip r:embed="rId9"/>
          <a:stretch/>
        </p:blipFill>
        <p:spPr>
          <a:xfrm>
            <a:off x="8921880" y="6291000"/>
            <a:ext cx="310680" cy="310680"/>
          </a:xfrm>
          <a:prstGeom prst="rect">
            <a:avLst/>
          </a:prstGeom>
          <a:ln w="0">
            <a:noFill/>
          </a:ln>
        </p:spPr>
      </p:pic>
      <p:sp>
        <p:nvSpPr>
          <p:cNvPr id="2025" name=""/>
          <p:cNvSpPr txBox="1"/>
          <p:nvPr/>
        </p:nvSpPr>
        <p:spPr>
          <a:xfrm>
            <a:off x="5792040" y="3268080"/>
            <a:ext cx="624240" cy="346680"/>
          </a:xfrm>
          <a:prstGeom prst="rect">
            <a:avLst/>
          </a:prstGeom>
          <a:noFill/>
          <a:ln w="0">
            <a:noFill/>
          </a:ln>
        </p:spPr>
        <p:txBody>
          <a:bodyPr lIns="90000" rIns="90000" tIns="45000" bIns="45000" anchor="t">
            <a:noAutofit/>
          </a:bodyPr>
          <a:p>
            <a:r>
              <a:rPr b="0" lang="en-US" sz="1800" spc="-1" strike="noStrike">
                <a:solidFill>
                  <a:srgbClr val="ffffff"/>
                </a:solidFill>
                <a:latin typeface="Arial"/>
              </a:rPr>
              <a:t>mon</a:t>
            </a:r>
            <a:endParaRPr b="0" lang="en-US" sz="1800" spc="-1" strike="noStrike">
              <a:solidFill>
                <a:srgbClr val="ffffff"/>
              </a:solidFill>
              <a:latin typeface="Arial"/>
            </a:endParaRPr>
          </a:p>
        </p:txBody>
      </p:sp>
      <p:sp>
        <p:nvSpPr>
          <p:cNvPr id="2034"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512" dur="indefinite" restart="never" nodeType="tmRoot">
          <p:childTnLst>
            <p:seq>
              <p:cTn id="2513" dur="indefinite" nodeType="mainSeq">
                <p:childTnLst>
                  <p:par>
                    <p:cTn id="2514" fill="hold">
                      <p:stCondLst>
                        <p:cond delay="0"/>
                      </p:stCondLst>
                      <p:childTnLst>
                        <p:par>
                          <p:cTn id="2515" fill="hold">
                            <p:stCondLst>
                              <p:cond delay="0"/>
                            </p:stCondLst>
                            <p:childTnLst>
                              <p:par>
                                <p:cTn id="2516" nodeType="withEffect" fill="hold" presetClass="path">
                                  <p:stCondLst>
                                    <p:cond delay="0"/>
                                  </p:stCondLst>
                                  <p:childTnLst>
                                    <p:animMotion origin="layout" path="M 0 0 L 0.02252 0 E">
                                      <p:cBhvr>
                                        <p:cTn id="2517" dur="900" fill="hold"/>
                                        <p:tgtEl>
                                          <p:spTgt spid="2014"/>
                                        </p:tgtEl>
                                        <p:attrNameLst>
                                          <p:attrName>ppt_x</p:attrName>
                                          <p:attrName>ppt_y</p:attrName>
                                        </p:attrNameLst>
                                      </p:cBhvr>
                                    </p:animMotion>
                                  </p:childTnLst>
                                </p:cTn>
                              </p:par>
                              <p:par>
                                <p:cTn id="2518" nodeType="withEffect" fill="hold" presetClass="path">
                                  <p:stCondLst>
                                    <p:cond delay="0"/>
                                  </p:stCondLst>
                                  <p:childTnLst>
                                    <p:animMotion origin="layout" path="M 0 0 L 0.02252 0 E">
                                      <p:cBhvr>
                                        <p:cTn id="2519" dur="900" fill="hold"/>
                                        <p:tgtEl>
                                          <p:spTgt spid="2015"/>
                                        </p:tgtEl>
                                        <p:attrNameLst>
                                          <p:attrName>ppt_x</p:attrName>
                                          <p:attrName>ppt_y</p:attrName>
                                        </p:attrNameLst>
                                      </p:cBhvr>
                                    </p:animMotion>
                                  </p:childTnLst>
                                </p:cTn>
                              </p:par>
                              <p:par>
                                <p:cTn id="2520" nodeType="withEffect" fill="hold" presetClass="exit" presetID="1">
                                  <p:stCondLst>
                                    <p:cond delay="467"/>
                                  </p:stCondLst>
                                  <p:childTnLst>
                                    <p:set>
                                      <p:cBhvr>
                                        <p:cTn id="2521" dur="1" fill="hold">
                                          <p:stCondLst>
                                            <p:cond delay="0"/>
                                          </p:stCondLst>
                                        </p:cTn>
                                        <p:tgtEl>
                                          <p:spTgt spid="2016"/>
                                        </p:tgtEl>
                                        <p:attrNameLst>
                                          <p:attrName>style.visibility</p:attrName>
                                        </p:attrNameLst>
                                      </p:cBhvr>
                                      <p:to>
                                        <p:strVal val="hidden"/>
                                      </p:to>
                                    </p:set>
                                  </p:childTnLst>
                                </p:cTn>
                              </p:par>
                              <p:par>
                                <p:cTn id="2522" nodeType="withEffect" fill="hold" presetClass="entr" presetID="10">
                                  <p:stCondLst>
                                    <p:cond delay="100"/>
                                  </p:stCondLst>
                                  <p:childTnLst>
                                    <p:set>
                                      <p:cBhvr>
                                        <p:cTn id="2523" dur="1" fill="hold">
                                          <p:stCondLst>
                                            <p:cond delay="0"/>
                                          </p:stCondLst>
                                        </p:cTn>
                                        <p:tgtEl>
                                          <p:spTgt spid="2004"/>
                                        </p:tgtEl>
                                        <p:attrNameLst>
                                          <p:attrName>style.visibility</p:attrName>
                                        </p:attrNameLst>
                                      </p:cBhvr>
                                      <p:to>
                                        <p:strVal val="visible"/>
                                      </p:to>
                                    </p:set>
                                    <p:animEffect filter="fade" transition="in">
                                      <p:cBhvr additive="repl">
                                        <p:cTn id="2524" dur="400"/>
                                        <p:tgtEl>
                                          <p:spTgt spid="2004"/>
                                        </p:tgtEl>
                                      </p:cBhvr>
                                    </p:animEffect>
                                  </p:childTnLst>
                                </p:cTn>
                              </p:par>
                              <p:par>
                                <p:cTn id="2525" nodeType="withEffect" fill="hold" presetClass="entr" presetID="10">
                                  <p:stCondLst>
                                    <p:cond delay="600"/>
                                  </p:stCondLst>
                                  <p:childTnLst>
                                    <p:set>
                                      <p:cBhvr>
                                        <p:cTn id="2526" dur="1" fill="hold">
                                          <p:stCondLst>
                                            <p:cond delay="0"/>
                                          </p:stCondLst>
                                        </p:cTn>
                                        <p:tgtEl>
                                          <p:spTgt spid="2005"/>
                                        </p:tgtEl>
                                        <p:attrNameLst>
                                          <p:attrName>style.visibility</p:attrName>
                                        </p:attrNameLst>
                                      </p:cBhvr>
                                      <p:to>
                                        <p:strVal val="visible"/>
                                      </p:to>
                                    </p:set>
                                    <p:animEffect filter="fade" transition="in">
                                      <p:cBhvr additive="repl">
                                        <p:cTn id="2527" dur="400"/>
                                        <p:tgtEl>
                                          <p:spTgt spid="2005"/>
                                        </p:tgtEl>
                                      </p:cBhvr>
                                    </p:animEffect>
                                  </p:childTnLst>
                                </p:cTn>
                              </p:par>
                              <p:par>
                                <p:cTn id="2528" nodeType="withEffect" fill="hold" presetClass="entr" presetID="10">
                                  <p:stCondLst>
                                    <p:cond delay="600"/>
                                  </p:stCondLst>
                                  <p:childTnLst>
                                    <p:set>
                                      <p:cBhvr>
                                        <p:cTn id="2529" dur="1" fill="hold">
                                          <p:stCondLst>
                                            <p:cond delay="0"/>
                                          </p:stCondLst>
                                        </p:cTn>
                                        <p:tgtEl>
                                          <p:spTgt spid="2006"/>
                                        </p:tgtEl>
                                        <p:attrNameLst>
                                          <p:attrName>style.visibility</p:attrName>
                                        </p:attrNameLst>
                                      </p:cBhvr>
                                      <p:to>
                                        <p:strVal val="visible"/>
                                      </p:to>
                                    </p:set>
                                    <p:animEffect filter="fade" transition="in">
                                      <p:cBhvr additive="repl">
                                        <p:cTn id="2530" dur="400"/>
                                        <p:tgtEl>
                                          <p:spTgt spid="2006"/>
                                        </p:tgtEl>
                                      </p:cBhvr>
                                    </p:animEffect>
                                  </p:childTnLst>
                                </p:cTn>
                              </p:par>
                              <p:par>
                                <p:cTn id="2531" nodeType="withEffect" fill="hold" presetClass="entr" presetID="10">
                                  <p:stCondLst>
                                    <p:cond delay="600"/>
                                  </p:stCondLst>
                                  <p:childTnLst>
                                    <p:set>
                                      <p:cBhvr>
                                        <p:cTn id="2532" dur="1" fill="hold">
                                          <p:stCondLst>
                                            <p:cond delay="0"/>
                                          </p:stCondLst>
                                        </p:cTn>
                                        <p:tgtEl>
                                          <p:spTgt spid="2007"/>
                                        </p:tgtEl>
                                        <p:attrNameLst>
                                          <p:attrName>style.visibility</p:attrName>
                                        </p:attrNameLst>
                                      </p:cBhvr>
                                      <p:to>
                                        <p:strVal val="visible"/>
                                      </p:to>
                                    </p:set>
                                    <p:animEffect filter="fade" transition="in">
                                      <p:cBhvr additive="repl">
                                        <p:cTn id="2533" dur="400"/>
                                        <p:tgtEl>
                                          <p:spTgt spid="2007"/>
                                        </p:tgtEl>
                                      </p:cBhvr>
                                    </p:animEffect>
                                  </p:childTnLst>
                                </p:cTn>
                              </p:par>
                              <p:par>
                                <p:cTn id="2534" nodeType="withEffect" fill="hold" presetClass="entr" presetID="10">
                                  <p:stCondLst>
                                    <p:cond delay="600"/>
                                  </p:stCondLst>
                                  <p:childTnLst>
                                    <p:set>
                                      <p:cBhvr>
                                        <p:cTn id="2535" dur="1" fill="hold">
                                          <p:stCondLst>
                                            <p:cond delay="0"/>
                                          </p:stCondLst>
                                        </p:cTn>
                                        <p:tgtEl>
                                          <p:spTgt spid="2008"/>
                                        </p:tgtEl>
                                        <p:attrNameLst>
                                          <p:attrName>style.visibility</p:attrName>
                                        </p:attrNameLst>
                                      </p:cBhvr>
                                      <p:to>
                                        <p:strVal val="visible"/>
                                      </p:to>
                                    </p:set>
                                    <p:animEffect filter="fade" transition="in">
                                      <p:cBhvr additive="repl">
                                        <p:cTn id="2536" dur="400"/>
                                        <p:tgtEl>
                                          <p:spTgt spid="2008"/>
                                        </p:tgtEl>
                                      </p:cBhvr>
                                    </p:animEffect>
                                  </p:childTnLst>
                                </p:cTn>
                              </p:par>
                              <p:par>
                                <p:cTn id="2537" nodeType="withEffect" fill="hold" presetClass="entr" presetID="10">
                                  <p:stCondLst>
                                    <p:cond delay="600"/>
                                  </p:stCondLst>
                                  <p:childTnLst>
                                    <p:set>
                                      <p:cBhvr>
                                        <p:cTn id="2538" dur="1" fill="hold">
                                          <p:stCondLst>
                                            <p:cond delay="0"/>
                                          </p:stCondLst>
                                        </p:cTn>
                                        <p:tgtEl>
                                          <p:spTgt spid="2009"/>
                                        </p:tgtEl>
                                        <p:attrNameLst>
                                          <p:attrName>style.visibility</p:attrName>
                                        </p:attrNameLst>
                                      </p:cBhvr>
                                      <p:to>
                                        <p:strVal val="visible"/>
                                      </p:to>
                                    </p:set>
                                    <p:animEffect filter="fade" transition="in">
                                      <p:cBhvr additive="repl">
                                        <p:cTn id="2539" dur="400"/>
                                        <p:tgtEl>
                                          <p:spTgt spid="2009"/>
                                        </p:tgtEl>
                                      </p:cBhvr>
                                    </p:animEffect>
                                  </p:childTnLst>
                                </p:cTn>
                              </p:par>
                              <p:par>
                                <p:cTn id="2540" nodeType="withEffect" fill="hold" presetClass="entr" presetID="10">
                                  <p:stCondLst>
                                    <p:cond delay="1200"/>
                                  </p:stCondLst>
                                  <p:childTnLst>
                                    <p:set>
                                      <p:cBhvr>
                                        <p:cTn id="2541" dur="1" fill="hold">
                                          <p:stCondLst>
                                            <p:cond delay="0"/>
                                          </p:stCondLst>
                                        </p:cTn>
                                        <p:tgtEl>
                                          <p:spTgt spid="2010"/>
                                        </p:tgtEl>
                                        <p:attrNameLst>
                                          <p:attrName>style.visibility</p:attrName>
                                        </p:attrNameLst>
                                      </p:cBhvr>
                                      <p:to>
                                        <p:strVal val="visible"/>
                                      </p:to>
                                    </p:set>
                                    <p:animEffect filter="fade" transition="in">
                                      <p:cBhvr additive="repl">
                                        <p:cTn id="2542" dur="400"/>
                                        <p:tgtEl>
                                          <p:spTgt spid="2010"/>
                                        </p:tgtEl>
                                      </p:cBhvr>
                                    </p:animEffect>
                                  </p:childTnLst>
                                </p:cTn>
                              </p:par>
                              <p:par>
                                <p:cTn id="2543" nodeType="withEffect" fill="hold" presetClass="entr" presetID="10">
                                  <p:stCondLst>
                                    <p:cond delay="1200"/>
                                  </p:stCondLst>
                                  <p:childTnLst>
                                    <p:set>
                                      <p:cBhvr>
                                        <p:cTn id="2544" dur="1" fill="hold">
                                          <p:stCondLst>
                                            <p:cond delay="0"/>
                                          </p:stCondLst>
                                        </p:cTn>
                                        <p:tgtEl>
                                          <p:spTgt spid="2011"/>
                                        </p:tgtEl>
                                        <p:attrNameLst>
                                          <p:attrName>style.visibility</p:attrName>
                                        </p:attrNameLst>
                                      </p:cBhvr>
                                      <p:to>
                                        <p:strVal val="visible"/>
                                      </p:to>
                                    </p:set>
                                    <p:animEffect filter="fade" transition="in">
                                      <p:cBhvr additive="repl">
                                        <p:cTn id="2545" dur="400"/>
                                        <p:tgtEl>
                                          <p:spTgt spid="2011"/>
                                        </p:tgtEl>
                                      </p:cBhvr>
                                    </p:animEffect>
                                  </p:childTnLst>
                                </p:cTn>
                              </p:par>
                              <p:par>
                                <p:cTn id="2546" nodeType="withEffect" fill="hold" presetClass="entr" presetID="10">
                                  <p:stCondLst>
                                    <p:cond delay="1200"/>
                                  </p:stCondLst>
                                  <p:childTnLst>
                                    <p:set>
                                      <p:cBhvr>
                                        <p:cTn id="2547" dur="1" fill="hold">
                                          <p:stCondLst>
                                            <p:cond delay="0"/>
                                          </p:stCondLst>
                                        </p:cTn>
                                        <p:tgtEl>
                                          <p:spTgt spid="2012"/>
                                        </p:tgtEl>
                                        <p:attrNameLst>
                                          <p:attrName>style.visibility</p:attrName>
                                        </p:attrNameLst>
                                      </p:cBhvr>
                                      <p:to>
                                        <p:strVal val="visible"/>
                                      </p:to>
                                    </p:set>
                                    <p:animEffect filter="fade" transition="in">
                                      <p:cBhvr additive="repl">
                                        <p:cTn id="2548" dur="400"/>
                                        <p:tgtEl>
                                          <p:spTgt spid="20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026" name="o1"/>
          <p:cNvSpPr/>
          <p:nvPr/>
        </p:nvSpPr>
        <p:spPr>
          <a:xfrm>
            <a:off x="274320" y="228600"/>
            <a:ext cx="11642760" cy="5897520"/>
          </a:xfrm>
          <a:prstGeom prst="roundRect">
            <a:avLst>
              <a:gd name="adj" fmla="val 217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27" name="o2"/>
          <p:cNvSpPr/>
          <p:nvPr/>
        </p:nvSpPr>
        <p:spPr>
          <a:xfrm>
            <a:off x="343080" y="297360"/>
            <a:ext cx="11505600" cy="5760360"/>
          </a:xfrm>
          <a:prstGeom prst="roundRect">
            <a:avLst>
              <a:gd name="adj" fmla="val 103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28" name="o3"/>
          <p:cNvSpPr/>
          <p:nvPr/>
        </p:nvSpPr>
        <p:spPr>
          <a:xfrm>
            <a:off x="86868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29" name="o4"/>
          <p:cNvSpPr/>
          <p:nvPr/>
        </p:nvSpPr>
        <p:spPr>
          <a:xfrm>
            <a:off x="93708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30" name="o5"/>
          <p:cNvSpPr/>
          <p:nvPr/>
        </p:nvSpPr>
        <p:spPr>
          <a:xfrm>
            <a:off x="976860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31" name="o6"/>
          <p:cNvSpPr/>
          <p:nvPr/>
        </p:nvSpPr>
        <p:spPr>
          <a:xfrm>
            <a:off x="983700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32" name="o7"/>
          <p:cNvSpPr/>
          <p:nvPr/>
        </p:nvSpPr>
        <p:spPr>
          <a:xfrm>
            <a:off x="86868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33" name="o8"/>
          <p:cNvSpPr/>
          <p:nvPr/>
        </p:nvSpPr>
        <p:spPr>
          <a:xfrm>
            <a:off x="93708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34" name="o9"/>
          <p:cNvSpPr/>
          <p:nvPr/>
        </p:nvSpPr>
        <p:spPr>
          <a:xfrm>
            <a:off x="9768600" y="507492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035" name="o10"/>
          <p:cNvSpPr/>
          <p:nvPr/>
        </p:nvSpPr>
        <p:spPr>
          <a:xfrm>
            <a:off x="9837000" y="514368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036" name="o11" descr="image-14-1.png"/>
          <p:cNvPicPr/>
          <p:nvPr/>
        </p:nvPicPr>
        <p:blipFill>
          <a:blip r:embed="rId1"/>
          <a:stretch/>
        </p:blipFill>
        <p:spPr>
          <a:xfrm>
            <a:off x="5684760" y="777240"/>
            <a:ext cx="822600" cy="822600"/>
          </a:xfrm>
          <a:prstGeom prst="rect">
            <a:avLst/>
          </a:prstGeom>
          <a:ln w="0">
            <a:noFill/>
          </a:ln>
        </p:spPr>
      </p:pic>
      <p:pic>
        <p:nvPicPr>
          <p:cNvPr id="2037" name="o12" descr="LEVEL 5"/>
          <p:cNvPicPr/>
          <p:nvPr/>
        </p:nvPicPr>
        <p:blipFill>
          <a:blip r:embed="rId2"/>
          <a:stretch/>
        </p:blipFill>
        <p:spPr>
          <a:xfrm>
            <a:off x="5263920" y="1828800"/>
            <a:ext cx="1663920" cy="237240"/>
          </a:xfrm>
          <a:prstGeom prst="rect">
            <a:avLst/>
          </a:prstGeom>
          <a:ln w="0">
            <a:noFill/>
          </a:ln>
        </p:spPr>
      </p:pic>
      <p:pic>
        <p:nvPicPr>
          <p:cNvPr id="2038" name="o13" descr="BOSS"/>
          <p:cNvPicPr/>
          <p:nvPr/>
        </p:nvPicPr>
        <p:blipFill>
          <a:blip r:embed="rId3"/>
          <a:stretch/>
        </p:blipFill>
        <p:spPr>
          <a:xfrm>
            <a:off x="5071680" y="2331720"/>
            <a:ext cx="2048040" cy="511560"/>
          </a:xfrm>
          <a:prstGeom prst="rect">
            <a:avLst/>
          </a:prstGeom>
          <a:ln w="0">
            <a:noFill/>
          </a:ln>
        </p:spPr>
      </p:pic>
      <p:sp>
        <p:nvSpPr>
          <p:cNvPr id="2039" name="o14"/>
          <p:cNvSpPr/>
          <p:nvPr/>
        </p:nvSpPr>
        <p:spPr>
          <a:xfrm>
            <a:off x="1371600" y="3108960"/>
            <a:ext cx="9448200" cy="3052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2000" spc="-1" strike="noStrike">
                <a:solidFill>
                  <a:srgbClr val="c4c4e4"/>
                </a:solidFill>
                <a:latin typeface="Arial"/>
              </a:rPr>
              <a:t>Le Market Power Index, version 2</a:t>
            </a:r>
            <a:endParaRPr b="0" lang="en-US" sz="2000" spc="-1" strike="noStrike">
              <a:solidFill>
                <a:srgbClr val="ffffff"/>
              </a:solidFill>
              <a:latin typeface="Arial"/>
            </a:endParaRPr>
          </a:p>
        </p:txBody>
      </p:sp>
      <p:pic>
        <p:nvPicPr>
          <p:cNvPr id="2040" name="rangee_sprite" descr="image-1-8.gif"/>
          <p:cNvPicPr/>
          <p:nvPr/>
        </p:nvPicPr>
        <p:blipFill>
          <a:blip r:embed="rId4"/>
          <a:stretch/>
        </p:blipFill>
        <p:spPr>
          <a:xfrm>
            <a:off x="704160" y="3950280"/>
            <a:ext cx="420120" cy="420120"/>
          </a:xfrm>
          <a:prstGeom prst="rect">
            <a:avLst/>
          </a:prstGeom>
          <a:ln w="0">
            <a:noFill/>
          </a:ln>
        </p:spPr>
      </p:pic>
      <p:pic>
        <p:nvPicPr>
          <p:cNvPr id="2041" name="rangee_sprite" descr="image-1-7.gif"/>
          <p:cNvPicPr/>
          <p:nvPr/>
        </p:nvPicPr>
        <p:blipFill>
          <a:blip r:embed="rId5"/>
          <a:stretch/>
        </p:blipFill>
        <p:spPr>
          <a:xfrm>
            <a:off x="1252800" y="3950280"/>
            <a:ext cx="420120" cy="420120"/>
          </a:xfrm>
          <a:prstGeom prst="rect">
            <a:avLst/>
          </a:prstGeom>
          <a:ln w="0">
            <a:noFill/>
          </a:ln>
        </p:spPr>
      </p:pic>
      <p:pic>
        <p:nvPicPr>
          <p:cNvPr id="2042" name="rangee_sprite" descr="image-1-6.gif"/>
          <p:cNvPicPr/>
          <p:nvPr/>
        </p:nvPicPr>
        <p:blipFill>
          <a:blip r:embed="rId6"/>
          <a:stretch/>
        </p:blipFill>
        <p:spPr>
          <a:xfrm>
            <a:off x="1801440" y="3950280"/>
            <a:ext cx="420120" cy="420120"/>
          </a:xfrm>
          <a:prstGeom prst="rect">
            <a:avLst/>
          </a:prstGeom>
          <a:ln w="0">
            <a:noFill/>
          </a:ln>
        </p:spPr>
      </p:pic>
      <p:pic>
        <p:nvPicPr>
          <p:cNvPr id="2043" name="rangee_sprite" descr="image-1-15.gif"/>
          <p:cNvPicPr/>
          <p:nvPr/>
        </p:nvPicPr>
        <p:blipFill>
          <a:blip r:embed="rId7"/>
          <a:stretch/>
        </p:blipFill>
        <p:spPr>
          <a:xfrm>
            <a:off x="2350080" y="3950280"/>
            <a:ext cx="420120" cy="420120"/>
          </a:xfrm>
          <a:prstGeom prst="rect">
            <a:avLst/>
          </a:prstGeom>
          <a:ln w="0">
            <a:noFill/>
          </a:ln>
        </p:spPr>
      </p:pic>
      <p:pic>
        <p:nvPicPr>
          <p:cNvPr id="2044" name="rangee_pacman" descr="image-1-14.gif"/>
          <p:cNvPicPr/>
          <p:nvPr/>
        </p:nvPicPr>
        <p:blipFill>
          <a:blip r:embed="rId8"/>
          <a:stretch/>
        </p:blipFill>
        <p:spPr>
          <a:xfrm>
            <a:off x="2990160" y="3950280"/>
            <a:ext cx="420120" cy="420120"/>
          </a:xfrm>
          <a:prstGeom prst="rect">
            <a:avLst/>
          </a:prstGeom>
          <a:ln w="0">
            <a:noFill/>
          </a:ln>
        </p:spPr>
      </p:pic>
      <p:sp>
        <p:nvSpPr>
          <p:cNvPr id="2045" name="rangee_pastille"/>
          <p:cNvSpPr/>
          <p:nvPr/>
        </p:nvSpPr>
        <p:spPr>
          <a:xfrm>
            <a:off x="36302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46" name="rangee_pastille"/>
          <p:cNvSpPr/>
          <p:nvPr/>
        </p:nvSpPr>
        <p:spPr>
          <a:xfrm>
            <a:off x="39960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47" name="rangee_pastille"/>
          <p:cNvSpPr/>
          <p:nvPr/>
        </p:nvSpPr>
        <p:spPr>
          <a:xfrm>
            <a:off x="43617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48" name="rangee_pastille"/>
          <p:cNvSpPr/>
          <p:nvPr/>
        </p:nvSpPr>
        <p:spPr>
          <a:xfrm>
            <a:off x="47275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49" name="rangee_pastille"/>
          <p:cNvSpPr/>
          <p:nvPr/>
        </p:nvSpPr>
        <p:spPr>
          <a:xfrm>
            <a:off x="50932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0" name="rangee_pastille"/>
          <p:cNvSpPr/>
          <p:nvPr/>
        </p:nvSpPr>
        <p:spPr>
          <a:xfrm>
            <a:off x="54590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1" name="rangee_pastille"/>
          <p:cNvSpPr/>
          <p:nvPr/>
        </p:nvSpPr>
        <p:spPr>
          <a:xfrm>
            <a:off x="58248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2" name="rangee_pastille"/>
          <p:cNvSpPr/>
          <p:nvPr/>
        </p:nvSpPr>
        <p:spPr>
          <a:xfrm>
            <a:off x="61905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3" name="rangee_pastille"/>
          <p:cNvSpPr/>
          <p:nvPr/>
        </p:nvSpPr>
        <p:spPr>
          <a:xfrm>
            <a:off x="65563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4" name="rangee_pastille"/>
          <p:cNvSpPr/>
          <p:nvPr/>
        </p:nvSpPr>
        <p:spPr>
          <a:xfrm>
            <a:off x="69220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5" name="rangee_pastille"/>
          <p:cNvSpPr/>
          <p:nvPr/>
        </p:nvSpPr>
        <p:spPr>
          <a:xfrm>
            <a:off x="72878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6" name="rangee_pastille"/>
          <p:cNvSpPr/>
          <p:nvPr/>
        </p:nvSpPr>
        <p:spPr>
          <a:xfrm>
            <a:off x="76536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7" name="rangee_pastille"/>
          <p:cNvSpPr/>
          <p:nvPr/>
        </p:nvSpPr>
        <p:spPr>
          <a:xfrm>
            <a:off x="801936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8" name="rangee_pastille"/>
          <p:cNvSpPr/>
          <p:nvPr/>
        </p:nvSpPr>
        <p:spPr>
          <a:xfrm>
            <a:off x="838512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59" name="rangee_pastille"/>
          <p:cNvSpPr/>
          <p:nvPr/>
        </p:nvSpPr>
        <p:spPr>
          <a:xfrm>
            <a:off x="875088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60" name="rangee_pastille"/>
          <p:cNvSpPr/>
          <p:nvPr/>
        </p:nvSpPr>
        <p:spPr>
          <a:xfrm>
            <a:off x="911664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061" name="rangee_pastille"/>
          <p:cNvSpPr/>
          <p:nvPr/>
        </p:nvSpPr>
        <p:spPr>
          <a:xfrm>
            <a:off x="9482400" y="412380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pic>
        <p:nvPicPr>
          <p:cNvPr id="2062" name="ready" descr="READY!"/>
          <p:cNvPicPr/>
          <p:nvPr/>
        </p:nvPicPr>
        <p:blipFill>
          <a:blip r:embed="rId9"/>
          <a:stretch/>
        </p:blipFill>
        <p:spPr>
          <a:xfrm>
            <a:off x="5492520" y="4617720"/>
            <a:ext cx="1206720" cy="200880"/>
          </a:xfrm>
          <a:prstGeom prst="rect">
            <a:avLst/>
          </a:prstGeom>
          <a:ln w="0">
            <a:noFill/>
          </a:ln>
        </p:spPr>
      </p:pic>
      <p:pic>
        <p:nvPicPr>
          <p:cNvPr id="2063" name="fin_pastille" descr="image-1-13.gif"/>
          <p:cNvPicPr/>
          <p:nvPr/>
        </p:nvPicPr>
        <p:blipFill>
          <a:blip r:embed="rId10"/>
          <a:stretch/>
        </p:blipFill>
        <p:spPr>
          <a:xfrm>
            <a:off x="11448360" y="6355080"/>
            <a:ext cx="182520" cy="182520"/>
          </a:xfrm>
          <a:prstGeom prst="rect">
            <a:avLst/>
          </a:prstGeom>
          <a:ln w="0">
            <a:noFill/>
          </a:ln>
        </p:spPr>
      </p:pic>
      <p:pic>
        <p:nvPicPr>
          <p:cNvPr id="2064" name="barre_fantome" descr="image.gif"/>
          <p:cNvPicPr/>
          <p:nvPr/>
        </p:nvPicPr>
        <p:blipFill>
          <a:blip r:embed="rId11"/>
          <a:stretch/>
        </p:blipFill>
        <p:spPr>
          <a:xfrm>
            <a:off x="8629416" y="6291000"/>
            <a:ext cx="310680" cy="310680"/>
          </a:xfrm>
          <a:prstGeom prst="rect">
            <a:avLst/>
          </a:prstGeom>
          <a:ln w="0">
            <a:noFill/>
          </a:ln>
        </p:spPr>
      </p:pic>
      <p:sp>
        <p:nvSpPr>
          <p:cNvPr id="2066" name="barre_pastille"/>
          <p:cNvSpPr/>
          <p:nvPr/>
        </p:nvSpPr>
        <p:spPr>
          <a:xfrm>
            <a:off x="9601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66"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67"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68"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69"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70"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71"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072"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2065" name="barre_pacman" descr="image.gif"/>
          <p:cNvPicPr/>
          <p:nvPr/>
        </p:nvPicPr>
        <p:blipFill>
          <a:blip r:embed="rId12"/>
          <a:stretch/>
        </p:blipFill>
        <p:spPr>
          <a:xfrm>
            <a:off x="9196416" y="6291000"/>
            <a:ext cx="310680" cy="310680"/>
          </a:xfrm>
          <a:prstGeom prst="rect">
            <a:avLst/>
          </a:prstGeom>
          <a:ln w="0">
            <a:noFill/>
          </a:ln>
        </p:spPr>
      </p:pic>
      <p:sp>
        <p:nvSpPr>
          <p:cNvPr id="2073"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549" dur="indefinite" restart="never" nodeType="tmRoot">
          <p:childTnLst>
            <p:seq>
              <p:cTn id="2550" dur="indefinite" nodeType="mainSeq">
                <p:childTnLst>
                  <p:par>
                    <p:cTn id="2551" fill="hold">
                      <p:stCondLst>
                        <p:cond delay="0"/>
                      </p:stCondLst>
                      <p:childTnLst>
                        <p:par>
                          <p:cTn id="2552" fill="hold">
                            <p:stCondLst>
                              <p:cond delay="0"/>
                            </p:stCondLst>
                            <p:childTnLst>
                              <p:par>
                                <p:cTn id="2553" nodeType="withEffect" fill="hold" presetClass="path">
                                  <p:stCondLst>
                                    <p:cond delay="0"/>
                                  </p:stCondLst>
                                  <p:childTnLst>
                                    <p:animMotion origin="layout" path="M 0 0 L 0.02252 0 E">
                                      <p:cBhvr>
                                        <p:cTn id="2554" dur="900" fill="hold"/>
                                        <p:tgtEl>
                                          <p:spTgt spid="2064"/>
                                        </p:tgtEl>
                                        <p:attrNameLst>
                                          <p:attrName>ppt_x</p:attrName>
                                          <p:attrName>ppt_y</p:attrName>
                                        </p:attrNameLst>
                                      </p:cBhvr>
                                    </p:animMotion>
                                  </p:childTnLst>
                                </p:cTn>
                              </p:par>
                              <p:par>
                                <p:cTn id="2555" nodeType="withEffect" fill="hold" presetClass="path">
                                  <p:stCondLst>
                                    <p:cond delay="0"/>
                                  </p:stCondLst>
                                  <p:childTnLst>
                                    <p:animMotion origin="layout" path="M 0 0 L 0.02252 0 E">
                                      <p:cBhvr>
                                        <p:cTn id="2556" dur="900" fill="hold"/>
                                        <p:tgtEl>
                                          <p:spTgt spid="2065"/>
                                        </p:tgtEl>
                                        <p:attrNameLst>
                                          <p:attrName>ppt_x</p:attrName>
                                          <p:attrName>ppt_y</p:attrName>
                                        </p:attrNameLst>
                                      </p:cBhvr>
                                    </p:animMotion>
                                  </p:childTnLst>
                                </p:cTn>
                              </p:par>
                              <p:par>
                                <p:cTn id="2557" nodeType="withEffect" fill="hold" presetClass="exit" presetID="1">
                                  <p:stCondLst>
                                    <p:cond delay="337"/>
                                  </p:stCondLst>
                                  <p:childTnLst>
                                    <p:set>
                                      <p:cBhvr>
                                        <p:cTn id="2558" dur="1" fill="hold">
                                          <p:stCondLst>
                                            <p:cond delay="0"/>
                                          </p:stCondLst>
                                        </p:cTn>
                                        <p:tgtEl>
                                          <p:spTgt spid="2066"/>
                                        </p:tgtEl>
                                        <p:attrNameLst>
                                          <p:attrName>style.visibility</p:attrName>
                                        </p:attrNameLst>
                                      </p:cBhvr>
                                      <p:to>
                                        <p:strVal val="hidden"/>
                                      </p:to>
                                    </p:set>
                                  </p:childTnLst>
                                </p:cTn>
                              </p:par>
                              <p:par>
                                <p:cTn id="2559" nodeType="withEffect" fill="hold" presetClass="exit" presetID="1">
                                  <p:stCondLst>
                                    <p:cond delay="900"/>
                                  </p:stCondLst>
                                  <p:childTnLst>
                                    <p:set>
                                      <p:cBhvr>
                                        <p:cTn id="2560" dur="1" fill="hold">
                                          <p:stCondLst>
                                            <p:cond delay="0"/>
                                          </p:stCondLst>
                                        </p:cTn>
                                        <p:tgtEl>
                                          <p:spTgt spid="2062"/>
                                        </p:tgtEl>
                                        <p:attrNameLst>
                                          <p:attrName>style.visibility</p:attrName>
                                        </p:attrNameLst>
                                      </p:cBhvr>
                                      <p:to>
                                        <p:strVal val="hidden"/>
                                      </p:to>
                                    </p:set>
                                  </p:childTnLst>
                                </p:cTn>
                              </p:par>
                              <p:par>
                                <p:cTn id="2561" nodeType="withEffect" fill="hold" presetClass="path">
                                  <p:stCondLst>
                                    <p:cond delay="900"/>
                                  </p:stCondLst>
                                  <p:childTnLst>
                                    <p:animMotion origin="layout" path="M 0 0 L 0.57001 0 E">
                                      <p:cBhvr>
                                        <p:cTn id="2562" dur="2600" fill="hold"/>
                                        <p:tgtEl>
                                          <p:spTgt spid="2040"/>
                                        </p:tgtEl>
                                        <p:attrNameLst>
                                          <p:attrName>ppt_x</p:attrName>
                                          <p:attrName>ppt_y</p:attrName>
                                        </p:attrNameLst>
                                      </p:cBhvr>
                                    </p:animMotion>
                                  </p:childTnLst>
                                </p:cTn>
                              </p:par>
                              <p:par>
                                <p:cTn id="2563" nodeType="withEffect" fill="hold" presetClass="path">
                                  <p:stCondLst>
                                    <p:cond delay="900"/>
                                  </p:stCondLst>
                                  <p:childTnLst>
                                    <p:animMotion origin="layout" path="M 0 0 L 0.57001 0 E">
                                      <p:cBhvr>
                                        <p:cTn id="2564" dur="2600" fill="hold"/>
                                        <p:tgtEl>
                                          <p:spTgt spid="2041"/>
                                        </p:tgtEl>
                                        <p:attrNameLst>
                                          <p:attrName>ppt_x</p:attrName>
                                          <p:attrName>ppt_y</p:attrName>
                                        </p:attrNameLst>
                                      </p:cBhvr>
                                    </p:animMotion>
                                  </p:childTnLst>
                                </p:cTn>
                              </p:par>
                              <p:par>
                                <p:cTn id="2565" nodeType="withEffect" fill="hold" presetClass="path">
                                  <p:stCondLst>
                                    <p:cond delay="900"/>
                                  </p:stCondLst>
                                  <p:childTnLst>
                                    <p:animMotion origin="layout" path="M 0 0 L 0.57001 0 E">
                                      <p:cBhvr>
                                        <p:cTn id="2566" dur="2600" fill="hold"/>
                                        <p:tgtEl>
                                          <p:spTgt spid="2042"/>
                                        </p:tgtEl>
                                        <p:attrNameLst>
                                          <p:attrName>ppt_x</p:attrName>
                                          <p:attrName>ppt_y</p:attrName>
                                        </p:attrNameLst>
                                      </p:cBhvr>
                                    </p:animMotion>
                                  </p:childTnLst>
                                </p:cTn>
                              </p:par>
                              <p:par>
                                <p:cTn id="2567" nodeType="withEffect" fill="hold" presetClass="path">
                                  <p:stCondLst>
                                    <p:cond delay="900"/>
                                  </p:stCondLst>
                                  <p:childTnLst>
                                    <p:animMotion origin="layout" path="M 0 0 L 0.57001 0 E">
                                      <p:cBhvr>
                                        <p:cTn id="2568" dur="2600" fill="hold"/>
                                        <p:tgtEl>
                                          <p:spTgt spid="2043"/>
                                        </p:tgtEl>
                                        <p:attrNameLst>
                                          <p:attrName>ppt_x</p:attrName>
                                          <p:attrName>ppt_y</p:attrName>
                                        </p:attrNameLst>
                                      </p:cBhvr>
                                    </p:animMotion>
                                  </p:childTnLst>
                                </p:cTn>
                              </p:par>
                              <p:par>
                                <p:cTn id="2569" nodeType="withEffect" fill="hold" presetClass="path">
                                  <p:stCondLst>
                                    <p:cond delay="900"/>
                                  </p:stCondLst>
                                  <p:childTnLst>
                                    <p:animMotion origin="layout" path="M 0 0 L 0.57001 0 E">
                                      <p:cBhvr>
                                        <p:cTn id="2570" dur="2600" fill="hold"/>
                                        <p:tgtEl>
                                          <p:spTgt spid="2044"/>
                                        </p:tgtEl>
                                        <p:attrNameLst>
                                          <p:attrName>ppt_x</p:attrName>
                                          <p:attrName>ppt_y</p:attrName>
                                        </p:attrNameLst>
                                      </p:cBhvr>
                                    </p:animMotion>
                                  </p:childTnLst>
                                </p:cTn>
                              </p:par>
                              <p:par>
                                <p:cTn id="2571" nodeType="withEffect" fill="hold" presetClass="exit" presetID="1">
                                  <p:stCondLst>
                                    <p:cond delay="1027"/>
                                  </p:stCondLst>
                                  <p:childTnLst>
                                    <p:set>
                                      <p:cBhvr>
                                        <p:cTn id="2572" dur="1" fill="hold">
                                          <p:stCondLst>
                                            <p:cond delay="0"/>
                                          </p:stCondLst>
                                        </p:cTn>
                                        <p:tgtEl>
                                          <p:spTgt spid="2045"/>
                                        </p:tgtEl>
                                        <p:attrNameLst>
                                          <p:attrName>style.visibility</p:attrName>
                                        </p:attrNameLst>
                                      </p:cBhvr>
                                      <p:to>
                                        <p:strVal val="hidden"/>
                                      </p:to>
                                    </p:set>
                                  </p:childTnLst>
                                </p:cTn>
                              </p:par>
                              <p:par>
                                <p:cTn id="2573" nodeType="withEffect" fill="hold" presetClass="exit" presetID="1">
                                  <p:stCondLst>
                                    <p:cond delay="1163"/>
                                  </p:stCondLst>
                                  <p:childTnLst>
                                    <p:set>
                                      <p:cBhvr>
                                        <p:cTn id="2574" dur="1" fill="hold">
                                          <p:stCondLst>
                                            <p:cond delay="0"/>
                                          </p:stCondLst>
                                        </p:cTn>
                                        <p:tgtEl>
                                          <p:spTgt spid="2046"/>
                                        </p:tgtEl>
                                        <p:attrNameLst>
                                          <p:attrName>style.visibility</p:attrName>
                                        </p:attrNameLst>
                                      </p:cBhvr>
                                      <p:to>
                                        <p:strVal val="hidden"/>
                                      </p:to>
                                    </p:set>
                                  </p:childTnLst>
                                </p:cTn>
                              </p:par>
                              <p:par>
                                <p:cTn id="2575" nodeType="withEffect" fill="hold" presetClass="exit" presetID="1">
                                  <p:stCondLst>
                                    <p:cond delay="1300"/>
                                  </p:stCondLst>
                                  <p:childTnLst>
                                    <p:set>
                                      <p:cBhvr>
                                        <p:cTn id="2576" dur="1" fill="hold">
                                          <p:stCondLst>
                                            <p:cond delay="0"/>
                                          </p:stCondLst>
                                        </p:cTn>
                                        <p:tgtEl>
                                          <p:spTgt spid="2047"/>
                                        </p:tgtEl>
                                        <p:attrNameLst>
                                          <p:attrName>style.visibility</p:attrName>
                                        </p:attrNameLst>
                                      </p:cBhvr>
                                      <p:to>
                                        <p:strVal val="hidden"/>
                                      </p:to>
                                    </p:set>
                                  </p:childTnLst>
                                </p:cTn>
                              </p:par>
                              <p:par>
                                <p:cTn id="2577" nodeType="withEffect" fill="hold" presetClass="exit" presetID="1">
                                  <p:stCondLst>
                                    <p:cond delay="1437"/>
                                  </p:stCondLst>
                                  <p:childTnLst>
                                    <p:set>
                                      <p:cBhvr>
                                        <p:cTn id="2578" dur="1" fill="hold">
                                          <p:stCondLst>
                                            <p:cond delay="0"/>
                                          </p:stCondLst>
                                        </p:cTn>
                                        <p:tgtEl>
                                          <p:spTgt spid="2048"/>
                                        </p:tgtEl>
                                        <p:attrNameLst>
                                          <p:attrName>style.visibility</p:attrName>
                                        </p:attrNameLst>
                                      </p:cBhvr>
                                      <p:to>
                                        <p:strVal val="hidden"/>
                                      </p:to>
                                    </p:set>
                                  </p:childTnLst>
                                </p:cTn>
                              </p:par>
                              <p:par>
                                <p:cTn id="2579" nodeType="withEffect" fill="hold" presetClass="exit" presetID="1">
                                  <p:stCondLst>
                                    <p:cond delay="1574"/>
                                  </p:stCondLst>
                                  <p:childTnLst>
                                    <p:set>
                                      <p:cBhvr>
                                        <p:cTn id="2580" dur="1" fill="hold">
                                          <p:stCondLst>
                                            <p:cond delay="0"/>
                                          </p:stCondLst>
                                        </p:cTn>
                                        <p:tgtEl>
                                          <p:spTgt spid="2049"/>
                                        </p:tgtEl>
                                        <p:attrNameLst>
                                          <p:attrName>style.visibility</p:attrName>
                                        </p:attrNameLst>
                                      </p:cBhvr>
                                      <p:to>
                                        <p:strVal val="hidden"/>
                                      </p:to>
                                    </p:set>
                                  </p:childTnLst>
                                </p:cTn>
                              </p:par>
                              <p:par>
                                <p:cTn id="2581" nodeType="withEffect" fill="hold" presetClass="exit" presetID="1">
                                  <p:stCondLst>
                                    <p:cond delay="1711"/>
                                  </p:stCondLst>
                                  <p:childTnLst>
                                    <p:set>
                                      <p:cBhvr>
                                        <p:cTn id="2582" dur="1" fill="hold">
                                          <p:stCondLst>
                                            <p:cond delay="0"/>
                                          </p:stCondLst>
                                        </p:cTn>
                                        <p:tgtEl>
                                          <p:spTgt spid="2050"/>
                                        </p:tgtEl>
                                        <p:attrNameLst>
                                          <p:attrName>style.visibility</p:attrName>
                                        </p:attrNameLst>
                                      </p:cBhvr>
                                      <p:to>
                                        <p:strVal val="hidden"/>
                                      </p:to>
                                    </p:set>
                                  </p:childTnLst>
                                </p:cTn>
                              </p:par>
                              <p:par>
                                <p:cTn id="2583" nodeType="withEffect" fill="hold" presetClass="exit" presetID="1">
                                  <p:stCondLst>
                                    <p:cond delay="1848"/>
                                  </p:stCondLst>
                                  <p:childTnLst>
                                    <p:set>
                                      <p:cBhvr>
                                        <p:cTn id="2584" dur="1" fill="hold">
                                          <p:stCondLst>
                                            <p:cond delay="0"/>
                                          </p:stCondLst>
                                        </p:cTn>
                                        <p:tgtEl>
                                          <p:spTgt spid="2051"/>
                                        </p:tgtEl>
                                        <p:attrNameLst>
                                          <p:attrName>style.visibility</p:attrName>
                                        </p:attrNameLst>
                                      </p:cBhvr>
                                      <p:to>
                                        <p:strVal val="hidden"/>
                                      </p:to>
                                    </p:set>
                                  </p:childTnLst>
                                </p:cTn>
                              </p:par>
                              <p:par>
                                <p:cTn id="2585" nodeType="withEffect" fill="hold" presetClass="exit" presetID="1">
                                  <p:stCondLst>
                                    <p:cond delay="1984"/>
                                  </p:stCondLst>
                                  <p:childTnLst>
                                    <p:set>
                                      <p:cBhvr>
                                        <p:cTn id="2586" dur="1" fill="hold">
                                          <p:stCondLst>
                                            <p:cond delay="0"/>
                                          </p:stCondLst>
                                        </p:cTn>
                                        <p:tgtEl>
                                          <p:spTgt spid="2052"/>
                                        </p:tgtEl>
                                        <p:attrNameLst>
                                          <p:attrName>style.visibility</p:attrName>
                                        </p:attrNameLst>
                                      </p:cBhvr>
                                      <p:to>
                                        <p:strVal val="hidden"/>
                                      </p:to>
                                    </p:set>
                                  </p:childTnLst>
                                </p:cTn>
                              </p:par>
                              <p:par>
                                <p:cTn id="2587" nodeType="withEffect" fill="hold" presetClass="exit" presetID="1">
                                  <p:stCondLst>
                                    <p:cond delay="2121"/>
                                  </p:stCondLst>
                                  <p:childTnLst>
                                    <p:set>
                                      <p:cBhvr>
                                        <p:cTn id="2588" dur="1" fill="hold">
                                          <p:stCondLst>
                                            <p:cond delay="0"/>
                                          </p:stCondLst>
                                        </p:cTn>
                                        <p:tgtEl>
                                          <p:spTgt spid="2053"/>
                                        </p:tgtEl>
                                        <p:attrNameLst>
                                          <p:attrName>style.visibility</p:attrName>
                                        </p:attrNameLst>
                                      </p:cBhvr>
                                      <p:to>
                                        <p:strVal val="hidden"/>
                                      </p:to>
                                    </p:set>
                                  </p:childTnLst>
                                </p:cTn>
                              </p:par>
                              <p:par>
                                <p:cTn id="2589" nodeType="withEffect" fill="hold" presetClass="exit" presetID="1">
                                  <p:stCondLst>
                                    <p:cond delay="2258"/>
                                  </p:stCondLst>
                                  <p:childTnLst>
                                    <p:set>
                                      <p:cBhvr>
                                        <p:cTn id="2590" dur="1" fill="hold">
                                          <p:stCondLst>
                                            <p:cond delay="0"/>
                                          </p:stCondLst>
                                        </p:cTn>
                                        <p:tgtEl>
                                          <p:spTgt spid="2054"/>
                                        </p:tgtEl>
                                        <p:attrNameLst>
                                          <p:attrName>style.visibility</p:attrName>
                                        </p:attrNameLst>
                                      </p:cBhvr>
                                      <p:to>
                                        <p:strVal val="hidden"/>
                                      </p:to>
                                    </p:set>
                                  </p:childTnLst>
                                </p:cTn>
                              </p:par>
                              <p:par>
                                <p:cTn id="2591" nodeType="withEffect" fill="hold" presetClass="exit" presetID="1">
                                  <p:stCondLst>
                                    <p:cond delay="2395"/>
                                  </p:stCondLst>
                                  <p:childTnLst>
                                    <p:set>
                                      <p:cBhvr>
                                        <p:cTn id="2592" dur="1" fill="hold">
                                          <p:stCondLst>
                                            <p:cond delay="0"/>
                                          </p:stCondLst>
                                        </p:cTn>
                                        <p:tgtEl>
                                          <p:spTgt spid="2055"/>
                                        </p:tgtEl>
                                        <p:attrNameLst>
                                          <p:attrName>style.visibility</p:attrName>
                                        </p:attrNameLst>
                                      </p:cBhvr>
                                      <p:to>
                                        <p:strVal val="hidden"/>
                                      </p:to>
                                    </p:set>
                                  </p:childTnLst>
                                </p:cTn>
                              </p:par>
                              <p:par>
                                <p:cTn id="2593" nodeType="withEffect" fill="hold" presetClass="exit" presetID="1">
                                  <p:stCondLst>
                                    <p:cond delay="2532"/>
                                  </p:stCondLst>
                                  <p:childTnLst>
                                    <p:set>
                                      <p:cBhvr>
                                        <p:cTn id="2594" dur="1" fill="hold">
                                          <p:stCondLst>
                                            <p:cond delay="0"/>
                                          </p:stCondLst>
                                        </p:cTn>
                                        <p:tgtEl>
                                          <p:spTgt spid="2056"/>
                                        </p:tgtEl>
                                        <p:attrNameLst>
                                          <p:attrName>style.visibility</p:attrName>
                                        </p:attrNameLst>
                                      </p:cBhvr>
                                      <p:to>
                                        <p:strVal val="hidden"/>
                                      </p:to>
                                    </p:set>
                                  </p:childTnLst>
                                </p:cTn>
                              </p:par>
                              <p:par>
                                <p:cTn id="2595" nodeType="withEffect" fill="hold" presetClass="exit" presetID="1">
                                  <p:stCondLst>
                                    <p:cond delay="2669"/>
                                  </p:stCondLst>
                                  <p:childTnLst>
                                    <p:set>
                                      <p:cBhvr>
                                        <p:cTn id="2596" dur="1" fill="hold">
                                          <p:stCondLst>
                                            <p:cond delay="0"/>
                                          </p:stCondLst>
                                        </p:cTn>
                                        <p:tgtEl>
                                          <p:spTgt spid="2057"/>
                                        </p:tgtEl>
                                        <p:attrNameLst>
                                          <p:attrName>style.visibility</p:attrName>
                                        </p:attrNameLst>
                                      </p:cBhvr>
                                      <p:to>
                                        <p:strVal val="hidden"/>
                                      </p:to>
                                    </p:set>
                                  </p:childTnLst>
                                </p:cTn>
                              </p:par>
                              <p:par>
                                <p:cTn id="2597" nodeType="withEffect" fill="hold" presetClass="exit" presetID="1">
                                  <p:stCondLst>
                                    <p:cond delay="2806"/>
                                  </p:stCondLst>
                                  <p:childTnLst>
                                    <p:set>
                                      <p:cBhvr>
                                        <p:cTn id="2598" dur="1" fill="hold">
                                          <p:stCondLst>
                                            <p:cond delay="0"/>
                                          </p:stCondLst>
                                        </p:cTn>
                                        <p:tgtEl>
                                          <p:spTgt spid="2058"/>
                                        </p:tgtEl>
                                        <p:attrNameLst>
                                          <p:attrName>style.visibility</p:attrName>
                                        </p:attrNameLst>
                                      </p:cBhvr>
                                      <p:to>
                                        <p:strVal val="hidden"/>
                                      </p:to>
                                    </p:set>
                                  </p:childTnLst>
                                </p:cTn>
                              </p:par>
                              <p:par>
                                <p:cTn id="2599" nodeType="withEffect" fill="hold" presetClass="exit" presetID="1">
                                  <p:stCondLst>
                                    <p:cond delay="2942"/>
                                  </p:stCondLst>
                                  <p:childTnLst>
                                    <p:set>
                                      <p:cBhvr>
                                        <p:cTn id="2600" dur="1" fill="hold">
                                          <p:stCondLst>
                                            <p:cond delay="0"/>
                                          </p:stCondLst>
                                        </p:cTn>
                                        <p:tgtEl>
                                          <p:spTgt spid="2059"/>
                                        </p:tgtEl>
                                        <p:attrNameLst>
                                          <p:attrName>style.visibility</p:attrName>
                                        </p:attrNameLst>
                                      </p:cBhvr>
                                      <p:to>
                                        <p:strVal val="hidden"/>
                                      </p:to>
                                    </p:set>
                                  </p:childTnLst>
                                </p:cTn>
                              </p:par>
                              <p:par>
                                <p:cTn id="2601" nodeType="withEffect" fill="hold" presetClass="exit" presetID="1">
                                  <p:stCondLst>
                                    <p:cond delay="3079"/>
                                  </p:stCondLst>
                                  <p:childTnLst>
                                    <p:set>
                                      <p:cBhvr>
                                        <p:cTn id="2602" dur="1" fill="hold">
                                          <p:stCondLst>
                                            <p:cond delay="0"/>
                                          </p:stCondLst>
                                        </p:cTn>
                                        <p:tgtEl>
                                          <p:spTgt spid="2060"/>
                                        </p:tgtEl>
                                        <p:attrNameLst>
                                          <p:attrName>style.visibility</p:attrName>
                                        </p:attrNameLst>
                                      </p:cBhvr>
                                      <p:to>
                                        <p:strVal val="hidden"/>
                                      </p:to>
                                    </p:set>
                                  </p:childTnLst>
                                </p:cTn>
                              </p:par>
                              <p:par>
                                <p:cTn id="2603" nodeType="withEffect" fill="hold" presetClass="exit" presetID="1">
                                  <p:stCondLst>
                                    <p:cond delay="3216"/>
                                  </p:stCondLst>
                                  <p:childTnLst>
                                    <p:set>
                                      <p:cBhvr>
                                        <p:cTn id="2604" dur="1" fill="hold">
                                          <p:stCondLst>
                                            <p:cond delay="0"/>
                                          </p:stCondLst>
                                        </p:cTn>
                                        <p:tgtEl>
                                          <p:spTgt spid="206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074" name="o1" descr="LEVEL 5 → MARKET POWER INDEX"/>
          <p:cNvPicPr/>
          <p:nvPr/>
        </p:nvPicPr>
        <p:blipFill>
          <a:blip r:embed="rId1"/>
          <a:stretch/>
        </p:blipFill>
        <p:spPr>
          <a:xfrm>
            <a:off x="548640" y="411480"/>
            <a:ext cx="4096080" cy="145800"/>
          </a:xfrm>
          <a:prstGeom prst="rect">
            <a:avLst/>
          </a:prstGeom>
          <a:ln w="0">
            <a:noFill/>
          </a:ln>
        </p:spPr>
      </p:pic>
      <p:pic>
        <p:nvPicPr>
          <p:cNvPr id="2075" name="o2" descr="La qualité reclasse les éditeurs"/>
          <p:cNvPicPr/>
          <p:nvPr/>
        </p:nvPicPr>
        <p:blipFill>
          <a:blip r:embed="rId2"/>
          <a:stretch/>
        </p:blipFill>
        <p:spPr>
          <a:xfrm>
            <a:off x="548640" y="777240"/>
            <a:ext cx="8777880" cy="273960"/>
          </a:xfrm>
          <a:prstGeom prst="rect">
            <a:avLst/>
          </a:prstGeom>
          <a:ln w="0">
            <a:noFill/>
          </a:ln>
        </p:spPr>
      </p:pic>
      <p:pic>
        <p:nvPicPr>
          <p:cNvPr id="2076" name="o3" descr="image-14-1.png"/>
          <p:cNvPicPr/>
          <p:nvPr/>
        </p:nvPicPr>
        <p:blipFill>
          <a:blip r:embed="rId3"/>
          <a:stretch/>
        </p:blipFill>
        <p:spPr>
          <a:xfrm>
            <a:off x="11073240" y="365760"/>
            <a:ext cx="566640" cy="566640"/>
          </a:xfrm>
          <a:prstGeom prst="rect">
            <a:avLst/>
          </a:prstGeom>
          <a:ln w="0">
            <a:noFill/>
          </a:ln>
        </p:spPr>
      </p:pic>
      <p:pic>
        <p:nvPicPr>
          <p:cNvPr id="2077" name="o4" descr="RANG"/>
          <p:cNvPicPr/>
          <p:nvPr/>
        </p:nvPicPr>
        <p:blipFill>
          <a:blip r:embed="rId4"/>
          <a:stretch/>
        </p:blipFill>
        <p:spPr>
          <a:xfrm>
            <a:off x="548640" y="1572840"/>
            <a:ext cx="475200" cy="118440"/>
          </a:xfrm>
          <a:prstGeom prst="rect">
            <a:avLst/>
          </a:prstGeom>
          <a:ln w="0">
            <a:noFill/>
          </a:ln>
        </p:spPr>
      </p:pic>
      <p:pic>
        <p:nvPicPr>
          <p:cNvPr id="2078" name="o5" descr="AVANT"/>
          <p:cNvPicPr/>
          <p:nvPr/>
        </p:nvPicPr>
        <p:blipFill>
          <a:blip r:embed="rId5"/>
          <a:stretch/>
        </p:blipFill>
        <p:spPr>
          <a:xfrm>
            <a:off x="4983480" y="1572840"/>
            <a:ext cx="594000" cy="118440"/>
          </a:xfrm>
          <a:prstGeom prst="rect">
            <a:avLst/>
          </a:prstGeom>
          <a:ln w="0">
            <a:noFill/>
          </a:ln>
        </p:spPr>
      </p:pic>
      <p:pic>
        <p:nvPicPr>
          <p:cNvPr id="2079" name="o6" descr="QUALITE"/>
          <p:cNvPicPr/>
          <p:nvPr/>
        </p:nvPicPr>
        <p:blipFill>
          <a:blip r:embed="rId6"/>
          <a:stretch/>
        </p:blipFill>
        <p:spPr>
          <a:xfrm>
            <a:off x="6263640" y="1572840"/>
            <a:ext cx="831600" cy="118440"/>
          </a:xfrm>
          <a:prstGeom prst="rect">
            <a:avLst/>
          </a:prstGeom>
          <a:ln w="0">
            <a:noFill/>
          </a:ln>
        </p:spPr>
      </p:pic>
      <p:pic>
        <p:nvPicPr>
          <p:cNvPr id="2080" name="o7" descr=" 1"/>
          <p:cNvPicPr/>
          <p:nvPr/>
        </p:nvPicPr>
        <p:blipFill>
          <a:blip r:embed="rId7"/>
          <a:stretch/>
        </p:blipFill>
        <p:spPr>
          <a:xfrm>
            <a:off x="548640" y="1920240"/>
            <a:ext cx="365400" cy="182520"/>
          </a:xfrm>
          <a:prstGeom prst="rect">
            <a:avLst/>
          </a:prstGeom>
          <a:ln w="0">
            <a:noFill/>
          </a:ln>
        </p:spPr>
      </p:pic>
      <p:sp>
        <p:nvSpPr>
          <p:cNvPr id="2081" name="o8"/>
          <p:cNvSpPr/>
          <p:nvPr/>
        </p:nvSpPr>
        <p:spPr>
          <a:xfrm>
            <a:off x="1097280" y="187452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500" spc="-1" strike="noStrike">
                <a:solidFill>
                  <a:srgbClr val="ffe600"/>
                </a:solidFill>
                <a:latin typeface="Arial"/>
              </a:rPr>
              <a:t>Nintendo</a:t>
            </a:r>
            <a:endParaRPr b="0" lang="en-US" sz="1500" spc="-1" strike="noStrike">
              <a:solidFill>
                <a:srgbClr val="ffffff"/>
              </a:solidFill>
              <a:latin typeface="Arial"/>
            </a:endParaRPr>
          </a:p>
        </p:txBody>
      </p:sp>
      <p:pic>
        <p:nvPicPr>
          <p:cNvPr id="2082" name="o9" descr="="/>
          <p:cNvPicPr/>
          <p:nvPr/>
        </p:nvPicPr>
        <p:blipFill>
          <a:blip r:embed="rId8"/>
          <a:stretch/>
        </p:blipFill>
        <p:spPr>
          <a:xfrm>
            <a:off x="4114800" y="1929240"/>
            <a:ext cx="164160" cy="164160"/>
          </a:xfrm>
          <a:prstGeom prst="rect">
            <a:avLst/>
          </a:prstGeom>
          <a:ln w="0">
            <a:noFill/>
          </a:ln>
        </p:spPr>
      </p:pic>
      <p:sp>
        <p:nvSpPr>
          <p:cNvPr id="2083" name="o10"/>
          <p:cNvSpPr/>
          <p:nvPr/>
        </p:nvSpPr>
        <p:spPr>
          <a:xfrm>
            <a:off x="4983480" y="187452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1e</a:t>
            </a:r>
            <a:endParaRPr b="0" lang="en-US" sz="1400" spc="-1" strike="noStrike">
              <a:solidFill>
                <a:srgbClr val="ffffff"/>
              </a:solidFill>
              <a:latin typeface="Arial"/>
            </a:endParaRPr>
          </a:p>
        </p:txBody>
      </p:sp>
      <p:sp>
        <p:nvSpPr>
          <p:cNvPr id="2084" name="o11"/>
          <p:cNvSpPr/>
          <p:nvPr/>
        </p:nvSpPr>
        <p:spPr>
          <a:xfrm>
            <a:off x="6263640" y="187452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79,9</a:t>
            </a:r>
            <a:endParaRPr b="0" lang="en-US" sz="1400" spc="-1" strike="noStrike">
              <a:solidFill>
                <a:srgbClr val="ffffff"/>
              </a:solidFill>
              <a:latin typeface="Arial"/>
            </a:endParaRPr>
          </a:p>
        </p:txBody>
      </p:sp>
      <p:pic>
        <p:nvPicPr>
          <p:cNvPr id="2085" name="o12" descr=" 2"/>
          <p:cNvPicPr/>
          <p:nvPr/>
        </p:nvPicPr>
        <p:blipFill>
          <a:blip r:embed="rId9"/>
          <a:stretch/>
        </p:blipFill>
        <p:spPr>
          <a:xfrm>
            <a:off x="548640" y="2304360"/>
            <a:ext cx="365400" cy="182520"/>
          </a:xfrm>
          <a:prstGeom prst="rect">
            <a:avLst/>
          </a:prstGeom>
          <a:ln w="0">
            <a:noFill/>
          </a:ln>
        </p:spPr>
      </p:pic>
      <p:sp>
        <p:nvSpPr>
          <p:cNvPr id="2086" name="o13"/>
          <p:cNvSpPr/>
          <p:nvPr/>
        </p:nvSpPr>
        <p:spPr>
          <a:xfrm>
            <a:off x="1097280" y="225864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500" spc="-1" strike="noStrike">
                <a:solidFill>
                  <a:srgbClr val="ffe600"/>
                </a:solidFill>
                <a:latin typeface="Arial"/>
              </a:rPr>
              <a:t>Electronic Arts</a:t>
            </a:r>
            <a:endParaRPr b="0" lang="en-US" sz="1500" spc="-1" strike="noStrike">
              <a:solidFill>
                <a:srgbClr val="ffffff"/>
              </a:solidFill>
              <a:latin typeface="Arial"/>
            </a:endParaRPr>
          </a:p>
        </p:txBody>
      </p:sp>
      <p:pic>
        <p:nvPicPr>
          <p:cNvPr id="2087" name="o14" descr="="/>
          <p:cNvPicPr/>
          <p:nvPr/>
        </p:nvPicPr>
        <p:blipFill>
          <a:blip r:embed="rId10"/>
          <a:stretch/>
        </p:blipFill>
        <p:spPr>
          <a:xfrm>
            <a:off x="4114800" y="2313360"/>
            <a:ext cx="164160" cy="164160"/>
          </a:xfrm>
          <a:prstGeom prst="rect">
            <a:avLst/>
          </a:prstGeom>
          <a:ln w="0">
            <a:noFill/>
          </a:ln>
        </p:spPr>
      </p:pic>
      <p:sp>
        <p:nvSpPr>
          <p:cNvPr id="2088" name="o15"/>
          <p:cNvSpPr/>
          <p:nvPr/>
        </p:nvSpPr>
        <p:spPr>
          <a:xfrm>
            <a:off x="4983480" y="225864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2e</a:t>
            </a:r>
            <a:endParaRPr b="0" lang="en-US" sz="1400" spc="-1" strike="noStrike">
              <a:solidFill>
                <a:srgbClr val="ffffff"/>
              </a:solidFill>
              <a:latin typeface="Arial"/>
            </a:endParaRPr>
          </a:p>
        </p:txBody>
      </p:sp>
      <p:sp>
        <p:nvSpPr>
          <p:cNvPr id="2089" name="o16"/>
          <p:cNvSpPr/>
          <p:nvPr/>
        </p:nvSpPr>
        <p:spPr>
          <a:xfrm>
            <a:off x="6263640" y="225864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79,2</a:t>
            </a:r>
            <a:endParaRPr b="0" lang="en-US" sz="1400" spc="-1" strike="noStrike">
              <a:solidFill>
                <a:srgbClr val="ffffff"/>
              </a:solidFill>
              <a:latin typeface="Arial"/>
            </a:endParaRPr>
          </a:p>
        </p:txBody>
      </p:sp>
      <p:pic>
        <p:nvPicPr>
          <p:cNvPr id="2090" name="o17" descr=" 3"/>
          <p:cNvPicPr/>
          <p:nvPr/>
        </p:nvPicPr>
        <p:blipFill>
          <a:blip r:embed="rId11"/>
          <a:stretch/>
        </p:blipFill>
        <p:spPr>
          <a:xfrm>
            <a:off x="548640" y="2688480"/>
            <a:ext cx="365400" cy="182520"/>
          </a:xfrm>
          <a:prstGeom prst="rect">
            <a:avLst/>
          </a:prstGeom>
          <a:ln w="0">
            <a:noFill/>
          </a:ln>
        </p:spPr>
      </p:pic>
      <p:sp>
        <p:nvSpPr>
          <p:cNvPr id="2091" name="o18"/>
          <p:cNvSpPr/>
          <p:nvPr/>
        </p:nvSpPr>
        <p:spPr>
          <a:xfrm>
            <a:off x="1097280" y="264276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500" spc="-1" strike="noStrike">
                <a:solidFill>
                  <a:srgbClr val="ffe600"/>
                </a:solidFill>
                <a:latin typeface="Arial"/>
              </a:rPr>
              <a:t>Sony</a:t>
            </a:r>
            <a:endParaRPr b="0" lang="en-US" sz="1500" spc="-1" strike="noStrike">
              <a:solidFill>
                <a:srgbClr val="ffffff"/>
              </a:solidFill>
              <a:latin typeface="Arial"/>
            </a:endParaRPr>
          </a:p>
        </p:txBody>
      </p:sp>
      <p:pic>
        <p:nvPicPr>
          <p:cNvPr id="2092" name="o19" descr="="/>
          <p:cNvPicPr/>
          <p:nvPr/>
        </p:nvPicPr>
        <p:blipFill>
          <a:blip r:embed="rId12"/>
          <a:stretch/>
        </p:blipFill>
        <p:spPr>
          <a:xfrm>
            <a:off x="4114800" y="2697480"/>
            <a:ext cx="164160" cy="164160"/>
          </a:xfrm>
          <a:prstGeom prst="rect">
            <a:avLst/>
          </a:prstGeom>
          <a:ln w="0">
            <a:noFill/>
          </a:ln>
        </p:spPr>
      </p:pic>
      <p:sp>
        <p:nvSpPr>
          <p:cNvPr id="2093" name="o20"/>
          <p:cNvSpPr/>
          <p:nvPr/>
        </p:nvSpPr>
        <p:spPr>
          <a:xfrm>
            <a:off x="4983480" y="264276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3e</a:t>
            </a:r>
            <a:endParaRPr b="0" lang="en-US" sz="1400" spc="-1" strike="noStrike">
              <a:solidFill>
                <a:srgbClr val="ffffff"/>
              </a:solidFill>
              <a:latin typeface="Arial"/>
            </a:endParaRPr>
          </a:p>
        </p:txBody>
      </p:sp>
      <p:sp>
        <p:nvSpPr>
          <p:cNvPr id="2094" name="o21"/>
          <p:cNvSpPr/>
          <p:nvPr/>
        </p:nvSpPr>
        <p:spPr>
          <a:xfrm>
            <a:off x="6263640" y="264276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83,5</a:t>
            </a:r>
            <a:endParaRPr b="0" lang="en-US" sz="1400" spc="-1" strike="noStrike">
              <a:solidFill>
                <a:srgbClr val="ffffff"/>
              </a:solidFill>
              <a:latin typeface="Arial"/>
            </a:endParaRPr>
          </a:p>
        </p:txBody>
      </p:sp>
      <p:pic>
        <p:nvPicPr>
          <p:cNvPr id="2095" name="o22" descr=" 4"/>
          <p:cNvPicPr/>
          <p:nvPr/>
        </p:nvPicPr>
        <p:blipFill>
          <a:blip r:embed="rId13"/>
          <a:stretch/>
        </p:blipFill>
        <p:spPr>
          <a:xfrm>
            <a:off x="548640" y="3072240"/>
            <a:ext cx="365400" cy="182520"/>
          </a:xfrm>
          <a:prstGeom prst="rect">
            <a:avLst/>
          </a:prstGeom>
          <a:ln w="0">
            <a:noFill/>
          </a:ln>
        </p:spPr>
      </p:pic>
      <p:sp>
        <p:nvSpPr>
          <p:cNvPr id="2096" name="o23"/>
          <p:cNvSpPr/>
          <p:nvPr/>
        </p:nvSpPr>
        <p:spPr>
          <a:xfrm>
            <a:off x="1097280" y="302652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ffffff"/>
                </a:solidFill>
                <a:latin typeface="Arial"/>
              </a:rPr>
              <a:t>Activision</a:t>
            </a:r>
            <a:endParaRPr b="0" lang="en-US" sz="1500" spc="-1" strike="noStrike">
              <a:solidFill>
                <a:srgbClr val="ffffff"/>
              </a:solidFill>
              <a:latin typeface="Arial"/>
            </a:endParaRPr>
          </a:p>
        </p:txBody>
      </p:sp>
      <p:pic>
        <p:nvPicPr>
          <p:cNvPr id="2097" name="o24" descr="="/>
          <p:cNvPicPr/>
          <p:nvPr/>
        </p:nvPicPr>
        <p:blipFill>
          <a:blip r:embed="rId14"/>
          <a:stretch/>
        </p:blipFill>
        <p:spPr>
          <a:xfrm>
            <a:off x="4114800" y="3081600"/>
            <a:ext cx="164160" cy="164160"/>
          </a:xfrm>
          <a:prstGeom prst="rect">
            <a:avLst/>
          </a:prstGeom>
          <a:ln w="0">
            <a:noFill/>
          </a:ln>
        </p:spPr>
      </p:pic>
      <p:sp>
        <p:nvSpPr>
          <p:cNvPr id="2098" name="o25"/>
          <p:cNvSpPr/>
          <p:nvPr/>
        </p:nvSpPr>
        <p:spPr>
          <a:xfrm>
            <a:off x="4983480" y="302652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4e</a:t>
            </a:r>
            <a:endParaRPr b="0" lang="en-US" sz="1400" spc="-1" strike="noStrike">
              <a:solidFill>
                <a:srgbClr val="ffffff"/>
              </a:solidFill>
              <a:latin typeface="Arial"/>
            </a:endParaRPr>
          </a:p>
        </p:txBody>
      </p:sp>
      <p:sp>
        <p:nvSpPr>
          <p:cNvPr id="2099" name="o26"/>
          <p:cNvSpPr/>
          <p:nvPr/>
        </p:nvSpPr>
        <p:spPr>
          <a:xfrm>
            <a:off x="6263640" y="302652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79,9</a:t>
            </a:r>
            <a:endParaRPr b="0" lang="en-US" sz="1400" spc="-1" strike="noStrike">
              <a:solidFill>
                <a:srgbClr val="ffffff"/>
              </a:solidFill>
              <a:latin typeface="Arial"/>
            </a:endParaRPr>
          </a:p>
        </p:txBody>
      </p:sp>
      <p:pic>
        <p:nvPicPr>
          <p:cNvPr id="2100" name="o27" descr=" 5"/>
          <p:cNvPicPr/>
          <p:nvPr/>
        </p:nvPicPr>
        <p:blipFill>
          <a:blip r:embed="rId15"/>
          <a:stretch/>
        </p:blipFill>
        <p:spPr>
          <a:xfrm>
            <a:off x="548640" y="3456360"/>
            <a:ext cx="365400" cy="182520"/>
          </a:xfrm>
          <a:prstGeom prst="rect">
            <a:avLst/>
          </a:prstGeom>
          <a:ln w="0">
            <a:noFill/>
          </a:ln>
        </p:spPr>
      </p:pic>
      <p:sp>
        <p:nvSpPr>
          <p:cNvPr id="2101" name="o28"/>
          <p:cNvSpPr/>
          <p:nvPr/>
        </p:nvSpPr>
        <p:spPr>
          <a:xfrm>
            <a:off x="1097280" y="341064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ffffff"/>
                </a:solidFill>
                <a:latin typeface="Arial"/>
              </a:rPr>
              <a:t>Take-Two</a:t>
            </a:r>
            <a:endParaRPr b="0" lang="en-US" sz="1500" spc="-1" strike="noStrike">
              <a:solidFill>
                <a:srgbClr val="ffffff"/>
              </a:solidFill>
              <a:latin typeface="Arial"/>
            </a:endParaRPr>
          </a:p>
        </p:txBody>
      </p:sp>
      <p:pic>
        <p:nvPicPr>
          <p:cNvPr id="2102" name="o29" descr="▲1"/>
          <p:cNvPicPr/>
          <p:nvPr/>
        </p:nvPicPr>
        <p:blipFill>
          <a:blip r:embed="rId16"/>
          <a:stretch/>
        </p:blipFill>
        <p:spPr>
          <a:xfrm>
            <a:off x="4114800" y="3465720"/>
            <a:ext cx="328680" cy="164160"/>
          </a:xfrm>
          <a:prstGeom prst="rect">
            <a:avLst/>
          </a:prstGeom>
          <a:ln w="0">
            <a:noFill/>
          </a:ln>
        </p:spPr>
      </p:pic>
      <p:sp>
        <p:nvSpPr>
          <p:cNvPr id="2103" name="o30"/>
          <p:cNvSpPr/>
          <p:nvPr/>
        </p:nvSpPr>
        <p:spPr>
          <a:xfrm>
            <a:off x="4983480" y="341064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6e</a:t>
            </a:r>
            <a:endParaRPr b="0" lang="en-US" sz="1400" spc="-1" strike="noStrike">
              <a:solidFill>
                <a:srgbClr val="ffffff"/>
              </a:solidFill>
              <a:latin typeface="Arial"/>
            </a:endParaRPr>
          </a:p>
        </p:txBody>
      </p:sp>
      <p:sp>
        <p:nvSpPr>
          <p:cNvPr id="2104" name="o31"/>
          <p:cNvSpPr/>
          <p:nvPr/>
        </p:nvSpPr>
        <p:spPr>
          <a:xfrm>
            <a:off x="6263640" y="341064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86,5</a:t>
            </a:r>
            <a:endParaRPr b="0" lang="en-US" sz="1400" spc="-1" strike="noStrike">
              <a:solidFill>
                <a:srgbClr val="ffffff"/>
              </a:solidFill>
              <a:latin typeface="Arial"/>
            </a:endParaRPr>
          </a:p>
        </p:txBody>
      </p:sp>
      <p:pic>
        <p:nvPicPr>
          <p:cNvPr id="2105" name="o32" descr=" 6"/>
          <p:cNvPicPr/>
          <p:nvPr/>
        </p:nvPicPr>
        <p:blipFill>
          <a:blip r:embed="rId17"/>
          <a:stretch/>
        </p:blipFill>
        <p:spPr>
          <a:xfrm>
            <a:off x="548640" y="3840480"/>
            <a:ext cx="365400" cy="182520"/>
          </a:xfrm>
          <a:prstGeom prst="rect">
            <a:avLst/>
          </a:prstGeom>
          <a:ln w="0">
            <a:noFill/>
          </a:ln>
        </p:spPr>
      </p:pic>
      <p:sp>
        <p:nvSpPr>
          <p:cNvPr id="2106" name="o33"/>
          <p:cNvSpPr/>
          <p:nvPr/>
        </p:nvSpPr>
        <p:spPr>
          <a:xfrm>
            <a:off x="1097280" y="379476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ffffff"/>
                </a:solidFill>
                <a:latin typeface="Arial"/>
              </a:rPr>
              <a:t>Bethesda</a:t>
            </a:r>
            <a:endParaRPr b="0" lang="en-US" sz="1500" spc="-1" strike="noStrike">
              <a:solidFill>
                <a:srgbClr val="ffffff"/>
              </a:solidFill>
              <a:latin typeface="Arial"/>
            </a:endParaRPr>
          </a:p>
        </p:txBody>
      </p:sp>
      <p:pic>
        <p:nvPicPr>
          <p:cNvPr id="2107" name="o34" descr="▲3"/>
          <p:cNvPicPr/>
          <p:nvPr/>
        </p:nvPicPr>
        <p:blipFill>
          <a:blip r:embed="rId18"/>
          <a:stretch/>
        </p:blipFill>
        <p:spPr>
          <a:xfrm>
            <a:off x="4114800" y="3849480"/>
            <a:ext cx="328680" cy="164160"/>
          </a:xfrm>
          <a:prstGeom prst="rect">
            <a:avLst/>
          </a:prstGeom>
          <a:ln w="0">
            <a:noFill/>
          </a:ln>
        </p:spPr>
      </p:pic>
      <p:sp>
        <p:nvSpPr>
          <p:cNvPr id="2108" name="o35"/>
          <p:cNvSpPr/>
          <p:nvPr/>
        </p:nvSpPr>
        <p:spPr>
          <a:xfrm>
            <a:off x="4983480" y="379476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9e</a:t>
            </a:r>
            <a:endParaRPr b="0" lang="en-US" sz="1400" spc="-1" strike="noStrike">
              <a:solidFill>
                <a:srgbClr val="ffffff"/>
              </a:solidFill>
              <a:latin typeface="Arial"/>
            </a:endParaRPr>
          </a:p>
        </p:txBody>
      </p:sp>
      <p:sp>
        <p:nvSpPr>
          <p:cNvPr id="2109" name="o36"/>
          <p:cNvSpPr/>
          <p:nvPr/>
        </p:nvSpPr>
        <p:spPr>
          <a:xfrm>
            <a:off x="6263640" y="379476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85,7</a:t>
            </a:r>
            <a:endParaRPr b="0" lang="en-US" sz="1400" spc="-1" strike="noStrike">
              <a:solidFill>
                <a:srgbClr val="ffffff"/>
              </a:solidFill>
              <a:latin typeface="Arial"/>
            </a:endParaRPr>
          </a:p>
        </p:txBody>
      </p:sp>
      <p:pic>
        <p:nvPicPr>
          <p:cNvPr id="2110" name="o37" descr=" 7"/>
          <p:cNvPicPr/>
          <p:nvPr/>
        </p:nvPicPr>
        <p:blipFill>
          <a:blip r:embed="rId19"/>
          <a:stretch/>
        </p:blipFill>
        <p:spPr>
          <a:xfrm>
            <a:off x="548640" y="4224600"/>
            <a:ext cx="365400" cy="182520"/>
          </a:xfrm>
          <a:prstGeom prst="rect">
            <a:avLst/>
          </a:prstGeom>
          <a:ln w="0">
            <a:noFill/>
          </a:ln>
        </p:spPr>
      </p:pic>
      <p:sp>
        <p:nvSpPr>
          <p:cNvPr id="2111" name="o38"/>
          <p:cNvSpPr/>
          <p:nvPr/>
        </p:nvSpPr>
        <p:spPr>
          <a:xfrm>
            <a:off x="1097280" y="417888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ffffff"/>
                </a:solidFill>
                <a:latin typeface="Arial"/>
              </a:rPr>
              <a:t>Microsoft</a:t>
            </a:r>
            <a:endParaRPr b="0" lang="en-US" sz="1500" spc="-1" strike="noStrike">
              <a:solidFill>
                <a:srgbClr val="ffffff"/>
              </a:solidFill>
              <a:latin typeface="Arial"/>
            </a:endParaRPr>
          </a:p>
        </p:txBody>
      </p:sp>
      <p:pic>
        <p:nvPicPr>
          <p:cNvPr id="2112" name="o39" descr="▲3"/>
          <p:cNvPicPr/>
          <p:nvPr/>
        </p:nvPicPr>
        <p:blipFill>
          <a:blip r:embed="rId20"/>
          <a:stretch/>
        </p:blipFill>
        <p:spPr>
          <a:xfrm>
            <a:off x="4114800" y="4233600"/>
            <a:ext cx="328680" cy="164160"/>
          </a:xfrm>
          <a:prstGeom prst="rect">
            <a:avLst/>
          </a:prstGeom>
          <a:ln w="0">
            <a:noFill/>
          </a:ln>
        </p:spPr>
      </p:pic>
      <p:sp>
        <p:nvSpPr>
          <p:cNvPr id="2113" name="o40"/>
          <p:cNvSpPr/>
          <p:nvPr/>
        </p:nvSpPr>
        <p:spPr>
          <a:xfrm>
            <a:off x="4983480" y="417888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10e</a:t>
            </a:r>
            <a:endParaRPr b="0" lang="en-US" sz="1400" spc="-1" strike="noStrike">
              <a:solidFill>
                <a:srgbClr val="ffffff"/>
              </a:solidFill>
              <a:latin typeface="Arial"/>
            </a:endParaRPr>
          </a:p>
        </p:txBody>
      </p:sp>
      <p:sp>
        <p:nvSpPr>
          <p:cNvPr id="2114" name="o41"/>
          <p:cNvSpPr/>
          <p:nvPr/>
        </p:nvSpPr>
        <p:spPr>
          <a:xfrm>
            <a:off x="6263640" y="417888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82,0</a:t>
            </a:r>
            <a:endParaRPr b="0" lang="en-US" sz="1400" spc="-1" strike="noStrike">
              <a:solidFill>
                <a:srgbClr val="ffffff"/>
              </a:solidFill>
              <a:latin typeface="Arial"/>
            </a:endParaRPr>
          </a:p>
        </p:txBody>
      </p:sp>
      <p:pic>
        <p:nvPicPr>
          <p:cNvPr id="2115" name="o42" descr=" 8"/>
          <p:cNvPicPr/>
          <p:nvPr/>
        </p:nvPicPr>
        <p:blipFill>
          <a:blip r:embed="rId21"/>
          <a:stretch/>
        </p:blipFill>
        <p:spPr>
          <a:xfrm>
            <a:off x="548640" y="4608720"/>
            <a:ext cx="365400" cy="182520"/>
          </a:xfrm>
          <a:prstGeom prst="rect">
            <a:avLst/>
          </a:prstGeom>
          <a:ln w="0">
            <a:noFill/>
          </a:ln>
        </p:spPr>
      </p:pic>
      <p:sp>
        <p:nvSpPr>
          <p:cNvPr id="2116" name="o43"/>
          <p:cNvSpPr/>
          <p:nvPr/>
        </p:nvSpPr>
        <p:spPr>
          <a:xfrm>
            <a:off x="1097280" y="456300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ffffff"/>
                </a:solidFill>
                <a:latin typeface="Arial"/>
              </a:rPr>
              <a:t>Virgin</a:t>
            </a:r>
            <a:endParaRPr b="0" lang="en-US" sz="1500" spc="-1" strike="noStrike">
              <a:solidFill>
                <a:srgbClr val="ffffff"/>
              </a:solidFill>
              <a:latin typeface="Arial"/>
            </a:endParaRPr>
          </a:p>
        </p:txBody>
      </p:sp>
      <p:pic>
        <p:nvPicPr>
          <p:cNvPr id="2117" name="o44" descr="▲6"/>
          <p:cNvPicPr/>
          <p:nvPr/>
        </p:nvPicPr>
        <p:blipFill>
          <a:blip r:embed="rId22"/>
          <a:stretch/>
        </p:blipFill>
        <p:spPr>
          <a:xfrm>
            <a:off x="4114800" y="4617720"/>
            <a:ext cx="328680" cy="164160"/>
          </a:xfrm>
          <a:prstGeom prst="rect">
            <a:avLst/>
          </a:prstGeom>
          <a:ln w="0">
            <a:noFill/>
          </a:ln>
        </p:spPr>
      </p:pic>
      <p:sp>
        <p:nvSpPr>
          <p:cNvPr id="2118" name="o45"/>
          <p:cNvSpPr/>
          <p:nvPr/>
        </p:nvSpPr>
        <p:spPr>
          <a:xfrm>
            <a:off x="4983480" y="456300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14e</a:t>
            </a:r>
            <a:endParaRPr b="0" lang="en-US" sz="1400" spc="-1" strike="noStrike">
              <a:solidFill>
                <a:srgbClr val="ffffff"/>
              </a:solidFill>
              <a:latin typeface="Arial"/>
            </a:endParaRPr>
          </a:p>
        </p:txBody>
      </p:sp>
      <p:sp>
        <p:nvSpPr>
          <p:cNvPr id="2119" name="o46"/>
          <p:cNvSpPr/>
          <p:nvPr/>
        </p:nvSpPr>
        <p:spPr>
          <a:xfrm>
            <a:off x="6263640" y="456300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86,8</a:t>
            </a:r>
            <a:endParaRPr b="0" lang="en-US" sz="1400" spc="-1" strike="noStrike">
              <a:solidFill>
                <a:srgbClr val="ffffff"/>
              </a:solidFill>
              <a:latin typeface="Arial"/>
            </a:endParaRPr>
          </a:p>
        </p:txBody>
      </p:sp>
      <p:pic>
        <p:nvPicPr>
          <p:cNvPr id="2120" name="o47" descr=" 9"/>
          <p:cNvPicPr/>
          <p:nvPr/>
        </p:nvPicPr>
        <p:blipFill>
          <a:blip r:embed="rId23"/>
          <a:stretch/>
        </p:blipFill>
        <p:spPr>
          <a:xfrm>
            <a:off x="548640" y="4992480"/>
            <a:ext cx="365400" cy="182520"/>
          </a:xfrm>
          <a:prstGeom prst="rect">
            <a:avLst/>
          </a:prstGeom>
          <a:ln w="0">
            <a:noFill/>
          </a:ln>
        </p:spPr>
      </p:pic>
      <p:sp>
        <p:nvSpPr>
          <p:cNvPr id="2121" name="o48"/>
          <p:cNvSpPr/>
          <p:nvPr/>
        </p:nvSpPr>
        <p:spPr>
          <a:xfrm>
            <a:off x="1097280" y="494676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ffffff"/>
                </a:solidFill>
                <a:latin typeface="Arial"/>
              </a:rPr>
              <a:t>Ubisoft</a:t>
            </a:r>
            <a:endParaRPr b="0" lang="en-US" sz="1500" spc="-1" strike="noStrike">
              <a:solidFill>
                <a:srgbClr val="ffffff"/>
              </a:solidFill>
              <a:latin typeface="Arial"/>
            </a:endParaRPr>
          </a:p>
        </p:txBody>
      </p:sp>
      <p:pic>
        <p:nvPicPr>
          <p:cNvPr id="2122" name="o49" descr="▼1"/>
          <p:cNvPicPr/>
          <p:nvPr/>
        </p:nvPicPr>
        <p:blipFill>
          <a:blip r:embed="rId24"/>
          <a:stretch/>
        </p:blipFill>
        <p:spPr>
          <a:xfrm>
            <a:off x="4114800" y="5001840"/>
            <a:ext cx="328680" cy="164160"/>
          </a:xfrm>
          <a:prstGeom prst="rect">
            <a:avLst/>
          </a:prstGeom>
          <a:ln w="0">
            <a:noFill/>
          </a:ln>
        </p:spPr>
      </p:pic>
      <p:sp>
        <p:nvSpPr>
          <p:cNvPr id="2123" name="o50"/>
          <p:cNvSpPr/>
          <p:nvPr/>
        </p:nvSpPr>
        <p:spPr>
          <a:xfrm>
            <a:off x="4983480" y="494676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8e</a:t>
            </a:r>
            <a:endParaRPr b="0" lang="en-US" sz="1400" spc="-1" strike="noStrike">
              <a:solidFill>
                <a:srgbClr val="ffffff"/>
              </a:solidFill>
              <a:latin typeface="Arial"/>
            </a:endParaRPr>
          </a:p>
        </p:txBody>
      </p:sp>
      <p:sp>
        <p:nvSpPr>
          <p:cNvPr id="2124" name="o51"/>
          <p:cNvSpPr/>
          <p:nvPr/>
        </p:nvSpPr>
        <p:spPr>
          <a:xfrm>
            <a:off x="6263640" y="494676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75,6</a:t>
            </a:r>
            <a:endParaRPr b="0" lang="en-US" sz="1400" spc="-1" strike="noStrike">
              <a:solidFill>
                <a:srgbClr val="ffffff"/>
              </a:solidFill>
              <a:latin typeface="Arial"/>
            </a:endParaRPr>
          </a:p>
        </p:txBody>
      </p:sp>
      <p:pic>
        <p:nvPicPr>
          <p:cNvPr id="2125" name="o52" descr="10"/>
          <p:cNvPicPr/>
          <p:nvPr/>
        </p:nvPicPr>
        <p:blipFill>
          <a:blip r:embed="rId25"/>
          <a:stretch/>
        </p:blipFill>
        <p:spPr>
          <a:xfrm>
            <a:off x="548640" y="5376600"/>
            <a:ext cx="365400" cy="182520"/>
          </a:xfrm>
          <a:prstGeom prst="rect">
            <a:avLst/>
          </a:prstGeom>
          <a:ln w="0">
            <a:noFill/>
          </a:ln>
        </p:spPr>
      </p:pic>
      <p:sp>
        <p:nvSpPr>
          <p:cNvPr id="2126" name="o53"/>
          <p:cNvSpPr/>
          <p:nvPr/>
        </p:nvSpPr>
        <p:spPr>
          <a:xfrm>
            <a:off x="1097280" y="533088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ffffff"/>
                </a:solidFill>
                <a:latin typeface="Arial"/>
              </a:rPr>
              <a:t>THQ</a:t>
            </a:r>
            <a:endParaRPr b="0" lang="en-US" sz="1500" spc="-1" strike="noStrike">
              <a:solidFill>
                <a:srgbClr val="ffffff"/>
              </a:solidFill>
              <a:latin typeface="Arial"/>
            </a:endParaRPr>
          </a:p>
        </p:txBody>
      </p:sp>
      <p:pic>
        <p:nvPicPr>
          <p:cNvPr id="2127" name="o54" descr="▼5"/>
          <p:cNvPicPr/>
          <p:nvPr/>
        </p:nvPicPr>
        <p:blipFill>
          <a:blip r:embed="rId26"/>
          <a:stretch/>
        </p:blipFill>
        <p:spPr>
          <a:xfrm>
            <a:off x="4114800" y="5385960"/>
            <a:ext cx="328680" cy="164160"/>
          </a:xfrm>
          <a:prstGeom prst="rect">
            <a:avLst/>
          </a:prstGeom>
          <a:ln w="0">
            <a:noFill/>
          </a:ln>
        </p:spPr>
      </p:pic>
      <p:sp>
        <p:nvSpPr>
          <p:cNvPr id="2128" name="o55"/>
          <p:cNvSpPr/>
          <p:nvPr/>
        </p:nvSpPr>
        <p:spPr>
          <a:xfrm>
            <a:off x="4983480" y="533088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5e</a:t>
            </a:r>
            <a:endParaRPr b="0" lang="en-US" sz="1400" spc="-1" strike="noStrike">
              <a:solidFill>
                <a:srgbClr val="ffffff"/>
              </a:solidFill>
              <a:latin typeface="Arial"/>
            </a:endParaRPr>
          </a:p>
        </p:txBody>
      </p:sp>
      <p:sp>
        <p:nvSpPr>
          <p:cNvPr id="2129" name="o56"/>
          <p:cNvSpPr/>
          <p:nvPr/>
        </p:nvSpPr>
        <p:spPr>
          <a:xfrm>
            <a:off x="6263640" y="533088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69,7</a:t>
            </a:r>
            <a:endParaRPr b="0" lang="en-US" sz="1400" spc="-1" strike="noStrike">
              <a:solidFill>
                <a:srgbClr val="ffffff"/>
              </a:solidFill>
              <a:latin typeface="Arial"/>
            </a:endParaRPr>
          </a:p>
        </p:txBody>
      </p:sp>
      <p:pic>
        <p:nvPicPr>
          <p:cNvPr id="2130" name="o57" descr="11"/>
          <p:cNvPicPr/>
          <p:nvPr/>
        </p:nvPicPr>
        <p:blipFill>
          <a:blip r:embed="rId27"/>
          <a:stretch/>
        </p:blipFill>
        <p:spPr>
          <a:xfrm>
            <a:off x="548640" y="5760720"/>
            <a:ext cx="365400" cy="182520"/>
          </a:xfrm>
          <a:prstGeom prst="rect">
            <a:avLst/>
          </a:prstGeom>
          <a:ln w="0">
            <a:noFill/>
          </a:ln>
        </p:spPr>
      </p:pic>
      <p:sp>
        <p:nvSpPr>
          <p:cNvPr id="2131" name="o58"/>
          <p:cNvSpPr/>
          <p:nvPr/>
        </p:nvSpPr>
        <p:spPr>
          <a:xfrm>
            <a:off x="1097280" y="5715000"/>
            <a:ext cx="3017160" cy="2289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500" spc="-1" strike="noStrike">
                <a:solidFill>
                  <a:srgbClr val="ffffff"/>
                </a:solidFill>
                <a:latin typeface="Arial"/>
              </a:rPr>
              <a:t>Sega</a:t>
            </a:r>
            <a:endParaRPr b="0" lang="en-US" sz="1500" spc="-1" strike="noStrike">
              <a:solidFill>
                <a:srgbClr val="ffffff"/>
              </a:solidFill>
              <a:latin typeface="Arial"/>
            </a:endParaRPr>
          </a:p>
        </p:txBody>
      </p:sp>
      <p:pic>
        <p:nvPicPr>
          <p:cNvPr id="2132" name="o59" descr="▼4"/>
          <p:cNvPicPr/>
          <p:nvPr/>
        </p:nvPicPr>
        <p:blipFill>
          <a:blip r:embed="rId28"/>
          <a:stretch/>
        </p:blipFill>
        <p:spPr>
          <a:xfrm>
            <a:off x="4114800" y="5769720"/>
            <a:ext cx="328680" cy="164160"/>
          </a:xfrm>
          <a:prstGeom prst="rect">
            <a:avLst/>
          </a:prstGeom>
          <a:ln w="0">
            <a:noFill/>
          </a:ln>
        </p:spPr>
      </p:pic>
      <p:sp>
        <p:nvSpPr>
          <p:cNvPr id="2133" name="o60"/>
          <p:cNvSpPr/>
          <p:nvPr/>
        </p:nvSpPr>
        <p:spPr>
          <a:xfrm>
            <a:off x="4983480" y="5715000"/>
            <a:ext cx="7311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7c7caa"/>
                </a:solidFill>
                <a:latin typeface="Arial"/>
              </a:rPr>
              <a:t>7e</a:t>
            </a:r>
            <a:endParaRPr b="0" lang="en-US" sz="1400" spc="-1" strike="noStrike">
              <a:solidFill>
                <a:srgbClr val="ffffff"/>
              </a:solidFill>
              <a:latin typeface="Arial"/>
            </a:endParaRPr>
          </a:p>
        </p:txBody>
      </p:sp>
      <p:sp>
        <p:nvSpPr>
          <p:cNvPr id="2134" name="o61"/>
          <p:cNvSpPr/>
          <p:nvPr/>
        </p:nvSpPr>
        <p:spPr>
          <a:xfrm>
            <a:off x="6263640" y="5715000"/>
            <a:ext cx="82260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71,8</a:t>
            </a:r>
            <a:endParaRPr b="0" lang="en-US" sz="1400" spc="-1" strike="noStrike">
              <a:solidFill>
                <a:srgbClr val="ffffff"/>
              </a:solidFill>
              <a:latin typeface="Arial"/>
            </a:endParaRPr>
          </a:p>
        </p:txBody>
      </p:sp>
      <p:sp>
        <p:nvSpPr>
          <p:cNvPr id="2135" name="o62"/>
          <p:cNvSpPr/>
          <p:nvPr/>
        </p:nvSpPr>
        <p:spPr>
          <a:xfrm>
            <a:off x="7589520" y="1600200"/>
            <a:ext cx="4050360" cy="4434480"/>
          </a:xfrm>
          <a:prstGeom prst="roundRect">
            <a:avLst>
              <a:gd name="adj" fmla="val 3160"/>
            </a:avLst>
          </a:prstGeom>
          <a:solidFill>
            <a:srgbClr val="000000"/>
          </a:solidFill>
          <a:ln w="28575">
            <a:solidFill>
              <a:srgbClr val="ffe6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36" name="o63"/>
          <p:cNvSpPr/>
          <p:nvPr/>
        </p:nvSpPr>
        <p:spPr>
          <a:xfrm>
            <a:off x="7658280" y="1668960"/>
            <a:ext cx="3913200" cy="4297320"/>
          </a:xfrm>
          <a:prstGeom prst="roundRect">
            <a:avLst>
              <a:gd name="adj" fmla="val 1518"/>
            </a:avLst>
          </a:prstGeom>
          <a:noFill/>
          <a:ln w="12700">
            <a:solidFill>
              <a:srgbClr val="ffe6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137" name="o64" descr="image-14-1.png"/>
          <p:cNvPicPr/>
          <p:nvPr/>
        </p:nvPicPr>
        <p:blipFill>
          <a:blip r:embed="rId29"/>
          <a:stretch/>
        </p:blipFill>
        <p:spPr>
          <a:xfrm>
            <a:off x="7882200" y="1874520"/>
            <a:ext cx="502560" cy="502560"/>
          </a:xfrm>
          <a:prstGeom prst="rect">
            <a:avLst/>
          </a:prstGeom>
          <a:ln w="0">
            <a:noFill/>
          </a:ln>
        </p:spPr>
      </p:pic>
      <p:pic>
        <p:nvPicPr>
          <p:cNvPr id="2138" name="o65" descr="MPI 2.0"/>
          <p:cNvPicPr/>
          <p:nvPr/>
        </p:nvPicPr>
        <p:blipFill>
          <a:blip r:embed="rId30"/>
          <a:stretch/>
        </p:blipFill>
        <p:spPr>
          <a:xfrm>
            <a:off x="8549640" y="2011680"/>
            <a:ext cx="1663920" cy="237240"/>
          </a:xfrm>
          <a:prstGeom prst="rect">
            <a:avLst/>
          </a:prstGeom>
          <a:ln w="0">
            <a:noFill/>
          </a:ln>
        </p:spPr>
      </p:pic>
      <p:sp>
        <p:nvSpPr>
          <p:cNvPr id="2139" name="o66"/>
          <p:cNvSpPr/>
          <p:nvPr/>
        </p:nvSpPr>
        <p:spPr>
          <a:xfrm>
            <a:off x="7882200" y="2560320"/>
            <a:ext cx="3474360" cy="640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5 composantes de la partie 1 + la qualité perçue (note presse pondérée par les ventes)</a:t>
            </a:r>
            <a:endParaRPr b="0" lang="en-US" sz="1400" spc="-1" strike="noStrike">
              <a:solidFill>
                <a:srgbClr val="ffffff"/>
              </a:solidFill>
              <a:latin typeface="Arial"/>
            </a:endParaRPr>
          </a:p>
        </p:txBody>
      </p:sp>
      <p:sp>
        <p:nvSpPr>
          <p:cNvPr id="2140" name="o67"/>
          <p:cNvSpPr/>
          <p:nvPr/>
        </p:nvSpPr>
        <p:spPr>
          <a:xfrm>
            <a:off x="7882200" y="3429000"/>
            <a:ext cx="3474360" cy="109800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601"/>
              </a:spcAft>
            </a:pPr>
            <a:r>
              <a:rPr b="1" lang="en-US" sz="1700" spc="-1" strike="noStrike">
                <a:solidFill>
                  <a:srgbClr val="ffffff"/>
                </a:solidFill>
                <a:latin typeface="Arial"/>
              </a:rPr>
              <a:t>Top 3 inchangé</a:t>
            </a:r>
            <a:endParaRPr b="0" lang="en-US" sz="1700" spc="-1" strike="noStrike">
              <a:solidFill>
                <a:srgbClr val="ffffff"/>
              </a:solidFill>
              <a:latin typeface="Arial"/>
            </a:endParaRPr>
          </a:p>
          <a:p>
            <a:pPr defTabSz="914400">
              <a:lnSpc>
                <a:spcPct val="100000"/>
              </a:lnSpc>
              <a:spcAft>
                <a:spcPts val="601"/>
              </a:spcAft>
            </a:pPr>
            <a:r>
              <a:rPr b="1" lang="en-US" sz="1500" spc="-1" strike="noStrike">
                <a:solidFill>
                  <a:srgbClr val="00de00"/>
                </a:solidFill>
                <a:latin typeface="Arial"/>
              </a:rPr>
              <a:t>▲ </a:t>
            </a:r>
            <a:r>
              <a:rPr b="1" lang="en-US" sz="1500" spc="-1" strike="noStrike">
                <a:solidFill>
                  <a:srgbClr val="00de00"/>
                </a:solidFill>
                <a:latin typeface="Arial"/>
              </a:rPr>
              <a:t>Premium : </a:t>
            </a:r>
            <a:r>
              <a:rPr b="0" lang="en-US" sz="1500" spc="-1" strike="noStrike">
                <a:solidFill>
                  <a:srgbClr val="c4c4e4"/>
                </a:solidFill>
                <a:latin typeface="Arial"/>
              </a:rPr>
              <a:t>Bethesda, Microsoft, Virgin</a:t>
            </a:r>
            <a:endParaRPr b="0" lang="en-US" sz="1500" spc="-1" strike="noStrike">
              <a:solidFill>
                <a:srgbClr val="ffffff"/>
              </a:solidFill>
              <a:latin typeface="Arial"/>
            </a:endParaRPr>
          </a:p>
          <a:p>
            <a:pPr defTabSz="914400">
              <a:lnSpc>
                <a:spcPct val="100000"/>
              </a:lnSpc>
              <a:spcAft>
                <a:spcPts val="601"/>
              </a:spcAft>
            </a:pPr>
            <a:r>
              <a:rPr b="1" lang="en-US" sz="1500" spc="-1" strike="noStrike">
                <a:solidFill>
                  <a:srgbClr val="ff2d2d"/>
                </a:solidFill>
                <a:latin typeface="Arial"/>
              </a:rPr>
              <a:t>▼ </a:t>
            </a:r>
            <a:r>
              <a:rPr b="1" lang="en-US" sz="1500" spc="-1" strike="noStrike">
                <a:solidFill>
                  <a:srgbClr val="ff2d2d"/>
                </a:solidFill>
                <a:latin typeface="Arial"/>
              </a:rPr>
              <a:t>Volume : </a:t>
            </a:r>
            <a:r>
              <a:rPr b="0" lang="en-US" sz="1500" spc="-1" strike="noStrike">
                <a:solidFill>
                  <a:srgbClr val="c4c4e4"/>
                </a:solidFill>
                <a:latin typeface="Arial"/>
              </a:rPr>
              <a:t>THQ, Sega</a:t>
            </a:r>
            <a:endParaRPr b="0" lang="en-US" sz="1500" spc="-1" strike="noStrike">
              <a:solidFill>
                <a:srgbClr val="ffffff"/>
              </a:solidFill>
              <a:latin typeface="Arial"/>
            </a:endParaRPr>
          </a:p>
        </p:txBody>
      </p:sp>
      <p:sp>
        <p:nvSpPr>
          <p:cNvPr id="2141" name="o68"/>
          <p:cNvSpPr/>
          <p:nvPr/>
        </p:nvSpPr>
        <p:spPr>
          <a:xfrm>
            <a:off x="7882200" y="4983480"/>
            <a:ext cx="3474360" cy="427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ffe600"/>
                </a:solidFill>
                <a:latin typeface="Arial"/>
              </a:rPr>
              <a:t>Deux modèles : beaucoup de jeux moyens, ou moins de jeux mais excellents</a:t>
            </a:r>
            <a:endParaRPr b="0" lang="en-US" sz="1400" spc="-1" strike="noStrike">
              <a:solidFill>
                <a:srgbClr val="ffffff"/>
              </a:solidFill>
              <a:latin typeface="Arial"/>
            </a:endParaRPr>
          </a:p>
        </p:txBody>
      </p:sp>
      <p:pic>
        <p:nvPicPr>
          <p:cNvPr id="2142" name="fin_pastille" descr="image-1-13.gif"/>
          <p:cNvPicPr/>
          <p:nvPr/>
        </p:nvPicPr>
        <p:blipFill>
          <a:blip r:embed="rId31"/>
          <a:stretch/>
        </p:blipFill>
        <p:spPr>
          <a:xfrm>
            <a:off x="11448360" y="6355080"/>
            <a:ext cx="182520" cy="182520"/>
          </a:xfrm>
          <a:prstGeom prst="rect">
            <a:avLst/>
          </a:prstGeom>
          <a:ln w="0">
            <a:noFill/>
          </a:ln>
        </p:spPr>
      </p:pic>
      <p:pic>
        <p:nvPicPr>
          <p:cNvPr id="2143" name="barre_fantome" descr="image.gif"/>
          <p:cNvPicPr/>
          <p:nvPr/>
        </p:nvPicPr>
        <p:blipFill>
          <a:blip r:embed="rId32"/>
          <a:stretch/>
        </p:blipFill>
        <p:spPr>
          <a:xfrm>
            <a:off x="8903952" y="6291000"/>
            <a:ext cx="310680" cy="310680"/>
          </a:xfrm>
          <a:prstGeom prst="rect">
            <a:avLst/>
          </a:prstGeom>
          <a:ln w="0">
            <a:noFill/>
          </a:ln>
        </p:spPr>
      </p:pic>
      <p:sp>
        <p:nvSpPr>
          <p:cNvPr id="2145" name="barre_pastille"/>
          <p:cNvSpPr/>
          <p:nvPr/>
        </p:nvSpPr>
        <p:spPr>
          <a:xfrm>
            <a:off x="9829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45"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46"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47"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48"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49"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50"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2144" name="barre_pacman" descr="image.gif"/>
          <p:cNvPicPr/>
          <p:nvPr/>
        </p:nvPicPr>
        <p:blipFill>
          <a:blip r:embed="rId33"/>
          <a:stretch/>
        </p:blipFill>
        <p:spPr>
          <a:xfrm>
            <a:off x="9470952" y="6291000"/>
            <a:ext cx="310680" cy="310680"/>
          </a:xfrm>
          <a:prstGeom prst="rect">
            <a:avLst/>
          </a:prstGeom>
          <a:ln w="0">
            <a:noFill/>
          </a:ln>
        </p:spPr>
      </p:pic>
      <p:sp>
        <p:nvSpPr>
          <p:cNvPr id="2151" name="orateur" descr="Orateur : Mo"/>
          <p:cNvSpPr/>
          <p:nvPr/>
        </p:nvSpPr>
        <p:spPr>
          <a:xfrm>
            <a:off x="11704320" y="6263640"/>
            <a:ext cx="365760" cy="365760"/>
          </a:xfrm>
          <a:prstGeom prst="roundRect">
            <a:avLst>
              <a:gd name="adj" fmla="val 22000"/>
            </a:avLst>
          </a:prstGeom>
          <a:solidFill>
            <a:srgbClr val="000000"/>
          </a:solidFill>
          <a:ln w="19050">
            <a:solidFill>
              <a:srgbClr val="7CFF4F"/>
            </a:solidFill>
          </a:ln>
        </p:spPr>
        <p:txBody>
          <a:bodyPr lIns="0" rIns="0" tIns="0" bIns="0" anchor="ctr">
            <a:noAutofit/>
          </a:bodyPr>
          <a:lstStyle/>
          <a:p>
            <a:pPr algn="ctr"/>
            <a:r>
              <a:rPr lang="fr-FR" sz="1100" b="1">
                <a:solidFill>
                  <a:srgbClr val="7CFF4F"/>
                </a:solidFill>
                <a:latin typeface="Arial"/>
              </a:rPr>
              <a:t>Mo</a:t>
            </a:r>
          </a:p>
        </p:txBody>
      </p:sp>
    </p:spTree>
  </p:cSld>
  <p:transition>
    <p:fade/>
  </p:transition>
  <p:timing>
    <p:tnLst>
      <p:par>
        <p:cTn id="2605" dur="indefinite" restart="never" nodeType="tmRoot">
          <p:childTnLst>
            <p:seq>
              <p:cTn id="2606" dur="indefinite" nodeType="mainSeq">
                <p:childTnLst>
                  <p:par>
                    <p:cTn id="2607" fill="hold">
                      <p:stCondLst>
                        <p:cond delay="0"/>
                      </p:stCondLst>
                      <p:childTnLst>
                        <p:par>
                          <p:cTn id="2608" fill="hold">
                            <p:stCondLst>
                              <p:cond delay="0"/>
                            </p:stCondLst>
                            <p:childTnLst>
                              <p:par>
                                <p:cTn id="2609" nodeType="withEffect" fill="hold" presetClass="path">
                                  <p:stCondLst>
                                    <p:cond delay="0"/>
                                  </p:stCondLst>
                                  <p:childTnLst>
                                    <p:animMotion origin="layout" path="M 0 0 L 0.02252 0 E">
                                      <p:cBhvr>
                                        <p:cTn id="2610" dur="900" fill="hold"/>
                                        <p:tgtEl>
                                          <p:spTgt spid="2143"/>
                                        </p:tgtEl>
                                        <p:attrNameLst>
                                          <p:attrName>ppt_x</p:attrName>
                                          <p:attrName>ppt_y</p:attrName>
                                        </p:attrNameLst>
                                      </p:cBhvr>
                                    </p:animMotion>
                                  </p:childTnLst>
                                </p:cTn>
                              </p:par>
                              <p:par>
                                <p:cTn id="2611" nodeType="withEffect" fill="hold" presetClass="path">
                                  <p:stCondLst>
                                    <p:cond delay="0"/>
                                  </p:stCondLst>
                                  <p:childTnLst>
                                    <p:animMotion origin="layout" path="M 0 0 L 0.02252 0 E">
                                      <p:cBhvr>
                                        <p:cTn id="2612" dur="900" fill="hold"/>
                                        <p:tgtEl>
                                          <p:spTgt spid="2144"/>
                                        </p:tgtEl>
                                        <p:attrNameLst>
                                          <p:attrName>ppt_x</p:attrName>
                                          <p:attrName>ppt_y</p:attrName>
                                        </p:attrNameLst>
                                      </p:cBhvr>
                                    </p:animMotion>
                                  </p:childTnLst>
                                </p:cTn>
                              </p:par>
                              <p:par>
                                <p:cTn id="2613" nodeType="withEffect" fill="hold" presetClass="exit" presetID="1">
                                  <p:stCondLst>
                                    <p:cond delay="208"/>
                                  </p:stCondLst>
                                  <p:childTnLst>
                                    <p:set>
                                      <p:cBhvr>
                                        <p:cTn id="2614" dur="1" fill="hold">
                                          <p:stCondLst>
                                            <p:cond delay="0"/>
                                          </p:stCondLst>
                                        </p:cTn>
                                        <p:tgtEl>
                                          <p:spTgt spid="2145"/>
                                        </p:tgtEl>
                                        <p:attrNameLst>
                                          <p:attrName>style.visibility</p:attrName>
                                        </p:attrNameLst>
                                      </p:cBhvr>
                                      <p:to>
                                        <p:strVal val="hidden"/>
                                      </p:to>
                                    </p:set>
                                  </p:childTnLst>
                                </p:cTn>
                              </p:par>
                              <p:par>
                                <p:cTn id="2615" nodeType="withEffect" fill="hold" presetClass="entr" presetID="10">
                                  <p:stCondLst>
                                    <p:cond delay="100"/>
                                  </p:stCondLst>
                                  <p:childTnLst>
                                    <p:set>
                                      <p:cBhvr>
                                        <p:cTn id="2616" dur="1" fill="hold">
                                          <p:stCondLst>
                                            <p:cond delay="0"/>
                                          </p:stCondLst>
                                        </p:cTn>
                                        <p:tgtEl>
                                          <p:spTgt spid="2077"/>
                                        </p:tgtEl>
                                        <p:attrNameLst>
                                          <p:attrName>style.visibility</p:attrName>
                                        </p:attrNameLst>
                                      </p:cBhvr>
                                      <p:to>
                                        <p:strVal val="visible"/>
                                      </p:to>
                                    </p:set>
                                    <p:animEffect filter="fade" transition="in">
                                      <p:cBhvr additive="repl">
                                        <p:cTn id="2617" dur="400"/>
                                        <p:tgtEl>
                                          <p:spTgt spid="2077"/>
                                        </p:tgtEl>
                                      </p:cBhvr>
                                    </p:animEffect>
                                  </p:childTnLst>
                                </p:cTn>
                              </p:par>
                              <p:par>
                                <p:cTn id="2618" nodeType="withEffect" fill="hold" presetClass="entr" presetID="10">
                                  <p:stCondLst>
                                    <p:cond delay="100"/>
                                  </p:stCondLst>
                                  <p:childTnLst>
                                    <p:set>
                                      <p:cBhvr>
                                        <p:cTn id="2619" dur="1" fill="hold">
                                          <p:stCondLst>
                                            <p:cond delay="0"/>
                                          </p:stCondLst>
                                        </p:cTn>
                                        <p:tgtEl>
                                          <p:spTgt spid="2078"/>
                                        </p:tgtEl>
                                        <p:attrNameLst>
                                          <p:attrName>style.visibility</p:attrName>
                                        </p:attrNameLst>
                                      </p:cBhvr>
                                      <p:to>
                                        <p:strVal val="visible"/>
                                      </p:to>
                                    </p:set>
                                    <p:animEffect filter="fade" transition="in">
                                      <p:cBhvr additive="repl">
                                        <p:cTn id="2620" dur="400"/>
                                        <p:tgtEl>
                                          <p:spTgt spid="2078"/>
                                        </p:tgtEl>
                                      </p:cBhvr>
                                    </p:animEffect>
                                  </p:childTnLst>
                                </p:cTn>
                              </p:par>
                              <p:par>
                                <p:cTn id="2621" nodeType="withEffect" fill="hold" presetClass="entr" presetID="10">
                                  <p:stCondLst>
                                    <p:cond delay="100"/>
                                  </p:stCondLst>
                                  <p:childTnLst>
                                    <p:set>
                                      <p:cBhvr>
                                        <p:cTn id="2622" dur="1" fill="hold">
                                          <p:stCondLst>
                                            <p:cond delay="0"/>
                                          </p:stCondLst>
                                        </p:cTn>
                                        <p:tgtEl>
                                          <p:spTgt spid="2079"/>
                                        </p:tgtEl>
                                        <p:attrNameLst>
                                          <p:attrName>style.visibility</p:attrName>
                                        </p:attrNameLst>
                                      </p:cBhvr>
                                      <p:to>
                                        <p:strVal val="visible"/>
                                      </p:to>
                                    </p:set>
                                    <p:animEffect filter="fade" transition="in">
                                      <p:cBhvr additive="repl">
                                        <p:cTn id="2623" dur="400"/>
                                        <p:tgtEl>
                                          <p:spTgt spid="2079"/>
                                        </p:tgtEl>
                                      </p:cBhvr>
                                    </p:animEffect>
                                  </p:childTnLst>
                                </p:cTn>
                              </p:par>
                              <p:par>
                                <p:cTn id="2624" nodeType="withEffect" fill="hold" presetClass="entr" presetID="10">
                                  <p:stCondLst>
                                    <p:cond delay="150"/>
                                  </p:stCondLst>
                                  <p:childTnLst>
                                    <p:set>
                                      <p:cBhvr>
                                        <p:cTn id="2625" dur="1" fill="hold">
                                          <p:stCondLst>
                                            <p:cond delay="0"/>
                                          </p:stCondLst>
                                        </p:cTn>
                                        <p:tgtEl>
                                          <p:spTgt spid="2080"/>
                                        </p:tgtEl>
                                        <p:attrNameLst>
                                          <p:attrName>style.visibility</p:attrName>
                                        </p:attrNameLst>
                                      </p:cBhvr>
                                      <p:to>
                                        <p:strVal val="visible"/>
                                      </p:to>
                                    </p:set>
                                    <p:animEffect filter="fade" transition="in">
                                      <p:cBhvr additive="repl">
                                        <p:cTn id="2626" dur="400"/>
                                        <p:tgtEl>
                                          <p:spTgt spid="2080"/>
                                        </p:tgtEl>
                                      </p:cBhvr>
                                    </p:animEffect>
                                  </p:childTnLst>
                                </p:cTn>
                              </p:par>
                              <p:par>
                                <p:cTn id="2627" nodeType="withEffect" fill="hold" presetClass="entr" presetID="10">
                                  <p:stCondLst>
                                    <p:cond delay="150"/>
                                  </p:stCondLst>
                                  <p:childTnLst>
                                    <p:set>
                                      <p:cBhvr>
                                        <p:cTn id="2628" dur="1" fill="hold">
                                          <p:stCondLst>
                                            <p:cond delay="0"/>
                                          </p:stCondLst>
                                        </p:cTn>
                                        <p:tgtEl>
                                          <p:spTgt spid="2081"/>
                                        </p:tgtEl>
                                        <p:attrNameLst>
                                          <p:attrName>style.visibility</p:attrName>
                                        </p:attrNameLst>
                                      </p:cBhvr>
                                      <p:to>
                                        <p:strVal val="visible"/>
                                      </p:to>
                                    </p:set>
                                    <p:animEffect filter="fade" transition="in">
                                      <p:cBhvr additive="repl">
                                        <p:cTn id="2629" dur="400"/>
                                        <p:tgtEl>
                                          <p:spTgt spid="2081"/>
                                        </p:tgtEl>
                                      </p:cBhvr>
                                    </p:animEffect>
                                  </p:childTnLst>
                                </p:cTn>
                              </p:par>
                              <p:par>
                                <p:cTn id="2630" nodeType="withEffect" fill="hold" presetClass="entr" presetID="10">
                                  <p:stCondLst>
                                    <p:cond delay="150"/>
                                  </p:stCondLst>
                                  <p:childTnLst>
                                    <p:set>
                                      <p:cBhvr>
                                        <p:cTn id="2631" dur="1" fill="hold">
                                          <p:stCondLst>
                                            <p:cond delay="0"/>
                                          </p:stCondLst>
                                        </p:cTn>
                                        <p:tgtEl>
                                          <p:spTgt spid="2082"/>
                                        </p:tgtEl>
                                        <p:attrNameLst>
                                          <p:attrName>style.visibility</p:attrName>
                                        </p:attrNameLst>
                                      </p:cBhvr>
                                      <p:to>
                                        <p:strVal val="visible"/>
                                      </p:to>
                                    </p:set>
                                    <p:animEffect filter="fade" transition="in">
                                      <p:cBhvr additive="repl">
                                        <p:cTn id="2632" dur="400"/>
                                        <p:tgtEl>
                                          <p:spTgt spid="2082"/>
                                        </p:tgtEl>
                                      </p:cBhvr>
                                    </p:animEffect>
                                  </p:childTnLst>
                                </p:cTn>
                              </p:par>
                              <p:par>
                                <p:cTn id="2633" nodeType="withEffect" fill="hold" presetClass="entr" presetID="10">
                                  <p:stCondLst>
                                    <p:cond delay="150"/>
                                  </p:stCondLst>
                                  <p:childTnLst>
                                    <p:set>
                                      <p:cBhvr>
                                        <p:cTn id="2634" dur="1" fill="hold">
                                          <p:stCondLst>
                                            <p:cond delay="0"/>
                                          </p:stCondLst>
                                        </p:cTn>
                                        <p:tgtEl>
                                          <p:spTgt spid="2083"/>
                                        </p:tgtEl>
                                        <p:attrNameLst>
                                          <p:attrName>style.visibility</p:attrName>
                                        </p:attrNameLst>
                                      </p:cBhvr>
                                      <p:to>
                                        <p:strVal val="visible"/>
                                      </p:to>
                                    </p:set>
                                    <p:animEffect filter="fade" transition="in">
                                      <p:cBhvr additive="repl">
                                        <p:cTn id="2635" dur="400"/>
                                        <p:tgtEl>
                                          <p:spTgt spid="2083"/>
                                        </p:tgtEl>
                                      </p:cBhvr>
                                    </p:animEffect>
                                  </p:childTnLst>
                                </p:cTn>
                              </p:par>
                              <p:par>
                                <p:cTn id="2636" nodeType="withEffect" fill="hold" presetClass="entr" presetID="10">
                                  <p:stCondLst>
                                    <p:cond delay="150"/>
                                  </p:stCondLst>
                                  <p:childTnLst>
                                    <p:set>
                                      <p:cBhvr>
                                        <p:cTn id="2637" dur="1" fill="hold">
                                          <p:stCondLst>
                                            <p:cond delay="0"/>
                                          </p:stCondLst>
                                        </p:cTn>
                                        <p:tgtEl>
                                          <p:spTgt spid="2084"/>
                                        </p:tgtEl>
                                        <p:attrNameLst>
                                          <p:attrName>style.visibility</p:attrName>
                                        </p:attrNameLst>
                                      </p:cBhvr>
                                      <p:to>
                                        <p:strVal val="visible"/>
                                      </p:to>
                                    </p:set>
                                    <p:animEffect filter="fade" transition="in">
                                      <p:cBhvr additive="repl">
                                        <p:cTn id="2638" dur="400"/>
                                        <p:tgtEl>
                                          <p:spTgt spid="2084"/>
                                        </p:tgtEl>
                                      </p:cBhvr>
                                    </p:animEffect>
                                  </p:childTnLst>
                                </p:cTn>
                              </p:par>
                              <p:par>
                                <p:cTn id="2639" nodeType="withEffect" fill="hold" presetClass="entr" presetID="10">
                                  <p:stCondLst>
                                    <p:cond delay="250"/>
                                  </p:stCondLst>
                                  <p:childTnLst>
                                    <p:set>
                                      <p:cBhvr>
                                        <p:cTn id="2640" dur="1" fill="hold">
                                          <p:stCondLst>
                                            <p:cond delay="0"/>
                                          </p:stCondLst>
                                        </p:cTn>
                                        <p:tgtEl>
                                          <p:spTgt spid="2085"/>
                                        </p:tgtEl>
                                        <p:attrNameLst>
                                          <p:attrName>style.visibility</p:attrName>
                                        </p:attrNameLst>
                                      </p:cBhvr>
                                      <p:to>
                                        <p:strVal val="visible"/>
                                      </p:to>
                                    </p:set>
                                    <p:animEffect filter="fade" transition="in">
                                      <p:cBhvr additive="repl">
                                        <p:cTn id="2641" dur="400"/>
                                        <p:tgtEl>
                                          <p:spTgt spid="2085"/>
                                        </p:tgtEl>
                                      </p:cBhvr>
                                    </p:animEffect>
                                  </p:childTnLst>
                                </p:cTn>
                              </p:par>
                              <p:par>
                                <p:cTn id="2642" nodeType="withEffect" fill="hold" presetClass="entr" presetID="10">
                                  <p:stCondLst>
                                    <p:cond delay="250"/>
                                  </p:stCondLst>
                                  <p:childTnLst>
                                    <p:set>
                                      <p:cBhvr>
                                        <p:cTn id="2643" dur="1" fill="hold">
                                          <p:stCondLst>
                                            <p:cond delay="0"/>
                                          </p:stCondLst>
                                        </p:cTn>
                                        <p:tgtEl>
                                          <p:spTgt spid="2086"/>
                                        </p:tgtEl>
                                        <p:attrNameLst>
                                          <p:attrName>style.visibility</p:attrName>
                                        </p:attrNameLst>
                                      </p:cBhvr>
                                      <p:to>
                                        <p:strVal val="visible"/>
                                      </p:to>
                                    </p:set>
                                    <p:animEffect filter="fade" transition="in">
                                      <p:cBhvr additive="repl">
                                        <p:cTn id="2644" dur="400"/>
                                        <p:tgtEl>
                                          <p:spTgt spid="2086"/>
                                        </p:tgtEl>
                                      </p:cBhvr>
                                    </p:animEffect>
                                  </p:childTnLst>
                                </p:cTn>
                              </p:par>
                              <p:par>
                                <p:cTn id="2645" nodeType="withEffect" fill="hold" presetClass="entr" presetID="10">
                                  <p:stCondLst>
                                    <p:cond delay="250"/>
                                  </p:stCondLst>
                                  <p:childTnLst>
                                    <p:set>
                                      <p:cBhvr>
                                        <p:cTn id="2646" dur="1" fill="hold">
                                          <p:stCondLst>
                                            <p:cond delay="0"/>
                                          </p:stCondLst>
                                        </p:cTn>
                                        <p:tgtEl>
                                          <p:spTgt spid="2087"/>
                                        </p:tgtEl>
                                        <p:attrNameLst>
                                          <p:attrName>style.visibility</p:attrName>
                                        </p:attrNameLst>
                                      </p:cBhvr>
                                      <p:to>
                                        <p:strVal val="visible"/>
                                      </p:to>
                                    </p:set>
                                    <p:animEffect filter="fade" transition="in">
                                      <p:cBhvr additive="repl">
                                        <p:cTn id="2647" dur="400"/>
                                        <p:tgtEl>
                                          <p:spTgt spid="2087"/>
                                        </p:tgtEl>
                                      </p:cBhvr>
                                    </p:animEffect>
                                  </p:childTnLst>
                                </p:cTn>
                              </p:par>
                              <p:par>
                                <p:cTn id="2648" nodeType="withEffect" fill="hold" presetClass="entr" presetID="10">
                                  <p:stCondLst>
                                    <p:cond delay="250"/>
                                  </p:stCondLst>
                                  <p:childTnLst>
                                    <p:set>
                                      <p:cBhvr>
                                        <p:cTn id="2649" dur="1" fill="hold">
                                          <p:stCondLst>
                                            <p:cond delay="0"/>
                                          </p:stCondLst>
                                        </p:cTn>
                                        <p:tgtEl>
                                          <p:spTgt spid="2088"/>
                                        </p:tgtEl>
                                        <p:attrNameLst>
                                          <p:attrName>style.visibility</p:attrName>
                                        </p:attrNameLst>
                                      </p:cBhvr>
                                      <p:to>
                                        <p:strVal val="visible"/>
                                      </p:to>
                                    </p:set>
                                    <p:animEffect filter="fade" transition="in">
                                      <p:cBhvr additive="repl">
                                        <p:cTn id="2650" dur="400"/>
                                        <p:tgtEl>
                                          <p:spTgt spid="2088"/>
                                        </p:tgtEl>
                                      </p:cBhvr>
                                    </p:animEffect>
                                  </p:childTnLst>
                                </p:cTn>
                              </p:par>
                              <p:par>
                                <p:cTn id="2651" nodeType="withEffect" fill="hold" presetClass="entr" presetID="10">
                                  <p:stCondLst>
                                    <p:cond delay="250"/>
                                  </p:stCondLst>
                                  <p:childTnLst>
                                    <p:set>
                                      <p:cBhvr>
                                        <p:cTn id="2652" dur="1" fill="hold">
                                          <p:stCondLst>
                                            <p:cond delay="0"/>
                                          </p:stCondLst>
                                        </p:cTn>
                                        <p:tgtEl>
                                          <p:spTgt spid="2089"/>
                                        </p:tgtEl>
                                        <p:attrNameLst>
                                          <p:attrName>style.visibility</p:attrName>
                                        </p:attrNameLst>
                                      </p:cBhvr>
                                      <p:to>
                                        <p:strVal val="visible"/>
                                      </p:to>
                                    </p:set>
                                    <p:animEffect filter="fade" transition="in">
                                      <p:cBhvr additive="repl">
                                        <p:cTn id="2653" dur="400"/>
                                        <p:tgtEl>
                                          <p:spTgt spid="2089"/>
                                        </p:tgtEl>
                                      </p:cBhvr>
                                    </p:animEffect>
                                  </p:childTnLst>
                                </p:cTn>
                              </p:par>
                              <p:par>
                                <p:cTn id="2654" nodeType="withEffect" fill="hold" presetClass="entr" presetID="10">
                                  <p:stCondLst>
                                    <p:cond delay="350"/>
                                  </p:stCondLst>
                                  <p:childTnLst>
                                    <p:set>
                                      <p:cBhvr>
                                        <p:cTn id="2655" dur="1" fill="hold">
                                          <p:stCondLst>
                                            <p:cond delay="0"/>
                                          </p:stCondLst>
                                        </p:cTn>
                                        <p:tgtEl>
                                          <p:spTgt spid="2090"/>
                                        </p:tgtEl>
                                        <p:attrNameLst>
                                          <p:attrName>style.visibility</p:attrName>
                                        </p:attrNameLst>
                                      </p:cBhvr>
                                      <p:to>
                                        <p:strVal val="visible"/>
                                      </p:to>
                                    </p:set>
                                    <p:animEffect filter="fade" transition="in">
                                      <p:cBhvr additive="repl">
                                        <p:cTn id="2656" dur="400"/>
                                        <p:tgtEl>
                                          <p:spTgt spid="2090"/>
                                        </p:tgtEl>
                                      </p:cBhvr>
                                    </p:animEffect>
                                  </p:childTnLst>
                                </p:cTn>
                              </p:par>
                              <p:par>
                                <p:cTn id="2657" nodeType="withEffect" fill="hold" presetClass="entr" presetID="10">
                                  <p:stCondLst>
                                    <p:cond delay="350"/>
                                  </p:stCondLst>
                                  <p:childTnLst>
                                    <p:set>
                                      <p:cBhvr>
                                        <p:cTn id="2658" dur="1" fill="hold">
                                          <p:stCondLst>
                                            <p:cond delay="0"/>
                                          </p:stCondLst>
                                        </p:cTn>
                                        <p:tgtEl>
                                          <p:spTgt spid="2091"/>
                                        </p:tgtEl>
                                        <p:attrNameLst>
                                          <p:attrName>style.visibility</p:attrName>
                                        </p:attrNameLst>
                                      </p:cBhvr>
                                      <p:to>
                                        <p:strVal val="visible"/>
                                      </p:to>
                                    </p:set>
                                    <p:animEffect filter="fade" transition="in">
                                      <p:cBhvr additive="repl">
                                        <p:cTn id="2659" dur="400"/>
                                        <p:tgtEl>
                                          <p:spTgt spid="2091"/>
                                        </p:tgtEl>
                                      </p:cBhvr>
                                    </p:animEffect>
                                  </p:childTnLst>
                                </p:cTn>
                              </p:par>
                              <p:par>
                                <p:cTn id="2660" nodeType="withEffect" fill="hold" presetClass="entr" presetID="10">
                                  <p:stCondLst>
                                    <p:cond delay="350"/>
                                  </p:stCondLst>
                                  <p:childTnLst>
                                    <p:set>
                                      <p:cBhvr>
                                        <p:cTn id="2661" dur="1" fill="hold">
                                          <p:stCondLst>
                                            <p:cond delay="0"/>
                                          </p:stCondLst>
                                        </p:cTn>
                                        <p:tgtEl>
                                          <p:spTgt spid="2092"/>
                                        </p:tgtEl>
                                        <p:attrNameLst>
                                          <p:attrName>style.visibility</p:attrName>
                                        </p:attrNameLst>
                                      </p:cBhvr>
                                      <p:to>
                                        <p:strVal val="visible"/>
                                      </p:to>
                                    </p:set>
                                    <p:animEffect filter="fade" transition="in">
                                      <p:cBhvr additive="repl">
                                        <p:cTn id="2662" dur="400"/>
                                        <p:tgtEl>
                                          <p:spTgt spid="2092"/>
                                        </p:tgtEl>
                                      </p:cBhvr>
                                    </p:animEffect>
                                  </p:childTnLst>
                                </p:cTn>
                              </p:par>
                              <p:par>
                                <p:cTn id="2663" nodeType="withEffect" fill="hold" presetClass="entr" presetID="10">
                                  <p:stCondLst>
                                    <p:cond delay="350"/>
                                  </p:stCondLst>
                                  <p:childTnLst>
                                    <p:set>
                                      <p:cBhvr>
                                        <p:cTn id="2664" dur="1" fill="hold">
                                          <p:stCondLst>
                                            <p:cond delay="0"/>
                                          </p:stCondLst>
                                        </p:cTn>
                                        <p:tgtEl>
                                          <p:spTgt spid="2093"/>
                                        </p:tgtEl>
                                        <p:attrNameLst>
                                          <p:attrName>style.visibility</p:attrName>
                                        </p:attrNameLst>
                                      </p:cBhvr>
                                      <p:to>
                                        <p:strVal val="visible"/>
                                      </p:to>
                                    </p:set>
                                    <p:animEffect filter="fade" transition="in">
                                      <p:cBhvr additive="repl">
                                        <p:cTn id="2665" dur="400"/>
                                        <p:tgtEl>
                                          <p:spTgt spid="2093"/>
                                        </p:tgtEl>
                                      </p:cBhvr>
                                    </p:animEffect>
                                  </p:childTnLst>
                                </p:cTn>
                              </p:par>
                              <p:par>
                                <p:cTn id="2666" nodeType="withEffect" fill="hold" presetClass="entr" presetID="10">
                                  <p:stCondLst>
                                    <p:cond delay="350"/>
                                  </p:stCondLst>
                                  <p:childTnLst>
                                    <p:set>
                                      <p:cBhvr>
                                        <p:cTn id="2667" dur="1" fill="hold">
                                          <p:stCondLst>
                                            <p:cond delay="0"/>
                                          </p:stCondLst>
                                        </p:cTn>
                                        <p:tgtEl>
                                          <p:spTgt spid="2094"/>
                                        </p:tgtEl>
                                        <p:attrNameLst>
                                          <p:attrName>style.visibility</p:attrName>
                                        </p:attrNameLst>
                                      </p:cBhvr>
                                      <p:to>
                                        <p:strVal val="visible"/>
                                      </p:to>
                                    </p:set>
                                    <p:animEffect filter="fade" transition="in">
                                      <p:cBhvr additive="repl">
                                        <p:cTn id="2668" dur="400"/>
                                        <p:tgtEl>
                                          <p:spTgt spid="2094"/>
                                        </p:tgtEl>
                                      </p:cBhvr>
                                    </p:animEffect>
                                  </p:childTnLst>
                                </p:cTn>
                              </p:par>
                              <p:par>
                                <p:cTn id="2669" nodeType="withEffect" fill="hold" presetClass="entr" presetID="10">
                                  <p:stCondLst>
                                    <p:cond delay="450"/>
                                  </p:stCondLst>
                                  <p:childTnLst>
                                    <p:set>
                                      <p:cBhvr>
                                        <p:cTn id="2670" dur="1" fill="hold">
                                          <p:stCondLst>
                                            <p:cond delay="0"/>
                                          </p:stCondLst>
                                        </p:cTn>
                                        <p:tgtEl>
                                          <p:spTgt spid="2095"/>
                                        </p:tgtEl>
                                        <p:attrNameLst>
                                          <p:attrName>style.visibility</p:attrName>
                                        </p:attrNameLst>
                                      </p:cBhvr>
                                      <p:to>
                                        <p:strVal val="visible"/>
                                      </p:to>
                                    </p:set>
                                    <p:animEffect filter="fade" transition="in">
                                      <p:cBhvr additive="repl">
                                        <p:cTn id="2671" dur="400"/>
                                        <p:tgtEl>
                                          <p:spTgt spid="2095"/>
                                        </p:tgtEl>
                                      </p:cBhvr>
                                    </p:animEffect>
                                  </p:childTnLst>
                                </p:cTn>
                              </p:par>
                              <p:par>
                                <p:cTn id="2672" nodeType="withEffect" fill="hold" presetClass="entr" presetID="10">
                                  <p:stCondLst>
                                    <p:cond delay="450"/>
                                  </p:stCondLst>
                                  <p:childTnLst>
                                    <p:set>
                                      <p:cBhvr>
                                        <p:cTn id="2673" dur="1" fill="hold">
                                          <p:stCondLst>
                                            <p:cond delay="0"/>
                                          </p:stCondLst>
                                        </p:cTn>
                                        <p:tgtEl>
                                          <p:spTgt spid="2096"/>
                                        </p:tgtEl>
                                        <p:attrNameLst>
                                          <p:attrName>style.visibility</p:attrName>
                                        </p:attrNameLst>
                                      </p:cBhvr>
                                      <p:to>
                                        <p:strVal val="visible"/>
                                      </p:to>
                                    </p:set>
                                    <p:animEffect filter="fade" transition="in">
                                      <p:cBhvr additive="repl">
                                        <p:cTn id="2674" dur="400"/>
                                        <p:tgtEl>
                                          <p:spTgt spid="2096"/>
                                        </p:tgtEl>
                                      </p:cBhvr>
                                    </p:animEffect>
                                  </p:childTnLst>
                                </p:cTn>
                              </p:par>
                              <p:par>
                                <p:cTn id="2675" nodeType="withEffect" fill="hold" presetClass="entr" presetID="10">
                                  <p:stCondLst>
                                    <p:cond delay="450"/>
                                  </p:stCondLst>
                                  <p:childTnLst>
                                    <p:set>
                                      <p:cBhvr>
                                        <p:cTn id="2676" dur="1" fill="hold">
                                          <p:stCondLst>
                                            <p:cond delay="0"/>
                                          </p:stCondLst>
                                        </p:cTn>
                                        <p:tgtEl>
                                          <p:spTgt spid="2097"/>
                                        </p:tgtEl>
                                        <p:attrNameLst>
                                          <p:attrName>style.visibility</p:attrName>
                                        </p:attrNameLst>
                                      </p:cBhvr>
                                      <p:to>
                                        <p:strVal val="visible"/>
                                      </p:to>
                                    </p:set>
                                    <p:animEffect filter="fade" transition="in">
                                      <p:cBhvr additive="repl">
                                        <p:cTn id="2677" dur="400"/>
                                        <p:tgtEl>
                                          <p:spTgt spid="2097"/>
                                        </p:tgtEl>
                                      </p:cBhvr>
                                    </p:animEffect>
                                  </p:childTnLst>
                                </p:cTn>
                              </p:par>
                              <p:par>
                                <p:cTn id="2678" nodeType="withEffect" fill="hold" presetClass="entr" presetID="10">
                                  <p:stCondLst>
                                    <p:cond delay="450"/>
                                  </p:stCondLst>
                                  <p:childTnLst>
                                    <p:set>
                                      <p:cBhvr>
                                        <p:cTn id="2679" dur="1" fill="hold">
                                          <p:stCondLst>
                                            <p:cond delay="0"/>
                                          </p:stCondLst>
                                        </p:cTn>
                                        <p:tgtEl>
                                          <p:spTgt spid="2098"/>
                                        </p:tgtEl>
                                        <p:attrNameLst>
                                          <p:attrName>style.visibility</p:attrName>
                                        </p:attrNameLst>
                                      </p:cBhvr>
                                      <p:to>
                                        <p:strVal val="visible"/>
                                      </p:to>
                                    </p:set>
                                    <p:animEffect filter="fade" transition="in">
                                      <p:cBhvr additive="repl">
                                        <p:cTn id="2680" dur="400"/>
                                        <p:tgtEl>
                                          <p:spTgt spid="2098"/>
                                        </p:tgtEl>
                                      </p:cBhvr>
                                    </p:animEffect>
                                  </p:childTnLst>
                                </p:cTn>
                              </p:par>
                              <p:par>
                                <p:cTn id="2681" nodeType="withEffect" fill="hold" presetClass="entr" presetID="10">
                                  <p:stCondLst>
                                    <p:cond delay="450"/>
                                  </p:stCondLst>
                                  <p:childTnLst>
                                    <p:set>
                                      <p:cBhvr>
                                        <p:cTn id="2682" dur="1" fill="hold">
                                          <p:stCondLst>
                                            <p:cond delay="0"/>
                                          </p:stCondLst>
                                        </p:cTn>
                                        <p:tgtEl>
                                          <p:spTgt spid="2099"/>
                                        </p:tgtEl>
                                        <p:attrNameLst>
                                          <p:attrName>style.visibility</p:attrName>
                                        </p:attrNameLst>
                                      </p:cBhvr>
                                      <p:to>
                                        <p:strVal val="visible"/>
                                      </p:to>
                                    </p:set>
                                    <p:animEffect filter="fade" transition="in">
                                      <p:cBhvr additive="repl">
                                        <p:cTn id="2683" dur="400"/>
                                        <p:tgtEl>
                                          <p:spTgt spid="2099"/>
                                        </p:tgtEl>
                                      </p:cBhvr>
                                    </p:animEffect>
                                  </p:childTnLst>
                                </p:cTn>
                              </p:par>
                              <p:par>
                                <p:cTn id="2684" nodeType="withEffect" fill="hold" presetClass="entr" presetID="10">
                                  <p:stCondLst>
                                    <p:cond delay="550"/>
                                  </p:stCondLst>
                                  <p:childTnLst>
                                    <p:set>
                                      <p:cBhvr>
                                        <p:cTn id="2685" dur="1" fill="hold">
                                          <p:stCondLst>
                                            <p:cond delay="0"/>
                                          </p:stCondLst>
                                        </p:cTn>
                                        <p:tgtEl>
                                          <p:spTgt spid="2100"/>
                                        </p:tgtEl>
                                        <p:attrNameLst>
                                          <p:attrName>style.visibility</p:attrName>
                                        </p:attrNameLst>
                                      </p:cBhvr>
                                      <p:to>
                                        <p:strVal val="visible"/>
                                      </p:to>
                                    </p:set>
                                    <p:animEffect filter="fade" transition="in">
                                      <p:cBhvr additive="repl">
                                        <p:cTn id="2686" dur="400"/>
                                        <p:tgtEl>
                                          <p:spTgt spid="2100"/>
                                        </p:tgtEl>
                                      </p:cBhvr>
                                    </p:animEffect>
                                  </p:childTnLst>
                                </p:cTn>
                              </p:par>
                              <p:par>
                                <p:cTn id="2687" nodeType="withEffect" fill="hold" presetClass="entr" presetID="10">
                                  <p:stCondLst>
                                    <p:cond delay="550"/>
                                  </p:stCondLst>
                                  <p:childTnLst>
                                    <p:set>
                                      <p:cBhvr>
                                        <p:cTn id="2688" dur="1" fill="hold">
                                          <p:stCondLst>
                                            <p:cond delay="0"/>
                                          </p:stCondLst>
                                        </p:cTn>
                                        <p:tgtEl>
                                          <p:spTgt spid="2101"/>
                                        </p:tgtEl>
                                        <p:attrNameLst>
                                          <p:attrName>style.visibility</p:attrName>
                                        </p:attrNameLst>
                                      </p:cBhvr>
                                      <p:to>
                                        <p:strVal val="visible"/>
                                      </p:to>
                                    </p:set>
                                    <p:animEffect filter="fade" transition="in">
                                      <p:cBhvr additive="repl">
                                        <p:cTn id="2689" dur="400"/>
                                        <p:tgtEl>
                                          <p:spTgt spid="2101"/>
                                        </p:tgtEl>
                                      </p:cBhvr>
                                    </p:animEffect>
                                  </p:childTnLst>
                                </p:cTn>
                              </p:par>
                              <p:par>
                                <p:cTn id="2690" nodeType="withEffect" fill="hold" presetClass="entr" presetID="10">
                                  <p:stCondLst>
                                    <p:cond delay="550"/>
                                  </p:stCondLst>
                                  <p:childTnLst>
                                    <p:set>
                                      <p:cBhvr>
                                        <p:cTn id="2691" dur="1" fill="hold">
                                          <p:stCondLst>
                                            <p:cond delay="0"/>
                                          </p:stCondLst>
                                        </p:cTn>
                                        <p:tgtEl>
                                          <p:spTgt spid="2102"/>
                                        </p:tgtEl>
                                        <p:attrNameLst>
                                          <p:attrName>style.visibility</p:attrName>
                                        </p:attrNameLst>
                                      </p:cBhvr>
                                      <p:to>
                                        <p:strVal val="visible"/>
                                      </p:to>
                                    </p:set>
                                    <p:animEffect filter="fade" transition="in">
                                      <p:cBhvr additive="repl">
                                        <p:cTn id="2692" dur="400"/>
                                        <p:tgtEl>
                                          <p:spTgt spid="2102"/>
                                        </p:tgtEl>
                                      </p:cBhvr>
                                    </p:animEffect>
                                  </p:childTnLst>
                                </p:cTn>
                              </p:par>
                              <p:par>
                                <p:cTn id="2693" nodeType="withEffect" fill="hold" presetClass="entr" presetID="10">
                                  <p:stCondLst>
                                    <p:cond delay="550"/>
                                  </p:stCondLst>
                                  <p:childTnLst>
                                    <p:set>
                                      <p:cBhvr>
                                        <p:cTn id="2694" dur="1" fill="hold">
                                          <p:stCondLst>
                                            <p:cond delay="0"/>
                                          </p:stCondLst>
                                        </p:cTn>
                                        <p:tgtEl>
                                          <p:spTgt spid="2103"/>
                                        </p:tgtEl>
                                        <p:attrNameLst>
                                          <p:attrName>style.visibility</p:attrName>
                                        </p:attrNameLst>
                                      </p:cBhvr>
                                      <p:to>
                                        <p:strVal val="visible"/>
                                      </p:to>
                                    </p:set>
                                    <p:animEffect filter="fade" transition="in">
                                      <p:cBhvr additive="repl">
                                        <p:cTn id="2695" dur="400"/>
                                        <p:tgtEl>
                                          <p:spTgt spid="2103"/>
                                        </p:tgtEl>
                                      </p:cBhvr>
                                    </p:animEffect>
                                  </p:childTnLst>
                                </p:cTn>
                              </p:par>
                              <p:par>
                                <p:cTn id="2696" nodeType="withEffect" fill="hold" presetClass="entr" presetID="10">
                                  <p:stCondLst>
                                    <p:cond delay="550"/>
                                  </p:stCondLst>
                                  <p:childTnLst>
                                    <p:set>
                                      <p:cBhvr>
                                        <p:cTn id="2697" dur="1" fill="hold">
                                          <p:stCondLst>
                                            <p:cond delay="0"/>
                                          </p:stCondLst>
                                        </p:cTn>
                                        <p:tgtEl>
                                          <p:spTgt spid="2104"/>
                                        </p:tgtEl>
                                        <p:attrNameLst>
                                          <p:attrName>style.visibility</p:attrName>
                                        </p:attrNameLst>
                                      </p:cBhvr>
                                      <p:to>
                                        <p:strVal val="visible"/>
                                      </p:to>
                                    </p:set>
                                    <p:animEffect filter="fade" transition="in">
                                      <p:cBhvr additive="repl">
                                        <p:cTn id="2698" dur="400"/>
                                        <p:tgtEl>
                                          <p:spTgt spid="2104"/>
                                        </p:tgtEl>
                                      </p:cBhvr>
                                    </p:animEffect>
                                  </p:childTnLst>
                                </p:cTn>
                              </p:par>
                              <p:par>
                                <p:cTn id="2699" nodeType="withEffect" fill="hold" presetClass="entr" presetID="10">
                                  <p:stCondLst>
                                    <p:cond delay="650"/>
                                  </p:stCondLst>
                                  <p:childTnLst>
                                    <p:set>
                                      <p:cBhvr>
                                        <p:cTn id="2700" dur="1" fill="hold">
                                          <p:stCondLst>
                                            <p:cond delay="0"/>
                                          </p:stCondLst>
                                        </p:cTn>
                                        <p:tgtEl>
                                          <p:spTgt spid="2105"/>
                                        </p:tgtEl>
                                        <p:attrNameLst>
                                          <p:attrName>style.visibility</p:attrName>
                                        </p:attrNameLst>
                                      </p:cBhvr>
                                      <p:to>
                                        <p:strVal val="visible"/>
                                      </p:to>
                                    </p:set>
                                    <p:animEffect filter="fade" transition="in">
                                      <p:cBhvr additive="repl">
                                        <p:cTn id="2701" dur="400"/>
                                        <p:tgtEl>
                                          <p:spTgt spid="2105"/>
                                        </p:tgtEl>
                                      </p:cBhvr>
                                    </p:animEffect>
                                  </p:childTnLst>
                                </p:cTn>
                              </p:par>
                              <p:par>
                                <p:cTn id="2702" nodeType="withEffect" fill="hold" presetClass="entr" presetID="10">
                                  <p:stCondLst>
                                    <p:cond delay="650"/>
                                  </p:stCondLst>
                                  <p:childTnLst>
                                    <p:set>
                                      <p:cBhvr>
                                        <p:cTn id="2703" dur="1" fill="hold">
                                          <p:stCondLst>
                                            <p:cond delay="0"/>
                                          </p:stCondLst>
                                        </p:cTn>
                                        <p:tgtEl>
                                          <p:spTgt spid="2106"/>
                                        </p:tgtEl>
                                        <p:attrNameLst>
                                          <p:attrName>style.visibility</p:attrName>
                                        </p:attrNameLst>
                                      </p:cBhvr>
                                      <p:to>
                                        <p:strVal val="visible"/>
                                      </p:to>
                                    </p:set>
                                    <p:animEffect filter="fade" transition="in">
                                      <p:cBhvr additive="repl">
                                        <p:cTn id="2704" dur="400"/>
                                        <p:tgtEl>
                                          <p:spTgt spid="2106"/>
                                        </p:tgtEl>
                                      </p:cBhvr>
                                    </p:animEffect>
                                  </p:childTnLst>
                                </p:cTn>
                              </p:par>
                              <p:par>
                                <p:cTn id="2705" nodeType="withEffect" fill="hold" presetClass="entr" presetID="10">
                                  <p:stCondLst>
                                    <p:cond delay="650"/>
                                  </p:stCondLst>
                                  <p:childTnLst>
                                    <p:set>
                                      <p:cBhvr>
                                        <p:cTn id="2706" dur="1" fill="hold">
                                          <p:stCondLst>
                                            <p:cond delay="0"/>
                                          </p:stCondLst>
                                        </p:cTn>
                                        <p:tgtEl>
                                          <p:spTgt spid="2107"/>
                                        </p:tgtEl>
                                        <p:attrNameLst>
                                          <p:attrName>style.visibility</p:attrName>
                                        </p:attrNameLst>
                                      </p:cBhvr>
                                      <p:to>
                                        <p:strVal val="visible"/>
                                      </p:to>
                                    </p:set>
                                    <p:animEffect filter="fade" transition="in">
                                      <p:cBhvr additive="repl">
                                        <p:cTn id="2707" dur="400"/>
                                        <p:tgtEl>
                                          <p:spTgt spid="2107"/>
                                        </p:tgtEl>
                                      </p:cBhvr>
                                    </p:animEffect>
                                  </p:childTnLst>
                                </p:cTn>
                              </p:par>
                              <p:par>
                                <p:cTn id="2708" nodeType="withEffect" fill="hold" presetClass="entr" presetID="10">
                                  <p:stCondLst>
                                    <p:cond delay="650"/>
                                  </p:stCondLst>
                                  <p:childTnLst>
                                    <p:set>
                                      <p:cBhvr>
                                        <p:cTn id="2709" dur="1" fill="hold">
                                          <p:stCondLst>
                                            <p:cond delay="0"/>
                                          </p:stCondLst>
                                        </p:cTn>
                                        <p:tgtEl>
                                          <p:spTgt spid="2108"/>
                                        </p:tgtEl>
                                        <p:attrNameLst>
                                          <p:attrName>style.visibility</p:attrName>
                                        </p:attrNameLst>
                                      </p:cBhvr>
                                      <p:to>
                                        <p:strVal val="visible"/>
                                      </p:to>
                                    </p:set>
                                    <p:animEffect filter="fade" transition="in">
                                      <p:cBhvr additive="repl">
                                        <p:cTn id="2710" dur="400"/>
                                        <p:tgtEl>
                                          <p:spTgt spid="2108"/>
                                        </p:tgtEl>
                                      </p:cBhvr>
                                    </p:animEffect>
                                  </p:childTnLst>
                                </p:cTn>
                              </p:par>
                              <p:par>
                                <p:cTn id="2711" nodeType="withEffect" fill="hold" presetClass="entr" presetID="10">
                                  <p:stCondLst>
                                    <p:cond delay="650"/>
                                  </p:stCondLst>
                                  <p:childTnLst>
                                    <p:set>
                                      <p:cBhvr>
                                        <p:cTn id="2712" dur="1" fill="hold">
                                          <p:stCondLst>
                                            <p:cond delay="0"/>
                                          </p:stCondLst>
                                        </p:cTn>
                                        <p:tgtEl>
                                          <p:spTgt spid="2109"/>
                                        </p:tgtEl>
                                        <p:attrNameLst>
                                          <p:attrName>style.visibility</p:attrName>
                                        </p:attrNameLst>
                                      </p:cBhvr>
                                      <p:to>
                                        <p:strVal val="visible"/>
                                      </p:to>
                                    </p:set>
                                    <p:animEffect filter="fade" transition="in">
                                      <p:cBhvr additive="repl">
                                        <p:cTn id="2713" dur="400"/>
                                        <p:tgtEl>
                                          <p:spTgt spid="2109"/>
                                        </p:tgtEl>
                                      </p:cBhvr>
                                    </p:animEffect>
                                  </p:childTnLst>
                                </p:cTn>
                              </p:par>
                              <p:par>
                                <p:cTn id="2714" nodeType="withEffect" fill="hold" presetClass="entr" presetID="10">
                                  <p:stCondLst>
                                    <p:cond delay="750"/>
                                  </p:stCondLst>
                                  <p:childTnLst>
                                    <p:set>
                                      <p:cBhvr>
                                        <p:cTn id="2715" dur="1" fill="hold">
                                          <p:stCondLst>
                                            <p:cond delay="0"/>
                                          </p:stCondLst>
                                        </p:cTn>
                                        <p:tgtEl>
                                          <p:spTgt spid="2110"/>
                                        </p:tgtEl>
                                        <p:attrNameLst>
                                          <p:attrName>style.visibility</p:attrName>
                                        </p:attrNameLst>
                                      </p:cBhvr>
                                      <p:to>
                                        <p:strVal val="visible"/>
                                      </p:to>
                                    </p:set>
                                    <p:animEffect filter="fade" transition="in">
                                      <p:cBhvr additive="repl">
                                        <p:cTn id="2716" dur="400"/>
                                        <p:tgtEl>
                                          <p:spTgt spid="2110"/>
                                        </p:tgtEl>
                                      </p:cBhvr>
                                    </p:animEffect>
                                  </p:childTnLst>
                                </p:cTn>
                              </p:par>
                              <p:par>
                                <p:cTn id="2717" nodeType="withEffect" fill="hold" presetClass="entr" presetID="10">
                                  <p:stCondLst>
                                    <p:cond delay="750"/>
                                  </p:stCondLst>
                                  <p:childTnLst>
                                    <p:set>
                                      <p:cBhvr>
                                        <p:cTn id="2718" dur="1" fill="hold">
                                          <p:stCondLst>
                                            <p:cond delay="0"/>
                                          </p:stCondLst>
                                        </p:cTn>
                                        <p:tgtEl>
                                          <p:spTgt spid="2111"/>
                                        </p:tgtEl>
                                        <p:attrNameLst>
                                          <p:attrName>style.visibility</p:attrName>
                                        </p:attrNameLst>
                                      </p:cBhvr>
                                      <p:to>
                                        <p:strVal val="visible"/>
                                      </p:to>
                                    </p:set>
                                    <p:animEffect filter="fade" transition="in">
                                      <p:cBhvr additive="repl">
                                        <p:cTn id="2719" dur="400"/>
                                        <p:tgtEl>
                                          <p:spTgt spid="2111"/>
                                        </p:tgtEl>
                                      </p:cBhvr>
                                    </p:animEffect>
                                  </p:childTnLst>
                                </p:cTn>
                              </p:par>
                              <p:par>
                                <p:cTn id="2720" nodeType="withEffect" fill="hold" presetClass="entr" presetID="10">
                                  <p:stCondLst>
                                    <p:cond delay="750"/>
                                  </p:stCondLst>
                                  <p:childTnLst>
                                    <p:set>
                                      <p:cBhvr>
                                        <p:cTn id="2721" dur="1" fill="hold">
                                          <p:stCondLst>
                                            <p:cond delay="0"/>
                                          </p:stCondLst>
                                        </p:cTn>
                                        <p:tgtEl>
                                          <p:spTgt spid="2112"/>
                                        </p:tgtEl>
                                        <p:attrNameLst>
                                          <p:attrName>style.visibility</p:attrName>
                                        </p:attrNameLst>
                                      </p:cBhvr>
                                      <p:to>
                                        <p:strVal val="visible"/>
                                      </p:to>
                                    </p:set>
                                    <p:animEffect filter="fade" transition="in">
                                      <p:cBhvr additive="repl">
                                        <p:cTn id="2722" dur="400"/>
                                        <p:tgtEl>
                                          <p:spTgt spid="2112"/>
                                        </p:tgtEl>
                                      </p:cBhvr>
                                    </p:animEffect>
                                  </p:childTnLst>
                                </p:cTn>
                              </p:par>
                              <p:par>
                                <p:cTn id="2723" nodeType="withEffect" fill="hold" presetClass="entr" presetID="10">
                                  <p:stCondLst>
                                    <p:cond delay="750"/>
                                  </p:stCondLst>
                                  <p:childTnLst>
                                    <p:set>
                                      <p:cBhvr>
                                        <p:cTn id="2724" dur="1" fill="hold">
                                          <p:stCondLst>
                                            <p:cond delay="0"/>
                                          </p:stCondLst>
                                        </p:cTn>
                                        <p:tgtEl>
                                          <p:spTgt spid="2113"/>
                                        </p:tgtEl>
                                        <p:attrNameLst>
                                          <p:attrName>style.visibility</p:attrName>
                                        </p:attrNameLst>
                                      </p:cBhvr>
                                      <p:to>
                                        <p:strVal val="visible"/>
                                      </p:to>
                                    </p:set>
                                    <p:animEffect filter="fade" transition="in">
                                      <p:cBhvr additive="repl">
                                        <p:cTn id="2725" dur="400"/>
                                        <p:tgtEl>
                                          <p:spTgt spid="2113"/>
                                        </p:tgtEl>
                                      </p:cBhvr>
                                    </p:animEffect>
                                  </p:childTnLst>
                                </p:cTn>
                              </p:par>
                              <p:par>
                                <p:cTn id="2726" nodeType="withEffect" fill="hold" presetClass="entr" presetID="10">
                                  <p:stCondLst>
                                    <p:cond delay="750"/>
                                  </p:stCondLst>
                                  <p:childTnLst>
                                    <p:set>
                                      <p:cBhvr>
                                        <p:cTn id="2727" dur="1" fill="hold">
                                          <p:stCondLst>
                                            <p:cond delay="0"/>
                                          </p:stCondLst>
                                        </p:cTn>
                                        <p:tgtEl>
                                          <p:spTgt spid="2114"/>
                                        </p:tgtEl>
                                        <p:attrNameLst>
                                          <p:attrName>style.visibility</p:attrName>
                                        </p:attrNameLst>
                                      </p:cBhvr>
                                      <p:to>
                                        <p:strVal val="visible"/>
                                      </p:to>
                                    </p:set>
                                    <p:animEffect filter="fade" transition="in">
                                      <p:cBhvr additive="repl">
                                        <p:cTn id="2728" dur="400"/>
                                        <p:tgtEl>
                                          <p:spTgt spid="2114"/>
                                        </p:tgtEl>
                                      </p:cBhvr>
                                    </p:animEffect>
                                  </p:childTnLst>
                                </p:cTn>
                              </p:par>
                              <p:par>
                                <p:cTn id="2729" nodeType="withEffect" fill="hold" presetClass="entr" presetID="10">
                                  <p:stCondLst>
                                    <p:cond delay="850"/>
                                  </p:stCondLst>
                                  <p:childTnLst>
                                    <p:set>
                                      <p:cBhvr>
                                        <p:cTn id="2730" dur="1" fill="hold">
                                          <p:stCondLst>
                                            <p:cond delay="0"/>
                                          </p:stCondLst>
                                        </p:cTn>
                                        <p:tgtEl>
                                          <p:spTgt spid="2115"/>
                                        </p:tgtEl>
                                        <p:attrNameLst>
                                          <p:attrName>style.visibility</p:attrName>
                                        </p:attrNameLst>
                                      </p:cBhvr>
                                      <p:to>
                                        <p:strVal val="visible"/>
                                      </p:to>
                                    </p:set>
                                    <p:animEffect filter="fade" transition="in">
                                      <p:cBhvr additive="repl">
                                        <p:cTn id="2731" dur="400"/>
                                        <p:tgtEl>
                                          <p:spTgt spid="2115"/>
                                        </p:tgtEl>
                                      </p:cBhvr>
                                    </p:animEffect>
                                  </p:childTnLst>
                                </p:cTn>
                              </p:par>
                              <p:par>
                                <p:cTn id="2732" nodeType="withEffect" fill="hold" presetClass="entr" presetID="10">
                                  <p:stCondLst>
                                    <p:cond delay="850"/>
                                  </p:stCondLst>
                                  <p:childTnLst>
                                    <p:set>
                                      <p:cBhvr>
                                        <p:cTn id="2733" dur="1" fill="hold">
                                          <p:stCondLst>
                                            <p:cond delay="0"/>
                                          </p:stCondLst>
                                        </p:cTn>
                                        <p:tgtEl>
                                          <p:spTgt spid="2116"/>
                                        </p:tgtEl>
                                        <p:attrNameLst>
                                          <p:attrName>style.visibility</p:attrName>
                                        </p:attrNameLst>
                                      </p:cBhvr>
                                      <p:to>
                                        <p:strVal val="visible"/>
                                      </p:to>
                                    </p:set>
                                    <p:animEffect filter="fade" transition="in">
                                      <p:cBhvr additive="repl">
                                        <p:cTn id="2734" dur="400"/>
                                        <p:tgtEl>
                                          <p:spTgt spid="2116"/>
                                        </p:tgtEl>
                                      </p:cBhvr>
                                    </p:animEffect>
                                  </p:childTnLst>
                                </p:cTn>
                              </p:par>
                              <p:par>
                                <p:cTn id="2735" nodeType="withEffect" fill="hold" presetClass="entr" presetID="10">
                                  <p:stCondLst>
                                    <p:cond delay="850"/>
                                  </p:stCondLst>
                                  <p:childTnLst>
                                    <p:set>
                                      <p:cBhvr>
                                        <p:cTn id="2736" dur="1" fill="hold">
                                          <p:stCondLst>
                                            <p:cond delay="0"/>
                                          </p:stCondLst>
                                        </p:cTn>
                                        <p:tgtEl>
                                          <p:spTgt spid="2117"/>
                                        </p:tgtEl>
                                        <p:attrNameLst>
                                          <p:attrName>style.visibility</p:attrName>
                                        </p:attrNameLst>
                                      </p:cBhvr>
                                      <p:to>
                                        <p:strVal val="visible"/>
                                      </p:to>
                                    </p:set>
                                    <p:animEffect filter="fade" transition="in">
                                      <p:cBhvr additive="repl">
                                        <p:cTn id="2737" dur="400"/>
                                        <p:tgtEl>
                                          <p:spTgt spid="2117"/>
                                        </p:tgtEl>
                                      </p:cBhvr>
                                    </p:animEffect>
                                  </p:childTnLst>
                                </p:cTn>
                              </p:par>
                              <p:par>
                                <p:cTn id="2738" nodeType="withEffect" fill="hold" presetClass="entr" presetID="10">
                                  <p:stCondLst>
                                    <p:cond delay="850"/>
                                  </p:stCondLst>
                                  <p:childTnLst>
                                    <p:set>
                                      <p:cBhvr>
                                        <p:cTn id="2739" dur="1" fill="hold">
                                          <p:stCondLst>
                                            <p:cond delay="0"/>
                                          </p:stCondLst>
                                        </p:cTn>
                                        <p:tgtEl>
                                          <p:spTgt spid="2118"/>
                                        </p:tgtEl>
                                        <p:attrNameLst>
                                          <p:attrName>style.visibility</p:attrName>
                                        </p:attrNameLst>
                                      </p:cBhvr>
                                      <p:to>
                                        <p:strVal val="visible"/>
                                      </p:to>
                                    </p:set>
                                    <p:animEffect filter="fade" transition="in">
                                      <p:cBhvr additive="repl">
                                        <p:cTn id="2740" dur="400"/>
                                        <p:tgtEl>
                                          <p:spTgt spid="2118"/>
                                        </p:tgtEl>
                                      </p:cBhvr>
                                    </p:animEffect>
                                  </p:childTnLst>
                                </p:cTn>
                              </p:par>
                              <p:par>
                                <p:cTn id="2741" nodeType="withEffect" fill="hold" presetClass="entr" presetID="10">
                                  <p:stCondLst>
                                    <p:cond delay="850"/>
                                  </p:stCondLst>
                                  <p:childTnLst>
                                    <p:set>
                                      <p:cBhvr>
                                        <p:cTn id="2742" dur="1" fill="hold">
                                          <p:stCondLst>
                                            <p:cond delay="0"/>
                                          </p:stCondLst>
                                        </p:cTn>
                                        <p:tgtEl>
                                          <p:spTgt spid="2119"/>
                                        </p:tgtEl>
                                        <p:attrNameLst>
                                          <p:attrName>style.visibility</p:attrName>
                                        </p:attrNameLst>
                                      </p:cBhvr>
                                      <p:to>
                                        <p:strVal val="visible"/>
                                      </p:to>
                                    </p:set>
                                    <p:animEffect filter="fade" transition="in">
                                      <p:cBhvr additive="repl">
                                        <p:cTn id="2743" dur="400"/>
                                        <p:tgtEl>
                                          <p:spTgt spid="2119"/>
                                        </p:tgtEl>
                                      </p:cBhvr>
                                    </p:animEffect>
                                  </p:childTnLst>
                                </p:cTn>
                              </p:par>
                              <p:par>
                                <p:cTn id="2744" nodeType="withEffect" fill="hold" presetClass="entr" presetID="10">
                                  <p:stCondLst>
                                    <p:cond delay="950"/>
                                  </p:stCondLst>
                                  <p:childTnLst>
                                    <p:set>
                                      <p:cBhvr>
                                        <p:cTn id="2745" dur="1" fill="hold">
                                          <p:stCondLst>
                                            <p:cond delay="0"/>
                                          </p:stCondLst>
                                        </p:cTn>
                                        <p:tgtEl>
                                          <p:spTgt spid="2120"/>
                                        </p:tgtEl>
                                        <p:attrNameLst>
                                          <p:attrName>style.visibility</p:attrName>
                                        </p:attrNameLst>
                                      </p:cBhvr>
                                      <p:to>
                                        <p:strVal val="visible"/>
                                      </p:to>
                                    </p:set>
                                    <p:animEffect filter="fade" transition="in">
                                      <p:cBhvr additive="repl">
                                        <p:cTn id="2746" dur="400"/>
                                        <p:tgtEl>
                                          <p:spTgt spid="2120"/>
                                        </p:tgtEl>
                                      </p:cBhvr>
                                    </p:animEffect>
                                  </p:childTnLst>
                                </p:cTn>
                              </p:par>
                              <p:par>
                                <p:cTn id="2747" nodeType="withEffect" fill="hold" presetClass="entr" presetID="10">
                                  <p:stCondLst>
                                    <p:cond delay="950"/>
                                  </p:stCondLst>
                                  <p:childTnLst>
                                    <p:set>
                                      <p:cBhvr>
                                        <p:cTn id="2748" dur="1" fill="hold">
                                          <p:stCondLst>
                                            <p:cond delay="0"/>
                                          </p:stCondLst>
                                        </p:cTn>
                                        <p:tgtEl>
                                          <p:spTgt spid="2121"/>
                                        </p:tgtEl>
                                        <p:attrNameLst>
                                          <p:attrName>style.visibility</p:attrName>
                                        </p:attrNameLst>
                                      </p:cBhvr>
                                      <p:to>
                                        <p:strVal val="visible"/>
                                      </p:to>
                                    </p:set>
                                    <p:animEffect filter="fade" transition="in">
                                      <p:cBhvr additive="repl">
                                        <p:cTn id="2749" dur="400"/>
                                        <p:tgtEl>
                                          <p:spTgt spid="2121"/>
                                        </p:tgtEl>
                                      </p:cBhvr>
                                    </p:animEffect>
                                  </p:childTnLst>
                                </p:cTn>
                              </p:par>
                              <p:par>
                                <p:cTn id="2750" nodeType="withEffect" fill="hold" presetClass="entr" presetID="10">
                                  <p:stCondLst>
                                    <p:cond delay="950"/>
                                  </p:stCondLst>
                                  <p:childTnLst>
                                    <p:set>
                                      <p:cBhvr>
                                        <p:cTn id="2751" dur="1" fill="hold">
                                          <p:stCondLst>
                                            <p:cond delay="0"/>
                                          </p:stCondLst>
                                        </p:cTn>
                                        <p:tgtEl>
                                          <p:spTgt spid="2122"/>
                                        </p:tgtEl>
                                        <p:attrNameLst>
                                          <p:attrName>style.visibility</p:attrName>
                                        </p:attrNameLst>
                                      </p:cBhvr>
                                      <p:to>
                                        <p:strVal val="visible"/>
                                      </p:to>
                                    </p:set>
                                    <p:animEffect filter="fade" transition="in">
                                      <p:cBhvr additive="repl">
                                        <p:cTn id="2752" dur="400"/>
                                        <p:tgtEl>
                                          <p:spTgt spid="2122"/>
                                        </p:tgtEl>
                                      </p:cBhvr>
                                    </p:animEffect>
                                  </p:childTnLst>
                                </p:cTn>
                              </p:par>
                              <p:par>
                                <p:cTn id="2753" nodeType="withEffect" fill="hold" presetClass="entr" presetID="10">
                                  <p:stCondLst>
                                    <p:cond delay="950"/>
                                  </p:stCondLst>
                                  <p:childTnLst>
                                    <p:set>
                                      <p:cBhvr>
                                        <p:cTn id="2754" dur="1" fill="hold">
                                          <p:stCondLst>
                                            <p:cond delay="0"/>
                                          </p:stCondLst>
                                        </p:cTn>
                                        <p:tgtEl>
                                          <p:spTgt spid="2123"/>
                                        </p:tgtEl>
                                        <p:attrNameLst>
                                          <p:attrName>style.visibility</p:attrName>
                                        </p:attrNameLst>
                                      </p:cBhvr>
                                      <p:to>
                                        <p:strVal val="visible"/>
                                      </p:to>
                                    </p:set>
                                    <p:animEffect filter="fade" transition="in">
                                      <p:cBhvr additive="repl">
                                        <p:cTn id="2755" dur="400"/>
                                        <p:tgtEl>
                                          <p:spTgt spid="2123"/>
                                        </p:tgtEl>
                                      </p:cBhvr>
                                    </p:animEffect>
                                  </p:childTnLst>
                                </p:cTn>
                              </p:par>
                              <p:par>
                                <p:cTn id="2756" nodeType="withEffect" fill="hold" presetClass="entr" presetID="10">
                                  <p:stCondLst>
                                    <p:cond delay="950"/>
                                  </p:stCondLst>
                                  <p:childTnLst>
                                    <p:set>
                                      <p:cBhvr>
                                        <p:cTn id="2757" dur="1" fill="hold">
                                          <p:stCondLst>
                                            <p:cond delay="0"/>
                                          </p:stCondLst>
                                        </p:cTn>
                                        <p:tgtEl>
                                          <p:spTgt spid="2124"/>
                                        </p:tgtEl>
                                        <p:attrNameLst>
                                          <p:attrName>style.visibility</p:attrName>
                                        </p:attrNameLst>
                                      </p:cBhvr>
                                      <p:to>
                                        <p:strVal val="visible"/>
                                      </p:to>
                                    </p:set>
                                    <p:animEffect filter="fade" transition="in">
                                      <p:cBhvr additive="repl">
                                        <p:cTn id="2758" dur="400"/>
                                        <p:tgtEl>
                                          <p:spTgt spid="2124"/>
                                        </p:tgtEl>
                                      </p:cBhvr>
                                    </p:animEffect>
                                  </p:childTnLst>
                                </p:cTn>
                              </p:par>
                              <p:par>
                                <p:cTn id="2759" nodeType="withEffect" fill="hold" presetClass="entr" presetID="10">
                                  <p:stCondLst>
                                    <p:cond delay="1050"/>
                                  </p:stCondLst>
                                  <p:childTnLst>
                                    <p:set>
                                      <p:cBhvr>
                                        <p:cTn id="2760" dur="1" fill="hold">
                                          <p:stCondLst>
                                            <p:cond delay="0"/>
                                          </p:stCondLst>
                                        </p:cTn>
                                        <p:tgtEl>
                                          <p:spTgt spid="2125"/>
                                        </p:tgtEl>
                                        <p:attrNameLst>
                                          <p:attrName>style.visibility</p:attrName>
                                        </p:attrNameLst>
                                      </p:cBhvr>
                                      <p:to>
                                        <p:strVal val="visible"/>
                                      </p:to>
                                    </p:set>
                                    <p:animEffect filter="fade" transition="in">
                                      <p:cBhvr additive="repl">
                                        <p:cTn id="2761" dur="400"/>
                                        <p:tgtEl>
                                          <p:spTgt spid="2125"/>
                                        </p:tgtEl>
                                      </p:cBhvr>
                                    </p:animEffect>
                                  </p:childTnLst>
                                </p:cTn>
                              </p:par>
                              <p:par>
                                <p:cTn id="2762" nodeType="withEffect" fill="hold" presetClass="entr" presetID="10">
                                  <p:stCondLst>
                                    <p:cond delay="1050"/>
                                  </p:stCondLst>
                                  <p:childTnLst>
                                    <p:set>
                                      <p:cBhvr>
                                        <p:cTn id="2763" dur="1" fill="hold">
                                          <p:stCondLst>
                                            <p:cond delay="0"/>
                                          </p:stCondLst>
                                        </p:cTn>
                                        <p:tgtEl>
                                          <p:spTgt spid="2126"/>
                                        </p:tgtEl>
                                        <p:attrNameLst>
                                          <p:attrName>style.visibility</p:attrName>
                                        </p:attrNameLst>
                                      </p:cBhvr>
                                      <p:to>
                                        <p:strVal val="visible"/>
                                      </p:to>
                                    </p:set>
                                    <p:animEffect filter="fade" transition="in">
                                      <p:cBhvr additive="repl">
                                        <p:cTn id="2764" dur="400"/>
                                        <p:tgtEl>
                                          <p:spTgt spid="2126"/>
                                        </p:tgtEl>
                                      </p:cBhvr>
                                    </p:animEffect>
                                  </p:childTnLst>
                                </p:cTn>
                              </p:par>
                              <p:par>
                                <p:cTn id="2765" nodeType="withEffect" fill="hold" presetClass="entr" presetID="10">
                                  <p:stCondLst>
                                    <p:cond delay="1050"/>
                                  </p:stCondLst>
                                  <p:childTnLst>
                                    <p:set>
                                      <p:cBhvr>
                                        <p:cTn id="2766" dur="1" fill="hold">
                                          <p:stCondLst>
                                            <p:cond delay="0"/>
                                          </p:stCondLst>
                                        </p:cTn>
                                        <p:tgtEl>
                                          <p:spTgt spid="2127"/>
                                        </p:tgtEl>
                                        <p:attrNameLst>
                                          <p:attrName>style.visibility</p:attrName>
                                        </p:attrNameLst>
                                      </p:cBhvr>
                                      <p:to>
                                        <p:strVal val="visible"/>
                                      </p:to>
                                    </p:set>
                                    <p:animEffect filter="fade" transition="in">
                                      <p:cBhvr additive="repl">
                                        <p:cTn id="2767" dur="400"/>
                                        <p:tgtEl>
                                          <p:spTgt spid="2127"/>
                                        </p:tgtEl>
                                      </p:cBhvr>
                                    </p:animEffect>
                                  </p:childTnLst>
                                </p:cTn>
                              </p:par>
                              <p:par>
                                <p:cTn id="2768" nodeType="withEffect" fill="hold" presetClass="entr" presetID="10">
                                  <p:stCondLst>
                                    <p:cond delay="1050"/>
                                  </p:stCondLst>
                                  <p:childTnLst>
                                    <p:set>
                                      <p:cBhvr>
                                        <p:cTn id="2769" dur="1" fill="hold">
                                          <p:stCondLst>
                                            <p:cond delay="0"/>
                                          </p:stCondLst>
                                        </p:cTn>
                                        <p:tgtEl>
                                          <p:spTgt spid="2128"/>
                                        </p:tgtEl>
                                        <p:attrNameLst>
                                          <p:attrName>style.visibility</p:attrName>
                                        </p:attrNameLst>
                                      </p:cBhvr>
                                      <p:to>
                                        <p:strVal val="visible"/>
                                      </p:to>
                                    </p:set>
                                    <p:animEffect filter="fade" transition="in">
                                      <p:cBhvr additive="repl">
                                        <p:cTn id="2770" dur="400"/>
                                        <p:tgtEl>
                                          <p:spTgt spid="2128"/>
                                        </p:tgtEl>
                                      </p:cBhvr>
                                    </p:animEffect>
                                  </p:childTnLst>
                                </p:cTn>
                              </p:par>
                              <p:par>
                                <p:cTn id="2771" nodeType="withEffect" fill="hold" presetClass="entr" presetID="10">
                                  <p:stCondLst>
                                    <p:cond delay="1050"/>
                                  </p:stCondLst>
                                  <p:childTnLst>
                                    <p:set>
                                      <p:cBhvr>
                                        <p:cTn id="2772" dur="1" fill="hold">
                                          <p:stCondLst>
                                            <p:cond delay="0"/>
                                          </p:stCondLst>
                                        </p:cTn>
                                        <p:tgtEl>
                                          <p:spTgt spid="2129"/>
                                        </p:tgtEl>
                                        <p:attrNameLst>
                                          <p:attrName>style.visibility</p:attrName>
                                        </p:attrNameLst>
                                      </p:cBhvr>
                                      <p:to>
                                        <p:strVal val="visible"/>
                                      </p:to>
                                    </p:set>
                                    <p:animEffect filter="fade" transition="in">
                                      <p:cBhvr additive="repl">
                                        <p:cTn id="2773" dur="400"/>
                                        <p:tgtEl>
                                          <p:spTgt spid="2129"/>
                                        </p:tgtEl>
                                      </p:cBhvr>
                                    </p:animEffect>
                                  </p:childTnLst>
                                </p:cTn>
                              </p:par>
                              <p:par>
                                <p:cTn id="2774" nodeType="withEffect" fill="hold" presetClass="entr" presetID="10">
                                  <p:stCondLst>
                                    <p:cond delay="1150"/>
                                  </p:stCondLst>
                                  <p:childTnLst>
                                    <p:set>
                                      <p:cBhvr>
                                        <p:cTn id="2775" dur="1" fill="hold">
                                          <p:stCondLst>
                                            <p:cond delay="0"/>
                                          </p:stCondLst>
                                        </p:cTn>
                                        <p:tgtEl>
                                          <p:spTgt spid="2130"/>
                                        </p:tgtEl>
                                        <p:attrNameLst>
                                          <p:attrName>style.visibility</p:attrName>
                                        </p:attrNameLst>
                                      </p:cBhvr>
                                      <p:to>
                                        <p:strVal val="visible"/>
                                      </p:to>
                                    </p:set>
                                    <p:animEffect filter="fade" transition="in">
                                      <p:cBhvr additive="repl">
                                        <p:cTn id="2776" dur="400"/>
                                        <p:tgtEl>
                                          <p:spTgt spid="2130"/>
                                        </p:tgtEl>
                                      </p:cBhvr>
                                    </p:animEffect>
                                  </p:childTnLst>
                                </p:cTn>
                              </p:par>
                              <p:par>
                                <p:cTn id="2777" nodeType="withEffect" fill="hold" presetClass="entr" presetID="10">
                                  <p:stCondLst>
                                    <p:cond delay="1150"/>
                                  </p:stCondLst>
                                  <p:childTnLst>
                                    <p:set>
                                      <p:cBhvr>
                                        <p:cTn id="2778" dur="1" fill="hold">
                                          <p:stCondLst>
                                            <p:cond delay="0"/>
                                          </p:stCondLst>
                                        </p:cTn>
                                        <p:tgtEl>
                                          <p:spTgt spid="2131"/>
                                        </p:tgtEl>
                                        <p:attrNameLst>
                                          <p:attrName>style.visibility</p:attrName>
                                        </p:attrNameLst>
                                      </p:cBhvr>
                                      <p:to>
                                        <p:strVal val="visible"/>
                                      </p:to>
                                    </p:set>
                                    <p:animEffect filter="fade" transition="in">
                                      <p:cBhvr additive="repl">
                                        <p:cTn id="2779" dur="400"/>
                                        <p:tgtEl>
                                          <p:spTgt spid="2131"/>
                                        </p:tgtEl>
                                      </p:cBhvr>
                                    </p:animEffect>
                                  </p:childTnLst>
                                </p:cTn>
                              </p:par>
                              <p:par>
                                <p:cTn id="2780" nodeType="withEffect" fill="hold" presetClass="entr" presetID="10">
                                  <p:stCondLst>
                                    <p:cond delay="1150"/>
                                  </p:stCondLst>
                                  <p:childTnLst>
                                    <p:set>
                                      <p:cBhvr>
                                        <p:cTn id="2781" dur="1" fill="hold">
                                          <p:stCondLst>
                                            <p:cond delay="0"/>
                                          </p:stCondLst>
                                        </p:cTn>
                                        <p:tgtEl>
                                          <p:spTgt spid="2132"/>
                                        </p:tgtEl>
                                        <p:attrNameLst>
                                          <p:attrName>style.visibility</p:attrName>
                                        </p:attrNameLst>
                                      </p:cBhvr>
                                      <p:to>
                                        <p:strVal val="visible"/>
                                      </p:to>
                                    </p:set>
                                    <p:animEffect filter="fade" transition="in">
                                      <p:cBhvr additive="repl">
                                        <p:cTn id="2782" dur="400"/>
                                        <p:tgtEl>
                                          <p:spTgt spid="2132"/>
                                        </p:tgtEl>
                                      </p:cBhvr>
                                    </p:animEffect>
                                  </p:childTnLst>
                                </p:cTn>
                              </p:par>
                              <p:par>
                                <p:cTn id="2783" nodeType="withEffect" fill="hold" presetClass="entr" presetID="10">
                                  <p:stCondLst>
                                    <p:cond delay="1150"/>
                                  </p:stCondLst>
                                  <p:childTnLst>
                                    <p:set>
                                      <p:cBhvr>
                                        <p:cTn id="2784" dur="1" fill="hold">
                                          <p:stCondLst>
                                            <p:cond delay="0"/>
                                          </p:stCondLst>
                                        </p:cTn>
                                        <p:tgtEl>
                                          <p:spTgt spid="2133"/>
                                        </p:tgtEl>
                                        <p:attrNameLst>
                                          <p:attrName>style.visibility</p:attrName>
                                        </p:attrNameLst>
                                      </p:cBhvr>
                                      <p:to>
                                        <p:strVal val="visible"/>
                                      </p:to>
                                    </p:set>
                                    <p:animEffect filter="fade" transition="in">
                                      <p:cBhvr additive="repl">
                                        <p:cTn id="2785" dur="400"/>
                                        <p:tgtEl>
                                          <p:spTgt spid="2133"/>
                                        </p:tgtEl>
                                      </p:cBhvr>
                                    </p:animEffect>
                                  </p:childTnLst>
                                </p:cTn>
                              </p:par>
                              <p:par>
                                <p:cTn id="2786" nodeType="withEffect" fill="hold" presetClass="entr" presetID="10">
                                  <p:stCondLst>
                                    <p:cond delay="1150"/>
                                  </p:stCondLst>
                                  <p:childTnLst>
                                    <p:set>
                                      <p:cBhvr>
                                        <p:cTn id="2787" dur="1" fill="hold">
                                          <p:stCondLst>
                                            <p:cond delay="0"/>
                                          </p:stCondLst>
                                        </p:cTn>
                                        <p:tgtEl>
                                          <p:spTgt spid="2134"/>
                                        </p:tgtEl>
                                        <p:attrNameLst>
                                          <p:attrName>style.visibility</p:attrName>
                                        </p:attrNameLst>
                                      </p:cBhvr>
                                      <p:to>
                                        <p:strVal val="visible"/>
                                      </p:to>
                                    </p:set>
                                    <p:animEffect filter="fade" transition="in">
                                      <p:cBhvr additive="repl">
                                        <p:cTn id="2788" dur="400"/>
                                        <p:tgtEl>
                                          <p:spTgt spid="2134"/>
                                        </p:tgtEl>
                                      </p:cBhvr>
                                    </p:animEffect>
                                  </p:childTnLst>
                                </p:cTn>
                              </p:par>
                              <p:par>
                                <p:cTn id="2789" nodeType="withEffect" fill="hold" presetClass="entr" presetID="10">
                                  <p:stCondLst>
                                    <p:cond delay="1400"/>
                                  </p:stCondLst>
                                  <p:childTnLst>
                                    <p:set>
                                      <p:cBhvr>
                                        <p:cTn id="2790" dur="1" fill="hold">
                                          <p:stCondLst>
                                            <p:cond delay="0"/>
                                          </p:stCondLst>
                                        </p:cTn>
                                        <p:tgtEl>
                                          <p:spTgt spid="2135"/>
                                        </p:tgtEl>
                                        <p:attrNameLst>
                                          <p:attrName>style.visibility</p:attrName>
                                        </p:attrNameLst>
                                      </p:cBhvr>
                                      <p:to>
                                        <p:strVal val="visible"/>
                                      </p:to>
                                    </p:set>
                                    <p:animEffect filter="fade" transition="in">
                                      <p:cBhvr additive="repl">
                                        <p:cTn id="2791" dur="400"/>
                                        <p:tgtEl>
                                          <p:spTgt spid="2135"/>
                                        </p:tgtEl>
                                      </p:cBhvr>
                                    </p:animEffect>
                                  </p:childTnLst>
                                </p:cTn>
                              </p:par>
                              <p:par>
                                <p:cTn id="2792" nodeType="withEffect" fill="hold" presetClass="entr" presetID="10">
                                  <p:stCondLst>
                                    <p:cond delay="1400"/>
                                  </p:stCondLst>
                                  <p:childTnLst>
                                    <p:set>
                                      <p:cBhvr>
                                        <p:cTn id="2793" dur="1" fill="hold">
                                          <p:stCondLst>
                                            <p:cond delay="0"/>
                                          </p:stCondLst>
                                        </p:cTn>
                                        <p:tgtEl>
                                          <p:spTgt spid="2136"/>
                                        </p:tgtEl>
                                        <p:attrNameLst>
                                          <p:attrName>style.visibility</p:attrName>
                                        </p:attrNameLst>
                                      </p:cBhvr>
                                      <p:to>
                                        <p:strVal val="visible"/>
                                      </p:to>
                                    </p:set>
                                    <p:animEffect filter="fade" transition="in">
                                      <p:cBhvr additive="repl">
                                        <p:cTn id="2794" dur="400"/>
                                        <p:tgtEl>
                                          <p:spTgt spid="2136"/>
                                        </p:tgtEl>
                                      </p:cBhvr>
                                    </p:animEffect>
                                  </p:childTnLst>
                                </p:cTn>
                              </p:par>
                              <p:par>
                                <p:cTn id="2795" nodeType="withEffect" fill="hold" presetClass="entr" presetID="10">
                                  <p:stCondLst>
                                    <p:cond delay="1400"/>
                                  </p:stCondLst>
                                  <p:childTnLst>
                                    <p:set>
                                      <p:cBhvr>
                                        <p:cTn id="2796" dur="1" fill="hold">
                                          <p:stCondLst>
                                            <p:cond delay="0"/>
                                          </p:stCondLst>
                                        </p:cTn>
                                        <p:tgtEl>
                                          <p:spTgt spid="2137"/>
                                        </p:tgtEl>
                                        <p:attrNameLst>
                                          <p:attrName>style.visibility</p:attrName>
                                        </p:attrNameLst>
                                      </p:cBhvr>
                                      <p:to>
                                        <p:strVal val="visible"/>
                                      </p:to>
                                    </p:set>
                                    <p:animEffect filter="fade" transition="in">
                                      <p:cBhvr additive="repl">
                                        <p:cTn id="2797" dur="400"/>
                                        <p:tgtEl>
                                          <p:spTgt spid="2137"/>
                                        </p:tgtEl>
                                      </p:cBhvr>
                                    </p:animEffect>
                                  </p:childTnLst>
                                </p:cTn>
                              </p:par>
                              <p:par>
                                <p:cTn id="2798" nodeType="withEffect" fill="hold" presetClass="entr" presetID="10">
                                  <p:stCondLst>
                                    <p:cond delay="1400"/>
                                  </p:stCondLst>
                                  <p:childTnLst>
                                    <p:set>
                                      <p:cBhvr>
                                        <p:cTn id="2799" dur="1" fill="hold">
                                          <p:stCondLst>
                                            <p:cond delay="0"/>
                                          </p:stCondLst>
                                        </p:cTn>
                                        <p:tgtEl>
                                          <p:spTgt spid="2138"/>
                                        </p:tgtEl>
                                        <p:attrNameLst>
                                          <p:attrName>style.visibility</p:attrName>
                                        </p:attrNameLst>
                                      </p:cBhvr>
                                      <p:to>
                                        <p:strVal val="visible"/>
                                      </p:to>
                                    </p:set>
                                    <p:animEffect filter="fade" transition="in">
                                      <p:cBhvr additive="repl">
                                        <p:cTn id="2800" dur="400"/>
                                        <p:tgtEl>
                                          <p:spTgt spid="2138"/>
                                        </p:tgtEl>
                                      </p:cBhvr>
                                    </p:animEffect>
                                  </p:childTnLst>
                                </p:cTn>
                              </p:par>
                              <p:par>
                                <p:cTn id="2801" nodeType="withEffect" fill="hold" presetClass="entr" presetID="10">
                                  <p:stCondLst>
                                    <p:cond delay="1400"/>
                                  </p:stCondLst>
                                  <p:childTnLst>
                                    <p:set>
                                      <p:cBhvr>
                                        <p:cTn id="2802" dur="1" fill="hold">
                                          <p:stCondLst>
                                            <p:cond delay="0"/>
                                          </p:stCondLst>
                                        </p:cTn>
                                        <p:tgtEl>
                                          <p:spTgt spid="2139"/>
                                        </p:tgtEl>
                                        <p:attrNameLst>
                                          <p:attrName>style.visibility</p:attrName>
                                        </p:attrNameLst>
                                      </p:cBhvr>
                                      <p:to>
                                        <p:strVal val="visible"/>
                                      </p:to>
                                    </p:set>
                                    <p:animEffect filter="fade" transition="in">
                                      <p:cBhvr additive="repl">
                                        <p:cTn id="2803" dur="400"/>
                                        <p:tgtEl>
                                          <p:spTgt spid="2139"/>
                                        </p:tgtEl>
                                      </p:cBhvr>
                                    </p:animEffect>
                                  </p:childTnLst>
                                </p:cTn>
                              </p:par>
                              <p:par>
                                <p:cTn id="2804" nodeType="withEffect" fill="hold" presetClass="entr" presetID="10">
                                  <p:stCondLst>
                                    <p:cond delay="1700"/>
                                  </p:stCondLst>
                                  <p:childTnLst>
                                    <p:set>
                                      <p:cBhvr>
                                        <p:cTn id="2805" dur="1" fill="hold">
                                          <p:stCondLst>
                                            <p:cond delay="0"/>
                                          </p:stCondLst>
                                        </p:cTn>
                                        <p:tgtEl>
                                          <p:spTgt spid="2140"/>
                                        </p:tgtEl>
                                        <p:attrNameLst>
                                          <p:attrName>style.visibility</p:attrName>
                                        </p:attrNameLst>
                                      </p:cBhvr>
                                      <p:to>
                                        <p:strVal val="visible"/>
                                      </p:to>
                                    </p:set>
                                    <p:animEffect filter="fade" transition="in">
                                      <p:cBhvr additive="repl">
                                        <p:cTn id="2806" dur="400"/>
                                        <p:tgtEl>
                                          <p:spTgt spid="2140"/>
                                        </p:tgtEl>
                                      </p:cBhvr>
                                    </p:animEffect>
                                  </p:childTnLst>
                                </p:cTn>
                              </p:par>
                              <p:par>
                                <p:cTn id="2807" nodeType="withEffect" fill="hold" presetClass="entr" presetID="10">
                                  <p:stCondLst>
                                    <p:cond delay="2000"/>
                                  </p:stCondLst>
                                  <p:childTnLst>
                                    <p:set>
                                      <p:cBhvr>
                                        <p:cTn id="2808" dur="1" fill="hold">
                                          <p:stCondLst>
                                            <p:cond delay="0"/>
                                          </p:stCondLst>
                                        </p:cTn>
                                        <p:tgtEl>
                                          <p:spTgt spid="2141"/>
                                        </p:tgtEl>
                                        <p:attrNameLst>
                                          <p:attrName>style.visibility</p:attrName>
                                        </p:attrNameLst>
                                      </p:cBhvr>
                                      <p:to>
                                        <p:strVal val="visible"/>
                                      </p:to>
                                    </p:set>
                                    <p:animEffect filter="fade" transition="in">
                                      <p:cBhvr additive="repl">
                                        <p:cTn id="2809" dur="400"/>
                                        <p:tgtEl>
                                          <p:spTgt spid="2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152" name="o1"/>
          <p:cNvSpPr/>
          <p:nvPr/>
        </p:nvSpPr>
        <p:spPr>
          <a:xfrm>
            <a:off x="274320" y="228600"/>
            <a:ext cx="11642760" cy="5897520"/>
          </a:xfrm>
          <a:prstGeom prst="roundRect">
            <a:avLst>
              <a:gd name="adj" fmla="val 217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53" name="o2"/>
          <p:cNvSpPr/>
          <p:nvPr/>
        </p:nvSpPr>
        <p:spPr>
          <a:xfrm>
            <a:off x="343080" y="297360"/>
            <a:ext cx="11505600" cy="5760360"/>
          </a:xfrm>
          <a:prstGeom prst="roundRect">
            <a:avLst>
              <a:gd name="adj" fmla="val 103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54" name="o3"/>
          <p:cNvSpPr/>
          <p:nvPr/>
        </p:nvSpPr>
        <p:spPr>
          <a:xfrm>
            <a:off x="86868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55" name="o4"/>
          <p:cNvSpPr/>
          <p:nvPr/>
        </p:nvSpPr>
        <p:spPr>
          <a:xfrm>
            <a:off x="93708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56" name="o5"/>
          <p:cNvSpPr/>
          <p:nvPr/>
        </p:nvSpPr>
        <p:spPr>
          <a:xfrm>
            <a:off x="9768600" y="822960"/>
            <a:ext cx="1554120" cy="456840"/>
          </a:xfrm>
          <a:prstGeom prst="roundRect">
            <a:avLst>
              <a:gd name="adj" fmla="val 28000"/>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57" name="o6"/>
          <p:cNvSpPr/>
          <p:nvPr/>
        </p:nvSpPr>
        <p:spPr>
          <a:xfrm>
            <a:off x="9837000" y="891720"/>
            <a:ext cx="1416960" cy="319680"/>
          </a:xfrm>
          <a:prstGeom prst="roundRect">
            <a:avLst>
              <a:gd name="adj" fmla="val 18571"/>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158" name="o7" descr="image-16-1.png"/>
          <p:cNvPicPr/>
          <p:nvPr/>
        </p:nvPicPr>
        <p:blipFill>
          <a:blip r:embed="rId1"/>
          <a:stretch/>
        </p:blipFill>
        <p:spPr>
          <a:xfrm>
            <a:off x="1051560" y="1463040"/>
            <a:ext cx="548280" cy="548280"/>
          </a:xfrm>
          <a:prstGeom prst="rect">
            <a:avLst/>
          </a:prstGeom>
          <a:ln w="0">
            <a:noFill/>
          </a:ln>
        </p:spPr>
      </p:pic>
      <p:pic>
        <p:nvPicPr>
          <p:cNvPr id="2159" name="o8" descr="LEVEL 6"/>
          <p:cNvPicPr/>
          <p:nvPr/>
        </p:nvPicPr>
        <p:blipFill>
          <a:blip r:embed="rId2"/>
          <a:stretch/>
        </p:blipFill>
        <p:spPr>
          <a:xfrm>
            <a:off x="1737360" y="1691640"/>
            <a:ext cx="1663920" cy="237240"/>
          </a:xfrm>
          <a:prstGeom prst="rect">
            <a:avLst/>
          </a:prstGeom>
          <a:ln w="0">
            <a:noFill/>
          </a:ln>
        </p:spPr>
      </p:pic>
      <p:pic>
        <p:nvPicPr>
          <p:cNvPr id="2160" name="o9" descr="LIVE"/>
          <p:cNvPicPr/>
          <p:nvPr/>
        </p:nvPicPr>
        <p:blipFill>
          <a:blip r:embed="rId3"/>
          <a:stretch/>
        </p:blipFill>
        <p:spPr>
          <a:xfrm>
            <a:off x="1051560" y="2286000"/>
            <a:ext cx="2742840" cy="685440"/>
          </a:xfrm>
          <a:prstGeom prst="rect">
            <a:avLst/>
          </a:prstGeom>
          <a:ln w="0">
            <a:noFill/>
          </a:ln>
        </p:spPr>
      </p:pic>
      <p:pic>
        <p:nvPicPr>
          <p:cNvPr id="2161" name="o10" descr="DEMO"/>
          <p:cNvPicPr/>
          <p:nvPr/>
        </p:nvPicPr>
        <p:blipFill>
          <a:blip r:embed="rId4"/>
          <a:stretch/>
        </p:blipFill>
        <p:spPr>
          <a:xfrm>
            <a:off x="1051560" y="3108960"/>
            <a:ext cx="2742840" cy="685440"/>
          </a:xfrm>
          <a:prstGeom prst="rect">
            <a:avLst/>
          </a:prstGeom>
          <a:ln w="0">
            <a:noFill/>
          </a:ln>
        </p:spPr>
      </p:pic>
      <p:pic>
        <p:nvPicPr>
          <p:cNvPr id="2162" name="o11" descr="INSERT COIN"/>
          <p:cNvPicPr/>
          <p:nvPr/>
        </p:nvPicPr>
        <p:blipFill>
          <a:blip r:embed="rId5"/>
          <a:stretch/>
        </p:blipFill>
        <p:spPr>
          <a:xfrm>
            <a:off x="1051560" y="4023360"/>
            <a:ext cx="2212560" cy="200880"/>
          </a:xfrm>
          <a:prstGeom prst="rect">
            <a:avLst/>
          </a:prstGeom>
          <a:ln w="0">
            <a:noFill/>
          </a:ln>
        </p:spPr>
      </p:pic>
      <p:sp>
        <p:nvSpPr>
          <p:cNvPr id="2163" name="o12"/>
          <p:cNvSpPr/>
          <p:nvPr/>
        </p:nvSpPr>
        <p:spPr>
          <a:xfrm>
            <a:off x="1051560" y="4434840"/>
            <a:ext cx="4571640" cy="3052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2000" spc="-1" strike="noStrike">
                <a:solidFill>
                  <a:srgbClr val="c4c4e4"/>
                </a:solidFill>
                <a:latin typeface="Arial"/>
              </a:rPr>
              <a:t>Streamlit · 9 pages · les 2 bases</a:t>
            </a:r>
            <a:endParaRPr b="0" lang="en-US" sz="2000" spc="-1" strike="noStrike">
              <a:solidFill>
                <a:srgbClr val="ffffff"/>
              </a:solidFill>
              <a:latin typeface="Arial"/>
            </a:endParaRPr>
          </a:p>
        </p:txBody>
      </p:sp>
      <p:sp>
        <p:nvSpPr>
          <p:cNvPr id="2164" name="o13"/>
          <p:cNvSpPr/>
          <p:nvPr/>
        </p:nvSpPr>
        <p:spPr>
          <a:xfrm>
            <a:off x="1051560" y="4937760"/>
            <a:ext cx="457164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400" spc="-1" strike="noStrike">
                <a:solidFill>
                  <a:srgbClr val="00ffff"/>
                </a:solidFill>
                <a:latin typeface="Courier New"/>
              </a:rPr>
              <a:t>python run_app.py  →  localhost:8501</a:t>
            </a:r>
            <a:endParaRPr b="0" lang="en-US" sz="1400" spc="-1" strike="noStrike">
              <a:solidFill>
                <a:srgbClr val="ffffff"/>
              </a:solidFill>
              <a:latin typeface="Arial"/>
            </a:endParaRPr>
          </a:p>
        </p:txBody>
      </p:sp>
      <p:sp>
        <p:nvSpPr>
          <p:cNvPr id="2165" name="o14"/>
          <p:cNvSpPr/>
          <p:nvPr/>
        </p:nvSpPr>
        <p:spPr>
          <a:xfrm>
            <a:off x="6263640" y="1463040"/>
            <a:ext cx="4937400" cy="1005480"/>
          </a:xfrm>
          <a:prstGeom prst="roundRect">
            <a:avLst>
              <a:gd name="adj" fmla="val 12727"/>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66" name="o15"/>
          <p:cNvSpPr/>
          <p:nvPr/>
        </p:nvSpPr>
        <p:spPr>
          <a:xfrm>
            <a:off x="6332400" y="1531800"/>
            <a:ext cx="4800240" cy="868320"/>
          </a:xfrm>
          <a:prstGeom prst="roundRect">
            <a:avLst>
              <a:gd name="adj" fmla="val 6842"/>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167" name="o16" descr="icone_etoile.png"/>
          <p:cNvPicPr/>
          <p:nvPr/>
        </p:nvPicPr>
        <p:blipFill>
          <a:blip r:embed="rId6"/>
          <a:stretch/>
        </p:blipFill>
        <p:spPr>
          <a:xfrm>
            <a:off x="6537960" y="1737360"/>
            <a:ext cx="456840" cy="456840"/>
          </a:xfrm>
          <a:prstGeom prst="rect">
            <a:avLst/>
          </a:prstGeom>
          <a:ln w="0">
            <a:noFill/>
          </a:ln>
        </p:spPr>
      </p:pic>
      <p:pic>
        <p:nvPicPr>
          <p:cNvPr id="2168" name="o17" descr="QUETE 1"/>
          <p:cNvPicPr/>
          <p:nvPr/>
        </p:nvPicPr>
        <p:blipFill>
          <a:blip r:embed="rId7"/>
          <a:stretch/>
        </p:blipFill>
        <p:spPr>
          <a:xfrm>
            <a:off x="7223760" y="1618560"/>
            <a:ext cx="831600" cy="118440"/>
          </a:xfrm>
          <a:prstGeom prst="rect">
            <a:avLst/>
          </a:prstGeom>
          <a:ln w="0">
            <a:noFill/>
          </a:ln>
        </p:spPr>
      </p:pic>
      <p:sp>
        <p:nvSpPr>
          <p:cNvPr id="2169" name="o18"/>
          <p:cNvSpPr/>
          <p:nvPr/>
        </p:nvSpPr>
        <p:spPr>
          <a:xfrm>
            <a:off x="7223760" y="1810440"/>
            <a:ext cx="3840120" cy="259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700" spc="-1" strike="noStrike">
                <a:solidFill>
                  <a:srgbClr val="ffffff"/>
                </a:solidFill>
                <a:latin typeface="Arial"/>
              </a:rPr>
              <a:t>Cliquer sur un jeu : GTA V</a:t>
            </a:r>
            <a:endParaRPr b="0" lang="en-US" sz="1700" spc="-1" strike="noStrike">
              <a:solidFill>
                <a:srgbClr val="ffffff"/>
              </a:solidFill>
              <a:latin typeface="Arial"/>
            </a:endParaRPr>
          </a:p>
        </p:txBody>
      </p:sp>
      <p:sp>
        <p:nvSpPr>
          <p:cNvPr id="2170" name="o19"/>
          <p:cNvSpPr/>
          <p:nvPr/>
        </p:nvSpPr>
        <p:spPr>
          <a:xfrm>
            <a:off x="7223760" y="2121480"/>
            <a:ext cx="388584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200" spc="-1" strike="noStrike">
                <a:solidFill>
                  <a:srgbClr val="c4c4e4"/>
                </a:solidFill>
                <a:latin typeface="Arial"/>
              </a:rPr>
              <a:t>profil régional (base 1) + notes presse et joueurs (base 2)</a:t>
            </a:r>
            <a:endParaRPr b="0" lang="en-US" sz="1200" spc="-1" strike="noStrike">
              <a:solidFill>
                <a:srgbClr val="ffffff"/>
              </a:solidFill>
              <a:latin typeface="Arial"/>
            </a:endParaRPr>
          </a:p>
        </p:txBody>
      </p:sp>
      <p:sp>
        <p:nvSpPr>
          <p:cNvPr id="2171" name="o20"/>
          <p:cNvSpPr/>
          <p:nvPr/>
        </p:nvSpPr>
        <p:spPr>
          <a:xfrm>
            <a:off x="6263640" y="2651760"/>
            <a:ext cx="4937400" cy="1005480"/>
          </a:xfrm>
          <a:prstGeom prst="roundRect">
            <a:avLst>
              <a:gd name="adj" fmla="val 12727"/>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72" name="o21"/>
          <p:cNvSpPr/>
          <p:nvPr/>
        </p:nvSpPr>
        <p:spPr>
          <a:xfrm>
            <a:off x="6332400" y="2720520"/>
            <a:ext cx="4800240" cy="868320"/>
          </a:xfrm>
          <a:prstGeom prst="roundRect">
            <a:avLst>
              <a:gd name="adj" fmla="val 6842"/>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173" name="o22" descr="image-16-6.png"/>
          <p:cNvPicPr/>
          <p:nvPr/>
        </p:nvPicPr>
        <p:blipFill>
          <a:blip r:embed="rId8"/>
          <a:stretch/>
        </p:blipFill>
        <p:spPr>
          <a:xfrm>
            <a:off x="6537960" y="2926080"/>
            <a:ext cx="456840" cy="456840"/>
          </a:xfrm>
          <a:prstGeom prst="rect">
            <a:avLst/>
          </a:prstGeom>
          <a:ln w="0">
            <a:noFill/>
          </a:ln>
        </p:spPr>
      </p:pic>
      <p:pic>
        <p:nvPicPr>
          <p:cNvPr id="2174" name="o23" descr="QUETE 2"/>
          <p:cNvPicPr/>
          <p:nvPr/>
        </p:nvPicPr>
        <p:blipFill>
          <a:blip r:embed="rId9"/>
          <a:stretch/>
        </p:blipFill>
        <p:spPr>
          <a:xfrm>
            <a:off x="7223760" y="2807280"/>
            <a:ext cx="831600" cy="118440"/>
          </a:xfrm>
          <a:prstGeom prst="rect">
            <a:avLst/>
          </a:prstGeom>
          <a:ln w="0">
            <a:noFill/>
          </a:ln>
        </p:spPr>
      </p:pic>
      <p:sp>
        <p:nvSpPr>
          <p:cNvPr id="2175" name="o24"/>
          <p:cNvSpPr/>
          <p:nvPr/>
        </p:nvSpPr>
        <p:spPr>
          <a:xfrm>
            <a:off x="7223760" y="2999160"/>
            <a:ext cx="3840120" cy="259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700" spc="-1" strike="noStrike">
                <a:solidFill>
                  <a:srgbClr val="ffffff"/>
                </a:solidFill>
                <a:latin typeface="Arial"/>
              </a:rPr>
              <a:t>Régler les poids du MPI</a:t>
            </a:r>
            <a:endParaRPr b="0" lang="en-US" sz="1700" spc="-1" strike="noStrike">
              <a:solidFill>
                <a:srgbClr val="ffffff"/>
              </a:solidFill>
              <a:latin typeface="Arial"/>
            </a:endParaRPr>
          </a:p>
        </p:txBody>
      </p:sp>
      <p:sp>
        <p:nvSpPr>
          <p:cNvPr id="2176" name="o25"/>
          <p:cNvSpPr/>
          <p:nvPr/>
        </p:nvSpPr>
        <p:spPr>
          <a:xfrm>
            <a:off x="7223760" y="3310200"/>
            <a:ext cx="388584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200" spc="-1" strike="noStrike">
                <a:solidFill>
                  <a:srgbClr val="c4c4e4"/>
                </a:solidFill>
                <a:latin typeface="Arial"/>
              </a:rPr>
              <a:t>puis la qualité perçue : Bethesda et Microsoft montent</a:t>
            </a:r>
            <a:endParaRPr b="0" lang="en-US" sz="1200" spc="-1" strike="noStrike">
              <a:solidFill>
                <a:srgbClr val="ffffff"/>
              </a:solidFill>
              <a:latin typeface="Arial"/>
            </a:endParaRPr>
          </a:p>
        </p:txBody>
      </p:sp>
      <p:sp>
        <p:nvSpPr>
          <p:cNvPr id="2177" name="o26"/>
          <p:cNvSpPr/>
          <p:nvPr/>
        </p:nvSpPr>
        <p:spPr>
          <a:xfrm>
            <a:off x="6263640" y="3840480"/>
            <a:ext cx="4937400" cy="1005480"/>
          </a:xfrm>
          <a:prstGeom prst="roundRect">
            <a:avLst>
              <a:gd name="adj" fmla="val 12727"/>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78" name="o27"/>
          <p:cNvSpPr/>
          <p:nvPr/>
        </p:nvSpPr>
        <p:spPr>
          <a:xfrm>
            <a:off x="6332400" y="3909240"/>
            <a:ext cx="4800240" cy="868320"/>
          </a:xfrm>
          <a:prstGeom prst="roundRect">
            <a:avLst>
              <a:gd name="adj" fmla="val 6842"/>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179" name="o28" descr="image-16-10.png"/>
          <p:cNvPicPr/>
          <p:nvPr/>
        </p:nvPicPr>
        <p:blipFill>
          <a:blip r:embed="rId10"/>
          <a:stretch/>
        </p:blipFill>
        <p:spPr>
          <a:xfrm>
            <a:off x="6537960" y="4114800"/>
            <a:ext cx="456840" cy="456840"/>
          </a:xfrm>
          <a:prstGeom prst="rect">
            <a:avLst/>
          </a:prstGeom>
          <a:ln w="0">
            <a:noFill/>
          </a:ln>
        </p:spPr>
      </p:pic>
      <p:pic>
        <p:nvPicPr>
          <p:cNvPr id="2180" name="o29" descr="QUETE 3"/>
          <p:cNvPicPr/>
          <p:nvPr/>
        </p:nvPicPr>
        <p:blipFill>
          <a:blip r:embed="rId11"/>
          <a:stretch/>
        </p:blipFill>
        <p:spPr>
          <a:xfrm>
            <a:off x="7223760" y="3996000"/>
            <a:ext cx="831600" cy="118440"/>
          </a:xfrm>
          <a:prstGeom prst="rect">
            <a:avLst/>
          </a:prstGeom>
          <a:ln w="0">
            <a:noFill/>
          </a:ln>
        </p:spPr>
      </p:pic>
      <p:sp>
        <p:nvSpPr>
          <p:cNvPr id="2181" name="o30"/>
          <p:cNvSpPr/>
          <p:nvPr/>
        </p:nvSpPr>
        <p:spPr>
          <a:xfrm>
            <a:off x="7223760" y="4187880"/>
            <a:ext cx="3840120" cy="2595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700" spc="-1" strike="noStrike">
                <a:solidFill>
                  <a:srgbClr val="ffffff"/>
                </a:solidFill>
                <a:latin typeface="Arial"/>
              </a:rPr>
              <a:t>Filtrer période, genre, constructeur</a:t>
            </a:r>
            <a:endParaRPr b="0" lang="en-US" sz="1700" spc="-1" strike="noStrike">
              <a:solidFill>
                <a:srgbClr val="ffffff"/>
              </a:solidFill>
              <a:latin typeface="Arial"/>
            </a:endParaRPr>
          </a:p>
        </p:txBody>
      </p:sp>
      <p:sp>
        <p:nvSpPr>
          <p:cNvPr id="2182" name="o31"/>
          <p:cNvSpPr/>
          <p:nvPr/>
        </p:nvSpPr>
        <p:spPr>
          <a:xfrm>
            <a:off x="7223760" y="4498920"/>
            <a:ext cx="3885840" cy="1832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200" spc="-1" strike="noStrike">
                <a:solidFill>
                  <a:srgbClr val="c4c4e4"/>
                </a:solidFill>
                <a:latin typeface="Arial"/>
              </a:rPr>
              <a:t>toutes les pages suivent · années 80 : le biais Metacritic</a:t>
            </a:r>
            <a:endParaRPr b="0" lang="en-US" sz="1200" spc="-1" strike="noStrike">
              <a:solidFill>
                <a:srgbClr val="ffffff"/>
              </a:solidFill>
              <a:latin typeface="Arial"/>
            </a:endParaRPr>
          </a:p>
        </p:txBody>
      </p:sp>
      <p:pic>
        <p:nvPicPr>
          <p:cNvPr id="2183" name="fin_pastille" descr="image-1-13.gif"/>
          <p:cNvPicPr/>
          <p:nvPr/>
        </p:nvPicPr>
        <p:blipFill>
          <a:blip r:embed="rId12"/>
          <a:stretch/>
        </p:blipFill>
        <p:spPr>
          <a:xfrm>
            <a:off x="11448360" y="6355080"/>
            <a:ext cx="182520" cy="182520"/>
          </a:xfrm>
          <a:prstGeom prst="rect">
            <a:avLst/>
          </a:prstGeom>
          <a:ln w="0">
            <a:noFill/>
          </a:ln>
        </p:spPr>
      </p:pic>
      <p:pic>
        <p:nvPicPr>
          <p:cNvPr id="2184" name="barre_fantome" descr="image.gif"/>
          <p:cNvPicPr/>
          <p:nvPr/>
        </p:nvPicPr>
        <p:blipFill>
          <a:blip r:embed="rId13"/>
          <a:stretch/>
        </p:blipFill>
        <p:spPr>
          <a:xfrm>
            <a:off x="9178488" y="6291000"/>
            <a:ext cx="310680" cy="310680"/>
          </a:xfrm>
          <a:prstGeom prst="rect">
            <a:avLst/>
          </a:prstGeom>
          <a:ln w="0">
            <a:noFill/>
          </a:ln>
        </p:spPr>
      </p:pic>
      <p:sp>
        <p:nvSpPr>
          <p:cNvPr id="2186" name="barre_pastille"/>
          <p:cNvSpPr/>
          <p:nvPr/>
        </p:nvSpPr>
        <p:spPr>
          <a:xfrm>
            <a:off x="10058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87" name="barre_pastille"/>
          <p:cNvSpPr/>
          <p:nvPr/>
        </p:nvSpPr>
        <p:spPr>
          <a:xfrm>
            <a:off x="102870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86"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87"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88"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189"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2185" name="barre_pacman" descr="image.gif"/>
          <p:cNvPicPr/>
          <p:nvPr/>
        </p:nvPicPr>
        <p:blipFill>
          <a:blip r:embed="rId14"/>
          <a:stretch/>
        </p:blipFill>
        <p:spPr>
          <a:xfrm>
            <a:off x="9745488" y="6291000"/>
            <a:ext cx="310680" cy="310680"/>
          </a:xfrm>
          <a:prstGeom prst="rect">
            <a:avLst/>
          </a:prstGeom>
          <a:ln w="0">
            <a:noFill/>
          </a:ln>
        </p:spPr>
      </p:pic>
      <p:sp>
        <p:nvSpPr>
          <p:cNvPr id="2190" name="orateur" descr="Orateur : B"/>
          <p:cNvSpPr/>
          <p:nvPr/>
        </p:nvSpPr>
        <p:spPr>
          <a:xfrm>
            <a:off x="11704320" y="6263640"/>
            <a:ext cx="365760" cy="365760"/>
          </a:xfrm>
          <a:prstGeom prst="roundRect">
            <a:avLst>
              <a:gd name="adj" fmla="val 22000"/>
            </a:avLst>
          </a:prstGeom>
          <a:solidFill>
            <a:srgbClr val="000000"/>
          </a:solidFill>
          <a:ln w="19050">
            <a:solidFill>
              <a:srgbClr val="00E5FF"/>
            </a:solidFill>
          </a:ln>
        </p:spPr>
        <p:txBody>
          <a:bodyPr lIns="0" rIns="0" tIns="0" bIns="0" anchor="ctr">
            <a:noAutofit/>
          </a:bodyPr>
          <a:lstStyle/>
          <a:p>
            <a:pPr algn="ctr"/>
            <a:r>
              <a:rPr lang="fr-FR" sz="1300" b="1">
                <a:solidFill>
                  <a:srgbClr val="00E5FF"/>
                </a:solidFill>
                <a:latin typeface="Arial"/>
              </a:rPr>
              <a:t>B</a:t>
            </a:r>
          </a:p>
        </p:txBody>
      </p:sp>
    </p:spTree>
  </p:cSld>
  <p:transition>
    <p:fade/>
  </p:transition>
  <p:timing>
    <p:tnLst>
      <p:par>
        <p:cTn id="2810" dur="indefinite" restart="never" nodeType="tmRoot">
          <p:childTnLst>
            <p:seq>
              <p:cTn id="2811" dur="indefinite" nodeType="mainSeq">
                <p:childTnLst>
                  <p:par>
                    <p:cTn id="2812" fill="hold">
                      <p:stCondLst>
                        <p:cond delay="0"/>
                      </p:stCondLst>
                      <p:childTnLst>
                        <p:par>
                          <p:cTn id="2813" fill="hold">
                            <p:stCondLst>
                              <p:cond delay="0"/>
                            </p:stCondLst>
                            <p:childTnLst>
                              <p:par>
                                <p:cTn id="2814" nodeType="withEffect" fill="hold" presetClass="path">
                                  <p:stCondLst>
                                    <p:cond delay="0"/>
                                  </p:stCondLst>
                                  <p:childTnLst>
                                    <p:animMotion origin="layout" path="M 0 0 L 0.02252 0 E">
                                      <p:cBhvr>
                                        <p:cTn id="2815" dur="900" fill="hold"/>
                                        <p:tgtEl>
                                          <p:spTgt spid="2184"/>
                                        </p:tgtEl>
                                        <p:attrNameLst>
                                          <p:attrName>ppt_x</p:attrName>
                                          <p:attrName>ppt_y</p:attrName>
                                        </p:attrNameLst>
                                      </p:cBhvr>
                                    </p:animMotion>
                                  </p:childTnLst>
                                </p:cTn>
                              </p:par>
                              <p:par>
                                <p:cTn id="2816" nodeType="withEffect" fill="hold" presetClass="path">
                                  <p:stCondLst>
                                    <p:cond delay="0"/>
                                  </p:stCondLst>
                                  <p:childTnLst>
                                    <p:animMotion origin="layout" path="M 0 0 L 0.02252 0 E">
                                      <p:cBhvr>
                                        <p:cTn id="2817" dur="900" fill="hold"/>
                                        <p:tgtEl>
                                          <p:spTgt spid="2185"/>
                                        </p:tgtEl>
                                        <p:attrNameLst>
                                          <p:attrName>ppt_x</p:attrName>
                                          <p:attrName>ppt_y</p:attrName>
                                        </p:attrNameLst>
                                      </p:cBhvr>
                                    </p:animMotion>
                                  </p:childTnLst>
                                </p:cTn>
                              </p:par>
                              <p:par>
                                <p:cTn id="2818" nodeType="withEffect" fill="hold" presetClass="exit" presetID="1">
                                  <p:stCondLst>
                                    <p:cond delay="79"/>
                                  </p:stCondLst>
                                  <p:childTnLst>
                                    <p:set>
                                      <p:cBhvr>
                                        <p:cTn id="2819" dur="1" fill="hold">
                                          <p:stCondLst>
                                            <p:cond delay="0"/>
                                          </p:stCondLst>
                                        </p:cTn>
                                        <p:tgtEl>
                                          <p:spTgt spid="2186"/>
                                        </p:tgtEl>
                                        <p:attrNameLst>
                                          <p:attrName>style.visibility</p:attrName>
                                        </p:attrNameLst>
                                      </p:cBhvr>
                                      <p:to>
                                        <p:strVal val="hidden"/>
                                      </p:to>
                                    </p:set>
                                  </p:childTnLst>
                                </p:cTn>
                              </p:par>
                              <p:par>
                                <p:cTn id="2820" nodeType="withEffect" fill="hold" presetClass="exit" presetID="1">
                                  <p:stCondLst>
                                    <p:cond delay="850"/>
                                  </p:stCondLst>
                                  <p:childTnLst>
                                    <p:set>
                                      <p:cBhvr>
                                        <p:cTn id="2821" dur="1" fill="hold">
                                          <p:stCondLst>
                                            <p:cond delay="0"/>
                                          </p:stCondLst>
                                        </p:cTn>
                                        <p:tgtEl>
                                          <p:spTgt spid="2187"/>
                                        </p:tgtEl>
                                        <p:attrNameLst>
                                          <p:attrName>style.visibility</p:attrName>
                                        </p:attrNameLst>
                                      </p:cBhvr>
                                      <p:to>
                                        <p:strVal val="hidden"/>
                                      </p:to>
                                    </p:set>
                                  </p:childTnLst>
                                </p:cTn>
                              </p:par>
                              <p:par>
                                <p:cTn id="2822" nodeType="withEffect" fill="hold" presetClass="entr" presetID="10">
                                  <p:stCondLst>
                                    <p:cond delay="300"/>
                                  </p:stCondLst>
                                  <p:childTnLst>
                                    <p:set>
                                      <p:cBhvr>
                                        <p:cTn id="2823" dur="1" fill="hold">
                                          <p:stCondLst>
                                            <p:cond delay="0"/>
                                          </p:stCondLst>
                                        </p:cTn>
                                        <p:tgtEl>
                                          <p:spTgt spid="2165"/>
                                        </p:tgtEl>
                                        <p:attrNameLst>
                                          <p:attrName>style.visibility</p:attrName>
                                        </p:attrNameLst>
                                      </p:cBhvr>
                                      <p:to>
                                        <p:strVal val="visible"/>
                                      </p:to>
                                    </p:set>
                                    <p:animEffect filter="fade" transition="in">
                                      <p:cBhvr additive="repl">
                                        <p:cTn id="2824" dur="400"/>
                                        <p:tgtEl>
                                          <p:spTgt spid="2165"/>
                                        </p:tgtEl>
                                      </p:cBhvr>
                                    </p:animEffect>
                                  </p:childTnLst>
                                </p:cTn>
                              </p:par>
                              <p:par>
                                <p:cTn id="2825" nodeType="withEffect" fill="hold" presetClass="entr" presetID="10">
                                  <p:stCondLst>
                                    <p:cond delay="300"/>
                                  </p:stCondLst>
                                  <p:childTnLst>
                                    <p:set>
                                      <p:cBhvr>
                                        <p:cTn id="2826" dur="1" fill="hold">
                                          <p:stCondLst>
                                            <p:cond delay="0"/>
                                          </p:stCondLst>
                                        </p:cTn>
                                        <p:tgtEl>
                                          <p:spTgt spid="2166"/>
                                        </p:tgtEl>
                                        <p:attrNameLst>
                                          <p:attrName>style.visibility</p:attrName>
                                        </p:attrNameLst>
                                      </p:cBhvr>
                                      <p:to>
                                        <p:strVal val="visible"/>
                                      </p:to>
                                    </p:set>
                                    <p:animEffect filter="fade" transition="in">
                                      <p:cBhvr additive="repl">
                                        <p:cTn id="2827" dur="400"/>
                                        <p:tgtEl>
                                          <p:spTgt spid="2166"/>
                                        </p:tgtEl>
                                      </p:cBhvr>
                                    </p:animEffect>
                                  </p:childTnLst>
                                </p:cTn>
                              </p:par>
                              <p:par>
                                <p:cTn id="2828" nodeType="withEffect" fill="hold" presetClass="entr" presetID="10">
                                  <p:stCondLst>
                                    <p:cond delay="300"/>
                                  </p:stCondLst>
                                  <p:childTnLst>
                                    <p:set>
                                      <p:cBhvr>
                                        <p:cTn id="2829" dur="1" fill="hold">
                                          <p:stCondLst>
                                            <p:cond delay="0"/>
                                          </p:stCondLst>
                                        </p:cTn>
                                        <p:tgtEl>
                                          <p:spTgt spid="2167"/>
                                        </p:tgtEl>
                                        <p:attrNameLst>
                                          <p:attrName>style.visibility</p:attrName>
                                        </p:attrNameLst>
                                      </p:cBhvr>
                                      <p:to>
                                        <p:strVal val="visible"/>
                                      </p:to>
                                    </p:set>
                                    <p:animEffect filter="fade" transition="in">
                                      <p:cBhvr additive="repl">
                                        <p:cTn id="2830" dur="400"/>
                                        <p:tgtEl>
                                          <p:spTgt spid="2167"/>
                                        </p:tgtEl>
                                      </p:cBhvr>
                                    </p:animEffect>
                                  </p:childTnLst>
                                </p:cTn>
                              </p:par>
                              <p:par>
                                <p:cTn id="2831" nodeType="withEffect" fill="hold" presetClass="entr" presetID="10">
                                  <p:stCondLst>
                                    <p:cond delay="300"/>
                                  </p:stCondLst>
                                  <p:childTnLst>
                                    <p:set>
                                      <p:cBhvr>
                                        <p:cTn id="2832" dur="1" fill="hold">
                                          <p:stCondLst>
                                            <p:cond delay="0"/>
                                          </p:stCondLst>
                                        </p:cTn>
                                        <p:tgtEl>
                                          <p:spTgt spid="2168"/>
                                        </p:tgtEl>
                                        <p:attrNameLst>
                                          <p:attrName>style.visibility</p:attrName>
                                        </p:attrNameLst>
                                      </p:cBhvr>
                                      <p:to>
                                        <p:strVal val="visible"/>
                                      </p:to>
                                    </p:set>
                                    <p:animEffect filter="fade" transition="in">
                                      <p:cBhvr additive="repl">
                                        <p:cTn id="2833" dur="400"/>
                                        <p:tgtEl>
                                          <p:spTgt spid="2168"/>
                                        </p:tgtEl>
                                      </p:cBhvr>
                                    </p:animEffect>
                                  </p:childTnLst>
                                </p:cTn>
                              </p:par>
                              <p:par>
                                <p:cTn id="2834" nodeType="withEffect" fill="hold" presetClass="entr" presetID="10">
                                  <p:stCondLst>
                                    <p:cond delay="300"/>
                                  </p:stCondLst>
                                  <p:childTnLst>
                                    <p:set>
                                      <p:cBhvr>
                                        <p:cTn id="2835" dur="1" fill="hold">
                                          <p:stCondLst>
                                            <p:cond delay="0"/>
                                          </p:stCondLst>
                                        </p:cTn>
                                        <p:tgtEl>
                                          <p:spTgt spid="2169"/>
                                        </p:tgtEl>
                                        <p:attrNameLst>
                                          <p:attrName>style.visibility</p:attrName>
                                        </p:attrNameLst>
                                      </p:cBhvr>
                                      <p:to>
                                        <p:strVal val="visible"/>
                                      </p:to>
                                    </p:set>
                                    <p:animEffect filter="fade" transition="in">
                                      <p:cBhvr additive="repl">
                                        <p:cTn id="2836" dur="400"/>
                                        <p:tgtEl>
                                          <p:spTgt spid="2169"/>
                                        </p:tgtEl>
                                      </p:cBhvr>
                                    </p:animEffect>
                                  </p:childTnLst>
                                </p:cTn>
                              </p:par>
                              <p:par>
                                <p:cTn id="2837" nodeType="withEffect" fill="hold" presetClass="entr" presetID="10">
                                  <p:stCondLst>
                                    <p:cond delay="300"/>
                                  </p:stCondLst>
                                  <p:childTnLst>
                                    <p:set>
                                      <p:cBhvr>
                                        <p:cTn id="2838" dur="1" fill="hold">
                                          <p:stCondLst>
                                            <p:cond delay="0"/>
                                          </p:stCondLst>
                                        </p:cTn>
                                        <p:tgtEl>
                                          <p:spTgt spid="2170"/>
                                        </p:tgtEl>
                                        <p:attrNameLst>
                                          <p:attrName>style.visibility</p:attrName>
                                        </p:attrNameLst>
                                      </p:cBhvr>
                                      <p:to>
                                        <p:strVal val="visible"/>
                                      </p:to>
                                    </p:set>
                                    <p:animEffect filter="fade" transition="in">
                                      <p:cBhvr additive="repl">
                                        <p:cTn id="2839" dur="400"/>
                                        <p:tgtEl>
                                          <p:spTgt spid="2170"/>
                                        </p:tgtEl>
                                      </p:cBhvr>
                                    </p:animEffect>
                                  </p:childTnLst>
                                </p:cTn>
                              </p:par>
                              <p:par>
                                <p:cTn id="2840" nodeType="withEffect" fill="hold" presetClass="entr" presetID="10">
                                  <p:stCondLst>
                                    <p:cond delay="600"/>
                                  </p:stCondLst>
                                  <p:childTnLst>
                                    <p:set>
                                      <p:cBhvr>
                                        <p:cTn id="2841" dur="1" fill="hold">
                                          <p:stCondLst>
                                            <p:cond delay="0"/>
                                          </p:stCondLst>
                                        </p:cTn>
                                        <p:tgtEl>
                                          <p:spTgt spid="2171"/>
                                        </p:tgtEl>
                                        <p:attrNameLst>
                                          <p:attrName>style.visibility</p:attrName>
                                        </p:attrNameLst>
                                      </p:cBhvr>
                                      <p:to>
                                        <p:strVal val="visible"/>
                                      </p:to>
                                    </p:set>
                                    <p:animEffect filter="fade" transition="in">
                                      <p:cBhvr additive="repl">
                                        <p:cTn id="2842" dur="400"/>
                                        <p:tgtEl>
                                          <p:spTgt spid="2171"/>
                                        </p:tgtEl>
                                      </p:cBhvr>
                                    </p:animEffect>
                                  </p:childTnLst>
                                </p:cTn>
                              </p:par>
                              <p:par>
                                <p:cTn id="2843" nodeType="withEffect" fill="hold" presetClass="entr" presetID="10">
                                  <p:stCondLst>
                                    <p:cond delay="600"/>
                                  </p:stCondLst>
                                  <p:childTnLst>
                                    <p:set>
                                      <p:cBhvr>
                                        <p:cTn id="2844" dur="1" fill="hold">
                                          <p:stCondLst>
                                            <p:cond delay="0"/>
                                          </p:stCondLst>
                                        </p:cTn>
                                        <p:tgtEl>
                                          <p:spTgt spid="2172"/>
                                        </p:tgtEl>
                                        <p:attrNameLst>
                                          <p:attrName>style.visibility</p:attrName>
                                        </p:attrNameLst>
                                      </p:cBhvr>
                                      <p:to>
                                        <p:strVal val="visible"/>
                                      </p:to>
                                    </p:set>
                                    <p:animEffect filter="fade" transition="in">
                                      <p:cBhvr additive="repl">
                                        <p:cTn id="2845" dur="400"/>
                                        <p:tgtEl>
                                          <p:spTgt spid="2172"/>
                                        </p:tgtEl>
                                      </p:cBhvr>
                                    </p:animEffect>
                                  </p:childTnLst>
                                </p:cTn>
                              </p:par>
                              <p:par>
                                <p:cTn id="2846" nodeType="withEffect" fill="hold" presetClass="entr" presetID="10">
                                  <p:stCondLst>
                                    <p:cond delay="600"/>
                                  </p:stCondLst>
                                  <p:childTnLst>
                                    <p:set>
                                      <p:cBhvr>
                                        <p:cTn id="2847" dur="1" fill="hold">
                                          <p:stCondLst>
                                            <p:cond delay="0"/>
                                          </p:stCondLst>
                                        </p:cTn>
                                        <p:tgtEl>
                                          <p:spTgt spid="2173"/>
                                        </p:tgtEl>
                                        <p:attrNameLst>
                                          <p:attrName>style.visibility</p:attrName>
                                        </p:attrNameLst>
                                      </p:cBhvr>
                                      <p:to>
                                        <p:strVal val="visible"/>
                                      </p:to>
                                    </p:set>
                                    <p:animEffect filter="fade" transition="in">
                                      <p:cBhvr additive="repl">
                                        <p:cTn id="2848" dur="400"/>
                                        <p:tgtEl>
                                          <p:spTgt spid="2173"/>
                                        </p:tgtEl>
                                      </p:cBhvr>
                                    </p:animEffect>
                                  </p:childTnLst>
                                </p:cTn>
                              </p:par>
                              <p:par>
                                <p:cTn id="2849" nodeType="withEffect" fill="hold" presetClass="entr" presetID="10">
                                  <p:stCondLst>
                                    <p:cond delay="600"/>
                                  </p:stCondLst>
                                  <p:childTnLst>
                                    <p:set>
                                      <p:cBhvr>
                                        <p:cTn id="2850" dur="1" fill="hold">
                                          <p:stCondLst>
                                            <p:cond delay="0"/>
                                          </p:stCondLst>
                                        </p:cTn>
                                        <p:tgtEl>
                                          <p:spTgt spid="2174"/>
                                        </p:tgtEl>
                                        <p:attrNameLst>
                                          <p:attrName>style.visibility</p:attrName>
                                        </p:attrNameLst>
                                      </p:cBhvr>
                                      <p:to>
                                        <p:strVal val="visible"/>
                                      </p:to>
                                    </p:set>
                                    <p:animEffect filter="fade" transition="in">
                                      <p:cBhvr additive="repl">
                                        <p:cTn id="2851" dur="400"/>
                                        <p:tgtEl>
                                          <p:spTgt spid="2174"/>
                                        </p:tgtEl>
                                      </p:cBhvr>
                                    </p:animEffect>
                                  </p:childTnLst>
                                </p:cTn>
                              </p:par>
                              <p:par>
                                <p:cTn id="2852" nodeType="withEffect" fill="hold" presetClass="entr" presetID="10">
                                  <p:stCondLst>
                                    <p:cond delay="600"/>
                                  </p:stCondLst>
                                  <p:childTnLst>
                                    <p:set>
                                      <p:cBhvr>
                                        <p:cTn id="2853" dur="1" fill="hold">
                                          <p:stCondLst>
                                            <p:cond delay="0"/>
                                          </p:stCondLst>
                                        </p:cTn>
                                        <p:tgtEl>
                                          <p:spTgt spid="2175"/>
                                        </p:tgtEl>
                                        <p:attrNameLst>
                                          <p:attrName>style.visibility</p:attrName>
                                        </p:attrNameLst>
                                      </p:cBhvr>
                                      <p:to>
                                        <p:strVal val="visible"/>
                                      </p:to>
                                    </p:set>
                                    <p:animEffect filter="fade" transition="in">
                                      <p:cBhvr additive="repl">
                                        <p:cTn id="2854" dur="400"/>
                                        <p:tgtEl>
                                          <p:spTgt spid="2175"/>
                                        </p:tgtEl>
                                      </p:cBhvr>
                                    </p:animEffect>
                                  </p:childTnLst>
                                </p:cTn>
                              </p:par>
                              <p:par>
                                <p:cTn id="2855" nodeType="withEffect" fill="hold" presetClass="entr" presetID="10">
                                  <p:stCondLst>
                                    <p:cond delay="600"/>
                                  </p:stCondLst>
                                  <p:childTnLst>
                                    <p:set>
                                      <p:cBhvr>
                                        <p:cTn id="2856" dur="1" fill="hold">
                                          <p:stCondLst>
                                            <p:cond delay="0"/>
                                          </p:stCondLst>
                                        </p:cTn>
                                        <p:tgtEl>
                                          <p:spTgt spid="2176"/>
                                        </p:tgtEl>
                                        <p:attrNameLst>
                                          <p:attrName>style.visibility</p:attrName>
                                        </p:attrNameLst>
                                      </p:cBhvr>
                                      <p:to>
                                        <p:strVal val="visible"/>
                                      </p:to>
                                    </p:set>
                                    <p:animEffect filter="fade" transition="in">
                                      <p:cBhvr additive="repl">
                                        <p:cTn id="2857" dur="400"/>
                                        <p:tgtEl>
                                          <p:spTgt spid="2176"/>
                                        </p:tgtEl>
                                      </p:cBhvr>
                                    </p:animEffect>
                                  </p:childTnLst>
                                </p:cTn>
                              </p:par>
                              <p:par>
                                <p:cTn id="2858" nodeType="withEffect" fill="hold" presetClass="entr" presetID="10">
                                  <p:stCondLst>
                                    <p:cond delay="900"/>
                                  </p:stCondLst>
                                  <p:childTnLst>
                                    <p:set>
                                      <p:cBhvr>
                                        <p:cTn id="2859" dur="1" fill="hold">
                                          <p:stCondLst>
                                            <p:cond delay="0"/>
                                          </p:stCondLst>
                                        </p:cTn>
                                        <p:tgtEl>
                                          <p:spTgt spid="2177"/>
                                        </p:tgtEl>
                                        <p:attrNameLst>
                                          <p:attrName>style.visibility</p:attrName>
                                        </p:attrNameLst>
                                      </p:cBhvr>
                                      <p:to>
                                        <p:strVal val="visible"/>
                                      </p:to>
                                    </p:set>
                                    <p:animEffect filter="fade" transition="in">
                                      <p:cBhvr additive="repl">
                                        <p:cTn id="2860" dur="400"/>
                                        <p:tgtEl>
                                          <p:spTgt spid="2177"/>
                                        </p:tgtEl>
                                      </p:cBhvr>
                                    </p:animEffect>
                                  </p:childTnLst>
                                </p:cTn>
                              </p:par>
                              <p:par>
                                <p:cTn id="2861" nodeType="withEffect" fill="hold" presetClass="entr" presetID="10">
                                  <p:stCondLst>
                                    <p:cond delay="900"/>
                                  </p:stCondLst>
                                  <p:childTnLst>
                                    <p:set>
                                      <p:cBhvr>
                                        <p:cTn id="2862" dur="1" fill="hold">
                                          <p:stCondLst>
                                            <p:cond delay="0"/>
                                          </p:stCondLst>
                                        </p:cTn>
                                        <p:tgtEl>
                                          <p:spTgt spid="2178"/>
                                        </p:tgtEl>
                                        <p:attrNameLst>
                                          <p:attrName>style.visibility</p:attrName>
                                        </p:attrNameLst>
                                      </p:cBhvr>
                                      <p:to>
                                        <p:strVal val="visible"/>
                                      </p:to>
                                    </p:set>
                                    <p:animEffect filter="fade" transition="in">
                                      <p:cBhvr additive="repl">
                                        <p:cTn id="2863" dur="400"/>
                                        <p:tgtEl>
                                          <p:spTgt spid="2178"/>
                                        </p:tgtEl>
                                      </p:cBhvr>
                                    </p:animEffect>
                                  </p:childTnLst>
                                </p:cTn>
                              </p:par>
                              <p:par>
                                <p:cTn id="2864" nodeType="withEffect" fill="hold" presetClass="entr" presetID="10">
                                  <p:stCondLst>
                                    <p:cond delay="900"/>
                                  </p:stCondLst>
                                  <p:childTnLst>
                                    <p:set>
                                      <p:cBhvr>
                                        <p:cTn id="2865" dur="1" fill="hold">
                                          <p:stCondLst>
                                            <p:cond delay="0"/>
                                          </p:stCondLst>
                                        </p:cTn>
                                        <p:tgtEl>
                                          <p:spTgt spid="2179"/>
                                        </p:tgtEl>
                                        <p:attrNameLst>
                                          <p:attrName>style.visibility</p:attrName>
                                        </p:attrNameLst>
                                      </p:cBhvr>
                                      <p:to>
                                        <p:strVal val="visible"/>
                                      </p:to>
                                    </p:set>
                                    <p:animEffect filter="fade" transition="in">
                                      <p:cBhvr additive="repl">
                                        <p:cTn id="2866" dur="400"/>
                                        <p:tgtEl>
                                          <p:spTgt spid="2179"/>
                                        </p:tgtEl>
                                      </p:cBhvr>
                                    </p:animEffect>
                                  </p:childTnLst>
                                </p:cTn>
                              </p:par>
                              <p:par>
                                <p:cTn id="2867" nodeType="withEffect" fill="hold" presetClass="entr" presetID="10">
                                  <p:stCondLst>
                                    <p:cond delay="900"/>
                                  </p:stCondLst>
                                  <p:childTnLst>
                                    <p:set>
                                      <p:cBhvr>
                                        <p:cTn id="2868" dur="1" fill="hold">
                                          <p:stCondLst>
                                            <p:cond delay="0"/>
                                          </p:stCondLst>
                                        </p:cTn>
                                        <p:tgtEl>
                                          <p:spTgt spid="2180"/>
                                        </p:tgtEl>
                                        <p:attrNameLst>
                                          <p:attrName>style.visibility</p:attrName>
                                        </p:attrNameLst>
                                      </p:cBhvr>
                                      <p:to>
                                        <p:strVal val="visible"/>
                                      </p:to>
                                    </p:set>
                                    <p:animEffect filter="fade" transition="in">
                                      <p:cBhvr additive="repl">
                                        <p:cTn id="2869" dur="400"/>
                                        <p:tgtEl>
                                          <p:spTgt spid="2180"/>
                                        </p:tgtEl>
                                      </p:cBhvr>
                                    </p:animEffect>
                                  </p:childTnLst>
                                </p:cTn>
                              </p:par>
                              <p:par>
                                <p:cTn id="2870" nodeType="withEffect" fill="hold" presetClass="entr" presetID="10">
                                  <p:stCondLst>
                                    <p:cond delay="900"/>
                                  </p:stCondLst>
                                  <p:childTnLst>
                                    <p:set>
                                      <p:cBhvr>
                                        <p:cTn id="2871" dur="1" fill="hold">
                                          <p:stCondLst>
                                            <p:cond delay="0"/>
                                          </p:stCondLst>
                                        </p:cTn>
                                        <p:tgtEl>
                                          <p:spTgt spid="2181"/>
                                        </p:tgtEl>
                                        <p:attrNameLst>
                                          <p:attrName>style.visibility</p:attrName>
                                        </p:attrNameLst>
                                      </p:cBhvr>
                                      <p:to>
                                        <p:strVal val="visible"/>
                                      </p:to>
                                    </p:set>
                                    <p:animEffect filter="fade" transition="in">
                                      <p:cBhvr additive="repl">
                                        <p:cTn id="2872" dur="400"/>
                                        <p:tgtEl>
                                          <p:spTgt spid="2181"/>
                                        </p:tgtEl>
                                      </p:cBhvr>
                                    </p:animEffect>
                                  </p:childTnLst>
                                </p:cTn>
                              </p:par>
                              <p:par>
                                <p:cTn id="2873" nodeType="withEffect" fill="hold" presetClass="entr" presetID="10">
                                  <p:stCondLst>
                                    <p:cond delay="900"/>
                                  </p:stCondLst>
                                  <p:childTnLst>
                                    <p:set>
                                      <p:cBhvr>
                                        <p:cTn id="2874" dur="1" fill="hold">
                                          <p:stCondLst>
                                            <p:cond delay="0"/>
                                          </p:stCondLst>
                                        </p:cTn>
                                        <p:tgtEl>
                                          <p:spTgt spid="2182"/>
                                        </p:tgtEl>
                                        <p:attrNameLst>
                                          <p:attrName>style.visibility</p:attrName>
                                        </p:attrNameLst>
                                      </p:cBhvr>
                                      <p:to>
                                        <p:strVal val="visible"/>
                                      </p:to>
                                    </p:set>
                                    <p:animEffect filter="fade" transition="in">
                                      <p:cBhvr additive="repl">
                                        <p:cTn id="2875" dur="400"/>
                                        <p:tgtEl>
                                          <p:spTgt spid="2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192" name="o1" descr="BONUS → HIGH SCORE"/>
          <p:cNvPicPr/>
          <p:nvPr/>
        </p:nvPicPr>
        <p:blipFill>
          <a:blip r:embed="rId1"/>
          <a:stretch/>
        </p:blipFill>
        <p:spPr>
          <a:xfrm>
            <a:off x="548640" y="411480"/>
            <a:ext cx="2633040" cy="145800"/>
          </a:xfrm>
          <a:prstGeom prst="rect">
            <a:avLst/>
          </a:prstGeom>
          <a:ln w="0">
            <a:noFill/>
          </a:ln>
        </p:spPr>
      </p:pic>
      <p:pic>
        <p:nvPicPr>
          <p:cNvPr id="2193" name="o2" descr="Le prix de la prestation"/>
          <p:cNvPicPr/>
          <p:nvPr/>
        </p:nvPicPr>
        <p:blipFill>
          <a:blip r:embed="rId2"/>
          <a:stretch/>
        </p:blipFill>
        <p:spPr>
          <a:xfrm>
            <a:off x="548640" y="777240"/>
            <a:ext cx="6583320" cy="273960"/>
          </a:xfrm>
          <a:prstGeom prst="rect">
            <a:avLst/>
          </a:prstGeom>
          <a:ln w="0">
            <a:noFill/>
          </a:ln>
        </p:spPr>
      </p:pic>
      <p:pic>
        <p:nvPicPr>
          <p:cNvPr id="2194" name="o3" descr="image-17-12.png"/>
          <p:cNvPicPr/>
          <p:nvPr/>
        </p:nvPicPr>
        <p:blipFill>
          <a:blip r:embed="rId3"/>
          <a:stretch/>
        </p:blipFill>
        <p:spPr>
          <a:xfrm>
            <a:off x="11073240" y="365760"/>
            <a:ext cx="566640" cy="566640"/>
          </a:xfrm>
          <a:prstGeom prst="rect">
            <a:avLst/>
          </a:prstGeom>
          <a:ln w="0">
            <a:noFill/>
          </a:ln>
        </p:spPr>
      </p:pic>
      <p:sp>
        <p:nvSpPr>
          <p:cNvPr id="2195" name="o4"/>
          <p:cNvSpPr/>
          <p:nvPr/>
        </p:nvSpPr>
        <p:spPr>
          <a:xfrm>
            <a:off x="548640" y="1645920"/>
            <a:ext cx="4480200" cy="1645560"/>
          </a:xfrm>
          <a:prstGeom prst="roundRect">
            <a:avLst>
              <a:gd name="adj" fmla="val 7777"/>
            </a:avLst>
          </a:prstGeom>
          <a:solidFill>
            <a:srgbClr val="000000"/>
          </a:solidFill>
          <a:ln w="28575">
            <a:solidFill>
              <a:srgbClr val="00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196" name="o5"/>
          <p:cNvSpPr/>
          <p:nvPr/>
        </p:nvSpPr>
        <p:spPr>
          <a:xfrm>
            <a:off x="617040" y="1714680"/>
            <a:ext cx="4343040" cy="1508400"/>
          </a:xfrm>
          <a:prstGeom prst="roundRect">
            <a:avLst>
              <a:gd name="adj" fmla="val 3939"/>
            </a:avLst>
          </a:prstGeom>
          <a:noFill/>
          <a:ln w="12700">
            <a:solidFill>
              <a:srgbClr val="00fff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197" name="o6" descr="AVANT"/>
          <p:cNvPicPr/>
          <p:nvPr/>
        </p:nvPicPr>
        <p:blipFill>
          <a:blip r:embed="rId4"/>
          <a:stretch/>
        </p:blipFill>
        <p:spPr>
          <a:xfrm>
            <a:off x="868680" y="1920240"/>
            <a:ext cx="776880" cy="155160"/>
          </a:xfrm>
          <a:prstGeom prst="rect">
            <a:avLst/>
          </a:prstGeom>
          <a:ln w="0">
            <a:noFill/>
          </a:ln>
        </p:spPr>
      </p:pic>
      <p:pic>
        <p:nvPicPr>
          <p:cNvPr id="2198" name="o7" descr="7 200 €"/>
          <p:cNvPicPr/>
          <p:nvPr/>
        </p:nvPicPr>
        <p:blipFill>
          <a:blip r:embed="rId5"/>
          <a:stretch/>
        </p:blipFill>
        <p:spPr>
          <a:xfrm>
            <a:off x="868680" y="2240280"/>
            <a:ext cx="2688120" cy="383760"/>
          </a:xfrm>
          <a:prstGeom prst="rect">
            <a:avLst/>
          </a:prstGeom>
          <a:ln w="0">
            <a:noFill/>
          </a:ln>
        </p:spPr>
      </p:pic>
      <p:sp>
        <p:nvSpPr>
          <p:cNvPr id="2199" name="o8"/>
          <p:cNvSpPr/>
          <p:nvPr/>
        </p:nvSpPr>
        <p:spPr>
          <a:xfrm>
            <a:off x="868680" y="2788920"/>
            <a:ext cx="39315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HT · 16 jours · ventes seules</a:t>
            </a:r>
            <a:endParaRPr b="0" lang="en-US" sz="1400" spc="-1" strike="noStrike">
              <a:solidFill>
                <a:srgbClr val="ffffff"/>
              </a:solidFill>
              <a:latin typeface="Arial"/>
            </a:endParaRPr>
          </a:p>
        </p:txBody>
      </p:sp>
      <p:sp>
        <p:nvSpPr>
          <p:cNvPr id="2200" name="o9"/>
          <p:cNvSpPr/>
          <p:nvPr/>
        </p:nvSpPr>
        <p:spPr>
          <a:xfrm>
            <a:off x="548640" y="3520440"/>
            <a:ext cx="4480200" cy="1645560"/>
          </a:xfrm>
          <a:prstGeom prst="roundRect">
            <a:avLst>
              <a:gd name="adj" fmla="val 7777"/>
            </a:avLst>
          </a:prstGeom>
          <a:solidFill>
            <a:srgbClr val="000000"/>
          </a:solidFill>
          <a:ln w="28575">
            <a:solidFill>
              <a:srgbClr val="ffe6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201" name="o10"/>
          <p:cNvSpPr/>
          <p:nvPr/>
        </p:nvSpPr>
        <p:spPr>
          <a:xfrm>
            <a:off x="617040" y="3589200"/>
            <a:ext cx="4343040" cy="1508400"/>
          </a:xfrm>
          <a:prstGeom prst="roundRect">
            <a:avLst>
              <a:gd name="adj" fmla="val 3939"/>
            </a:avLst>
          </a:prstGeom>
          <a:noFill/>
          <a:ln w="12700">
            <a:solidFill>
              <a:srgbClr val="ffe6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202" name="o11" descr="APRES"/>
          <p:cNvPicPr/>
          <p:nvPr/>
        </p:nvPicPr>
        <p:blipFill>
          <a:blip r:embed="rId6"/>
          <a:stretch/>
        </p:blipFill>
        <p:spPr>
          <a:xfrm>
            <a:off x="868680" y="3794760"/>
            <a:ext cx="776880" cy="155160"/>
          </a:xfrm>
          <a:prstGeom prst="rect">
            <a:avLst/>
          </a:prstGeom>
          <a:ln w="0">
            <a:noFill/>
          </a:ln>
        </p:spPr>
      </p:pic>
      <p:pic>
        <p:nvPicPr>
          <p:cNvPr id="2203" name="o12" descr="11 700 €"/>
          <p:cNvPicPr/>
          <p:nvPr/>
        </p:nvPicPr>
        <p:blipFill>
          <a:blip r:embed="rId7"/>
          <a:stretch/>
        </p:blipFill>
        <p:spPr>
          <a:xfrm>
            <a:off x="868680" y="4114800"/>
            <a:ext cx="3071880" cy="383760"/>
          </a:xfrm>
          <a:prstGeom prst="rect">
            <a:avLst/>
          </a:prstGeom>
          <a:ln w="0">
            <a:noFill/>
          </a:ln>
        </p:spPr>
      </p:pic>
      <p:sp>
        <p:nvSpPr>
          <p:cNvPr id="2204" name="o13"/>
          <p:cNvSpPr/>
          <p:nvPr/>
        </p:nvSpPr>
        <p:spPr>
          <a:xfrm>
            <a:off x="868680" y="4663440"/>
            <a:ext cx="393156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HT · 26 jours · ventes + notes</a:t>
            </a:r>
            <a:endParaRPr b="0" lang="en-US" sz="1400" spc="-1" strike="noStrike">
              <a:solidFill>
                <a:srgbClr val="ffffff"/>
              </a:solidFill>
              <a:latin typeface="Arial"/>
            </a:endParaRPr>
          </a:p>
        </p:txBody>
      </p:sp>
      <p:sp>
        <p:nvSpPr>
          <p:cNvPr id="2205" name="o14"/>
          <p:cNvSpPr/>
          <p:nvPr/>
        </p:nvSpPr>
        <p:spPr>
          <a:xfrm>
            <a:off x="548640" y="5440680"/>
            <a:ext cx="4480200" cy="4878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600" spc="-1" strike="noStrike">
                <a:solidFill>
                  <a:srgbClr val="ffffff"/>
                </a:solidFill>
                <a:latin typeface="Arial"/>
              </a:rPr>
              <a:t>+4 500 € HT (+62,5 %)</a:t>
            </a:r>
            <a:endParaRPr b="0" lang="en-US" sz="1600" spc="-1" strike="noStrike">
              <a:solidFill>
                <a:srgbClr val="ffffff"/>
              </a:solidFill>
              <a:latin typeface="Arial"/>
            </a:endParaRPr>
          </a:p>
          <a:p>
            <a:pPr defTabSz="914400">
              <a:lnSpc>
                <a:spcPct val="100000"/>
              </a:lnSpc>
            </a:pPr>
            <a:r>
              <a:rPr b="0" lang="en-US" sz="1600" spc="-1" strike="noStrike">
                <a:solidFill>
                  <a:srgbClr val="c4c4e4"/>
                </a:solidFill>
                <a:latin typeface="Arial"/>
              </a:rPr>
              <a:t>TJM 450 € · réutilisation de l'existant</a:t>
            </a:r>
            <a:endParaRPr b="0" lang="en-US" sz="1600" spc="-1" strike="noStrike">
              <a:solidFill>
                <a:srgbClr val="ffffff"/>
              </a:solidFill>
              <a:latin typeface="Arial"/>
            </a:endParaRPr>
          </a:p>
        </p:txBody>
      </p:sp>
      <p:graphicFrame>
        <p:nvGraphicFramePr>
          <p:cNvPr id="2206" name="o15"/>
          <p:cNvGraphicFramePr/>
          <p:nvPr/>
        </p:nvGraphicFramePr>
        <p:xfrm>
          <a:off x="5349240" y="1920240"/>
          <a:ext cx="6309000" cy="4114440"/>
        </p:xfrm>
        <a:graphic>
          <a:graphicData uri="http://schemas.openxmlformats.org/drawingml/2006/chart">
            <c:chart xmlns:c="http://schemas.openxmlformats.org/drawingml/2006/chart" xmlns:r="http://schemas.openxmlformats.org/officeDocument/2006/relationships" r:id="rId8"/>
          </a:graphicData>
        </a:graphic>
      </p:graphicFrame>
      <p:pic>
        <p:nvPicPr>
          <p:cNvPr id="2207" name="o16" descr="+10 JOURS AVEC LA BASE 2"/>
          <p:cNvPicPr/>
          <p:nvPr/>
        </p:nvPicPr>
        <p:blipFill>
          <a:blip r:embed="rId9"/>
          <a:stretch/>
        </p:blipFill>
        <p:spPr>
          <a:xfrm>
            <a:off x="5532120" y="1691640"/>
            <a:ext cx="3291480" cy="136800"/>
          </a:xfrm>
          <a:prstGeom prst="rect">
            <a:avLst/>
          </a:prstGeom>
          <a:ln w="0">
            <a:noFill/>
          </a:ln>
        </p:spPr>
      </p:pic>
      <p:pic>
        <p:nvPicPr>
          <p:cNvPr id="2208" name="fin_pastille" descr="image-1-13.gif"/>
          <p:cNvPicPr/>
          <p:nvPr/>
        </p:nvPicPr>
        <p:blipFill>
          <a:blip r:embed="rId10"/>
          <a:stretch/>
        </p:blipFill>
        <p:spPr>
          <a:xfrm>
            <a:off x="11448360" y="6355080"/>
            <a:ext cx="182520" cy="182520"/>
          </a:xfrm>
          <a:prstGeom prst="rect">
            <a:avLst/>
          </a:prstGeom>
          <a:ln w="0">
            <a:noFill/>
          </a:ln>
        </p:spPr>
      </p:pic>
      <p:pic>
        <p:nvPicPr>
          <p:cNvPr id="2209" name="barre_fantome" descr="image.gif"/>
          <p:cNvPicPr/>
          <p:nvPr/>
        </p:nvPicPr>
        <p:blipFill>
          <a:blip r:embed="rId11"/>
          <a:stretch/>
        </p:blipFill>
        <p:spPr>
          <a:xfrm>
            <a:off x="9453024" y="6291000"/>
            <a:ext cx="310680" cy="310680"/>
          </a:xfrm>
          <a:prstGeom prst="rect">
            <a:avLst/>
          </a:prstGeom>
          <a:ln w="0">
            <a:noFill/>
          </a:ln>
        </p:spPr>
      </p:pic>
      <p:sp>
        <p:nvSpPr>
          <p:cNvPr id="2211" name="barre_pastille"/>
          <p:cNvSpPr/>
          <p:nvPr/>
        </p:nvSpPr>
        <p:spPr>
          <a:xfrm>
            <a:off x="105156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11"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12"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13"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2210" name="barre_pacman" descr="image.gif"/>
          <p:cNvPicPr/>
          <p:nvPr/>
        </p:nvPicPr>
        <p:blipFill>
          <a:blip r:embed="rId12"/>
          <a:stretch/>
        </p:blipFill>
        <p:spPr>
          <a:xfrm>
            <a:off x="10020024" y="6291000"/>
            <a:ext cx="310680" cy="310680"/>
          </a:xfrm>
          <a:prstGeom prst="rect">
            <a:avLst/>
          </a:prstGeom>
          <a:ln w="0">
            <a:noFill/>
          </a:ln>
        </p:spPr>
      </p:pic>
      <p:sp>
        <p:nvSpPr>
          <p:cNvPr id="2214" name="orateur" descr="Orateur : B"/>
          <p:cNvSpPr/>
          <p:nvPr/>
        </p:nvSpPr>
        <p:spPr>
          <a:xfrm>
            <a:off x="11704320" y="6263640"/>
            <a:ext cx="365760" cy="365760"/>
          </a:xfrm>
          <a:prstGeom prst="roundRect">
            <a:avLst>
              <a:gd name="adj" fmla="val 22000"/>
            </a:avLst>
          </a:prstGeom>
          <a:solidFill>
            <a:srgbClr val="000000"/>
          </a:solidFill>
          <a:ln w="19050">
            <a:solidFill>
              <a:srgbClr val="00E5FF"/>
            </a:solidFill>
          </a:ln>
        </p:spPr>
        <p:txBody>
          <a:bodyPr lIns="0" rIns="0" tIns="0" bIns="0" anchor="ctr">
            <a:noAutofit/>
          </a:bodyPr>
          <a:lstStyle/>
          <a:p>
            <a:pPr algn="ctr"/>
            <a:r>
              <a:rPr lang="fr-FR" sz="1300" b="1">
                <a:solidFill>
                  <a:srgbClr val="00E5FF"/>
                </a:solidFill>
                <a:latin typeface="Arial"/>
              </a:rPr>
              <a:t>B</a:t>
            </a:r>
          </a:p>
        </p:txBody>
      </p:sp>
    </p:spTree>
  </p:cSld>
  <p:transition>
    <p:fade/>
  </p:transition>
  <p:timing>
    <p:tnLst>
      <p:par>
        <p:cTn id="2876" dur="indefinite" restart="never" nodeType="tmRoot">
          <p:childTnLst>
            <p:seq>
              <p:cTn id="2877" dur="indefinite" nodeType="mainSeq">
                <p:childTnLst>
                  <p:par>
                    <p:cTn id="2878" fill="hold">
                      <p:stCondLst>
                        <p:cond delay="0"/>
                      </p:stCondLst>
                      <p:childTnLst>
                        <p:par>
                          <p:cTn id="2879" fill="hold">
                            <p:stCondLst>
                              <p:cond delay="0"/>
                            </p:stCondLst>
                            <p:childTnLst>
                              <p:par>
                                <p:cTn id="2880" nodeType="withEffect" fill="hold" presetClass="path">
                                  <p:stCondLst>
                                    <p:cond delay="0"/>
                                  </p:stCondLst>
                                  <p:childTnLst>
                                    <p:animMotion origin="layout" path="M 0 0 L 0.02252 0 E">
                                      <p:cBhvr>
                                        <p:cTn id="2881" dur="900" fill="hold"/>
                                        <p:tgtEl>
                                          <p:spTgt spid="2209"/>
                                        </p:tgtEl>
                                        <p:attrNameLst>
                                          <p:attrName>ppt_x</p:attrName>
                                          <p:attrName>ppt_y</p:attrName>
                                        </p:attrNameLst>
                                      </p:cBhvr>
                                    </p:animMotion>
                                  </p:childTnLst>
                                </p:cTn>
                              </p:par>
                              <p:par>
                                <p:cTn id="2882" nodeType="withEffect" fill="hold" presetClass="path">
                                  <p:stCondLst>
                                    <p:cond delay="0"/>
                                  </p:stCondLst>
                                  <p:childTnLst>
                                    <p:animMotion origin="layout" path="M 0 0 L 0.02252 0 E">
                                      <p:cBhvr>
                                        <p:cTn id="2883" dur="900" fill="hold"/>
                                        <p:tgtEl>
                                          <p:spTgt spid="2210"/>
                                        </p:tgtEl>
                                        <p:attrNameLst>
                                          <p:attrName>ppt_x</p:attrName>
                                          <p:attrName>ppt_y</p:attrName>
                                        </p:attrNameLst>
                                      </p:cBhvr>
                                    </p:animMotion>
                                  </p:childTnLst>
                                </p:cTn>
                              </p:par>
                              <p:par>
                                <p:cTn id="2884" nodeType="withEffect" fill="hold" presetClass="exit" presetID="1">
                                  <p:stCondLst>
                                    <p:cond delay="721"/>
                                  </p:stCondLst>
                                  <p:childTnLst>
                                    <p:set>
                                      <p:cBhvr>
                                        <p:cTn id="2885" dur="1" fill="hold">
                                          <p:stCondLst>
                                            <p:cond delay="0"/>
                                          </p:stCondLst>
                                        </p:cTn>
                                        <p:tgtEl>
                                          <p:spTgt spid="2211"/>
                                        </p:tgtEl>
                                        <p:attrNameLst>
                                          <p:attrName>style.visibility</p:attrName>
                                        </p:attrNameLst>
                                      </p:cBhvr>
                                      <p:to>
                                        <p:strVal val="hidden"/>
                                      </p:to>
                                    </p:set>
                                  </p:childTnLst>
                                </p:cTn>
                              </p:par>
                              <p:par>
                                <p:cTn id="2886" nodeType="withEffect" fill="hold" presetClass="entr" presetID="10">
                                  <p:stCondLst>
                                    <p:cond delay="200"/>
                                  </p:stCondLst>
                                  <p:childTnLst>
                                    <p:set>
                                      <p:cBhvr>
                                        <p:cTn id="2887" dur="1" fill="hold">
                                          <p:stCondLst>
                                            <p:cond delay="0"/>
                                          </p:stCondLst>
                                        </p:cTn>
                                        <p:tgtEl>
                                          <p:spTgt spid="2195"/>
                                        </p:tgtEl>
                                        <p:attrNameLst>
                                          <p:attrName>style.visibility</p:attrName>
                                        </p:attrNameLst>
                                      </p:cBhvr>
                                      <p:to>
                                        <p:strVal val="visible"/>
                                      </p:to>
                                    </p:set>
                                    <p:animEffect filter="fade" transition="in">
                                      <p:cBhvr additive="repl">
                                        <p:cTn id="2888" dur="400"/>
                                        <p:tgtEl>
                                          <p:spTgt spid="2195"/>
                                        </p:tgtEl>
                                      </p:cBhvr>
                                    </p:animEffect>
                                  </p:childTnLst>
                                </p:cTn>
                              </p:par>
                              <p:par>
                                <p:cTn id="2889" nodeType="withEffect" fill="hold" presetClass="entr" presetID="10">
                                  <p:stCondLst>
                                    <p:cond delay="200"/>
                                  </p:stCondLst>
                                  <p:childTnLst>
                                    <p:set>
                                      <p:cBhvr>
                                        <p:cTn id="2890" dur="1" fill="hold">
                                          <p:stCondLst>
                                            <p:cond delay="0"/>
                                          </p:stCondLst>
                                        </p:cTn>
                                        <p:tgtEl>
                                          <p:spTgt spid="2196"/>
                                        </p:tgtEl>
                                        <p:attrNameLst>
                                          <p:attrName>style.visibility</p:attrName>
                                        </p:attrNameLst>
                                      </p:cBhvr>
                                      <p:to>
                                        <p:strVal val="visible"/>
                                      </p:to>
                                    </p:set>
                                    <p:animEffect filter="fade" transition="in">
                                      <p:cBhvr additive="repl">
                                        <p:cTn id="2891" dur="400"/>
                                        <p:tgtEl>
                                          <p:spTgt spid="2196"/>
                                        </p:tgtEl>
                                      </p:cBhvr>
                                    </p:animEffect>
                                  </p:childTnLst>
                                </p:cTn>
                              </p:par>
                              <p:par>
                                <p:cTn id="2892" nodeType="withEffect" fill="hold" presetClass="entr" presetID="10">
                                  <p:stCondLst>
                                    <p:cond delay="200"/>
                                  </p:stCondLst>
                                  <p:childTnLst>
                                    <p:set>
                                      <p:cBhvr>
                                        <p:cTn id="2893" dur="1" fill="hold">
                                          <p:stCondLst>
                                            <p:cond delay="0"/>
                                          </p:stCondLst>
                                        </p:cTn>
                                        <p:tgtEl>
                                          <p:spTgt spid="2197"/>
                                        </p:tgtEl>
                                        <p:attrNameLst>
                                          <p:attrName>style.visibility</p:attrName>
                                        </p:attrNameLst>
                                      </p:cBhvr>
                                      <p:to>
                                        <p:strVal val="visible"/>
                                      </p:to>
                                    </p:set>
                                    <p:animEffect filter="fade" transition="in">
                                      <p:cBhvr additive="repl">
                                        <p:cTn id="2894" dur="400"/>
                                        <p:tgtEl>
                                          <p:spTgt spid="2197"/>
                                        </p:tgtEl>
                                      </p:cBhvr>
                                    </p:animEffect>
                                  </p:childTnLst>
                                </p:cTn>
                              </p:par>
                              <p:par>
                                <p:cTn id="2895" nodeType="withEffect" fill="hold" presetClass="entr" presetID="10">
                                  <p:stCondLst>
                                    <p:cond delay="200"/>
                                  </p:stCondLst>
                                  <p:childTnLst>
                                    <p:set>
                                      <p:cBhvr>
                                        <p:cTn id="2896" dur="1" fill="hold">
                                          <p:stCondLst>
                                            <p:cond delay="0"/>
                                          </p:stCondLst>
                                        </p:cTn>
                                        <p:tgtEl>
                                          <p:spTgt spid="2198"/>
                                        </p:tgtEl>
                                        <p:attrNameLst>
                                          <p:attrName>style.visibility</p:attrName>
                                        </p:attrNameLst>
                                      </p:cBhvr>
                                      <p:to>
                                        <p:strVal val="visible"/>
                                      </p:to>
                                    </p:set>
                                    <p:animEffect filter="fade" transition="in">
                                      <p:cBhvr additive="repl">
                                        <p:cTn id="2897" dur="400"/>
                                        <p:tgtEl>
                                          <p:spTgt spid="2198"/>
                                        </p:tgtEl>
                                      </p:cBhvr>
                                    </p:animEffect>
                                  </p:childTnLst>
                                </p:cTn>
                              </p:par>
                              <p:par>
                                <p:cTn id="2898" nodeType="withEffect" fill="hold" presetClass="entr" presetID="10">
                                  <p:stCondLst>
                                    <p:cond delay="200"/>
                                  </p:stCondLst>
                                  <p:childTnLst>
                                    <p:set>
                                      <p:cBhvr>
                                        <p:cTn id="2899" dur="1" fill="hold">
                                          <p:stCondLst>
                                            <p:cond delay="0"/>
                                          </p:stCondLst>
                                        </p:cTn>
                                        <p:tgtEl>
                                          <p:spTgt spid="2199"/>
                                        </p:tgtEl>
                                        <p:attrNameLst>
                                          <p:attrName>style.visibility</p:attrName>
                                        </p:attrNameLst>
                                      </p:cBhvr>
                                      <p:to>
                                        <p:strVal val="visible"/>
                                      </p:to>
                                    </p:set>
                                    <p:animEffect filter="fade" transition="in">
                                      <p:cBhvr additive="repl">
                                        <p:cTn id="2900" dur="400"/>
                                        <p:tgtEl>
                                          <p:spTgt spid="2199"/>
                                        </p:tgtEl>
                                      </p:cBhvr>
                                    </p:animEffect>
                                  </p:childTnLst>
                                </p:cTn>
                              </p:par>
                              <p:par>
                                <p:cTn id="2901" nodeType="withEffect" fill="hold" presetClass="entr" presetID="10">
                                  <p:stCondLst>
                                    <p:cond delay="500"/>
                                  </p:stCondLst>
                                  <p:childTnLst>
                                    <p:set>
                                      <p:cBhvr>
                                        <p:cTn id="2902" dur="1" fill="hold">
                                          <p:stCondLst>
                                            <p:cond delay="0"/>
                                          </p:stCondLst>
                                        </p:cTn>
                                        <p:tgtEl>
                                          <p:spTgt spid="2200"/>
                                        </p:tgtEl>
                                        <p:attrNameLst>
                                          <p:attrName>style.visibility</p:attrName>
                                        </p:attrNameLst>
                                      </p:cBhvr>
                                      <p:to>
                                        <p:strVal val="visible"/>
                                      </p:to>
                                    </p:set>
                                    <p:animEffect filter="fade" transition="in">
                                      <p:cBhvr additive="repl">
                                        <p:cTn id="2903" dur="400"/>
                                        <p:tgtEl>
                                          <p:spTgt spid="2200"/>
                                        </p:tgtEl>
                                      </p:cBhvr>
                                    </p:animEffect>
                                  </p:childTnLst>
                                </p:cTn>
                              </p:par>
                              <p:par>
                                <p:cTn id="2904" nodeType="withEffect" fill="hold" presetClass="entr" presetID="10">
                                  <p:stCondLst>
                                    <p:cond delay="500"/>
                                  </p:stCondLst>
                                  <p:childTnLst>
                                    <p:set>
                                      <p:cBhvr>
                                        <p:cTn id="2905" dur="1" fill="hold">
                                          <p:stCondLst>
                                            <p:cond delay="0"/>
                                          </p:stCondLst>
                                        </p:cTn>
                                        <p:tgtEl>
                                          <p:spTgt spid="2201"/>
                                        </p:tgtEl>
                                        <p:attrNameLst>
                                          <p:attrName>style.visibility</p:attrName>
                                        </p:attrNameLst>
                                      </p:cBhvr>
                                      <p:to>
                                        <p:strVal val="visible"/>
                                      </p:to>
                                    </p:set>
                                    <p:animEffect filter="fade" transition="in">
                                      <p:cBhvr additive="repl">
                                        <p:cTn id="2906" dur="400"/>
                                        <p:tgtEl>
                                          <p:spTgt spid="2201"/>
                                        </p:tgtEl>
                                      </p:cBhvr>
                                    </p:animEffect>
                                  </p:childTnLst>
                                </p:cTn>
                              </p:par>
                              <p:par>
                                <p:cTn id="2907" nodeType="withEffect" fill="hold" presetClass="entr" presetID="10">
                                  <p:stCondLst>
                                    <p:cond delay="500"/>
                                  </p:stCondLst>
                                  <p:childTnLst>
                                    <p:set>
                                      <p:cBhvr>
                                        <p:cTn id="2908" dur="1" fill="hold">
                                          <p:stCondLst>
                                            <p:cond delay="0"/>
                                          </p:stCondLst>
                                        </p:cTn>
                                        <p:tgtEl>
                                          <p:spTgt spid="2202"/>
                                        </p:tgtEl>
                                        <p:attrNameLst>
                                          <p:attrName>style.visibility</p:attrName>
                                        </p:attrNameLst>
                                      </p:cBhvr>
                                      <p:to>
                                        <p:strVal val="visible"/>
                                      </p:to>
                                    </p:set>
                                    <p:animEffect filter="fade" transition="in">
                                      <p:cBhvr additive="repl">
                                        <p:cTn id="2909" dur="400"/>
                                        <p:tgtEl>
                                          <p:spTgt spid="2202"/>
                                        </p:tgtEl>
                                      </p:cBhvr>
                                    </p:animEffect>
                                  </p:childTnLst>
                                </p:cTn>
                              </p:par>
                              <p:par>
                                <p:cTn id="2910" nodeType="withEffect" fill="hold" presetClass="entr" presetID="10">
                                  <p:stCondLst>
                                    <p:cond delay="500"/>
                                  </p:stCondLst>
                                  <p:childTnLst>
                                    <p:set>
                                      <p:cBhvr>
                                        <p:cTn id="2911" dur="1" fill="hold">
                                          <p:stCondLst>
                                            <p:cond delay="0"/>
                                          </p:stCondLst>
                                        </p:cTn>
                                        <p:tgtEl>
                                          <p:spTgt spid="2203"/>
                                        </p:tgtEl>
                                        <p:attrNameLst>
                                          <p:attrName>style.visibility</p:attrName>
                                        </p:attrNameLst>
                                      </p:cBhvr>
                                      <p:to>
                                        <p:strVal val="visible"/>
                                      </p:to>
                                    </p:set>
                                    <p:animEffect filter="fade" transition="in">
                                      <p:cBhvr additive="repl">
                                        <p:cTn id="2912" dur="400"/>
                                        <p:tgtEl>
                                          <p:spTgt spid="2203"/>
                                        </p:tgtEl>
                                      </p:cBhvr>
                                    </p:animEffect>
                                  </p:childTnLst>
                                </p:cTn>
                              </p:par>
                              <p:par>
                                <p:cTn id="2913" nodeType="withEffect" fill="hold" presetClass="entr" presetID="10">
                                  <p:stCondLst>
                                    <p:cond delay="500"/>
                                  </p:stCondLst>
                                  <p:childTnLst>
                                    <p:set>
                                      <p:cBhvr>
                                        <p:cTn id="2914" dur="1" fill="hold">
                                          <p:stCondLst>
                                            <p:cond delay="0"/>
                                          </p:stCondLst>
                                        </p:cTn>
                                        <p:tgtEl>
                                          <p:spTgt spid="2204"/>
                                        </p:tgtEl>
                                        <p:attrNameLst>
                                          <p:attrName>style.visibility</p:attrName>
                                        </p:attrNameLst>
                                      </p:cBhvr>
                                      <p:to>
                                        <p:strVal val="visible"/>
                                      </p:to>
                                    </p:set>
                                    <p:animEffect filter="fade" transition="in">
                                      <p:cBhvr additive="repl">
                                        <p:cTn id="2915" dur="400"/>
                                        <p:tgtEl>
                                          <p:spTgt spid="2204"/>
                                        </p:tgtEl>
                                      </p:cBhvr>
                                    </p:animEffect>
                                  </p:childTnLst>
                                </p:cTn>
                              </p:par>
                              <p:par>
                                <p:cTn id="2916" nodeType="withEffect" fill="hold" presetClass="entr" presetID="10">
                                  <p:stCondLst>
                                    <p:cond delay="800"/>
                                  </p:stCondLst>
                                  <p:childTnLst>
                                    <p:set>
                                      <p:cBhvr>
                                        <p:cTn id="2917" dur="1" fill="hold">
                                          <p:stCondLst>
                                            <p:cond delay="0"/>
                                          </p:stCondLst>
                                        </p:cTn>
                                        <p:tgtEl>
                                          <p:spTgt spid="2205"/>
                                        </p:tgtEl>
                                        <p:attrNameLst>
                                          <p:attrName>style.visibility</p:attrName>
                                        </p:attrNameLst>
                                      </p:cBhvr>
                                      <p:to>
                                        <p:strVal val="visible"/>
                                      </p:to>
                                    </p:set>
                                    <p:animEffect filter="fade" transition="in">
                                      <p:cBhvr additive="repl">
                                        <p:cTn id="2918" dur="400"/>
                                        <p:tgtEl>
                                          <p:spTgt spid="2205"/>
                                        </p:tgtEl>
                                      </p:cBhvr>
                                    </p:animEffect>
                                  </p:childTnLst>
                                </p:cTn>
                              </p:par>
                              <p:par>
                                <p:cTn id="2919" nodeType="withEffect" fill="hold" presetClass="entr" presetID="10">
                                  <p:stCondLst>
                                    <p:cond delay="1100"/>
                                  </p:stCondLst>
                                  <p:childTnLst>
                                    <p:set>
                                      <p:cBhvr>
                                        <p:cTn id="2920" dur="1" fill="hold">
                                          <p:stCondLst>
                                            <p:cond delay="0"/>
                                          </p:stCondLst>
                                        </p:cTn>
                                        <p:tgtEl>
                                          <p:spTgt spid="2206"/>
                                        </p:tgtEl>
                                        <p:attrNameLst>
                                          <p:attrName>style.visibility</p:attrName>
                                        </p:attrNameLst>
                                      </p:cBhvr>
                                      <p:to>
                                        <p:strVal val="visible"/>
                                      </p:to>
                                    </p:set>
                                    <p:animEffect filter="fade" transition="in">
                                      <p:cBhvr additive="repl">
                                        <p:cTn id="2921" dur="400"/>
                                        <p:tgtEl>
                                          <p:spTgt spid="2206"/>
                                        </p:tgtEl>
                                      </p:cBhvr>
                                    </p:animEffect>
                                  </p:childTnLst>
                                </p:cTn>
                              </p:par>
                              <p:par>
                                <p:cTn id="2922" nodeType="withEffect" fill="hold" presetClass="entr" presetID="10">
                                  <p:stCondLst>
                                    <p:cond delay="1100"/>
                                  </p:stCondLst>
                                  <p:childTnLst>
                                    <p:set>
                                      <p:cBhvr>
                                        <p:cTn id="2923" dur="1" fill="hold">
                                          <p:stCondLst>
                                            <p:cond delay="0"/>
                                          </p:stCondLst>
                                        </p:cTn>
                                        <p:tgtEl>
                                          <p:spTgt spid="2207"/>
                                        </p:tgtEl>
                                        <p:attrNameLst>
                                          <p:attrName>style.visibility</p:attrName>
                                        </p:attrNameLst>
                                      </p:cBhvr>
                                      <p:to>
                                        <p:strVal val="visible"/>
                                      </p:to>
                                    </p:set>
                                    <p:animEffect filter="fade" transition="in">
                                      <p:cBhvr additive="repl">
                                        <p:cTn id="2924" dur="400"/>
                                        <p:tgtEl>
                                          <p:spTgt spid="2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215" name="o1" descr="BONUS → FIN DE PARTIE"/>
          <p:cNvPicPr/>
          <p:nvPr/>
        </p:nvPicPr>
        <p:blipFill>
          <a:blip r:embed="rId1"/>
          <a:stretch/>
        </p:blipFill>
        <p:spPr>
          <a:xfrm>
            <a:off x="548640" y="411480"/>
            <a:ext cx="3071880" cy="145800"/>
          </a:xfrm>
          <a:prstGeom prst="rect">
            <a:avLst/>
          </a:prstGeom>
          <a:ln w="0">
            <a:noFill/>
          </a:ln>
        </p:spPr>
      </p:pic>
      <p:pic>
        <p:nvPicPr>
          <p:cNvPr id="2216" name="o2" descr="Limites et recommandations"/>
          <p:cNvPicPr/>
          <p:nvPr/>
        </p:nvPicPr>
        <p:blipFill>
          <a:blip r:embed="rId2"/>
          <a:stretch/>
        </p:blipFill>
        <p:spPr>
          <a:xfrm>
            <a:off x="548640" y="777240"/>
            <a:ext cx="7131960" cy="273960"/>
          </a:xfrm>
          <a:prstGeom prst="rect">
            <a:avLst/>
          </a:prstGeom>
          <a:ln w="0">
            <a:noFill/>
          </a:ln>
        </p:spPr>
      </p:pic>
      <p:pic>
        <p:nvPicPr>
          <p:cNvPr id="2217" name="o3" descr="image-17-12.png"/>
          <p:cNvPicPr/>
          <p:nvPr/>
        </p:nvPicPr>
        <p:blipFill>
          <a:blip r:embed="rId3"/>
          <a:stretch/>
        </p:blipFill>
        <p:spPr>
          <a:xfrm>
            <a:off x="11073240" y="365760"/>
            <a:ext cx="566640" cy="566640"/>
          </a:xfrm>
          <a:prstGeom prst="rect">
            <a:avLst/>
          </a:prstGeom>
          <a:ln w="0">
            <a:noFill/>
          </a:ln>
        </p:spPr>
      </p:pic>
      <p:sp>
        <p:nvSpPr>
          <p:cNvPr id="2218" name="o4"/>
          <p:cNvSpPr/>
          <p:nvPr/>
        </p:nvSpPr>
        <p:spPr>
          <a:xfrm>
            <a:off x="548640" y="1600200"/>
            <a:ext cx="5303160" cy="4434480"/>
          </a:xfrm>
          <a:prstGeom prst="roundRect">
            <a:avLst>
              <a:gd name="adj" fmla="val 2886"/>
            </a:avLst>
          </a:prstGeom>
          <a:solidFill>
            <a:srgbClr val="000000"/>
          </a:solidFill>
          <a:ln w="28575">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219" name="o5"/>
          <p:cNvSpPr/>
          <p:nvPr/>
        </p:nvSpPr>
        <p:spPr>
          <a:xfrm>
            <a:off x="617040" y="1668960"/>
            <a:ext cx="5166000" cy="4297320"/>
          </a:xfrm>
          <a:prstGeom prst="roundRect">
            <a:avLst>
              <a:gd name="adj" fmla="val 1382"/>
            </a:avLst>
          </a:prstGeom>
          <a:noFill/>
          <a:ln w="12700">
            <a:solidFill>
              <a:srgbClr val="2121de"/>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220" name="o6" descr="LIMITES"/>
          <p:cNvPicPr/>
          <p:nvPr/>
        </p:nvPicPr>
        <p:blipFill>
          <a:blip r:embed="rId4"/>
          <a:stretch/>
        </p:blipFill>
        <p:spPr>
          <a:xfrm>
            <a:off x="868680" y="1874520"/>
            <a:ext cx="1087920" cy="155160"/>
          </a:xfrm>
          <a:prstGeom prst="rect">
            <a:avLst/>
          </a:prstGeom>
          <a:ln w="0">
            <a:noFill/>
          </a:ln>
        </p:spPr>
      </p:pic>
      <p:pic>
        <p:nvPicPr>
          <p:cNvPr id="2221" name="o7" descr="image-11-9.png"/>
          <p:cNvPicPr/>
          <p:nvPr/>
        </p:nvPicPr>
        <p:blipFill>
          <a:blip r:embed="rId5"/>
          <a:stretch/>
        </p:blipFill>
        <p:spPr>
          <a:xfrm>
            <a:off x="868680" y="2377440"/>
            <a:ext cx="383760" cy="383760"/>
          </a:xfrm>
          <a:prstGeom prst="rect">
            <a:avLst/>
          </a:prstGeom>
          <a:ln w="0">
            <a:noFill/>
          </a:ln>
        </p:spPr>
      </p:pic>
      <p:sp>
        <p:nvSpPr>
          <p:cNvPr id="2222" name="o8"/>
          <p:cNvSpPr/>
          <p:nvPr/>
        </p:nvSpPr>
        <p:spPr>
          <a:xfrm>
            <a:off x="1463040" y="2340720"/>
            <a:ext cx="420588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ffffff"/>
                </a:solidFill>
                <a:latin typeface="Arial"/>
              </a:rPr>
              <a:t>Notes partielles</a:t>
            </a:r>
            <a:endParaRPr b="0" lang="en-US" sz="1800" spc="-1" strike="noStrike">
              <a:solidFill>
                <a:srgbClr val="ffffff"/>
              </a:solidFill>
              <a:latin typeface="Arial"/>
            </a:endParaRPr>
          </a:p>
        </p:txBody>
      </p:sp>
      <p:sp>
        <p:nvSpPr>
          <p:cNvPr id="2223" name="o9"/>
          <p:cNvSpPr/>
          <p:nvPr/>
        </p:nvSpPr>
        <p:spPr>
          <a:xfrm>
            <a:off x="1463040" y="2724840"/>
            <a:ext cx="420588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49 % des jeux, surtout récents et visibles</a:t>
            </a:r>
            <a:endParaRPr b="0" lang="en-US" sz="1400" spc="-1" strike="noStrike">
              <a:solidFill>
                <a:srgbClr val="ffffff"/>
              </a:solidFill>
              <a:latin typeface="Arial"/>
            </a:endParaRPr>
          </a:p>
        </p:txBody>
      </p:sp>
      <p:pic>
        <p:nvPicPr>
          <p:cNvPr id="2224" name="o10" descr="image-11-9.png"/>
          <p:cNvPicPr/>
          <p:nvPr/>
        </p:nvPicPr>
        <p:blipFill>
          <a:blip r:embed="rId6"/>
          <a:stretch/>
        </p:blipFill>
        <p:spPr>
          <a:xfrm>
            <a:off x="868680" y="3520440"/>
            <a:ext cx="383760" cy="383760"/>
          </a:xfrm>
          <a:prstGeom prst="rect">
            <a:avLst/>
          </a:prstGeom>
          <a:ln w="0">
            <a:noFill/>
          </a:ln>
        </p:spPr>
      </p:pic>
      <p:sp>
        <p:nvSpPr>
          <p:cNvPr id="2225" name="o11"/>
          <p:cNvSpPr/>
          <p:nvPr/>
        </p:nvSpPr>
        <p:spPr>
          <a:xfrm>
            <a:off x="1463040" y="3483720"/>
            <a:ext cx="420588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ffffff"/>
                </a:solidFill>
                <a:latin typeface="Arial"/>
              </a:rPr>
              <a:t>Lien ≠ cause</a:t>
            </a:r>
            <a:endParaRPr b="0" lang="en-US" sz="1800" spc="-1" strike="noStrike">
              <a:solidFill>
                <a:srgbClr val="ffffff"/>
              </a:solidFill>
              <a:latin typeface="Arial"/>
            </a:endParaRPr>
          </a:p>
        </p:txBody>
      </p:sp>
      <p:sp>
        <p:nvSpPr>
          <p:cNvPr id="2226" name="o12"/>
          <p:cNvSpPr/>
          <p:nvPr/>
        </p:nvSpPr>
        <p:spPr>
          <a:xfrm>
            <a:off x="1463040" y="3867840"/>
            <a:ext cx="420588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le marketing peut expliquer note ET ventes</a:t>
            </a:r>
            <a:endParaRPr b="0" lang="en-US" sz="1400" spc="-1" strike="noStrike">
              <a:solidFill>
                <a:srgbClr val="ffffff"/>
              </a:solidFill>
              <a:latin typeface="Arial"/>
            </a:endParaRPr>
          </a:p>
        </p:txBody>
      </p:sp>
      <p:pic>
        <p:nvPicPr>
          <p:cNvPr id="2227" name="o13" descr="image-11-9.png"/>
          <p:cNvPicPr/>
          <p:nvPr/>
        </p:nvPicPr>
        <p:blipFill>
          <a:blip r:embed="rId7"/>
          <a:stretch/>
        </p:blipFill>
        <p:spPr>
          <a:xfrm>
            <a:off x="868680" y="4663440"/>
            <a:ext cx="383760" cy="383760"/>
          </a:xfrm>
          <a:prstGeom prst="rect">
            <a:avLst/>
          </a:prstGeom>
          <a:ln w="0">
            <a:noFill/>
          </a:ln>
        </p:spPr>
      </p:pic>
      <p:sp>
        <p:nvSpPr>
          <p:cNvPr id="2228" name="o14"/>
          <p:cNvSpPr/>
          <p:nvPr/>
        </p:nvSpPr>
        <p:spPr>
          <a:xfrm>
            <a:off x="1463040" y="4626720"/>
            <a:ext cx="420588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ffffff"/>
                </a:solidFill>
                <a:latin typeface="Arial"/>
              </a:rPr>
              <a:t>Source occidentale</a:t>
            </a:r>
            <a:endParaRPr b="0" lang="en-US" sz="1800" spc="-1" strike="noStrike">
              <a:solidFill>
                <a:srgbClr val="ffffff"/>
              </a:solidFill>
              <a:latin typeface="Arial"/>
            </a:endParaRPr>
          </a:p>
        </p:txBody>
      </p:sp>
      <p:sp>
        <p:nvSpPr>
          <p:cNvPr id="2229" name="o15"/>
          <p:cNvSpPr/>
          <p:nvPr/>
        </p:nvSpPr>
        <p:spPr>
          <a:xfrm>
            <a:off x="1463040" y="5010840"/>
            <a:ext cx="420588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le Japon est mal couvert par Metacritic</a:t>
            </a:r>
            <a:endParaRPr b="0" lang="en-US" sz="1400" spc="-1" strike="noStrike">
              <a:solidFill>
                <a:srgbClr val="ffffff"/>
              </a:solidFill>
              <a:latin typeface="Arial"/>
            </a:endParaRPr>
          </a:p>
        </p:txBody>
      </p:sp>
      <p:sp>
        <p:nvSpPr>
          <p:cNvPr id="2230" name="o16"/>
          <p:cNvSpPr/>
          <p:nvPr/>
        </p:nvSpPr>
        <p:spPr>
          <a:xfrm>
            <a:off x="6336720" y="1600200"/>
            <a:ext cx="5303160" cy="4434480"/>
          </a:xfrm>
          <a:prstGeom prst="roundRect">
            <a:avLst>
              <a:gd name="adj" fmla="val 2886"/>
            </a:avLst>
          </a:prstGeom>
          <a:solidFill>
            <a:srgbClr val="000000"/>
          </a:solidFill>
          <a:ln w="28575">
            <a:solidFill>
              <a:srgbClr val="00de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sp>
        <p:nvSpPr>
          <p:cNvPr id="2231" name="o17"/>
          <p:cNvSpPr/>
          <p:nvPr/>
        </p:nvSpPr>
        <p:spPr>
          <a:xfrm>
            <a:off x="6405480" y="1668960"/>
            <a:ext cx="5166000" cy="4297320"/>
          </a:xfrm>
          <a:prstGeom prst="roundRect">
            <a:avLst>
              <a:gd name="adj" fmla="val 1382"/>
            </a:avLst>
          </a:prstGeom>
          <a:noFill/>
          <a:ln w="12700">
            <a:solidFill>
              <a:srgbClr val="00de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Arial"/>
            </a:endParaRPr>
          </a:p>
        </p:txBody>
      </p:sp>
      <p:pic>
        <p:nvPicPr>
          <p:cNvPr id="2232" name="o18" descr="RECOMMANDATIONS"/>
          <p:cNvPicPr/>
          <p:nvPr/>
        </p:nvPicPr>
        <p:blipFill>
          <a:blip r:embed="rId8"/>
          <a:stretch/>
        </p:blipFill>
        <p:spPr>
          <a:xfrm>
            <a:off x="6656760" y="1874520"/>
            <a:ext cx="2331360" cy="155160"/>
          </a:xfrm>
          <a:prstGeom prst="rect">
            <a:avLst/>
          </a:prstGeom>
          <a:ln w="0">
            <a:noFill/>
          </a:ln>
        </p:spPr>
      </p:pic>
      <p:pic>
        <p:nvPicPr>
          <p:cNvPr id="2233" name="o19" descr="image-6-17.png"/>
          <p:cNvPicPr/>
          <p:nvPr/>
        </p:nvPicPr>
        <p:blipFill>
          <a:blip r:embed="rId9"/>
          <a:stretch/>
        </p:blipFill>
        <p:spPr>
          <a:xfrm>
            <a:off x="6656760" y="2377440"/>
            <a:ext cx="383760" cy="383760"/>
          </a:xfrm>
          <a:prstGeom prst="rect">
            <a:avLst/>
          </a:prstGeom>
          <a:ln w="0">
            <a:noFill/>
          </a:ln>
        </p:spPr>
      </p:pic>
      <p:sp>
        <p:nvSpPr>
          <p:cNvPr id="2234" name="o20"/>
          <p:cNvSpPr/>
          <p:nvPr/>
        </p:nvSpPr>
        <p:spPr>
          <a:xfrm>
            <a:off x="7251120" y="2340720"/>
            <a:ext cx="420588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ffffff"/>
                </a:solidFill>
                <a:latin typeface="Arial"/>
              </a:rPr>
              <a:t>Miser sur la qualité</a:t>
            </a:r>
            <a:endParaRPr b="0" lang="en-US" sz="1800" spc="-1" strike="noStrike">
              <a:solidFill>
                <a:srgbClr val="ffffff"/>
              </a:solidFill>
              <a:latin typeface="Arial"/>
            </a:endParaRPr>
          </a:p>
        </p:txBody>
      </p:sp>
      <p:sp>
        <p:nvSpPr>
          <p:cNvPr id="2235" name="o21"/>
          <p:cNvSpPr/>
          <p:nvPr/>
        </p:nvSpPr>
        <p:spPr>
          <a:xfrm>
            <a:off x="7251120" y="2724840"/>
            <a:ext cx="420588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les jeux notés 80 et + font 53 % des ventes notées</a:t>
            </a:r>
            <a:endParaRPr b="0" lang="en-US" sz="1400" spc="-1" strike="noStrike">
              <a:solidFill>
                <a:srgbClr val="ffffff"/>
              </a:solidFill>
              <a:latin typeface="Arial"/>
            </a:endParaRPr>
          </a:p>
        </p:txBody>
      </p:sp>
      <p:pic>
        <p:nvPicPr>
          <p:cNvPr id="2236" name="o22" descr="image-6-17.png"/>
          <p:cNvPicPr/>
          <p:nvPr/>
        </p:nvPicPr>
        <p:blipFill>
          <a:blip r:embed="rId10"/>
          <a:stretch/>
        </p:blipFill>
        <p:spPr>
          <a:xfrm>
            <a:off x="6656760" y="3520440"/>
            <a:ext cx="383760" cy="383760"/>
          </a:xfrm>
          <a:prstGeom prst="rect">
            <a:avLst/>
          </a:prstGeom>
          <a:ln w="0">
            <a:noFill/>
          </a:ln>
        </p:spPr>
      </p:pic>
      <p:sp>
        <p:nvSpPr>
          <p:cNvPr id="2237" name="o23"/>
          <p:cNvSpPr/>
          <p:nvPr/>
        </p:nvSpPr>
        <p:spPr>
          <a:xfrm>
            <a:off x="7251120" y="3483720"/>
            <a:ext cx="420588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ffffff"/>
                </a:solidFill>
                <a:latin typeface="Arial"/>
              </a:rPr>
              <a:t>Viser l'Europe</a:t>
            </a:r>
            <a:endParaRPr b="0" lang="en-US" sz="1800" spc="-1" strike="noStrike">
              <a:solidFill>
                <a:srgbClr val="ffffff"/>
              </a:solidFill>
              <a:latin typeface="Arial"/>
            </a:endParaRPr>
          </a:p>
        </p:txBody>
      </p:sp>
      <p:sp>
        <p:nvSpPr>
          <p:cNvPr id="2238" name="o24"/>
          <p:cNvSpPr/>
          <p:nvPr/>
        </p:nvSpPr>
        <p:spPr>
          <a:xfrm>
            <a:off x="7251120" y="3867840"/>
            <a:ext cx="4205880" cy="2138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le marché le plus sensible aux notes</a:t>
            </a:r>
            <a:endParaRPr b="0" lang="en-US" sz="1400" spc="-1" strike="noStrike">
              <a:solidFill>
                <a:srgbClr val="ffffff"/>
              </a:solidFill>
              <a:latin typeface="Arial"/>
            </a:endParaRPr>
          </a:p>
        </p:txBody>
      </p:sp>
      <p:pic>
        <p:nvPicPr>
          <p:cNvPr id="2239" name="o25" descr="image-6-17.png"/>
          <p:cNvPicPr/>
          <p:nvPr/>
        </p:nvPicPr>
        <p:blipFill>
          <a:blip r:embed="rId11"/>
          <a:stretch/>
        </p:blipFill>
        <p:spPr>
          <a:xfrm>
            <a:off x="6656760" y="4663440"/>
            <a:ext cx="383760" cy="383760"/>
          </a:xfrm>
          <a:prstGeom prst="rect">
            <a:avLst/>
          </a:prstGeom>
          <a:ln w="0">
            <a:noFill/>
          </a:ln>
        </p:spPr>
      </p:pic>
      <p:sp>
        <p:nvSpPr>
          <p:cNvPr id="2240" name="o26"/>
          <p:cNvSpPr/>
          <p:nvPr/>
        </p:nvSpPr>
        <p:spPr>
          <a:xfrm>
            <a:off x="7251120" y="4626720"/>
            <a:ext cx="4205880" cy="2746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ffffff"/>
                </a:solidFill>
                <a:latin typeface="Arial"/>
              </a:rPr>
              <a:t>Prochaine source</a:t>
            </a:r>
            <a:endParaRPr b="0" lang="en-US" sz="1800" spc="-1" strike="noStrike">
              <a:solidFill>
                <a:srgbClr val="ffffff"/>
              </a:solidFill>
              <a:latin typeface="Arial"/>
            </a:endParaRPr>
          </a:p>
        </p:txBody>
      </p:sp>
      <p:sp>
        <p:nvSpPr>
          <p:cNvPr id="2241" name="o27"/>
          <p:cNvSpPr/>
          <p:nvPr/>
        </p:nvSpPr>
        <p:spPr>
          <a:xfrm>
            <a:off x="7251120" y="5010840"/>
            <a:ext cx="4205880" cy="4266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pc="-1" strike="noStrike">
                <a:solidFill>
                  <a:srgbClr val="c4c4e4"/>
                </a:solidFill>
                <a:latin typeface="Arial"/>
              </a:rPr>
              <a:t>les ventes dématérialisées (Steam) : l'angle mort de la partie 1</a:t>
            </a:r>
            <a:endParaRPr b="0" lang="en-US" sz="1400" spc="-1" strike="noStrike">
              <a:solidFill>
                <a:srgbClr val="ffffff"/>
              </a:solidFill>
              <a:latin typeface="Arial"/>
            </a:endParaRPr>
          </a:p>
        </p:txBody>
      </p:sp>
      <p:pic>
        <p:nvPicPr>
          <p:cNvPr id="2242" name="fin_pastille" descr="image-1-13.gif"/>
          <p:cNvPicPr/>
          <p:nvPr/>
        </p:nvPicPr>
        <p:blipFill>
          <a:blip r:embed="rId12"/>
          <a:stretch/>
        </p:blipFill>
        <p:spPr>
          <a:xfrm>
            <a:off x="11448360" y="6355080"/>
            <a:ext cx="182520" cy="182520"/>
          </a:xfrm>
          <a:prstGeom prst="rect">
            <a:avLst/>
          </a:prstGeom>
          <a:ln w="0">
            <a:noFill/>
          </a:ln>
        </p:spPr>
      </p:pic>
      <p:pic>
        <p:nvPicPr>
          <p:cNvPr id="2243" name="barre_fantome" descr="image.gif"/>
          <p:cNvPicPr/>
          <p:nvPr/>
        </p:nvPicPr>
        <p:blipFill>
          <a:blip r:embed="rId13"/>
          <a:stretch/>
        </p:blipFill>
        <p:spPr>
          <a:xfrm>
            <a:off x="9727560" y="6291000"/>
            <a:ext cx="310680" cy="310680"/>
          </a:xfrm>
          <a:prstGeom prst="rect">
            <a:avLst/>
          </a:prstGeom>
          <a:ln w="0">
            <a:noFill/>
          </a:ln>
        </p:spPr>
      </p:pic>
      <p:sp>
        <p:nvSpPr>
          <p:cNvPr id="2245" name="barre_pastille"/>
          <p:cNvSpPr/>
          <p:nvPr/>
        </p:nvSpPr>
        <p:spPr>
          <a:xfrm>
            <a:off x="107442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45" name="barre_pastille"/>
          <p:cNvSpPr/>
          <p:nvPr/>
        </p:nvSpPr>
        <p:spPr>
          <a:xfrm>
            <a:off x="109728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sp>
        <p:nvSpPr>
          <p:cNvPr id="2246" name="barre_pastille"/>
          <p:cNvSpPr/>
          <p:nvPr/>
        </p:nvSpPr>
        <p:spPr>
          <a:xfrm>
            <a:off x="11201400" y="6414480"/>
            <a:ext cx="63720" cy="63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pc="-1" strike="noStrike">
              <a:solidFill>
                <a:schemeClr val="lt1"/>
              </a:solidFill>
              <a:latin typeface="Arial"/>
            </a:endParaRPr>
          </a:p>
        </p:txBody>
      </p:sp>
      <p:pic>
        <p:nvPicPr>
          <p:cNvPr id="2244" name="barre_pacman" descr="image.gif"/>
          <p:cNvPicPr/>
          <p:nvPr/>
        </p:nvPicPr>
        <p:blipFill>
          <a:blip r:embed="rId14"/>
          <a:stretch/>
        </p:blipFill>
        <p:spPr>
          <a:xfrm>
            <a:off x="10294560" y="6291000"/>
            <a:ext cx="310680" cy="310680"/>
          </a:xfrm>
          <a:prstGeom prst="rect">
            <a:avLst/>
          </a:prstGeom>
          <a:ln w="0">
            <a:noFill/>
          </a:ln>
        </p:spPr>
      </p:pic>
      <p:sp>
        <p:nvSpPr>
          <p:cNvPr id="2247"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p:transition>
    <p:fade/>
  </p:transition>
  <p:timing>
    <p:tnLst>
      <p:par>
        <p:cTn id="2925" dur="indefinite" restart="never" nodeType="tmRoot">
          <p:childTnLst>
            <p:seq>
              <p:cTn id="2926" dur="indefinite" nodeType="mainSeq">
                <p:childTnLst>
                  <p:par>
                    <p:cTn id="2927" fill="hold">
                      <p:stCondLst>
                        <p:cond delay="0"/>
                      </p:stCondLst>
                      <p:childTnLst>
                        <p:par>
                          <p:cTn id="2928" fill="hold">
                            <p:stCondLst>
                              <p:cond delay="0"/>
                            </p:stCondLst>
                            <p:childTnLst>
                              <p:par>
                                <p:cTn id="2929" nodeType="withEffect" fill="hold" presetClass="path">
                                  <p:stCondLst>
                                    <p:cond delay="0"/>
                                  </p:stCondLst>
                                  <p:childTnLst>
                                    <p:animMotion origin="layout" path="M 0 0 L 0.02252 0 E">
                                      <p:cBhvr>
                                        <p:cTn id="2930" dur="900" fill="hold"/>
                                        <p:tgtEl>
                                          <p:spTgt spid="2243"/>
                                        </p:tgtEl>
                                        <p:attrNameLst>
                                          <p:attrName>ppt_x</p:attrName>
                                          <p:attrName>ppt_y</p:attrName>
                                        </p:attrNameLst>
                                      </p:cBhvr>
                                    </p:animMotion>
                                  </p:childTnLst>
                                </p:cTn>
                              </p:par>
                              <p:par>
                                <p:cTn id="2931" nodeType="withEffect" fill="hold" presetClass="path">
                                  <p:stCondLst>
                                    <p:cond delay="0"/>
                                  </p:stCondLst>
                                  <p:childTnLst>
                                    <p:animMotion origin="layout" path="M 0 0 L 0.02252 0 E">
                                      <p:cBhvr>
                                        <p:cTn id="2932" dur="900" fill="hold"/>
                                        <p:tgtEl>
                                          <p:spTgt spid="2244"/>
                                        </p:tgtEl>
                                        <p:attrNameLst>
                                          <p:attrName>ppt_x</p:attrName>
                                          <p:attrName>ppt_y</p:attrName>
                                        </p:attrNameLst>
                                      </p:cBhvr>
                                    </p:animMotion>
                                  </p:childTnLst>
                                </p:cTn>
                              </p:par>
                              <p:par>
                                <p:cTn id="2933" nodeType="withEffect" fill="hold" presetClass="exit" presetID="1">
                                  <p:stCondLst>
                                    <p:cond delay="592"/>
                                  </p:stCondLst>
                                  <p:childTnLst>
                                    <p:set>
                                      <p:cBhvr>
                                        <p:cTn id="2934" dur="1" fill="hold">
                                          <p:stCondLst>
                                            <p:cond delay="0"/>
                                          </p:stCondLst>
                                        </p:cTn>
                                        <p:tgtEl>
                                          <p:spTgt spid="2245"/>
                                        </p:tgtEl>
                                        <p:attrNameLst>
                                          <p:attrName>style.visibility</p:attrName>
                                        </p:attrNameLst>
                                      </p:cBhvr>
                                      <p:to>
                                        <p:strVal val="hidden"/>
                                      </p:to>
                                    </p:set>
                                  </p:childTnLst>
                                </p:cTn>
                              </p:par>
                              <p:par>
                                <p:cTn id="2935" nodeType="withEffect" fill="hold" presetClass="entr" presetID="10">
                                  <p:stCondLst>
                                    <p:cond delay="200"/>
                                  </p:stCondLst>
                                  <p:childTnLst>
                                    <p:set>
                                      <p:cBhvr>
                                        <p:cTn id="2936" dur="1" fill="hold">
                                          <p:stCondLst>
                                            <p:cond delay="0"/>
                                          </p:stCondLst>
                                        </p:cTn>
                                        <p:tgtEl>
                                          <p:spTgt spid="2218"/>
                                        </p:tgtEl>
                                        <p:attrNameLst>
                                          <p:attrName>style.visibility</p:attrName>
                                        </p:attrNameLst>
                                      </p:cBhvr>
                                      <p:to>
                                        <p:strVal val="visible"/>
                                      </p:to>
                                    </p:set>
                                    <p:animEffect filter="fade" transition="in">
                                      <p:cBhvr additive="repl">
                                        <p:cTn id="2937" dur="400"/>
                                        <p:tgtEl>
                                          <p:spTgt spid="2218"/>
                                        </p:tgtEl>
                                      </p:cBhvr>
                                    </p:animEffect>
                                  </p:childTnLst>
                                </p:cTn>
                              </p:par>
                              <p:par>
                                <p:cTn id="2938" nodeType="withEffect" fill="hold" presetClass="entr" presetID="10">
                                  <p:stCondLst>
                                    <p:cond delay="200"/>
                                  </p:stCondLst>
                                  <p:childTnLst>
                                    <p:set>
                                      <p:cBhvr>
                                        <p:cTn id="2939" dur="1" fill="hold">
                                          <p:stCondLst>
                                            <p:cond delay="0"/>
                                          </p:stCondLst>
                                        </p:cTn>
                                        <p:tgtEl>
                                          <p:spTgt spid="2219"/>
                                        </p:tgtEl>
                                        <p:attrNameLst>
                                          <p:attrName>style.visibility</p:attrName>
                                        </p:attrNameLst>
                                      </p:cBhvr>
                                      <p:to>
                                        <p:strVal val="visible"/>
                                      </p:to>
                                    </p:set>
                                    <p:animEffect filter="fade" transition="in">
                                      <p:cBhvr additive="repl">
                                        <p:cTn id="2940" dur="400"/>
                                        <p:tgtEl>
                                          <p:spTgt spid="2219"/>
                                        </p:tgtEl>
                                      </p:cBhvr>
                                    </p:animEffect>
                                  </p:childTnLst>
                                </p:cTn>
                              </p:par>
                              <p:par>
                                <p:cTn id="2941" nodeType="withEffect" fill="hold" presetClass="entr" presetID="10">
                                  <p:stCondLst>
                                    <p:cond delay="200"/>
                                  </p:stCondLst>
                                  <p:childTnLst>
                                    <p:set>
                                      <p:cBhvr>
                                        <p:cTn id="2942" dur="1" fill="hold">
                                          <p:stCondLst>
                                            <p:cond delay="0"/>
                                          </p:stCondLst>
                                        </p:cTn>
                                        <p:tgtEl>
                                          <p:spTgt spid="2220"/>
                                        </p:tgtEl>
                                        <p:attrNameLst>
                                          <p:attrName>style.visibility</p:attrName>
                                        </p:attrNameLst>
                                      </p:cBhvr>
                                      <p:to>
                                        <p:strVal val="visible"/>
                                      </p:to>
                                    </p:set>
                                    <p:animEffect filter="fade" transition="in">
                                      <p:cBhvr additive="repl">
                                        <p:cTn id="2943" dur="400"/>
                                        <p:tgtEl>
                                          <p:spTgt spid="2220"/>
                                        </p:tgtEl>
                                      </p:cBhvr>
                                    </p:animEffect>
                                  </p:childTnLst>
                                </p:cTn>
                              </p:par>
                              <p:par>
                                <p:cTn id="2944" nodeType="withEffect" fill="hold" presetClass="entr" presetID="10">
                                  <p:stCondLst>
                                    <p:cond delay="400"/>
                                  </p:stCondLst>
                                  <p:childTnLst>
                                    <p:set>
                                      <p:cBhvr>
                                        <p:cTn id="2945" dur="1" fill="hold">
                                          <p:stCondLst>
                                            <p:cond delay="0"/>
                                          </p:stCondLst>
                                        </p:cTn>
                                        <p:tgtEl>
                                          <p:spTgt spid="2221"/>
                                        </p:tgtEl>
                                        <p:attrNameLst>
                                          <p:attrName>style.visibility</p:attrName>
                                        </p:attrNameLst>
                                      </p:cBhvr>
                                      <p:to>
                                        <p:strVal val="visible"/>
                                      </p:to>
                                    </p:set>
                                    <p:animEffect filter="fade" transition="in">
                                      <p:cBhvr additive="repl">
                                        <p:cTn id="2946" dur="400"/>
                                        <p:tgtEl>
                                          <p:spTgt spid="2221"/>
                                        </p:tgtEl>
                                      </p:cBhvr>
                                    </p:animEffect>
                                  </p:childTnLst>
                                </p:cTn>
                              </p:par>
                              <p:par>
                                <p:cTn id="2947" nodeType="withEffect" fill="hold" presetClass="entr" presetID="10">
                                  <p:stCondLst>
                                    <p:cond delay="400"/>
                                  </p:stCondLst>
                                  <p:childTnLst>
                                    <p:set>
                                      <p:cBhvr>
                                        <p:cTn id="2948" dur="1" fill="hold">
                                          <p:stCondLst>
                                            <p:cond delay="0"/>
                                          </p:stCondLst>
                                        </p:cTn>
                                        <p:tgtEl>
                                          <p:spTgt spid="2222"/>
                                        </p:tgtEl>
                                        <p:attrNameLst>
                                          <p:attrName>style.visibility</p:attrName>
                                        </p:attrNameLst>
                                      </p:cBhvr>
                                      <p:to>
                                        <p:strVal val="visible"/>
                                      </p:to>
                                    </p:set>
                                    <p:animEffect filter="fade" transition="in">
                                      <p:cBhvr additive="repl">
                                        <p:cTn id="2949" dur="400"/>
                                        <p:tgtEl>
                                          <p:spTgt spid="2222"/>
                                        </p:tgtEl>
                                      </p:cBhvr>
                                    </p:animEffect>
                                  </p:childTnLst>
                                </p:cTn>
                              </p:par>
                              <p:par>
                                <p:cTn id="2950" nodeType="withEffect" fill="hold" presetClass="entr" presetID="10">
                                  <p:stCondLst>
                                    <p:cond delay="400"/>
                                  </p:stCondLst>
                                  <p:childTnLst>
                                    <p:set>
                                      <p:cBhvr>
                                        <p:cTn id="2951" dur="1" fill="hold">
                                          <p:stCondLst>
                                            <p:cond delay="0"/>
                                          </p:stCondLst>
                                        </p:cTn>
                                        <p:tgtEl>
                                          <p:spTgt spid="2223"/>
                                        </p:tgtEl>
                                        <p:attrNameLst>
                                          <p:attrName>style.visibility</p:attrName>
                                        </p:attrNameLst>
                                      </p:cBhvr>
                                      <p:to>
                                        <p:strVal val="visible"/>
                                      </p:to>
                                    </p:set>
                                    <p:animEffect filter="fade" transition="in">
                                      <p:cBhvr additive="repl">
                                        <p:cTn id="2952" dur="400"/>
                                        <p:tgtEl>
                                          <p:spTgt spid="2223"/>
                                        </p:tgtEl>
                                      </p:cBhvr>
                                    </p:animEffect>
                                  </p:childTnLst>
                                </p:cTn>
                              </p:par>
                              <p:par>
                                <p:cTn id="2953" nodeType="withEffect" fill="hold" presetClass="entr" presetID="10">
                                  <p:stCondLst>
                                    <p:cond delay="650"/>
                                  </p:stCondLst>
                                  <p:childTnLst>
                                    <p:set>
                                      <p:cBhvr>
                                        <p:cTn id="2954" dur="1" fill="hold">
                                          <p:stCondLst>
                                            <p:cond delay="0"/>
                                          </p:stCondLst>
                                        </p:cTn>
                                        <p:tgtEl>
                                          <p:spTgt spid="2224"/>
                                        </p:tgtEl>
                                        <p:attrNameLst>
                                          <p:attrName>style.visibility</p:attrName>
                                        </p:attrNameLst>
                                      </p:cBhvr>
                                      <p:to>
                                        <p:strVal val="visible"/>
                                      </p:to>
                                    </p:set>
                                    <p:animEffect filter="fade" transition="in">
                                      <p:cBhvr additive="repl">
                                        <p:cTn id="2955" dur="400"/>
                                        <p:tgtEl>
                                          <p:spTgt spid="2224"/>
                                        </p:tgtEl>
                                      </p:cBhvr>
                                    </p:animEffect>
                                  </p:childTnLst>
                                </p:cTn>
                              </p:par>
                              <p:par>
                                <p:cTn id="2956" nodeType="withEffect" fill="hold" presetClass="entr" presetID="10">
                                  <p:stCondLst>
                                    <p:cond delay="650"/>
                                  </p:stCondLst>
                                  <p:childTnLst>
                                    <p:set>
                                      <p:cBhvr>
                                        <p:cTn id="2957" dur="1" fill="hold">
                                          <p:stCondLst>
                                            <p:cond delay="0"/>
                                          </p:stCondLst>
                                        </p:cTn>
                                        <p:tgtEl>
                                          <p:spTgt spid="2225"/>
                                        </p:tgtEl>
                                        <p:attrNameLst>
                                          <p:attrName>style.visibility</p:attrName>
                                        </p:attrNameLst>
                                      </p:cBhvr>
                                      <p:to>
                                        <p:strVal val="visible"/>
                                      </p:to>
                                    </p:set>
                                    <p:animEffect filter="fade" transition="in">
                                      <p:cBhvr additive="repl">
                                        <p:cTn id="2958" dur="400"/>
                                        <p:tgtEl>
                                          <p:spTgt spid="2225"/>
                                        </p:tgtEl>
                                      </p:cBhvr>
                                    </p:animEffect>
                                  </p:childTnLst>
                                </p:cTn>
                              </p:par>
                              <p:par>
                                <p:cTn id="2959" nodeType="withEffect" fill="hold" presetClass="entr" presetID="10">
                                  <p:stCondLst>
                                    <p:cond delay="650"/>
                                  </p:stCondLst>
                                  <p:childTnLst>
                                    <p:set>
                                      <p:cBhvr>
                                        <p:cTn id="2960" dur="1" fill="hold">
                                          <p:stCondLst>
                                            <p:cond delay="0"/>
                                          </p:stCondLst>
                                        </p:cTn>
                                        <p:tgtEl>
                                          <p:spTgt spid="2226"/>
                                        </p:tgtEl>
                                        <p:attrNameLst>
                                          <p:attrName>style.visibility</p:attrName>
                                        </p:attrNameLst>
                                      </p:cBhvr>
                                      <p:to>
                                        <p:strVal val="visible"/>
                                      </p:to>
                                    </p:set>
                                    <p:animEffect filter="fade" transition="in">
                                      <p:cBhvr additive="repl">
                                        <p:cTn id="2961" dur="400"/>
                                        <p:tgtEl>
                                          <p:spTgt spid="2226"/>
                                        </p:tgtEl>
                                      </p:cBhvr>
                                    </p:animEffect>
                                  </p:childTnLst>
                                </p:cTn>
                              </p:par>
                              <p:par>
                                <p:cTn id="2962" nodeType="withEffect" fill="hold" presetClass="entr" presetID="10">
                                  <p:stCondLst>
                                    <p:cond delay="900"/>
                                  </p:stCondLst>
                                  <p:childTnLst>
                                    <p:set>
                                      <p:cBhvr>
                                        <p:cTn id="2963" dur="1" fill="hold">
                                          <p:stCondLst>
                                            <p:cond delay="0"/>
                                          </p:stCondLst>
                                        </p:cTn>
                                        <p:tgtEl>
                                          <p:spTgt spid="2227"/>
                                        </p:tgtEl>
                                        <p:attrNameLst>
                                          <p:attrName>style.visibility</p:attrName>
                                        </p:attrNameLst>
                                      </p:cBhvr>
                                      <p:to>
                                        <p:strVal val="visible"/>
                                      </p:to>
                                    </p:set>
                                    <p:animEffect filter="fade" transition="in">
                                      <p:cBhvr additive="repl">
                                        <p:cTn id="2964" dur="400"/>
                                        <p:tgtEl>
                                          <p:spTgt spid="2227"/>
                                        </p:tgtEl>
                                      </p:cBhvr>
                                    </p:animEffect>
                                  </p:childTnLst>
                                </p:cTn>
                              </p:par>
                              <p:par>
                                <p:cTn id="2965" nodeType="withEffect" fill="hold" presetClass="entr" presetID="10">
                                  <p:stCondLst>
                                    <p:cond delay="900"/>
                                  </p:stCondLst>
                                  <p:childTnLst>
                                    <p:set>
                                      <p:cBhvr>
                                        <p:cTn id="2966" dur="1" fill="hold">
                                          <p:stCondLst>
                                            <p:cond delay="0"/>
                                          </p:stCondLst>
                                        </p:cTn>
                                        <p:tgtEl>
                                          <p:spTgt spid="2228"/>
                                        </p:tgtEl>
                                        <p:attrNameLst>
                                          <p:attrName>style.visibility</p:attrName>
                                        </p:attrNameLst>
                                      </p:cBhvr>
                                      <p:to>
                                        <p:strVal val="visible"/>
                                      </p:to>
                                    </p:set>
                                    <p:animEffect filter="fade" transition="in">
                                      <p:cBhvr additive="repl">
                                        <p:cTn id="2967" dur="400"/>
                                        <p:tgtEl>
                                          <p:spTgt spid="2228"/>
                                        </p:tgtEl>
                                      </p:cBhvr>
                                    </p:animEffect>
                                  </p:childTnLst>
                                </p:cTn>
                              </p:par>
                              <p:par>
                                <p:cTn id="2968" nodeType="withEffect" fill="hold" presetClass="entr" presetID="10">
                                  <p:stCondLst>
                                    <p:cond delay="900"/>
                                  </p:stCondLst>
                                  <p:childTnLst>
                                    <p:set>
                                      <p:cBhvr>
                                        <p:cTn id="2969" dur="1" fill="hold">
                                          <p:stCondLst>
                                            <p:cond delay="0"/>
                                          </p:stCondLst>
                                        </p:cTn>
                                        <p:tgtEl>
                                          <p:spTgt spid="2229"/>
                                        </p:tgtEl>
                                        <p:attrNameLst>
                                          <p:attrName>style.visibility</p:attrName>
                                        </p:attrNameLst>
                                      </p:cBhvr>
                                      <p:to>
                                        <p:strVal val="visible"/>
                                      </p:to>
                                    </p:set>
                                    <p:animEffect filter="fade" transition="in">
                                      <p:cBhvr additive="repl">
                                        <p:cTn id="2970" dur="400"/>
                                        <p:tgtEl>
                                          <p:spTgt spid="2229"/>
                                        </p:tgtEl>
                                      </p:cBhvr>
                                    </p:animEffect>
                                  </p:childTnLst>
                                </p:cTn>
                              </p:par>
                              <p:par>
                                <p:cTn id="2971" nodeType="withEffect" fill="hold" presetClass="entr" presetID="10">
                                  <p:stCondLst>
                                    <p:cond delay="1300"/>
                                  </p:stCondLst>
                                  <p:childTnLst>
                                    <p:set>
                                      <p:cBhvr>
                                        <p:cTn id="2972" dur="1" fill="hold">
                                          <p:stCondLst>
                                            <p:cond delay="0"/>
                                          </p:stCondLst>
                                        </p:cTn>
                                        <p:tgtEl>
                                          <p:spTgt spid="2230"/>
                                        </p:tgtEl>
                                        <p:attrNameLst>
                                          <p:attrName>style.visibility</p:attrName>
                                        </p:attrNameLst>
                                      </p:cBhvr>
                                      <p:to>
                                        <p:strVal val="visible"/>
                                      </p:to>
                                    </p:set>
                                    <p:animEffect filter="fade" transition="in">
                                      <p:cBhvr additive="repl">
                                        <p:cTn id="2973" dur="400"/>
                                        <p:tgtEl>
                                          <p:spTgt spid="2230"/>
                                        </p:tgtEl>
                                      </p:cBhvr>
                                    </p:animEffect>
                                  </p:childTnLst>
                                </p:cTn>
                              </p:par>
                              <p:par>
                                <p:cTn id="2974" nodeType="withEffect" fill="hold" presetClass="entr" presetID="10">
                                  <p:stCondLst>
                                    <p:cond delay="1300"/>
                                  </p:stCondLst>
                                  <p:childTnLst>
                                    <p:set>
                                      <p:cBhvr>
                                        <p:cTn id="2975" dur="1" fill="hold">
                                          <p:stCondLst>
                                            <p:cond delay="0"/>
                                          </p:stCondLst>
                                        </p:cTn>
                                        <p:tgtEl>
                                          <p:spTgt spid="2231"/>
                                        </p:tgtEl>
                                        <p:attrNameLst>
                                          <p:attrName>style.visibility</p:attrName>
                                        </p:attrNameLst>
                                      </p:cBhvr>
                                      <p:to>
                                        <p:strVal val="visible"/>
                                      </p:to>
                                    </p:set>
                                    <p:animEffect filter="fade" transition="in">
                                      <p:cBhvr additive="repl">
                                        <p:cTn id="2976" dur="400"/>
                                        <p:tgtEl>
                                          <p:spTgt spid="2231"/>
                                        </p:tgtEl>
                                      </p:cBhvr>
                                    </p:animEffect>
                                  </p:childTnLst>
                                </p:cTn>
                              </p:par>
                              <p:par>
                                <p:cTn id="2977" nodeType="withEffect" fill="hold" presetClass="entr" presetID="10">
                                  <p:stCondLst>
                                    <p:cond delay="1300"/>
                                  </p:stCondLst>
                                  <p:childTnLst>
                                    <p:set>
                                      <p:cBhvr>
                                        <p:cTn id="2978" dur="1" fill="hold">
                                          <p:stCondLst>
                                            <p:cond delay="0"/>
                                          </p:stCondLst>
                                        </p:cTn>
                                        <p:tgtEl>
                                          <p:spTgt spid="2232"/>
                                        </p:tgtEl>
                                        <p:attrNameLst>
                                          <p:attrName>style.visibility</p:attrName>
                                        </p:attrNameLst>
                                      </p:cBhvr>
                                      <p:to>
                                        <p:strVal val="visible"/>
                                      </p:to>
                                    </p:set>
                                    <p:animEffect filter="fade" transition="in">
                                      <p:cBhvr additive="repl">
                                        <p:cTn id="2979" dur="400"/>
                                        <p:tgtEl>
                                          <p:spTgt spid="2232"/>
                                        </p:tgtEl>
                                      </p:cBhvr>
                                    </p:animEffect>
                                  </p:childTnLst>
                                </p:cTn>
                              </p:par>
                              <p:par>
                                <p:cTn id="2980" nodeType="withEffect" fill="hold" presetClass="entr" presetID="10">
                                  <p:stCondLst>
                                    <p:cond delay="1500"/>
                                  </p:stCondLst>
                                  <p:childTnLst>
                                    <p:set>
                                      <p:cBhvr>
                                        <p:cTn id="2981" dur="1" fill="hold">
                                          <p:stCondLst>
                                            <p:cond delay="0"/>
                                          </p:stCondLst>
                                        </p:cTn>
                                        <p:tgtEl>
                                          <p:spTgt spid="2233"/>
                                        </p:tgtEl>
                                        <p:attrNameLst>
                                          <p:attrName>style.visibility</p:attrName>
                                        </p:attrNameLst>
                                      </p:cBhvr>
                                      <p:to>
                                        <p:strVal val="visible"/>
                                      </p:to>
                                    </p:set>
                                    <p:animEffect filter="fade" transition="in">
                                      <p:cBhvr additive="repl">
                                        <p:cTn id="2982" dur="400"/>
                                        <p:tgtEl>
                                          <p:spTgt spid="2233"/>
                                        </p:tgtEl>
                                      </p:cBhvr>
                                    </p:animEffect>
                                  </p:childTnLst>
                                </p:cTn>
                              </p:par>
                              <p:par>
                                <p:cTn id="2983" nodeType="withEffect" fill="hold" presetClass="entr" presetID="10">
                                  <p:stCondLst>
                                    <p:cond delay="1500"/>
                                  </p:stCondLst>
                                  <p:childTnLst>
                                    <p:set>
                                      <p:cBhvr>
                                        <p:cTn id="2984" dur="1" fill="hold">
                                          <p:stCondLst>
                                            <p:cond delay="0"/>
                                          </p:stCondLst>
                                        </p:cTn>
                                        <p:tgtEl>
                                          <p:spTgt spid="2234"/>
                                        </p:tgtEl>
                                        <p:attrNameLst>
                                          <p:attrName>style.visibility</p:attrName>
                                        </p:attrNameLst>
                                      </p:cBhvr>
                                      <p:to>
                                        <p:strVal val="visible"/>
                                      </p:to>
                                    </p:set>
                                    <p:animEffect filter="fade" transition="in">
                                      <p:cBhvr additive="repl">
                                        <p:cTn id="2985" dur="400"/>
                                        <p:tgtEl>
                                          <p:spTgt spid="2234"/>
                                        </p:tgtEl>
                                      </p:cBhvr>
                                    </p:animEffect>
                                  </p:childTnLst>
                                </p:cTn>
                              </p:par>
                              <p:par>
                                <p:cTn id="2986" nodeType="withEffect" fill="hold" presetClass="entr" presetID="10">
                                  <p:stCondLst>
                                    <p:cond delay="1500"/>
                                  </p:stCondLst>
                                  <p:childTnLst>
                                    <p:set>
                                      <p:cBhvr>
                                        <p:cTn id="2987" dur="1" fill="hold">
                                          <p:stCondLst>
                                            <p:cond delay="0"/>
                                          </p:stCondLst>
                                        </p:cTn>
                                        <p:tgtEl>
                                          <p:spTgt spid="2235"/>
                                        </p:tgtEl>
                                        <p:attrNameLst>
                                          <p:attrName>style.visibility</p:attrName>
                                        </p:attrNameLst>
                                      </p:cBhvr>
                                      <p:to>
                                        <p:strVal val="visible"/>
                                      </p:to>
                                    </p:set>
                                    <p:animEffect filter="fade" transition="in">
                                      <p:cBhvr additive="repl">
                                        <p:cTn id="2988" dur="400"/>
                                        <p:tgtEl>
                                          <p:spTgt spid="2235"/>
                                        </p:tgtEl>
                                      </p:cBhvr>
                                    </p:animEffect>
                                  </p:childTnLst>
                                </p:cTn>
                              </p:par>
                              <p:par>
                                <p:cTn id="2989" nodeType="withEffect" fill="hold" presetClass="entr" presetID="10">
                                  <p:stCondLst>
                                    <p:cond delay="1750"/>
                                  </p:stCondLst>
                                  <p:childTnLst>
                                    <p:set>
                                      <p:cBhvr>
                                        <p:cTn id="2990" dur="1" fill="hold">
                                          <p:stCondLst>
                                            <p:cond delay="0"/>
                                          </p:stCondLst>
                                        </p:cTn>
                                        <p:tgtEl>
                                          <p:spTgt spid="2236"/>
                                        </p:tgtEl>
                                        <p:attrNameLst>
                                          <p:attrName>style.visibility</p:attrName>
                                        </p:attrNameLst>
                                      </p:cBhvr>
                                      <p:to>
                                        <p:strVal val="visible"/>
                                      </p:to>
                                    </p:set>
                                    <p:animEffect filter="fade" transition="in">
                                      <p:cBhvr additive="repl">
                                        <p:cTn id="2991" dur="400"/>
                                        <p:tgtEl>
                                          <p:spTgt spid="2236"/>
                                        </p:tgtEl>
                                      </p:cBhvr>
                                    </p:animEffect>
                                  </p:childTnLst>
                                </p:cTn>
                              </p:par>
                              <p:par>
                                <p:cTn id="2992" nodeType="withEffect" fill="hold" presetClass="entr" presetID="10">
                                  <p:stCondLst>
                                    <p:cond delay="1750"/>
                                  </p:stCondLst>
                                  <p:childTnLst>
                                    <p:set>
                                      <p:cBhvr>
                                        <p:cTn id="2993" dur="1" fill="hold">
                                          <p:stCondLst>
                                            <p:cond delay="0"/>
                                          </p:stCondLst>
                                        </p:cTn>
                                        <p:tgtEl>
                                          <p:spTgt spid="2237"/>
                                        </p:tgtEl>
                                        <p:attrNameLst>
                                          <p:attrName>style.visibility</p:attrName>
                                        </p:attrNameLst>
                                      </p:cBhvr>
                                      <p:to>
                                        <p:strVal val="visible"/>
                                      </p:to>
                                    </p:set>
                                    <p:animEffect filter="fade" transition="in">
                                      <p:cBhvr additive="repl">
                                        <p:cTn id="2994" dur="400"/>
                                        <p:tgtEl>
                                          <p:spTgt spid="2237"/>
                                        </p:tgtEl>
                                      </p:cBhvr>
                                    </p:animEffect>
                                  </p:childTnLst>
                                </p:cTn>
                              </p:par>
                              <p:par>
                                <p:cTn id="2995" nodeType="withEffect" fill="hold" presetClass="entr" presetID="10">
                                  <p:stCondLst>
                                    <p:cond delay="1750"/>
                                  </p:stCondLst>
                                  <p:childTnLst>
                                    <p:set>
                                      <p:cBhvr>
                                        <p:cTn id="2996" dur="1" fill="hold">
                                          <p:stCondLst>
                                            <p:cond delay="0"/>
                                          </p:stCondLst>
                                        </p:cTn>
                                        <p:tgtEl>
                                          <p:spTgt spid="2238"/>
                                        </p:tgtEl>
                                        <p:attrNameLst>
                                          <p:attrName>style.visibility</p:attrName>
                                        </p:attrNameLst>
                                      </p:cBhvr>
                                      <p:to>
                                        <p:strVal val="visible"/>
                                      </p:to>
                                    </p:set>
                                    <p:animEffect filter="fade" transition="in">
                                      <p:cBhvr additive="repl">
                                        <p:cTn id="2997" dur="400"/>
                                        <p:tgtEl>
                                          <p:spTgt spid="2238"/>
                                        </p:tgtEl>
                                      </p:cBhvr>
                                    </p:animEffect>
                                  </p:childTnLst>
                                </p:cTn>
                              </p:par>
                              <p:par>
                                <p:cTn id="2998" nodeType="withEffect" fill="hold" presetClass="entr" presetID="10">
                                  <p:stCondLst>
                                    <p:cond delay="2000"/>
                                  </p:stCondLst>
                                  <p:childTnLst>
                                    <p:set>
                                      <p:cBhvr>
                                        <p:cTn id="2999" dur="1" fill="hold">
                                          <p:stCondLst>
                                            <p:cond delay="0"/>
                                          </p:stCondLst>
                                        </p:cTn>
                                        <p:tgtEl>
                                          <p:spTgt spid="2239"/>
                                        </p:tgtEl>
                                        <p:attrNameLst>
                                          <p:attrName>style.visibility</p:attrName>
                                        </p:attrNameLst>
                                      </p:cBhvr>
                                      <p:to>
                                        <p:strVal val="visible"/>
                                      </p:to>
                                    </p:set>
                                    <p:animEffect filter="fade" transition="in">
                                      <p:cBhvr additive="repl">
                                        <p:cTn id="3000" dur="400"/>
                                        <p:tgtEl>
                                          <p:spTgt spid="2239"/>
                                        </p:tgtEl>
                                      </p:cBhvr>
                                    </p:animEffect>
                                  </p:childTnLst>
                                </p:cTn>
                              </p:par>
                              <p:par>
                                <p:cTn id="3001" nodeType="withEffect" fill="hold" presetClass="entr" presetID="10">
                                  <p:stCondLst>
                                    <p:cond delay="2000"/>
                                  </p:stCondLst>
                                  <p:childTnLst>
                                    <p:set>
                                      <p:cBhvr>
                                        <p:cTn id="3002" dur="1" fill="hold">
                                          <p:stCondLst>
                                            <p:cond delay="0"/>
                                          </p:stCondLst>
                                        </p:cTn>
                                        <p:tgtEl>
                                          <p:spTgt spid="2240"/>
                                        </p:tgtEl>
                                        <p:attrNameLst>
                                          <p:attrName>style.visibility</p:attrName>
                                        </p:attrNameLst>
                                      </p:cBhvr>
                                      <p:to>
                                        <p:strVal val="visible"/>
                                      </p:to>
                                    </p:set>
                                    <p:animEffect filter="fade" transition="in">
                                      <p:cBhvr additive="repl">
                                        <p:cTn id="3003" dur="400"/>
                                        <p:tgtEl>
                                          <p:spTgt spid="2240"/>
                                        </p:tgtEl>
                                      </p:cBhvr>
                                    </p:animEffect>
                                  </p:childTnLst>
                                </p:cTn>
                              </p:par>
                              <p:par>
                                <p:cTn id="3004" nodeType="withEffect" fill="hold" presetClass="entr" presetID="10">
                                  <p:stCondLst>
                                    <p:cond delay="2000"/>
                                  </p:stCondLst>
                                  <p:childTnLst>
                                    <p:set>
                                      <p:cBhvr>
                                        <p:cTn id="3005" dur="1" fill="hold">
                                          <p:stCondLst>
                                            <p:cond delay="0"/>
                                          </p:stCondLst>
                                        </p:cTn>
                                        <p:tgtEl>
                                          <p:spTgt spid="2241"/>
                                        </p:tgtEl>
                                        <p:attrNameLst>
                                          <p:attrName>style.visibility</p:attrName>
                                        </p:attrNameLst>
                                      </p:cBhvr>
                                      <p:to>
                                        <p:strVal val="visible"/>
                                      </p:to>
                                    </p:set>
                                    <p:animEffect filter="fade" transition="in">
                                      <p:cBhvr additive="repl">
                                        <p:cTn id="3006" dur="400"/>
                                        <p:tgtEl>
                                          <p:spTgt spid="2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248" name="o1" descr="GAME OVER ?"/>
          <p:cNvPicPr/>
          <p:nvPr/>
        </p:nvPicPr>
        <p:blipFill>
          <a:blip r:embed="rId1"/>
          <a:stretch/>
        </p:blipFill>
        <p:spPr>
          <a:xfrm>
            <a:off x="3581280" y="914400"/>
            <a:ext cx="5028840" cy="456840"/>
          </a:xfrm>
          <a:prstGeom prst="rect">
            <a:avLst/>
          </a:prstGeom>
          <a:ln w="0">
            <a:noFill/>
          </a:ln>
        </p:spPr>
      </p:pic>
      <p:pic>
        <p:nvPicPr>
          <p:cNvPr id="2249" name="o2" descr="NON : MISSION ACCOMPLIE"/>
          <p:cNvPicPr/>
          <p:nvPr/>
        </p:nvPicPr>
        <p:blipFill>
          <a:blip r:embed="rId2"/>
          <a:stretch/>
        </p:blipFill>
        <p:spPr>
          <a:xfrm>
            <a:off x="3361680" y="1645920"/>
            <a:ext cx="5467680" cy="237240"/>
          </a:xfrm>
          <a:prstGeom prst="rect">
            <a:avLst/>
          </a:prstGeom>
          <a:ln w="0">
            <a:noFill/>
          </a:ln>
        </p:spPr>
      </p:pic>
      <p:pic>
        <p:nvPicPr>
          <p:cNvPr id="2250" name="rangee_sprite" descr="image-1-8.gif"/>
          <p:cNvPicPr/>
          <p:nvPr/>
        </p:nvPicPr>
        <p:blipFill>
          <a:blip r:embed="rId3"/>
          <a:stretch/>
        </p:blipFill>
        <p:spPr>
          <a:xfrm>
            <a:off x="2194560" y="2514600"/>
            <a:ext cx="420120" cy="420120"/>
          </a:xfrm>
          <a:prstGeom prst="rect">
            <a:avLst/>
          </a:prstGeom>
          <a:ln w="0">
            <a:noFill/>
          </a:ln>
        </p:spPr>
      </p:pic>
      <p:pic>
        <p:nvPicPr>
          <p:cNvPr id="2251" name="rangee_sprite" descr="image-1-7.gif"/>
          <p:cNvPicPr/>
          <p:nvPr/>
        </p:nvPicPr>
        <p:blipFill>
          <a:blip r:embed="rId4"/>
          <a:stretch/>
        </p:blipFill>
        <p:spPr>
          <a:xfrm>
            <a:off x="2743200" y="2514600"/>
            <a:ext cx="420120" cy="420120"/>
          </a:xfrm>
          <a:prstGeom prst="rect">
            <a:avLst/>
          </a:prstGeom>
          <a:ln w="0">
            <a:noFill/>
          </a:ln>
        </p:spPr>
      </p:pic>
      <p:pic>
        <p:nvPicPr>
          <p:cNvPr id="2252" name="rangee_sprite" descr="image-1-6.gif"/>
          <p:cNvPicPr/>
          <p:nvPr/>
        </p:nvPicPr>
        <p:blipFill>
          <a:blip r:embed="rId5"/>
          <a:stretch/>
        </p:blipFill>
        <p:spPr>
          <a:xfrm>
            <a:off x="3291840" y="2514600"/>
            <a:ext cx="420120" cy="420120"/>
          </a:xfrm>
          <a:prstGeom prst="rect">
            <a:avLst/>
          </a:prstGeom>
          <a:ln w="0">
            <a:noFill/>
          </a:ln>
        </p:spPr>
      </p:pic>
      <p:pic>
        <p:nvPicPr>
          <p:cNvPr id="2253" name="rangee_sprite" descr="image-1-15.gif"/>
          <p:cNvPicPr/>
          <p:nvPr/>
        </p:nvPicPr>
        <p:blipFill>
          <a:blip r:embed="rId6"/>
          <a:stretch/>
        </p:blipFill>
        <p:spPr>
          <a:xfrm>
            <a:off x="3840480" y="2514600"/>
            <a:ext cx="420120" cy="420120"/>
          </a:xfrm>
          <a:prstGeom prst="rect">
            <a:avLst/>
          </a:prstGeom>
          <a:ln w="0">
            <a:noFill/>
          </a:ln>
        </p:spPr>
      </p:pic>
      <p:pic>
        <p:nvPicPr>
          <p:cNvPr id="2254" name="rangee_pacman" descr="image-1-14.gif"/>
          <p:cNvPicPr/>
          <p:nvPr/>
        </p:nvPicPr>
        <p:blipFill>
          <a:blip r:embed="rId7"/>
          <a:stretch/>
        </p:blipFill>
        <p:spPr>
          <a:xfrm>
            <a:off x="4480560" y="2514600"/>
            <a:ext cx="420120" cy="420120"/>
          </a:xfrm>
          <a:prstGeom prst="rect">
            <a:avLst/>
          </a:prstGeom>
          <a:ln w="0">
            <a:noFill/>
          </a:ln>
        </p:spPr>
      </p:pic>
      <p:sp>
        <p:nvSpPr>
          <p:cNvPr id="2255" name="rangee_pastille"/>
          <p:cNvSpPr/>
          <p:nvPr/>
        </p:nvSpPr>
        <p:spPr>
          <a:xfrm>
            <a:off x="512064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256" name="rangee_pastille"/>
          <p:cNvSpPr/>
          <p:nvPr/>
        </p:nvSpPr>
        <p:spPr>
          <a:xfrm>
            <a:off x="548640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257" name="rangee_pastille"/>
          <p:cNvSpPr/>
          <p:nvPr/>
        </p:nvSpPr>
        <p:spPr>
          <a:xfrm>
            <a:off x="585216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258" name="rangee_pastille"/>
          <p:cNvSpPr/>
          <p:nvPr/>
        </p:nvSpPr>
        <p:spPr>
          <a:xfrm>
            <a:off x="621792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259" name="rangee_pastille"/>
          <p:cNvSpPr/>
          <p:nvPr/>
        </p:nvSpPr>
        <p:spPr>
          <a:xfrm>
            <a:off x="658368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260" name="rangee_pastille"/>
          <p:cNvSpPr/>
          <p:nvPr/>
        </p:nvSpPr>
        <p:spPr>
          <a:xfrm>
            <a:off x="694944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261" name="rangee_pastille"/>
          <p:cNvSpPr/>
          <p:nvPr/>
        </p:nvSpPr>
        <p:spPr>
          <a:xfrm>
            <a:off x="731520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262" name="rangee_pastille"/>
          <p:cNvSpPr/>
          <p:nvPr/>
        </p:nvSpPr>
        <p:spPr>
          <a:xfrm>
            <a:off x="768096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263" name="rangee_pastille"/>
          <p:cNvSpPr/>
          <p:nvPr/>
        </p:nvSpPr>
        <p:spPr>
          <a:xfrm>
            <a:off x="804672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sp>
        <p:nvSpPr>
          <p:cNvPr id="2264" name="rangee_pastille"/>
          <p:cNvSpPr/>
          <p:nvPr/>
        </p:nvSpPr>
        <p:spPr>
          <a:xfrm>
            <a:off x="8412480" y="2688480"/>
            <a:ext cx="72720" cy="72720"/>
          </a:xfrm>
          <a:prstGeom prst="rect">
            <a:avLst/>
          </a:prstGeom>
          <a:solidFill>
            <a:srgbClr val="ffb8a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pc="-1" strike="noStrike">
              <a:solidFill>
                <a:schemeClr val="lt1"/>
              </a:solidFill>
              <a:latin typeface="Arial"/>
            </a:endParaRPr>
          </a:p>
        </p:txBody>
      </p:sp>
      <p:pic>
        <p:nvPicPr>
          <p:cNvPr id="2265" name="rangee_super" descr="image-1-13.gif"/>
          <p:cNvPicPr/>
          <p:nvPr/>
        </p:nvPicPr>
        <p:blipFill>
          <a:blip r:embed="rId8"/>
          <a:stretch/>
        </p:blipFill>
        <p:spPr>
          <a:xfrm>
            <a:off x="8686800" y="2587680"/>
            <a:ext cx="273960" cy="273960"/>
          </a:xfrm>
          <a:prstGeom prst="rect">
            <a:avLst/>
          </a:prstGeom>
          <a:ln w="0">
            <a:noFill/>
          </a:ln>
        </p:spPr>
      </p:pic>
      <p:sp>
        <p:nvSpPr>
          <p:cNvPr id="2266" name="o19"/>
          <p:cNvSpPr/>
          <p:nvPr/>
        </p:nvSpPr>
        <p:spPr>
          <a:xfrm>
            <a:off x="1371600" y="3337560"/>
            <a:ext cx="9448200" cy="30528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2000" spc="-1" strike="noStrike">
                <a:solidFill>
                  <a:srgbClr val="c4c4e4"/>
                </a:solidFill>
                <a:latin typeface="Arial"/>
              </a:rPr>
              <a:t>2 bases · 1 jointure · 1 appli de 9 pages · 38 figures</a:t>
            </a:r>
            <a:endParaRPr b="0" lang="en-US" sz="2000" spc="-1" strike="noStrike">
              <a:solidFill>
                <a:srgbClr val="ffffff"/>
              </a:solidFill>
              <a:latin typeface="Arial"/>
            </a:endParaRPr>
          </a:p>
        </p:txBody>
      </p:sp>
      <p:pic>
        <p:nvPicPr>
          <p:cNvPr id="2267" name="o20" descr="MERCI !"/>
          <p:cNvPicPr/>
          <p:nvPr/>
        </p:nvPicPr>
        <p:blipFill>
          <a:blip r:embed="rId9"/>
          <a:stretch/>
        </p:blipFill>
        <p:spPr>
          <a:xfrm>
            <a:off x="4751640" y="4069080"/>
            <a:ext cx="2688120" cy="383760"/>
          </a:xfrm>
          <a:prstGeom prst="rect">
            <a:avLst/>
          </a:prstGeom>
          <a:ln w="0">
            <a:noFill/>
          </a:ln>
        </p:spPr>
      </p:pic>
      <p:pic>
        <p:nvPicPr>
          <p:cNvPr id="2268" name="o21" descr="DES QUESTIONS ?"/>
          <p:cNvPicPr/>
          <p:nvPr/>
        </p:nvPicPr>
        <p:blipFill>
          <a:blip r:embed="rId10"/>
          <a:stretch/>
        </p:blipFill>
        <p:spPr>
          <a:xfrm>
            <a:off x="4587120" y="4754880"/>
            <a:ext cx="3017160" cy="200880"/>
          </a:xfrm>
          <a:prstGeom prst="rect">
            <a:avLst/>
          </a:prstGeom>
          <a:ln w="0">
            <a:noFill/>
          </a:ln>
        </p:spPr>
      </p:pic>
      <p:pic>
        <p:nvPicPr>
          <p:cNvPr id="2269" name="o22" descr="INSERT COIN TO CONTINUE"/>
          <p:cNvPicPr/>
          <p:nvPr/>
        </p:nvPicPr>
        <p:blipFill>
          <a:blip r:embed="rId11"/>
          <a:stretch/>
        </p:blipFill>
        <p:spPr>
          <a:xfrm>
            <a:off x="4623840" y="5349240"/>
            <a:ext cx="2944080" cy="127800"/>
          </a:xfrm>
          <a:prstGeom prst="rect">
            <a:avLst/>
          </a:prstGeom>
          <a:ln w="0">
            <a:noFill/>
          </a:ln>
        </p:spPr>
      </p:pic>
      <p:pic>
        <p:nvPicPr>
          <p:cNvPr id="2270" name="fin_pastille" descr="image-1-13.gif"/>
          <p:cNvPicPr/>
          <p:nvPr/>
        </p:nvPicPr>
        <p:blipFill>
          <a:blip r:embed="rId12"/>
          <a:stretch/>
        </p:blipFill>
        <p:spPr>
          <a:xfrm>
            <a:off x="11448360" y="6355080"/>
            <a:ext cx="182520" cy="182520"/>
          </a:xfrm>
          <a:prstGeom prst="rect">
            <a:avLst/>
          </a:prstGeom>
          <a:ln w="0">
            <a:noFill/>
          </a:ln>
        </p:spPr>
      </p:pic>
      <p:pic>
        <p:nvPicPr>
          <p:cNvPr id="2271" name="fin_rouge" descr="image-1-15.gif"/>
          <p:cNvPicPr/>
          <p:nvPr/>
        </p:nvPicPr>
        <p:blipFill>
          <a:blip r:embed="rId13"/>
          <a:stretch/>
        </p:blipFill>
        <p:spPr>
          <a:xfrm>
            <a:off x="10524600" y="6291000"/>
            <a:ext cx="310680" cy="310680"/>
          </a:xfrm>
          <a:prstGeom prst="rect">
            <a:avLst/>
          </a:prstGeom>
          <a:ln w="0">
            <a:noFill/>
          </a:ln>
        </p:spPr>
      </p:pic>
      <p:pic>
        <p:nvPicPr>
          <p:cNvPr id="2272" name="fin_peur" descr="image-17-7.gif"/>
          <p:cNvPicPr/>
          <p:nvPr/>
        </p:nvPicPr>
        <p:blipFill>
          <a:blip r:embed="rId14"/>
          <a:stretch/>
        </p:blipFill>
        <p:spPr>
          <a:xfrm>
            <a:off x="10817280" y="6291000"/>
            <a:ext cx="310680" cy="310680"/>
          </a:xfrm>
          <a:prstGeom prst="rect">
            <a:avLst/>
          </a:prstGeom>
          <a:ln w="0">
            <a:noFill/>
          </a:ln>
        </p:spPr>
      </p:pic>
      <p:pic>
        <p:nvPicPr>
          <p:cNvPr id="2273" name="fin_pacman" descr="image-1-14.gif"/>
          <p:cNvPicPr/>
          <p:nvPr/>
        </p:nvPicPr>
        <p:blipFill>
          <a:blip r:embed="rId15"/>
          <a:stretch/>
        </p:blipFill>
        <p:spPr>
          <a:xfrm>
            <a:off x="11091600" y="6291000"/>
            <a:ext cx="310680" cy="310680"/>
          </a:xfrm>
          <a:prstGeom prst="rect">
            <a:avLst/>
          </a:prstGeom>
          <a:ln w="0">
            <a:noFill/>
          </a:ln>
        </p:spPr>
      </p:pic>
      <p:sp>
        <p:nvSpPr>
          <p:cNvPr id="2274" name="orateur" descr="Orateur : Ma"/>
          <p:cNvSpPr/>
          <p:nvPr/>
        </p:nvSpPr>
        <p:spPr>
          <a:xfrm>
            <a:off x="11704320" y="6263640"/>
            <a:ext cx="365760" cy="365760"/>
          </a:xfrm>
          <a:prstGeom prst="roundRect">
            <a:avLst>
              <a:gd name="adj" fmla="val 22000"/>
            </a:avLst>
          </a:prstGeom>
          <a:solidFill>
            <a:srgbClr val="000000"/>
          </a:solidFill>
          <a:ln w="19050">
            <a:solidFill>
              <a:srgbClr val="FFE600"/>
            </a:solidFill>
          </a:ln>
        </p:spPr>
        <p:txBody>
          <a:bodyPr lIns="0" rIns="0" tIns="0" bIns="0" anchor="ctr">
            <a:noAutofit/>
          </a:bodyPr>
          <a:lstStyle/>
          <a:p>
            <a:pPr algn="ctr"/>
            <a:r>
              <a:rPr lang="fr-FR" sz="1100" b="1">
                <a:solidFill>
                  <a:srgbClr val="FFE600"/>
                </a:solidFill>
                <a:latin typeface="Arial"/>
              </a:rPr>
              <a:t>Ma</a:t>
            </a:r>
          </a:p>
        </p:txBody>
      </p:sp>
    </p:spTree>
  </p:cSld>
  <p:transition>
    <p:fade/>
  </p:transition>
  <p:timing>
    <p:tnLst>
      <p:par>
        <p:cTn id="3007" dur="indefinite" restart="never" nodeType="tmRoot">
          <p:childTnLst>
            <p:seq>
              <p:cTn id="3008" dur="indefinite" nodeType="mainSeq">
                <p:childTnLst>
                  <p:par>
                    <p:cTn id="3009" fill="hold">
                      <p:stCondLst>
                        <p:cond delay="0"/>
                      </p:stCondLst>
                      <p:childTnLst>
                        <p:par>
                          <p:cTn id="3010" fill="hold">
                            <p:stCondLst>
                              <p:cond delay="0"/>
                            </p:stCondLst>
                            <p:childTnLst>
                              <p:par>
                                <p:cTn id="3011" nodeType="withEffect" fill="hold" presetClass="path">
                                  <p:stCondLst>
                                    <p:cond delay="0"/>
                                  </p:stCondLst>
                                  <p:childTnLst>
                                    <p:animMotion origin="layout" path="M 0 0 L 0.024 0 E">
                                      <p:cBhvr>
                                        <p:cTn id="3012" dur="900" fill="hold"/>
                                        <p:tgtEl>
                                          <p:spTgt spid="2271"/>
                                        </p:tgtEl>
                                        <p:attrNameLst>
                                          <p:attrName>ppt_x</p:attrName>
                                          <p:attrName>ppt_y</p:attrName>
                                        </p:attrNameLst>
                                      </p:cBhvr>
                                    </p:animMotion>
                                  </p:childTnLst>
                                </p:cTn>
                              </p:par>
                              <p:par>
                                <p:cTn id="3013" nodeType="withEffect" fill="hold" presetClass="path">
                                  <p:stCondLst>
                                    <p:cond delay="0"/>
                                  </p:stCondLst>
                                  <p:childTnLst>
                                    <p:animMotion origin="layout" path="M 0 0 L 0.024 0 E">
                                      <p:cBhvr>
                                        <p:cTn id="3014" dur="900" fill="hold"/>
                                        <p:tgtEl>
                                          <p:spTgt spid="2273"/>
                                        </p:tgtEl>
                                        <p:attrNameLst>
                                          <p:attrName>ppt_x</p:attrName>
                                          <p:attrName>ppt_y</p:attrName>
                                        </p:attrNameLst>
                                      </p:cBhvr>
                                    </p:animMotion>
                                  </p:childTnLst>
                                </p:cTn>
                              </p:par>
                              <p:par>
                                <p:cTn id="3015" nodeType="withEffect" fill="hold" presetClass="exit" presetID="1">
                                  <p:stCondLst>
                                    <p:cond delay="780"/>
                                  </p:stCondLst>
                                  <p:childTnLst>
                                    <p:set>
                                      <p:cBhvr>
                                        <p:cTn id="3016" dur="1" fill="hold">
                                          <p:stCondLst>
                                            <p:cond delay="0"/>
                                          </p:stCondLst>
                                        </p:cTn>
                                        <p:tgtEl>
                                          <p:spTgt spid="2270"/>
                                        </p:tgtEl>
                                        <p:attrNameLst>
                                          <p:attrName>style.visibility</p:attrName>
                                        </p:attrNameLst>
                                      </p:cBhvr>
                                      <p:to>
                                        <p:strVal val="hidden"/>
                                      </p:to>
                                    </p:set>
                                  </p:childTnLst>
                                </p:cTn>
                              </p:par>
                              <p:par>
                                <p:cTn id="3017" nodeType="withEffect" fill="hold" presetClass="exit" presetID="1">
                                  <p:stCondLst>
                                    <p:cond delay="900"/>
                                  </p:stCondLst>
                                  <p:childTnLst>
                                    <p:set>
                                      <p:cBhvr>
                                        <p:cTn id="3018" dur="1" fill="hold">
                                          <p:stCondLst>
                                            <p:cond delay="0"/>
                                          </p:stCondLst>
                                        </p:cTn>
                                        <p:tgtEl>
                                          <p:spTgt spid="2271"/>
                                        </p:tgtEl>
                                        <p:attrNameLst>
                                          <p:attrName>style.visibility</p:attrName>
                                        </p:attrNameLst>
                                      </p:cBhvr>
                                      <p:to>
                                        <p:strVal val="hidden"/>
                                      </p:to>
                                    </p:set>
                                  </p:childTnLst>
                                </p:cTn>
                              </p:par>
                              <p:par>
                                <p:cTn id="3019" nodeType="withEffect" fill="hold" presetClass="entr" presetID="1">
                                  <p:stCondLst>
                                    <p:cond delay="900"/>
                                  </p:stCondLst>
                                  <p:childTnLst>
                                    <p:set>
                                      <p:cBhvr>
                                        <p:cTn id="3020" dur="1" fill="hold">
                                          <p:stCondLst>
                                            <p:cond delay="0"/>
                                          </p:stCondLst>
                                        </p:cTn>
                                        <p:tgtEl>
                                          <p:spTgt spid="2272"/>
                                        </p:tgtEl>
                                        <p:attrNameLst>
                                          <p:attrName>style.visibility</p:attrName>
                                        </p:attrNameLst>
                                      </p:cBhvr>
                                      <p:to>
                                        <p:strVal val="visible"/>
                                      </p:to>
                                    </p:set>
                                  </p:childTnLst>
                                </p:cTn>
                              </p:par>
                              <p:par>
                                <p:cTn id="3021" nodeType="withEffect" fill="hold" presetClass="path">
                                  <p:stCondLst>
                                    <p:cond delay="300"/>
                                  </p:stCondLst>
                                  <p:childTnLst>
                                    <p:animMotion origin="layout" path="M 0 0 L 0.32776 0 E">
                                      <p:cBhvr>
                                        <p:cTn id="3022" dur="3000" fill="hold"/>
                                        <p:tgtEl>
                                          <p:spTgt spid="2250"/>
                                        </p:tgtEl>
                                        <p:attrNameLst>
                                          <p:attrName>ppt_x</p:attrName>
                                          <p:attrName>ppt_y</p:attrName>
                                        </p:attrNameLst>
                                      </p:cBhvr>
                                    </p:animMotion>
                                  </p:childTnLst>
                                </p:cTn>
                              </p:par>
                              <p:par>
                                <p:cTn id="3023" nodeType="withEffect" fill="hold" presetClass="path">
                                  <p:stCondLst>
                                    <p:cond delay="300"/>
                                  </p:stCondLst>
                                  <p:childTnLst>
                                    <p:animMotion origin="layout" path="M 0 0 L 0.32776 0 E">
                                      <p:cBhvr>
                                        <p:cTn id="3024" dur="3000" fill="hold"/>
                                        <p:tgtEl>
                                          <p:spTgt spid="2251"/>
                                        </p:tgtEl>
                                        <p:attrNameLst>
                                          <p:attrName>ppt_x</p:attrName>
                                          <p:attrName>ppt_y</p:attrName>
                                        </p:attrNameLst>
                                      </p:cBhvr>
                                    </p:animMotion>
                                  </p:childTnLst>
                                </p:cTn>
                              </p:par>
                              <p:par>
                                <p:cTn id="3025" nodeType="withEffect" fill="hold" presetClass="path">
                                  <p:stCondLst>
                                    <p:cond delay="300"/>
                                  </p:stCondLst>
                                  <p:childTnLst>
                                    <p:animMotion origin="layout" path="M 0 0 L 0.32776 0 E">
                                      <p:cBhvr>
                                        <p:cTn id="3026" dur="3000" fill="hold"/>
                                        <p:tgtEl>
                                          <p:spTgt spid="2252"/>
                                        </p:tgtEl>
                                        <p:attrNameLst>
                                          <p:attrName>ppt_x</p:attrName>
                                          <p:attrName>ppt_y</p:attrName>
                                        </p:attrNameLst>
                                      </p:cBhvr>
                                    </p:animMotion>
                                  </p:childTnLst>
                                </p:cTn>
                              </p:par>
                              <p:par>
                                <p:cTn id="3027" nodeType="withEffect" fill="hold" presetClass="path">
                                  <p:stCondLst>
                                    <p:cond delay="300"/>
                                  </p:stCondLst>
                                  <p:childTnLst>
                                    <p:animMotion origin="layout" path="M 0 0 L 0.32776 0 E">
                                      <p:cBhvr>
                                        <p:cTn id="3028" dur="3000" fill="hold"/>
                                        <p:tgtEl>
                                          <p:spTgt spid="2253"/>
                                        </p:tgtEl>
                                        <p:attrNameLst>
                                          <p:attrName>ppt_x</p:attrName>
                                          <p:attrName>ppt_y</p:attrName>
                                        </p:attrNameLst>
                                      </p:cBhvr>
                                    </p:animMotion>
                                  </p:childTnLst>
                                </p:cTn>
                              </p:par>
                              <p:par>
                                <p:cTn id="3029" nodeType="withEffect" fill="hold" presetClass="path">
                                  <p:stCondLst>
                                    <p:cond delay="300"/>
                                  </p:stCondLst>
                                  <p:childTnLst>
                                    <p:animMotion origin="layout" path="M 0 0 L 0.32776 0 E">
                                      <p:cBhvr>
                                        <p:cTn id="3030" dur="3000" fill="hold"/>
                                        <p:tgtEl>
                                          <p:spTgt spid="2254"/>
                                        </p:tgtEl>
                                        <p:attrNameLst>
                                          <p:attrName>ppt_x</p:attrName>
                                          <p:attrName>ppt_y</p:attrName>
                                        </p:attrNameLst>
                                      </p:cBhvr>
                                    </p:animMotion>
                                  </p:childTnLst>
                                </p:cTn>
                              </p:par>
                              <p:par>
                                <p:cTn id="3031" nodeType="withEffect" fill="hold" presetClass="exit" presetID="1">
                                  <p:stCondLst>
                                    <p:cond delay="554"/>
                                  </p:stCondLst>
                                  <p:childTnLst>
                                    <p:set>
                                      <p:cBhvr>
                                        <p:cTn id="3032" dur="1" fill="hold">
                                          <p:stCondLst>
                                            <p:cond delay="0"/>
                                          </p:stCondLst>
                                        </p:cTn>
                                        <p:tgtEl>
                                          <p:spTgt spid="2255"/>
                                        </p:tgtEl>
                                        <p:attrNameLst>
                                          <p:attrName>style.visibility</p:attrName>
                                        </p:attrNameLst>
                                      </p:cBhvr>
                                      <p:to>
                                        <p:strVal val="hidden"/>
                                      </p:to>
                                    </p:set>
                                  </p:childTnLst>
                                </p:cTn>
                              </p:par>
                              <p:par>
                                <p:cTn id="3033" nodeType="withEffect" fill="hold" presetClass="exit" presetID="1">
                                  <p:stCondLst>
                                    <p:cond delay="829"/>
                                  </p:stCondLst>
                                  <p:childTnLst>
                                    <p:set>
                                      <p:cBhvr>
                                        <p:cTn id="3034" dur="1" fill="hold">
                                          <p:stCondLst>
                                            <p:cond delay="0"/>
                                          </p:stCondLst>
                                        </p:cTn>
                                        <p:tgtEl>
                                          <p:spTgt spid="2256"/>
                                        </p:tgtEl>
                                        <p:attrNameLst>
                                          <p:attrName>style.visibility</p:attrName>
                                        </p:attrNameLst>
                                      </p:cBhvr>
                                      <p:to>
                                        <p:strVal val="hidden"/>
                                      </p:to>
                                    </p:set>
                                  </p:childTnLst>
                                </p:cTn>
                              </p:par>
                              <p:par>
                                <p:cTn id="3035" nodeType="withEffect" fill="hold" presetClass="exit" presetID="1">
                                  <p:stCondLst>
                                    <p:cond delay="1103"/>
                                  </p:stCondLst>
                                  <p:childTnLst>
                                    <p:set>
                                      <p:cBhvr>
                                        <p:cTn id="3036" dur="1" fill="hold">
                                          <p:stCondLst>
                                            <p:cond delay="0"/>
                                          </p:stCondLst>
                                        </p:cTn>
                                        <p:tgtEl>
                                          <p:spTgt spid="2257"/>
                                        </p:tgtEl>
                                        <p:attrNameLst>
                                          <p:attrName>style.visibility</p:attrName>
                                        </p:attrNameLst>
                                      </p:cBhvr>
                                      <p:to>
                                        <p:strVal val="hidden"/>
                                      </p:to>
                                    </p:set>
                                  </p:childTnLst>
                                </p:cTn>
                              </p:par>
                              <p:par>
                                <p:cTn id="3037" nodeType="withEffect" fill="hold" presetClass="exit" presetID="1">
                                  <p:stCondLst>
                                    <p:cond delay="1378"/>
                                  </p:stCondLst>
                                  <p:childTnLst>
                                    <p:set>
                                      <p:cBhvr>
                                        <p:cTn id="3038" dur="1" fill="hold">
                                          <p:stCondLst>
                                            <p:cond delay="0"/>
                                          </p:stCondLst>
                                        </p:cTn>
                                        <p:tgtEl>
                                          <p:spTgt spid="2258"/>
                                        </p:tgtEl>
                                        <p:attrNameLst>
                                          <p:attrName>style.visibility</p:attrName>
                                        </p:attrNameLst>
                                      </p:cBhvr>
                                      <p:to>
                                        <p:strVal val="hidden"/>
                                      </p:to>
                                    </p:set>
                                  </p:childTnLst>
                                </p:cTn>
                              </p:par>
                              <p:par>
                                <p:cTn id="3039" nodeType="withEffect" fill="hold" presetClass="exit" presetID="1">
                                  <p:stCondLst>
                                    <p:cond delay="1652"/>
                                  </p:stCondLst>
                                  <p:childTnLst>
                                    <p:set>
                                      <p:cBhvr>
                                        <p:cTn id="3040" dur="1" fill="hold">
                                          <p:stCondLst>
                                            <p:cond delay="0"/>
                                          </p:stCondLst>
                                        </p:cTn>
                                        <p:tgtEl>
                                          <p:spTgt spid="2259"/>
                                        </p:tgtEl>
                                        <p:attrNameLst>
                                          <p:attrName>style.visibility</p:attrName>
                                        </p:attrNameLst>
                                      </p:cBhvr>
                                      <p:to>
                                        <p:strVal val="hidden"/>
                                      </p:to>
                                    </p:set>
                                  </p:childTnLst>
                                </p:cTn>
                              </p:par>
                              <p:par>
                                <p:cTn id="3041" nodeType="withEffect" fill="hold" presetClass="exit" presetID="1">
                                  <p:stCondLst>
                                    <p:cond delay="1927"/>
                                  </p:stCondLst>
                                  <p:childTnLst>
                                    <p:set>
                                      <p:cBhvr>
                                        <p:cTn id="3042" dur="1" fill="hold">
                                          <p:stCondLst>
                                            <p:cond delay="0"/>
                                          </p:stCondLst>
                                        </p:cTn>
                                        <p:tgtEl>
                                          <p:spTgt spid="2260"/>
                                        </p:tgtEl>
                                        <p:attrNameLst>
                                          <p:attrName>style.visibility</p:attrName>
                                        </p:attrNameLst>
                                      </p:cBhvr>
                                      <p:to>
                                        <p:strVal val="hidden"/>
                                      </p:to>
                                    </p:set>
                                  </p:childTnLst>
                                </p:cTn>
                              </p:par>
                              <p:par>
                                <p:cTn id="3043" nodeType="withEffect" fill="hold" presetClass="exit" presetID="1">
                                  <p:stCondLst>
                                    <p:cond delay="2202"/>
                                  </p:stCondLst>
                                  <p:childTnLst>
                                    <p:set>
                                      <p:cBhvr>
                                        <p:cTn id="3044" dur="1" fill="hold">
                                          <p:stCondLst>
                                            <p:cond delay="0"/>
                                          </p:stCondLst>
                                        </p:cTn>
                                        <p:tgtEl>
                                          <p:spTgt spid="2261"/>
                                        </p:tgtEl>
                                        <p:attrNameLst>
                                          <p:attrName>style.visibility</p:attrName>
                                        </p:attrNameLst>
                                      </p:cBhvr>
                                      <p:to>
                                        <p:strVal val="hidden"/>
                                      </p:to>
                                    </p:set>
                                  </p:childTnLst>
                                </p:cTn>
                              </p:par>
                              <p:par>
                                <p:cTn id="3045" nodeType="withEffect" fill="hold" presetClass="exit" presetID="1">
                                  <p:stCondLst>
                                    <p:cond delay="2476"/>
                                  </p:stCondLst>
                                  <p:childTnLst>
                                    <p:set>
                                      <p:cBhvr>
                                        <p:cTn id="3046" dur="1" fill="hold">
                                          <p:stCondLst>
                                            <p:cond delay="0"/>
                                          </p:stCondLst>
                                        </p:cTn>
                                        <p:tgtEl>
                                          <p:spTgt spid="2262"/>
                                        </p:tgtEl>
                                        <p:attrNameLst>
                                          <p:attrName>style.visibility</p:attrName>
                                        </p:attrNameLst>
                                      </p:cBhvr>
                                      <p:to>
                                        <p:strVal val="hidden"/>
                                      </p:to>
                                    </p:set>
                                  </p:childTnLst>
                                </p:cTn>
                              </p:par>
                              <p:par>
                                <p:cTn id="3047" nodeType="withEffect" fill="hold" presetClass="exit" presetID="1">
                                  <p:stCondLst>
                                    <p:cond delay="2751"/>
                                  </p:stCondLst>
                                  <p:childTnLst>
                                    <p:set>
                                      <p:cBhvr>
                                        <p:cTn id="3048" dur="1" fill="hold">
                                          <p:stCondLst>
                                            <p:cond delay="0"/>
                                          </p:stCondLst>
                                        </p:cTn>
                                        <p:tgtEl>
                                          <p:spTgt spid="2263"/>
                                        </p:tgtEl>
                                        <p:attrNameLst>
                                          <p:attrName>style.visibility</p:attrName>
                                        </p:attrNameLst>
                                      </p:cBhvr>
                                      <p:to>
                                        <p:strVal val="hidden"/>
                                      </p:to>
                                    </p:set>
                                  </p:childTnLst>
                                </p:cTn>
                              </p:par>
                              <p:par>
                                <p:cTn id="3049" nodeType="withEffect" fill="hold" presetClass="exit" presetID="1">
                                  <p:stCondLst>
                                    <p:cond delay="3025"/>
                                  </p:stCondLst>
                                  <p:childTnLst>
                                    <p:set>
                                      <p:cBhvr>
                                        <p:cTn id="3050" dur="1" fill="hold">
                                          <p:stCondLst>
                                            <p:cond delay="0"/>
                                          </p:stCondLst>
                                        </p:cTn>
                                        <p:tgtEl>
                                          <p:spTgt spid="2264"/>
                                        </p:tgtEl>
                                        <p:attrNameLst>
                                          <p:attrName>style.visibility</p:attrName>
                                        </p:attrNameLst>
                                      </p:cBhvr>
                                      <p:to>
                                        <p:strVal val="hidden"/>
                                      </p:to>
                                    </p:set>
                                  </p:childTnLst>
                                </p:cTn>
                              </p:par>
                              <p:par>
                                <p:cTn id="3051" nodeType="withEffect" fill="hold" presetClass="exit" presetID="1">
                                  <p:stCondLst>
                                    <p:cond delay="3231"/>
                                  </p:stCondLst>
                                  <p:childTnLst>
                                    <p:set>
                                      <p:cBhvr>
                                        <p:cTn id="3052" dur="1" fill="hold">
                                          <p:stCondLst>
                                            <p:cond delay="0"/>
                                          </p:stCondLst>
                                        </p:cTn>
                                        <p:tgtEl>
                                          <p:spTgt spid="22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Arcade Pac">
  <a:themeElements>
    <a:clrScheme name="Arcade Pac">
      <a:dk1>
        <a:srgbClr val="000000"/>
      </a:dk1>
      <a:lt1>
        <a:srgbClr val="ffffff"/>
      </a:lt1>
      <a:dk2>
        <a:srgbClr val="0a0a2a"/>
      </a:dk2>
      <a:lt2>
        <a:srgbClr val="c4c4e4"/>
      </a:lt2>
      <a:accent1>
        <a:srgbClr val="ffe600"/>
      </a:accent1>
      <a:accent2>
        <a:srgbClr val="2121de"/>
      </a:accent2>
      <a:accent3>
        <a:srgbClr val="ff2d2d"/>
      </a:accent3>
      <a:accent4>
        <a:srgbClr val="00ffff"/>
      </a:accent4>
      <a:accent5>
        <a:srgbClr val="ffb8ff"/>
      </a:accent5>
      <a:accent6>
        <a:srgbClr val="ffb852"/>
      </a:accent6>
      <a:hlink>
        <a:srgbClr val="00ffff"/>
      </a:hlink>
      <a:folHlink>
        <a:srgbClr val="ffb8ff"/>
      </a:folHlink>
    </a:clrScheme>
    <a:fontScheme name="Arcade Pac">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Arcade Pac">
  <a:themeElements>
    <a:clrScheme name="Arcade Pac">
      <a:dk1>
        <a:srgbClr val="000000"/>
      </a:dk1>
      <a:lt1>
        <a:srgbClr val="ffffff"/>
      </a:lt1>
      <a:dk2>
        <a:srgbClr val="0a0a2a"/>
      </a:dk2>
      <a:lt2>
        <a:srgbClr val="c4c4e4"/>
      </a:lt2>
      <a:accent1>
        <a:srgbClr val="ffe600"/>
      </a:accent1>
      <a:accent2>
        <a:srgbClr val="2121de"/>
      </a:accent2>
      <a:accent3>
        <a:srgbClr val="ff2d2d"/>
      </a:accent3>
      <a:accent4>
        <a:srgbClr val="00ffff"/>
      </a:accent4>
      <a:accent5>
        <a:srgbClr val="ffb8ff"/>
      </a:accent5>
      <a:accent6>
        <a:srgbClr val="ffb852"/>
      </a:accent6>
      <a:hlink>
        <a:srgbClr val="00ffff"/>
      </a:hlink>
      <a:folHlink>
        <a:srgbClr val="ffb8ff"/>
      </a:folHlink>
    </a:clrScheme>
    <a:fontScheme name="Arcade Pac">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Arcade Pac">
  <a:themeElements>
    <a:clrScheme name="Arcade Pac">
      <a:dk1>
        <a:srgbClr val="000000"/>
      </a:dk1>
      <a:lt1>
        <a:srgbClr val="ffffff"/>
      </a:lt1>
      <a:dk2>
        <a:srgbClr val="0a0a2a"/>
      </a:dk2>
      <a:lt2>
        <a:srgbClr val="c4c4e4"/>
      </a:lt2>
      <a:accent1>
        <a:srgbClr val="ffe600"/>
      </a:accent1>
      <a:accent2>
        <a:srgbClr val="2121de"/>
      </a:accent2>
      <a:accent3>
        <a:srgbClr val="ff2d2d"/>
      </a:accent3>
      <a:accent4>
        <a:srgbClr val="00ffff"/>
      </a:accent4>
      <a:accent5>
        <a:srgbClr val="ffb8ff"/>
      </a:accent5>
      <a:accent6>
        <a:srgbClr val="ffb852"/>
      </a:accent6>
      <a:hlink>
        <a:srgbClr val="00ffff"/>
      </a:hlink>
      <a:folHlink>
        <a:srgbClr val="ffb8ff"/>
      </a:folHlink>
    </a:clrScheme>
    <a:fontScheme name="Arcade Pac">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LibreOffice/24.2.7.2$Linux_X86_64 LibreOffice_project/420$Build-2</Application>
  <AppVersion>15.0000</AppVersion>
  <Words>3799</Words>
  <Paragraphs>302</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2026-10-22T14:26:01Z</dcterms:created>
  <dc:creator>Kheireddine Bouadi</dc:creator>
  <dc:description/>
  <dc:language>en-US</dc:language>
  <cp:lastModifiedBy/>
  <dcterms:modified xsi:type="dcterms:W3CDTF">2026-10-22T18:17:25Z</dcterms:modified>
  <cp:revision>3</cp:revision>
  <dc:subject>PptxGenJS Presentation</dc:subject>
  <dc:title>Ventes mondiales de jeux vidéo — BDD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38</vt:i4>
  </property>
  <property fmtid="{D5CDD505-2E9C-101B-9397-08002B2CF9AE}" pid="3" name="PresentationFormat">
    <vt:lpwstr>Grand écran</vt:lpwstr>
  </property>
  <property fmtid="{D5CDD505-2E9C-101B-9397-08002B2CF9AE}" pid="4" name="Slides">
    <vt:i4>38</vt:i4>
  </property>
</Properties>
</file>